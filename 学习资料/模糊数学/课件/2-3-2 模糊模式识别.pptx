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2"/>
  </p:notesMasterIdLst>
  <p:handoutMasterIdLst>
    <p:handoutMasterId r:id="rId63"/>
  </p:handoutMasterIdLst>
  <p:sldIdLst>
    <p:sldId id="464" r:id="rId2"/>
    <p:sldId id="482" r:id="rId3"/>
    <p:sldId id="417" r:id="rId4"/>
    <p:sldId id="418" r:id="rId5"/>
    <p:sldId id="438" r:id="rId6"/>
    <p:sldId id="441" r:id="rId7"/>
    <p:sldId id="422" r:id="rId8"/>
    <p:sldId id="423" r:id="rId9"/>
    <p:sldId id="424" r:id="rId10"/>
    <p:sldId id="425" r:id="rId11"/>
    <p:sldId id="426" r:id="rId12"/>
    <p:sldId id="427" r:id="rId13"/>
    <p:sldId id="429" r:id="rId14"/>
    <p:sldId id="442" r:id="rId15"/>
    <p:sldId id="406" r:id="rId16"/>
    <p:sldId id="444" r:id="rId17"/>
    <p:sldId id="446" r:id="rId18"/>
    <p:sldId id="447" r:id="rId19"/>
    <p:sldId id="448" r:id="rId20"/>
    <p:sldId id="449" r:id="rId21"/>
    <p:sldId id="463" r:id="rId22"/>
    <p:sldId id="450" r:id="rId23"/>
    <p:sldId id="451" r:id="rId24"/>
    <p:sldId id="452" r:id="rId25"/>
    <p:sldId id="453" r:id="rId26"/>
    <p:sldId id="454" r:id="rId27"/>
    <p:sldId id="455" r:id="rId28"/>
    <p:sldId id="456" r:id="rId29"/>
    <p:sldId id="457" r:id="rId30"/>
    <p:sldId id="458" r:id="rId31"/>
    <p:sldId id="416" r:id="rId32"/>
    <p:sldId id="408" r:id="rId33"/>
    <p:sldId id="410" r:id="rId34"/>
    <p:sldId id="484" r:id="rId35"/>
    <p:sldId id="413" r:id="rId36"/>
    <p:sldId id="486" r:id="rId37"/>
    <p:sldId id="412" r:id="rId38"/>
    <p:sldId id="487" r:id="rId39"/>
    <p:sldId id="414" r:id="rId40"/>
    <p:sldId id="434" r:id="rId41"/>
    <p:sldId id="435" r:id="rId42"/>
    <p:sldId id="436" r:id="rId43"/>
    <p:sldId id="460" r:id="rId44"/>
    <p:sldId id="461" r:id="rId45"/>
    <p:sldId id="462" r:id="rId46"/>
    <p:sldId id="433" r:id="rId47"/>
    <p:sldId id="358" r:id="rId48"/>
    <p:sldId id="362" r:id="rId49"/>
    <p:sldId id="363" r:id="rId50"/>
    <p:sldId id="364" r:id="rId51"/>
    <p:sldId id="365" r:id="rId52"/>
    <p:sldId id="366" r:id="rId53"/>
    <p:sldId id="367" r:id="rId54"/>
    <p:sldId id="370" r:id="rId55"/>
    <p:sldId id="368" r:id="rId56"/>
    <p:sldId id="369" r:id="rId57"/>
    <p:sldId id="374" r:id="rId58"/>
    <p:sldId id="375" r:id="rId59"/>
    <p:sldId id="376" r:id="rId60"/>
    <p:sldId id="483" r:id="rId61"/>
  </p:sldIdLst>
  <p:sldSz cx="12192000" cy="6858000"/>
  <p:notesSz cx="6669088" cy="9928225"/>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CCFF66"/>
    <a:srgbClr val="FF0000"/>
    <a:srgbClr val="CC00CC"/>
    <a:srgbClr val="008000"/>
    <a:srgbClr val="3333FF"/>
    <a:srgbClr val="FFE1FF"/>
    <a:srgbClr val="66FFFF"/>
    <a:srgbClr val="0066FF"/>
    <a:srgbClr val="F8FD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0040" autoAdjust="0"/>
    <p:restoredTop sz="89655" autoAdjust="0"/>
  </p:normalViewPr>
  <p:slideViewPr>
    <p:cSldViewPr>
      <p:cViewPr varScale="1">
        <p:scale>
          <a:sx n="56" d="100"/>
          <a:sy n="56" d="100"/>
        </p:scale>
        <p:origin x="102" y="582"/>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279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626" name="Rectangle 2"/>
          <p:cNvSpPr>
            <a:spLocks noGrp="1" noChangeArrowheads="1"/>
          </p:cNvSpPr>
          <p:nvPr>
            <p:ph type="hdr" sz="quarter"/>
          </p:nvPr>
        </p:nvSpPr>
        <p:spPr bwMode="auto">
          <a:xfrm>
            <a:off x="0"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154627" name="Rectangle 3"/>
          <p:cNvSpPr>
            <a:spLocks noGrp="1" noChangeArrowheads="1"/>
          </p:cNvSpPr>
          <p:nvPr>
            <p:ph type="dt" sz="quarter" idx="1"/>
          </p:nvPr>
        </p:nvSpPr>
        <p:spPr bwMode="auto">
          <a:xfrm>
            <a:off x="3777607"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154628" name="Rectangle 4"/>
          <p:cNvSpPr>
            <a:spLocks noGrp="1" noChangeArrowheads="1"/>
          </p:cNvSpPr>
          <p:nvPr>
            <p:ph type="ftr" sz="quarter" idx="2"/>
          </p:nvPr>
        </p:nvSpPr>
        <p:spPr bwMode="auto">
          <a:xfrm>
            <a:off x="0"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154629" name="Rectangle 5"/>
          <p:cNvSpPr>
            <a:spLocks noGrp="1" noChangeArrowheads="1"/>
          </p:cNvSpPr>
          <p:nvPr>
            <p:ph type="sldNum" sz="quarter" idx="3"/>
          </p:nvPr>
        </p:nvSpPr>
        <p:spPr bwMode="auto">
          <a:xfrm>
            <a:off x="3777607"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9660E36E-6B96-4F7D-BEC2-2F182EA4B20E}" type="slidenum">
              <a:rPr lang="en-US" altLang="zh-CN"/>
              <a:pPr>
                <a:defRPr/>
              </a:pPr>
              <a:t>‹#›</a:t>
            </a:fld>
            <a:endParaRPr lang="en-US" altLang="zh-CN"/>
          </a:p>
        </p:txBody>
      </p:sp>
    </p:spTree>
    <p:extLst>
      <p:ext uri="{BB962C8B-B14F-4D97-AF65-F5344CB8AC3E}">
        <p14:creationId xmlns:p14="http://schemas.microsoft.com/office/powerpoint/2010/main" val="7118878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15363" name="Rectangle 3"/>
          <p:cNvSpPr>
            <a:spLocks noGrp="1" noChangeArrowheads="1"/>
          </p:cNvSpPr>
          <p:nvPr>
            <p:ph type="dt" idx="1"/>
          </p:nvPr>
        </p:nvSpPr>
        <p:spPr bwMode="auto">
          <a:xfrm>
            <a:off x="3777607"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65540" name="Rectangle 4"/>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666909" y="4715907"/>
            <a:ext cx="5335270" cy="4467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366" name="Rectangle 6"/>
          <p:cNvSpPr>
            <a:spLocks noGrp="1" noChangeArrowheads="1"/>
          </p:cNvSpPr>
          <p:nvPr>
            <p:ph type="ftr" sz="quarter" idx="4"/>
          </p:nvPr>
        </p:nvSpPr>
        <p:spPr bwMode="auto">
          <a:xfrm>
            <a:off x="0"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15367" name="Rectangle 7"/>
          <p:cNvSpPr>
            <a:spLocks noGrp="1" noChangeArrowheads="1"/>
          </p:cNvSpPr>
          <p:nvPr>
            <p:ph type="sldNum" sz="quarter" idx="5"/>
          </p:nvPr>
        </p:nvSpPr>
        <p:spPr bwMode="auto">
          <a:xfrm>
            <a:off x="3777607"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307F09C4-A9D0-419C-AC3A-A9D24839F077}" type="slidenum">
              <a:rPr lang="en-US" altLang="zh-CN"/>
              <a:pPr>
                <a:defRPr/>
              </a:pPr>
              <a:t>‹#›</a:t>
            </a:fld>
            <a:endParaRPr lang="en-US" altLang="zh-CN"/>
          </a:p>
        </p:txBody>
      </p:sp>
    </p:spTree>
    <p:extLst>
      <p:ext uri="{BB962C8B-B14F-4D97-AF65-F5344CB8AC3E}">
        <p14:creationId xmlns:p14="http://schemas.microsoft.com/office/powerpoint/2010/main" val="35391899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zh-CN" altLang="en-US" dirty="0"/>
              <a:t>上图是四个染色体对应的轮盘赌模型</a:t>
            </a:r>
            <a:r>
              <a:rPr lang="en-US" altLang="zh-CN" dirty="0"/>
              <a:t>——</a:t>
            </a:r>
            <a:r>
              <a:rPr lang="zh-CN" altLang="en-US" dirty="0"/>
              <a:t>每选择转动一次轮盘，轮盘转动停止时指针停留的区域对应的染色体即被选中进入种群。</a:t>
            </a:r>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11</a:t>
            </a:fld>
            <a:endParaRPr lang="en-US" altLang="zh-CN"/>
          </a:p>
        </p:txBody>
      </p:sp>
    </p:spTree>
    <p:extLst>
      <p:ext uri="{BB962C8B-B14F-4D97-AF65-F5344CB8AC3E}">
        <p14:creationId xmlns:p14="http://schemas.microsoft.com/office/powerpoint/2010/main" val="1549434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07F09C4-A9D0-419C-AC3A-A9D24839F077}" type="slidenum">
              <a:rPr lang="en-US" altLang="zh-CN" smtClean="0"/>
              <a:pPr>
                <a:defRPr/>
              </a:pPr>
              <a:t>14</a:t>
            </a:fld>
            <a:endParaRPr lang="en-US" altLang="zh-CN"/>
          </a:p>
        </p:txBody>
      </p:sp>
    </p:spTree>
    <p:extLst>
      <p:ext uri="{BB962C8B-B14F-4D97-AF65-F5344CB8AC3E}">
        <p14:creationId xmlns:p14="http://schemas.microsoft.com/office/powerpoint/2010/main" val="2640087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15</a:t>
            </a:fld>
            <a:endParaRPr lang="en-US" altLang="zh-CN"/>
          </a:p>
        </p:txBody>
      </p:sp>
    </p:spTree>
    <p:extLst>
      <p:ext uri="{BB962C8B-B14F-4D97-AF65-F5344CB8AC3E}">
        <p14:creationId xmlns:p14="http://schemas.microsoft.com/office/powerpoint/2010/main" val="136738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en-US" altLang="zh-CN" dirty="0"/>
              <a:t>F1+f2+f3+f4=1170</a:t>
            </a:r>
            <a:endParaRPr lang="zh-CN" altLang="en-US" dirty="0"/>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19</a:t>
            </a:fld>
            <a:endParaRPr lang="en-US" altLang="zh-CN"/>
          </a:p>
        </p:txBody>
      </p:sp>
    </p:spTree>
    <p:extLst>
      <p:ext uri="{BB962C8B-B14F-4D97-AF65-F5344CB8AC3E}">
        <p14:creationId xmlns:p14="http://schemas.microsoft.com/office/powerpoint/2010/main" val="873600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22</a:t>
            </a:fld>
            <a:endParaRPr lang="en-US" altLang="zh-CN"/>
          </a:p>
        </p:txBody>
      </p:sp>
    </p:spTree>
    <p:extLst>
      <p:ext uri="{BB962C8B-B14F-4D97-AF65-F5344CB8AC3E}">
        <p14:creationId xmlns:p14="http://schemas.microsoft.com/office/powerpoint/2010/main" val="299334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23</a:t>
            </a:fld>
            <a:endParaRPr lang="en-US" altLang="zh-CN"/>
          </a:p>
        </p:txBody>
      </p:sp>
    </p:spTree>
    <p:extLst>
      <p:ext uri="{BB962C8B-B14F-4D97-AF65-F5344CB8AC3E}">
        <p14:creationId xmlns:p14="http://schemas.microsoft.com/office/powerpoint/2010/main" val="546307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92FB538-C0D5-48D8-A133-AFFC004A0CF9}" type="slidenum">
              <a:rPr lang="en-US" altLang="zh-CN" smtClean="0"/>
              <a:pPr eaLnBrk="1" hangingPunct="1"/>
              <a:t>48</a:t>
            </a:fld>
            <a:endParaRPr lang="en-US" altLang="zh-CN"/>
          </a:p>
        </p:txBody>
      </p:sp>
      <p:sp>
        <p:nvSpPr>
          <p:cNvPr id="79875" name="Rectangle 2"/>
          <p:cNvSpPr>
            <a:spLocks noGrp="1" noRot="1" noChangeAspect="1" noChangeArrowheads="1" noTextEdit="1"/>
          </p:cNvSpPr>
          <p:nvPr>
            <p:ph type="sldImg"/>
          </p:nvPr>
        </p:nvSpPr>
        <p:spPr>
          <a:xfrm>
            <a:off x="26988" y="744538"/>
            <a:ext cx="6615112" cy="3722687"/>
          </a:xfrm>
          <a:ln/>
        </p:spPr>
      </p:sp>
      <p:sp>
        <p:nvSpPr>
          <p:cNvPr id="79876" name="Rectangle 3"/>
          <p:cNvSpPr>
            <a:spLocks noGrp="1" noChangeArrowheads="1"/>
          </p:cNvSpPr>
          <p:nvPr>
            <p:ph type="body" idx="1"/>
          </p:nvPr>
        </p:nvSpPr>
        <p:spPr>
          <a:noFill/>
        </p:spPr>
        <p:txBody>
          <a:bodyPr/>
          <a:lstStyle/>
          <a:p>
            <a:pPr eaLnBrk="1" hangingPunct="1"/>
            <a:r>
              <a:rPr lang="zh-CN" altLang="en-US">
                <a:latin typeface="Arial" pitchFamily="34" charset="0"/>
              </a:rPr>
              <a:t>由上图得：要得到隶属函数，就要求出直角三角形隶属函数的底边长</a:t>
            </a:r>
            <a:r>
              <a:rPr lang="en-US" altLang="zh-CN">
                <a:latin typeface="Arial" pitchFamily="34" charset="0"/>
              </a:rPr>
              <a:t>——</a:t>
            </a:r>
            <a:r>
              <a:rPr lang="zh-CN" altLang="en-US">
                <a:latin typeface="Arial" pitchFamily="34" charset="0"/>
              </a:rPr>
              <a:t>将隶属函数编码为二进制字符串</a:t>
            </a:r>
          </a:p>
        </p:txBody>
      </p:sp>
    </p:spTree>
    <p:extLst>
      <p:ext uri="{BB962C8B-B14F-4D97-AF65-F5344CB8AC3E}">
        <p14:creationId xmlns:p14="http://schemas.microsoft.com/office/powerpoint/2010/main" val="4015581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grpSp>
      <p:sp>
        <p:nvSpPr>
          <p:cNvPr id="6163" name="Rectangle 19"/>
          <p:cNvSpPr>
            <a:spLocks noGrp="1" noChangeArrowheads="1"/>
          </p:cNvSpPr>
          <p:nvPr>
            <p:ph type="ctrTitle"/>
          </p:nvPr>
        </p:nvSpPr>
        <p:spPr>
          <a:xfrm>
            <a:off x="3962400" y="1828800"/>
            <a:ext cx="8026400" cy="2209800"/>
          </a:xfrm>
        </p:spPr>
        <p:txBody>
          <a:bodyPr/>
          <a:lstStyle>
            <a:lvl1pPr>
              <a:defRPr sz="5000">
                <a:solidFill>
                  <a:srgbClr val="FFFFFF"/>
                </a:solidFill>
              </a:defRPr>
            </a:lvl1pPr>
          </a:lstStyle>
          <a:p>
            <a:pPr lvl="0"/>
            <a:r>
              <a:rPr lang="zh-CN" altLang="en-US" noProof="0"/>
              <a:t>单击此处编辑母版标题样式</a:t>
            </a:r>
          </a:p>
        </p:txBody>
      </p:sp>
      <p:sp>
        <p:nvSpPr>
          <p:cNvPr id="6164" name="Rectangle 20"/>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609600" y="6248400"/>
            <a:ext cx="28448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48D69D65-CBC8-4289-B93A-CE1FBA8CD216}" type="slidenum">
              <a:rPr lang="en-US" altLang="zh-CN"/>
              <a:pPr>
                <a:defRPr/>
              </a:pPr>
              <a:t>‹#›</a:t>
            </a:fld>
            <a:endParaRPr lang="en-US" altLang="zh-CN"/>
          </a:p>
        </p:txBody>
      </p:sp>
    </p:spTree>
    <p:extLst>
      <p:ext uri="{BB962C8B-B14F-4D97-AF65-F5344CB8AC3E}">
        <p14:creationId xmlns:p14="http://schemas.microsoft.com/office/powerpoint/2010/main" val="116660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solidFill>
                  <a:srgbClr val="008000"/>
                </a:solidFill>
                <a:latin typeface="+mj-lt"/>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mn-lt"/>
                <a:ea typeface="黑体" panose="02010609060101010101" pitchFamily="49" charset="-122"/>
              </a:defRPr>
            </a:lvl1pPr>
            <a:lvl2pPr>
              <a:defRPr>
                <a:latin typeface="+mn-lt"/>
                <a:ea typeface="黑体" panose="02010609060101010101" pitchFamily="49" charset="-122"/>
              </a:defRPr>
            </a:lvl2pPr>
            <a:lvl3pPr>
              <a:defRPr>
                <a:latin typeface="+mn-lt"/>
                <a:ea typeface="黑体" panose="02010609060101010101" pitchFamily="49" charset="-122"/>
              </a:defRPr>
            </a:lvl3pPr>
            <a:lvl4pPr>
              <a:defRPr>
                <a:latin typeface="+mn-lt"/>
                <a:ea typeface="黑体" panose="02010609060101010101" pitchFamily="49" charset="-122"/>
              </a:defRPr>
            </a:lvl4pPr>
            <a:lvl5pPr>
              <a:defRPr>
                <a:latin typeface="+mn-lt"/>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0FB5469-1AEB-496D-971A-66705BF2F73C}"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3602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4D9FD8C8-662C-4924-BD47-35BF12EE7A37}"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633776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78D790EF-66D8-41F5-A04A-4E0BA9DEB82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65623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0DBE15B9-59D8-46B3-8A13-35CC0A973E83}"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28046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FEF569DF-D019-4843-B296-F7B6269C71E5}"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69517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1240398B-3681-435F-A1B8-D490B121ECC3}"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67410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2BFCB289-C18A-452A-8432-62455CD5B570}"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620303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2D4722E2-30ED-4102-ACBB-56D52E87C56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218670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6A7C46DC-5DB4-40FF-86E4-5D721AEDB04A}"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622135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457200"/>
            <a:ext cx="27432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457200"/>
            <a:ext cx="80264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31CB7852-75A4-4B68-9B1E-52E8B21E5B47}"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98629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76C4EDA0-D764-474C-A15B-7C3CFCC0E433}"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691031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3"/>
          <p:cNvSpPr>
            <a:spLocks noGrp="1" noChangeArrowheads="1"/>
          </p:cNvSpPr>
          <p:nvPr>
            <p:ph type="sldNum" sz="quarter" idx="11"/>
          </p:nvPr>
        </p:nvSpPr>
        <p:spPr>
          <a:ln/>
        </p:spPr>
        <p:txBody>
          <a:bodyPr/>
          <a:lstStyle>
            <a:lvl1pPr>
              <a:defRPr/>
            </a:lvl1pPr>
          </a:lstStyle>
          <a:p>
            <a:pPr>
              <a:defRPr/>
            </a:pPr>
            <a:fld id="{6E623E09-9292-430A-945A-636A50DBB6F1}" type="slidenum">
              <a:rPr lang="en-US" altLang="zh-CN"/>
              <a:pPr>
                <a:defRPr/>
              </a:pPr>
              <a:t>‹#›</a:t>
            </a:fld>
            <a:endParaRPr lang="en-US" altLang="zh-CN"/>
          </a:p>
        </p:txBody>
      </p:sp>
      <p:sp>
        <p:nvSpPr>
          <p:cNvPr id="8"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57365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表格占位符 2"/>
          <p:cNvSpPr>
            <a:spLocks noGrp="1"/>
          </p:cNvSpPr>
          <p:nvPr>
            <p:ph type="tbl" idx="1"/>
          </p:nvPr>
        </p:nvSpPr>
        <p:spPr>
          <a:xfrm>
            <a:off x="609600" y="1981200"/>
            <a:ext cx="10972800" cy="3886200"/>
          </a:xfrm>
        </p:spPr>
        <p:txBody>
          <a:bodyPr/>
          <a:lstStyle/>
          <a:p>
            <a:pPr lvl="0"/>
            <a:endParaRPr lang="zh-CN" altLang="en-US" noProof="0"/>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80D5EF37-78AF-4CB4-937F-E187B8314658}"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992709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atin typeface="Arial" charset="0"/>
              </a:defRPr>
            </a:lvl1pPr>
          </a:lstStyle>
          <a:p>
            <a:pPr>
              <a:defRPr/>
            </a:pPr>
            <a:endParaRPr lang="en-US" altLang="zh-CN"/>
          </a:p>
        </p:txBody>
      </p:sp>
      <p:sp>
        <p:nvSpPr>
          <p:cNvPr id="5123" name="Rectangle 3"/>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Black" pitchFamily="34" charset="0"/>
              </a:defRPr>
            </a:lvl1pPr>
          </a:lstStyle>
          <a:p>
            <a:pPr>
              <a:defRPr/>
            </a:pPr>
            <a:fld id="{6870AF17-C0A4-442D-A613-1295C8D24688}" type="slidenum">
              <a:rPr lang="en-US" altLang="zh-CN"/>
              <a:pPr>
                <a:defRPr/>
              </a:pPr>
              <a:t>‹#›</a:t>
            </a:fld>
            <a:endParaRPr lang="en-US" altLang="zh-CN"/>
          </a:p>
        </p:txBody>
      </p:sp>
      <p:grpSp>
        <p:nvGrpSpPr>
          <p:cNvPr id="1028" name="Group 4"/>
          <p:cNvGrpSpPr>
            <a:grpSpLocks/>
          </p:cNvGrpSpPr>
          <p:nvPr/>
        </p:nvGrpSpPr>
        <p:grpSpPr bwMode="auto">
          <a:xfrm>
            <a:off x="0" y="0"/>
            <a:ext cx="12192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1029" name="Rectangle 14"/>
          <p:cNvSpPr>
            <a:spLocks noGrp="1" noChangeArrowheads="1"/>
          </p:cNvSpPr>
          <p:nvPr>
            <p:ph type="title"/>
          </p:nvPr>
        </p:nvSpPr>
        <p:spPr bwMode="auto">
          <a:xfrm>
            <a:off x="609600" y="457200"/>
            <a:ext cx="10972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609600" y="1981200"/>
            <a:ext cx="10972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6" name="Rectangle 16"/>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93"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3.wmf"/><Relationship Id="rId5" Type="http://schemas.openxmlformats.org/officeDocument/2006/relationships/oleObject" Target="../embeddings/oleObject2.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9.bin"/><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0.bin"/><Relationship Id="rId1" Type="http://schemas.openxmlformats.org/officeDocument/2006/relationships/slideLayout" Target="../slideLayouts/slideLayout4.xml"/><Relationship Id="rId5" Type="http://schemas.openxmlformats.org/officeDocument/2006/relationships/image" Target="../media/image18.wmf"/><Relationship Id="rId4"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13.bin"/><Relationship Id="rId1" Type="http://schemas.openxmlformats.org/officeDocument/2006/relationships/slideLayout" Target="../slideLayouts/slideLayout13.xml"/><Relationship Id="rId5" Type="http://schemas.openxmlformats.org/officeDocument/2006/relationships/image" Target="../media/image31.wmf"/><Relationship Id="rId4" Type="http://schemas.openxmlformats.org/officeDocument/2006/relationships/oleObject" Target="../embeddings/oleObject14.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15.bin"/><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wmf"/><Relationship Id="rId4" Type="http://schemas.openxmlformats.org/officeDocument/2006/relationships/oleObject" Target="../embeddings/oleObject16.bin"/></Relationships>
</file>

<file path=ppt/slides/_rels/slide5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5.wmf"/><Relationship Id="rId7" Type="http://schemas.openxmlformats.org/officeDocument/2006/relationships/image" Target="../media/image32.wmf"/><Relationship Id="rId2" Type="http://schemas.openxmlformats.org/officeDocument/2006/relationships/oleObject" Target="../embeddings/oleObject17.bin"/><Relationship Id="rId1" Type="http://schemas.openxmlformats.org/officeDocument/2006/relationships/slideLayout" Target="../slideLayouts/slideLayout13.xml"/><Relationship Id="rId6" Type="http://schemas.openxmlformats.org/officeDocument/2006/relationships/oleObject" Target="../embeddings/oleObject19.bin"/><Relationship Id="rId5" Type="http://schemas.openxmlformats.org/officeDocument/2006/relationships/image" Target="../media/image36.wmf"/><Relationship Id="rId4" Type="http://schemas.openxmlformats.org/officeDocument/2006/relationships/oleObject" Target="../embeddings/oleObject18.bin"/></Relationships>
</file>

<file path=ppt/slides/_rels/slide5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wmf"/><Relationship Id="rId7" Type="http://schemas.openxmlformats.org/officeDocument/2006/relationships/image" Target="../media/image39.wmf"/><Relationship Id="rId2" Type="http://schemas.openxmlformats.org/officeDocument/2006/relationships/oleObject" Target="../embeddings/oleObject20.bin"/><Relationship Id="rId1" Type="http://schemas.openxmlformats.org/officeDocument/2006/relationships/slideLayout" Target="../slideLayouts/slideLayout13.xml"/><Relationship Id="rId6" Type="http://schemas.openxmlformats.org/officeDocument/2006/relationships/oleObject" Target="../embeddings/oleObject22.bin"/><Relationship Id="rId5" Type="http://schemas.openxmlformats.org/officeDocument/2006/relationships/image" Target="../media/image38.wmf"/><Relationship Id="rId4" Type="http://schemas.openxmlformats.org/officeDocument/2006/relationships/oleObject" Target="../embeddings/oleObject21.bin"/></Relationships>
</file>

<file path=ppt/slides/_rels/slide6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wmf"/><Relationship Id="rId7" Type="http://schemas.openxmlformats.org/officeDocument/2006/relationships/image" Target="../media/image39.wmf"/><Relationship Id="rId12" Type="http://schemas.openxmlformats.org/officeDocument/2006/relationships/image" Target="../media/image34.png"/><Relationship Id="rId2" Type="http://schemas.openxmlformats.org/officeDocument/2006/relationships/oleObject" Target="../embeddings/oleObject20.bin"/><Relationship Id="rId1" Type="http://schemas.openxmlformats.org/officeDocument/2006/relationships/slideLayout" Target="../slideLayouts/slideLayout13.xml"/><Relationship Id="rId6" Type="http://schemas.openxmlformats.org/officeDocument/2006/relationships/oleObject" Target="../embeddings/oleObject22.bin"/><Relationship Id="rId11" Type="http://schemas.openxmlformats.org/officeDocument/2006/relationships/image" Target="../media/image37.png"/><Relationship Id="rId5" Type="http://schemas.openxmlformats.org/officeDocument/2006/relationships/image" Target="../media/image38.wmf"/><Relationship Id="rId10" Type="http://schemas.openxmlformats.org/officeDocument/2006/relationships/image" Target="../media/image32.wmf"/><Relationship Id="rId4" Type="http://schemas.openxmlformats.org/officeDocument/2006/relationships/oleObject" Target="../embeddings/oleObject21.bin"/><Relationship Id="rId9" Type="http://schemas.openxmlformats.org/officeDocument/2006/relationships/oleObject" Target="../embeddings/oleObject1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algn="ctr" eaLnBrk="1" hangingPunct="1"/>
            <a:r>
              <a:rPr lang="zh-CN" altLang="en-US" sz="7200" b="1" dirty="0">
                <a:solidFill>
                  <a:srgbClr val="FFFF66"/>
                </a:solidFill>
                <a:latin typeface="隶书" pitchFamily="49" charset="-122"/>
                <a:ea typeface="隶书" pitchFamily="49" charset="-122"/>
              </a:rPr>
              <a:t>第</a:t>
            </a:r>
            <a:r>
              <a:rPr lang="zh-CN" altLang="en-US" sz="7200" b="1" dirty="0">
                <a:solidFill>
                  <a:srgbClr val="FFFF66"/>
                </a:solidFill>
                <a:ea typeface="隶书" pitchFamily="49" charset="-122"/>
              </a:rPr>
              <a:t> </a:t>
            </a:r>
            <a:r>
              <a:rPr lang="en-US" altLang="zh-CN" sz="7200" b="1" dirty="0">
                <a:solidFill>
                  <a:srgbClr val="FFFF66"/>
                </a:solidFill>
                <a:ea typeface="隶书" pitchFamily="49" charset="-122"/>
              </a:rPr>
              <a:t>2 </a:t>
            </a:r>
            <a:r>
              <a:rPr lang="zh-CN" altLang="en-US" sz="7200" b="1" dirty="0">
                <a:solidFill>
                  <a:srgbClr val="FFFF66"/>
                </a:solidFill>
                <a:latin typeface="隶书" pitchFamily="49" charset="-122"/>
                <a:ea typeface="隶书" pitchFamily="49" charset="-122"/>
              </a:rPr>
              <a:t>章</a:t>
            </a:r>
            <a:br>
              <a:rPr lang="zh-CN" altLang="en-US" sz="7200" b="1" dirty="0">
                <a:solidFill>
                  <a:srgbClr val="FFFF66"/>
                </a:solidFill>
                <a:latin typeface="隶书" pitchFamily="49" charset="-122"/>
                <a:ea typeface="隶书" pitchFamily="49" charset="-122"/>
              </a:rPr>
            </a:br>
            <a:r>
              <a:rPr lang="zh-CN" altLang="en-US" sz="7200" b="1" dirty="0">
                <a:solidFill>
                  <a:srgbClr val="FFFF66"/>
                </a:solidFill>
                <a:latin typeface="隶书" pitchFamily="49" charset="-122"/>
                <a:ea typeface="隶书" pitchFamily="49" charset="-122"/>
              </a:rPr>
              <a:t>模糊模式识别</a:t>
            </a:r>
          </a:p>
        </p:txBody>
      </p:sp>
      <p:sp>
        <p:nvSpPr>
          <p:cNvPr id="3075" name="Rectangle 3"/>
          <p:cNvSpPr>
            <a:spLocks noGrp="1" noChangeArrowheads="1"/>
          </p:cNvSpPr>
          <p:nvPr>
            <p:ph type="subTitle" idx="1"/>
          </p:nvPr>
        </p:nvSpPr>
        <p:spPr>
          <a:xfrm>
            <a:off x="4151784" y="4267200"/>
            <a:ext cx="6019800" cy="2402160"/>
          </a:xfrm>
        </p:spPr>
        <p:txBody>
          <a:bodyPr/>
          <a:lstStyle/>
          <a:p>
            <a:pPr eaLnBrk="1" hangingPunct="1"/>
            <a:r>
              <a:rPr lang="en-US" altLang="zh-CN" sz="3200" dirty="0">
                <a:ea typeface="黑体" pitchFamily="49" charset="-122"/>
              </a:rPr>
              <a:t>1 </a:t>
            </a:r>
            <a:r>
              <a:rPr lang="zh-CN" altLang="en-US" sz="3200" dirty="0">
                <a:ea typeface="黑体" pitchFamily="49" charset="-122"/>
              </a:rPr>
              <a:t>模糊集的贴近度</a:t>
            </a:r>
          </a:p>
          <a:p>
            <a:pPr eaLnBrk="1" hangingPunct="1"/>
            <a:r>
              <a:rPr lang="en-US" altLang="zh-CN" sz="3200" dirty="0">
                <a:ea typeface="黑体" pitchFamily="49" charset="-122"/>
              </a:rPr>
              <a:t>2 </a:t>
            </a:r>
            <a:r>
              <a:rPr lang="zh-CN" altLang="en-US" sz="3200" dirty="0">
                <a:ea typeface="黑体" pitchFamily="49" charset="-122"/>
              </a:rPr>
              <a:t>格贴近度</a:t>
            </a:r>
          </a:p>
          <a:p>
            <a:pPr eaLnBrk="1" hangingPunct="1"/>
            <a:r>
              <a:rPr lang="en-US" altLang="zh-CN" sz="3200" dirty="0">
                <a:ea typeface="黑体" pitchFamily="49" charset="-122"/>
              </a:rPr>
              <a:t>3 </a:t>
            </a:r>
            <a:r>
              <a:rPr lang="zh-CN" altLang="en-US" sz="3200" dirty="0">
                <a:ea typeface="黑体" pitchFamily="49" charset="-122"/>
              </a:rPr>
              <a:t>模糊模式识别原则</a:t>
            </a:r>
          </a:p>
          <a:p>
            <a:pPr eaLnBrk="1" hangingPunct="1"/>
            <a:r>
              <a:rPr lang="en-US" altLang="zh-CN" sz="3200" dirty="0">
                <a:solidFill>
                  <a:srgbClr val="3333FF"/>
                </a:solidFill>
                <a:ea typeface="黑体" pitchFamily="49" charset="-122"/>
              </a:rPr>
              <a:t>4 </a:t>
            </a:r>
            <a:r>
              <a:rPr lang="zh-CN" altLang="en-US" sz="3200" dirty="0">
                <a:solidFill>
                  <a:srgbClr val="3333FF"/>
                </a:solidFill>
                <a:ea typeface="黑体" pitchFamily="49" charset="-122"/>
              </a:rPr>
              <a:t>确定隶属函数的方法综述 </a:t>
            </a:r>
          </a:p>
        </p:txBody>
      </p:sp>
      <p:sp>
        <p:nvSpPr>
          <p:cNvPr id="2" name="灯片编号占位符 1">
            <a:extLst>
              <a:ext uri="{FF2B5EF4-FFF2-40B4-BE49-F238E27FC236}">
                <a16:creationId xmlns:a16="http://schemas.microsoft.com/office/drawing/2014/main" id="{24989EF8-CC6F-3DC3-90F8-D8583B6B423C}"/>
              </a:ext>
            </a:extLst>
          </p:cNvPr>
          <p:cNvSpPr>
            <a:spLocks noGrp="1"/>
          </p:cNvSpPr>
          <p:nvPr>
            <p:ph type="sldNum" sz="quarter" idx="12"/>
          </p:nvPr>
        </p:nvSpPr>
        <p:spPr/>
        <p:txBody>
          <a:bodyPr/>
          <a:lstStyle/>
          <a:p>
            <a:pPr>
              <a:defRPr/>
            </a:pPr>
            <a:fld id="{48D69D65-CBC8-4289-B93A-CE1FBA8CD216}" type="slidenum">
              <a:rPr lang="en-US" altLang="zh-CN" smtClean="0"/>
              <a:pPr>
                <a:defRPr/>
              </a:pPr>
              <a:t>1</a:t>
            </a:fld>
            <a:endParaRPr lang="en-US" altLang="zh-CN"/>
          </a:p>
        </p:txBody>
      </p:sp>
    </p:spTree>
    <p:extLst>
      <p:ext uri="{BB962C8B-B14F-4D97-AF65-F5344CB8AC3E}">
        <p14:creationId xmlns:p14="http://schemas.microsoft.com/office/powerpoint/2010/main" val="393499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04664"/>
            <a:ext cx="8229600" cy="1371600"/>
          </a:xfrm>
        </p:spPr>
        <p:txBody>
          <a:bodyPr/>
          <a:lstStyle/>
          <a:p>
            <a:pPr algn="ctr"/>
            <a:r>
              <a:rPr lang="zh-CN" altLang="en-US" dirty="0">
                <a:solidFill>
                  <a:srgbClr val="008000"/>
                </a:solidFill>
                <a:ea typeface="黑体" pitchFamily="2" charset="-122"/>
              </a:rPr>
              <a:t>确定隶属函数的方法</a:t>
            </a:r>
            <a:endParaRPr lang="zh-CN" altLang="en-US" dirty="0"/>
          </a:p>
        </p:txBody>
      </p:sp>
      <p:sp>
        <p:nvSpPr>
          <p:cNvPr id="3" name="内容占位符 2"/>
          <p:cNvSpPr>
            <a:spLocks noGrp="1"/>
          </p:cNvSpPr>
          <p:nvPr>
            <p:ph idx="1"/>
          </p:nvPr>
        </p:nvSpPr>
        <p:spPr>
          <a:xfrm>
            <a:off x="2063552" y="1340768"/>
            <a:ext cx="8229600" cy="5112568"/>
          </a:xfrm>
        </p:spPr>
        <p:txBody>
          <a:bodyPr/>
          <a:lstStyle/>
          <a:p>
            <a:r>
              <a:rPr lang="zh-CN" altLang="en-US" dirty="0">
                <a:ea typeface="黑体" pitchFamily="2" charset="-122"/>
              </a:rPr>
              <a:t>方法</a:t>
            </a:r>
            <a:r>
              <a:rPr lang="en-US" altLang="zh-CN" dirty="0">
                <a:ea typeface="黑体" pitchFamily="2" charset="-122"/>
              </a:rPr>
              <a:t>1</a:t>
            </a:r>
            <a:r>
              <a:rPr lang="zh-CN" altLang="en-US" dirty="0">
                <a:ea typeface="黑体" pitchFamily="2" charset="-122"/>
              </a:rPr>
              <a:t>：直觉法</a:t>
            </a:r>
            <a:endParaRPr lang="en-US" altLang="zh-CN" dirty="0">
              <a:ea typeface="黑体" pitchFamily="2" charset="-122"/>
            </a:endParaRPr>
          </a:p>
          <a:p>
            <a:r>
              <a:rPr lang="zh-CN" altLang="en-US" dirty="0">
                <a:ea typeface="黑体" pitchFamily="2" charset="-122"/>
              </a:rPr>
              <a:t>方法</a:t>
            </a:r>
            <a:r>
              <a:rPr lang="en-US" altLang="zh-CN" dirty="0">
                <a:ea typeface="黑体" pitchFamily="2" charset="-122"/>
              </a:rPr>
              <a:t>2</a:t>
            </a:r>
            <a:r>
              <a:rPr lang="zh-CN" altLang="en-US" dirty="0">
                <a:ea typeface="黑体" pitchFamily="2" charset="-122"/>
              </a:rPr>
              <a:t>：推理法</a:t>
            </a:r>
            <a:endParaRPr lang="en-US" altLang="zh-CN" dirty="0">
              <a:ea typeface="黑体" pitchFamily="2" charset="-122"/>
            </a:endParaRPr>
          </a:p>
          <a:p>
            <a:r>
              <a:rPr lang="zh-CN" altLang="en-US" dirty="0">
                <a:ea typeface="黑体" pitchFamily="2" charset="-122"/>
              </a:rPr>
              <a:t>方法</a:t>
            </a:r>
            <a:r>
              <a:rPr lang="en-US" altLang="zh-CN" dirty="0">
                <a:ea typeface="黑体" pitchFamily="2" charset="-122"/>
              </a:rPr>
              <a:t>3</a:t>
            </a:r>
            <a:r>
              <a:rPr lang="zh-CN" altLang="en-US" dirty="0">
                <a:ea typeface="黑体" pitchFamily="2" charset="-122"/>
              </a:rPr>
              <a:t>：</a:t>
            </a:r>
            <a:r>
              <a:rPr lang="en-US" altLang="zh-CN" dirty="0">
                <a:ea typeface="黑体" pitchFamily="49" charset="-122"/>
              </a:rPr>
              <a:t>F</a:t>
            </a:r>
            <a:r>
              <a:rPr lang="zh-CN" altLang="en-US" dirty="0">
                <a:ea typeface="黑体" pitchFamily="49" charset="-122"/>
              </a:rPr>
              <a:t>统计方法</a:t>
            </a:r>
            <a:endParaRPr lang="en-US" altLang="zh-CN" dirty="0"/>
          </a:p>
          <a:p>
            <a:r>
              <a:rPr lang="zh-CN" altLang="en-US" dirty="0">
                <a:ea typeface="黑体" pitchFamily="49" charset="-122"/>
              </a:rPr>
              <a:t>方法</a:t>
            </a:r>
            <a:r>
              <a:rPr lang="en-US" altLang="zh-CN" dirty="0">
                <a:ea typeface="黑体" pitchFamily="49" charset="-122"/>
              </a:rPr>
              <a:t>4</a:t>
            </a:r>
            <a:r>
              <a:rPr lang="zh-CN" altLang="en-US" dirty="0">
                <a:ea typeface="黑体" pitchFamily="49" charset="-122"/>
              </a:rPr>
              <a:t>：多相</a:t>
            </a:r>
            <a:r>
              <a:rPr lang="en-US" altLang="zh-CN" dirty="0">
                <a:ea typeface="黑体" pitchFamily="49" charset="-122"/>
              </a:rPr>
              <a:t>F</a:t>
            </a:r>
            <a:r>
              <a:rPr lang="zh-CN" altLang="en-US" dirty="0">
                <a:ea typeface="黑体" pitchFamily="49" charset="-122"/>
              </a:rPr>
              <a:t>统计</a:t>
            </a:r>
            <a:endParaRPr lang="en-US" altLang="zh-CN" dirty="0">
              <a:ea typeface="黑体" pitchFamily="49" charset="-122"/>
            </a:endParaRPr>
          </a:p>
          <a:p>
            <a:r>
              <a:rPr lang="zh-CN" altLang="en-US" dirty="0">
                <a:ea typeface="黑体" pitchFamily="49" charset="-122"/>
              </a:rPr>
              <a:t>方法</a:t>
            </a:r>
            <a:r>
              <a:rPr lang="en-US" altLang="zh-CN" dirty="0">
                <a:ea typeface="黑体" pitchFamily="49" charset="-122"/>
              </a:rPr>
              <a:t>5</a:t>
            </a:r>
            <a:r>
              <a:rPr lang="zh-CN" altLang="en-US" dirty="0">
                <a:ea typeface="黑体" pitchFamily="49" charset="-122"/>
              </a:rPr>
              <a:t>：二元排序法</a:t>
            </a:r>
            <a:endParaRPr lang="en-US" altLang="zh-CN" dirty="0">
              <a:ea typeface="黑体" pitchFamily="49" charset="-122"/>
            </a:endParaRPr>
          </a:p>
          <a:p>
            <a:r>
              <a:rPr lang="zh-CN" altLang="en-US" dirty="0">
                <a:ea typeface="黑体" pitchFamily="49" charset="-122"/>
              </a:rPr>
              <a:t>方法</a:t>
            </a:r>
            <a:r>
              <a:rPr lang="en-US" altLang="zh-CN" dirty="0">
                <a:ea typeface="黑体" pitchFamily="49" charset="-122"/>
              </a:rPr>
              <a:t>6</a:t>
            </a:r>
            <a:r>
              <a:rPr lang="zh-CN" altLang="en-US" dirty="0">
                <a:ea typeface="黑体" pitchFamily="49" charset="-122"/>
              </a:rPr>
              <a:t>：</a:t>
            </a:r>
            <a:r>
              <a:rPr lang="en-US" altLang="zh-CN" dirty="0">
                <a:ea typeface="黑体" pitchFamily="49" charset="-122"/>
              </a:rPr>
              <a:t>F</a:t>
            </a:r>
            <a:r>
              <a:rPr lang="zh-CN" altLang="en-US" dirty="0">
                <a:ea typeface="黑体" pitchFamily="49" charset="-122"/>
              </a:rPr>
              <a:t>分布法</a:t>
            </a:r>
            <a:endParaRPr lang="en-US" altLang="zh-CN" dirty="0">
              <a:ea typeface="黑体" pitchFamily="49" charset="-122"/>
            </a:endParaRPr>
          </a:p>
          <a:p>
            <a:r>
              <a:rPr lang="zh-CN" altLang="en-US" dirty="0">
                <a:ea typeface="黑体" pitchFamily="49" charset="-122"/>
              </a:rPr>
              <a:t>方法</a:t>
            </a:r>
            <a:r>
              <a:rPr lang="en-US" altLang="zh-CN" dirty="0">
                <a:ea typeface="黑体" pitchFamily="49" charset="-122"/>
              </a:rPr>
              <a:t>7</a:t>
            </a:r>
            <a:r>
              <a:rPr lang="zh-CN" altLang="en-US" dirty="0">
                <a:ea typeface="黑体" pitchFamily="49" charset="-122"/>
              </a:rPr>
              <a:t>：插值法</a:t>
            </a:r>
            <a:endParaRPr lang="en-US" altLang="zh-CN" dirty="0">
              <a:ea typeface="黑体" pitchFamily="49" charset="-122"/>
            </a:endParaRPr>
          </a:p>
          <a:p>
            <a:r>
              <a:rPr lang="zh-CN" altLang="en-US" dirty="0">
                <a:ea typeface="黑体" pitchFamily="49" charset="-122"/>
              </a:rPr>
              <a:t>方法</a:t>
            </a:r>
            <a:r>
              <a:rPr lang="en-US" altLang="zh-CN" dirty="0">
                <a:ea typeface="黑体" pitchFamily="49" charset="-122"/>
              </a:rPr>
              <a:t>8</a:t>
            </a:r>
            <a:r>
              <a:rPr lang="zh-CN" altLang="en-US" dirty="0">
                <a:ea typeface="黑体" pitchFamily="49" charset="-122"/>
              </a:rPr>
              <a:t>：神经网络方法</a:t>
            </a:r>
            <a:endParaRPr lang="en-US" altLang="zh-CN" dirty="0">
              <a:ea typeface="黑体" pitchFamily="49" charset="-122"/>
            </a:endParaRPr>
          </a:p>
          <a:p>
            <a:r>
              <a:rPr lang="zh-CN" altLang="en-US" dirty="0">
                <a:solidFill>
                  <a:srgbClr val="3333FF"/>
                </a:solidFill>
                <a:ea typeface="黑体" pitchFamily="49" charset="-122"/>
              </a:rPr>
              <a:t>方法</a:t>
            </a:r>
            <a:r>
              <a:rPr lang="en-US" altLang="zh-CN" dirty="0">
                <a:solidFill>
                  <a:srgbClr val="3333FF"/>
                </a:solidFill>
                <a:ea typeface="黑体" pitchFamily="49" charset="-122"/>
              </a:rPr>
              <a:t>9</a:t>
            </a:r>
            <a:r>
              <a:rPr lang="zh-CN" altLang="en-US" dirty="0">
                <a:solidFill>
                  <a:srgbClr val="3333FF"/>
                </a:solidFill>
                <a:ea typeface="黑体" pitchFamily="49" charset="-122"/>
              </a:rPr>
              <a:t>：遗传算法方法</a:t>
            </a:r>
            <a:endParaRPr lang="zh-CN" altLang="en-US" dirty="0">
              <a:solidFill>
                <a:srgbClr val="3333FF"/>
              </a:solidFill>
            </a:endParaRPr>
          </a:p>
          <a:p>
            <a:pPr marL="0" indent="0">
              <a:lnSpc>
                <a:spcPct val="120000"/>
              </a:lnSpc>
              <a:buNone/>
            </a:pPr>
            <a:endParaRPr lang="zh-CN" altLang="en-US" dirty="0"/>
          </a:p>
        </p:txBody>
      </p:sp>
      <p:sp>
        <p:nvSpPr>
          <p:cNvPr id="4" name="灯片编号占位符 3">
            <a:extLst>
              <a:ext uri="{FF2B5EF4-FFF2-40B4-BE49-F238E27FC236}">
                <a16:creationId xmlns:a16="http://schemas.microsoft.com/office/drawing/2014/main" id="{F17A28DA-211A-BADD-FECF-D42F02E14AA6}"/>
              </a:ext>
            </a:extLst>
          </p:cNvPr>
          <p:cNvSpPr>
            <a:spLocks noGrp="1"/>
          </p:cNvSpPr>
          <p:nvPr>
            <p:ph type="sldNum" sz="quarter" idx="11"/>
          </p:nvPr>
        </p:nvSpPr>
        <p:spPr/>
        <p:txBody>
          <a:bodyPr/>
          <a:lstStyle/>
          <a:p>
            <a:pPr>
              <a:defRPr/>
            </a:pPr>
            <a:fld id="{E0FB5469-1AEB-496D-971A-66705BF2F73C}" type="slidenum">
              <a:rPr lang="en-US" altLang="zh-CN" smtClean="0"/>
              <a:pPr>
                <a:defRPr/>
              </a:pPr>
              <a:t>2</a:t>
            </a:fld>
            <a:endParaRPr lang="en-US" altLang="zh-CN"/>
          </a:p>
        </p:txBody>
      </p:sp>
    </p:spTree>
    <p:extLst>
      <p:ext uri="{BB962C8B-B14F-4D97-AF65-F5344CB8AC3E}">
        <p14:creationId xmlns:p14="http://schemas.microsoft.com/office/powerpoint/2010/main" val="2199091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Grp="1" noChangeArrowheads="1"/>
          </p:cNvSpPr>
          <p:nvPr>
            <p:ph type="body" idx="1"/>
          </p:nvPr>
        </p:nvSpPr>
        <p:spPr>
          <a:xfrm>
            <a:off x="911424" y="1773238"/>
            <a:ext cx="10513168" cy="4824412"/>
          </a:xfrm>
        </p:spPr>
        <p:txBody>
          <a:bodyPr/>
          <a:lstStyle/>
          <a:p>
            <a:pPr algn="just" eaLnBrk="1" hangingPunct="1">
              <a:lnSpc>
                <a:spcPct val="120000"/>
              </a:lnSpc>
            </a:pPr>
            <a:r>
              <a:rPr lang="zh-CN" altLang="en-US" dirty="0">
                <a:solidFill>
                  <a:srgbClr val="FF0000"/>
                </a:solidFill>
                <a:ea typeface="黑体" pitchFamily="49" charset="-122"/>
              </a:rPr>
              <a:t>遗传算法</a:t>
            </a:r>
            <a:r>
              <a:rPr lang="zh-CN" altLang="en-US" b="1" dirty="0">
                <a:solidFill>
                  <a:srgbClr val="FF0000"/>
                </a:solidFill>
                <a:latin typeface="Verdana" panose="020B0604030504040204" pitchFamily="34" charset="0"/>
                <a:ea typeface="宋体" panose="02010600030101010101" pitchFamily="2" charset="-122"/>
              </a:rPr>
              <a:t>（</a:t>
            </a:r>
            <a:r>
              <a:rPr lang="en-US" altLang="zh-CN" b="1" dirty="0">
                <a:solidFill>
                  <a:srgbClr val="FF0000"/>
                </a:solidFill>
                <a:ea typeface="宋体" panose="02010600030101010101" pitchFamily="2" charset="-122"/>
              </a:rPr>
              <a:t>Genetic Algorithm——GA</a:t>
            </a:r>
            <a:r>
              <a:rPr lang="zh-CN" altLang="en-US" b="1" dirty="0">
                <a:solidFill>
                  <a:srgbClr val="FF0000"/>
                </a:solidFill>
                <a:latin typeface="Verdana" panose="020B0604030504040204" pitchFamily="34" charset="0"/>
                <a:ea typeface="宋体" panose="02010600030101010101" pitchFamily="2" charset="-122"/>
              </a:rPr>
              <a:t>）</a:t>
            </a:r>
          </a:p>
          <a:p>
            <a:pPr lvl="1">
              <a:lnSpc>
                <a:spcPct val="120000"/>
              </a:lnSpc>
            </a:pPr>
            <a:r>
              <a:rPr lang="zh-CN" altLang="en-US" b="1" dirty="0">
                <a:ea typeface="宋体" pitchFamily="2" charset="-122"/>
              </a:rPr>
              <a:t>一种仿生全局优化算法</a:t>
            </a:r>
            <a:r>
              <a:rPr lang="en-US" altLang="zh-CN" b="1" dirty="0">
                <a:ea typeface="宋体" pitchFamily="2" charset="-122"/>
              </a:rPr>
              <a:t>, </a:t>
            </a:r>
            <a:r>
              <a:rPr lang="zh-CN" altLang="en-US" b="1" dirty="0">
                <a:latin typeface="Verdana" panose="020B0604030504040204" pitchFamily="34" charset="0"/>
                <a:ea typeface="宋体" panose="02010600030101010101" pitchFamily="2" charset="-122"/>
              </a:rPr>
              <a:t>是进化计算的一个分支，是一种模拟自然界生物进化过程的随机搜索算法</a:t>
            </a:r>
          </a:p>
          <a:p>
            <a:pPr lvl="1">
              <a:lnSpc>
                <a:spcPct val="120000"/>
              </a:lnSpc>
            </a:pPr>
            <a:r>
              <a:rPr lang="zh-CN" altLang="en-US" sz="2600" b="1" dirty="0">
                <a:latin typeface="Times New Roman" panose="02020603050405020304" pitchFamily="18" charset="0"/>
                <a:ea typeface="宋体" panose="02010600030101010101" pitchFamily="2" charset="-122"/>
              </a:rPr>
              <a:t>核心思想：</a:t>
            </a:r>
            <a:r>
              <a:rPr lang="zh-CN" altLang="en-US" sz="2600" b="1" dirty="0">
                <a:solidFill>
                  <a:srgbClr val="CC00CC"/>
                </a:solidFill>
                <a:latin typeface="Verdana" panose="020B0604030504040204" pitchFamily="34" charset="0"/>
                <a:ea typeface="宋体" panose="02010600030101010101" pitchFamily="2" charset="-122"/>
              </a:rPr>
              <a:t>物竞天择，适者生存</a:t>
            </a:r>
            <a:endParaRPr lang="zh-CN" altLang="en-US" sz="2600" b="1" dirty="0">
              <a:latin typeface="Verdana" panose="020B0604030504040204" pitchFamily="34" charset="0"/>
              <a:ea typeface="宋体" panose="02010600030101010101" pitchFamily="2" charset="-122"/>
            </a:endParaRPr>
          </a:p>
          <a:p>
            <a:pPr lvl="1">
              <a:lnSpc>
                <a:spcPct val="120000"/>
              </a:lnSpc>
            </a:pPr>
            <a:r>
              <a:rPr lang="zh-CN" altLang="en-US" sz="2600" b="1" dirty="0">
                <a:latin typeface="Verdana" panose="020B0604030504040204" pitchFamily="34" charset="0"/>
                <a:ea typeface="宋体" panose="02010600030101010101" pitchFamily="2" charset="-122"/>
              </a:rPr>
              <a:t>模仿生物的遗传进化原理，通过</a:t>
            </a:r>
            <a:r>
              <a:rPr lang="zh-CN" altLang="en-US" sz="2600" b="1" dirty="0">
                <a:solidFill>
                  <a:srgbClr val="3333FF"/>
                </a:solidFill>
                <a:latin typeface="Verdana" panose="020B0604030504040204" pitchFamily="34" charset="0"/>
                <a:ea typeface="宋体" panose="02010600030101010101" pitchFamily="2" charset="-122"/>
              </a:rPr>
              <a:t>选择、交叉与变异</a:t>
            </a:r>
            <a:r>
              <a:rPr lang="zh-CN" altLang="en-US" sz="2600" b="1" dirty="0">
                <a:latin typeface="Verdana" panose="020B0604030504040204" pitchFamily="34" charset="0"/>
                <a:ea typeface="宋体" panose="02010600030101010101" pitchFamily="2" charset="-122"/>
              </a:rPr>
              <a:t>等操作机制，使种群中个体的适应性不断提高，从而寻找问题的全局最优解。</a:t>
            </a:r>
          </a:p>
          <a:p>
            <a:pPr lvl="1">
              <a:lnSpc>
                <a:spcPct val="120000"/>
              </a:lnSpc>
            </a:pPr>
            <a:r>
              <a:rPr lang="en-US" altLang="zh-CN" sz="2600" b="1" dirty="0">
                <a:latin typeface="Verdana" panose="020B0604030504040204" pitchFamily="34" charset="0"/>
                <a:ea typeface="宋体" panose="02010600030101010101" pitchFamily="2" charset="-122"/>
              </a:rPr>
              <a:t>1965</a:t>
            </a:r>
            <a:r>
              <a:rPr lang="zh-CN" altLang="en-US" sz="2600" b="1" dirty="0">
                <a:latin typeface="Verdana" panose="020B0604030504040204" pitchFamily="34" charset="0"/>
                <a:ea typeface="宋体" panose="02010600030101010101" pitchFamily="2" charset="-122"/>
              </a:rPr>
              <a:t>年由美国教授</a:t>
            </a:r>
            <a:r>
              <a:rPr lang="en-US" altLang="zh-CN" sz="2600" b="1" dirty="0">
                <a:latin typeface="Verdana" panose="020B0604030504040204" pitchFamily="34" charset="0"/>
                <a:ea typeface="宋体" panose="02010600030101010101" pitchFamily="2" charset="-122"/>
              </a:rPr>
              <a:t>John H. Holland</a:t>
            </a:r>
            <a:r>
              <a:rPr lang="zh-CN" altLang="en-US" sz="2600" b="1" dirty="0">
                <a:latin typeface="Verdana" panose="020B0604030504040204" pitchFamily="34" charset="0"/>
                <a:ea typeface="宋体" panose="02010600030101010101" pitchFamily="2" charset="-122"/>
              </a:rPr>
              <a:t>提出</a:t>
            </a:r>
          </a:p>
          <a:p>
            <a:pPr lvl="1">
              <a:lnSpc>
                <a:spcPct val="120000"/>
              </a:lnSpc>
            </a:pPr>
            <a:r>
              <a:rPr lang="zh-CN" altLang="en-US" sz="2600" b="1" dirty="0">
                <a:latin typeface="Verdana" panose="020B0604030504040204" pitchFamily="34" charset="0"/>
                <a:ea typeface="宋体" panose="02010600030101010101" pitchFamily="2" charset="-122"/>
              </a:rPr>
              <a:t>现在已经广泛应用于各种工程领域的优化问题之中</a:t>
            </a:r>
            <a:endParaRPr lang="zh-CN" altLang="en-US" sz="2600" dirty="0">
              <a:ea typeface="黑体" pitchFamily="49" charset="-122"/>
            </a:endParaRPr>
          </a:p>
        </p:txBody>
      </p:sp>
      <p:sp>
        <p:nvSpPr>
          <p:cNvPr id="49155" name="Rectangle 4"/>
          <p:cNvSpPr>
            <a:spLocks noChangeArrowheads="1"/>
          </p:cNvSpPr>
          <p:nvPr/>
        </p:nvSpPr>
        <p:spPr bwMode="auto">
          <a:xfrm>
            <a:off x="1992313" y="333375"/>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000" dirty="0">
                <a:solidFill>
                  <a:srgbClr val="008000"/>
                </a:solidFill>
                <a:ea typeface="黑体" pitchFamily="49" charset="-122"/>
              </a:rPr>
              <a:t>隶属函数确定方法</a:t>
            </a:r>
            <a:r>
              <a:rPr lang="en-US" altLang="zh-CN" sz="4000" dirty="0">
                <a:solidFill>
                  <a:srgbClr val="008000"/>
                </a:solidFill>
                <a:ea typeface="黑体" pitchFamily="49" charset="-122"/>
              </a:rPr>
              <a:t>9: </a:t>
            </a:r>
            <a:r>
              <a:rPr lang="zh-CN" altLang="en-US" sz="4000" dirty="0">
                <a:solidFill>
                  <a:srgbClr val="008000"/>
                </a:solidFill>
                <a:ea typeface="黑体" pitchFamily="49" charset="-122"/>
              </a:rPr>
              <a:t>遗传算法方法</a:t>
            </a:r>
            <a:endParaRPr lang="zh-CN" altLang="en-US" sz="3600" dirty="0">
              <a:solidFill>
                <a:schemeClr val="bg2"/>
              </a:solidFill>
              <a:ea typeface="黑体" pitchFamily="49" charset="-122"/>
            </a:endParaRPr>
          </a:p>
        </p:txBody>
      </p:sp>
      <p:sp>
        <p:nvSpPr>
          <p:cNvPr id="2" name="灯片编号占位符 1">
            <a:extLst>
              <a:ext uri="{FF2B5EF4-FFF2-40B4-BE49-F238E27FC236}">
                <a16:creationId xmlns:a16="http://schemas.microsoft.com/office/drawing/2014/main" id="{D548850C-BE18-25B2-8B50-33F0B5EF877A}"/>
              </a:ext>
            </a:extLst>
          </p:cNvPr>
          <p:cNvSpPr>
            <a:spLocks noGrp="1"/>
          </p:cNvSpPr>
          <p:nvPr>
            <p:ph type="sldNum" sz="quarter" idx="11"/>
          </p:nvPr>
        </p:nvSpPr>
        <p:spPr/>
        <p:txBody>
          <a:bodyPr/>
          <a:lstStyle/>
          <a:p>
            <a:pPr>
              <a:defRPr/>
            </a:pPr>
            <a:fld id="{E0FB5469-1AEB-496D-971A-66705BF2F73C}" type="slidenum">
              <a:rPr lang="en-US" altLang="zh-CN" smtClean="0"/>
              <a:pPr>
                <a:defRPr/>
              </a:pPr>
              <a:t>3</a:t>
            </a:fld>
            <a:endParaRPr lang="en-US" altLang="zh-CN"/>
          </a:p>
        </p:txBody>
      </p:sp>
    </p:spTree>
    <p:extLst>
      <p:ext uri="{BB962C8B-B14F-4D97-AF65-F5344CB8AC3E}">
        <p14:creationId xmlns:p14="http://schemas.microsoft.com/office/powerpoint/2010/main" val="3082864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wipe(left)">
                                      <p:cBhvr>
                                        <p:cTn id="7" dur="500"/>
                                        <p:tgtEl>
                                          <p:spTgt spid="159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9747">
                                            <p:txEl>
                                              <p:pRg st="1" end="1"/>
                                            </p:txEl>
                                          </p:spTgt>
                                        </p:tgtEl>
                                        <p:attrNameLst>
                                          <p:attrName>style.visibility</p:attrName>
                                        </p:attrNameLst>
                                      </p:cBhvr>
                                      <p:to>
                                        <p:strVal val="visible"/>
                                      </p:to>
                                    </p:set>
                                    <p:animEffect transition="in" filter="wipe(left)">
                                      <p:cBhvr>
                                        <p:cTn id="12" dur="500"/>
                                        <p:tgtEl>
                                          <p:spTgt spid="1597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9747">
                                            <p:txEl>
                                              <p:pRg st="2" end="2"/>
                                            </p:txEl>
                                          </p:spTgt>
                                        </p:tgtEl>
                                        <p:attrNameLst>
                                          <p:attrName>style.visibility</p:attrName>
                                        </p:attrNameLst>
                                      </p:cBhvr>
                                      <p:to>
                                        <p:strVal val="visible"/>
                                      </p:to>
                                    </p:set>
                                    <p:animEffect transition="in" filter="wipe(left)">
                                      <p:cBhvr>
                                        <p:cTn id="17" dur="500"/>
                                        <p:tgtEl>
                                          <p:spTgt spid="1597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9747">
                                            <p:txEl>
                                              <p:pRg st="3" end="3"/>
                                            </p:txEl>
                                          </p:spTgt>
                                        </p:tgtEl>
                                        <p:attrNameLst>
                                          <p:attrName>style.visibility</p:attrName>
                                        </p:attrNameLst>
                                      </p:cBhvr>
                                      <p:to>
                                        <p:strVal val="visible"/>
                                      </p:to>
                                    </p:set>
                                    <p:animEffect transition="in" filter="wipe(left)">
                                      <p:cBhvr>
                                        <p:cTn id="22" dur="500"/>
                                        <p:tgtEl>
                                          <p:spTgt spid="1597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9747">
                                            <p:txEl>
                                              <p:pRg st="4" end="4"/>
                                            </p:txEl>
                                          </p:spTgt>
                                        </p:tgtEl>
                                        <p:attrNameLst>
                                          <p:attrName>style.visibility</p:attrName>
                                        </p:attrNameLst>
                                      </p:cBhvr>
                                      <p:to>
                                        <p:strVal val="visible"/>
                                      </p:to>
                                    </p:set>
                                    <p:animEffect transition="in" filter="wipe(left)">
                                      <p:cBhvr>
                                        <p:cTn id="27" dur="500"/>
                                        <p:tgtEl>
                                          <p:spTgt spid="1597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9747">
                                            <p:txEl>
                                              <p:pRg st="5" end="5"/>
                                            </p:txEl>
                                          </p:spTgt>
                                        </p:tgtEl>
                                        <p:attrNameLst>
                                          <p:attrName>style.visibility</p:attrName>
                                        </p:attrNameLst>
                                      </p:cBhvr>
                                      <p:to>
                                        <p:strVal val="visible"/>
                                      </p:to>
                                    </p:set>
                                    <p:animEffect transition="in" filter="wipe(left)">
                                      <p:cBhvr>
                                        <p:cTn id="32" dur="500"/>
                                        <p:tgtEl>
                                          <p:spTgt spid="1597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2050817" y="-99392"/>
            <a:ext cx="8229600" cy="1371600"/>
          </a:xfrm>
        </p:spPr>
        <p:txBody>
          <a:bodyPr/>
          <a:lstStyle/>
          <a:p>
            <a:pPr algn="ctr"/>
            <a:r>
              <a:rPr lang="en-US" altLang="zh-CN" dirty="0" err="1">
                <a:solidFill>
                  <a:srgbClr val="008000"/>
                </a:solidFill>
                <a:effectLst>
                  <a:outerShdw blurRad="38100" dist="38100" dir="2700000" algn="tl">
                    <a:srgbClr val="C0C0C0"/>
                  </a:outerShdw>
                </a:effectLst>
                <a:latin typeface="黑体" panose="02010609060101010101" pitchFamily="49" charset="-122"/>
                <a:ea typeface="黑体" panose="02010609060101010101" pitchFamily="49" charset="-122"/>
              </a:rPr>
              <a:t>基本</a:t>
            </a:r>
            <a:r>
              <a:rPr lang="zh-CN" altLang="en-US" dirty="0">
                <a:solidFill>
                  <a:srgbClr val="008000"/>
                </a:solidFill>
                <a:effectLst>
                  <a:outerShdw blurRad="38100" dist="38100" dir="2700000" algn="tl">
                    <a:srgbClr val="C0C0C0"/>
                  </a:outerShdw>
                </a:effectLst>
                <a:latin typeface="黑体" panose="02010609060101010101" pitchFamily="49" charset="-122"/>
                <a:ea typeface="黑体" panose="02010609060101010101" pitchFamily="49" charset="-122"/>
              </a:rPr>
              <a:t>原理</a:t>
            </a:r>
          </a:p>
        </p:txBody>
      </p:sp>
      <p:grpSp>
        <p:nvGrpSpPr>
          <p:cNvPr id="94246" name="Group 38"/>
          <p:cNvGrpSpPr>
            <a:grpSpLocks/>
          </p:cNvGrpSpPr>
          <p:nvPr/>
        </p:nvGrpSpPr>
        <p:grpSpPr bwMode="auto">
          <a:xfrm>
            <a:off x="1728812" y="1801463"/>
            <a:ext cx="2566988" cy="4761612"/>
            <a:chOff x="592" y="1567"/>
            <a:chExt cx="1336" cy="2048"/>
          </a:xfrm>
        </p:grpSpPr>
        <p:sp>
          <p:nvSpPr>
            <p:cNvPr id="94247" name="AutoShape 39"/>
            <p:cNvSpPr>
              <a:spLocks noChangeArrowheads="1"/>
            </p:cNvSpPr>
            <p:nvPr/>
          </p:nvSpPr>
          <p:spPr bwMode="auto">
            <a:xfrm>
              <a:off x="592" y="1567"/>
              <a:ext cx="1336" cy="1942"/>
            </a:xfrm>
            <a:prstGeom prst="roundRect">
              <a:avLst>
                <a:gd name="adj" fmla="val 16667"/>
              </a:avLst>
            </a:prstGeom>
            <a:noFill/>
            <a:ln w="38100">
              <a:solidFill>
                <a:srgbClr val="000000"/>
              </a:solidFill>
              <a:round/>
              <a:headEnd/>
              <a:tailEnd/>
            </a:ln>
            <a:effectLst/>
            <a:extLst>
              <a:ext uri="{909E8E84-426E-40DD-AFC4-6F175D3DCCD1}">
                <a14:hiddenFill xmlns:a14="http://schemas.microsoft.com/office/drawing/2010/main">
                  <a:solidFill>
                    <a:srgbClr val="0D466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en-US">
                <a:latin typeface="Verdana" panose="020B0604030504040204" pitchFamily="34" charset="0"/>
                <a:ea typeface="宋体" panose="02010600030101010101" pitchFamily="2" charset="-122"/>
              </a:endParaRPr>
            </a:p>
          </p:txBody>
        </p:sp>
        <p:sp>
          <p:nvSpPr>
            <p:cNvPr id="94248" name="Text Box 40"/>
            <p:cNvSpPr txBox="1">
              <a:spLocks noChangeArrowheads="1"/>
            </p:cNvSpPr>
            <p:nvPr/>
          </p:nvSpPr>
          <p:spPr bwMode="auto">
            <a:xfrm>
              <a:off x="624" y="1590"/>
              <a:ext cx="1248" cy="2025"/>
            </a:xfrm>
            <a:prstGeom prst="rect">
              <a:avLst/>
            </a:prstGeom>
            <a:noFill/>
            <a:ln>
              <a:noFill/>
            </a:ln>
            <a:effectLst/>
            <a:extLst>
              <a:ext uri="{909E8E84-426E-40DD-AFC4-6F175D3DCCD1}">
                <a14:hiddenFill xmlns:a14="http://schemas.microsoft.com/office/drawing/2010/main">
                  <a:gradFill rotWithShape="1">
                    <a:gsLst>
                      <a:gs pos="0">
                        <a:srgbClr val="0D466D"/>
                      </a:gs>
                      <a:gs pos="100000">
                        <a:srgbClr val="0D466D">
                          <a:gamma/>
                          <a:tint val="48627"/>
                          <a:invGamma/>
                        </a:srgbClr>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2600" b="1" dirty="0">
                  <a:solidFill>
                    <a:srgbClr val="001D3A"/>
                  </a:solidFill>
                  <a:latin typeface="Verdana" panose="020B0604030504040204" pitchFamily="34" charset="0"/>
                </a:rPr>
                <a:t>生物遗传进化</a:t>
              </a:r>
              <a:endParaRPr lang="en-US" altLang="zh-CN" sz="2600" dirty="0">
                <a:solidFill>
                  <a:srgbClr val="001D3A"/>
                </a:solidFill>
                <a:latin typeface="Verdana" panose="020B0604030504040204" pitchFamily="34" charset="0"/>
              </a:endParaRPr>
            </a:p>
            <a:p>
              <a:pPr eaLnBrk="0" hangingPunct="0">
                <a:lnSpc>
                  <a:spcPct val="160000"/>
                </a:lnSpc>
                <a:buSzPct val="60000"/>
                <a:buFontTx/>
                <a:buChar char="•"/>
              </a:pPr>
              <a:r>
                <a:rPr lang="zh-CN" altLang="en-US" sz="2000" b="1" dirty="0">
                  <a:solidFill>
                    <a:srgbClr val="CC00CC"/>
                  </a:solidFill>
                  <a:latin typeface="Verdana" panose="020B0604030504040204" pitchFamily="34" charset="0"/>
                </a:rPr>
                <a:t>群体</a:t>
              </a:r>
            </a:p>
            <a:p>
              <a:pPr eaLnBrk="0" hangingPunct="0">
                <a:lnSpc>
                  <a:spcPct val="160000"/>
                </a:lnSpc>
                <a:buSzPct val="60000"/>
                <a:buFontTx/>
                <a:buChar char="•"/>
              </a:pPr>
              <a:r>
                <a:rPr lang="zh-CN" altLang="en-US" sz="2000" b="1" dirty="0">
                  <a:solidFill>
                    <a:srgbClr val="001D3A"/>
                  </a:solidFill>
                  <a:latin typeface="Verdana" panose="020B0604030504040204" pitchFamily="34" charset="0"/>
                </a:rPr>
                <a:t>种群</a:t>
              </a:r>
            </a:p>
            <a:p>
              <a:pPr eaLnBrk="0" hangingPunct="0">
                <a:lnSpc>
                  <a:spcPct val="160000"/>
                </a:lnSpc>
                <a:buSzPct val="60000"/>
                <a:buFontTx/>
                <a:buChar char="•"/>
              </a:pPr>
              <a:r>
                <a:rPr lang="zh-CN" altLang="en-US" sz="2000" b="1" dirty="0">
                  <a:solidFill>
                    <a:srgbClr val="3333FF"/>
                  </a:solidFill>
                  <a:latin typeface="Verdana" panose="020B0604030504040204" pitchFamily="34" charset="0"/>
                </a:rPr>
                <a:t>染色体</a:t>
              </a:r>
            </a:p>
            <a:p>
              <a:pPr eaLnBrk="0" hangingPunct="0">
                <a:lnSpc>
                  <a:spcPct val="160000"/>
                </a:lnSpc>
                <a:buSzPct val="60000"/>
                <a:buFontTx/>
                <a:buChar char="•"/>
              </a:pPr>
              <a:r>
                <a:rPr lang="zh-CN" altLang="en-US" sz="2000" b="1" dirty="0">
                  <a:solidFill>
                    <a:srgbClr val="001D3A"/>
                  </a:solidFill>
                  <a:latin typeface="Verdana" panose="020B0604030504040204" pitchFamily="34" charset="0"/>
                </a:rPr>
                <a:t>基因</a:t>
              </a:r>
            </a:p>
            <a:p>
              <a:pPr eaLnBrk="0" hangingPunct="0">
                <a:lnSpc>
                  <a:spcPct val="160000"/>
                </a:lnSpc>
                <a:buSzPct val="60000"/>
                <a:buFontTx/>
                <a:buChar char="•"/>
              </a:pPr>
              <a:r>
                <a:rPr lang="zh-CN" altLang="en-US" sz="2000" b="1" dirty="0">
                  <a:solidFill>
                    <a:srgbClr val="008000"/>
                  </a:solidFill>
                  <a:latin typeface="Verdana" panose="020B0604030504040204" pitchFamily="34" charset="0"/>
                </a:rPr>
                <a:t>适应能力</a:t>
              </a:r>
            </a:p>
            <a:p>
              <a:pPr eaLnBrk="0" hangingPunct="0">
                <a:lnSpc>
                  <a:spcPct val="160000"/>
                </a:lnSpc>
                <a:buSzPct val="60000"/>
                <a:buFontTx/>
                <a:buChar char="•"/>
              </a:pPr>
              <a:r>
                <a:rPr lang="zh-CN" altLang="en-US" sz="2000" b="1" dirty="0">
                  <a:solidFill>
                    <a:srgbClr val="001D3A"/>
                  </a:solidFill>
                  <a:latin typeface="Verdana" panose="020B0604030504040204" pitchFamily="34" charset="0"/>
                </a:rPr>
                <a:t>交叉</a:t>
              </a:r>
            </a:p>
            <a:p>
              <a:pPr eaLnBrk="0" hangingPunct="0">
                <a:lnSpc>
                  <a:spcPct val="160000"/>
                </a:lnSpc>
                <a:buSzPct val="60000"/>
                <a:buFontTx/>
                <a:buChar char="•"/>
              </a:pPr>
              <a:r>
                <a:rPr lang="zh-CN" altLang="en-US" sz="2000" b="1" dirty="0">
                  <a:solidFill>
                    <a:srgbClr val="FF0000"/>
                  </a:solidFill>
                  <a:latin typeface="Verdana" panose="020B0604030504040204" pitchFamily="34" charset="0"/>
                </a:rPr>
                <a:t>变异</a:t>
              </a:r>
            </a:p>
            <a:p>
              <a:pPr eaLnBrk="0" hangingPunct="0">
                <a:lnSpc>
                  <a:spcPct val="160000"/>
                </a:lnSpc>
                <a:buSzPct val="60000"/>
                <a:buFontTx/>
                <a:buChar char="•"/>
              </a:pPr>
              <a:r>
                <a:rPr lang="zh-CN" altLang="en-US" sz="2000" b="1" dirty="0">
                  <a:solidFill>
                    <a:srgbClr val="001D3A"/>
                  </a:solidFill>
                  <a:latin typeface="Verdana" panose="020B0604030504040204" pitchFamily="34" charset="0"/>
                </a:rPr>
                <a:t>进化结束</a:t>
              </a:r>
            </a:p>
            <a:p>
              <a:pPr eaLnBrk="0" hangingPunct="0">
                <a:buSzPct val="60000"/>
                <a:buFontTx/>
                <a:buChar char="•"/>
              </a:pPr>
              <a:endParaRPr lang="en-US" altLang="zh-CN" b="1" dirty="0">
                <a:solidFill>
                  <a:srgbClr val="001D3A"/>
                </a:solidFill>
                <a:latin typeface="Verdana" panose="020B0604030504040204" pitchFamily="34" charset="0"/>
                <a:ea typeface="宋体" panose="02010600030101010101" pitchFamily="2" charset="-122"/>
              </a:endParaRPr>
            </a:p>
          </p:txBody>
        </p:sp>
      </p:grpSp>
      <p:grpSp>
        <p:nvGrpSpPr>
          <p:cNvPr id="94249" name="Group 41"/>
          <p:cNvGrpSpPr>
            <a:grpSpLocks/>
          </p:cNvGrpSpPr>
          <p:nvPr/>
        </p:nvGrpSpPr>
        <p:grpSpPr bwMode="auto">
          <a:xfrm>
            <a:off x="7820027" y="1774591"/>
            <a:ext cx="2741223" cy="4469815"/>
            <a:chOff x="3832" y="1585"/>
            <a:chExt cx="1427" cy="1934"/>
          </a:xfrm>
        </p:grpSpPr>
        <p:sp>
          <p:nvSpPr>
            <p:cNvPr id="94250" name="AutoShape 42"/>
            <p:cNvSpPr>
              <a:spLocks noChangeArrowheads="1"/>
            </p:cNvSpPr>
            <p:nvPr/>
          </p:nvSpPr>
          <p:spPr bwMode="auto">
            <a:xfrm>
              <a:off x="3832" y="1585"/>
              <a:ext cx="1427" cy="1934"/>
            </a:xfrm>
            <a:prstGeom prst="roundRect">
              <a:avLst>
                <a:gd name="adj" fmla="val 16667"/>
              </a:avLst>
            </a:prstGeom>
            <a:noFill/>
            <a:ln w="38100">
              <a:solidFill>
                <a:srgbClr val="000000"/>
              </a:solidFill>
              <a:round/>
              <a:headEnd/>
              <a:tailEnd/>
            </a:ln>
            <a:effectLst/>
            <a:extLst>
              <a:ext uri="{909E8E84-426E-40DD-AFC4-6F175D3DCCD1}">
                <a14:hiddenFill xmlns:a14="http://schemas.microsoft.com/office/drawing/2010/main">
                  <a:gradFill rotWithShape="1">
                    <a:gsLst>
                      <a:gs pos="0">
                        <a:srgbClr val="0D466D"/>
                      </a:gs>
                      <a:gs pos="100000">
                        <a:srgbClr val="0D466D">
                          <a:gamma/>
                          <a:tint val="48627"/>
                          <a:invGamma/>
                        </a:srgbClr>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en-US">
                <a:latin typeface="Verdana" panose="020B0604030504040204" pitchFamily="34" charset="0"/>
                <a:ea typeface="宋体" panose="02010600030101010101" pitchFamily="2" charset="-122"/>
              </a:endParaRPr>
            </a:p>
          </p:txBody>
        </p:sp>
        <p:sp>
          <p:nvSpPr>
            <p:cNvPr id="94251" name="Text Box 43"/>
            <p:cNvSpPr txBox="1">
              <a:spLocks noChangeArrowheads="1"/>
            </p:cNvSpPr>
            <p:nvPr/>
          </p:nvSpPr>
          <p:spPr bwMode="auto">
            <a:xfrm>
              <a:off x="3840" y="1628"/>
              <a:ext cx="1344" cy="1891"/>
            </a:xfrm>
            <a:prstGeom prst="rect">
              <a:avLst/>
            </a:prstGeom>
            <a:noFill/>
            <a:ln>
              <a:noFill/>
            </a:ln>
            <a:effectLst/>
            <a:extLst>
              <a:ext uri="{909E8E84-426E-40DD-AFC4-6F175D3DCCD1}">
                <a14:hiddenFill xmlns:a14="http://schemas.microsoft.com/office/drawing/2010/main">
                  <a:gradFill rotWithShape="1">
                    <a:gsLst>
                      <a:gs pos="0">
                        <a:srgbClr val="0D466D"/>
                      </a:gs>
                      <a:gs pos="100000">
                        <a:srgbClr val="0D466D">
                          <a:gamma/>
                          <a:tint val="48627"/>
                          <a:invGamma/>
                        </a:srgbClr>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8900" indent="-88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eaLnBrk="0" hangingPunct="0"/>
              <a:r>
                <a:rPr lang="zh-CN" altLang="en-US" sz="2600" b="1" dirty="0">
                  <a:solidFill>
                    <a:srgbClr val="001D3A"/>
                  </a:solidFill>
                  <a:latin typeface="Verdana" panose="020B0604030504040204" pitchFamily="34" charset="0"/>
                </a:rPr>
                <a:t>遗传算法</a:t>
              </a:r>
              <a:endParaRPr lang="en-US" altLang="zh-CN" sz="2600" dirty="0">
                <a:solidFill>
                  <a:srgbClr val="001D3A"/>
                </a:solidFill>
                <a:latin typeface="Verdana" panose="020B0604030504040204" pitchFamily="34" charset="0"/>
              </a:endParaRPr>
            </a:p>
            <a:p>
              <a:pPr eaLnBrk="0" hangingPunct="0">
                <a:lnSpc>
                  <a:spcPct val="140000"/>
                </a:lnSpc>
                <a:buSzPct val="60000"/>
                <a:buFontTx/>
                <a:buChar char="•"/>
              </a:pPr>
              <a:r>
                <a:rPr lang="zh-CN" altLang="en-US" b="1" dirty="0">
                  <a:solidFill>
                    <a:srgbClr val="CC00CC"/>
                  </a:solidFill>
                  <a:latin typeface="Verdana" panose="020B0604030504040204" pitchFamily="34" charset="0"/>
                  <a:ea typeface="宋体" panose="02010600030101010101" pitchFamily="2" charset="-122"/>
                </a:rPr>
                <a:t>搜索空间的一组有效解</a:t>
              </a:r>
            </a:p>
            <a:p>
              <a:pPr eaLnBrk="0" hangingPunct="0">
                <a:lnSpc>
                  <a:spcPct val="140000"/>
                </a:lnSpc>
                <a:buSzPct val="60000"/>
                <a:buFontTx/>
                <a:buChar char="•"/>
              </a:pPr>
              <a:r>
                <a:rPr lang="zh-CN" altLang="en-US" b="1" dirty="0">
                  <a:solidFill>
                    <a:srgbClr val="001D3A"/>
                  </a:solidFill>
                  <a:latin typeface="Verdana" panose="020B0604030504040204" pitchFamily="34" charset="0"/>
                  <a:ea typeface="宋体" panose="02010600030101010101" pitchFamily="2" charset="-122"/>
                </a:rPr>
                <a:t>选择得到的新群体</a:t>
              </a:r>
              <a:endParaRPr lang="en-US" altLang="zh-CN" b="1" dirty="0">
                <a:solidFill>
                  <a:srgbClr val="001D3A"/>
                </a:solidFill>
                <a:latin typeface="Verdana" panose="020B0604030504040204" pitchFamily="34" charset="0"/>
                <a:ea typeface="宋体" panose="02010600030101010101" pitchFamily="2" charset="-122"/>
              </a:endParaRPr>
            </a:p>
            <a:p>
              <a:pPr eaLnBrk="0" hangingPunct="0">
                <a:lnSpc>
                  <a:spcPct val="140000"/>
                </a:lnSpc>
                <a:buSzPct val="60000"/>
                <a:buFontTx/>
                <a:buChar char="•"/>
              </a:pPr>
              <a:r>
                <a:rPr lang="zh-CN" altLang="en-US" b="1" dirty="0">
                  <a:solidFill>
                    <a:srgbClr val="3333FF"/>
                  </a:solidFill>
                  <a:latin typeface="Verdana" panose="020B0604030504040204" pitchFamily="34" charset="0"/>
                  <a:ea typeface="宋体" panose="02010600030101010101" pitchFamily="2" charset="-122"/>
                </a:rPr>
                <a:t>可行解的编码串</a:t>
              </a:r>
              <a:endParaRPr lang="en-US" altLang="zh-CN" b="1" dirty="0">
                <a:solidFill>
                  <a:srgbClr val="3333FF"/>
                </a:solidFill>
                <a:latin typeface="Verdana" panose="020B0604030504040204" pitchFamily="34" charset="0"/>
                <a:ea typeface="宋体" panose="02010600030101010101" pitchFamily="2" charset="-122"/>
              </a:endParaRPr>
            </a:p>
            <a:p>
              <a:pPr eaLnBrk="0" hangingPunct="0">
                <a:lnSpc>
                  <a:spcPct val="140000"/>
                </a:lnSpc>
                <a:buSzPct val="60000"/>
                <a:buFontTx/>
                <a:buChar char="•"/>
              </a:pPr>
              <a:r>
                <a:rPr lang="zh-CN" altLang="en-US" b="1" dirty="0">
                  <a:solidFill>
                    <a:srgbClr val="001D3A"/>
                  </a:solidFill>
                  <a:latin typeface="Verdana" panose="020B0604030504040204" pitchFamily="34" charset="0"/>
                  <a:ea typeface="宋体" panose="02010600030101010101" pitchFamily="2" charset="-122"/>
                </a:rPr>
                <a:t>染色体的一个编码单元</a:t>
              </a:r>
            </a:p>
            <a:p>
              <a:pPr eaLnBrk="0" hangingPunct="0">
                <a:lnSpc>
                  <a:spcPct val="140000"/>
                </a:lnSpc>
                <a:buSzPct val="60000"/>
                <a:buFontTx/>
                <a:buChar char="•"/>
              </a:pPr>
              <a:r>
                <a:rPr lang="zh-CN" altLang="en-US" b="1" dirty="0">
                  <a:solidFill>
                    <a:srgbClr val="008000"/>
                  </a:solidFill>
                  <a:latin typeface="Verdana" panose="020B0604030504040204" pitchFamily="34" charset="0"/>
                  <a:ea typeface="宋体" panose="02010600030101010101" pitchFamily="2" charset="-122"/>
                </a:rPr>
                <a:t>染色体的适应值</a:t>
              </a:r>
              <a:endParaRPr lang="en-US" altLang="zh-CN" b="1" dirty="0">
                <a:solidFill>
                  <a:srgbClr val="008000"/>
                </a:solidFill>
                <a:latin typeface="Verdana" panose="020B0604030504040204" pitchFamily="34" charset="0"/>
                <a:ea typeface="宋体" panose="02010600030101010101" pitchFamily="2" charset="-122"/>
              </a:endParaRPr>
            </a:p>
            <a:p>
              <a:pPr eaLnBrk="0" hangingPunct="0">
                <a:lnSpc>
                  <a:spcPct val="140000"/>
                </a:lnSpc>
                <a:buSzPct val="60000"/>
                <a:buFontTx/>
                <a:buChar char="•"/>
              </a:pPr>
              <a:r>
                <a:rPr lang="zh-CN" altLang="en-US" b="1" dirty="0">
                  <a:solidFill>
                    <a:srgbClr val="001D3A"/>
                  </a:solidFill>
                  <a:latin typeface="Verdana" panose="020B0604030504040204" pitchFamily="34" charset="0"/>
                  <a:ea typeface="宋体" panose="02010600030101010101" pitchFamily="2" charset="-122"/>
                </a:rPr>
                <a:t>染色体交换部分基因得到新染色体</a:t>
              </a:r>
              <a:endParaRPr lang="zh-CN" altLang="en-US" sz="1600" b="1" dirty="0">
                <a:solidFill>
                  <a:srgbClr val="001D3A"/>
                </a:solidFill>
                <a:latin typeface="Verdana" panose="020B0604030504040204" pitchFamily="34" charset="0"/>
              </a:endParaRPr>
            </a:p>
            <a:p>
              <a:pPr eaLnBrk="0" hangingPunct="0">
                <a:lnSpc>
                  <a:spcPct val="140000"/>
                </a:lnSpc>
                <a:buSzPct val="60000"/>
                <a:buFontTx/>
                <a:buChar char="•"/>
              </a:pPr>
              <a:r>
                <a:rPr lang="zh-CN" altLang="en-US" b="1" dirty="0">
                  <a:solidFill>
                    <a:srgbClr val="FF0000"/>
                  </a:solidFill>
                  <a:latin typeface="Verdana" panose="020B0604030504040204" pitchFamily="34" charset="0"/>
                  <a:ea typeface="宋体" panose="02010600030101010101" pitchFamily="2" charset="-122"/>
                </a:rPr>
                <a:t>染色体某些基因的数值改变</a:t>
              </a:r>
            </a:p>
            <a:p>
              <a:pPr eaLnBrk="0" hangingPunct="0">
                <a:lnSpc>
                  <a:spcPct val="140000"/>
                </a:lnSpc>
                <a:buSzPct val="60000"/>
                <a:buFontTx/>
                <a:buChar char="•"/>
              </a:pPr>
              <a:r>
                <a:rPr lang="zh-CN" altLang="en-US" b="1" dirty="0">
                  <a:solidFill>
                    <a:srgbClr val="001D3A"/>
                  </a:solidFill>
                  <a:latin typeface="Verdana" panose="020B0604030504040204" pitchFamily="34" charset="0"/>
                  <a:ea typeface="宋体" panose="02010600030101010101" pitchFamily="2" charset="-122"/>
                </a:rPr>
                <a:t>算法结束</a:t>
              </a:r>
            </a:p>
          </p:txBody>
        </p:sp>
      </p:grpSp>
      <p:grpSp>
        <p:nvGrpSpPr>
          <p:cNvPr id="94252" name="Group 44"/>
          <p:cNvGrpSpPr>
            <a:grpSpLocks/>
          </p:cNvGrpSpPr>
          <p:nvPr/>
        </p:nvGrpSpPr>
        <p:grpSpPr bwMode="auto">
          <a:xfrm>
            <a:off x="4367213" y="1050926"/>
            <a:ext cx="3408362" cy="722313"/>
            <a:chOff x="1925" y="1123"/>
            <a:chExt cx="1774" cy="365"/>
          </a:xfrm>
        </p:grpSpPr>
        <p:sp>
          <p:nvSpPr>
            <p:cNvPr id="94253" name="AutoShape 45"/>
            <p:cNvSpPr>
              <a:spLocks noChangeArrowheads="1"/>
            </p:cNvSpPr>
            <p:nvPr/>
          </p:nvSpPr>
          <p:spPr bwMode="gray">
            <a:xfrm>
              <a:off x="1925" y="1123"/>
              <a:ext cx="1774" cy="365"/>
            </a:xfrm>
            <a:prstGeom prst="can">
              <a:avLst>
                <a:gd name="adj" fmla="val 27866"/>
              </a:avLst>
            </a:prstGeom>
            <a:gradFill rotWithShape="1">
              <a:gsLst>
                <a:gs pos="0">
                  <a:srgbClr val="5BAE4A">
                    <a:gamma/>
                    <a:shade val="46275"/>
                    <a:invGamma/>
                  </a:srgbClr>
                </a:gs>
                <a:gs pos="50000">
                  <a:srgbClr val="5BAE4A"/>
                </a:gs>
                <a:gs pos="100000">
                  <a:srgbClr val="5BAE4A">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4" name="Text Box 46"/>
            <p:cNvSpPr txBox="1">
              <a:spLocks noChangeArrowheads="1"/>
            </p:cNvSpPr>
            <p:nvPr/>
          </p:nvSpPr>
          <p:spPr bwMode="gray">
            <a:xfrm>
              <a:off x="2066" y="1166"/>
              <a:ext cx="1583" cy="263"/>
            </a:xfrm>
            <a:prstGeom prst="rect">
              <a:avLst/>
            </a:prstGeom>
            <a:noFill/>
            <a:ln>
              <a:noFill/>
            </a:ln>
            <a:effectLst/>
            <a:extLst>
              <a:ext uri="{909E8E84-426E-40DD-AFC4-6F175D3DCCD1}">
                <a14:hiddenFill xmlns:a14="http://schemas.microsoft.com/office/drawing/2010/main">
                  <a:solidFill>
                    <a:srgbClr val="5BAE4A"/>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800" b="1">
                  <a:solidFill>
                    <a:srgbClr val="FFFFFF"/>
                  </a:solidFill>
                </a:rPr>
                <a:t>生物遗传进化过程</a:t>
              </a:r>
              <a:endParaRPr lang="en-US" altLang="zh-CN" sz="2800" b="1">
                <a:solidFill>
                  <a:srgbClr val="FFFFFF"/>
                </a:solidFill>
              </a:endParaRPr>
            </a:p>
          </p:txBody>
        </p:sp>
      </p:grpSp>
      <p:grpSp>
        <p:nvGrpSpPr>
          <p:cNvPr id="94255" name="Group 47"/>
          <p:cNvGrpSpPr>
            <a:grpSpLocks/>
          </p:cNvGrpSpPr>
          <p:nvPr/>
        </p:nvGrpSpPr>
        <p:grpSpPr bwMode="auto">
          <a:xfrm>
            <a:off x="4367808" y="5661026"/>
            <a:ext cx="3408362" cy="722313"/>
            <a:chOff x="1969" y="3331"/>
            <a:chExt cx="1774" cy="365"/>
          </a:xfrm>
        </p:grpSpPr>
        <p:sp>
          <p:nvSpPr>
            <p:cNvPr id="94256" name="AutoShape 48"/>
            <p:cNvSpPr>
              <a:spLocks noChangeArrowheads="1"/>
            </p:cNvSpPr>
            <p:nvPr/>
          </p:nvSpPr>
          <p:spPr bwMode="gray">
            <a:xfrm>
              <a:off x="1969" y="3331"/>
              <a:ext cx="1774" cy="365"/>
            </a:xfrm>
            <a:prstGeom prst="can">
              <a:avLst>
                <a:gd name="adj" fmla="val 32032"/>
              </a:avLst>
            </a:prstGeom>
            <a:gradFill rotWithShape="1">
              <a:gsLst>
                <a:gs pos="0">
                  <a:srgbClr val="268CD2">
                    <a:gamma/>
                    <a:shade val="46275"/>
                    <a:invGamma/>
                  </a:srgbClr>
                </a:gs>
                <a:gs pos="50000">
                  <a:srgbClr val="268CD2"/>
                </a:gs>
                <a:gs pos="100000">
                  <a:srgbClr val="268CD2">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57" name="Text Box 49"/>
            <p:cNvSpPr txBox="1">
              <a:spLocks noChangeArrowheads="1"/>
            </p:cNvSpPr>
            <p:nvPr/>
          </p:nvSpPr>
          <p:spPr bwMode="gray">
            <a:xfrm>
              <a:off x="2432" y="3399"/>
              <a:ext cx="839" cy="263"/>
            </a:xfrm>
            <a:prstGeom prst="rect">
              <a:avLst/>
            </a:prstGeom>
            <a:noFill/>
            <a:ln>
              <a:noFill/>
            </a:ln>
            <a:effectLst/>
            <a:extLst>
              <a:ext uri="{909E8E84-426E-40DD-AFC4-6F175D3DCCD1}">
                <a14:hiddenFill xmlns:a14="http://schemas.microsoft.com/office/drawing/2010/main">
                  <a:solidFill>
                    <a:srgbClr val="5BAE4A"/>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800" b="1">
                  <a:solidFill>
                    <a:srgbClr val="FFFFFF"/>
                  </a:solidFill>
                </a:rPr>
                <a:t>遗传算法</a:t>
              </a:r>
            </a:p>
          </p:txBody>
        </p:sp>
      </p:grpSp>
      <p:grpSp>
        <p:nvGrpSpPr>
          <p:cNvPr id="94258" name="Group 50"/>
          <p:cNvGrpSpPr>
            <a:grpSpLocks/>
          </p:cNvGrpSpPr>
          <p:nvPr/>
        </p:nvGrpSpPr>
        <p:grpSpPr bwMode="auto">
          <a:xfrm>
            <a:off x="4583114" y="2062164"/>
            <a:ext cx="3121025" cy="3311525"/>
            <a:chOff x="1969" y="1565"/>
            <a:chExt cx="1774" cy="1716"/>
          </a:xfrm>
        </p:grpSpPr>
        <p:sp>
          <p:nvSpPr>
            <p:cNvPr id="94259" name="AutoShape 51"/>
            <p:cNvSpPr>
              <a:spLocks noChangeArrowheads="1"/>
            </p:cNvSpPr>
            <p:nvPr/>
          </p:nvSpPr>
          <p:spPr bwMode="gray">
            <a:xfrm>
              <a:off x="2336" y="2967"/>
              <a:ext cx="1022" cy="314"/>
            </a:xfrm>
            <a:prstGeom prst="downArrow">
              <a:avLst>
                <a:gd name="adj1" fmla="val 67093"/>
                <a:gd name="adj2" fmla="val 64051"/>
              </a:avLst>
            </a:prstGeom>
            <a:gradFill rotWithShape="1">
              <a:gsLst>
                <a:gs pos="0">
                  <a:srgbClr val="B2B2B2">
                    <a:gamma/>
                    <a:tint val="63529"/>
                    <a:invGamma/>
                    <a:alpha val="12000"/>
                  </a:srgbClr>
                </a:gs>
                <a:gs pos="100000">
                  <a:srgbClr val="B2B2B2"/>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260" name="Group 52"/>
            <p:cNvGrpSpPr>
              <a:grpSpLocks/>
            </p:cNvGrpSpPr>
            <p:nvPr/>
          </p:nvGrpSpPr>
          <p:grpSpPr bwMode="auto">
            <a:xfrm>
              <a:off x="1969" y="1565"/>
              <a:ext cx="1774" cy="1459"/>
              <a:chOff x="1969" y="1553"/>
              <a:chExt cx="1774" cy="1459"/>
            </a:xfrm>
          </p:grpSpPr>
          <p:sp>
            <p:nvSpPr>
              <p:cNvPr id="94261" name="AutoShape 53"/>
              <p:cNvSpPr>
                <a:spLocks noChangeArrowheads="1"/>
              </p:cNvSpPr>
              <p:nvPr/>
            </p:nvSpPr>
            <p:spPr bwMode="gray">
              <a:xfrm>
                <a:off x="2368" y="2556"/>
                <a:ext cx="976" cy="365"/>
              </a:xfrm>
              <a:prstGeom prst="can">
                <a:avLst>
                  <a:gd name="adj" fmla="val 25000"/>
                </a:avLst>
              </a:prstGeom>
              <a:gradFill rotWithShape="1">
                <a:gsLst>
                  <a:gs pos="0">
                    <a:srgbClr val="D38259">
                      <a:gamma/>
                      <a:shade val="46275"/>
                      <a:invGamma/>
                    </a:srgbClr>
                  </a:gs>
                  <a:gs pos="50000">
                    <a:srgbClr val="D38259"/>
                  </a:gs>
                  <a:gs pos="100000">
                    <a:srgbClr val="D38259">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2" name="AutoShape 54"/>
              <p:cNvSpPr>
                <a:spLocks noChangeArrowheads="1"/>
              </p:cNvSpPr>
              <p:nvPr/>
            </p:nvSpPr>
            <p:spPr bwMode="gray">
              <a:xfrm>
                <a:off x="2368" y="2237"/>
                <a:ext cx="976" cy="365"/>
              </a:xfrm>
              <a:prstGeom prst="can">
                <a:avLst>
                  <a:gd name="adj" fmla="val 25000"/>
                </a:avLst>
              </a:prstGeom>
              <a:gradFill rotWithShape="1">
                <a:gsLst>
                  <a:gs pos="0">
                    <a:srgbClr val="D38259">
                      <a:gamma/>
                      <a:shade val="46275"/>
                      <a:invGamma/>
                    </a:srgbClr>
                  </a:gs>
                  <a:gs pos="50000">
                    <a:srgbClr val="D38259"/>
                  </a:gs>
                  <a:gs pos="100000">
                    <a:srgbClr val="D38259">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3" name="AutoShape 55"/>
              <p:cNvSpPr>
                <a:spLocks noChangeArrowheads="1"/>
              </p:cNvSpPr>
              <p:nvPr/>
            </p:nvSpPr>
            <p:spPr bwMode="gray">
              <a:xfrm>
                <a:off x="2368" y="1918"/>
                <a:ext cx="976" cy="365"/>
              </a:xfrm>
              <a:prstGeom prst="can">
                <a:avLst>
                  <a:gd name="adj" fmla="val 25000"/>
                </a:avLst>
              </a:prstGeom>
              <a:gradFill rotWithShape="1">
                <a:gsLst>
                  <a:gs pos="0">
                    <a:srgbClr val="D38259">
                      <a:gamma/>
                      <a:shade val="46275"/>
                      <a:invGamma/>
                    </a:srgbClr>
                  </a:gs>
                  <a:gs pos="50000">
                    <a:srgbClr val="D38259"/>
                  </a:gs>
                  <a:gs pos="100000">
                    <a:srgbClr val="D38259">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4" name="Text Box 56"/>
              <p:cNvSpPr txBox="1">
                <a:spLocks noChangeArrowheads="1"/>
              </p:cNvSpPr>
              <p:nvPr/>
            </p:nvSpPr>
            <p:spPr bwMode="gray">
              <a:xfrm>
                <a:off x="2813" y="2366"/>
                <a:ext cx="104" cy="190"/>
              </a:xfrm>
              <a:prstGeom prst="rect">
                <a:avLst/>
              </a:prstGeom>
              <a:noFill/>
              <a:ln>
                <a:noFill/>
              </a:ln>
              <a:effectLst/>
              <a:extLst>
                <a:ext uri="{909E8E84-426E-40DD-AFC4-6F175D3DCCD1}">
                  <a14:hiddenFill xmlns:a14="http://schemas.microsoft.com/office/drawing/2010/main">
                    <a:solidFill>
                      <a:srgbClr val="5BAE4A"/>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endParaRPr lang="en-US" altLang="zh-CN" b="1">
                  <a:solidFill>
                    <a:schemeClr val="bg1"/>
                  </a:solidFill>
                  <a:ea typeface="宋体" panose="02010600030101010101" pitchFamily="2" charset="-122"/>
                </a:endParaRPr>
              </a:p>
            </p:txBody>
          </p:sp>
          <p:sp>
            <p:nvSpPr>
              <p:cNvPr id="94265" name="AutoShape 57"/>
              <p:cNvSpPr>
                <a:spLocks noChangeArrowheads="1"/>
              </p:cNvSpPr>
              <p:nvPr/>
            </p:nvSpPr>
            <p:spPr bwMode="gray">
              <a:xfrm>
                <a:off x="1969" y="1781"/>
                <a:ext cx="310" cy="1231"/>
              </a:xfrm>
              <a:prstGeom prst="leftArrow">
                <a:avLst>
                  <a:gd name="adj1" fmla="val 65583"/>
                  <a:gd name="adj2" fmla="val 65181"/>
                </a:avLst>
              </a:prstGeom>
              <a:gradFill rotWithShape="1">
                <a:gsLst>
                  <a:gs pos="0">
                    <a:srgbClr val="B2B2B2"/>
                  </a:gs>
                  <a:gs pos="100000">
                    <a:srgbClr val="B2B2B2">
                      <a:gamma/>
                      <a:shade val="46275"/>
                      <a:invGamma/>
                      <a:alpha val="12000"/>
                    </a:srgb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6" name="AutoShape 58"/>
              <p:cNvSpPr>
                <a:spLocks noChangeArrowheads="1"/>
              </p:cNvSpPr>
              <p:nvPr/>
            </p:nvSpPr>
            <p:spPr bwMode="gray">
              <a:xfrm>
                <a:off x="3434" y="1781"/>
                <a:ext cx="309" cy="1231"/>
              </a:xfrm>
              <a:prstGeom prst="rightArrow">
                <a:avLst>
                  <a:gd name="adj1" fmla="val 67750"/>
                  <a:gd name="adj2" fmla="val 66167"/>
                </a:avLst>
              </a:prstGeom>
              <a:gradFill rotWithShape="1">
                <a:gsLst>
                  <a:gs pos="0">
                    <a:srgbClr val="B2B2B2">
                      <a:gamma/>
                      <a:shade val="46275"/>
                      <a:invGamma/>
                      <a:alpha val="12000"/>
                    </a:srgbClr>
                  </a:gs>
                  <a:gs pos="100000">
                    <a:srgbClr val="B2B2B2"/>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7" name="AutoShape 59"/>
              <p:cNvSpPr>
                <a:spLocks noChangeArrowheads="1"/>
              </p:cNvSpPr>
              <p:nvPr/>
            </p:nvSpPr>
            <p:spPr bwMode="gray">
              <a:xfrm>
                <a:off x="2349" y="1553"/>
                <a:ext cx="1020" cy="319"/>
              </a:xfrm>
              <a:prstGeom prst="upArrow">
                <a:avLst>
                  <a:gd name="adj1" fmla="val 68380"/>
                  <a:gd name="adj2" fmla="val 70833"/>
                </a:avLst>
              </a:prstGeom>
              <a:gradFill rotWithShape="1">
                <a:gsLst>
                  <a:gs pos="0">
                    <a:srgbClr val="B2B2B2"/>
                  </a:gs>
                  <a:gs pos="100000">
                    <a:srgbClr val="B2B2B2">
                      <a:gamma/>
                      <a:tint val="63529"/>
                      <a:invGamma/>
                      <a:alpha val="12000"/>
                    </a:srgb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68" name="Text Box 60"/>
              <p:cNvSpPr txBox="1">
                <a:spLocks noChangeArrowheads="1"/>
              </p:cNvSpPr>
              <p:nvPr/>
            </p:nvSpPr>
            <p:spPr bwMode="gray">
              <a:xfrm>
                <a:off x="2439" y="2302"/>
                <a:ext cx="859" cy="254"/>
              </a:xfrm>
              <a:prstGeom prst="rect">
                <a:avLst/>
              </a:prstGeom>
              <a:noFill/>
              <a:ln>
                <a:noFill/>
              </a:ln>
              <a:effectLst/>
              <a:extLst>
                <a:ext uri="{909E8E84-426E-40DD-AFC4-6F175D3DCCD1}">
                  <a14:hiddenFill xmlns:a14="http://schemas.microsoft.com/office/drawing/2010/main">
                    <a:solidFill>
                      <a:srgbClr val="5BAE4A"/>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600" b="1">
                    <a:solidFill>
                      <a:srgbClr val="FFFFFF"/>
                    </a:solidFill>
                  </a:rPr>
                  <a:t>类比关系</a:t>
                </a:r>
                <a:endParaRPr lang="en-US" altLang="zh-CN" sz="2600" b="1">
                  <a:solidFill>
                    <a:srgbClr val="FFFFFF"/>
                  </a:solidFill>
                </a:endParaRPr>
              </a:p>
            </p:txBody>
          </p:sp>
        </p:grpSp>
      </p:grpSp>
      <p:sp>
        <p:nvSpPr>
          <p:cNvPr id="2" name="灯片编号占位符 1">
            <a:extLst>
              <a:ext uri="{FF2B5EF4-FFF2-40B4-BE49-F238E27FC236}">
                <a16:creationId xmlns:a16="http://schemas.microsoft.com/office/drawing/2014/main" id="{DDF3FBE4-3947-080F-3A86-1D33C27FAB3C}"/>
              </a:ext>
            </a:extLst>
          </p:cNvPr>
          <p:cNvSpPr>
            <a:spLocks noGrp="1"/>
          </p:cNvSpPr>
          <p:nvPr>
            <p:ph type="sldNum" sz="quarter" idx="11"/>
          </p:nvPr>
        </p:nvSpPr>
        <p:spPr/>
        <p:txBody>
          <a:bodyPr/>
          <a:lstStyle/>
          <a:p>
            <a:pPr>
              <a:defRPr/>
            </a:pPr>
            <a:fld id="{E0FB5469-1AEB-496D-971A-66705BF2F73C}" type="slidenum">
              <a:rPr lang="en-US" altLang="zh-CN" smtClean="0"/>
              <a:pPr>
                <a:defRPr/>
              </a:pPr>
              <a:t>4</a:t>
            </a:fld>
            <a:endParaRPr lang="en-US" altLang="zh-CN"/>
          </a:p>
        </p:txBody>
      </p:sp>
    </p:spTree>
    <p:extLst>
      <p:ext uri="{BB962C8B-B14F-4D97-AF65-F5344CB8AC3E}">
        <p14:creationId xmlns:p14="http://schemas.microsoft.com/office/powerpoint/2010/main" val="33161660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94252"/>
                                        </p:tgtEl>
                                        <p:attrNameLst>
                                          <p:attrName>style.visibility</p:attrName>
                                        </p:attrNameLst>
                                      </p:cBhvr>
                                      <p:to>
                                        <p:strVal val="visible"/>
                                      </p:to>
                                    </p:set>
                                    <p:anim calcmode="lin" valueType="num">
                                      <p:cBhvr additive="base">
                                        <p:cTn id="7" dur="500" fill="hold"/>
                                        <p:tgtEl>
                                          <p:spTgt spid="94252"/>
                                        </p:tgtEl>
                                        <p:attrNameLst>
                                          <p:attrName>ppt_x</p:attrName>
                                        </p:attrNameLst>
                                      </p:cBhvr>
                                      <p:tavLst>
                                        <p:tav tm="0">
                                          <p:val>
                                            <p:strVal val="#ppt_x"/>
                                          </p:val>
                                        </p:tav>
                                        <p:tav tm="100000">
                                          <p:val>
                                            <p:strVal val="#ppt_x"/>
                                          </p:val>
                                        </p:tav>
                                      </p:tavLst>
                                    </p:anim>
                                    <p:anim calcmode="lin" valueType="num">
                                      <p:cBhvr additive="base">
                                        <p:cTn id="8" dur="500" fill="hold"/>
                                        <p:tgtEl>
                                          <p:spTgt spid="94252"/>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4255"/>
                                        </p:tgtEl>
                                        <p:attrNameLst>
                                          <p:attrName>style.visibility</p:attrName>
                                        </p:attrNameLst>
                                      </p:cBhvr>
                                      <p:to>
                                        <p:strVal val="visible"/>
                                      </p:to>
                                    </p:set>
                                    <p:anim calcmode="lin" valueType="num">
                                      <p:cBhvr additive="base">
                                        <p:cTn id="11" dur="500" fill="hold"/>
                                        <p:tgtEl>
                                          <p:spTgt spid="94255"/>
                                        </p:tgtEl>
                                        <p:attrNameLst>
                                          <p:attrName>ppt_x</p:attrName>
                                        </p:attrNameLst>
                                      </p:cBhvr>
                                      <p:tavLst>
                                        <p:tav tm="0">
                                          <p:val>
                                            <p:strVal val="#ppt_x"/>
                                          </p:val>
                                        </p:tav>
                                        <p:tav tm="100000">
                                          <p:val>
                                            <p:strVal val="#ppt_x"/>
                                          </p:val>
                                        </p:tav>
                                      </p:tavLst>
                                    </p:anim>
                                    <p:anim calcmode="lin" valueType="num">
                                      <p:cBhvr additive="base">
                                        <p:cTn id="12" dur="500" fill="hold"/>
                                        <p:tgtEl>
                                          <p:spTgt spid="9425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4258"/>
                                        </p:tgtEl>
                                        <p:attrNameLst>
                                          <p:attrName>style.visibility</p:attrName>
                                        </p:attrNameLst>
                                      </p:cBhvr>
                                      <p:to>
                                        <p:strVal val="visible"/>
                                      </p:to>
                                    </p:set>
                                    <p:animEffect transition="in" filter="blinds(horizontal)">
                                      <p:cBhvr>
                                        <p:cTn id="17" dur="500"/>
                                        <p:tgtEl>
                                          <p:spTgt spid="942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94246"/>
                                        </p:tgtEl>
                                        <p:attrNameLst>
                                          <p:attrName>style.visibility</p:attrName>
                                        </p:attrNameLst>
                                      </p:cBhvr>
                                      <p:to>
                                        <p:strVal val="visible"/>
                                      </p:to>
                                    </p:set>
                                    <p:anim calcmode="lin" valueType="num">
                                      <p:cBhvr additive="base">
                                        <p:cTn id="22" dur="500" fill="hold"/>
                                        <p:tgtEl>
                                          <p:spTgt spid="94246"/>
                                        </p:tgtEl>
                                        <p:attrNameLst>
                                          <p:attrName>ppt_x</p:attrName>
                                        </p:attrNameLst>
                                      </p:cBhvr>
                                      <p:tavLst>
                                        <p:tav tm="0">
                                          <p:val>
                                            <p:strVal val="0-#ppt_w/2"/>
                                          </p:val>
                                        </p:tav>
                                        <p:tav tm="100000">
                                          <p:val>
                                            <p:strVal val="#ppt_x"/>
                                          </p:val>
                                        </p:tav>
                                      </p:tavLst>
                                    </p:anim>
                                    <p:anim calcmode="lin" valueType="num">
                                      <p:cBhvr additive="base">
                                        <p:cTn id="23" dur="500" fill="hold"/>
                                        <p:tgtEl>
                                          <p:spTgt spid="94246"/>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94249"/>
                                        </p:tgtEl>
                                        <p:attrNameLst>
                                          <p:attrName>style.visibility</p:attrName>
                                        </p:attrNameLst>
                                      </p:cBhvr>
                                      <p:to>
                                        <p:strVal val="visible"/>
                                      </p:to>
                                    </p:set>
                                    <p:anim calcmode="lin" valueType="num">
                                      <p:cBhvr additive="base">
                                        <p:cTn id="26" dur="500" fill="hold"/>
                                        <p:tgtEl>
                                          <p:spTgt spid="94249"/>
                                        </p:tgtEl>
                                        <p:attrNameLst>
                                          <p:attrName>ppt_x</p:attrName>
                                        </p:attrNameLst>
                                      </p:cBhvr>
                                      <p:tavLst>
                                        <p:tav tm="0">
                                          <p:val>
                                            <p:strVal val="1+#ppt_w/2"/>
                                          </p:val>
                                        </p:tav>
                                        <p:tav tm="100000">
                                          <p:val>
                                            <p:strVal val="#ppt_x"/>
                                          </p:val>
                                        </p:tav>
                                      </p:tavLst>
                                    </p:anim>
                                    <p:anim calcmode="lin" valueType="num">
                                      <p:cBhvr additive="base">
                                        <p:cTn id="27" dur="500" fill="hold"/>
                                        <p:tgtEl>
                                          <p:spTgt spid="942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1981200" y="116632"/>
            <a:ext cx="8229600"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遗传算法的特点</a:t>
            </a:r>
          </a:p>
        </p:txBody>
      </p:sp>
      <p:sp>
        <p:nvSpPr>
          <p:cNvPr id="22531" name="Rectangle 3"/>
          <p:cNvSpPr>
            <a:spLocks noGrp="1" noChangeArrowheads="1"/>
          </p:cNvSpPr>
          <p:nvPr>
            <p:ph idx="1"/>
          </p:nvPr>
        </p:nvSpPr>
        <p:spPr>
          <a:xfrm>
            <a:off x="1271464" y="1412776"/>
            <a:ext cx="9937104" cy="5040560"/>
          </a:xfrm>
        </p:spPr>
        <p:txBody>
          <a:bodyPr/>
          <a:lstStyle/>
          <a:p>
            <a:pPr eaLnBrk="1" hangingPunct="1">
              <a:lnSpc>
                <a:spcPct val="105000"/>
              </a:lnSpc>
            </a:pPr>
            <a:r>
              <a:rPr lang="en-US" altLang="zh-CN" dirty="0">
                <a:solidFill>
                  <a:srgbClr val="FF0000"/>
                </a:solidFill>
                <a:latin typeface="黑体" panose="02010609060101010101" pitchFamily="49" charset="-122"/>
                <a:ea typeface="黑体" panose="02010609060101010101" pitchFamily="49" charset="-122"/>
              </a:rPr>
              <a:t> </a:t>
            </a:r>
            <a:r>
              <a:rPr lang="zh-CN" altLang="en-US" dirty="0">
                <a:solidFill>
                  <a:srgbClr val="FF0000"/>
                </a:solidFill>
                <a:latin typeface="黑体" panose="02010609060101010101" pitchFamily="49" charset="-122"/>
                <a:ea typeface="黑体" panose="02010609060101010101" pitchFamily="49" charset="-122"/>
              </a:rPr>
              <a:t>四大优点：</a:t>
            </a:r>
          </a:p>
          <a:p>
            <a:pPr lvl="1" eaLnBrk="1" hangingPunct="1">
              <a:lnSpc>
                <a:spcPct val="105000"/>
              </a:lnSpc>
              <a:buFont typeface="Wingdings" pitchFamily="2" charset="2"/>
              <a:buChar char="ü"/>
            </a:pPr>
            <a:r>
              <a:rPr lang="zh-CN" altLang="en-US" b="1" dirty="0">
                <a:ea typeface="宋体" pitchFamily="2" charset="-122"/>
              </a:rPr>
              <a:t>良好的并行性（操作对象是一组可行解；搜索轨道有多条）</a:t>
            </a:r>
          </a:p>
          <a:p>
            <a:pPr lvl="1" eaLnBrk="1" hangingPunct="1">
              <a:lnSpc>
                <a:spcPct val="105000"/>
              </a:lnSpc>
              <a:buFont typeface="Wingdings" pitchFamily="2" charset="2"/>
              <a:buChar char="ü"/>
            </a:pPr>
            <a:r>
              <a:rPr lang="zh-CN" altLang="en-US" b="1" dirty="0">
                <a:ea typeface="宋体" pitchFamily="2" charset="-122"/>
              </a:rPr>
              <a:t>强大的通用性（只需利用目标的取值信息，无需梯度等高价值信息）</a:t>
            </a:r>
          </a:p>
          <a:p>
            <a:pPr lvl="1" eaLnBrk="1" hangingPunct="1">
              <a:lnSpc>
                <a:spcPct val="105000"/>
              </a:lnSpc>
              <a:buFont typeface="Wingdings" pitchFamily="2" charset="2"/>
              <a:buChar char="ü"/>
            </a:pPr>
            <a:r>
              <a:rPr lang="zh-CN" altLang="en-US" b="1" dirty="0">
                <a:ea typeface="宋体" pitchFamily="2" charset="-122"/>
              </a:rPr>
              <a:t>良好的全局优化性和鲁棒性</a:t>
            </a:r>
          </a:p>
          <a:p>
            <a:pPr lvl="1" eaLnBrk="1" hangingPunct="1">
              <a:lnSpc>
                <a:spcPct val="105000"/>
              </a:lnSpc>
              <a:buFont typeface="Wingdings" pitchFamily="2" charset="2"/>
              <a:buChar char="ü"/>
            </a:pPr>
            <a:r>
              <a:rPr lang="zh-CN" altLang="en-US" b="1" dirty="0">
                <a:ea typeface="宋体" pitchFamily="2" charset="-122"/>
              </a:rPr>
              <a:t>良好的可操作性</a:t>
            </a:r>
          </a:p>
          <a:p>
            <a:pPr eaLnBrk="1" hangingPunct="1">
              <a:lnSpc>
                <a:spcPct val="105000"/>
              </a:lnSpc>
            </a:pPr>
            <a:r>
              <a:rPr lang="zh-CN" altLang="en-US" sz="2800" dirty="0">
                <a:solidFill>
                  <a:srgbClr val="3333FF"/>
                </a:solidFill>
                <a:latin typeface="黑体" panose="02010609060101010101" pitchFamily="49" charset="-122"/>
                <a:ea typeface="黑体" panose="02010609060101010101" pitchFamily="49" charset="-122"/>
              </a:rPr>
              <a:t>两个缺点：</a:t>
            </a:r>
          </a:p>
          <a:p>
            <a:pPr lvl="1" eaLnBrk="1" hangingPunct="1">
              <a:lnSpc>
                <a:spcPct val="105000"/>
              </a:lnSpc>
              <a:buFont typeface="Wingdings" pitchFamily="2" charset="2"/>
              <a:buChar char="û"/>
            </a:pPr>
            <a:r>
              <a:rPr lang="zh-CN" altLang="en-US" b="1" dirty="0">
                <a:ea typeface="宋体" pitchFamily="2" charset="-122"/>
              </a:rPr>
              <a:t>未成熟收敛问题</a:t>
            </a:r>
          </a:p>
          <a:p>
            <a:pPr lvl="1" eaLnBrk="1" hangingPunct="1">
              <a:lnSpc>
                <a:spcPct val="105000"/>
              </a:lnSpc>
              <a:buFont typeface="Wingdings" pitchFamily="2" charset="2"/>
              <a:buChar char="û"/>
            </a:pPr>
            <a:r>
              <a:rPr lang="zh-CN" altLang="en-US" b="1" dirty="0">
                <a:ea typeface="宋体" pitchFamily="2" charset="-122"/>
              </a:rPr>
              <a:t>收敛速度较慢，算法实时性欠佳</a:t>
            </a:r>
          </a:p>
        </p:txBody>
      </p:sp>
      <p:sp>
        <p:nvSpPr>
          <p:cNvPr id="2" name="灯片编号占位符 1">
            <a:extLst>
              <a:ext uri="{FF2B5EF4-FFF2-40B4-BE49-F238E27FC236}">
                <a16:creationId xmlns:a16="http://schemas.microsoft.com/office/drawing/2014/main" id="{4B47DA0A-0A94-E11D-6F86-F95D1ACC5042}"/>
              </a:ext>
            </a:extLst>
          </p:cNvPr>
          <p:cNvSpPr>
            <a:spLocks noGrp="1"/>
          </p:cNvSpPr>
          <p:nvPr>
            <p:ph type="sldNum" sz="quarter" idx="11"/>
          </p:nvPr>
        </p:nvSpPr>
        <p:spPr/>
        <p:txBody>
          <a:bodyPr/>
          <a:lstStyle/>
          <a:p>
            <a:pPr>
              <a:defRPr/>
            </a:pPr>
            <a:fld id="{E0FB5469-1AEB-496D-971A-66705BF2F73C}" type="slidenum">
              <a:rPr lang="en-US" altLang="zh-CN" smtClean="0"/>
              <a:pPr>
                <a:defRPr/>
              </a:pPr>
              <a:t>5</a:t>
            </a:fld>
            <a:endParaRPr lang="en-US" altLang="zh-CN"/>
          </a:p>
        </p:txBody>
      </p:sp>
    </p:spTree>
    <p:extLst>
      <p:ext uri="{BB962C8B-B14F-4D97-AF65-F5344CB8AC3E}">
        <p14:creationId xmlns:p14="http://schemas.microsoft.com/office/powerpoint/2010/main" val="2198453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wipe(left)">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wipe(left)">
                                      <p:cBhvr>
                                        <p:cTn id="12" dur="500"/>
                                        <p:tgtEl>
                                          <p:spTgt spid="225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31">
                                            <p:txEl>
                                              <p:pRg st="2" end="2"/>
                                            </p:txEl>
                                          </p:spTgt>
                                        </p:tgtEl>
                                        <p:attrNameLst>
                                          <p:attrName>style.visibility</p:attrName>
                                        </p:attrNameLst>
                                      </p:cBhvr>
                                      <p:to>
                                        <p:strVal val="visible"/>
                                      </p:to>
                                    </p:set>
                                    <p:animEffect transition="in" filter="wipe(left)">
                                      <p:cBhvr>
                                        <p:cTn id="17" dur="500"/>
                                        <p:tgtEl>
                                          <p:spTgt spid="225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31">
                                            <p:txEl>
                                              <p:pRg st="3" end="3"/>
                                            </p:txEl>
                                          </p:spTgt>
                                        </p:tgtEl>
                                        <p:attrNameLst>
                                          <p:attrName>style.visibility</p:attrName>
                                        </p:attrNameLst>
                                      </p:cBhvr>
                                      <p:to>
                                        <p:strVal val="visible"/>
                                      </p:to>
                                    </p:set>
                                    <p:animEffect transition="in" filter="wipe(left)">
                                      <p:cBhvr>
                                        <p:cTn id="22" dur="500"/>
                                        <p:tgtEl>
                                          <p:spTgt spid="225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531">
                                            <p:txEl>
                                              <p:pRg st="4" end="4"/>
                                            </p:txEl>
                                          </p:spTgt>
                                        </p:tgtEl>
                                        <p:attrNameLst>
                                          <p:attrName>style.visibility</p:attrName>
                                        </p:attrNameLst>
                                      </p:cBhvr>
                                      <p:to>
                                        <p:strVal val="visible"/>
                                      </p:to>
                                    </p:set>
                                    <p:animEffect transition="in" filter="wipe(left)">
                                      <p:cBhvr>
                                        <p:cTn id="27" dur="500"/>
                                        <p:tgtEl>
                                          <p:spTgt spid="225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531">
                                            <p:txEl>
                                              <p:pRg st="5" end="5"/>
                                            </p:txEl>
                                          </p:spTgt>
                                        </p:tgtEl>
                                        <p:attrNameLst>
                                          <p:attrName>style.visibility</p:attrName>
                                        </p:attrNameLst>
                                      </p:cBhvr>
                                      <p:to>
                                        <p:strVal val="visible"/>
                                      </p:to>
                                    </p:set>
                                    <p:animEffect transition="in" filter="wipe(left)">
                                      <p:cBhvr>
                                        <p:cTn id="32" dur="500"/>
                                        <p:tgtEl>
                                          <p:spTgt spid="225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531">
                                            <p:txEl>
                                              <p:pRg st="6" end="6"/>
                                            </p:txEl>
                                          </p:spTgt>
                                        </p:tgtEl>
                                        <p:attrNameLst>
                                          <p:attrName>style.visibility</p:attrName>
                                        </p:attrNameLst>
                                      </p:cBhvr>
                                      <p:to>
                                        <p:strVal val="visible"/>
                                      </p:to>
                                    </p:set>
                                    <p:animEffect transition="in" filter="wipe(left)">
                                      <p:cBhvr>
                                        <p:cTn id="37" dur="500"/>
                                        <p:tgtEl>
                                          <p:spTgt spid="225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531">
                                            <p:txEl>
                                              <p:pRg st="7" end="7"/>
                                            </p:txEl>
                                          </p:spTgt>
                                        </p:tgtEl>
                                        <p:attrNameLst>
                                          <p:attrName>style.visibility</p:attrName>
                                        </p:attrNameLst>
                                      </p:cBhvr>
                                      <p:to>
                                        <p:strVal val="visible"/>
                                      </p:to>
                                    </p:set>
                                    <p:animEffect transition="in" filter="wipe(left)">
                                      <p:cBhvr>
                                        <p:cTn id="42" dur="500"/>
                                        <p:tgtEl>
                                          <p:spTgt spid="225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bwMode="auto">
          <a:xfrm>
            <a:off x="2779712" y="237902"/>
            <a:ext cx="7924800" cy="9588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r" eaLnBrk="1" hangingPunct="1"/>
            <a:r>
              <a:rPr lang="zh-CN" altLang="en-US" dirty="0">
                <a:solidFill>
                  <a:srgbClr val="008000"/>
                </a:solidFill>
                <a:latin typeface="黑体" panose="02010609060101010101" pitchFamily="49" charset="-122"/>
                <a:ea typeface="黑体" panose="02010609060101010101" pitchFamily="49" charset="-122"/>
              </a:rPr>
              <a:t>标准遗传算法的基本流程</a:t>
            </a:r>
          </a:p>
        </p:txBody>
      </p:sp>
      <p:sp>
        <p:nvSpPr>
          <p:cNvPr id="30724" name="AutoShape 5"/>
          <p:cNvSpPr>
            <a:spLocks noChangeArrowheads="1"/>
          </p:cNvSpPr>
          <p:nvPr/>
        </p:nvSpPr>
        <p:spPr bwMode="auto">
          <a:xfrm>
            <a:off x="1703512" y="1052736"/>
            <a:ext cx="3962400" cy="484188"/>
          </a:xfrm>
          <a:prstGeom prst="flowChartPreparation">
            <a:avLst/>
          </a:prstGeom>
          <a:solidFill>
            <a:srgbClr val="CCFFFF"/>
          </a:solidFill>
          <a:ln w="9525">
            <a:solidFill>
              <a:srgbClr val="000000"/>
            </a:solidFill>
            <a:miter lim="800000"/>
            <a:headEnd/>
            <a:tailEnd/>
          </a:ln>
        </p:spPr>
        <p:txBody>
          <a:bodyPr/>
          <a:lstStyle/>
          <a:p>
            <a:pPr algn="ctr"/>
            <a:r>
              <a:rPr lang="zh-CN" altLang="en-US" sz="2400" b="1" dirty="0">
                <a:solidFill>
                  <a:srgbClr val="FF3300"/>
                </a:solidFill>
                <a:latin typeface="Times New Roman" pitchFamily="18" charset="0"/>
              </a:rPr>
              <a:t>实际问题参数集</a:t>
            </a:r>
            <a:endParaRPr lang="zh-CN" altLang="en-US" sz="2400" b="1" dirty="0">
              <a:solidFill>
                <a:srgbClr val="FF3300"/>
              </a:solidFill>
            </a:endParaRPr>
          </a:p>
        </p:txBody>
      </p:sp>
      <p:sp>
        <p:nvSpPr>
          <p:cNvPr id="30725" name="AutoShape 6"/>
          <p:cNvSpPr>
            <a:spLocks noChangeArrowheads="1"/>
          </p:cNvSpPr>
          <p:nvPr/>
        </p:nvSpPr>
        <p:spPr bwMode="auto">
          <a:xfrm>
            <a:off x="1919412" y="1814737"/>
            <a:ext cx="3352800" cy="500063"/>
          </a:xfrm>
          <a:prstGeom prst="flowChartProcess">
            <a:avLst/>
          </a:prstGeom>
          <a:solidFill>
            <a:srgbClr val="CCFFFF"/>
          </a:solidFill>
          <a:ln w="9525" algn="ctr">
            <a:solidFill>
              <a:srgbClr val="000000"/>
            </a:solidFill>
            <a:miter lim="800000"/>
            <a:headEnd/>
            <a:tailEnd/>
          </a:ln>
        </p:spPr>
        <p:txBody>
          <a:bodyPr/>
          <a:lstStyle/>
          <a:p>
            <a:pPr algn="ctr"/>
            <a:r>
              <a:rPr lang="zh-CN" altLang="en-US" sz="2400" b="1">
                <a:solidFill>
                  <a:srgbClr val="FF3300"/>
                </a:solidFill>
                <a:latin typeface="Times New Roman" pitchFamily="18" charset="0"/>
              </a:rPr>
              <a:t>参数编码成为染色体</a:t>
            </a:r>
          </a:p>
        </p:txBody>
      </p:sp>
      <p:sp>
        <p:nvSpPr>
          <p:cNvPr id="30726" name="AutoShape 7"/>
          <p:cNvSpPr>
            <a:spLocks noChangeArrowheads="1"/>
          </p:cNvSpPr>
          <p:nvPr/>
        </p:nvSpPr>
        <p:spPr bwMode="auto">
          <a:xfrm>
            <a:off x="2617912" y="2576736"/>
            <a:ext cx="1981200" cy="457200"/>
          </a:xfrm>
          <a:prstGeom prst="flowChartProcess">
            <a:avLst/>
          </a:prstGeom>
          <a:solidFill>
            <a:srgbClr val="CCFFFF"/>
          </a:solidFill>
          <a:ln w="9525" algn="ctr">
            <a:solidFill>
              <a:srgbClr val="000000"/>
            </a:solidFill>
            <a:miter lim="800000"/>
            <a:headEnd/>
            <a:tailEnd/>
          </a:ln>
        </p:spPr>
        <p:txBody>
          <a:bodyPr/>
          <a:lstStyle/>
          <a:p>
            <a:pPr algn="ctr"/>
            <a:r>
              <a:rPr lang="zh-CN" altLang="en-US" sz="2400" b="1">
                <a:solidFill>
                  <a:srgbClr val="FF3300"/>
                </a:solidFill>
                <a:latin typeface="Times New Roman" pitchFamily="18" charset="0"/>
              </a:rPr>
              <a:t>初始化群体</a:t>
            </a:r>
          </a:p>
        </p:txBody>
      </p:sp>
      <p:sp>
        <p:nvSpPr>
          <p:cNvPr id="30727" name="AutoShape 8"/>
          <p:cNvSpPr>
            <a:spLocks noChangeArrowheads="1"/>
          </p:cNvSpPr>
          <p:nvPr/>
        </p:nvSpPr>
        <p:spPr bwMode="auto">
          <a:xfrm>
            <a:off x="2389312" y="3540350"/>
            <a:ext cx="2438400" cy="788193"/>
          </a:xfrm>
          <a:prstGeom prst="flowChartProcess">
            <a:avLst/>
          </a:prstGeom>
          <a:solidFill>
            <a:srgbClr val="CCFFFF"/>
          </a:solidFill>
          <a:ln w="9525" algn="ctr">
            <a:solidFill>
              <a:srgbClr val="000000"/>
            </a:solidFill>
            <a:miter lim="800000"/>
            <a:headEnd/>
            <a:tailEnd/>
          </a:ln>
        </p:spPr>
        <p:txBody>
          <a:bodyPr/>
          <a:lstStyle/>
          <a:p>
            <a:pPr algn="ctr"/>
            <a:r>
              <a:rPr lang="zh-CN" altLang="en-US" sz="2400" b="1">
                <a:solidFill>
                  <a:srgbClr val="FF3300"/>
                </a:solidFill>
                <a:latin typeface="Times New Roman" pitchFamily="18" charset="0"/>
              </a:rPr>
              <a:t>计算每一个体的适应度</a:t>
            </a:r>
          </a:p>
        </p:txBody>
      </p:sp>
      <p:sp>
        <p:nvSpPr>
          <p:cNvPr id="30729" name="AutoShape 10"/>
          <p:cNvSpPr>
            <a:spLocks noChangeArrowheads="1"/>
          </p:cNvSpPr>
          <p:nvPr/>
        </p:nvSpPr>
        <p:spPr bwMode="auto">
          <a:xfrm>
            <a:off x="1970212" y="4634136"/>
            <a:ext cx="3276600" cy="811088"/>
          </a:xfrm>
          <a:prstGeom prst="flowChartDecision">
            <a:avLst/>
          </a:prstGeom>
          <a:solidFill>
            <a:srgbClr val="CCFFFF"/>
          </a:solidFill>
          <a:ln w="9525" algn="ctr">
            <a:solidFill>
              <a:srgbClr val="000000"/>
            </a:solidFill>
            <a:miter lim="800000"/>
            <a:headEnd/>
            <a:tailEnd/>
          </a:ln>
        </p:spPr>
        <p:txBody>
          <a:bodyPr/>
          <a:lstStyle/>
          <a:p>
            <a:pPr algn="ctr"/>
            <a:endParaRPr lang="zh-CN" altLang="en-US" sz="2000" b="1" dirty="0">
              <a:solidFill>
                <a:srgbClr val="FF3300"/>
              </a:solidFill>
              <a:latin typeface="Times New Roman" pitchFamily="18" charset="0"/>
            </a:endParaRPr>
          </a:p>
        </p:txBody>
      </p:sp>
      <p:sp>
        <p:nvSpPr>
          <p:cNvPr id="30731" name="Line 12"/>
          <p:cNvSpPr>
            <a:spLocks noChangeShapeType="1"/>
          </p:cNvSpPr>
          <p:nvPr/>
        </p:nvSpPr>
        <p:spPr bwMode="auto">
          <a:xfrm>
            <a:off x="3608512" y="1530574"/>
            <a:ext cx="0" cy="2968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2" name="Line 13"/>
          <p:cNvSpPr>
            <a:spLocks noChangeShapeType="1"/>
          </p:cNvSpPr>
          <p:nvPr/>
        </p:nvSpPr>
        <p:spPr bwMode="auto">
          <a:xfrm>
            <a:off x="3608512" y="2297337"/>
            <a:ext cx="0" cy="2968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3" name="Line 14"/>
          <p:cNvSpPr>
            <a:spLocks noChangeShapeType="1"/>
          </p:cNvSpPr>
          <p:nvPr/>
        </p:nvSpPr>
        <p:spPr bwMode="auto">
          <a:xfrm>
            <a:off x="3608512" y="3025999"/>
            <a:ext cx="0" cy="4953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5" name="Line 16"/>
          <p:cNvSpPr>
            <a:spLocks noChangeShapeType="1"/>
          </p:cNvSpPr>
          <p:nvPr/>
        </p:nvSpPr>
        <p:spPr bwMode="auto">
          <a:xfrm>
            <a:off x="3608512" y="4328542"/>
            <a:ext cx="0" cy="30559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组合 2"/>
          <p:cNvGrpSpPr/>
          <p:nvPr/>
        </p:nvGrpSpPr>
        <p:grpSpPr>
          <a:xfrm>
            <a:off x="2236912" y="5445225"/>
            <a:ext cx="2743200" cy="1288227"/>
            <a:chOff x="6096000" y="1874837"/>
            <a:chExt cx="2743200" cy="1288227"/>
          </a:xfrm>
        </p:grpSpPr>
        <p:sp>
          <p:nvSpPr>
            <p:cNvPr id="30728" name="AutoShape 9"/>
            <p:cNvSpPr>
              <a:spLocks noChangeArrowheads="1"/>
            </p:cNvSpPr>
            <p:nvPr/>
          </p:nvSpPr>
          <p:spPr bwMode="auto">
            <a:xfrm>
              <a:off x="6153150" y="2057400"/>
              <a:ext cx="2686050" cy="473869"/>
            </a:xfrm>
            <a:prstGeom prst="flowChartProcess">
              <a:avLst/>
            </a:prstGeom>
            <a:solidFill>
              <a:srgbClr val="CCFFFF"/>
            </a:solidFill>
            <a:ln w="9525" algn="ctr">
              <a:solidFill>
                <a:srgbClr val="000000"/>
              </a:solidFill>
              <a:miter lim="800000"/>
              <a:headEnd/>
              <a:tailEnd/>
            </a:ln>
          </p:spPr>
          <p:txBody>
            <a:bodyPr/>
            <a:lstStyle/>
            <a:p>
              <a:pPr algn="ctr"/>
              <a:r>
                <a:rPr lang="zh-CN" altLang="en-US" sz="2400" b="1" dirty="0">
                  <a:solidFill>
                    <a:srgbClr val="FF3300"/>
                  </a:solidFill>
                  <a:latin typeface="Times New Roman" pitchFamily="18" charset="0"/>
                </a:rPr>
                <a:t>对染色体进行解码</a:t>
              </a:r>
            </a:p>
          </p:txBody>
        </p:sp>
        <p:sp>
          <p:nvSpPr>
            <p:cNvPr id="30730" name="AutoShape 11"/>
            <p:cNvSpPr>
              <a:spLocks noChangeArrowheads="1"/>
            </p:cNvSpPr>
            <p:nvPr/>
          </p:nvSpPr>
          <p:spPr bwMode="auto">
            <a:xfrm>
              <a:off x="6096000" y="2725177"/>
              <a:ext cx="2743200" cy="437887"/>
            </a:xfrm>
            <a:prstGeom prst="flowChartTerminator">
              <a:avLst/>
            </a:prstGeom>
            <a:solidFill>
              <a:srgbClr val="CCFFFF"/>
            </a:solidFill>
            <a:ln w="9525" algn="ctr">
              <a:solidFill>
                <a:srgbClr val="000000"/>
              </a:solidFill>
              <a:miter lim="800000"/>
              <a:headEnd/>
              <a:tailEnd/>
            </a:ln>
          </p:spPr>
          <p:txBody>
            <a:bodyPr/>
            <a:lstStyle/>
            <a:p>
              <a:pPr algn="ctr"/>
              <a:r>
                <a:rPr lang="zh-CN" altLang="en-US" sz="2400" b="1">
                  <a:solidFill>
                    <a:srgbClr val="FF3300"/>
                  </a:solidFill>
                  <a:latin typeface="Times New Roman" pitchFamily="18" charset="0"/>
                </a:rPr>
                <a:t>得到问题最优解</a:t>
              </a:r>
            </a:p>
          </p:txBody>
        </p:sp>
        <p:sp>
          <p:nvSpPr>
            <p:cNvPr id="30734" name="Line 15"/>
            <p:cNvSpPr>
              <a:spLocks noChangeShapeType="1"/>
            </p:cNvSpPr>
            <p:nvPr/>
          </p:nvSpPr>
          <p:spPr bwMode="auto">
            <a:xfrm>
              <a:off x="7467600" y="1874837"/>
              <a:ext cx="0" cy="1984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6" name="Line 17"/>
            <p:cNvSpPr>
              <a:spLocks noChangeShapeType="1"/>
            </p:cNvSpPr>
            <p:nvPr/>
          </p:nvSpPr>
          <p:spPr bwMode="auto">
            <a:xfrm>
              <a:off x="7467600" y="2492896"/>
              <a:ext cx="0" cy="2984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0737" name="AutoShape 18"/>
          <p:cNvSpPr>
            <a:spLocks noChangeArrowheads="1"/>
          </p:cNvSpPr>
          <p:nvPr/>
        </p:nvSpPr>
        <p:spPr bwMode="auto">
          <a:xfrm>
            <a:off x="4903912" y="4443636"/>
            <a:ext cx="2133600" cy="425524"/>
          </a:xfrm>
          <a:prstGeom prst="flowChartProcess">
            <a:avLst/>
          </a:prstGeom>
          <a:solidFill>
            <a:srgbClr val="CCFFFF"/>
          </a:solidFill>
          <a:ln w="9525" algn="ctr">
            <a:solidFill>
              <a:srgbClr val="000000"/>
            </a:solidFill>
            <a:miter lim="800000"/>
            <a:headEnd/>
            <a:tailEnd/>
          </a:ln>
        </p:spPr>
        <p:txBody>
          <a:bodyPr/>
          <a:lstStyle/>
          <a:p>
            <a:pPr algn="ctr"/>
            <a:r>
              <a:rPr lang="zh-CN" altLang="en-US" sz="2400" b="1">
                <a:solidFill>
                  <a:srgbClr val="FF3300"/>
                </a:solidFill>
                <a:latin typeface="Times New Roman" pitchFamily="18" charset="0"/>
              </a:rPr>
              <a:t>进行遗传操作</a:t>
            </a:r>
          </a:p>
        </p:txBody>
      </p:sp>
      <p:sp>
        <p:nvSpPr>
          <p:cNvPr id="30738" name="Line 19"/>
          <p:cNvSpPr>
            <a:spLocks noChangeShapeType="1"/>
          </p:cNvSpPr>
          <p:nvPr/>
        </p:nvSpPr>
        <p:spPr bwMode="auto">
          <a:xfrm>
            <a:off x="5208712" y="5043214"/>
            <a:ext cx="762000" cy="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739" name="Line 20"/>
          <p:cNvSpPr>
            <a:spLocks noChangeShapeType="1"/>
          </p:cNvSpPr>
          <p:nvPr/>
        </p:nvSpPr>
        <p:spPr bwMode="auto">
          <a:xfrm flipV="1">
            <a:off x="5970712" y="4797153"/>
            <a:ext cx="0" cy="2428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0" name="AutoShape 21"/>
          <p:cNvSpPr>
            <a:spLocks noChangeArrowheads="1"/>
          </p:cNvSpPr>
          <p:nvPr/>
        </p:nvSpPr>
        <p:spPr bwMode="auto">
          <a:xfrm>
            <a:off x="4903912" y="3414936"/>
            <a:ext cx="2076450" cy="838200"/>
          </a:xfrm>
          <a:prstGeom prst="flowChartProcess">
            <a:avLst/>
          </a:prstGeom>
          <a:solidFill>
            <a:srgbClr val="CCFFFF"/>
          </a:solidFill>
          <a:ln w="9525" algn="ctr">
            <a:solidFill>
              <a:srgbClr val="000000"/>
            </a:solidFill>
            <a:miter lim="800000"/>
            <a:headEnd/>
            <a:tailEnd/>
          </a:ln>
        </p:spPr>
        <p:txBody>
          <a:bodyPr/>
          <a:lstStyle/>
          <a:p>
            <a:pPr algn="ctr"/>
            <a:r>
              <a:rPr lang="zh-CN" altLang="en-US" sz="2400" b="1">
                <a:solidFill>
                  <a:srgbClr val="FF3300"/>
                </a:solidFill>
                <a:latin typeface="Times New Roman" pitchFamily="18" charset="0"/>
              </a:rPr>
              <a:t>群体←新群体</a:t>
            </a:r>
          </a:p>
          <a:p>
            <a:pPr algn="ctr"/>
            <a:r>
              <a:rPr lang="en-US" altLang="zh-CN" sz="2400" b="1">
                <a:solidFill>
                  <a:srgbClr val="FF3300"/>
                </a:solidFill>
                <a:latin typeface="Times New Roman" pitchFamily="18" charset="0"/>
              </a:rPr>
              <a:t>P(t)←P(t+1)</a:t>
            </a:r>
          </a:p>
        </p:txBody>
      </p:sp>
      <p:sp>
        <p:nvSpPr>
          <p:cNvPr id="30741" name="Line 22"/>
          <p:cNvSpPr>
            <a:spLocks noChangeShapeType="1"/>
          </p:cNvSpPr>
          <p:nvPr/>
        </p:nvSpPr>
        <p:spPr bwMode="auto">
          <a:xfrm flipH="1">
            <a:off x="3608512" y="3224436"/>
            <a:ext cx="2362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2" name="Line 23"/>
          <p:cNvSpPr>
            <a:spLocks noChangeShapeType="1"/>
          </p:cNvSpPr>
          <p:nvPr/>
        </p:nvSpPr>
        <p:spPr bwMode="auto">
          <a:xfrm>
            <a:off x="5970712" y="3224436"/>
            <a:ext cx="0" cy="198438"/>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30743" name="Line 24"/>
          <p:cNvSpPr>
            <a:spLocks noChangeShapeType="1"/>
          </p:cNvSpPr>
          <p:nvPr/>
        </p:nvSpPr>
        <p:spPr bwMode="auto">
          <a:xfrm flipV="1">
            <a:off x="5970712" y="4238850"/>
            <a:ext cx="0" cy="1793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44" name="AutoShape 25"/>
          <p:cNvSpPr>
            <a:spLocks/>
          </p:cNvSpPr>
          <p:nvPr/>
        </p:nvSpPr>
        <p:spPr bwMode="auto">
          <a:xfrm>
            <a:off x="7170862" y="4100736"/>
            <a:ext cx="152400" cy="1250950"/>
          </a:xfrm>
          <a:prstGeom prst="leftBrace">
            <a:avLst>
              <a:gd name="adj1" fmla="val 68403"/>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ea typeface="宋体" pitchFamily="2" charset="-122"/>
            </a:endParaRPr>
          </a:p>
        </p:txBody>
      </p:sp>
      <p:sp>
        <p:nvSpPr>
          <p:cNvPr id="30745" name="Text Box 26"/>
          <p:cNvSpPr txBox="1">
            <a:spLocks noChangeArrowheads="1"/>
          </p:cNvSpPr>
          <p:nvPr/>
        </p:nvSpPr>
        <p:spPr bwMode="auto">
          <a:xfrm>
            <a:off x="7399462" y="3948336"/>
            <a:ext cx="1371600" cy="457200"/>
          </a:xfrm>
          <a:prstGeom prst="rect">
            <a:avLst/>
          </a:prstGeom>
          <a:solidFill>
            <a:srgbClr val="CCFFFF"/>
          </a:solidFill>
          <a:ln w="9525" algn="ctr">
            <a:solidFill>
              <a:srgbClr val="000000"/>
            </a:solidFill>
            <a:miter lim="800000"/>
            <a:headEnd/>
            <a:tailEnd/>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zh-CN" sz="2400" b="1">
                <a:solidFill>
                  <a:srgbClr val="FF3300"/>
                </a:solidFill>
                <a:latin typeface="Times New Roman" pitchFamily="18" charset="0"/>
              </a:rPr>
              <a:t>1</a:t>
            </a:r>
            <a:r>
              <a:rPr lang="zh-CN" altLang="en-US" sz="2400" b="1">
                <a:solidFill>
                  <a:srgbClr val="FF3300"/>
                </a:solidFill>
                <a:latin typeface="Times New Roman" pitchFamily="18" charset="0"/>
              </a:rPr>
              <a:t>、选择</a:t>
            </a:r>
          </a:p>
        </p:txBody>
      </p:sp>
      <p:sp>
        <p:nvSpPr>
          <p:cNvPr id="30746" name="Text Box 27"/>
          <p:cNvSpPr txBox="1">
            <a:spLocks noChangeArrowheads="1"/>
          </p:cNvSpPr>
          <p:nvPr/>
        </p:nvSpPr>
        <p:spPr bwMode="auto">
          <a:xfrm>
            <a:off x="7399462" y="4532536"/>
            <a:ext cx="1371600" cy="457200"/>
          </a:xfrm>
          <a:prstGeom prst="rect">
            <a:avLst/>
          </a:prstGeom>
          <a:solidFill>
            <a:srgbClr val="CCFFFF"/>
          </a:solidFill>
          <a:ln w="9525" algn="ctr">
            <a:solidFill>
              <a:srgbClr val="000000"/>
            </a:solidFill>
            <a:miter lim="800000"/>
            <a:headEnd/>
            <a:tailEnd/>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zh-CN" sz="2400" b="1">
                <a:solidFill>
                  <a:srgbClr val="FF3300"/>
                </a:solidFill>
                <a:latin typeface="Times New Roman" pitchFamily="18" charset="0"/>
              </a:rPr>
              <a:t>2</a:t>
            </a:r>
            <a:r>
              <a:rPr lang="zh-CN" altLang="en-US" sz="2400" b="1">
                <a:solidFill>
                  <a:srgbClr val="FF3300"/>
                </a:solidFill>
                <a:latin typeface="Times New Roman" pitchFamily="18" charset="0"/>
              </a:rPr>
              <a:t>、交叉</a:t>
            </a:r>
          </a:p>
        </p:txBody>
      </p:sp>
      <p:sp>
        <p:nvSpPr>
          <p:cNvPr id="30747" name="Text Box 28"/>
          <p:cNvSpPr txBox="1">
            <a:spLocks noChangeArrowheads="1"/>
          </p:cNvSpPr>
          <p:nvPr/>
        </p:nvSpPr>
        <p:spPr bwMode="auto">
          <a:xfrm>
            <a:off x="7399462" y="5091336"/>
            <a:ext cx="1390650" cy="457200"/>
          </a:xfrm>
          <a:prstGeom prst="rect">
            <a:avLst/>
          </a:prstGeom>
          <a:solidFill>
            <a:srgbClr val="CCFFFF"/>
          </a:solidFill>
          <a:ln w="9525" algn="ctr">
            <a:solidFill>
              <a:srgbClr val="000000"/>
            </a:solidFill>
            <a:miter lim="800000"/>
            <a:headEnd/>
            <a:tailEnd/>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zh-CN" sz="2400" b="1">
                <a:solidFill>
                  <a:srgbClr val="FF3300"/>
                </a:solidFill>
                <a:latin typeface="Times New Roman" pitchFamily="18" charset="0"/>
              </a:rPr>
              <a:t>3</a:t>
            </a:r>
            <a:r>
              <a:rPr lang="zh-CN" altLang="en-US" sz="2400" b="1">
                <a:solidFill>
                  <a:srgbClr val="FF3300"/>
                </a:solidFill>
                <a:latin typeface="Times New Roman" pitchFamily="18" charset="0"/>
              </a:rPr>
              <a:t>、变异</a:t>
            </a:r>
          </a:p>
        </p:txBody>
      </p:sp>
      <p:sp>
        <p:nvSpPr>
          <p:cNvPr id="2" name="矩形 1"/>
          <p:cNvSpPr/>
          <p:nvPr/>
        </p:nvSpPr>
        <p:spPr>
          <a:xfrm>
            <a:off x="2453586" y="4839544"/>
            <a:ext cx="2350323" cy="461665"/>
          </a:xfrm>
          <a:prstGeom prst="rect">
            <a:avLst/>
          </a:prstGeom>
        </p:spPr>
        <p:txBody>
          <a:bodyPr wrap="none">
            <a:spAutoFit/>
          </a:bodyPr>
          <a:lstStyle/>
          <a:p>
            <a:pPr lvl="0" algn="ctr"/>
            <a:r>
              <a:rPr lang="zh-CN" altLang="en-US" sz="2400" b="1" dirty="0">
                <a:solidFill>
                  <a:srgbClr val="FF3300"/>
                </a:solidFill>
                <a:latin typeface="Times New Roman" pitchFamily="18" charset="0"/>
              </a:rPr>
              <a:t>满足终止条件？</a:t>
            </a:r>
          </a:p>
        </p:txBody>
      </p:sp>
      <p:sp>
        <p:nvSpPr>
          <p:cNvPr id="4" name="TextBox 3"/>
          <p:cNvSpPr txBox="1"/>
          <p:nvPr/>
        </p:nvSpPr>
        <p:spPr>
          <a:xfrm>
            <a:off x="5159896" y="4998368"/>
            <a:ext cx="457200" cy="374849"/>
          </a:xfrm>
          <a:prstGeom prst="rect">
            <a:avLst/>
          </a:prstGeom>
          <a:noFill/>
        </p:spPr>
        <p:txBody>
          <a:bodyPr wrap="square" rtlCol="0">
            <a:spAutoFit/>
          </a:bodyPr>
          <a:lstStyle/>
          <a:p>
            <a:r>
              <a:rPr lang="en-US" altLang="zh-CN" b="1" dirty="0"/>
              <a:t>N</a:t>
            </a:r>
            <a:endParaRPr lang="zh-CN" altLang="en-US" b="1" dirty="0"/>
          </a:p>
        </p:txBody>
      </p:sp>
      <p:sp>
        <p:nvSpPr>
          <p:cNvPr id="5" name="灯片编号占位符 4">
            <a:extLst>
              <a:ext uri="{FF2B5EF4-FFF2-40B4-BE49-F238E27FC236}">
                <a16:creationId xmlns:a16="http://schemas.microsoft.com/office/drawing/2014/main" id="{20950FED-FC2C-180A-1C72-3FCA5B11EA69}"/>
              </a:ext>
            </a:extLst>
          </p:cNvPr>
          <p:cNvSpPr>
            <a:spLocks noGrp="1"/>
          </p:cNvSpPr>
          <p:nvPr>
            <p:ph type="sldNum" sz="quarter" idx="11"/>
          </p:nvPr>
        </p:nvSpPr>
        <p:spPr/>
        <p:txBody>
          <a:bodyPr/>
          <a:lstStyle/>
          <a:p>
            <a:pPr>
              <a:defRPr/>
            </a:pPr>
            <a:fld id="{6E623E09-9292-430A-945A-636A50DBB6F1}" type="slidenum">
              <a:rPr lang="en-US" altLang="zh-CN" smtClean="0"/>
              <a:pPr>
                <a:defRPr/>
              </a:pPr>
              <a:t>6</a:t>
            </a:fld>
            <a:endParaRPr lang="en-US" altLang="zh-CN"/>
          </a:p>
        </p:txBody>
      </p:sp>
    </p:spTree>
    <p:extLst>
      <p:ext uri="{BB962C8B-B14F-4D97-AF65-F5344CB8AC3E}">
        <p14:creationId xmlns:p14="http://schemas.microsoft.com/office/powerpoint/2010/main" val="2576655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1981200" y="260648"/>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遗传算法的流程</a:t>
            </a:r>
          </a:p>
        </p:txBody>
      </p:sp>
      <p:sp>
        <p:nvSpPr>
          <p:cNvPr id="146435" name="Rectangle 3"/>
          <p:cNvSpPr>
            <a:spLocks noGrp="1" noChangeArrowheads="1"/>
          </p:cNvSpPr>
          <p:nvPr>
            <p:ph type="body" idx="1"/>
          </p:nvPr>
        </p:nvSpPr>
        <p:spPr>
          <a:xfrm>
            <a:off x="1981200" y="1607795"/>
            <a:ext cx="8229600" cy="4917549"/>
          </a:xfrm>
        </p:spPr>
        <p:txBody>
          <a:bodyPr/>
          <a:lstStyle/>
          <a:p>
            <a:r>
              <a:rPr lang="zh-CN" altLang="en-US" b="1" dirty="0">
                <a:solidFill>
                  <a:srgbClr val="FF0000"/>
                </a:solidFill>
                <a:latin typeface="黑体" panose="02010609060101010101" pitchFamily="49" charset="-122"/>
                <a:ea typeface="黑体" panose="02010609060101010101" pitchFamily="49" charset="-122"/>
              </a:rPr>
              <a:t>流程结构</a:t>
            </a:r>
          </a:p>
          <a:p>
            <a:pPr lvl="1"/>
            <a:r>
              <a:rPr lang="zh-CN" altLang="en-US" sz="3200" b="1" dirty="0"/>
              <a:t>染色体编码</a:t>
            </a:r>
          </a:p>
          <a:p>
            <a:pPr lvl="1"/>
            <a:r>
              <a:rPr lang="zh-CN" altLang="en-US" sz="3200" b="1" dirty="0"/>
              <a:t>群体初始化</a:t>
            </a:r>
          </a:p>
          <a:p>
            <a:pPr lvl="1"/>
            <a:r>
              <a:rPr lang="zh-CN" altLang="en-US" sz="3200" b="1" dirty="0"/>
              <a:t>适应值评价</a:t>
            </a:r>
          </a:p>
          <a:p>
            <a:pPr lvl="1"/>
            <a:r>
              <a:rPr lang="zh-CN" altLang="en-US" sz="3200" b="1" dirty="0"/>
              <a:t>选择算子</a:t>
            </a:r>
          </a:p>
          <a:p>
            <a:pPr lvl="1"/>
            <a:r>
              <a:rPr lang="zh-CN" altLang="en-US" sz="3200" b="1" dirty="0"/>
              <a:t>交叉算子</a:t>
            </a:r>
          </a:p>
          <a:p>
            <a:pPr lvl="1"/>
            <a:r>
              <a:rPr lang="zh-CN" altLang="en-US" sz="3200" b="1" dirty="0"/>
              <a:t>变异算子</a:t>
            </a:r>
            <a:endParaRPr lang="en-US" altLang="zh-CN" sz="3200" b="1" dirty="0"/>
          </a:p>
          <a:p>
            <a:pPr lvl="1"/>
            <a:endParaRPr lang="zh-CN" altLang="en-US" sz="2200" b="1" dirty="0">
              <a:solidFill>
                <a:srgbClr val="692AA2"/>
              </a:solidFill>
            </a:endParaRPr>
          </a:p>
        </p:txBody>
      </p:sp>
      <p:sp>
        <p:nvSpPr>
          <p:cNvPr id="2" name="灯片编号占位符 1">
            <a:extLst>
              <a:ext uri="{FF2B5EF4-FFF2-40B4-BE49-F238E27FC236}">
                <a16:creationId xmlns:a16="http://schemas.microsoft.com/office/drawing/2014/main" id="{8456DB6C-ADFD-128E-C8A7-8B73ED9245C9}"/>
              </a:ext>
            </a:extLst>
          </p:cNvPr>
          <p:cNvSpPr>
            <a:spLocks noGrp="1"/>
          </p:cNvSpPr>
          <p:nvPr>
            <p:ph type="sldNum" sz="quarter" idx="11"/>
          </p:nvPr>
        </p:nvSpPr>
        <p:spPr/>
        <p:txBody>
          <a:bodyPr/>
          <a:lstStyle/>
          <a:p>
            <a:pPr>
              <a:defRPr/>
            </a:pPr>
            <a:fld id="{E0FB5469-1AEB-496D-971A-66705BF2F73C}" type="slidenum">
              <a:rPr lang="en-US" altLang="zh-CN" smtClean="0"/>
              <a:pPr>
                <a:defRPr/>
              </a:pPr>
              <a:t>7</a:t>
            </a:fld>
            <a:endParaRPr lang="en-US" altLang="zh-CN"/>
          </a:p>
        </p:txBody>
      </p:sp>
    </p:spTree>
    <p:extLst>
      <p:ext uri="{BB962C8B-B14F-4D97-AF65-F5344CB8AC3E}">
        <p14:creationId xmlns:p14="http://schemas.microsoft.com/office/powerpoint/2010/main" val="1303026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1935891" y="329208"/>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染色体编码</a:t>
            </a:r>
          </a:p>
        </p:txBody>
      </p:sp>
      <p:sp>
        <p:nvSpPr>
          <p:cNvPr id="97315" name="Rectangle 35"/>
          <p:cNvSpPr>
            <a:spLocks noChangeArrowheads="1"/>
          </p:cNvSpPr>
          <p:nvPr/>
        </p:nvSpPr>
        <p:spPr bwMode="auto">
          <a:xfrm>
            <a:off x="1981200" y="1831208"/>
            <a:ext cx="8229600" cy="469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4500" indent="-444500">
              <a:spcBef>
                <a:spcPct val="20000"/>
              </a:spcBef>
              <a:buClr>
                <a:schemeClr val="tx2"/>
              </a:buClr>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909638" indent="-285750">
              <a:spcBef>
                <a:spcPct val="20000"/>
              </a:spcBef>
              <a:buClr>
                <a:schemeClr val="tx1"/>
              </a:buClr>
              <a:buSzPct val="75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346200" indent="-257175">
              <a:spcBef>
                <a:spcPct val="20000"/>
              </a:spcBef>
              <a:buClr>
                <a:srgbClr val="0000FF"/>
              </a:buClr>
              <a:buSzPct val="75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754188"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162175"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619375"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3076575"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533775"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990975"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r>
              <a:rPr lang="zh-CN" altLang="en-US" sz="3200" b="1" dirty="0">
                <a:solidFill>
                  <a:srgbClr val="FF0000"/>
                </a:solidFill>
              </a:rPr>
              <a:t>二进制编码方法</a:t>
            </a:r>
            <a:endParaRPr lang="zh-CN" altLang="en-US" sz="3200" b="1" dirty="0">
              <a:solidFill>
                <a:srgbClr val="692AA2"/>
              </a:solidFill>
            </a:endParaRPr>
          </a:p>
          <a:p>
            <a:endParaRPr lang="zh-CN" altLang="en-US" sz="2600" b="1" dirty="0">
              <a:solidFill>
                <a:srgbClr val="692AA2"/>
              </a:solidFill>
            </a:endParaRPr>
          </a:p>
          <a:p>
            <a:endParaRPr lang="zh-CN" altLang="en-US" sz="2600" b="1" dirty="0">
              <a:solidFill>
                <a:srgbClr val="692AA2"/>
              </a:solidFill>
            </a:endParaRPr>
          </a:p>
          <a:p>
            <a:endParaRPr lang="zh-CN" altLang="en-US" sz="2600" b="1" dirty="0">
              <a:solidFill>
                <a:srgbClr val="692AA2"/>
              </a:solidFill>
            </a:endParaRPr>
          </a:p>
          <a:p>
            <a:endParaRPr lang="zh-CN" altLang="en-US" sz="2600" b="1" dirty="0">
              <a:solidFill>
                <a:srgbClr val="692AA2"/>
              </a:solidFill>
            </a:endParaRPr>
          </a:p>
          <a:p>
            <a:endParaRPr lang="zh-CN" altLang="en-US" sz="2600" b="1" dirty="0">
              <a:solidFill>
                <a:srgbClr val="692AA2"/>
              </a:solidFill>
            </a:endParaRPr>
          </a:p>
          <a:p>
            <a:endParaRPr lang="zh-CN" altLang="en-US" sz="2600" b="1" dirty="0">
              <a:solidFill>
                <a:srgbClr val="692AA2"/>
              </a:solidFill>
            </a:endParaRPr>
          </a:p>
          <a:p>
            <a:endParaRPr lang="zh-CN" altLang="en-US" sz="2600" b="1" dirty="0">
              <a:solidFill>
                <a:srgbClr val="692AA2"/>
              </a:solidFill>
            </a:endParaRPr>
          </a:p>
          <a:p>
            <a:r>
              <a:rPr lang="zh-CN" altLang="en-US" sz="3200" b="1" dirty="0">
                <a:solidFill>
                  <a:srgbClr val="FF0000"/>
                </a:solidFill>
              </a:rPr>
              <a:t>浮点数编码方法</a:t>
            </a:r>
          </a:p>
        </p:txBody>
      </p:sp>
      <p:grpSp>
        <p:nvGrpSpPr>
          <p:cNvPr id="97526" name="Group 246"/>
          <p:cNvGrpSpPr>
            <a:grpSpLocks/>
          </p:cNvGrpSpPr>
          <p:nvPr/>
        </p:nvGrpSpPr>
        <p:grpSpPr bwMode="auto">
          <a:xfrm>
            <a:off x="2208213" y="2511864"/>
            <a:ext cx="3382962" cy="3024188"/>
            <a:chOff x="576" y="1781"/>
            <a:chExt cx="1446" cy="2149"/>
          </a:xfrm>
        </p:grpSpPr>
        <p:sp>
          <p:nvSpPr>
            <p:cNvPr id="97527" name="AutoShape 247"/>
            <p:cNvSpPr>
              <a:spLocks noChangeArrowheads="1"/>
            </p:cNvSpPr>
            <p:nvPr/>
          </p:nvSpPr>
          <p:spPr bwMode="auto">
            <a:xfrm>
              <a:off x="576" y="1942"/>
              <a:ext cx="1446" cy="1988"/>
            </a:xfrm>
            <a:prstGeom prst="roundRect">
              <a:avLst>
                <a:gd name="adj" fmla="val 4690"/>
              </a:avLst>
            </a:prstGeom>
            <a:noFill/>
            <a:ln w="57150">
              <a:solidFill>
                <a:schemeClr val="folHlink"/>
              </a:solidFill>
              <a:round/>
              <a:headEnd/>
              <a:tailEnd/>
            </a:ln>
            <a:effectLst/>
            <a:extLst>
              <a:ext uri="{909E8E84-426E-40DD-AFC4-6F175D3DCCD1}">
                <a14:hiddenFill xmlns:a14="http://schemas.microsoft.com/office/drawing/2010/main">
                  <a:solidFill>
                    <a:srgbClr val="D2D8A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528" name="AutoShape 248"/>
            <p:cNvSpPr>
              <a:spLocks noChangeArrowheads="1"/>
            </p:cNvSpPr>
            <p:nvPr/>
          </p:nvSpPr>
          <p:spPr bwMode="gray">
            <a:xfrm>
              <a:off x="712" y="1852"/>
              <a:ext cx="1174" cy="181"/>
            </a:xfrm>
            <a:prstGeom prst="roundRect">
              <a:avLst>
                <a:gd name="adj" fmla="val 50000"/>
              </a:avLst>
            </a:prstGeom>
            <a:gradFill rotWithShape="1">
              <a:gsLst>
                <a:gs pos="0">
                  <a:schemeClr val="folHlink">
                    <a:gamma/>
                    <a:shade val="38824"/>
                    <a:invGamma/>
                  </a:schemeClr>
                </a:gs>
                <a:gs pos="50000">
                  <a:schemeClr val="folHlink"/>
                </a:gs>
                <a:gs pos="100000">
                  <a:schemeClr val="folHlink">
                    <a:gamma/>
                    <a:shade val="38824"/>
                    <a:invGamma/>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529" name="AutoShape 249"/>
            <p:cNvSpPr>
              <a:spLocks noChangeArrowheads="1"/>
            </p:cNvSpPr>
            <p:nvPr/>
          </p:nvSpPr>
          <p:spPr bwMode="auto">
            <a:xfrm flipH="1">
              <a:off x="1773" y="1897"/>
              <a:ext cx="45" cy="91"/>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530" name="AutoShape 250"/>
            <p:cNvSpPr>
              <a:spLocks noChangeArrowheads="1"/>
            </p:cNvSpPr>
            <p:nvPr/>
          </p:nvSpPr>
          <p:spPr bwMode="auto">
            <a:xfrm flipH="1">
              <a:off x="776" y="1897"/>
              <a:ext cx="46" cy="91"/>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531" name="Text Box 251"/>
            <p:cNvSpPr txBox="1">
              <a:spLocks noChangeArrowheads="1"/>
            </p:cNvSpPr>
            <p:nvPr/>
          </p:nvSpPr>
          <p:spPr bwMode="gray">
            <a:xfrm>
              <a:off x="1252" y="1781"/>
              <a:ext cx="79"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endParaRPr lang="zh-CN" altLang="en-US" sz="2000" b="1">
                <a:solidFill>
                  <a:schemeClr val="bg1"/>
                </a:solidFill>
              </a:endParaRPr>
            </a:p>
          </p:txBody>
        </p:sp>
        <p:sp>
          <p:nvSpPr>
            <p:cNvPr id="97532" name="Text Box 252"/>
            <p:cNvSpPr txBox="1">
              <a:spLocks noChangeArrowheads="1"/>
            </p:cNvSpPr>
            <p:nvPr/>
          </p:nvSpPr>
          <p:spPr bwMode="auto">
            <a:xfrm>
              <a:off x="623" y="2106"/>
              <a:ext cx="1344"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en-US" altLang="zh-CN">
                <a:ea typeface="宋体" panose="02010600030101010101" pitchFamily="2" charset="-122"/>
              </a:endParaRPr>
            </a:p>
          </p:txBody>
        </p:sp>
      </p:grpSp>
      <p:grpSp>
        <p:nvGrpSpPr>
          <p:cNvPr id="97533" name="Group 253"/>
          <p:cNvGrpSpPr>
            <a:grpSpLocks/>
          </p:cNvGrpSpPr>
          <p:nvPr/>
        </p:nvGrpSpPr>
        <p:grpSpPr bwMode="auto">
          <a:xfrm>
            <a:off x="7391400" y="2511864"/>
            <a:ext cx="2554288" cy="3024188"/>
            <a:chOff x="2098" y="1349"/>
            <a:chExt cx="1609" cy="2299"/>
          </a:xfrm>
        </p:grpSpPr>
        <p:sp>
          <p:nvSpPr>
            <p:cNvPr id="97534" name="AutoShape 254"/>
            <p:cNvSpPr>
              <a:spLocks noChangeArrowheads="1"/>
            </p:cNvSpPr>
            <p:nvPr/>
          </p:nvSpPr>
          <p:spPr bwMode="auto">
            <a:xfrm>
              <a:off x="2098" y="1529"/>
              <a:ext cx="1609" cy="2119"/>
            </a:xfrm>
            <a:prstGeom prst="roundRect">
              <a:avLst>
                <a:gd name="adj" fmla="val 4690"/>
              </a:avLst>
            </a:prstGeom>
            <a:noFill/>
            <a:ln w="57150">
              <a:solidFill>
                <a:schemeClr val="accent2"/>
              </a:solidFill>
              <a:round/>
              <a:headEnd/>
              <a:tailEnd/>
            </a:ln>
            <a:effectLst/>
            <a:extLst>
              <a:ext uri="{909E8E84-426E-40DD-AFC4-6F175D3DCCD1}">
                <a14:hiddenFill xmlns:a14="http://schemas.microsoft.com/office/drawing/2010/main">
                  <a:solidFill>
                    <a:srgbClr val="F1D08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535" name="AutoShape 255"/>
            <p:cNvSpPr>
              <a:spLocks noChangeArrowheads="1"/>
            </p:cNvSpPr>
            <p:nvPr/>
          </p:nvSpPr>
          <p:spPr bwMode="gray">
            <a:xfrm>
              <a:off x="2262" y="1428"/>
              <a:ext cx="1306" cy="210"/>
            </a:xfrm>
            <a:prstGeom prst="roundRect">
              <a:avLst>
                <a:gd name="adj" fmla="val 50000"/>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536" name="AutoShape 256"/>
            <p:cNvSpPr>
              <a:spLocks noChangeArrowheads="1"/>
            </p:cNvSpPr>
            <p:nvPr/>
          </p:nvSpPr>
          <p:spPr bwMode="auto">
            <a:xfrm flipH="1">
              <a:off x="3436" y="1483"/>
              <a:ext cx="51" cy="106"/>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537" name="AutoShape 257"/>
            <p:cNvSpPr>
              <a:spLocks noChangeArrowheads="1"/>
            </p:cNvSpPr>
            <p:nvPr/>
          </p:nvSpPr>
          <p:spPr bwMode="auto">
            <a:xfrm flipH="1">
              <a:off x="2322" y="1476"/>
              <a:ext cx="50" cy="106"/>
            </a:xfrm>
            <a:prstGeom prst="octagon">
              <a:avLst>
                <a:gd name="adj" fmla="val 2928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538" name="Text Box 258"/>
            <p:cNvSpPr txBox="1">
              <a:spLocks noChangeArrowheads="1"/>
            </p:cNvSpPr>
            <p:nvPr/>
          </p:nvSpPr>
          <p:spPr bwMode="gray">
            <a:xfrm>
              <a:off x="2839" y="1349"/>
              <a:ext cx="116"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endParaRPr lang="zh-CN" altLang="en-US" sz="2000" b="1">
                <a:solidFill>
                  <a:schemeClr val="bg1"/>
                </a:solidFill>
              </a:endParaRPr>
            </a:p>
          </p:txBody>
        </p:sp>
        <p:sp>
          <p:nvSpPr>
            <p:cNvPr id="97539" name="Text Box 259"/>
            <p:cNvSpPr txBox="1">
              <a:spLocks noChangeArrowheads="1"/>
            </p:cNvSpPr>
            <p:nvPr/>
          </p:nvSpPr>
          <p:spPr bwMode="auto">
            <a:xfrm>
              <a:off x="2155" y="1699"/>
              <a:ext cx="1495"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lang="en-US" altLang="zh-CN">
                <a:ea typeface="宋体" panose="02010600030101010101" pitchFamily="2" charset="-122"/>
              </a:endParaRPr>
            </a:p>
          </p:txBody>
        </p:sp>
      </p:grpSp>
      <p:sp>
        <p:nvSpPr>
          <p:cNvPr id="97541" name="Rectangle 261"/>
          <p:cNvSpPr>
            <a:spLocks noChangeArrowheads="1"/>
          </p:cNvSpPr>
          <p:nvPr/>
        </p:nvSpPr>
        <p:spPr bwMode="auto">
          <a:xfrm>
            <a:off x="1524000" y="40369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97540" name="Object 260"/>
          <p:cNvGraphicFramePr>
            <a:graphicFrameLocks noChangeAspect="1"/>
          </p:cNvGraphicFramePr>
          <p:nvPr>
            <p:extLst>
              <p:ext uri="{D42A27DB-BD31-4B8C-83A1-F6EECF244321}">
                <p14:modId xmlns:p14="http://schemas.microsoft.com/office/powerpoint/2010/main" val="1504381721"/>
              </p:ext>
            </p:extLst>
          </p:nvPr>
        </p:nvGraphicFramePr>
        <p:xfrm>
          <a:off x="3502025" y="2881753"/>
          <a:ext cx="865188" cy="566737"/>
        </p:xfrm>
        <a:graphic>
          <a:graphicData uri="http://schemas.openxmlformats.org/presentationml/2006/ole">
            <mc:AlternateContent xmlns:mc="http://schemas.openxmlformats.org/markup-compatibility/2006">
              <mc:Choice xmlns:v="urn:schemas-microsoft-com:vml" Requires="v">
                <p:oleObj name="Equation" r:id="rId3" imgW="279158" imgH="177646" progId="Equation.3">
                  <p:embed/>
                </p:oleObj>
              </mc:Choice>
              <mc:Fallback>
                <p:oleObj name="Equation" r:id="rId3" imgW="279158" imgH="177646" progId="Equation.3">
                  <p:embed/>
                  <p:pic>
                    <p:nvPicPr>
                      <p:cNvPr id="97540" name="Object 2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2025" y="2881753"/>
                        <a:ext cx="865188" cy="566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543" name="Rectangle 263"/>
          <p:cNvSpPr>
            <a:spLocks noChangeArrowheads="1"/>
          </p:cNvSpPr>
          <p:nvPr/>
        </p:nvSpPr>
        <p:spPr bwMode="auto">
          <a:xfrm>
            <a:off x="1524000" y="40369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97542" name="Object 262"/>
          <p:cNvGraphicFramePr>
            <a:graphicFrameLocks noChangeAspect="1"/>
          </p:cNvGraphicFramePr>
          <p:nvPr>
            <p:extLst>
              <p:ext uri="{D42A27DB-BD31-4B8C-83A1-F6EECF244321}">
                <p14:modId xmlns:p14="http://schemas.microsoft.com/office/powerpoint/2010/main" val="646341141"/>
              </p:ext>
            </p:extLst>
          </p:nvPr>
        </p:nvGraphicFramePr>
        <p:xfrm>
          <a:off x="3502025" y="3664390"/>
          <a:ext cx="865188" cy="530225"/>
        </p:xfrm>
        <a:graphic>
          <a:graphicData uri="http://schemas.openxmlformats.org/presentationml/2006/ole">
            <mc:AlternateContent xmlns:mc="http://schemas.openxmlformats.org/markup-compatibility/2006">
              <mc:Choice xmlns:v="urn:schemas-microsoft-com:vml" Requires="v">
                <p:oleObj name="Equation" r:id="rId5" imgW="291847" imgH="177646" progId="Equation.3">
                  <p:embed/>
                </p:oleObj>
              </mc:Choice>
              <mc:Fallback>
                <p:oleObj name="Equation" r:id="rId5" imgW="291847" imgH="177646" progId="Equation.3">
                  <p:embed/>
                  <p:pic>
                    <p:nvPicPr>
                      <p:cNvPr id="97542" name="Object 2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2025" y="3664390"/>
                        <a:ext cx="865188"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545" name="Rectangle 265"/>
          <p:cNvSpPr>
            <a:spLocks noChangeArrowheads="1"/>
          </p:cNvSpPr>
          <p:nvPr/>
        </p:nvSpPr>
        <p:spPr bwMode="auto">
          <a:xfrm>
            <a:off x="1524000" y="382262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97544" name="Object 264"/>
          <p:cNvGraphicFramePr>
            <a:graphicFrameLocks noChangeAspect="1"/>
          </p:cNvGraphicFramePr>
          <p:nvPr>
            <p:extLst>
              <p:ext uri="{D42A27DB-BD31-4B8C-83A1-F6EECF244321}">
                <p14:modId xmlns:p14="http://schemas.microsoft.com/office/powerpoint/2010/main" val="3096334641"/>
              </p:ext>
            </p:extLst>
          </p:nvPr>
        </p:nvGraphicFramePr>
        <p:xfrm>
          <a:off x="2208214" y="4240652"/>
          <a:ext cx="3311525" cy="1204912"/>
        </p:xfrm>
        <a:graphic>
          <a:graphicData uri="http://schemas.openxmlformats.org/presentationml/2006/ole">
            <mc:AlternateContent xmlns:mc="http://schemas.openxmlformats.org/markup-compatibility/2006">
              <mc:Choice xmlns:v="urn:schemas-microsoft-com:vml" Requires="v">
                <p:oleObj name="Equation" r:id="rId7" imgW="1676400" imgH="609600" progId="Equation.3">
                  <p:embed/>
                </p:oleObj>
              </mc:Choice>
              <mc:Fallback>
                <p:oleObj name="Equation" r:id="rId7" imgW="1676400" imgH="609600" progId="Equation.3">
                  <p:embed/>
                  <p:pic>
                    <p:nvPicPr>
                      <p:cNvPr id="97544" name="Object 26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8214" y="4240652"/>
                        <a:ext cx="3311525" cy="1204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546" name="Text Box 266"/>
          <p:cNvSpPr txBox="1">
            <a:spLocks noChangeArrowheads="1"/>
          </p:cNvSpPr>
          <p:nvPr/>
        </p:nvSpPr>
        <p:spPr bwMode="auto">
          <a:xfrm>
            <a:off x="7693674" y="2924944"/>
            <a:ext cx="21467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t>0000…0000</a:t>
            </a:r>
            <a:endParaRPr lang="zh-CN" altLang="en-US" sz="2800" dirty="0"/>
          </a:p>
        </p:txBody>
      </p:sp>
      <p:sp>
        <p:nvSpPr>
          <p:cNvPr id="97547" name="Text Box 267"/>
          <p:cNvSpPr txBox="1">
            <a:spLocks noChangeArrowheads="1"/>
          </p:cNvSpPr>
          <p:nvPr/>
        </p:nvSpPr>
        <p:spPr bwMode="auto">
          <a:xfrm>
            <a:off x="7752184" y="3717032"/>
            <a:ext cx="19866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t>1111…1111</a:t>
            </a:r>
            <a:endParaRPr lang="zh-CN" altLang="en-US" sz="2800" dirty="0"/>
          </a:p>
        </p:txBody>
      </p:sp>
      <p:sp>
        <p:nvSpPr>
          <p:cNvPr id="97549" name="Rectangle 269"/>
          <p:cNvSpPr>
            <a:spLocks noChangeArrowheads="1"/>
          </p:cNvSpPr>
          <p:nvPr/>
        </p:nvSpPr>
        <p:spPr bwMode="auto">
          <a:xfrm>
            <a:off x="1524000" y="401312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97548" name="Object 268"/>
          <p:cNvGraphicFramePr>
            <a:graphicFrameLocks noChangeAspect="1"/>
          </p:cNvGraphicFramePr>
          <p:nvPr>
            <p:extLst>
              <p:ext uri="{D42A27DB-BD31-4B8C-83A1-F6EECF244321}">
                <p14:modId xmlns:p14="http://schemas.microsoft.com/office/powerpoint/2010/main" val="790843287"/>
              </p:ext>
            </p:extLst>
          </p:nvPr>
        </p:nvGraphicFramePr>
        <p:xfrm>
          <a:off x="7608889" y="4599428"/>
          <a:ext cx="2232025" cy="630237"/>
        </p:xfrm>
        <a:graphic>
          <a:graphicData uri="http://schemas.openxmlformats.org/presentationml/2006/ole">
            <mc:AlternateContent xmlns:mc="http://schemas.openxmlformats.org/markup-compatibility/2006">
              <mc:Choice xmlns:v="urn:schemas-microsoft-com:vml" Requires="v">
                <p:oleObj name="Equation" r:id="rId9" imgW="812447" imgH="228501" progId="Equation.3">
                  <p:embed/>
                </p:oleObj>
              </mc:Choice>
              <mc:Fallback>
                <p:oleObj name="Equation" r:id="rId9" imgW="812447" imgH="228501" progId="Equation.3">
                  <p:embed/>
                  <p:pic>
                    <p:nvPicPr>
                      <p:cNvPr id="97548" name="Object 26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08889" y="4599428"/>
                        <a:ext cx="2232025" cy="630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7550" name="Group 270"/>
          <p:cNvGrpSpPr>
            <a:grpSpLocks/>
          </p:cNvGrpSpPr>
          <p:nvPr/>
        </p:nvGrpSpPr>
        <p:grpSpPr bwMode="auto">
          <a:xfrm rot="19396992" flipH="1">
            <a:off x="4868862" y="2283263"/>
            <a:ext cx="2540000" cy="1871662"/>
            <a:chOff x="2408" y="1926"/>
            <a:chExt cx="2320" cy="671"/>
          </a:xfrm>
        </p:grpSpPr>
        <p:sp>
          <p:nvSpPr>
            <p:cNvPr id="97551" name="Line 271"/>
            <p:cNvSpPr>
              <a:spLocks noChangeShapeType="1"/>
            </p:cNvSpPr>
            <p:nvPr/>
          </p:nvSpPr>
          <p:spPr bwMode="auto">
            <a:xfrm flipH="1">
              <a:off x="2650" y="1926"/>
              <a:ext cx="2078" cy="599"/>
            </a:xfrm>
            <a:prstGeom prst="line">
              <a:avLst/>
            </a:prstGeom>
            <a:noFill/>
            <a:ln w="31750" cap="rnd">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52" name="Freeform 272"/>
            <p:cNvSpPr>
              <a:spLocks/>
            </p:cNvSpPr>
            <p:nvPr/>
          </p:nvSpPr>
          <p:spPr bwMode="auto">
            <a:xfrm>
              <a:off x="2408" y="2438"/>
              <a:ext cx="293" cy="159"/>
            </a:xfrm>
            <a:custGeom>
              <a:avLst/>
              <a:gdLst>
                <a:gd name="T0" fmla="*/ 293 w 293"/>
                <a:gd name="T1" fmla="*/ 159 h 159"/>
                <a:gd name="T2" fmla="*/ 0 w 293"/>
                <a:gd name="T3" fmla="*/ 156 h 159"/>
                <a:gd name="T4" fmla="*/ 237 w 293"/>
                <a:gd name="T5" fmla="*/ 0 h 159"/>
                <a:gd name="T6" fmla="*/ 293 w 293"/>
                <a:gd name="T7" fmla="*/ 159 h 159"/>
              </a:gdLst>
              <a:ahLst/>
              <a:cxnLst>
                <a:cxn ang="0">
                  <a:pos x="T0" y="T1"/>
                </a:cxn>
                <a:cxn ang="0">
                  <a:pos x="T2" y="T3"/>
                </a:cxn>
                <a:cxn ang="0">
                  <a:pos x="T4" y="T5"/>
                </a:cxn>
                <a:cxn ang="0">
                  <a:pos x="T6" y="T7"/>
                </a:cxn>
              </a:cxnLst>
              <a:rect l="0" t="0" r="r" b="b"/>
              <a:pathLst>
                <a:path w="293" h="159">
                  <a:moveTo>
                    <a:pt x="293" y="159"/>
                  </a:moveTo>
                  <a:lnTo>
                    <a:pt x="0" y="156"/>
                  </a:lnTo>
                  <a:lnTo>
                    <a:pt x="237" y="0"/>
                  </a:lnTo>
                  <a:lnTo>
                    <a:pt x="293" y="159"/>
                  </a:lnTo>
                  <a:close/>
                </a:path>
              </a:pathLst>
            </a:cu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553" name="Group 273"/>
          <p:cNvGrpSpPr>
            <a:grpSpLocks/>
          </p:cNvGrpSpPr>
          <p:nvPr/>
        </p:nvGrpSpPr>
        <p:grpSpPr bwMode="auto">
          <a:xfrm rot="12403058">
            <a:off x="4714876" y="3250052"/>
            <a:ext cx="3025775" cy="1497012"/>
            <a:chOff x="2408" y="1926"/>
            <a:chExt cx="2320" cy="671"/>
          </a:xfrm>
        </p:grpSpPr>
        <p:sp>
          <p:nvSpPr>
            <p:cNvPr id="97554" name="Line 274"/>
            <p:cNvSpPr>
              <a:spLocks noChangeShapeType="1"/>
            </p:cNvSpPr>
            <p:nvPr/>
          </p:nvSpPr>
          <p:spPr bwMode="auto">
            <a:xfrm flipH="1">
              <a:off x="2650" y="1926"/>
              <a:ext cx="2078" cy="599"/>
            </a:xfrm>
            <a:prstGeom prst="line">
              <a:avLst/>
            </a:prstGeom>
            <a:noFill/>
            <a:ln w="31750" cap="rnd">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55" name="Freeform 275"/>
            <p:cNvSpPr>
              <a:spLocks/>
            </p:cNvSpPr>
            <p:nvPr/>
          </p:nvSpPr>
          <p:spPr bwMode="auto">
            <a:xfrm>
              <a:off x="2408" y="2438"/>
              <a:ext cx="293" cy="159"/>
            </a:xfrm>
            <a:custGeom>
              <a:avLst/>
              <a:gdLst>
                <a:gd name="T0" fmla="*/ 293 w 293"/>
                <a:gd name="T1" fmla="*/ 159 h 159"/>
                <a:gd name="T2" fmla="*/ 0 w 293"/>
                <a:gd name="T3" fmla="*/ 156 h 159"/>
                <a:gd name="T4" fmla="*/ 237 w 293"/>
                <a:gd name="T5" fmla="*/ 0 h 159"/>
                <a:gd name="T6" fmla="*/ 293 w 293"/>
                <a:gd name="T7" fmla="*/ 159 h 159"/>
              </a:gdLst>
              <a:ahLst/>
              <a:cxnLst>
                <a:cxn ang="0">
                  <a:pos x="T0" y="T1"/>
                </a:cxn>
                <a:cxn ang="0">
                  <a:pos x="T2" y="T3"/>
                </a:cxn>
                <a:cxn ang="0">
                  <a:pos x="T4" y="T5"/>
                </a:cxn>
                <a:cxn ang="0">
                  <a:pos x="T6" y="T7"/>
                </a:cxn>
              </a:cxnLst>
              <a:rect l="0" t="0" r="r" b="b"/>
              <a:pathLst>
                <a:path w="293" h="159">
                  <a:moveTo>
                    <a:pt x="293" y="159"/>
                  </a:moveTo>
                  <a:lnTo>
                    <a:pt x="0" y="156"/>
                  </a:lnTo>
                  <a:lnTo>
                    <a:pt x="237" y="0"/>
                  </a:lnTo>
                  <a:lnTo>
                    <a:pt x="293" y="159"/>
                  </a:lnTo>
                  <a:close/>
                </a:path>
              </a:pathLst>
            </a:cu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7556" name="Group 276"/>
          <p:cNvGrpSpPr>
            <a:grpSpLocks/>
          </p:cNvGrpSpPr>
          <p:nvPr/>
        </p:nvGrpSpPr>
        <p:grpSpPr bwMode="auto">
          <a:xfrm rot="19396992" flipH="1">
            <a:off x="5629276" y="4351777"/>
            <a:ext cx="1655763" cy="1223962"/>
            <a:chOff x="2408" y="1926"/>
            <a:chExt cx="2320" cy="671"/>
          </a:xfrm>
        </p:grpSpPr>
        <p:sp>
          <p:nvSpPr>
            <p:cNvPr id="97557" name="Line 277"/>
            <p:cNvSpPr>
              <a:spLocks noChangeShapeType="1"/>
            </p:cNvSpPr>
            <p:nvPr/>
          </p:nvSpPr>
          <p:spPr bwMode="auto">
            <a:xfrm flipH="1">
              <a:off x="2650" y="1926"/>
              <a:ext cx="2078" cy="599"/>
            </a:xfrm>
            <a:prstGeom prst="line">
              <a:avLst/>
            </a:prstGeom>
            <a:noFill/>
            <a:ln w="31750" cap="rnd">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558" name="Freeform 278"/>
            <p:cNvSpPr>
              <a:spLocks/>
            </p:cNvSpPr>
            <p:nvPr/>
          </p:nvSpPr>
          <p:spPr bwMode="auto">
            <a:xfrm>
              <a:off x="2408" y="2438"/>
              <a:ext cx="293" cy="159"/>
            </a:xfrm>
            <a:custGeom>
              <a:avLst/>
              <a:gdLst>
                <a:gd name="T0" fmla="*/ 293 w 293"/>
                <a:gd name="T1" fmla="*/ 159 h 159"/>
                <a:gd name="T2" fmla="*/ 0 w 293"/>
                <a:gd name="T3" fmla="*/ 156 h 159"/>
                <a:gd name="T4" fmla="*/ 237 w 293"/>
                <a:gd name="T5" fmla="*/ 0 h 159"/>
                <a:gd name="T6" fmla="*/ 293 w 293"/>
                <a:gd name="T7" fmla="*/ 159 h 159"/>
              </a:gdLst>
              <a:ahLst/>
              <a:cxnLst>
                <a:cxn ang="0">
                  <a:pos x="T0" y="T1"/>
                </a:cxn>
                <a:cxn ang="0">
                  <a:pos x="T2" y="T3"/>
                </a:cxn>
                <a:cxn ang="0">
                  <a:pos x="T4" y="T5"/>
                </a:cxn>
                <a:cxn ang="0">
                  <a:pos x="T6" y="T7"/>
                </a:cxn>
              </a:cxnLst>
              <a:rect l="0" t="0" r="r" b="b"/>
              <a:pathLst>
                <a:path w="293" h="159">
                  <a:moveTo>
                    <a:pt x="293" y="159"/>
                  </a:moveTo>
                  <a:lnTo>
                    <a:pt x="0" y="156"/>
                  </a:lnTo>
                  <a:lnTo>
                    <a:pt x="237" y="0"/>
                  </a:lnTo>
                  <a:lnTo>
                    <a:pt x="293" y="159"/>
                  </a:lnTo>
                  <a:close/>
                </a:path>
              </a:pathLst>
            </a:cu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 name="灯片编号占位符 1">
            <a:extLst>
              <a:ext uri="{FF2B5EF4-FFF2-40B4-BE49-F238E27FC236}">
                <a16:creationId xmlns:a16="http://schemas.microsoft.com/office/drawing/2014/main" id="{056BD650-C20E-0C51-1687-826C69758094}"/>
              </a:ext>
            </a:extLst>
          </p:cNvPr>
          <p:cNvSpPr>
            <a:spLocks noGrp="1"/>
          </p:cNvSpPr>
          <p:nvPr>
            <p:ph type="sldNum" sz="quarter" idx="11"/>
          </p:nvPr>
        </p:nvSpPr>
        <p:spPr/>
        <p:txBody>
          <a:bodyPr/>
          <a:lstStyle/>
          <a:p>
            <a:pPr>
              <a:defRPr/>
            </a:pPr>
            <a:fld id="{FEF569DF-D019-4843-B296-F7B6269C71E5}" type="slidenum">
              <a:rPr lang="en-US" altLang="zh-CN" smtClean="0"/>
              <a:pPr>
                <a:defRPr/>
              </a:pPr>
              <a:t>8</a:t>
            </a:fld>
            <a:endParaRPr lang="en-US" altLang="zh-CN"/>
          </a:p>
        </p:txBody>
      </p:sp>
    </p:spTree>
    <p:extLst>
      <p:ext uri="{BB962C8B-B14F-4D97-AF65-F5344CB8AC3E}">
        <p14:creationId xmlns:p14="http://schemas.microsoft.com/office/powerpoint/2010/main" val="38664279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7315">
                                            <p:txEl>
                                              <p:pRg st="0" end="0"/>
                                            </p:txEl>
                                          </p:spTgt>
                                        </p:tgtEl>
                                        <p:attrNameLst>
                                          <p:attrName>style.visibility</p:attrName>
                                        </p:attrNameLst>
                                      </p:cBhvr>
                                      <p:to>
                                        <p:strVal val="visible"/>
                                      </p:to>
                                    </p:set>
                                    <p:animEffect transition="in" filter="wipe(left)">
                                      <p:cBhvr>
                                        <p:cTn id="7" dur="500"/>
                                        <p:tgtEl>
                                          <p:spTgt spid="97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7526"/>
                                        </p:tgtEl>
                                        <p:attrNameLst>
                                          <p:attrName>style.visibility</p:attrName>
                                        </p:attrNameLst>
                                      </p:cBhvr>
                                      <p:to>
                                        <p:strVal val="visible"/>
                                      </p:to>
                                    </p:set>
                                    <p:animEffect transition="in" filter="wipe(left)">
                                      <p:cBhvr>
                                        <p:cTn id="12" dur="500"/>
                                        <p:tgtEl>
                                          <p:spTgt spid="9752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97533"/>
                                        </p:tgtEl>
                                        <p:attrNameLst>
                                          <p:attrName>style.visibility</p:attrName>
                                        </p:attrNameLst>
                                      </p:cBhvr>
                                      <p:to>
                                        <p:strVal val="visible"/>
                                      </p:to>
                                    </p:set>
                                    <p:animEffect transition="in" filter="wipe(left)">
                                      <p:cBhvr>
                                        <p:cTn id="16" dur="500"/>
                                        <p:tgtEl>
                                          <p:spTgt spid="9753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7540"/>
                                        </p:tgtEl>
                                        <p:attrNameLst>
                                          <p:attrName>style.visibility</p:attrName>
                                        </p:attrNameLst>
                                      </p:cBhvr>
                                      <p:to>
                                        <p:strVal val="visible"/>
                                      </p:to>
                                    </p:set>
                                    <p:animEffect transition="in" filter="wipe(left)">
                                      <p:cBhvr>
                                        <p:cTn id="21" dur="500"/>
                                        <p:tgtEl>
                                          <p:spTgt spid="97540"/>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3" fill="hold" nodeType="clickEffect">
                                  <p:stCondLst>
                                    <p:cond delay="0"/>
                                  </p:stCondLst>
                                  <p:childTnLst>
                                    <p:set>
                                      <p:cBhvr>
                                        <p:cTn id="25" dur="1" fill="hold">
                                          <p:stCondLst>
                                            <p:cond delay="0"/>
                                          </p:stCondLst>
                                        </p:cTn>
                                        <p:tgtEl>
                                          <p:spTgt spid="97550"/>
                                        </p:tgtEl>
                                        <p:attrNameLst>
                                          <p:attrName>style.visibility</p:attrName>
                                        </p:attrNameLst>
                                      </p:cBhvr>
                                      <p:to>
                                        <p:strVal val="visible"/>
                                      </p:to>
                                    </p:set>
                                    <p:animEffect transition="in" filter="strips(upRight)">
                                      <p:cBhvr>
                                        <p:cTn id="26" dur="500"/>
                                        <p:tgtEl>
                                          <p:spTgt spid="9755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7546"/>
                                        </p:tgtEl>
                                        <p:attrNameLst>
                                          <p:attrName>style.visibility</p:attrName>
                                        </p:attrNameLst>
                                      </p:cBhvr>
                                      <p:to>
                                        <p:strVal val="visible"/>
                                      </p:to>
                                    </p:set>
                                    <p:animEffect transition="in" filter="wipe(left)">
                                      <p:cBhvr>
                                        <p:cTn id="31" dur="500"/>
                                        <p:tgtEl>
                                          <p:spTgt spid="9754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7542"/>
                                        </p:tgtEl>
                                        <p:attrNameLst>
                                          <p:attrName>style.visibility</p:attrName>
                                        </p:attrNameLst>
                                      </p:cBhvr>
                                      <p:to>
                                        <p:strVal val="visible"/>
                                      </p:to>
                                    </p:set>
                                    <p:animEffect transition="in" filter="wipe(left)">
                                      <p:cBhvr>
                                        <p:cTn id="36" dur="500"/>
                                        <p:tgtEl>
                                          <p:spTgt spid="97542"/>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3" fill="hold" nodeType="clickEffect">
                                  <p:stCondLst>
                                    <p:cond delay="0"/>
                                  </p:stCondLst>
                                  <p:childTnLst>
                                    <p:set>
                                      <p:cBhvr>
                                        <p:cTn id="40" dur="1" fill="hold">
                                          <p:stCondLst>
                                            <p:cond delay="0"/>
                                          </p:stCondLst>
                                        </p:cTn>
                                        <p:tgtEl>
                                          <p:spTgt spid="97553"/>
                                        </p:tgtEl>
                                        <p:attrNameLst>
                                          <p:attrName>style.visibility</p:attrName>
                                        </p:attrNameLst>
                                      </p:cBhvr>
                                      <p:to>
                                        <p:strVal val="visible"/>
                                      </p:to>
                                    </p:set>
                                    <p:animEffect transition="in" filter="strips(upRight)">
                                      <p:cBhvr>
                                        <p:cTn id="41" dur="500"/>
                                        <p:tgtEl>
                                          <p:spTgt spid="9755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7547"/>
                                        </p:tgtEl>
                                        <p:attrNameLst>
                                          <p:attrName>style.visibility</p:attrName>
                                        </p:attrNameLst>
                                      </p:cBhvr>
                                      <p:to>
                                        <p:strVal val="visible"/>
                                      </p:to>
                                    </p:set>
                                    <p:animEffect transition="in" filter="wipe(left)">
                                      <p:cBhvr>
                                        <p:cTn id="46" dur="500"/>
                                        <p:tgtEl>
                                          <p:spTgt spid="9754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97544"/>
                                        </p:tgtEl>
                                        <p:attrNameLst>
                                          <p:attrName>style.visibility</p:attrName>
                                        </p:attrNameLst>
                                      </p:cBhvr>
                                      <p:to>
                                        <p:strVal val="visible"/>
                                      </p:to>
                                    </p:set>
                                    <p:animEffect transition="in" filter="wipe(left)">
                                      <p:cBhvr>
                                        <p:cTn id="51" dur="500"/>
                                        <p:tgtEl>
                                          <p:spTgt spid="97544"/>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3" fill="hold" nodeType="clickEffect">
                                  <p:stCondLst>
                                    <p:cond delay="0"/>
                                  </p:stCondLst>
                                  <p:childTnLst>
                                    <p:set>
                                      <p:cBhvr>
                                        <p:cTn id="55" dur="1" fill="hold">
                                          <p:stCondLst>
                                            <p:cond delay="0"/>
                                          </p:stCondLst>
                                        </p:cTn>
                                        <p:tgtEl>
                                          <p:spTgt spid="97556"/>
                                        </p:tgtEl>
                                        <p:attrNameLst>
                                          <p:attrName>style.visibility</p:attrName>
                                        </p:attrNameLst>
                                      </p:cBhvr>
                                      <p:to>
                                        <p:strVal val="visible"/>
                                      </p:to>
                                    </p:set>
                                    <p:animEffect transition="in" filter="strips(upRight)">
                                      <p:cBhvr>
                                        <p:cTn id="56" dur="500"/>
                                        <p:tgtEl>
                                          <p:spTgt spid="9755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97548"/>
                                        </p:tgtEl>
                                        <p:attrNameLst>
                                          <p:attrName>style.visibility</p:attrName>
                                        </p:attrNameLst>
                                      </p:cBhvr>
                                      <p:to>
                                        <p:strVal val="visible"/>
                                      </p:to>
                                    </p:set>
                                    <p:animEffect transition="in" filter="wipe(left)">
                                      <p:cBhvr>
                                        <p:cTn id="61" dur="500"/>
                                        <p:tgtEl>
                                          <p:spTgt spid="9754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97315">
                                            <p:txEl>
                                              <p:pRg st="8" end="8"/>
                                            </p:txEl>
                                          </p:spTgt>
                                        </p:tgtEl>
                                        <p:attrNameLst>
                                          <p:attrName>style.visibility</p:attrName>
                                        </p:attrNameLst>
                                      </p:cBhvr>
                                      <p:to>
                                        <p:strVal val="visible"/>
                                      </p:to>
                                    </p:set>
                                    <p:animEffect transition="in" filter="wipe(left)">
                                      <p:cBhvr>
                                        <p:cTn id="66" dur="500"/>
                                        <p:tgtEl>
                                          <p:spTgt spid="973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546" grpId="0"/>
      <p:bldP spid="975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algn="ctr"/>
            <a:r>
              <a:rPr lang="zh-CN" altLang="en-US" dirty="0">
                <a:solidFill>
                  <a:srgbClr val="008000"/>
                </a:solidFill>
                <a:latin typeface="黑体" panose="02010609060101010101" pitchFamily="49" charset="-122"/>
                <a:ea typeface="黑体" panose="02010609060101010101" pitchFamily="49" charset="-122"/>
              </a:rPr>
              <a:t>群体初始化</a:t>
            </a:r>
          </a:p>
        </p:txBody>
      </p:sp>
      <p:sp>
        <p:nvSpPr>
          <p:cNvPr id="178179" name="Rectangle 3"/>
          <p:cNvSpPr>
            <a:spLocks noGrp="1" noChangeArrowheads="1"/>
          </p:cNvSpPr>
          <p:nvPr>
            <p:ph type="body" idx="1"/>
          </p:nvPr>
        </p:nvSpPr>
        <p:spPr>
          <a:xfrm>
            <a:off x="839416" y="1700808"/>
            <a:ext cx="10369152" cy="4544144"/>
          </a:xfrm>
        </p:spPr>
        <p:txBody>
          <a:bodyPr/>
          <a:lstStyle/>
          <a:p>
            <a:pPr>
              <a:lnSpc>
                <a:spcPct val="150000"/>
              </a:lnSpc>
            </a:pPr>
            <a:r>
              <a:rPr lang="zh-CN" altLang="en-US" b="1" dirty="0"/>
              <a:t>一般情况下，遗传算法在群体初始化阶段采用的是</a:t>
            </a:r>
            <a:r>
              <a:rPr lang="zh-CN" altLang="en-US" b="1" dirty="0">
                <a:solidFill>
                  <a:srgbClr val="FF00FF"/>
                </a:solidFill>
              </a:rPr>
              <a:t>随机数初始化</a:t>
            </a:r>
            <a:r>
              <a:rPr lang="zh-CN" altLang="en-US" b="1" dirty="0"/>
              <a:t>方法。</a:t>
            </a:r>
          </a:p>
          <a:p>
            <a:pPr>
              <a:lnSpc>
                <a:spcPct val="150000"/>
              </a:lnSpc>
            </a:pPr>
            <a:r>
              <a:rPr lang="zh-CN" altLang="en-US" b="1" dirty="0">
                <a:latin typeface="Times New Roman" pitchFamily="18" charset="0"/>
                <a:ea typeface="宋体" pitchFamily="2" charset="-122"/>
              </a:rPr>
              <a:t>初始值最好能在解空间中均匀采样</a:t>
            </a:r>
            <a:r>
              <a:rPr lang="en-US" altLang="zh-CN" b="1" dirty="0">
                <a:latin typeface="Times New Roman" pitchFamily="18" charset="0"/>
                <a:ea typeface="宋体" pitchFamily="2" charset="-122"/>
              </a:rPr>
              <a:t>(</a:t>
            </a:r>
            <a:r>
              <a:rPr lang="zh-CN" altLang="en-US" b="1" dirty="0">
                <a:ea typeface="宋体" pitchFamily="2" charset="-122"/>
              </a:rPr>
              <a:t>收敛速度比较快</a:t>
            </a:r>
            <a:r>
              <a:rPr lang="en-US" altLang="zh-CN" b="1" dirty="0">
                <a:ea typeface="宋体" pitchFamily="2" charset="-122"/>
              </a:rPr>
              <a:t>)</a:t>
            </a:r>
            <a:r>
              <a:rPr lang="zh-CN" altLang="en-US" dirty="0">
                <a:ea typeface="宋体" pitchFamily="2" charset="-122"/>
              </a:rPr>
              <a:t>）</a:t>
            </a:r>
            <a:endParaRPr lang="zh-CN" altLang="en-US" b="1" dirty="0">
              <a:latin typeface="Times New Roman" pitchFamily="18" charset="0"/>
              <a:ea typeface="宋体" pitchFamily="2" charset="-122"/>
            </a:endParaRPr>
          </a:p>
          <a:p>
            <a:pPr>
              <a:lnSpc>
                <a:spcPct val="150000"/>
              </a:lnSpc>
            </a:pPr>
            <a:r>
              <a:rPr lang="zh-CN" altLang="en-US" b="1" dirty="0"/>
              <a:t>若初始群体已经是一定程度上的优良群体的话，将能够有效提高算法找到全局最优解的能力。 </a:t>
            </a:r>
          </a:p>
        </p:txBody>
      </p:sp>
      <p:sp>
        <p:nvSpPr>
          <p:cNvPr id="178180" name="Rectangle 4"/>
          <p:cNvSpPr>
            <a:spLocks noChangeArrowheads="1"/>
          </p:cNvSpPr>
          <p:nvPr/>
        </p:nvSpPr>
        <p:spPr bwMode="auto">
          <a:xfrm>
            <a:off x="1847850" y="260351"/>
            <a:ext cx="8534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txBody>
          <a:bodyPr anchor="ctr"/>
          <a:lstStyle>
            <a:lvl1pPr>
              <a:defRPr sz="3200" b="1">
                <a:solidFill>
                  <a:schemeClr val="tx1"/>
                </a:solidFill>
                <a:latin typeface="Arial" panose="020B0604020202020204" pitchFamily="34" charset="0"/>
                <a:ea typeface="宋体" panose="02010600030101010101" pitchFamily="2" charset="-122"/>
              </a:defRPr>
            </a:lvl1pPr>
            <a:lvl2pPr>
              <a:defRPr sz="3200" b="1">
                <a:solidFill>
                  <a:schemeClr val="tx1"/>
                </a:solidFill>
                <a:latin typeface="Arial" panose="020B0604020202020204" pitchFamily="34" charset="0"/>
                <a:ea typeface="宋体" panose="02010600030101010101" pitchFamily="2" charset="-122"/>
              </a:defRPr>
            </a:lvl2pPr>
            <a:lvl3pPr>
              <a:defRPr sz="3200" b="1">
                <a:solidFill>
                  <a:schemeClr val="tx1"/>
                </a:solidFill>
                <a:latin typeface="Arial" panose="020B0604020202020204" pitchFamily="34" charset="0"/>
                <a:ea typeface="宋体" panose="02010600030101010101" pitchFamily="2" charset="-122"/>
              </a:defRPr>
            </a:lvl3pPr>
            <a:lvl4pPr>
              <a:defRPr sz="3200" b="1">
                <a:solidFill>
                  <a:schemeClr val="tx1"/>
                </a:solidFill>
                <a:latin typeface="Arial" panose="020B0604020202020204" pitchFamily="34" charset="0"/>
                <a:ea typeface="宋体" panose="02010600030101010101" pitchFamily="2" charset="-122"/>
              </a:defRPr>
            </a:lvl4pPr>
            <a:lvl5pPr>
              <a:defRPr sz="3200" b="1">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endParaRPr lang="zh-CN" altLang="en-US" sz="3800" dirty="0"/>
          </a:p>
        </p:txBody>
      </p:sp>
      <p:sp>
        <p:nvSpPr>
          <p:cNvPr id="2" name="灯片编号占位符 1">
            <a:extLst>
              <a:ext uri="{FF2B5EF4-FFF2-40B4-BE49-F238E27FC236}">
                <a16:creationId xmlns:a16="http://schemas.microsoft.com/office/drawing/2014/main" id="{CDF8033E-3A12-5898-F21C-6C67CDA0B612}"/>
              </a:ext>
            </a:extLst>
          </p:cNvPr>
          <p:cNvSpPr>
            <a:spLocks noGrp="1"/>
          </p:cNvSpPr>
          <p:nvPr>
            <p:ph type="sldNum" sz="quarter" idx="11"/>
          </p:nvPr>
        </p:nvSpPr>
        <p:spPr/>
        <p:txBody>
          <a:bodyPr/>
          <a:lstStyle/>
          <a:p>
            <a:pPr>
              <a:defRPr/>
            </a:pPr>
            <a:fld id="{E0FB5469-1AEB-496D-971A-66705BF2F73C}" type="slidenum">
              <a:rPr lang="en-US" altLang="zh-CN" smtClean="0"/>
              <a:pPr>
                <a:defRPr/>
              </a:pPr>
              <a:t>9</a:t>
            </a:fld>
            <a:endParaRPr lang="en-US" altLang="zh-CN"/>
          </a:p>
        </p:txBody>
      </p:sp>
    </p:spTree>
    <p:extLst>
      <p:ext uri="{BB962C8B-B14F-4D97-AF65-F5344CB8AC3E}">
        <p14:creationId xmlns:p14="http://schemas.microsoft.com/office/powerpoint/2010/main" val="250950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Effect transition="in" filter="wipe(left)">
                                      <p:cBhvr>
                                        <p:cTn id="7" dur="500"/>
                                        <p:tgtEl>
                                          <p:spTgt spid="178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8179">
                                            <p:txEl>
                                              <p:pRg st="1" end="1"/>
                                            </p:txEl>
                                          </p:spTgt>
                                        </p:tgtEl>
                                        <p:attrNameLst>
                                          <p:attrName>style.visibility</p:attrName>
                                        </p:attrNameLst>
                                      </p:cBhvr>
                                      <p:to>
                                        <p:strVal val="visible"/>
                                      </p:to>
                                    </p:set>
                                    <p:animEffect transition="in" filter="wipe(left)">
                                      <p:cBhvr>
                                        <p:cTn id="12" dur="500"/>
                                        <p:tgtEl>
                                          <p:spTgt spid="178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8179">
                                            <p:txEl>
                                              <p:pRg st="2" end="2"/>
                                            </p:txEl>
                                          </p:spTgt>
                                        </p:tgtEl>
                                        <p:attrNameLst>
                                          <p:attrName>style.visibility</p:attrName>
                                        </p:attrNameLst>
                                      </p:cBhvr>
                                      <p:to>
                                        <p:strVal val="visible"/>
                                      </p:to>
                                    </p:set>
                                    <p:animEffect transition="in" filter="wipe(left)">
                                      <p:cBhvr>
                                        <p:cTn id="17" dur="500"/>
                                        <p:tgtEl>
                                          <p:spTgt spid="1781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1981200" y="18864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适应值评价</a:t>
            </a:r>
          </a:p>
        </p:txBody>
      </p:sp>
      <p:sp>
        <p:nvSpPr>
          <p:cNvPr id="179203" name="Rectangle 3"/>
          <p:cNvSpPr>
            <a:spLocks noGrp="1" noChangeArrowheads="1"/>
          </p:cNvSpPr>
          <p:nvPr>
            <p:ph type="body" idx="1"/>
          </p:nvPr>
        </p:nvSpPr>
        <p:spPr>
          <a:xfrm>
            <a:off x="1343472" y="1916832"/>
            <a:ext cx="9865096" cy="4941168"/>
          </a:xfrm>
        </p:spPr>
        <p:txBody>
          <a:bodyPr/>
          <a:lstStyle/>
          <a:p>
            <a:pPr>
              <a:lnSpc>
                <a:spcPct val="150000"/>
              </a:lnSpc>
            </a:pPr>
            <a:r>
              <a:rPr lang="zh-CN" altLang="en-US" b="1" dirty="0">
                <a:solidFill>
                  <a:srgbClr val="FF00FF"/>
                </a:solidFill>
              </a:rPr>
              <a:t>评估函数</a:t>
            </a:r>
            <a:r>
              <a:rPr lang="zh-CN" altLang="en-US" b="1" dirty="0"/>
              <a:t>用于评估各个染色体的适应值，进而区分优劣。</a:t>
            </a:r>
            <a:endParaRPr lang="en-US" altLang="zh-CN" b="1" dirty="0"/>
          </a:p>
          <a:p>
            <a:pPr>
              <a:lnSpc>
                <a:spcPct val="150000"/>
              </a:lnSpc>
            </a:pPr>
            <a:r>
              <a:rPr lang="zh-CN" altLang="en-US" b="1" dirty="0">
                <a:solidFill>
                  <a:srgbClr val="FF00FF"/>
                </a:solidFill>
              </a:rPr>
              <a:t>评估函数</a:t>
            </a:r>
            <a:r>
              <a:rPr lang="zh-CN" altLang="en-US" b="1" dirty="0"/>
              <a:t>常常根据问题的优化目标来确定，比如在求解函数优化问题时，</a:t>
            </a:r>
            <a:r>
              <a:rPr lang="zh-CN" altLang="en-US" b="1" dirty="0">
                <a:solidFill>
                  <a:srgbClr val="3333FF"/>
                </a:solidFill>
              </a:rPr>
              <a:t>问题定义的目标函数</a:t>
            </a:r>
            <a:r>
              <a:rPr lang="zh-CN" altLang="en-US" b="1" dirty="0"/>
              <a:t>可以作为</a:t>
            </a:r>
            <a:r>
              <a:rPr lang="zh-CN" altLang="en-US" b="1" dirty="0">
                <a:solidFill>
                  <a:srgbClr val="FF00FF"/>
                </a:solidFill>
              </a:rPr>
              <a:t>评估函数</a:t>
            </a:r>
            <a:r>
              <a:rPr lang="zh-CN" altLang="en-US" b="1" dirty="0"/>
              <a:t>的原型。</a:t>
            </a:r>
          </a:p>
        </p:txBody>
      </p:sp>
      <p:sp>
        <p:nvSpPr>
          <p:cNvPr id="179205" name="Rectangle 5"/>
          <p:cNvSpPr>
            <a:spLocks noChangeArrowheads="1"/>
          </p:cNvSpPr>
          <p:nvPr/>
        </p:nvSpPr>
        <p:spPr bwMode="auto">
          <a:xfrm>
            <a:off x="1919288" y="260351"/>
            <a:ext cx="8534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txBody>
          <a:bodyPr anchor="ctr"/>
          <a:lstStyle>
            <a:lvl1pPr>
              <a:defRPr sz="3200" b="1">
                <a:solidFill>
                  <a:schemeClr val="tx1"/>
                </a:solidFill>
                <a:latin typeface="Arial" panose="020B0604020202020204" pitchFamily="34" charset="0"/>
                <a:ea typeface="宋体" panose="02010600030101010101" pitchFamily="2" charset="-122"/>
              </a:defRPr>
            </a:lvl1pPr>
            <a:lvl2pPr>
              <a:defRPr sz="3200" b="1">
                <a:solidFill>
                  <a:schemeClr val="tx1"/>
                </a:solidFill>
                <a:latin typeface="Arial" panose="020B0604020202020204" pitchFamily="34" charset="0"/>
                <a:ea typeface="宋体" panose="02010600030101010101" pitchFamily="2" charset="-122"/>
              </a:defRPr>
            </a:lvl2pPr>
            <a:lvl3pPr>
              <a:defRPr sz="3200" b="1">
                <a:solidFill>
                  <a:schemeClr val="tx1"/>
                </a:solidFill>
                <a:latin typeface="Arial" panose="020B0604020202020204" pitchFamily="34" charset="0"/>
                <a:ea typeface="宋体" panose="02010600030101010101" pitchFamily="2" charset="-122"/>
              </a:defRPr>
            </a:lvl3pPr>
            <a:lvl4pPr>
              <a:defRPr sz="3200" b="1">
                <a:solidFill>
                  <a:schemeClr val="tx1"/>
                </a:solidFill>
                <a:latin typeface="Arial" panose="020B0604020202020204" pitchFamily="34" charset="0"/>
                <a:ea typeface="宋体" panose="02010600030101010101" pitchFamily="2" charset="-122"/>
              </a:defRPr>
            </a:lvl4pPr>
            <a:lvl5pPr>
              <a:defRPr sz="3200" b="1">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algn="ctr"/>
            <a:endParaRPr lang="zh-CN" altLang="en-US" sz="3800" dirty="0"/>
          </a:p>
        </p:txBody>
      </p:sp>
      <p:sp>
        <p:nvSpPr>
          <p:cNvPr id="2" name="灯片编号占位符 1">
            <a:extLst>
              <a:ext uri="{FF2B5EF4-FFF2-40B4-BE49-F238E27FC236}">
                <a16:creationId xmlns:a16="http://schemas.microsoft.com/office/drawing/2014/main" id="{9D830210-082A-D626-FE30-98E0885BC76F}"/>
              </a:ext>
            </a:extLst>
          </p:cNvPr>
          <p:cNvSpPr>
            <a:spLocks noGrp="1"/>
          </p:cNvSpPr>
          <p:nvPr>
            <p:ph type="sldNum" sz="quarter" idx="11"/>
          </p:nvPr>
        </p:nvSpPr>
        <p:spPr/>
        <p:txBody>
          <a:bodyPr/>
          <a:lstStyle/>
          <a:p>
            <a:pPr>
              <a:defRPr/>
            </a:pPr>
            <a:fld id="{E0FB5469-1AEB-496D-971A-66705BF2F73C}" type="slidenum">
              <a:rPr lang="en-US" altLang="zh-CN" smtClean="0"/>
              <a:pPr>
                <a:defRPr/>
              </a:pPr>
              <a:t>10</a:t>
            </a:fld>
            <a:endParaRPr lang="en-US" altLang="zh-CN"/>
          </a:p>
        </p:txBody>
      </p:sp>
    </p:spTree>
    <p:extLst>
      <p:ext uri="{BB962C8B-B14F-4D97-AF65-F5344CB8AC3E}">
        <p14:creationId xmlns:p14="http://schemas.microsoft.com/office/powerpoint/2010/main" val="75887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Effect transition="in" filter="wipe(left)">
                                      <p:cBhvr>
                                        <p:cTn id="7" dur="500"/>
                                        <p:tgtEl>
                                          <p:spTgt spid="179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9203">
                                            <p:txEl>
                                              <p:pRg st="1" end="1"/>
                                            </p:txEl>
                                          </p:spTgt>
                                        </p:tgtEl>
                                        <p:attrNameLst>
                                          <p:attrName>style.visibility</p:attrName>
                                        </p:attrNameLst>
                                      </p:cBhvr>
                                      <p:to>
                                        <p:strVal val="visible"/>
                                      </p:to>
                                    </p:set>
                                    <p:animEffect transition="in" filter="wipe(left)">
                                      <p:cBhvr>
                                        <p:cTn id="12" dur="500"/>
                                        <p:tgtEl>
                                          <p:spTgt spid="1792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828800" y="417166"/>
            <a:ext cx="9144000" cy="563563"/>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选择算子</a:t>
            </a:r>
            <a:endParaRPr lang="en-US" altLang="zh-CN" dirty="0">
              <a:solidFill>
                <a:srgbClr val="008000"/>
              </a:solidFill>
              <a:latin typeface="黑体" panose="02010609060101010101" pitchFamily="49" charset="-122"/>
              <a:ea typeface="黑体" panose="02010609060101010101" pitchFamily="49" charset="-122"/>
            </a:endParaRPr>
          </a:p>
        </p:txBody>
      </p:sp>
      <p:sp>
        <p:nvSpPr>
          <p:cNvPr id="98404" name="AutoShape 100"/>
          <p:cNvSpPr>
            <a:spLocks noChangeArrowheads="1"/>
          </p:cNvSpPr>
          <p:nvPr/>
        </p:nvSpPr>
        <p:spPr bwMode="gray">
          <a:xfrm>
            <a:off x="6397674" y="1434601"/>
            <a:ext cx="5314950" cy="519113"/>
          </a:xfrm>
          <a:prstGeom prst="roundRect">
            <a:avLst>
              <a:gd name="adj" fmla="val 50000"/>
            </a:avLst>
          </a:prstGeom>
          <a:gradFill rotWithShape="1">
            <a:gsLst>
              <a:gs pos="0">
                <a:srgbClr val="268CD2"/>
              </a:gs>
              <a:gs pos="50000">
                <a:srgbClr val="268CD2">
                  <a:gamma/>
                  <a:tint val="64314"/>
                  <a:invGamma/>
                </a:srgbClr>
              </a:gs>
              <a:gs pos="100000">
                <a:srgbClr val="268CD2"/>
              </a:gs>
            </a:gsLst>
            <a:lin ang="0" scaled="1"/>
          </a:gradFill>
          <a:ln w="38100" algn="ctr">
            <a:solidFill>
              <a:srgbClr val="FFFFFF"/>
            </a:solidFill>
            <a:round/>
            <a:headEnd/>
            <a:tailEnd/>
          </a:ln>
          <a:effectLst>
            <a:outerShdw dist="63500" dir="3187806" algn="ctr" rotWithShape="0">
              <a:srgbClr val="001D3A"/>
            </a:outerShdw>
          </a:effectLst>
        </p:spPr>
        <p:txBody>
          <a:bodyPr wrap="none" anchor="ctr"/>
          <a:lstStyle/>
          <a:p>
            <a:pPr algn="ctr" eaLnBrk="0" hangingPunct="0"/>
            <a:r>
              <a:rPr lang="zh-CN" altLang="en-US" sz="3200" b="1" dirty="0">
                <a:solidFill>
                  <a:srgbClr val="FFFFFF"/>
                </a:solidFill>
                <a:effectLst>
                  <a:outerShdw blurRad="38100" dist="38100" dir="2700000" algn="tl">
                    <a:srgbClr val="000000"/>
                  </a:outerShdw>
                </a:effectLst>
                <a:latin typeface="黑体" panose="02010609060101010101" pitchFamily="49" charset="-122"/>
                <a:ea typeface="黑体" panose="02010609060101010101" pitchFamily="49" charset="-122"/>
              </a:rPr>
              <a:t>轮盘赌选择算法</a:t>
            </a:r>
          </a:p>
        </p:txBody>
      </p:sp>
      <p:pic>
        <p:nvPicPr>
          <p:cNvPr id="98405" name="Picture 101" descr="图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8731" y="1792889"/>
            <a:ext cx="4216343" cy="360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407" name="Rectangle 103"/>
          <p:cNvSpPr>
            <a:spLocks noChangeArrowheads="1"/>
          </p:cNvSpPr>
          <p:nvPr/>
        </p:nvSpPr>
        <p:spPr bwMode="auto">
          <a:xfrm>
            <a:off x="1524000" y="2082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98406" name="Object 102"/>
          <p:cNvGraphicFramePr>
            <a:graphicFrameLocks noChangeAspect="1"/>
          </p:cNvGraphicFramePr>
          <p:nvPr>
            <p:extLst>
              <p:ext uri="{D42A27DB-BD31-4B8C-83A1-F6EECF244321}">
                <p14:modId xmlns:p14="http://schemas.microsoft.com/office/powerpoint/2010/main" val="2347820337"/>
              </p:ext>
            </p:extLst>
          </p:nvPr>
        </p:nvGraphicFramePr>
        <p:xfrm>
          <a:off x="6511013" y="2309029"/>
          <a:ext cx="5129603" cy="4392495"/>
        </p:xfrm>
        <a:graphic>
          <a:graphicData uri="http://schemas.openxmlformats.org/presentationml/2006/ole">
            <mc:AlternateContent xmlns:mc="http://schemas.openxmlformats.org/markup-compatibility/2006">
              <mc:Choice xmlns:v="urn:schemas-microsoft-com:vml" Requires="v">
                <p:oleObj name="Visio" r:id="rId4" imgW="3526726" imgH="3004661" progId="Visio.Drawing.11">
                  <p:embed/>
                </p:oleObj>
              </mc:Choice>
              <mc:Fallback>
                <p:oleObj name="Visio" r:id="rId4" imgW="3526726" imgH="3004661" progId="Visio.Drawing.11">
                  <p:embed/>
                  <p:pic>
                    <p:nvPicPr>
                      <p:cNvPr id="98406" name="Object 1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1013" y="2309029"/>
                        <a:ext cx="5129603" cy="4392495"/>
                      </a:xfrm>
                      <a:prstGeom prst="rect">
                        <a:avLst/>
                      </a:prstGeom>
                      <a:noFill/>
                    </p:spPr>
                  </p:pic>
                </p:oleObj>
              </mc:Fallback>
            </mc:AlternateContent>
          </a:graphicData>
        </a:graphic>
      </p:graphicFrame>
      <p:sp>
        <p:nvSpPr>
          <p:cNvPr id="2" name="矩形 1"/>
          <p:cNvSpPr/>
          <p:nvPr/>
        </p:nvSpPr>
        <p:spPr>
          <a:xfrm>
            <a:off x="451965" y="5428381"/>
            <a:ext cx="5644035" cy="1384995"/>
          </a:xfrm>
          <a:prstGeom prst="rect">
            <a:avLst/>
          </a:prstGeom>
          <a:solidFill>
            <a:srgbClr val="FFE1FF"/>
          </a:solidFill>
        </p:spPr>
        <p:txBody>
          <a:bodyPr wrap="square">
            <a:spAutoFit/>
          </a:bodyPr>
          <a:lstStyle/>
          <a:p>
            <a:r>
              <a:rPr lang="zh-CN" altLang="en-US" sz="2800" b="1" dirty="0">
                <a:effectLst>
                  <a:outerShdw blurRad="38100" dist="38100" dir="2700000" algn="tl">
                    <a:srgbClr val="000000">
                      <a:alpha val="43137"/>
                    </a:srgbClr>
                  </a:outerShdw>
                </a:effectLst>
              </a:rPr>
              <a:t>各染色体所占区域大小与相应的适应值对应，适应值越大，区域面积越大，则被选中的可能性越大</a:t>
            </a:r>
            <a:r>
              <a:rPr lang="zh-CN" altLang="en-US" sz="2400" dirty="0">
                <a:effectLst>
                  <a:outerShdw blurRad="38100" dist="38100" dir="2700000" algn="tl">
                    <a:srgbClr val="000000">
                      <a:alpha val="43137"/>
                    </a:srgbClr>
                  </a:outerShdw>
                </a:effectLst>
              </a:rPr>
              <a:t>。</a:t>
            </a:r>
            <a:endParaRPr lang="en-US" altLang="zh-CN" sz="2400" dirty="0">
              <a:effectLst>
                <a:outerShdw blurRad="38100" dist="38100" dir="2700000" algn="tl">
                  <a:srgbClr val="000000">
                    <a:alpha val="43137"/>
                  </a:srgbClr>
                </a:outerShdw>
              </a:effectLst>
            </a:endParaRPr>
          </a:p>
        </p:txBody>
      </p:sp>
      <p:sp>
        <p:nvSpPr>
          <p:cNvPr id="3" name="矩形 2"/>
          <p:cNvSpPr/>
          <p:nvPr/>
        </p:nvSpPr>
        <p:spPr>
          <a:xfrm>
            <a:off x="0" y="39126"/>
            <a:ext cx="3024336" cy="1938992"/>
          </a:xfrm>
          <a:prstGeom prst="rect">
            <a:avLst/>
          </a:prstGeom>
          <a:solidFill>
            <a:schemeClr val="accent5"/>
          </a:solidFill>
        </p:spPr>
        <p:txBody>
          <a:bodyPr wrap="square">
            <a:spAutoFit/>
          </a:bodyPr>
          <a:lstStyle/>
          <a:p>
            <a:pPr marL="457200" indent="-457200">
              <a:buFont typeface="+mj-ea"/>
              <a:buAutoNum type="circleNumDbPlain"/>
            </a:pPr>
            <a:r>
              <a:rPr lang="zh-CN" altLang="en-US" sz="2400" b="1" dirty="0"/>
              <a:t>轮盘赌选择法</a:t>
            </a:r>
            <a:endParaRPr lang="en-US" altLang="zh-CN" sz="2400" b="1" dirty="0"/>
          </a:p>
          <a:p>
            <a:pPr marL="457200" indent="-457200">
              <a:buFont typeface="+mj-ea"/>
              <a:buAutoNum type="circleNumDbPlain"/>
            </a:pPr>
            <a:r>
              <a:rPr lang="zh-CN" altLang="en-US" sz="2400" b="1" dirty="0"/>
              <a:t>随机遍历抽样法</a:t>
            </a:r>
            <a:endParaRPr lang="en-US" altLang="zh-CN" sz="2400" b="1" dirty="0"/>
          </a:p>
          <a:p>
            <a:pPr marL="457200" indent="-457200">
              <a:buFont typeface="+mj-ea"/>
              <a:buAutoNum type="circleNumDbPlain"/>
            </a:pPr>
            <a:r>
              <a:rPr lang="zh-CN" altLang="en-US" sz="2400" b="1" dirty="0"/>
              <a:t>局部选择法</a:t>
            </a:r>
            <a:endParaRPr lang="en-US" altLang="zh-CN" sz="2400" b="1" dirty="0"/>
          </a:p>
          <a:p>
            <a:pPr marL="457200" indent="-457200">
              <a:buFont typeface="+mj-ea"/>
              <a:buAutoNum type="circleNumDbPlain"/>
            </a:pPr>
            <a:r>
              <a:rPr lang="zh-CN" altLang="en-US" sz="2400" b="1" dirty="0"/>
              <a:t>截断选择法</a:t>
            </a:r>
            <a:endParaRPr lang="en-US" altLang="zh-CN" sz="2400" b="1" dirty="0"/>
          </a:p>
          <a:p>
            <a:pPr marL="457200" indent="-457200">
              <a:buFont typeface="+mj-ea"/>
              <a:buAutoNum type="circleNumDbPlain"/>
            </a:pPr>
            <a:r>
              <a:rPr lang="zh-CN" altLang="en-US" sz="2400" b="1" dirty="0"/>
              <a:t>锦标赛选择法</a:t>
            </a:r>
            <a:endParaRPr lang="zh-CN" altLang="en-US" sz="2400" dirty="0"/>
          </a:p>
        </p:txBody>
      </p:sp>
      <p:sp>
        <p:nvSpPr>
          <p:cNvPr id="4" name="灯片编号占位符 3">
            <a:extLst>
              <a:ext uri="{FF2B5EF4-FFF2-40B4-BE49-F238E27FC236}">
                <a16:creationId xmlns:a16="http://schemas.microsoft.com/office/drawing/2014/main" id="{EE10D46C-23BC-C94D-11DE-65B0A0BDD026}"/>
              </a:ext>
            </a:extLst>
          </p:cNvPr>
          <p:cNvSpPr>
            <a:spLocks noGrp="1"/>
          </p:cNvSpPr>
          <p:nvPr>
            <p:ph type="sldNum" sz="quarter" idx="11"/>
          </p:nvPr>
        </p:nvSpPr>
        <p:spPr>
          <a:xfrm>
            <a:off x="9261453" y="6303293"/>
            <a:ext cx="2844800" cy="457200"/>
          </a:xfrm>
        </p:spPr>
        <p:txBody>
          <a:bodyPr/>
          <a:lstStyle/>
          <a:p>
            <a:pPr>
              <a:defRPr/>
            </a:pPr>
            <a:fld id="{E0FB5469-1AEB-496D-971A-66705BF2F73C}" type="slidenum">
              <a:rPr lang="en-US" altLang="zh-CN" smtClean="0"/>
              <a:pPr>
                <a:defRPr/>
              </a:pPr>
              <a:t>11</a:t>
            </a:fld>
            <a:endParaRPr lang="en-US" altLang="zh-CN"/>
          </a:p>
        </p:txBody>
      </p:sp>
      <p:graphicFrame>
        <p:nvGraphicFramePr>
          <p:cNvPr id="5" name="表格 4">
            <a:extLst>
              <a:ext uri="{FF2B5EF4-FFF2-40B4-BE49-F238E27FC236}">
                <a16:creationId xmlns:a16="http://schemas.microsoft.com/office/drawing/2014/main" id="{FE945D5E-E60F-CA58-7599-4F84E2173A1D}"/>
              </a:ext>
            </a:extLst>
          </p:cNvPr>
          <p:cNvGraphicFramePr>
            <a:graphicFrameLocks noGrp="1"/>
          </p:cNvGraphicFramePr>
          <p:nvPr>
            <p:extLst>
              <p:ext uri="{D42A27DB-BD31-4B8C-83A1-F6EECF244321}">
                <p14:modId xmlns:p14="http://schemas.microsoft.com/office/powerpoint/2010/main" val="2852957758"/>
              </p:ext>
            </p:extLst>
          </p:nvPr>
        </p:nvGraphicFramePr>
        <p:xfrm>
          <a:off x="1" y="2917364"/>
          <a:ext cx="2063551" cy="1938990"/>
        </p:xfrm>
        <a:graphic>
          <a:graphicData uri="http://schemas.openxmlformats.org/drawingml/2006/table">
            <a:tbl>
              <a:tblPr firstRow="1" bandRow="1">
                <a:tableStyleId>{2D5ABB26-0587-4C30-8999-92F81FD0307C}</a:tableStyleId>
              </a:tblPr>
              <a:tblGrid>
                <a:gridCol w="873597">
                  <a:extLst>
                    <a:ext uri="{9D8B030D-6E8A-4147-A177-3AD203B41FA5}">
                      <a16:colId xmlns:a16="http://schemas.microsoft.com/office/drawing/2014/main" val="1813246438"/>
                    </a:ext>
                  </a:extLst>
                </a:gridCol>
                <a:gridCol w="1189954">
                  <a:extLst>
                    <a:ext uri="{9D8B030D-6E8A-4147-A177-3AD203B41FA5}">
                      <a16:colId xmlns:a16="http://schemas.microsoft.com/office/drawing/2014/main" val="3209354654"/>
                    </a:ext>
                  </a:extLst>
                </a:gridCol>
              </a:tblGrid>
              <a:tr h="387798">
                <a:tc>
                  <a:txBody>
                    <a:bodyPr/>
                    <a:lstStyle/>
                    <a:p>
                      <a:pPr algn="ctr">
                        <a:lnSpc>
                          <a:spcPct val="80000"/>
                        </a:lnSpc>
                      </a:pPr>
                      <a:r>
                        <a:rPr lang="zh-CN" altLang="en-US" sz="1800" b="1" baseline="0" dirty="0">
                          <a:latin typeface="Times New Roman" panose="02020603050405020304" pitchFamily="18" charset="0"/>
                          <a:cs typeface="Times New Roman" panose="02020603050405020304" pitchFamily="18" charset="0"/>
                        </a:rPr>
                        <a:t>染色体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tc>
                  <a:txBody>
                    <a:bodyPr/>
                    <a:lstStyle/>
                    <a:p>
                      <a:pPr algn="ctr">
                        <a:lnSpc>
                          <a:spcPct val="80000"/>
                        </a:lnSpc>
                      </a:pPr>
                      <a:r>
                        <a:rPr lang="zh-CN" altLang="en-US" sz="1800" b="1" dirty="0">
                          <a:latin typeface="Times New Roman" panose="02020603050405020304" pitchFamily="18" charset="0"/>
                          <a:cs typeface="Times New Roman" panose="02020603050405020304" pitchFamily="18" charset="0"/>
                        </a:rPr>
                        <a:t>累计概率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extLst>
                  <a:ext uri="{0D108BD9-81ED-4DB2-BD59-A6C34878D82A}">
                    <a16:rowId xmlns:a16="http://schemas.microsoft.com/office/drawing/2014/main" val="2530137650"/>
                  </a:ext>
                </a:extLst>
              </a:tr>
              <a:tr h="387798">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1</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0.21</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extLst>
                  <a:ext uri="{0D108BD9-81ED-4DB2-BD59-A6C34878D82A}">
                    <a16:rowId xmlns:a16="http://schemas.microsoft.com/office/drawing/2014/main" val="469437292"/>
                  </a:ext>
                </a:extLst>
              </a:tr>
              <a:tr h="387798">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3</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0.27</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extLst>
                  <a:ext uri="{0D108BD9-81ED-4DB2-BD59-A6C34878D82A}">
                    <a16:rowId xmlns:a16="http://schemas.microsoft.com/office/drawing/2014/main" val="2282485105"/>
                  </a:ext>
                </a:extLst>
              </a:tr>
              <a:tr h="387798">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4</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0.67</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extLst>
                  <a:ext uri="{0D108BD9-81ED-4DB2-BD59-A6C34878D82A}">
                    <a16:rowId xmlns:a16="http://schemas.microsoft.com/office/drawing/2014/main" val="4083735626"/>
                  </a:ext>
                </a:extLst>
              </a:tr>
              <a:tr h="387798">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5</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1.00</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66"/>
                    </a:solidFill>
                  </a:tcPr>
                </a:tc>
                <a:extLst>
                  <a:ext uri="{0D108BD9-81ED-4DB2-BD59-A6C34878D82A}">
                    <a16:rowId xmlns:a16="http://schemas.microsoft.com/office/drawing/2014/main" val="3518084462"/>
                  </a:ext>
                </a:extLst>
              </a:tr>
            </a:tbl>
          </a:graphicData>
        </a:graphic>
      </p:graphicFrame>
    </p:spTree>
    <p:extLst>
      <p:ext uri="{BB962C8B-B14F-4D97-AF65-F5344CB8AC3E}">
        <p14:creationId xmlns:p14="http://schemas.microsoft.com/office/powerpoint/2010/main" val="9687328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98404"/>
                                        </p:tgtEl>
                                        <p:attrNameLst>
                                          <p:attrName>style.visibility</p:attrName>
                                        </p:attrNameLst>
                                      </p:cBhvr>
                                      <p:to>
                                        <p:strVal val="visible"/>
                                      </p:to>
                                    </p:set>
                                    <p:animEffect transition="in" filter="blinds(horizontal)">
                                      <p:cBhvr>
                                        <p:cTn id="14" dur="500"/>
                                        <p:tgtEl>
                                          <p:spTgt spid="9840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1" presetClass="entr" presetSubtype="1" fill="hold" nodeType="clickEffect">
                                  <p:stCondLst>
                                    <p:cond delay="0"/>
                                  </p:stCondLst>
                                  <p:childTnLst>
                                    <p:set>
                                      <p:cBhvr>
                                        <p:cTn id="18" dur="1" fill="hold">
                                          <p:stCondLst>
                                            <p:cond delay="0"/>
                                          </p:stCondLst>
                                        </p:cTn>
                                        <p:tgtEl>
                                          <p:spTgt spid="98405"/>
                                        </p:tgtEl>
                                        <p:attrNameLst>
                                          <p:attrName>style.visibility</p:attrName>
                                        </p:attrNameLst>
                                      </p:cBhvr>
                                      <p:to>
                                        <p:strVal val="visible"/>
                                      </p:to>
                                    </p:set>
                                    <p:animEffect transition="in" filter="wheel(1)">
                                      <p:cBhvr>
                                        <p:cTn id="19" dur="2000"/>
                                        <p:tgtEl>
                                          <p:spTgt spid="98405"/>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98406"/>
                                        </p:tgtEl>
                                        <p:attrNameLst>
                                          <p:attrName>style.visibility</p:attrName>
                                        </p:attrNameLst>
                                      </p:cBhvr>
                                      <p:to>
                                        <p:strVal val="visible"/>
                                      </p:to>
                                    </p:set>
                                    <p:animEffect transition="in" filter="blinds(horizontal)">
                                      <p:cBhvr>
                                        <p:cTn id="24" dur="500"/>
                                        <p:tgtEl>
                                          <p:spTgt spid="9840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42"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arn(outHorizontal)">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4" grpId="0" animBg="1"/>
      <p:bldP spid="2"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1703512" y="620689"/>
            <a:ext cx="9144000" cy="563563"/>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交叉算子</a:t>
            </a:r>
            <a:r>
              <a:rPr lang="en-US" altLang="zh-CN" dirty="0">
                <a:solidFill>
                  <a:srgbClr val="008000"/>
                </a:solidFill>
                <a:latin typeface="黑体" panose="02010609060101010101" pitchFamily="49" charset="-122"/>
                <a:ea typeface="黑体" panose="02010609060101010101" pitchFamily="49" charset="-122"/>
              </a:rPr>
              <a:t>(</a:t>
            </a:r>
            <a:r>
              <a:rPr lang="zh-CN" altLang="en-US" dirty="0">
                <a:solidFill>
                  <a:srgbClr val="008000"/>
                </a:solidFill>
                <a:latin typeface="黑体" panose="02010609060101010101" pitchFamily="49" charset="-122"/>
                <a:ea typeface="黑体" panose="02010609060101010101" pitchFamily="49" charset="-122"/>
              </a:rPr>
              <a:t>基因重组</a:t>
            </a:r>
            <a:r>
              <a:rPr lang="en-US" altLang="zh-CN" dirty="0">
                <a:solidFill>
                  <a:srgbClr val="008000"/>
                </a:solidFill>
                <a:latin typeface="黑体" panose="02010609060101010101" pitchFamily="49" charset="-122"/>
                <a:ea typeface="黑体" panose="02010609060101010101" pitchFamily="49" charset="-122"/>
              </a:rPr>
              <a:t>)</a:t>
            </a:r>
            <a:endParaRPr lang="zh-CN" altLang="en-US" dirty="0">
              <a:solidFill>
                <a:srgbClr val="008000"/>
              </a:solidFill>
              <a:latin typeface="黑体" panose="02010609060101010101" pitchFamily="49" charset="-122"/>
              <a:ea typeface="黑体" panose="02010609060101010101" pitchFamily="49" charset="-122"/>
            </a:endParaRPr>
          </a:p>
        </p:txBody>
      </p:sp>
      <p:sp>
        <p:nvSpPr>
          <p:cNvPr id="99384" name="Rectangle 56"/>
          <p:cNvSpPr>
            <a:spLocks noGrp="1" noChangeArrowheads="1"/>
          </p:cNvSpPr>
          <p:nvPr>
            <p:ph type="body" idx="1"/>
          </p:nvPr>
        </p:nvSpPr>
        <p:spPr>
          <a:xfrm>
            <a:off x="1271464" y="1412776"/>
            <a:ext cx="10009112" cy="5112568"/>
          </a:xfrm>
          <a:noFill/>
          <a:ln/>
        </p:spPr>
        <p:txBody>
          <a:bodyPr/>
          <a:lstStyle/>
          <a:p>
            <a:r>
              <a:rPr lang="zh-CN" altLang="en-US" b="1" dirty="0">
                <a:ea typeface="宋体" pitchFamily="2" charset="-122"/>
              </a:rPr>
              <a:t>交叉算子是遗传算法获取新的优良个体的最重要的手段，决定了遗传算法的全局搜索能力。</a:t>
            </a:r>
          </a:p>
          <a:p>
            <a:r>
              <a:rPr lang="en-US" altLang="zh-CN" sz="2800" dirty="0">
                <a:solidFill>
                  <a:srgbClr val="3333FF"/>
                </a:solidFill>
                <a:ea typeface="黑体" panose="02010609060101010101" pitchFamily="49" charset="-122"/>
              </a:rPr>
              <a:t>If  </a:t>
            </a:r>
            <a:r>
              <a:rPr lang="en-US" altLang="zh-CN" sz="2800" dirty="0">
                <a:solidFill>
                  <a:srgbClr val="FF0000"/>
                </a:solidFill>
                <a:ea typeface="黑体" panose="02010609060101010101" pitchFamily="49" charset="-122"/>
              </a:rPr>
              <a:t>Random(0,1)&lt; </a:t>
            </a:r>
            <a:r>
              <a:rPr lang="zh-CN" altLang="en-US" sz="2800" dirty="0">
                <a:solidFill>
                  <a:srgbClr val="008000"/>
                </a:solidFill>
                <a:ea typeface="黑体" panose="02010609060101010101" pitchFamily="49" charset="-122"/>
              </a:rPr>
              <a:t>交叉概率</a:t>
            </a:r>
            <a:r>
              <a:rPr lang="en-US" altLang="zh-CN" sz="2800" i="1" dirty="0">
                <a:solidFill>
                  <a:srgbClr val="008000"/>
                </a:solidFill>
                <a:ea typeface="黑体" panose="02010609060101010101" pitchFamily="49" charset="-122"/>
              </a:rPr>
              <a:t>P</a:t>
            </a:r>
            <a:r>
              <a:rPr lang="en-US" altLang="zh-CN" sz="2800" i="1" baseline="-25000" dirty="0">
                <a:solidFill>
                  <a:srgbClr val="008000"/>
                </a:solidFill>
                <a:ea typeface="黑体" panose="02010609060101010101" pitchFamily="49" charset="-122"/>
              </a:rPr>
              <a:t>c</a:t>
            </a:r>
            <a:r>
              <a:rPr lang="en-US" altLang="zh-CN" sz="2800" i="1" dirty="0">
                <a:solidFill>
                  <a:srgbClr val="008000"/>
                </a:solidFill>
                <a:ea typeface="黑体" panose="02010609060101010101" pitchFamily="49" charset="-122"/>
              </a:rPr>
              <a:t> </a:t>
            </a:r>
            <a:r>
              <a:rPr lang="en-US" altLang="zh-CN" sz="2800" i="1" dirty="0">
                <a:solidFill>
                  <a:srgbClr val="FF0000"/>
                </a:solidFill>
                <a:ea typeface="黑体" panose="02010609060101010101" pitchFamily="49" charset="-122"/>
              </a:rPr>
              <a:t>   </a:t>
            </a:r>
            <a:r>
              <a:rPr lang="zh-CN" altLang="en-US" sz="2800" dirty="0">
                <a:solidFill>
                  <a:srgbClr val="008000"/>
                </a:solidFill>
                <a:ea typeface="黑体" panose="02010609060101010101" pitchFamily="49" charset="-122"/>
              </a:rPr>
              <a:t>（ </a:t>
            </a:r>
            <a:r>
              <a:rPr lang="en-US" altLang="zh-CN" sz="2800" dirty="0">
                <a:solidFill>
                  <a:srgbClr val="008000"/>
                </a:solidFill>
                <a:ea typeface="黑体" panose="02010609060101010101" pitchFamily="49" charset="-122"/>
              </a:rPr>
              <a:t>0.4~0.99</a:t>
            </a:r>
            <a:r>
              <a:rPr lang="zh-CN" altLang="en-US" sz="2800" dirty="0">
                <a:solidFill>
                  <a:srgbClr val="008000"/>
                </a:solidFill>
                <a:ea typeface="黑体" panose="02010609060101010101" pitchFamily="49" charset="-122"/>
              </a:rPr>
              <a:t>）</a:t>
            </a:r>
            <a:endParaRPr lang="en-US" altLang="zh-CN" sz="2800" dirty="0">
              <a:solidFill>
                <a:srgbClr val="008000"/>
              </a:solidFill>
              <a:ea typeface="黑体" panose="02010609060101010101" pitchFamily="49" charset="-122"/>
            </a:endParaRPr>
          </a:p>
          <a:p>
            <a:pPr marL="0" indent="0">
              <a:buNone/>
            </a:pPr>
            <a:r>
              <a:rPr lang="zh-CN" altLang="en-US" sz="2800" dirty="0">
                <a:solidFill>
                  <a:srgbClr val="FF0000"/>
                </a:solidFill>
                <a:ea typeface="黑体" panose="02010609060101010101" pitchFamily="49" charset="-122"/>
              </a:rPr>
              <a:t>       被选中的染色体进行交叉操作</a:t>
            </a:r>
            <a:endParaRPr lang="en-US" altLang="zh-CN" sz="2800" dirty="0">
              <a:solidFill>
                <a:srgbClr val="FF0000"/>
              </a:solidFill>
              <a:ea typeface="黑体" panose="02010609060101010101" pitchFamily="49" charset="-122"/>
            </a:endParaRPr>
          </a:p>
          <a:p>
            <a:pPr marL="0" indent="0">
              <a:buNone/>
            </a:pPr>
            <a:r>
              <a:rPr lang="zh-CN" altLang="en-US" sz="2800" dirty="0">
                <a:solidFill>
                  <a:srgbClr val="FF0000"/>
                </a:solidFill>
                <a:ea typeface="黑体" panose="02010609060101010101" pitchFamily="49" charset="-122"/>
              </a:rPr>
              <a:t>   </a:t>
            </a:r>
            <a:r>
              <a:rPr lang="en-US" altLang="zh-CN" sz="2800" dirty="0">
                <a:solidFill>
                  <a:srgbClr val="3333FF"/>
                </a:solidFill>
                <a:ea typeface="黑体" panose="02010609060101010101" pitchFamily="49" charset="-122"/>
              </a:rPr>
              <a:t>else</a:t>
            </a:r>
            <a:r>
              <a:rPr lang="en-US" altLang="zh-CN" sz="2800" dirty="0">
                <a:solidFill>
                  <a:srgbClr val="FF0000"/>
                </a:solidFill>
                <a:ea typeface="黑体" panose="02010609060101010101" pitchFamily="49" charset="-122"/>
              </a:rPr>
              <a:t> </a:t>
            </a:r>
            <a:r>
              <a:rPr lang="zh-CN" altLang="en-US" sz="2800" dirty="0">
                <a:solidFill>
                  <a:srgbClr val="FF0000"/>
                </a:solidFill>
                <a:ea typeface="黑体" panose="02010609060101010101" pitchFamily="49" charset="-122"/>
              </a:rPr>
              <a:t>   染色体直接复制到新种群中。</a:t>
            </a:r>
          </a:p>
          <a:p>
            <a:r>
              <a:rPr lang="zh-CN" altLang="en-US" sz="2800" b="1" dirty="0">
                <a:latin typeface="华文楷体" panose="02010600040101010101" pitchFamily="2" charset="-122"/>
                <a:ea typeface="华文楷体" panose="02010600040101010101" pitchFamily="2" charset="-122"/>
              </a:rPr>
              <a:t>被选择出来的每两个染色体通过随机产生的一个有效位置进行交叉，产生两个新的子代染色体</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608" y="4947493"/>
            <a:ext cx="6768752"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圆角矩形 5"/>
          <p:cNvSpPr/>
          <p:nvPr/>
        </p:nvSpPr>
        <p:spPr>
          <a:xfrm>
            <a:off x="8112224" y="5949279"/>
            <a:ext cx="1071264" cy="325104"/>
          </a:xfrm>
          <a:prstGeom prst="roundRect">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520680" y="5445223"/>
            <a:ext cx="1071264" cy="325104"/>
          </a:xfrm>
          <a:prstGeom prst="roundRect">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8121080" y="5445223"/>
            <a:ext cx="1071264" cy="325104"/>
          </a:xfrm>
          <a:prstGeom prst="roundRect">
            <a:avLst/>
          </a:prstGeom>
          <a:solidFill>
            <a:srgbClr val="FFC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4486898" y="5949279"/>
            <a:ext cx="1071264" cy="325104"/>
          </a:xfrm>
          <a:prstGeom prst="roundRect">
            <a:avLst/>
          </a:prstGeom>
          <a:solidFill>
            <a:srgbClr val="FFC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17E70627-27D5-FA0C-48CE-86F670344D82}"/>
              </a:ext>
            </a:extLst>
          </p:cNvPr>
          <p:cNvSpPr>
            <a:spLocks noGrp="1"/>
          </p:cNvSpPr>
          <p:nvPr>
            <p:ph type="sldNum" sz="quarter" idx="11"/>
          </p:nvPr>
        </p:nvSpPr>
        <p:spPr/>
        <p:txBody>
          <a:bodyPr/>
          <a:lstStyle/>
          <a:p>
            <a:pPr>
              <a:defRPr/>
            </a:pPr>
            <a:fld id="{E0FB5469-1AEB-496D-971A-66705BF2F73C}" type="slidenum">
              <a:rPr lang="en-US" altLang="zh-CN" smtClean="0"/>
              <a:pPr>
                <a:defRPr/>
              </a:pPr>
              <a:t>12</a:t>
            </a:fld>
            <a:endParaRPr lang="en-US" altLang="zh-CN"/>
          </a:p>
        </p:txBody>
      </p:sp>
    </p:spTree>
    <p:extLst>
      <p:ext uri="{BB962C8B-B14F-4D97-AF65-F5344CB8AC3E}">
        <p14:creationId xmlns:p14="http://schemas.microsoft.com/office/powerpoint/2010/main" val="286796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384">
                                            <p:txEl>
                                              <p:pRg st="0" end="0"/>
                                            </p:txEl>
                                          </p:spTgt>
                                        </p:tgtEl>
                                        <p:attrNameLst>
                                          <p:attrName>style.visibility</p:attrName>
                                        </p:attrNameLst>
                                      </p:cBhvr>
                                      <p:to>
                                        <p:strVal val="visible"/>
                                      </p:to>
                                    </p:set>
                                    <p:animEffect transition="in" filter="wipe(left)">
                                      <p:cBhvr>
                                        <p:cTn id="7" dur="500"/>
                                        <p:tgtEl>
                                          <p:spTgt spid="993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9384">
                                            <p:txEl>
                                              <p:pRg st="1" end="1"/>
                                            </p:txEl>
                                          </p:spTgt>
                                        </p:tgtEl>
                                        <p:attrNameLst>
                                          <p:attrName>style.visibility</p:attrName>
                                        </p:attrNameLst>
                                      </p:cBhvr>
                                      <p:to>
                                        <p:strVal val="visible"/>
                                      </p:to>
                                    </p:set>
                                    <p:animEffect transition="in" filter="wipe(left)">
                                      <p:cBhvr>
                                        <p:cTn id="12" dur="500"/>
                                        <p:tgtEl>
                                          <p:spTgt spid="993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9384">
                                            <p:txEl>
                                              <p:pRg st="2" end="2"/>
                                            </p:txEl>
                                          </p:spTgt>
                                        </p:tgtEl>
                                        <p:attrNameLst>
                                          <p:attrName>style.visibility</p:attrName>
                                        </p:attrNameLst>
                                      </p:cBhvr>
                                      <p:to>
                                        <p:strVal val="visible"/>
                                      </p:to>
                                    </p:set>
                                    <p:animEffect transition="in" filter="wipe(left)">
                                      <p:cBhvr>
                                        <p:cTn id="17" dur="500"/>
                                        <p:tgtEl>
                                          <p:spTgt spid="9938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9384">
                                            <p:txEl>
                                              <p:pRg st="3" end="3"/>
                                            </p:txEl>
                                          </p:spTgt>
                                        </p:tgtEl>
                                        <p:attrNameLst>
                                          <p:attrName>style.visibility</p:attrName>
                                        </p:attrNameLst>
                                      </p:cBhvr>
                                      <p:to>
                                        <p:strVal val="visible"/>
                                      </p:to>
                                    </p:set>
                                    <p:animEffect transition="in" filter="wipe(left)">
                                      <p:cBhvr>
                                        <p:cTn id="22" dur="500"/>
                                        <p:tgtEl>
                                          <p:spTgt spid="9938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9384">
                                            <p:txEl>
                                              <p:pRg st="4" end="4"/>
                                            </p:txEl>
                                          </p:spTgt>
                                        </p:tgtEl>
                                        <p:attrNameLst>
                                          <p:attrName>style.visibility</p:attrName>
                                        </p:attrNameLst>
                                      </p:cBhvr>
                                      <p:to>
                                        <p:strVal val="visible"/>
                                      </p:to>
                                    </p:set>
                                    <p:animEffect transition="in" filter="wipe(left)">
                                      <p:cBhvr>
                                        <p:cTn id="27" dur="500"/>
                                        <p:tgtEl>
                                          <p:spTgt spid="9938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p:cNvSpPr>
            <a:spLocks noGrp="1" noChangeArrowheads="1"/>
          </p:cNvSpPr>
          <p:nvPr>
            <p:ph type="body" idx="1"/>
          </p:nvPr>
        </p:nvSpPr>
        <p:spPr>
          <a:xfrm>
            <a:off x="983432" y="1346612"/>
            <a:ext cx="10441160" cy="3886200"/>
          </a:xfrm>
        </p:spPr>
        <p:txBody>
          <a:bodyPr/>
          <a:lstStyle/>
          <a:p>
            <a:r>
              <a:rPr lang="zh-CN" altLang="en-US" sz="2800" b="1" dirty="0">
                <a:ea typeface="宋体" pitchFamily="2" charset="-122"/>
              </a:rPr>
              <a:t>变异本身是一种局部随机搜索，使遗传算法具有局部的随机搜索能力；同时使得遗传算法保持种群的多样性，以防止出现非成熟收敛。</a:t>
            </a:r>
          </a:p>
          <a:p>
            <a:r>
              <a:rPr lang="zh-CN" altLang="en-US" sz="2800" b="1" dirty="0">
                <a:latin typeface="华文楷体" panose="02010600040101010101" pitchFamily="2" charset="-122"/>
                <a:ea typeface="华文楷体" panose="02010600040101010101" pitchFamily="2" charset="-122"/>
              </a:rPr>
              <a:t>染色体的变异作用于基因之上，对于交叉后新种群中染色体的每一位基因，根据</a:t>
            </a:r>
            <a:r>
              <a:rPr lang="zh-CN" altLang="en-US" sz="2800" b="1" dirty="0">
                <a:solidFill>
                  <a:srgbClr val="3333FF"/>
                </a:solidFill>
                <a:latin typeface="华文楷体" panose="02010600040101010101" pitchFamily="2" charset="-122"/>
                <a:ea typeface="华文楷体" panose="02010600040101010101" pitchFamily="2" charset="-122"/>
              </a:rPr>
              <a:t>变异概率</a:t>
            </a:r>
            <a:r>
              <a:rPr lang="en-US" altLang="zh-CN" sz="2800" b="1" i="1" dirty="0">
                <a:solidFill>
                  <a:srgbClr val="3333FF"/>
                </a:solidFill>
                <a:latin typeface="Times New Roman" panose="02020603050405020304" pitchFamily="18" charset="0"/>
                <a:ea typeface="华文楷体" panose="02010600040101010101" pitchFamily="2" charset="-122"/>
                <a:cs typeface="Times New Roman" panose="02020603050405020304" pitchFamily="18" charset="0"/>
              </a:rPr>
              <a:t>Pm</a:t>
            </a:r>
            <a:r>
              <a:rPr lang="zh-CN" altLang="en-US" sz="2800" b="1" dirty="0">
                <a:latin typeface="华文楷体" panose="02010600040101010101" pitchFamily="2" charset="-122"/>
                <a:ea typeface="华文楷体" panose="02010600040101010101" pitchFamily="2" charset="-122"/>
              </a:rPr>
              <a:t>判断该基因是否进行变异。</a:t>
            </a:r>
          </a:p>
          <a:p>
            <a:pPr marL="400050" lvl="1" indent="0">
              <a:buNone/>
            </a:pPr>
            <a:r>
              <a:rPr lang="en-US" altLang="zh-CN" dirty="0">
                <a:solidFill>
                  <a:srgbClr val="FF0000"/>
                </a:solidFill>
                <a:ea typeface="黑体" panose="02010609060101010101" pitchFamily="49" charset="-122"/>
              </a:rPr>
              <a:t>If  </a:t>
            </a:r>
            <a:r>
              <a:rPr lang="en-US" altLang="zh-CN" i="1" dirty="0">
                <a:solidFill>
                  <a:srgbClr val="FF0000"/>
                </a:solidFill>
                <a:ea typeface="黑体" panose="02010609060101010101" pitchFamily="49" charset="-122"/>
              </a:rPr>
              <a:t>Random</a:t>
            </a:r>
            <a:r>
              <a:rPr lang="en-US" altLang="zh-CN" dirty="0">
                <a:solidFill>
                  <a:srgbClr val="FF0000"/>
                </a:solidFill>
                <a:ea typeface="黑体" panose="02010609060101010101" pitchFamily="49" charset="-122"/>
              </a:rPr>
              <a:t>(0, 1)&lt;</a:t>
            </a:r>
            <a:r>
              <a:rPr lang="zh-CN" altLang="en-US" b="1" dirty="0">
                <a:solidFill>
                  <a:srgbClr val="3333FF"/>
                </a:solidFill>
                <a:latin typeface="华文楷体" panose="02010600040101010101" pitchFamily="2" charset="-122"/>
                <a:ea typeface="华文楷体" panose="02010600040101010101" pitchFamily="2" charset="-122"/>
              </a:rPr>
              <a:t>变异概率</a:t>
            </a:r>
            <a:r>
              <a:rPr lang="en-US" altLang="zh-CN" i="1" dirty="0">
                <a:solidFill>
                  <a:srgbClr val="3333FF"/>
                </a:solidFill>
                <a:ea typeface="黑体" panose="02010609060101010101" pitchFamily="49" charset="-122"/>
              </a:rPr>
              <a:t>P</a:t>
            </a:r>
            <a:r>
              <a:rPr lang="en-US" altLang="zh-CN" i="1" baseline="-25000" dirty="0">
                <a:solidFill>
                  <a:srgbClr val="3333FF"/>
                </a:solidFill>
                <a:ea typeface="黑体" panose="02010609060101010101" pitchFamily="49" charset="-122"/>
              </a:rPr>
              <a:t>m   </a:t>
            </a:r>
            <a:r>
              <a:rPr lang="zh-CN" altLang="en-US" dirty="0">
                <a:solidFill>
                  <a:srgbClr val="3333FF"/>
                </a:solidFill>
                <a:ea typeface="黑体" panose="02010609060101010101" pitchFamily="49" charset="-122"/>
              </a:rPr>
              <a:t>（ </a:t>
            </a:r>
            <a:r>
              <a:rPr lang="en-US" altLang="zh-CN" dirty="0">
                <a:solidFill>
                  <a:srgbClr val="3333FF"/>
                </a:solidFill>
                <a:ea typeface="黑体" panose="02010609060101010101" pitchFamily="49" charset="-122"/>
              </a:rPr>
              <a:t>0.001~0.1</a:t>
            </a:r>
            <a:r>
              <a:rPr lang="zh-CN" altLang="en-US" dirty="0">
                <a:solidFill>
                  <a:srgbClr val="3333FF"/>
                </a:solidFill>
                <a:ea typeface="黑体" panose="02010609060101010101" pitchFamily="49" charset="-122"/>
              </a:rPr>
              <a:t>）</a:t>
            </a:r>
            <a:endParaRPr lang="en-US" altLang="zh-CN" baseline="-25000" dirty="0">
              <a:solidFill>
                <a:srgbClr val="3333FF"/>
              </a:solidFill>
              <a:ea typeface="黑体" panose="02010609060101010101" pitchFamily="49" charset="-122"/>
            </a:endParaRPr>
          </a:p>
          <a:p>
            <a:pPr marL="400050" lvl="1" indent="0">
              <a:buNone/>
            </a:pPr>
            <a:r>
              <a:rPr lang="en-US" altLang="zh-CN" dirty="0">
                <a:solidFill>
                  <a:srgbClr val="FF0000"/>
                </a:solidFill>
                <a:ea typeface="黑体" panose="02010609060101010101" pitchFamily="49" charset="-122"/>
              </a:rPr>
              <a:t>   </a:t>
            </a:r>
            <a:r>
              <a:rPr lang="zh-CN" altLang="en-US" dirty="0">
                <a:solidFill>
                  <a:srgbClr val="FF0000"/>
                </a:solidFill>
                <a:ea typeface="黑体" panose="02010609060101010101" pitchFamily="49" charset="-122"/>
              </a:rPr>
              <a:t> 改变该基因的取值</a:t>
            </a:r>
            <a:endParaRPr lang="en-US" altLang="zh-CN" dirty="0">
              <a:solidFill>
                <a:srgbClr val="FF0000"/>
              </a:solidFill>
              <a:ea typeface="黑体" panose="02010609060101010101" pitchFamily="49" charset="-122"/>
            </a:endParaRPr>
          </a:p>
          <a:p>
            <a:pPr marL="400050" lvl="1" indent="0">
              <a:buNone/>
            </a:pPr>
            <a:r>
              <a:rPr lang="en-US" altLang="zh-CN" dirty="0">
                <a:solidFill>
                  <a:srgbClr val="FF0000"/>
                </a:solidFill>
                <a:ea typeface="黑体" panose="02010609060101010101" pitchFamily="49" charset="-122"/>
              </a:rPr>
              <a:t>else  </a:t>
            </a:r>
            <a:r>
              <a:rPr lang="zh-CN" altLang="en-US" dirty="0">
                <a:solidFill>
                  <a:srgbClr val="FF0000"/>
                </a:solidFill>
                <a:ea typeface="黑体" panose="02010609060101010101" pitchFamily="49" charset="-122"/>
              </a:rPr>
              <a:t>该基因不变异</a:t>
            </a:r>
            <a:r>
              <a:rPr lang="en-US" altLang="zh-CN" dirty="0">
                <a:solidFill>
                  <a:srgbClr val="FF0000"/>
                </a:solidFill>
                <a:ea typeface="黑体" panose="02010609060101010101" pitchFamily="49" charset="-122"/>
              </a:rPr>
              <a:t>(</a:t>
            </a:r>
            <a:r>
              <a:rPr lang="zh-CN" altLang="en-US" dirty="0">
                <a:solidFill>
                  <a:srgbClr val="FF0000"/>
                </a:solidFill>
                <a:ea typeface="黑体" panose="02010609060101010101" pitchFamily="49" charset="-122"/>
              </a:rPr>
              <a:t>保持不变</a:t>
            </a:r>
            <a:r>
              <a:rPr lang="en-US" altLang="zh-CN" dirty="0">
                <a:solidFill>
                  <a:srgbClr val="FF0000"/>
                </a:solidFill>
                <a:ea typeface="黑体" panose="02010609060101010101" pitchFamily="49" charset="-122"/>
              </a:rPr>
              <a:t>)</a:t>
            </a:r>
            <a:endParaRPr lang="zh-CN" altLang="en-US" dirty="0">
              <a:solidFill>
                <a:srgbClr val="FF0000"/>
              </a:solidFill>
              <a:ea typeface="黑体" panose="02010609060101010101" pitchFamily="49" charset="-122"/>
            </a:endParaRPr>
          </a:p>
        </p:txBody>
      </p:sp>
      <p:sp>
        <p:nvSpPr>
          <p:cNvPr id="182276" name="Rectangle 4"/>
          <p:cNvSpPr>
            <a:spLocks noGrp="1" noChangeArrowheads="1"/>
          </p:cNvSpPr>
          <p:nvPr>
            <p:ph type="title"/>
          </p:nvPr>
        </p:nvSpPr>
        <p:spPr>
          <a:xfrm>
            <a:off x="1828800" y="554184"/>
            <a:ext cx="8534400" cy="563563"/>
          </a:xfrm>
          <a:noFill/>
          <a:ln/>
        </p:spPr>
        <p:txBody>
          <a:bodyPr/>
          <a:lstStyle/>
          <a:p>
            <a:pPr algn="ctr"/>
            <a:r>
              <a:rPr lang="zh-CN" altLang="en-US" dirty="0">
                <a:solidFill>
                  <a:srgbClr val="008000"/>
                </a:solidFill>
                <a:latin typeface="黑体" panose="02010609060101010101" pitchFamily="49" charset="-122"/>
                <a:ea typeface="黑体" panose="02010609060101010101" pitchFamily="49" charset="-122"/>
              </a:rPr>
              <a:t>变异算子</a:t>
            </a:r>
          </a:p>
        </p:txBody>
      </p:sp>
      <p:pic>
        <p:nvPicPr>
          <p:cNvPr id="5"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5404254"/>
            <a:ext cx="8331200" cy="1453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圆角矩形 2"/>
          <p:cNvSpPr/>
          <p:nvPr/>
        </p:nvSpPr>
        <p:spPr>
          <a:xfrm>
            <a:off x="4079776" y="5888360"/>
            <a:ext cx="409352" cy="415456"/>
          </a:xfrm>
          <a:prstGeom prst="roundRect">
            <a:avLst/>
          </a:prstGeom>
          <a:solidFill>
            <a:srgbClr val="FFC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8616280" y="5888360"/>
            <a:ext cx="409352" cy="415456"/>
          </a:xfrm>
          <a:prstGeom prst="roundRect">
            <a:avLst/>
          </a:prstGeom>
          <a:solidFill>
            <a:srgbClr val="7030A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5FF52B1C-A4BD-3509-1C9A-1D1689F132D2}"/>
              </a:ext>
            </a:extLst>
          </p:cNvPr>
          <p:cNvSpPr>
            <a:spLocks noGrp="1"/>
          </p:cNvSpPr>
          <p:nvPr>
            <p:ph type="sldNum" sz="quarter" idx="11"/>
          </p:nvPr>
        </p:nvSpPr>
        <p:spPr/>
        <p:txBody>
          <a:bodyPr/>
          <a:lstStyle/>
          <a:p>
            <a:pPr>
              <a:defRPr/>
            </a:pPr>
            <a:fld id="{E0FB5469-1AEB-496D-971A-66705BF2F73C}" type="slidenum">
              <a:rPr lang="en-US" altLang="zh-CN" smtClean="0"/>
              <a:pPr>
                <a:defRPr/>
              </a:pPr>
              <a:t>13</a:t>
            </a:fld>
            <a:endParaRPr lang="en-US" altLang="zh-CN"/>
          </a:p>
        </p:txBody>
      </p:sp>
    </p:spTree>
    <p:extLst>
      <p:ext uri="{BB962C8B-B14F-4D97-AF65-F5344CB8AC3E}">
        <p14:creationId xmlns:p14="http://schemas.microsoft.com/office/powerpoint/2010/main" val="1407158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wipe(left)">
                                      <p:cBhvr>
                                        <p:cTn id="7" dur="500"/>
                                        <p:tgtEl>
                                          <p:spTgt spid="182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2275">
                                            <p:txEl>
                                              <p:pRg st="1" end="1"/>
                                            </p:txEl>
                                          </p:spTgt>
                                        </p:tgtEl>
                                        <p:attrNameLst>
                                          <p:attrName>style.visibility</p:attrName>
                                        </p:attrNameLst>
                                      </p:cBhvr>
                                      <p:to>
                                        <p:strVal val="visible"/>
                                      </p:to>
                                    </p:set>
                                    <p:animEffect transition="in" filter="wipe(left)">
                                      <p:cBhvr>
                                        <p:cTn id="12" dur="500"/>
                                        <p:tgtEl>
                                          <p:spTgt spid="182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2275">
                                            <p:txEl>
                                              <p:pRg st="2" end="2"/>
                                            </p:txEl>
                                          </p:spTgt>
                                        </p:tgtEl>
                                        <p:attrNameLst>
                                          <p:attrName>style.visibility</p:attrName>
                                        </p:attrNameLst>
                                      </p:cBhvr>
                                      <p:to>
                                        <p:strVal val="visible"/>
                                      </p:to>
                                    </p:set>
                                    <p:animEffect transition="in" filter="wipe(left)">
                                      <p:cBhvr>
                                        <p:cTn id="17" dur="500"/>
                                        <p:tgtEl>
                                          <p:spTgt spid="1822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2275">
                                            <p:txEl>
                                              <p:pRg st="3" end="3"/>
                                            </p:txEl>
                                          </p:spTgt>
                                        </p:tgtEl>
                                        <p:attrNameLst>
                                          <p:attrName>style.visibility</p:attrName>
                                        </p:attrNameLst>
                                      </p:cBhvr>
                                      <p:to>
                                        <p:strVal val="visible"/>
                                      </p:to>
                                    </p:set>
                                    <p:animEffect transition="in" filter="wipe(left)">
                                      <p:cBhvr>
                                        <p:cTn id="22" dur="500"/>
                                        <p:tgtEl>
                                          <p:spTgt spid="1822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2275">
                                            <p:txEl>
                                              <p:pRg st="4" end="4"/>
                                            </p:txEl>
                                          </p:spTgt>
                                        </p:tgtEl>
                                        <p:attrNameLst>
                                          <p:attrName>style.visibility</p:attrName>
                                        </p:attrNameLst>
                                      </p:cBhvr>
                                      <p:to>
                                        <p:strVal val="visible"/>
                                      </p:to>
                                    </p:set>
                                    <p:animEffect transition="in" filter="wipe(left)">
                                      <p:cBhvr>
                                        <p:cTn id="27" dur="500"/>
                                        <p:tgtEl>
                                          <p:spTgt spid="1822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2133600" y="237902"/>
            <a:ext cx="7924800" cy="9588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未成熟收敛问题</a:t>
            </a:r>
          </a:p>
        </p:txBody>
      </p:sp>
      <p:sp>
        <p:nvSpPr>
          <p:cNvPr id="38915" name="Rectangle 3"/>
          <p:cNvSpPr>
            <a:spLocks noGrp="1" noChangeArrowheads="1"/>
          </p:cNvSpPr>
          <p:nvPr>
            <p:ph type="body" idx="1"/>
          </p:nvPr>
        </p:nvSpPr>
        <p:spPr>
          <a:xfrm>
            <a:off x="711643" y="1186035"/>
            <a:ext cx="11089232" cy="1710162"/>
          </a:xfrm>
        </p:spPr>
        <p:txBody>
          <a:bodyPr/>
          <a:lstStyle/>
          <a:p>
            <a:pPr eaLnBrk="1" hangingPunct="1"/>
            <a:r>
              <a:rPr lang="zh-CN" altLang="en-US" sz="2800" dirty="0">
                <a:solidFill>
                  <a:srgbClr val="FF0000"/>
                </a:solidFill>
                <a:latin typeface="黑体" panose="02010609060101010101" pitchFamily="49" charset="-122"/>
                <a:ea typeface="黑体" panose="02010609060101010101" pitchFamily="49" charset="-122"/>
              </a:rPr>
              <a:t>未成熟收敛现象</a:t>
            </a:r>
          </a:p>
          <a:p>
            <a:pPr marL="0" indent="0" eaLnBrk="1" hangingPunct="1">
              <a:buNone/>
            </a:pPr>
            <a:r>
              <a:rPr lang="zh-CN" altLang="en-US" sz="2400" b="1" dirty="0">
                <a:ea typeface="宋体" pitchFamily="2" charset="-122"/>
              </a:rPr>
              <a:t>      </a:t>
            </a:r>
            <a:r>
              <a:rPr lang="en-US" altLang="zh-CN" sz="2400" b="1" dirty="0">
                <a:ea typeface="宋体" pitchFamily="2" charset="-122"/>
              </a:rPr>
              <a:t>——</a:t>
            </a:r>
            <a:r>
              <a:rPr lang="zh-CN" altLang="en-US" sz="2400" b="1" dirty="0">
                <a:ea typeface="宋体" pitchFamily="2" charset="-122"/>
              </a:rPr>
              <a:t>是遗传算法中的特有现象，且十分常见。它是指当遗传算法还没找到全局最优解或满意解时，群体中不能再产生性能超过父代的后代，群体中的各个个体非常相似。未成熟收敛的重要特征是群体中个体结构的多样性急剧减少。</a:t>
            </a:r>
          </a:p>
        </p:txBody>
      </p:sp>
      <p:sp>
        <p:nvSpPr>
          <p:cNvPr id="38917" name="Text Box 5"/>
          <p:cNvSpPr txBox="1">
            <a:spLocks noChangeArrowheads="1"/>
          </p:cNvSpPr>
          <p:nvPr/>
        </p:nvSpPr>
        <p:spPr bwMode="auto">
          <a:xfrm>
            <a:off x="711642" y="3004656"/>
            <a:ext cx="8025957" cy="2249936"/>
          </a:xfrm>
          <a:prstGeom prst="rect">
            <a:avLst/>
          </a:prstGeom>
          <a:solidFill>
            <a:srgbClr val="F8FDC7"/>
          </a:solidFill>
          <a:ln>
            <a:noFill/>
          </a:ln>
        </p:spPr>
        <p:txBody>
          <a:bodyPr/>
          <a:lstStyle>
            <a:lvl1pPr marL="266700" indent="-266700"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342900" indent="-342900" eaLnBrk="1" hangingPunct="1">
              <a:spcBef>
                <a:spcPct val="20000"/>
              </a:spcBef>
              <a:buClr>
                <a:schemeClr val="hlink"/>
              </a:buClr>
              <a:buFont typeface="Wingdings" panose="05000000000000000000" pitchFamily="2" charset="2"/>
              <a:buChar char="n"/>
            </a:pPr>
            <a:r>
              <a:rPr lang="zh-CN" altLang="en-US" sz="2800" dirty="0">
                <a:solidFill>
                  <a:srgbClr val="3333FF"/>
                </a:solidFill>
                <a:latin typeface="黑体" panose="02010609060101010101" pitchFamily="49" charset="-122"/>
                <a:ea typeface="黑体" panose="02010609060101010101" pitchFamily="49" charset="-122"/>
              </a:rPr>
              <a:t>未成熟收敛产生的原因</a:t>
            </a:r>
          </a:p>
          <a:p>
            <a:pPr eaLnBrk="1" hangingPunct="1">
              <a:spcBef>
                <a:spcPct val="20000"/>
              </a:spcBef>
              <a:buClr>
                <a:schemeClr val="hlink"/>
              </a:buClr>
              <a:buFont typeface="Wingdings" pitchFamily="2" charset="2"/>
              <a:buNone/>
            </a:pPr>
            <a:r>
              <a:rPr lang="zh-CN" altLang="en-US" sz="2400" b="1" dirty="0">
                <a:latin typeface="Verdana" pitchFamily="34" charset="0"/>
              </a:rPr>
              <a:t>①理论上考虑的选择、交叉、变异操作都是绝对精确的，他们相互协调，能搜索到整个解空间，但实际不然；</a:t>
            </a:r>
          </a:p>
          <a:p>
            <a:pPr eaLnBrk="1" hangingPunct="1">
              <a:spcBef>
                <a:spcPct val="20000"/>
              </a:spcBef>
              <a:buClr>
                <a:schemeClr val="hlink"/>
              </a:buClr>
              <a:buFont typeface="Wingdings" pitchFamily="2" charset="2"/>
              <a:buNone/>
            </a:pPr>
            <a:r>
              <a:rPr lang="zh-CN" altLang="en-US" sz="2400" b="1" dirty="0">
                <a:latin typeface="Verdana" pitchFamily="34" charset="0"/>
              </a:rPr>
              <a:t>②存在随机误差（主要包括取样误差和选择误差）；</a:t>
            </a:r>
          </a:p>
          <a:p>
            <a:pPr eaLnBrk="1" hangingPunct="1">
              <a:spcBef>
                <a:spcPct val="20000"/>
              </a:spcBef>
              <a:buClr>
                <a:schemeClr val="hlink"/>
              </a:buClr>
              <a:buFont typeface="Wingdings" pitchFamily="2" charset="2"/>
              <a:buNone/>
            </a:pPr>
            <a:r>
              <a:rPr lang="zh-CN" altLang="en-US" sz="2400" b="1" dirty="0">
                <a:latin typeface="Verdana" pitchFamily="34" charset="0"/>
              </a:rPr>
              <a:t>③所求解的问题是遗传算法欺骗问题。</a:t>
            </a:r>
          </a:p>
        </p:txBody>
      </p:sp>
      <p:sp>
        <p:nvSpPr>
          <p:cNvPr id="38918" name="Text Box 6"/>
          <p:cNvSpPr txBox="1">
            <a:spLocks noChangeArrowheads="1"/>
          </p:cNvSpPr>
          <p:nvPr/>
        </p:nvSpPr>
        <p:spPr bwMode="auto">
          <a:xfrm>
            <a:off x="695911" y="5818154"/>
            <a:ext cx="822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342900" indent="-342900" eaLnBrk="1" hangingPunct="1">
              <a:spcBef>
                <a:spcPct val="20000"/>
              </a:spcBef>
              <a:buClr>
                <a:schemeClr val="hlink"/>
              </a:buClr>
              <a:buFont typeface="Wingdings" panose="05000000000000000000" pitchFamily="2" charset="2"/>
              <a:buChar char="n"/>
            </a:pPr>
            <a:r>
              <a:rPr lang="zh-CN" altLang="en-US" sz="2400" b="1" dirty="0">
                <a:solidFill>
                  <a:srgbClr val="CC00CC"/>
                </a:solidFill>
                <a:latin typeface="黑体" panose="02010609060101010101" pitchFamily="49" charset="-122"/>
                <a:ea typeface="黑体" panose="02010609060101010101" pitchFamily="49" charset="-122"/>
              </a:rPr>
              <a:t>未成熟收敛的防止</a:t>
            </a:r>
          </a:p>
        </p:txBody>
      </p:sp>
      <p:grpSp>
        <p:nvGrpSpPr>
          <p:cNvPr id="3" name="组合 2"/>
          <p:cNvGrpSpPr/>
          <p:nvPr/>
        </p:nvGrpSpPr>
        <p:grpSpPr>
          <a:xfrm>
            <a:off x="3923919" y="5240813"/>
            <a:ext cx="1725960" cy="1539875"/>
            <a:chOff x="838200" y="5257800"/>
            <a:chExt cx="1725960" cy="1539875"/>
          </a:xfrm>
        </p:grpSpPr>
        <p:sp>
          <p:nvSpPr>
            <p:cNvPr id="38919" name="Text Box 7"/>
            <p:cNvSpPr txBox="1">
              <a:spLocks noChangeArrowheads="1"/>
            </p:cNvSpPr>
            <p:nvPr/>
          </p:nvSpPr>
          <p:spPr bwMode="auto">
            <a:xfrm>
              <a:off x="962025" y="5257800"/>
              <a:ext cx="152593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sz="2000" b="1" dirty="0"/>
                <a:t>重新启动法</a:t>
              </a:r>
              <a:endParaRPr lang="en-US" altLang="zh-CN" sz="2000" b="1" dirty="0"/>
            </a:p>
          </p:txBody>
        </p:sp>
        <p:sp>
          <p:nvSpPr>
            <p:cNvPr id="38920" name="AutoShape 8"/>
            <p:cNvSpPr>
              <a:spLocks/>
            </p:cNvSpPr>
            <p:nvPr/>
          </p:nvSpPr>
          <p:spPr bwMode="auto">
            <a:xfrm>
              <a:off x="838200" y="5410200"/>
              <a:ext cx="76200" cy="1295400"/>
            </a:xfrm>
            <a:prstGeom prst="leftBrace">
              <a:avLst>
                <a:gd name="adj1" fmla="val 141667"/>
                <a:gd name="adj2" fmla="val 50000"/>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itchFamily="2" charset="-122"/>
              </a:endParaRPr>
            </a:p>
          </p:txBody>
        </p:sp>
        <p:sp>
          <p:nvSpPr>
            <p:cNvPr id="38921" name="Rectangle 9"/>
            <p:cNvSpPr>
              <a:spLocks noChangeArrowheads="1"/>
            </p:cNvSpPr>
            <p:nvPr/>
          </p:nvSpPr>
          <p:spPr bwMode="auto">
            <a:xfrm>
              <a:off x="962025" y="6400800"/>
              <a:ext cx="130571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000" b="1" dirty="0"/>
                <a:t>替代策略</a:t>
              </a:r>
              <a:endParaRPr lang="en-US" altLang="zh-CN" sz="2000" b="1" dirty="0"/>
            </a:p>
          </p:txBody>
        </p:sp>
        <p:sp>
          <p:nvSpPr>
            <p:cNvPr id="38922" name="Rectangle 10"/>
            <p:cNvSpPr>
              <a:spLocks noChangeArrowheads="1"/>
            </p:cNvSpPr>
            <p:nvPr/>
          </p:nvSpPr>
          <p:spPr bwMode="auto">
            <a:xfrm>
              <a:off x="962025" y="6019800"/>
              <a:ext cx="130571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dirty="0"/>
                <a:t>重组策略</a:t>
              </a:r>
            </a:p>
          </p:txBody>
        </p:sp>
        <p:sp>
          <p:nvSpPr>
            <p:cNvPr id="38923" name="Rectangle 11"/>
            <p:cNvSpPr>
              <a:spLocks noChangeArrowheads="1"/>
            </p:cNvSpPr>
            <p:nvPr/>
          </p:nvSpPr>
          <p:spPr bwMode="auto">
            <a:xfrm>
              <a:off x="962025" y="5638800"/>
              <a:ext cx="152593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000" b="1" dirty="0"/>
                <a:t>匹配策略</a:t>
              </a:r>
              <a:endParaRPr lang="en-US" altLang="zh-CN" sz="2000" b="1" dirty="0"/>
            </a:p>
          </p:txBody>
        </p:sp>
        <p:sp>
          <p:nvSpPr>
            <p:cNvPr id="169996" name="AutoShape 12"/>
            <p:cNvSpPr>
              <a:spLocks/>
            </p:cNvSpPr>
            <p:nvPr/>
          </p:nvSpPr>
          <p:spPr bwMode="auto">
            <a:xfrm>
              <a:off x="2411760" y="5715000"/>
              <a:ext cx="152400" cy="990600"/>
            </a:xfrm>
            <a:prstGeom prst="rightBrace">
              <a:avLst>
                <a:gd name="adj1" fmla="val 54167"/>
                <a:gd name="adj2" fmla="val 50000"/>
              </a:avLst>
            </a:prstGeom>
            <a:noFill/>
            <a:ln w="3175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itchFamily="2" charset="-122"/>
              </a:endParaRPr>
            </a:p>
          </p:txBody>
        </p:sp>
      </p:grpSp>
      <p:sp>
        <p:nvSpPr>
          <p:cNvPr id="169997" name="Text Box 13"/>
          <p:cNvSpPr txBox="1">
            <a:spLocks noChangeArrowheads="1"/>
          </p:cNvSpPr>
          <p:nvPr/>
        </p:nvSpPr>
        <p:spPr bwMode="auto">
          <a:xfrm>
            <a:off x="5726079" y="5926613"/>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sz="2000" b="1" dirty="0">
                <a:solidFill>
                  <a:srgbClr val="FF6600"/>
                </a:solidFill>
              </a:rPr>
              <a:t>提高多样性</a:t>
            </a:r>
          </a:p>
        </p:txBody>
      </p:sp>
      <p:sp>
        <p:nvSpPr>
          <p:cNvPr id="2" name="灯片编号占位符 1">
            <a:extLst>
              <a:ext uri="{FF2B5EF4-FFF2-40B4-BE49-F238E27FC236}">
                <a16:creationId xmlns:a16="http://schemas.microsoft.com/office/drawing/2014/main" id="{4DF53181-36AE-A12A-BB84-2219434C2D0E}"/>
              </a:ext>
            </a:extLst>
          </p:cNvPr>
          <p:cNvSpPr>
            <a:spLocks noGrp="1"/>
          </p:cNvSpPr>
          <p:nvPr>
            <p:ph type="sldNum" sz="quarter" idx="11"/>
          </p:nvPr>
        </p:nvSpPr>
        <p:spPr/>
        <p:txBody>
          <a:bodyPr/>
          <a:lstStyle/>
          <a:p>
            <a:pPr>
              <a:defRPr/>
            </a:pPr>
            <a:fld id="{E0FB5469-1AEB-496D-971A-66705BF2F73C}" type="slidenum">
              <a:rPr lang="en-US" altLang="zh-CN" smtClean="0"/>
              <a:pPr>
                <a:defRPr/>
              </a:pPr>
              <a:t>14</a:t>
            </a:fld>
            <a:endParaRPr lang="en-US" altLang="zh-CN"/>
          </a:p>
        </p:txBody>
      </p:sp>
    </p:spTree>
    <p:extLst>
      <p:ext uri="{BB962C8B-B14F-4D97-AF65-F5344CB8AC3E}">
        <p14:creationId xmlns:p14="http://schemas.microsoft.com/office/powerpoint/2010/main" val="3914381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left)">
                                      <p:cBhvr>
                                        <p:cTn id="7" dur="500"/>
                                        <p:tgtEl>
                                          <p:spTgt spid="389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wipe(left)">
                                      <p:cBhvr>
                                        <p:cTn id="12" dur="500"/>
                                        <p:tgtEl>
                                          <p:spTgt spid="389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8917">
                                            <p:txEl>
                                              <p:pRg st="0" end="0"/>
                                            </p:txEl>
                                          </p:spTgt>
                                        </p:tgtEl>
                                        <p:attrNameLst>
                                          <p:attrName>style.visibility</p:attrName>
                                        </p:attrNameLst>
                                      </p:cBhvr>
                                      <p:to>
                                        <p:strVal val="visible"/>
                                      </p:to>
                                    </p:set>
                                    <p:animEffect transition="in" filter="wipe(left)">
                                      <p:cBhvr>
                                        <p:cTn id="17" dur="500"/>
                                        <p:tgtEl>
                                          <p:spTgt spid="389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8917">
                                            <p:txEl>
                                              <p:pRg st="1" end="1"/>
                                            </p:txEl>
                                          </p:spTgt>
                                        </p:tgtEl>
                                        <p:attrNameLst>
                                          <p:attrName>style.visibility</p:attrName>
                                        </p:attrNameLst>
                                      </p:cBhvr>
                                      <p:to>
                                        <p:strVal val="visible"/>
                                      </p:to>
                                    </p:set>
                                    <p:animEffect transition="in" filter="wipe(left)">
                                      <p:cBhvr>
                                        <p:cTn id="22" dur="500"/>
                                        <p:tgtEl>
                                          <p:spTgt spid="3891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8917">
                                            <p:txEl>
                                              <p:pRg st="2" end="2"/>
                                            </p:txEl>
                                          </p:spTgt>
                                        </p:tgtEl>
                                        <p:attrNameLst>
                                          <p:attrName>style.visibility</p:attrName>
                                        </p:attrNameLst>
                                      </p:cBhvr>
                                      <p:to>
                                        <p:strVal val="visible"/>
                                      </p:to>
                                    </p:set>
                                    <p:animEffect transition="in" filter="wipe(left)">
                                      <p:cBhvr>
                                        <p:cTn id="27" dur="500"/>
                                        <p:tgtEl>
                                          <p:spTgt spid="3891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8917">
                                            <p:txEl>
                                              <p:pRg st="3" end="3"/>
                                            </p:txEl>
                                          </p:spTgt>
                                        </p:tgtEl>
                                        <p:attrNameLst>
                                          <p:attrName>style.visibility</p:attrName>
                                        </p:attrNameLst>
                                      </p:cBhvr>
                                      <p:to>
                                        <p:strVal val="visible"/>
                                      </p:to>
                                    </p:set>
                                    <p:animEffect transition="in" filter="wipe(left)">
                                      <p:cBhvr>
                                        <p:cTn id="32" dur="500"/>
                                        <p:tgtEl>
                                          <p:spTgt spid="3891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8918">
                                            <p:txEl>
                                              <p:pRg st="0" end="0"/>
                                            </p:txEl>
                                          </p:spTgt>
                                        </p:tgtEl>
                                        <p:attrNameLst>
                                          <p:attrName>style.visibility</p:attrName>
                                        </p:attrNameLst>
                                      </p:cBhvr>
                                      <p:to>
                                        <p:strVal val="visible"/>
                                      </p:to>
                                    </p:set>
                                    <p:animEffect transition="in" filter="wipe(left)">
                                      <p:cBhvr>
                                        <p:cTn id="37" dur="500"/>
                                        <p:tgtEl>
                                          <p:spTgt spid="3891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12" presetClass="entr" presetSubtype="8" fill="hold" grpId="0" nodeType="afterEffect">
                                  <p:stCondLst>
                                    <p:cond delay="0"/>
                                  </p:stCondLst>
                                  <p:childTnLst>
                                    <p:set>
                                      <p:cBhvr>
                                        <p:cTn id="47" dur="1" fill="hold">
                                          <p:stCondLst>
                                            <p:cond delay="0"/>
                                          </p:stCondLst>
                                        </p:cTn>
                                        <p:tgtEl>
                                          <p:spTgt spid="169997"/>
                                        </p:tgtEl>
                                        <p:attrNameLst>
                                          <p:attrName>style.visibility</p:attrName>
                                        </p:attrNameLst>
                                      </p:cBhvr>
                                      <p:to>
                                        <p:strVal val="visible"/>
                                      </p:to>
                                    </p:set>
                                    <p:animEffect transition="in" filter="slide(fromLeft)">
                                      <p:cBhvr>
                                        <p:cTn id="48" dur="500"/>
                                        <p:tgtEl>
                                          <p:spTgt spid="169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423193" y="41706"/>
            <a:ext cx="9345613" cy="6958013"/>
            <a:chOff x="0" y="0"/>
            <a:chExt cx="9345613" cy="6858612"/>
          </a:xfrm>
        </p:grpSpPr>
        <p:sp>
          <p:nvSpPr>
            <p:cNvPr id="3" name="矩形 2"/>
            <p:cNvSpPr/>
            <p:nvPr/>
          </p:nvSpPr>
          <p:spPr>
            <a:xfrm>
              <a:off x="0" y="0"/>
              <a:ext cx="9252520" cy="6206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382" name="Rectangle 6"/>
            <p:cNvSpPr>
              <a:spLocks noChangeArrowheads="1"/>
            </p:cNvSpPr>
            <p:nvPr/>
          </p:nvSpPr>
          <p:spPr bwMode="auto">
            <a:xfrm>
              <a:off x="0" y="1186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01381" name="Object 5"/>
            <p:cNvGraphicFramePr>
              <a:graphicFrameLocks noChangeAspect="1"/>
            </p:cNvGraphicFramePr>
            <p:nvPr>
              <p:extLst>
                <p:ext uri="{D42A27DB-BD31-4B8C-83A1-F6EECF244321}">
                  <p14:modId xmlns:p14="http://schemas.microsoft.com/office/powerpoint/2010/main" val="2898671191"/>
                </p:ext>
              </p:extLst>
            </p:nvPr>
          </p:nvGraphicFramePr>
          <p:xfrm>
            <a:off x="107950" y="405289"/>
            <a:ext cx="9237663" cy="6453323"/>
          </p:xfrm>
          <a:graphic>
            <a:graphicData uri="http://schemas.openxmlformats.org/presentationml/2006/ole">
              <mc:AlternateContent xmlns:mc="http://schemas.openxmlformats.org/markup-compatibility/2006">
                <mc:Choice xmlns:v="urn:schemas-microsoft-com:vml" Requires="v">
                  <p:oleObj name="Visio" r:id="rId3" imgW="7009733" imgH="5374100" progId="Visio.Drawing.11">
                    <p:embed/>
                  </p:oleObj>
                </mc:Choice>
                <mc:Fallback>
                  <p:oleObj name="Visio" r:id="rId3" imgW="7009733" imgH="5374100" progId="Visio.Drawing.11">
                    <p:embed/>
                    <p:pic>
                      <p:nvPicPr>
                        <p:cNvPr id="101381" name="Object 5"/>
                        <p:cNvPicPr>
                          <a:picLocks noChangeAspect="1" noChangeArrowheads="1"/>
                        </p:cNvPicPr>
                        <p:nvPr/>
                      </p:nvPicPr>
                      <p:blipFill>
                        <a:blip r:embed="rId4">
                          <a:extLst>
                            <a:ext uri="{28A0092B-C50C-407E-A947-70E740481C1C}">
                              <a14:useLocalDpi xmlns:a14="http://schemas.microsoft.com/office/drawing/2010/main" val="0"/>
                            </a:ext>
                          </a:extLst>
                        </a:blip>
                        <a:srcRect l="4584" t="2783" b="256"/>
                        <a:stretch>
                          <a:fillRect/>
                        </a:stretch>
                      </p:blipFill>
                      <p:spPr bwMode="auto">
                        <a:xfrm>
                          <a:off x="107950" y="405289"/>
                          <a:ext cx="9237663" cy="6453323"/>
                        </a:xfrm>
                        <a:prstGeom prst="rect">
                          <a:avLst/>
                        </a:prstGeom>
                        <a:noFill/>
                      </p:spPr>
                    </p:pic>
                  </p:oleObj>
                </mc:Fallback>
              </mc:AlternateContent>
            </a:graphicData>
          </a:graphic>
        </p:graphicFrame>
        <p:sp>
          <p:nvSpPr>
            <p:cNvPr id="5" name="TextBox 4"/>
            <p:cNvSpPr txBox="1"/>
            <p:nvPr/>
          </p:nvSpPr>
          <p:spPr>
            <a:xfrm>
              <a:off x="1691680" y="3090446"/>
              <a:ext cx="1224135" cy="369332"/>
            </a:xfrm>
            <a:prstGeom prst="rect">
              <a:avLst/>
            </a:prstGeom>
            <a:solidFill>
              <a:schemeClr val="bg1"/>
            </a:solidFill>
            <a:ln>
              <a:solidFill>
                <a:schemeClr val="tx1"/>
              </a:solidFill>
            </a:ln>
          </p:spPr>
          <p:txBody>
            <a:bodyPr wrap="square" rtlCol="0">
              <a:spAutoFit/>
            </a:bodyPr>
            <a:lstStyle/>
            <a:p>
              <a:pPr algn="ctr"/>
              <a:r>
                <a:rPr lang="zh-CN" altLang="en-US" dirty="0"/>
                <a:t>交叉</a:t>
              </a:r>
            </a:p>
          </p:txBody>
        </p:sp>
      </p:grpSp>
      <p:sp>
        <p:nvSpPr>
          <p:cNvPr id="7" name="TextBox 6"/>
          <p:cNvSpPr txBox="1"/>
          <p:nvPr/>
        </p:nvSpPr>
        <p:spPr>
          <a:xfrm>
            <a:off x="9443864" y="3769295"/>
            <a:ext cx="900608" cy="307777"/>
          </a:xfrm>
          <a:prstGeom prst="rect">
            <a:avLst/>
          </a:prstGeom>
          <a:solidFill>
            <a:schemeClr val="bg1"/>
          </a:solidFill>
        </p:spPr>
        <p:txBody>
          <a:bodyPr wrap="square" rtlCol="0">
            <a:spAutoFit/>
          </a:bodyPr>
          <a:lstStyle/>
          <a:p>
            <a:r>
              <a:rPr lang="zh-CN" altLang="en-US" sz="1400" dirty="0"/>
              <a:t>交叉算子</a:t>
            </a:r>
          </a:p>
        </p:txBody>
      </p:sp>
      <p:sp>
        <p:nvSpPr>
          <p:cNvPr id="2" name="矩形 1"/>
          <p:cNvSpPr/>
          <p:nvPr/>
        </p:nvSpPr>
        <p:spPr>
          <a:xfrm>
            <a:off x="342660" y="671390"/>
            <a:ext cx="576064" cy="5632311"/>
          </a:xfrm>
          <a:prstGeom prst="rect">
            <a:avLst/>
          </a:prstGeom>
          <a:solidFill>
            <a:schemeClr val="bg1"/>
          </a:solidFill>
        </p:spPr>
        <p:txBody>
          <a:bodyPr wrap="square">
            <a:spAutoFit/>
          </a:bodyPr>
          <a:lstStyle/>
          <a:p>
            <a:r>
              <a:rPr lang="zh-CN" altLang="en-US" sz="4000" dirty="0">
                <a:solidFill>
                  <a:srgbClr val="008000"/>
                </a:solidFill>
                <a:latin typeface="黑体" panose="02010609060101010101" pitchFamily="49" charset="-122"/>
                <a:ea typeface="黑体" panose="02010609060101010101" pitchFamily="49" charset="-122"/>
              </a:rPr>
              <a:t>标准遗传算法流程图</a:t>
            </a:r>
          </a:p>
        </p:txBody>
      </p:sp>
      <p:sp>
        <p:nvSpPr>
          <p:cNvPr id="4" name="灯片编号占位符 3">
            <a:extLst>
              <a:ext uri="{FF2B5EF4-FFF2-40B4-BE49-F238E27FC236}">
                <a16:creationId xmlns:a16="http://schemas.microsoft.com/office/drawing/2014/main" id="{C28557E6-B04B-08B8-165A-01BE20425905}"/>
              </a:ext>
            </a:extLst>
          </p:cNvPr>
          <p:cNvSpPr>
            <a:spLocks noGrp="1"/>
          </p:cNvSpPr>
          <p:nvPr>
            <p:ph type="sldNum" sz="quarter" idx="11"/>
          </p:nvPr>
        </p:nvSpPr>
        <p:spPr/>
        <p:txBody>
          <a:bodyPr/>
          <a:lstStyle/>
          <a:p>
            <a:pPr>
              <a:defRPr/>
            </a:pPr>
            <a:fld id="{E0FB5469-1AEB-496D-971A-66705BF2F73C}" type="slidenum">
              <a:rPr lang="en-US" altLang="zh-CN" smtClean="0"/>
              <a:pPr>
                <a:defRPr/>
              </a:pPr>
              <a:t>15</a:t>
            </a:fld>
            <a:endParaRPr lang="en-US" altLang="zh-CN"/>
          </a:p>
        </p:txBody>
      </p:sp>
    </p:spTree>
    <p:extLst>
      <p:ext uri="{BB962C8B-B14F-4D97-AF65-F5344CB8AC3E}">
        <p14:creationId xmlns:p14="http://schemas.microsoft.com/office/powerpoint/2010/main" val="526167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7879852" y="1416284"/>
            <a:ext cx="3702548" cy="2549525"/>
            <a:chOff x="2381" y="1661"/>
            <a:chExt cx="2494" cy="1606"/>
          </a:xfrm>
        </p:grpSpPr>
        <p:sp>
          <p:nvSpPr>
            <p:cNvPr id="41989" name="Text Box 4"/>
            <p:cNvSpPr txBox="1">
              <a:spLocks noChangeArrowheads="1"/>
            </p:cNvSpPr>
            <p:nvPr/>
          </p:nvSpPr>
          <p:spPr bwMode="auto">
            <a:xfrm>
              <a:off x="3606" y="2024"/>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kumimoji="1" lang="en-US" altLang="zh-CN" sz="2400" i="1" dirty="0">
                  <a:latin typeface="Times New Roman" pitchFamily="18" charset="0"/>
                </a:rPr>
                <a:t>y</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baseline="30000" dirty="0">
                  <a:latin typeface="Times New Roman" pitchFamily="18" charset="0"/>
                </a:rPr>
                <a:t>2</a:t>
              </a:r>
            </a:p>
          </p:txBody>
        </p:sp>
        <p:sp>
          <p:nvSpPr>
            <p:cNvPr id="41990" name="Line 5"/>
            <p:cNvSpPr>
              <a:spLocks noChangeShapeType="1"/>
            </p:cNvSpPr>
            <p:nvPr/>
          </p:nvSpPr>
          <p:spPr bwMode="auto">
            <a:xfrm flipV="1">
              <a:off x="2381" y="2988"/>
              <a:ext cx="2267" cy="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1991" name="Text Box 6"/>
            <p:cNvSpPr txBox="1">
              <a:spLocks noChangeArrowheads="1"/>
            </p:cNvSpPr>
            <p:nvPr/>
          </p:nvSpPr>
          <p:spPr bwMode="auto">
            <a:xfrm>
              <a:off x="3967" y="2998"/>
              <a:ext cx="9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  </a:t>
              </a:r>
              <a:r>
                <a:rPr lang="en-US" altLang="zh-CN" sz="2000" dirty="0">
                  <a:latin typeface="Times New Roman" pitchFamily="18" charset="0"/>
                </a:rPr>
                <a:t>31</a:t>
              </a:r>
              <a:r>
                <a:rPr lang="en-US" altLang="zh-CN" dirty="0">
                  <a:ea typeface="宋体" pitchFamily="2" charset="-122"/>
                </a:rPr>
                <a:t>       </a:t>
              </a:r>
              <a:r>
                <a:rPr lang="en-US" altLang="zh-CN" i="1" dirty="0">
                  <a:latin typeface="Times New Roman" pitchFamily="18" charset="0"/>
                  <a:ea typeface="宋体" pitchFamily="2" charset="-122"/>
                </a:rPr>
                <a:t> </a:t>
              </a:r>
              <a:r>
                <a:rPr lang="en-US" altLang="zh-CN" sz="2000" i="1" dirty="0">
                  <a:latin typeface="Times New Roman" pitchFamily="18" charset="0"/>
                </a:rPr>
                <a:t>x</a:t>
              </a:r>
            </a:p>
          </p:txBody>
        </p:sp>
        <p:sp>
          <p:nvSpPr>
            <p:cNvPr id="41992" name="Text Box 7"/>
            <p:cNvSpPr txBox="1">
              <a:spLocks noChangeArrowheads="1"/>
            </p:cNvSpPr>
            <p:nvPr/>
          </p:nvSpPr>
          <p:spPr bwMode="auto">
            <a:xfrm>
              <a:off x="2426" y="1665"/>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ltLang="zh-CN" sz="2000" i="1" dirty="0">
                  <a:latin typeface="Times New Roman" pitchFamily="18" charset="0"/>
                </a:rPr>
                <a:t>y</a:t>
              </a:r>
            </a:p>
          </p:txBody>
        </p:sp>
        <p:sp>
          <p:nvSpPr>
            <p:cNvPr id="41993" name="Line 8"/>
            <p:cNvSpPr>
              <a:spLocks noChangeShapeType="1"/>
            </p:cNvSpPr>
            <p:nvPr/>
          </p:nvSpPr>
          <p:spPr bwMode="auto">
            <a:xfrm flipV="1">
              <a:off x="2653" y="1680"/>
              <a:ext cx="0" cy="1587"/>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1994" name="Arc 9"/>
            <p:cNvSpPr>
              <a:spLocks/>
            </p:cNvSpPr>
            <p:nvPr/>
          </p:nvSpPr>
          <p:spPr bwMode="auto">
            <a:xfrm flipV="1">
              <a:off x="2653" y="1661"/>
              <a:ext cx="1542" cy="1315"/>
            </a:xfrm>
            <a:custGeom>
              <a:avLst/>
              <a:gdLst>
                <a:gd name="T0" fmla="*/ 0 w 20978"/>
                <a:gd name="T1" fmla="*/ 0 h 21600"/>
                <a:gd name="T2" fmla="*/ 8 w 20978"/>
                <a:gd name="T3" fmla="*/ 4 h 21600"/>
                <a:gd name="T4" fmla="*/ 0 w 20978"/>
                <a:gd name="T5" fmla="*/ 5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itchFamily="2" charset="-122"/>
              </a:endParaRPr>
            </a:p>
          </p:txBody>
        </p:sp>
        <p:sp>
          <p:nvSpPr>
            <p:cNvPr id="41995" name="Line 10"/>
            <p:cNvSpPr>
              <a:spLocks noChangeShapeType="1"/>
            </p:cNvSpPr>
            <p:nvPr/>
          </p:nvSpPr>
          <p:spPr bwMode="auto">
            <a:xfrm>
              <a:off x="4195" y="1979"/>
              <a:ext cx="0" cy="9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7042" name="Text Box 2"/>
          <p:cNvSpPr txBox="1">
            <a:spLocks noChangeArrowheads="1"/>
          </p:cNvSpPr>
          <p:nvPr/>
        </p:nvSpPr>
        <p:spPr bwMode="auto">
          <a:xfrm>
            <a:off x="1003396" y="1661451"/>
            <a:ext cx="6226583" cy="1943994"/>
          </a:xfrm>
          <a:prstGeom prst="rect">
            <a:avLst/>
          </a:prstGeom>
          <a:solidFill>
            <a:srgbClr val="FFFF00"/>
          </a:solid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lnSpc>
                <a:spcPct val="130000"/>
              </a:lnSpc>
              <a:spcBef>
                <a:spcPct val="50000"/>
              </a:spcBef>
            </a:pPr>
            <a:r>
              <a:rPr kumimoji="1" lang="zh-CN" altLang="en-US" sz="3200" b="1" dirty="0">
                <a:latin typeface="Times New Roman" pitchFamily="18" charset="0"/>
                <a:ea typeface="黑体" pitchFamily="49" charset="-122"/>
              </a:rPr>
              <a:t>例</a:t>
            </a:r>
            <a:r>
              <a:rPr kumimoji="1" lang="en-US" altLang="zh-CN" sz="3200" b="1" dirty="0">
                <a:latin typeface="Times New Roman" pitchFamily="18" charset="0"/>
                <a:ea typeface="黑体" pitchFamily="49" charset="-122"/>
              </a:rPr>
              <a:t>: </a:t>
            </a:r>
            <a:r>
              <a:rPr kumimoji="1" lang="zh-CN" altLang="en-US" sz="3200" b="1" dirty="0">
                <a:latin typeface="Times New Roman" pitchFamily="18" charset="0"/>
                <a:ea typeface="黑体" pitchFamily="49" charset="-122"/>
              </a:rPr>
              <a:t>利用遗传算法求解区间［</a:t>
            </a:r>
            <a:r>
              <a:rPr kumimoji="1" lang="en-US" altLang="zh-CN" sz="3200" b="1" dirty="0">
                <a:latin typeface="Times New Roman" pitchFamily="18" charset="0"/>
                <a:ea typeface="黑体" pitchFamily="49" charset="-122"/>
              </a:rPr>
              <a:t>0, 31</a:t>
            </a:r>
            <a:r>
              <a:rPr kumimoji="1" lang="zh-CN" altLang="en-US" sz="3200" b="1" dirty="0">
                <a:latin typeface="Times New Roman" pitchFamily="18" charset="0"/>
                <a:ea typeface="黑体" pitchFamily="49" charset="-122"/>
              </a:rPr>
              <a:t>］上的二次函数</a:t>
            </a:r>
            <a:r>
              <a:rPr kumimoji="1" lang="en-US" altLang="zh-CN" sz="3200" b="1" i="1" dirty="0">
                <a:latin typeface="Times New Roman" pitchFamily="18" charset="0"/>
                <a:ea typeface="黑体" pitchFamily="49" charset="-122"/>
              </a:rPr>
              <a:t>y</a:t>
            </a:r>
            <a:r>
              <a:rPr kumimoji="1" lang="en-US" altLang="zh-CN" sz="3200" b="1" dirty="0">
                <a:latin typeface="Times New Roman" pitchFamily="18" charset="0"/>
                <a:ea typeface="黑体" pitchFamily="49" charset="-122"/>
              </a:rPr>
              <a:t>=</a:t>
            </a:r>
            <a:r>
              <a:rPr kumimoji="1" lang="en-US" altLang="zh-CN" sz="3200" b="1" i="1" dirty="0">
                <a:latin typeface="Times New Roman" pitchFamily="18" charset="0"/>
                <a:ea typeface="黑体" pitchFamily="49" charset="-122"/>
              </a:rPr>
              <a:t>x</a:t>
            </a:r>
            <a:r>
              <a:rPr kumimoji="1" lang="en-US" altLang="zh-CN" sz="3200" b="1" baseline="30000" dirty="0">
                <a:latin typeface="Times New Roman" pitchFamily="18" charset="0"/>
                <a:ea typeface="黑体" pitchFamily="49" charset="-122"/>
              </a:rPr>
              <a:t>2</a:t>
            </a:r>
            <a:r>
              <a:rPr kumimoji="1" lang="zh-CN" altLang="en-US" sz="3200" b="1" dirty="0">
                <a:latin typeface="Times New Roman" pitchFamily="18" charset="0"/>
                <a:ea typeface="黑体" pitchFamily="49" charset="-122"/>
              </a:rPr>
              <a:t>的最大值，精度要求达到个位。</a:t>
            </a:r>
            <a:r>
              <a:rPr kumimoji="1" lang="zh-CN" altLang="en-US" sz="3200" dirty="0">
                <a:latin typeface="Times New Roman" pitchFamily="18" charset="0"/>
              </a:rPr>
              <a:t>　　</a:t>
            </a:r>
          </a:p>
        </p:txBody>
      </p:sp>
      <p:sp>
        <p:nvSpPr>
          <p:cNvPr id="41988" name="Rectangle 11"/>
          <p:cNvSpPr>
            <a:spLocks noChangeArrowheads="1"/>
          </p:cNvSpPr>
          <p:nvPr/>
        </p:nvSpPr>
        <p:spPr bwMode="auto">
          <a:xfrm>
            <a:off x="2135560" y="501650"/>
            <a:ext cx="758629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3" name="Rectangle 2">
            <a:extLst>
              <a:ext uri="{FF2B5EF4-FFF2-40B4-BE49-F238E27FC236}">
                <a16:creationId xmlns:a16="http://schemas.microsoft.com/office/drawing/2014/main" id="{5FC30B55-1B17-E4D6-CF9B-0C3449AAB642}"/>
              </a:ext>
            </a:extLst>
          </p:cNvPr>
          <p:cNvSpPr txBox="1">
            <a:spLocks noChangeArrowheads="1"/>
          </p:cNvSpPr>
          <p:nvPr/>
        </p:nvSpPr>
        <p:spPr>
          <a:xfrm>
            <a:off x="880012" y="3750036"/>
            <a:ext cx="9683596" cy="2955564"/>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buFont typeface="Wingdings" pitchFamily="2" charset="2"/>
              <a:buNone/>
            </a:pPr>
            <a:r>
              <a:rPr lang="zh-CN" altLang="en-US" kern="0" dirty="0">
                <a:solidFill>
                  <a:srgbClr val="660033"/>
                </a:solidFill>
                <a:latin typeface="Times New Roman" pitchFamily="18" charset="0"/>
                <a:ea typeface="黑体" pitchFamily="49" charset="-122"/>
              </a:rPr>
              <a:t>分析</a:t>
            </a:r>
            <a:r>
              <a:rPr lang="zh-CN" altLang="en-US" kern="0" dirty="0">
                <a:ea typeface="宋体" pitchFamily="2" charset="-122"/>
              </a:rPr>
              <a:t> </a:t>
            </a:r>
          </a:p>
          <a:p>
            <a:pPr>
              <a:lnSpc>
                <a:spcPct val="120000"/>
              </a:lnSpc>
            </a:pPr>
            <a:r>
              <a:rPr lang="zh-CN" altLang="en-US" sz="2400" kern="0" dirty="0">
                <a:latin typeface="Times New Roman" pitchFamily="18" charset="0"/>
                <a:ea typeface="黑体" pitchFamily="49" charset="-122"/>
              </a:rPr>
              <a:t>原问题可转化为在区间［</a:t>
            </a:r>
            <a:r>
              <a:rPr lang="en-US" altLang="zh-CN" sz="2400" kern="0" dirty="0">
                <a:latin typeface="Times New Roman" pitchFamily="18" charset="0"/>
                <a:ea typeface="黑体" pitchFamily="49" charset="-122"/>
              </a:rPr>
              <a:t>0, 31</a:t>
            </a:r>
            <a:r>
              <a:rPr lang="zh-CN" altLang="en-US" sz="2400" kern="0" dirty="0">
                <a:latin typeface="Times New Roman" pitchFamily="18" charset="0"/>
                <a:ea typeface="黑体" pitchFamily="49" charset="-122"/>
              </a:rPr>
              <a:t>］中搜索能使</a:t>
            </a:r>
            <a:r>
              <a:rPr lang="en-US" altLang="zh-CN" sz="2400" i="1" kern="0" dirty="0">
                <a:latin typeface="Times New Roman" pitchFamily="18" charset="0"/>
                <a:ea typeface="黑体" pitchFamily="49" charset="-122"/>
              </a:rPr>
              <a:t>y</a:t>
            </a:r>
            <a:r>
              <a:rPr lang="zh-CN" altLang="en-US" sz="2400" kern="0" dirty="0">
                <a:latin typeface="Times New Roman" pitchFamily="18" charset="0"/>
                <a:ea typeface="黑体" pitchFamily="49" charset="-122"/>
              </a:rPr>
              <a:t>取最大值的点</a:t>
            </a:r>
            <a:r>
              <a:rPr lang="en-US" altLang="zh-CN" sz="2400" i="1" kern="0" dirty="0">
                <a:latin typeface="Times New Roman" pitchFamily="18" charset="0"/>
                <a:ea typeface="黑体" pitchFamily="49" charset="-122"/>
              </a:rPr>
              <a:t>a</a:t>
            </a:r>
            <a:r>
              <a:rPr lang="zh-CN" altLang="en-US" sz="2400" kern="0" dirty="0">
                <a:latin typeface="Times New Roman" pitchFamily="18" charset="0"/>
                <a:ea typeface="黑体" pitchFamily="49" charset="-122"/>
              </a:rPr>
              <a:t>的问题。</a:t>
            </a:r>
            <a:endParaRPr lang="en-US" altLang="zh-CN" sz="2400" kern="0" dirty="0">
              <a:latin typeface="Times New Roman" pitchFamily="18" charset="0"/>
              <a:ea typeface="黑体" pitchFamily="49" charset="-122"/>
            </a:endParaRPr>
          </a:p>
          <a:p>
            <a:pPr>
              <a:lnSpc>
                <a:spcPct val="120000"/>
              </a:lnSpc>
            </a:pPr>
            <a:r>
              <a:rPr lang="zh-CN" altLang="en-US" sz="2400" kern="0" dirty="0">
                <a:latin typeface="Times New Roman" pitchFamily="18" charset="0"/>
                <a:ea typeface="黑体" pitchFamily="49" charset="-122"/>
              </a:rPr>
              <a:t>则［</a:t>
            </a:r>
            <a:r>
              <a:rPr lang="en-US" altLang="zh-CN" sz="2400" kern="0" dirty="0">
                <a:latin typeface="Times New Roman" pitchFamily="18" charset="0"/>
                <a:ea typeface="黑体" pitchFamily="49" charset="-122"/>
              </a:rPr>
              <a:t>0, 31</a:t>
            </a:r>
            <a:r>
              <a:rPr lang="zh-CN" altLang="en-US" sz="2400" kern="0" dirty="0">
                <a:latin typeface="Times New Roman" pitchFamily="18" charset="0"/>
                <a:ea typeface="黑体" pitchFamily="49" charset="-122"/>
              </a:rPr>
              <a:t>］ 中的点</a:t>
            </a:r>
            <a:r>
              <a:rPr lang="en-US" altLang="zh-CN" sz="2400" i="1" kern="0" dirty="0">
                <a:solidFill>
                  <a:srgbClr val="FF3300"/>
                </a:solidFill>
                <a:latin typeface="Times New Roman" pitchFamily="18" charset="0"/>
                <a:ea typeface="黑体" pitchFamily="49" charset="-122"/>
              </a:rPr>
              <a:t>x</a:t>
            </a:r>
            <a:r>
              <a:rPr lang="zh-CN" altLang="en-US" sz="2400" kern="0" dirty="0">
                <a:solidFill>
                  <a:srgbClr val="FF3300"/>
                </a:solidFill>
                <a:latin typeface="Times New Roman" pitchFamily="18" charset="0"/>
                <a:ea typeface="黑体" pitchFamily="49" charset="-122"/>
              </a:rPr>
              <a:t>就是个体</a:t>
            </a:r>
            <a:r>
              <a:rPr lang="en-US" altLang="zh-CN" sz="2400" kern="0" dirty="0">
                <a:latin typeface="Times New Roman" pitchFamily="18" charset="0"/>
                <a:ea typeface="黑体" pitchFamily="49" charset="-122"/>
              </a:rPr>
              <a:t>, </a:t>
            </a:r>
            <a:r>
              <a:rPr lang="zh-CN" altLang="en-US" sz="2400" kern="0" dirty="0">
                <a:latin typeface="Times New Roman" pitchFamily="18" charset="0"/>
                <a:ea typeface="黑体" pitchFamily="49" charset="-122"/>
              </a:rPr>
              <a:t>函数值</a:t>
            </a:r>
            <a:r>
              <a:rPr lang="en-US" altLang="zh-CN" sz="2400" i="1" kern="0" dirty="0">
                <a:solidFill>
                  <a:srgbClr val="FF3300"/>
                </a:solidFill>
                <a:latin typeface="Times New Roman" pitchFamily="18" charset="0"/>
                <a:ea typeface="黑体" pitchFamily="49" charset="-122"/>
              </a:rPr>
              <a:t>f</a:t>
            </a:r>
            <a:r>
              <a:rPr lang="en-US" altLang="zh-CN" sz="2400" kern="0" dirty="0">
                <a:solidFill>
                  <a:srgbClr val="FF3300"/>
                </a:solidFill>
                <a:latin typeface="Times New Roman" pitchFamily="18" charset="0"/>
                <a:ea typeface="黑体" pitchFamily="49" charset="-122"/>
              </a:rPr>
              <a:t>(</a:t>
            </a:r>
            <a:r>
              <a:rPr lang="en-US" altLang="zh-CN" sz="2400" i="1" kern="0" dirty="0">
                <a:solidFill>
                  <a:srgbClr val="FF3300"/>
                </a:solidFill>
                <a:latin typeface="Times New Roman" pitchFamily="18" charset="0"/>
                <a:ea typeface="黑体" pitchFamily="49" charset="-122"/>
              </a:rPr>
              <a:t>x</a:t>
            </a:r>
            <a:r>
              <a:rPr lang="en-US" altLang="zh-CN" sz="2400" kern="0" dirty="0">
                <a:solidFill>
                  <a:srgbClr val="FF3300"/>
                </a:solidFill>
                <a:latin typeface="Times New Roman" pitchFamily="18" charset="0"/>
                <a:ea typeface="黑体" pitchFamily="49" charset="-122"/>
              </a:rPr>
              <a:t>)</a:t>
            </a:r>
            <a:r>
              <a:rPr lang="zh-CN" altLang="en-US" sz="2400" kern="0" dirty="0">
                <a:latin typeface="Times New Roman" pitchFamily="18" charset="0"/>
                <a:ea typeface="黑体" pitchFamily="49" charset="-122"/>
              </a:rPr>
              <a:t>恰好就可以作为</a:t>
            </a:r>
            <a:r>
              <a:rPr lang="en-US" altLang="zh-CN" sz="2400" i="1" kern="0" dirty="0">
                <a:solidFill>
                  <a:srgbClr val="FF3300"/>
                </a:solidFill>
                <a:latin typeface="Times New Roman" pitchFamily="18" charset="0"/>
                <a:ea typeface="黑体" pitchFamily="49" charset="-122"/>
              </a:rPr>
              <a:t>x</a:t>
            </a:r>
            <a:r>
              <a:rPr lang="zh-CN" altLang="en-US" sz="2400" kern="0" dirty="0">
                <a:solidFill>
                  <a:srgbClr val="FF3300"/>
                </a:solidFill>
                <a:latin typeface="Times New Roman" pitchFamily="18" charset="0"/>
                <a:ea typeface="黑体" pitchFamily="49" charset="-122"/>
              </a:rPr>
              <a:t>的适应度</a:t>
            </a:r>
            <a:r>
              <a:rPr lang="zh-CN" altLang="en-US" sz="2400" kern="0" dirty="0">
                <a:latin typeface="Times New Roman" pitchFamily="18" charset="0"/>
                <a:ea typeface="黑体" pitchFamily="49" charset="-122"/>
              </a:rPr>
              <a:t>，区间［</a:t>
            </a:r>
            <a:r>
              <a:rPr lang="en-US" altLang="zh-CN" sz="2400" kern="0" dirty="0">
                <a:latin typeface="Times New Roman" pitchFamily="18" charset="0"/>
                <a:ea typeface="黑体" pitchFamily="49" charset="-122"/>
              </a:rPr>
              <a:t>0, 31</a:t>
            </a:r>
            <a:r>
              <a:rPr lang="zh-CN" altLang="en-US" sz="2400" kern="0" dirty="0">
                <a:latin typeface="Times New Roman" pitchFamily="18" charset="0"/>
                <a:ea typeface="黑体" pitchFamily="49" charset="-122"/>
              </a:rPr>
              <a:t>］就是一个</a:t>
            </a:r>
            <a:r>
              <a:rPr lang="en-US" altLang="zh-CN" sz="2400" kern="0" dirty="0">
                <a:latin typeface="Times New Roman" pitchFamily="18" charset="0"/>
                <a:ea typeface="黑体" pitchFamily="49" charset="-122"/>
              </a:rPr>
              <a:t>(</a:t>
            </a:r>
            <a:r>
              <a:rPr lang="zh-CN" altLang="en-US" sz="2400" kern="0" dirty="0">
                <a:latin typeface="Times New Roman" pitchFamily="18" charset="0"/>
                <a:ea typeface="黑体" pitchFamily="49" charset="-122"/>
              </a:rPr>
              <a:t>解</a:t>
            </a:r>
            <a:r>
              <a:rPr lang="en-US" altLang="zh-CN" sz="2400" kern="0" dirty="0">
                <a:latin typeface="Times New Roman" pitchFamily="18" charset="0"/>
                <a:ea typeface="黑体" pitchFamily="49" charset="-122"/>
              </a:rPr>
              <a:t>)</a:t>
            </a:r>
            <a:r>
              <a:rPr lang="zh-CN" altLang="en-US" sz="2400" kern="0" dirty="0">
                <a:latin typeface="Times New Roman" pitchFamily="18" charset="0"/>
                <a:ea typeface="黑体" pitchFamily="49" charset="-122"/>
              </a:rPr>
              <a:t>空间 。</a:t>
            </a:r>
            <a:endParaRPr lang="en-US" altLang="zh-CN" sz="2400" kern="0" dirty="0">
              <a:latin typeface="Times New Roman" pitchFamily="18" charset="0"/>
              <a:ea typeface="黑体" pitchFamily="49" charset="-122"/>
            </a:endParaRPr>
          </a:p>
          <a:p>
            <a:pPr>
              <a:lnSpc>
                <a:spcPct val="120000"/>
              </a:lnSpc>
            </a:pPr>
            <a:r>
              <a:rPr lang="zh-CN" altLang="en-US" sz="2400" kern="0" dirty="0">
                <a:latin typeface="Times New Roman" pitchFamily="18" charset="0"/>
                <a:ea typeface="黑体" pitchFamily="49" charset="-122"/>
              </a:rPr>
              <a:t>这样</a:t>
            </a:r>
            <a:r>
              <a:rPr lang="en-US" altLang="zh-CN" sz="2400" kern="0" dirty="0">
                <a:latin typeface="Times New Roman" pitchFamily="18" charset="0"/>
                <a:ea typeface="黑体" pitchFamily="49" charset="-122"/>
              </a:rPr>
              <a:t>, </a:t>
            </a:r>
            <a:r>
              <a:rPr lang="zh-CN" altLang="en-US" sz="2400" kern="0" dirty="0">
                <a:latin typeface="Times New Roman" pitchFamily="18" charset="0"/>
                <a:ea typeface="黑体" pitchFamily="49" charset="-122"/>
              </a:rPr>
              <a:t>只要能给出个体</a:t>
            </a:r>
            <a:r>
              <a:rPr lang="en-US" altLang="zh-CN" sz="2400" kern="0" dirty="0">
                <a:latin typeface="Times New Roman" pitchFamily="18" charset="0"/>
                <a:ea typeface="黑体" pitchFamily="49" charset="-122"/>
              </a:rPr>
              <a:t>x</a:t>
            </a:r>
            <a:r>
              <a:rPr lang="zh-CN" altLang="en-US" sz="2400" kern="0" dirty="0">
                <a:latin typeface="Times New Roman" pitchFamily="18" charset="0"/>
                <a:ea typeface="黑体" pitchFamily="49" charset="-122"/>
              </a:rPr>
              <a:t>的适当染色体编码</a:t>
            </a:r>
            <a:r>
              <a:rPr lang="en-US" altLang="zh-CN" sz="2400" kern="0" dirty="0">
                <a:latin typeface="Times New Roman" pitchFamily="18" charset="0"/>
                <a:ea typeface="黑体" pitchFamily="49" charset="-122"/>
              </a:rPr>
              <a:t>, </a:t>
            </a:r>
            <a:r>
              <a:rPr lang="zh-CN" altLang="en-US" sz="2400" kern="0" dirty="0">
                <a:latin typeface="Times New Roman" pitchFamily="18" charset="0"/>
                <a:ea typeface="黑体" pitchFamily="49" charset="-122"/>
              </a:rPr>
              <a:t>该问题就可以用遗传算法来解决。</a:t>
            </a:r>
          </a:p>
        </p:txBody>
      </p:sp>
      <p:sp>
        <p:nvSpPr>
          <p:cNvPr id="4" name="灯片编号占位符 3">
            <a:extLst>
              <a:ext uri="{FF2B5EF4-FFF2-40B4-BE49-F238E27FC236}">
                <a16:creationId xmlns:a16="http://schemas.microsoft.com/office/drawing/2014/main" id="{0E338AC2-D7F5-847B-DC8D-3986318FCC07}"/>
              </a:ext>
            </a:extLst>
          </p:cNvPr>
          <p:cNvSpPr>
            <a:spLocks noGrp="1"/>
          </p:cNvSpPr>
          <p:nvPr>
            <p:ph type="sldNum" sz="quarter" idx="11"/>
          </p:nvPr>
        </p:nvSpPr>
        <p:spPr/>
        <p:txBody>
          <a:bodyPr/>
          <a:lstStyle/>
          <a:p>
            <a:pPr>
              <a:defRPr/>
            </a:pPr>
            <a:fld id="{1240398B-3681-435F-A1B8-D490B121ECC3}" type="slidenum">
              <a:rPr lang="en-US" altLang="zh-CN" smtClean="0"/>
              <a:pPr>
                <a:defRPr/>
              </a:pPr>
              <a:t>16</a:t>
            </a:fld>
            <a:endParaRPr lang="en-US" altLang="zh-CN"/>
          </a:p>
        </p:txBody>
      </p:sp>
    </p:spTree>
    <p:extLst>
      <p:ext uri="{BB962C8B-B14F-4D97-AF65-F5344CB8AC3E}">
        <p14:creationId xmlns:p14="http://schemas.microsoft.com/office/powerpoint/2010/main" val="10985944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7042">
                                            <p:txEl>
                                              <p:pRg st="0" end="0"/>
                                            </p:txEl>
                                          </p:spTgt>
                                        </p:tgtEl>
                                        <p:attrNameLst>
                                          <p:attrName>style.visibility</p:attrName>
                                        </p:attrNameLst>
                                      </p:cBhvr>
                                      <p:to>
                                        <p:strVal val="visible"/>
                                      </p:to>
                                    </p:set>
                                    <p:animEffect transition="in" filter="blinds(horizontal)">
                                      <p:cBhvr>
                                        <p:cTn id="7" dur="500"/>
                                        <p:tgtEl>
                                          <p:spTgt spid="8704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left)">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wipe(left)">
                                      <p:cBhvr>
                                        <p:cTn id="3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1055440" y="1831997"/>
            <a:ext cx="9505056" cy="4306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lnSpc>
                <a:spcPct val="120000"/>
              </a:lnSpc>
              <a:spcBef>
                <a:spcPct val="10000"/>
              </a:spcBef>
            </a:pPr>
            <a:r>
              <a:rPr kumimoji="1" lang="en-US" altLang="zh-CN" sz="2800" b="1" dirty="0">
                <a:solidFill>
                  <a:srgbClr val="CC00CC"/>
                </a:solidFill>
                <a:latin typeface="Times New Roman" pitchFamily="18" charset="0"/>
                <a:ea typeface="黑体" pitchFamily="49" charset="-122"/>
              </a:rPr>
              <a:t>(1) </a:t>
            </a:r>
            <a:r>
              <a:rPr kumimoji="1" lang="zh-CN" altLang="en-US" sz="2800" b="1" dirty="0">
                <a:solidFill>
                  <a:srgbClr val="CC00CC"/>
                </a:solidFill>
                <a:latin typeface="Times New Roman" pitchFamily="18" charset="0"/>
                <a:ea typeface="黑体" pitchFamily="49" charset="-122"/>
              </a:rPr>
              <a:t>设定种群规模</a:t>
            </a:r>
            <a:r>
              <a:rPr kumimoji="1" lang="en-US" altLang="zh-CN" sz="2800" b="1" dirty="0">
                <a:solidFill>
                  <a:srgbClr val="CC00CC"/>
                </a:solidFill>
                <a:latin typeface="Times New Roman" pitchFamily="18" charset="0"/>
                <a:ea typeface="黑体" pitchFamily="49" charset="-122"/>
              </a:rPr>
              <a:t>,</a:t>
            </a:r>
            <a:r>
              <a:rPr kumimoji="1" lang="zh-CN" altLang="en-US" sz="2800" b="1" dirty="0">
                <a:solidFill>
                  <a:srgbClr val="CC00CC"/>
                </a:solidFill>
                <a:latin typeface="Times New Roman" pitchFamily="18" charset="0"/>
                <a:ea typeface="黑体" pitchFamily="49" charset="-122"/>
              </a:rPr>
              <a:t>编码染色体，产生初始种群。</a:t>
            </a:r>
          </a:p>
          <a:p>
            <a:pPr algn="just" eaLnBrk="1" hangingPunct="1">
              <a:lnSpc>
                <a:spcPct val="120000"/>
              </a:lnSpc>
              <a:spcBef>
                <a:spcPct val="10000"/>
              </a:spcBef>
            </a:pPr>
            <a:r>
              <a:rPr kumimoji="1" lang="zh-CN" altLang="en-US" sz="2800" b="1" dirty="0">
                <a:latin typeface="Times New Roman" pitchFamily="18" charset="0"/>
                <a:ea typeface="黑体" pitchFamily="49" charset="-122"/>
              </a:rPr>
              <a:t>    将种群规模设定为</a:t>
            </a:r>
            <a:r>
              <a:rPr kumimoji="1" lang="en-US" altLang="zh-CN" sz="2800" b="1" dirty="0">
                <a:latin typeface="Times New Roman" pitchFamily="18" charset="0"/>
                <a:ea typeface="黑体" pitchFamily="49" charset="-122"/>
              </a:rPr>
              <a:t>4</a:t>
            </a:r>
            <a:r>
              <a:rPr kumimoji="1" lang="zh-CN" altLang="en-US" sz="2800" b="1" dirty="0">
                <a:latin typeface="Times New Roman" pitchFamily="18" charset="0"/>
                <a:ea typeface="黑体" pitchFamily="49" charset="-122"/>
              </a:rPr>
              <a:t>；用</a:t>
            </a:r>
            <a:r>
              <a:rPr kumimoji="1" lang="en-US" altLang="zh-CN" sz="2800" b="1" dirty="0">
                <a:latin typeface="Times New Roman" pitchFamily="18" charset="0"/>
                <a:ea typeface="黑体" pitchFamily="49" charset="-122"/>
              </a:rPr>
              <a:t>5</a:t>
            </a:r>
            <a:r>
              <a:rPr kumimoji="1" lang="zh-CN" altLang="en-US" sz="2800" b="1" dirty="0">
                <a:latin typeface="Times New Roman" pitchFamily="18" charset="0"/>
                <a:ea typeface="黑体" pitchFamily="49" charset="-122"/>
              </a:rPr>
              <a:t>位二进制数编码染色体；取下列个体组成初始种群</a:t>
            </a:r>
            <a:r>
              <a:rPr kumimoji="1" lang="en-US" altLang="zh-CN" sz="2800" b="1" dirty="0">
                <a:latin typeface="Times New Roman" pitchFamily="18" charset="0"/>
                <a:ea typeface="黑体" pitchFamily="49" charset="-122"/>
              </a:rPr>
              <a:t>S1:</a:t>
            </a:r>
          </a:p>
          <a:p>
            <a:pPr algn="just" eaLnBrk="1" hangingPunct="1">
              <a:lnSpc>
                <a:spcPct val="120000"/>
              </a:lnSpc>
              <a:spcBef>
                <a:spcPct val="20000"/>
              </a:spcBef>
            </a:pPr>
            <a:r>
              <a:rPr kumimoji="1" lang="en-US" altLang="zh-CN" sz="3200" i="1" dirty="0">
                <a:latin typeface="Times New Roman" pitchFamily="18" charset="0"/>
              </a:rPr>
              <a:t>                     s</a:t>
            </a:r>
            <a:r>
              <a:rPr kumimoji="1" lang="en-US" altLang="zh-CN" sz="3200" baseline="-25000" dirty="0">
                <a:latin typeface="Times New Roman" pitchFamily="18" charset="0"/>
              </a:rPr>
              <a:t>1</a:t>
            </a:r>
            <a:r>
              <a:rPr kumimoji="1" lang="en-US" altLang="zh-CN" sz="3200" dirty="0">
                <a:latin typeface="Times New Roman" pitchFamily="18" charset="0"/>
              </a:rPr>
              <a:t>= 13 (01101),  </a:t>
            </a:r>
            <a:r>
              <a:rPr kumimoji="1" lang="en-US" altLang="zh-CN" sz="3200" i="1" dirty="0">
                <a:latin typeface="Times New Roman" pitchFamily="18" charset="0"/>
              </a:rPr>
              <a:t>s</a:t>
            </a:r>
            <a:r>
              <a:rPr kumimoji="1" lang="en-US" altLang="zh-CN" sz="3200" baseline="-25000" dirty="0">
                <a:latin typeface="Times New Roman" pitchFamily="18" charset="0"/>
              </a:rPr>
              <a:t>2</a:t>
            </a:r>
            <a:r>
              <a:rPr kumimoji="1" lang="en-US" altLang="zh-CN" sz="3200" dirty="0">
                <a:latin typeface="Times New Roman" pitchFamily="18" charset="0"/>
              </a:rPr>
              <a:t>= 24 (11000)</a:t>
            </a:r>
          </a:p>
          <a:p>
            <a:pPr algn="just" eaLnBrk="1" hangingPunct="1">
              <a:lnSpc>
                <a:spcPct val="120000"/>
              </a:lnSpc>
              <a:spcBef>
                <a:spcPct val="20000"/>
              </a:spcBef>
            </a:pPr>
            <a:r>
              <a:rPr kumimoji="1" lang="en-US" altLang="zh-CN" sz="3200" i="1" dirty="0">
                <a:latin typeface="Times New Roman" pitchFamily="18" charset="0"/>
              </a:rPr>
              <a:t>                     s</a:t>
            </a:r>
            <a:r>
              <a:rPr kumimoji="1" lang="en-US" altLang="zh-CN" sz="3200" baseline="-25000" dirty="0">
                <a:latin typeface="Times New Roman" pitchFamily="18" charset="0"/>
              </a:rPr>
              <a:t>3</a:t>
            </a:r>
            <a:r>
              <a:rPr kumimoji="1" lang="en-US" altLang="zh-CN" sz="3200" dirty="0">
                <a:latin typeface="Times New Roman" pitchFamily="18" charset="0"/>
              </a:rPr>
              <a:t>= 8 (01000),    </a:t>
            </a:r>
            <a:r>
              <a:rPr kumimoji="1" lang="en-US" altLang="zh-CN" sz="3200" i="1" dirty="0">
                <a:latin typeface="Times New Roman" pitchFamily="18" charset="0"/>
              </a:rPr>
              <a:t>s</a:t>
            </a:r>
            <a:r>
              <a:rPr kumimoji="1" lang="en-US" altLang="zh-CN" sz="3200" baseline="-25000" dirty="0">
                <a:latin typeface="Times New Roman" pitchFamily="18" charset="0"/>
              </a:rPr>
              <a:t>4</a:t>
            </a:r>
            <a:r>
              <a:rPr kumimoji="1" lang="en-US" altLang="zh-CN" sz="3200" dirty="0">
                <a:latin typeface="Times New Roman" pitchFamily="18" charset="0"/>
              </a:rPr>
              <a:t>= 19 (10011)</a:t>
            </a:r>
            <a:r>
              <a:rPr kumimoji="1" lang="en-US" altLang="zh-CN" sz="3200" dirty="0">
                <a:latin typeface="宋体" pitchFamily="2" charset="-122"/>
              </a:rPr>
              <a:t> </a:t>
            </a:r>
          </a:p>
          <a:p>
            <a:pPr algn="just" eaLnBrk="1" hangingPunct="1">
              <a:lnSpc>
                <a:spcPct val="120000"/>
              </a:lnSpc>
              <a:spcBef>
                <a:spcPct val="20000"/>
              </a:spcBef>
            </a:pPr>
            <a:r>
              <a:rPr kumimoji="1" lang="en-US" altLang="zh-CN" sz="2800" b="1" dirty="0">
                <a:solidFill>
                  <a:srgbClr val="CC00CC"/>
                </a:solidFill>
                <a:latin typeface="Times New Roman" pitchFamily="18" charset="0"/>
                <a:ea typeface="黑体" pitchFamily="49" charset="-122"/>
              </a:rPr>
              <a:t> (2) </a:t>
            </a:r>
            <a:r>
              <a:rPr kumimoji="1" lang="zh-CN" altLang="en-US" sz="2800" b="1" dirty="0">
                <a:solidFill>
                  <a:srgbClr val="CC00CC"/>
                </a:solidFill>
                <a:latin typeface="Times New Roman" pitchFamily="18" charset="0"/>
                <a:ea typeface="黑体" pitchFamily="49" charset="-122"/>
              </a:rPr>
              <a:t>定义适应度函数</a:t>
            </a:r>
            <a:r>
              <a:rPr kumimoji="1" lang="en-US" altLang="zh-CN" sz="2800" b="1" dirty="0">
                <a:solidFill>
                  <a:srgbClr val="CC00CC"/>
                </a:solidFill>
                <a:latin typeface="Times New Roman" pitchFamily="18" charset="0"/>
                <a:ea typeface="黑体" pitchFamily="49" charset="-122"/>
              </a:rPr>
              <a:t>,</a:t>
            </a:r>
          </a:p>
          <a:p>
            <a:pPr algn="just" eaLnBrk="1" hangingPunct="1">
              <a:lnSpc>
                <a:spcPct val="120000"/>
              </a:lnSpc>
              <a:spcBef>
                <a:spcPct val="20000"/>
              </a:spcBef>
            </a:pPr>
            <a:r>
              <a:rPr kumimoji="1" lang="en-US" altLang="zh-CN" sz="3200" dirty="0">
                <a:latin typeface="Times New Roman" pitchFamily="18" charset="0"/>
              </a:rPr>
              <a:t>               </a:t>
            </a:r>
            <a:r>
              <a:rPr kumimoji="1" lang="zh-CN" altLang="en-US" sz="2800" b="1" dirty="0">
                <a:latin typeface="Times New Roman" pitchFamily="18" charset="0"/>
                <a:ea typeface="黑体" pitchFamily="49" charset="-122"/>
              </a:rPr>
              <a:t>取适应度函数：</a:t>
            </a:r>
            <a:r>
              <a:rPr kumimoji="1" lang="en-US" altLang="zh-CN" sz="3200" i="1" dirty="0">
                <a:latin typeface="Times New Roman" pitchFamily="18" charset="0"/>
              </a:rPr>
              <a:t>f </a:t>
            </a:r>
            <a:r>
              <a:rPr kumimoji="1" lang="en-US" altLang="zh-CN" sz="3200" dirty="0">
                <a:latin typeface="Times New Roman" pitchFamily="18" charset="0"/>
              </a:rPr>
              <a:t>(</a:t>
            </a:r>
            <a:r>
              <a:rPr kumimoji="1" lang="en-US" altLang="zh-CN" sz="3200" i="1" dirty="0">
                <a:latin typeface="Times New Roman" pitchFamily="18" charset="0"/>
              </a:rPr>
              <a:t>x</a:t>
            </a:r>
            <a:r>
              <a:rPr kumimoji="1" lang="en-US" altLang="zh-CN" sz="3200" dirty="0">
                <a:latin typeface="Times New Roman" pitchFamily="18" charset="0"/>
              </a:rPr>
              <a:t>)=</a:t>
            </a:r>
            <a:r>
              <a:rPr kumimoji="1" lang="en-US" altLang="zh-CN" sz="3200" i="1" dirty="0">
                <a:latin typeface="Times New Roman" pitchFamily="18" charset="0"/>
              </a:rPr>
              <a:t>x</a:t>
            </a:r>
            <a:r>
              <a:rPr kumimoji="1" lang="en-US" altLang="zh-CN" sz="3200" baseline="30000" dirty="0">
                <a:latin typeface="Times New Roman" pitchFamily="18" charset="0"/>
              </a:rPr>
              <a:t>2</a:t>
            </a:r>
            <a:r>
              <a:rPr kumimoji="1" lang="en-US" altLang="zh-CN" sz="3200" dirty="0">
                <a:latin typeface="Times New Roman" pitchFamily="18" charset="0"/>
              </a:rPr>
              <a:t>               </a:t>
            </a:r>
          </a:p>
        </p:txBody>
      </p:sp>
      <p:sp>
        <p:nvSpPr>
          <p:cNvPr id="44035" name="Rectangle 4"/>
          <p:cNvSpPr>
            <a:spLocks noChangeArrowheads="1"/>
          </p:cNvSpPr>
          <p:nvPr/>
        </p:nvSpPr>
        <p:spPr bwMode="auto">
          <a:xfrm>
            <a:off x="2286000" y="501651"/>
            <a:ext cx="777044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C783B3DA-D5DD-38B2-9CC8-83E30AA49593}"/>
              </a:ext>
            </a:extLst>
          </p:cNvPr>
          <p:cNvSpPr>
            <a:spLocks noGrp="1"/>
          </p:cNvSpPr>
          <p:nvPr>
            <p:ph type="sldNum" sz="quarter" idx="11"/>
          </p:nvPr>
        </p:nvSpPr>
        <p:spPr/>
        <p:txBody>
          <a:bodyPr/>
          <a:lstStyle/>
          <a:p>
            <a:pPr>
              <a:defRPr/>
            </a:pPr>
            <a:fld id="{1240398B-3681-435F-A1B8-D490B121ECC3}" type="slidenum">
              <a:rPr lang="en-US" altLang="zh-CN" smtClean="0"/>
              <a:pPr>
                <a:defRPr/>
              </a:pPr>
              <a:t>17</a:t>
            </a:fld>
            <a:endParaRPr lang="en-US" altLang="zh-CN"/>
          </a:p>
        </p:txBody>
      </p:sp>
      <p:grpSp>
        <p:nvGrpSpPr>
          <p:cNvPr id="3" name="Group 3">
            <a:extLst>
              <a:ext uri="{FF2B5EF4-FFF2-40B4-BE49-F238E27FC236}">
                <a16:creationId xmlns:a16="http://schemas.microsoft.com/office/drawing/2014/main" id="{BBA8B53B-F197-8957-4240-CF17452650D0}"/>
              </a:ext>
            </a:extLst>
          </p:cNvPr>
          <p:cNvGrpSpPr>
            <a:grpSpLocks/>
          </p:cNvGrpSpPr>
          <p:nvPr/>
        </p:nvGrpSpPr>
        <p:grpSpPr bwMode="auto">
          <a:xfrm>
            <a:off x="8489452" y="3429000"/>
            <a:ext cx="3702548" cy="2549525"/>
            <a:chOff x="2381" y="1661"/>
            <a:chExt cx="2494" cy="1606"/>
          </a:xfrm>
        </p:grpSpPr>
        <p:sp>
          <p:nvSpPr>
            <p:cNvPr id="4" name="Text Box 4">
              <a:extLst>
                <a:ext uri="{FF2B5EF4-FFF2-40B4-BE49-F238E27FC236}">
                  <a16:creationId xmlns:a16="http://schemas.microsoft.com/office/drawing/2014/main" id="{0EA2B4B9-EB37-05C8-E782-1B1846B1B737}"/>
                </a:ext>
              </a:extLst>
            </p:cNvPr>
            <p:cNvSpPr txBox="1">
              <a:spLocks noChangeArrowheads="1"/>
            </p:cNvSpPr>
            <p:nvPr/>
          </p:nvSpPr>
          <p:spPr bwMode="auto">
            <a:xfrm>
              <a:off x="3606" y="2024"/>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kumimoji="1" lang="en-US" altLang="zh-CN" sz="2400" i="1" dirty="0">
                  <a:latin typeface="Times New Roman" pitchFamily="18" charset="0"/>
                </a:rPr>
                <a:t>y</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baseline="30000" dirty="0">
                  <a:latin typeface="Times New Roman" pitchFamily="18" charset="0"/>
                </a:rPr>
                <a:t>2</a:t>
              </a:r>
            </a:p>
          </p:txBody>
        </p:sp>
        <p:sp>
          <p:nvSpPr>
            <p:cNvPr id="5" name="Line 5">
              <a:extLst>
                <a:ext uri="{FF2B5EF4-FFF2-40B4-BE49-F238E27FC236}">
                  <a16:creationId xmlns:a16="http://schemas.microsoft.com/office/drawing/2014/main" id="{502EFE43-491F-0EBC-9491-94D55DE2EA28}"/>
                </a:ext>
              </a:extLst>
            </p:cNvPr>
            <p:cNvSpPr>
              <a:spLocks noChangeShapeType="1"/>
            </p:cNvSpPr>
            <p:nvPr/>
          </p:nvSpPr>
          <p:spPr bwMode="auto">
            <a:xfrm flipV="1">
              <a:off x="2381" y="2988"/>
              <a:ext cx="2267" cy="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 name="Text Box 6">
              <a:extLst>
                <a:ext uri="{FF2B5EF4-FFF2-40B4-BE49-F238E27FC236}">
                  <a16:creationId xmlns:a16="http://schemas.microsoft.com/office/drawing/2014/main" id="{8AD418CA-0E46-6FA6-163F-0F87189BB8B8}"/>
                </a:ext>
              </a:extLst>
            </p:cNvPr>
            <p:cNvSpPr txBox="1">
              <a:spLocks noChangeArrowheads="1"/>
            </p:cNvSpPr>
            <p:nvPr/>
          </p:nvSpPr>
          <p:spPr bwMode="auto">
            <a:xfrm>
              <a:off x="3967" y="2998"/>
              <a:ext cx="9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  </a:t>
              </a:r>
              <a:r>
                <a:rPr lang="en-US" altLang="zh-CN" sz="2000" dirty="0">
                  <a:latin typeface="Times New Roman" pitchFamily="18" charset="0"/>
                </a:rPr>
                <a:t>31</a:t>
              </a:r>
              <a:r>
                <a:rPr lang="en-US" altLang="zh-CN" dirty="0">
                  <a:ea typeface="宋体" pitchFamily="2" charset="-122"/>
                </a:rPr>
                <a:t>       </a:t>
              </a:r>
              <a:r>
                <a:rPr lang="en-US" altLang="zh-CN" i="1" dirty="0">
                  <a:latin typeface="Times New Roman" pitchFamily="18" charset="0"/>
                  <a:ea typeface="宋体" pitchFamily="2" charset="-122"/>
                </a:rPr>
                <a:t> </a:t>
              </a:r>
              <a:r>
                <a:rPr lang="en-US" altLang="zh-CN" sz="2000" i="1" dirty="0">
                  <a:latin typeface="Times New Roman" pitchFamily="18" charset="0"/>
                </a:rPr>
                <a:t>x</a:t>
              </a:r>
            </a:p>
          </p:txBody>
        </p:sp>
        <p:sp>
          <p:nvSpPr>
            <p:cNvPr id="7" name="Text Box 7">
              <a:extLst>
                <a:ext uri="{FF2B5EF4-FFF2-40B4-BE49-F238E27FC236}">
                  <a16:creationId xmlns:a16="http://schemas.microsoft.com/office/drawing/2014/main" id="{66AC20C7-0D5A-1157-C699-B3571BD5EFC5}"/>
                </a:ext>
              </a:extLst>
            </p:cNvPr>
            <p:cNvSpPr txBox="1">
              <a:spLocks noChangeArrowheads="1"/>
            </p:cNvSpPr>
            <p:nvPr/>
          </p:nvSpPr>
          <p:spPr bwMode="auto">
            <a:xfrm>
              <a:off x="2426" y="1665"/>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ltLang="zh-CN" sz="2000" i="1" dirty="0">
                  <a:latin typeface="Times New Roman" pitchFamily="18" charset="0"/>
                </a:rPr>
                <a:t>y</a:t>
              </a:r>
            </a:p>
          </p:txBody>
        </p:sp>
        <p:sp>
          <p:nvSpPr>
            <p:cNvPr id="8" name="Line 8">
              <a:extLst>
                <a:ext uri="{FF2B5EF4-FFF2-40B4-BE49-F238E27FC236}">
                  <a16:creationId xmlns:a16="http://schemas.microsoft.com/office/drawing/2014/main" id="{0021BF5F-AA4C-0775-1469-251B722CC236}"/>
                </a:ext>
              </a:extLst>
            </p:cNvPr>
            <p:cNvSpPr>
              <a:spLocks noChangeShapeType="1"/>
            </p:cNvSpPr>
            <p:nvPr/>
          </p:nvSpPr>
          <p:spPr bwMode="auto">
            <a:xfrm flipV="1">
              <a:off x="2653" y="1680"/>
              <a:ext cx="0" cy="1587"/>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9" name="Arc 9">
              <a:extLst>
                <a:ext uri="{FF2B5EF4-FFF2-40B4-BE49-F238E27FC236}">
                  <a16:creationId xmlns:a16="http://schemas.microsoft.com/office/drawing/2014/main" id="{4C838A6A-DDA4-9EEB-85AC-D360A033B575}"/>
                </a:ext>
              </a:extLst>
            </p:cNvPr>
            <p:cNvSpPr>
              <a:spLocks/>
            </p:cNvSpPr>
            <p:nvPr/>
          </p:nvSpPr>
          <p:spPr bwMode="auto">
            <a:xfrm flipV="1">
              <a:off x="2653" y="1661"/>
              <a:ext cx="1542" cy="1315"/>
            </a:xfrm>
            <a:custGeom>
              <a:avLst/>
              <a:gdLst>
                <a:gd name="T0" fmla="*/ 0 w 20978"/>
                <a:gd name="T1" fmla="*/ 0 h 21600"/>
                <a:gd name="T2" fmla="*/ 8 w 20978"/>
                <a:gd name="T3" fmla="*/ 4 h 21600"/>
                <a:gd name="T4" fmla="*/ 0 w 20978"/>
                <a:gd name="T5" fmla="*/ 5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itchFamily="2" charset="-122"/>
              </a:endParaRPr>
            </a:p>
          </p:txBody>
        </p:sp>
        <p:sp>
          <p:nvSpPr>
            <p:cNvPr id="10" name="Line 10">
              <a:extLst>
                <a:ext uri="{FF2B5EF4-FFF2-40B4-BE49-F238E27FC236}">
                  <a16:creationId xmlns:a16="http://schemas.microsoft.com/office/drawing/2014/main" id="{A15D27CC-8313-D3A5-594C-5E8B618033EA}"/>
                </a:ext>
              </a:extLst>
            </p:cNvPr>
            <p:cNvSpPr>
              <a:spLocks noChangeShapeType="1"/>
            </p:cNvSpPr>
            <p:nvPr/>
          </p:nvSpPr>
          <p:spPr bwMode="auto">
            <a:xfrm>
              <a:off x="4195" y="1979"/>
              <a:ext cx="0" cy="9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41227567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9090">
                                            <p:txEl>
                                              <p:pRg st="0" end="0"/>
                                            </p:txEl>
                                          </p:spTgt>
                                        </p:tgtEl>
                                        <p:attrNameLst>
                                          <p:attrName>style.visibility</p:attrName>
                                        </p:attrNameLst>
                                      </p:cBhvr>
                                      <p:to>
                                        <p:strVal val="visible"/>
                                      </p:to>
                                    </p:set>
                                    <p:animEffect transition="in" filter="blinds(horizontal)">
                                      <p:cBhvr>
                                        <p:cTn id="7" dur="500"/>
                                        <p:tgtEl>
                                          <p:spTgt spid="8909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9090">
                                            <p:txEl>
                                              <p:pRg st="1" end="1"/>
                                            </p:txEl>
                                          </p:spTgt>
                                        </p:tgtEl>
                                        <p:attrNameLst>
                                          <p:attrName>style.visibility</p:attrName>
                                        </p:attrNameLst>
                                      </p:cBhvr>
                                      <p:to>
                                        <p:strVal val="visible"/>
                                      </p:to>
                                    </p:set>
                                    <p:animEffect transition="in" filter="blinds(horizontal)">
                                      <p:cBhvr>
                                        <p:cTn id="12" dur="500"/>
                                        <p:tgtEl>
                                          <p:spTgt spid="890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9090">
                                            <p:txEl>
                                              <p:pRg st="2" end="2"/>
                                            </p:txEl>
                                          </p:spTgt>
                                        </p:tgtEl>
                                        <p:attrNameLst>
                                          <p:attrName>style.visibility</p:attrName>
                                        </p:attrNameLst>
                                      </p:cBhvr>
                                      <p:to>
                                        <p:strVal val="visible"/>
                                      </p:to>
                                    </p:set>
                                    <p:animEffect transition="in" filter="blinds(horizontal)">
                                      <p:cBhvr>
                                        <p:cTn id="17" dur="500"/>
                                        <p:tgtEl>
                                          <p:spTgt spid="89090">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89090">
                                            <p:txEl>
                                              <p:pRg st="3" end="3"/>
                                            </p:txEl>
                                          </p:spTgt>
                                        </p:tgtEl>
                                        <p:attrNameLst>
                                          <p:attrName>style.visibility</p:attrName>
                                        </p:attrNameLst>
                                      </p:cBhvr>
                                      <p:to>
                                        <p:strVal val="visible"/>
                                      </p:to>
                                    </p:set>
                                    <p:animEffect transition="in" filter="blinds(horizontal)">
                                      <p:cBhvr>
                                        <p:cTn id="20" dur="500"/>
                                        <p:tgtEl>
                                          <p:spTgt spid="89090">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89090">
                                            <p:txEl>
                                              <p:pRg st="4" end="4"/>
                                            </p:txEl>
                                          </p:spTgt>
                                        </p:tgtEl>
                                        <p:attrNameLst>
                                          <p:attrName>style.visibility</p:attrName>
                                        </p:attrNameLst>
                                      </p:cBhvr>
                                      <p:to>
                                        <p:strVal val="visible"/>
                                      </p:to>
                                    </p:set>
                                    <p:animEffect transition="in" filter="blinds(horizontal)">
                                      <p:cBhvr>
                                        <p:cTn id="25" dur="500"/>
                                        <p:tgtEl>
                                          <p:spTgt spid="89090">
                                            <p:txEl>
                                              <p:pRg st="4" end="4"/>
                                            </p:txEl>
                                          </p:spTgt>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89090">
                                            <p:txEl>
                                              <p:pRg st="5" end="5"/>
                                            </p:txEl>
                                          </p:spTgt>
                                        </p:tgtEl>
                                        <p:attrNameLst>
                                          <p:attrName>style.visibility</p:attrName>
                                        </p:attrNameLst>
                                      </p:cBhvr>
                                      <p:to>
                                        <p:strVal val="visible"/>
                                      </p:to>
                                    </p:set>
                                    <p:animEffect transition="in" filter="blinds(horizontal)">
                                      <p:cBhvr>
                                        <p:cTn id="29" dur="500"/>
                                        <p:tgtEl>
                                          <p:spTgt spid="8909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1199456" y="1125538"/>
            <a:ext cx="9577063" cy="2110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lnSpc>
                <a:spcPct val="130000"/>
              </a:lnSpc>
              <a:spcBef>
                <a:spcPct val="50000"/>
              </a:spcBef>
            </a:pPr>
            <a:r>
              <a:rPr kumimoji="1" lang="en-US" altLang="zh-CN" sz="2800" dirty="0">
                <a:solidFill>
                  <a:srgbClr val="CC00CC"/>
                </a:solidFill>
                <a:latin typeface="Times New Roman" pitchFamily="18" charset="0"/>
                <a:ea typeface="黑体" pitchFamily="49" charset="-122"/>
              </a:rPr>
              <a:t>(3) </a:t>
            </a:r>
            <a:r>
              <a:rPr kumimoji="1" lang="zh-CN" altLang="en-US" sz="2800" dirty="0">
                <a:solidFill>
                  <a:srgbClr val="CC00CC"/>
                </a:solidFill>
                <a:latin typeface="Times New Roman" pitchFamily="18" charset="0"/>
                <a:ea typeface="黑体" pitchFamily="49" charset="-122"/>
              </a:rPr>
              <a:t>计算各代种群中的各个体的适应度</a:t>
            </a:r>
            <a:r>
              <a:rPr kumimoji="1" lang="en-US" altLang="zh-CN" sz="2800" dirty="0">
                <a:solidFill>
                  <a:srgbClr val="CC00CC"/>
                </a:solidFill>
                <a:latin typeface="Times New Roman" pitchFamily="18" charset="0"/>
                <a:ea typeface="黑体" pitchFamily="49" charset="-122"/>
              </a:rPr>
              <a:t>, </a:t>
            </a:r>
            <a:r>
              <a:rPr kumimoji="1" lang="zh-CN" altLang="en-US" sz="2800" dirty="0">
                <a:solidFill>
                  <a:srgbClr val="CC00CC"/>
                </a:solidFill>
                <a:latin typeface="Times New Roman" pitchFamily="18" charset="0"/>
                <a:ea typeface="黑体" pitchFamily="49" charset="-122"/>
              </a:rPr>
              <a:t>并对其染色体进行遗传操作</a:t>
            </a:r>
            <a:r>
              <a:rPr kumimoji="1" lang="en-US" altLang="zh-CN" sz="2800" dirty="0">
                <a:solidFill>
                  <a:srgbClr val="CC00CC"/>
                </a:solidFill>
                <a:latin typeface="Times New Roman" pitchFamily="18" charset="0"/>
                <a:ea typeface="黑体" pitchFamily="49" charset="-122"/>
              </a:rPr>
              <a:t>,</a:t>
            </a:r>
            <a:r>
              <a:rPr kumimoji="1" lang="zh-CN" altLang="en-US" sz="2800" dirty="0">
                <a:solidFill>
                  <a:srgbClr val="CC00CC"/>
                </a:solidFill>
                <a:latin typeface="Times New Roman" pitchFamily="18" charset="0"/>
                <a:ea typeface="黑体" pitchFamily="49" charset="-122"/>
              </a:rPr>
              <a:t>直到适应度最高的个体</a:t>
            </a:r>
            <a:r>
              <a:rPr kumimoji="1" lang="en-US" altLang="zh-CN" sz="2800" dirty="0">
                <a:solidFill>
                  <a:srgbClr val="CC00CC"/>
                </a:solidFill>
                <a:latin typeface="Times New Roman" pitchFamily="18" charset="0"/>
                <a:ea typeface="黑体" pitchFamily="49" charset="-122"/>
              </a:rPr>
              <a:t>(</a:t>
            </a:r>
            <a:r>
              <a:rPr kumimoji="1" lang="zh-CN" altLang="en-US" sz="2800" dirty="0">
                <a:solidFill>
                  <a:srgbClr val="CC00CC"/>
                </a:solidFill>
                <a:latin typeface="Times New Roman" pitchFamily="18" charset="0"/>
                <a:ea typeface="黑体" pitchFamily="49" charset="-122"/>
              </a:rPr>
              <a:t>即</a:t>
            </a:r>
            <a:r>
              <a:rPr kumimoji="1" lang="en-US" altLang="zh-CN" sz="2800" dirty="0">
                <a:solidFill>
                  <a:srgbClr val="CC00CC"/>
                </a:solidFill>
                <a:latin typeface="Times New Roman" pitchFamily="18" charset="0"/>
                <a:ea typeface="黑体" pitchFamily="49" charset="-122"/>
              </a:rPr>
              <a:t>31</a:t>
            </a:r>
            <a:r>
              <a:rPr kumimoji="1" lang="zh-CN" altLang="en-US" sz="2800" dirty="0">
                <a:solidFill>
                  <a:srgbClr val="CC00CC"/>
                </a:solidFill>
                <a:latin typeface="Times New Roman" pitchFamily="18" charset="0"/>
                <a:ea typeface="黑体" pitchFamily="49" charset="-122"/>
              </a:rPr>
              <a:t>（</a:t>
            </a:r>
            <a:r>
              <a:rPr kumimoji="1" lang="en-US" altLang="zh-CN" sz="2800" dirty="0">
                <a:solidFill>
                  <a:srgbClr val="CC00CC"/>
                </a:solidFill>
                <a:latin typeface="Times New Roman" pitchFamily="18" charset="0"/>
                <a:ea typeface="黑体" pitchFamily="49" charset="-122"/>
              </a:rPr>
              <a:t>11111</a:t>
            </a:r>
            <a:r>
              <a:rPr kumimoji="1" lang="zh-CN" altLang="en-US" sz="2800" dirty="0">
                <a:solidFill>
                  <a:srgbClr val="CC00CC"/>
                </a:solidFill>
                <a:latin typeface="Times New Roman" pitchFamily="18" charset="0"/>
                <a:ea typeface="黑体" pitchFamily="49" charset="-122"/>
              </a:rPr>
              <a:t>）</a:t>
            </a:r>
            <a:r>
              <a:rPr kumimoji="1" lang="en-US" altLang="zh-CN" sz="2800" dirty="0">
                <a:solidFill>
                  <a:srgbClr val="CC00CC"/>
                </a:solidFill>
                <a:latin typeface="Times New Roman" pitchFamily="18" charset="0"/>
                <a:ea typeface="黑体" pitchFamily="49" charset="-122"/>
              </a:rPr>
              <a:t>)</a:t>
            </a:r>
            <a:r>
              <a:rPr kumimoji="1" lang="zh-CN" altLang="en-US" sz="2800" dirty="0">
                <a:solidFill>
                  <a:srgbClr val="CC00CC"/>
                </a:solidFill>
                <a:latin typeface="Times New Roman" pitchFamily="18" charset="0"/>
                <a:ea typeface="黑体" pitchFamily="49" charset="-122"/>
              </a:rPr>
              <a:t>出现为止。</a:t>
            </a:r>
            <a:r>
              <a:rPr kumimoji="1" lang="zh-CN" altLang="en-US" sz="3200" dirty="0">
                <a:solidFill>
                  <a:srgbClr val="CC00CC"/>
                </a:solidFill>
                <a:latin typeface="Times New Roman" pitchFamily="18" charset="0"/>
              </a:rPr>
              <a:t> </a:t>
            </a:r>
          </a:p>
          <a:p>
            <a:pPr eaLnBrk="1" hangingPunct="1">
              <a:lnSpc>
                <a:spcPct val="130000"/>
              </a:lnSpc>
              <a:spcBef>
                <a:spcPct val="50000"/>
              </a:spcBef>
            </a:pPr>
            <a:r>
              <a:rPr kumimoji="1" lang="zh-CN" altLang="en-US" sz="3200" dirty="0">
                <a:latin typeface="Times New Roman" pitchFamily="18" charset="0"/>
              </a:rPr>
              <a:t>　　</a:t>
            </a:r>
          </a:p>
        </p:txBody>
      </p:sp>
      <p:sp>
        <p:nvSpPr>
          <p:cNvPr id="90115" name="Rectangle 3"/>
          <p:cNvSpPr>
            <a:spLocks noChangeArrowheads="1"/>
          </p:cNvSpPr>
          <p:nvPr/>
        </p:nvSpPr>
        <p:spPr bwMode="auto">
          <a:xfrm>
            <a:off x="1991544" y="2420888"/>
            <a:ext cx="7632700"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0" hangingPunct="0">
              <a:lnSpc>
                <a:spcPct val="80000"/>
              </a:lnSpc>
              <a:spcBef>
                <a:spcPct val="40000"/>
              </a:spcBef>
              <a:buClr>
                <a:schemeClr val="hlink"/>
              </a:buClr>
            </a:pPr>
            <a:r>
              <a:rPr lang="zh-CN" altLang="en-US" sz="2800" dirty="0">
                <a:latin typeface="Times New Roman" pitchFamily="18" charset="0"/>
                <a:ea typeface="黑体" pitchFamily="49" charset="-122"/>
              </a:rPr>
              <a:t>首先计算种群</a:t>
            </a:r>
            <a:r>
              <a:rPr lang="en-US" altLang="zh-CN" sz="2800" b="1" i="1" dirty="0">
                <a:latin typeface="Times New Roman" pitchFamily="18" charset="0"/>
                <a:ea typeface="黑体" pitchFamily="49" charset="-122"/>
              </a:rPr>
              <a:t>S</a:t>
            </a:r>
            <a:r>
              <a:rPr lang="en-US" altLang="zh-CN" sz="1100" dirty="0">
                <a:latin typeface="Times New Roman" pitchFamily="18" charset="0"/>
                <a:ea typeface="黑体" pitchFamily="49" charset="-122"/>
              </a:rPr>
              <a:t>1</a:t>
            </a:r>
            <a:r>
              <a:rPr lang="zh-CN" altLang="en-US" sz="2800" dirty="0">
                <a:latin typeface="Times New Roman" pitchFamily="18" charset="0"/>
                <a:ea typeface="黑体" pitchFamily="49" charset="-122"/>
              </a:rPr>
              <a:t>中各个体</a:t>
            </a:r>
          </a:p>
          <a:p>
            <a:pPr marL="342900" indent="-342900" eaLnBrk="0" hangingPunct="0">
              <a:lnSpc>
                <a:spcPct val="80000"/>
              </a:lnSpc>
              <a:spcBef>
                <a:spcPct val="40000"/>
              </a:spcBef>
              <a:buClr>
                <a:schemeClr val="hlink"/>
              </a:buClr>
            </a:pPr>
            <a:r>
              <a:rPr lang="zh-CN" altLang="en-US" sz="2800" b="1" i="1" dirty="0">
                <a:latin typeface="Verdana" pitchFamily="34" charset="0"/>
              </a:rPr>
              <a:t>              </a:t>
            </a:r>
            <a:r>
              <a:rPr lang="en-US" altLang="zh-CN" sz="2800" b="1" i="1" dirty="0">
                <a:latin typeface="Times New Roman" pitchFamily="18" charset="0"/>
              </a:rPr>
              <a:t>s</a:t>
            </a:r>
            <a:r>
              <a:rPr lang="en-US" altLang="zh-CN" sz="2800" b="1" baseline="-25000" dirty="0">
                <a:latin typeface="Times New Roman" pitchFamily="18" charset="0"/>
              </a:rPr>
              <a:t>1</a:t>
            </a:r>
            <a:r>
              <a:rPr lang="en-US" altLang="zh-CN" sz="2800" b="1" dirty="0">
                <a:latin typeface="Times New Roman" pitchFamily="18" charset="0"/>
              </a:rPr>
              <a:t>= 13(01101),    </a:t>
            </a:r>
            <a:r>
              <a:rPr lang="en-US" altLang="zh-CN" sz="2800" b="1" i="1" dirty="0">
                <a:latin typeface="Times New Roman" pitchFamily="18" charset="0"/>
              </a:rPr>
              <a:t>s</a:t>
            </a:r>
            <a:r>
              <a:rPr lang="en-US" altLang="zh-CN" sz="2800" b="1" baseline="-25000" dirty="0">
                <a:latin typeface="Times New Roman" pitchFamily="18" charset="0"/>
              </a:rPr>
              <a:t>2</a:t>
            </a:r>
            <a:r>
              <a:rPr lang="en-US" altLang="zh-CN" sz="2800" b="1" dirty="0">
                <a:latin typeface="Times New Roman" pitchFamily="18" charset="0"/>
              </a:rPr>
              <a:t>= 24(11000)</a:t>
            </a:r>
            <a:r>
              <a:rPr lang="en-US" altLang="zh-CN" sz="2800" b="1" i="1" dirty="0">
                <a:latin typeface="Times New Roman" pitchFamily="18" charset="0"/>
              </a:rPr>
              <a:t>                      </a:t>
            </a:r>
          </a:p>
          <a:p>
            <a:pPr marL="342900" indent="-342900" eaLnBrk="0" hangingPunct="0">
              <a:lnSpc>
                <a:spcPct val="80000"/>
              </a:lnSpc>
              <a:spcBef>
                <a:spcPct val="40000"/>
              </a:spcBef>
              <a:buClr>
                <a:schemeClr val="hlink"/>
              </a:buClr>
            </a:pPr>
            <a:r>
              <a:rPr lang="en-US" altLang="zh-CN" sz="2800" b="1" i="1" dirty="0">
                <a:latin typeface="Times New Roman" pitchFamily="18" charset="0"/>
              </a:rPr>
              <a:t>                   s</a:t>
            </a:r>
            <a:r>
              <a:rPr lang="en-US" altLang="zh-CN" sz="2800" b="1" baseline="-25000" dirty="0">
                <a:latin typeface="Times New Roman" pitchFamily="18" charset="0"/>
              </a:rPr>
              <a:t>3</a:t>
            </a:r>
            <a:r>
              <a:rPr lang="en-US" altLang="zh-CN" sz="2800" b="1" dirty="0">
                <a:latin typeface="Times New Roman" pitchFamily="18" charset="0"/>
              </a:rPr>
              <a:t>= 8(01000),      </a:t>
            </a:r>
            <a:r>
              <a:rPr lang="en-US" altLang="zh-CN" sz="2800" b="1" i="1" dirty="0">
                <a:latin typeface="Times New Roman" pitchFamily="18" charset="0"/>
              </a:rPr>
              <a:t>s</a:t>
            </a:r>
            <a:r>
              <a:rPr lang="en-US" altLang="zh-CN" sz="2800" b="1" baseline="-25000" dirty="0">
                <a:latin typeface="Times New Roman" pitchFamily="18" charset="0"/>
              </a:rPr>
              <a:t>4</a:t>
            </a:r>
            <a:r>
              <a:rPr lang="en-US" altLang="zh-CN" sz="2800" b="1" dirty="0">
                <a:latin typeface="Times New Roman" pitchFamily="18" charset="0"/>
              </a:rPr>
              <a:t>= 19(10011)</a:t>
            </a:r>
          </a:p>
          <a:p>
            <a:pPr marL="342900" indent="-342900" eaLnBrk="0" hangingPunct="0">
              <a:lnSpc>
                <a:spcPct val="80000"/>
              </a:lnSpc>
              <a:spcBef>
                <a:spcPct val="40000"/>
              </a:spcBef>
              <a:buClr>
                <a:schemeClr val="hlink"/>
              </a:buClr>
            </a:pPr>
            <a:r>
              <a:rPr lang="zh-CN" altLang="en-US" sz="2800" dirty="0">
                <a:latin typeface="Times New Roman" pitchFamily="18" charset="0"/>
                <a:ea typeface="黑体" pitchFamily="49" charset="-122"/>
              </a:rPr>
              <a:t>的适应度 </a:t>
            </a:r>
            <a:r>
              <a:rPr lang="en-US" altLang="zh-CN" sz="2800" b="1" i="1" dirty="0">
                <a:latin typeface="Times New Roman" pitchFamily="18" charset="0"/>
                <a:ea typeface="黑体" pitchFamily="49" charset="-122"/>
              </a:rPr>
              <a:t>f</a:t>
            </a:r>
            <a:r>
              <a:rPr lang="en-US" altLang="zh-CN" sz="2800" dirty="0">
                <a:latin typeface="Times New Roman" pitchFamily="18" charset="0"/>
                <a:ea typeface="黑体" pitchFamily="49" charset="-122"/>
              </a:rPr>
              <a:t> (</a:t>
            </a:r>
            <a:r>
              <a:rPr lang="en-US" altLang="zh-CN" sz="3200" b="1" i="1" dirty="0" err="1">
                <a:latin typeface="Times New Roman" pitchFamily="18" charset="0"/>
                <a:ea typeface="黑体" pitchFamily="49" charset="-122"/>
              </a:rPr>
              <a:t>s</a:t>
            </a:r>
            <a:r>
              <a:rPr lang="en-US" altLang="zh-CN" sz="1600" dirty="0" err="1">
                <a:latin typeface="Times New Roman" pitchFamily="18" charset="0"/>
                <a:ea typeface="黑体" pitchFamily="49" charset="-122"/>
              </a:rPr>
              <a:t>i</a:t>
            </a:r>
            <a:r>
              <a:rPr lang="en-US" altLang="zh-CN" sz="2800" dirty="0">
                <a:latin typeface="Times New Roman" pitchFamily="18" charset="0"/>
                <a:ea typeface="黑体" pitchFamily="49" charset="-122"/>
              </a:rPr>
              <a:t>) </a:t>
            </a:r>
            <a:r>
              <a:rPr lang="zh-CN" altLang="en-US" sz="2800" dirty="0">
                <a:latin typeface="Times New Roman" pitchFamily="18" charset="0"/>
                <a:ea typeface="黑体" pitchFamily="49" charset="-122"/>
              </a:rPr>
              <a:t>。</a:t>
            </a:r>
          </a:p>
          <a:p>
            <a:pPr marL="342900" indent="-342900" eaLnBrk="0" hangingPunct="0">
              <a:lnSpc>
                <a:spcPct val="80000"/>
              </a:lnSpc>
              <a:spcBef>
                <a:spcPct val="40000"/>
              </a:spcBef>
              <a:buClr>
                <a:schemeClr val="hlink"/>
              </a:buClr>
            </a:pPr>
            <a:r>
              <a:rPr lang="zh-CN" altLang="en-US" sz="2800" dirty="0">
                <a:latin typeface="Times New Roman" pitchFamily="18" charset="0"/>
                <a:ea typeface="黑体" pitchFamily="49" charset="-122"/>
              </a:rPr>
              <a:t>容易求得：</a:t>
            </a:r>
            <a:r>
              <a:rPr lang="zh-CN" altLang="en-US" sz="3200" b="1" i="1" dirty="0">
                <a:latin typeface="Times New Roman" pitchFamily="18" charset="0"/>
              </a:rPr>
              <a:t>   </a:t>
            </a:r>
            <a:r>
              <a:rPr lang="en-US" altLang="zh-CN" sz="2800" b="1" i="1" dirty="0">
                <a:latin typeface="Times New Roman" pitchFamily="18" charset="0"/>
              </a:rPr>
              <a:t>f </a:t>
            </a:r>
            <a:r>
              <a:rPr lang="en-US" altLang="zh-CN" sz="2800" b="1" dirty="0">
                <a:latin typeface="Times New Roman" pitchFamily="18" charset="0"/>
              </a:rPr>
              <a:t>(</a:t>
            </a:r>
            <a:r>
              <a:rPr lang="en-US" altLang="zh-CN" sz="2800" b="1" i="1" dirty="0">
                <a:latin typeface="Times New Roman" pitchFamily="18" charset="0"/>
              </a:rPr>
              <a:t>s</a:t>
            </a:r>
            <a:r>
              <a:rPr lang="en-US" altLang="zh-CN" sz="2800" b="1" baseline="-25000" dirty="0">
                <a:latin typeface="Times New Roman" pitchFamily="18" charset="0"/>
              </a:rPr>
              <a:t>1</a:t>
            </a:r>
            <a:r>
              <a:rPr lang="en-US" altLang="zh-CN" sz="2800" b="1" dirty="0">
                <a:latin typeface="Times New Roman" pitchFamily="18" charset="0"/>
              </a:rPr>
              <a:t>) = </a:t>
            </a:r>
            <a:r>
              <a:rPr lang="en-US" altLang="zh-CN" sz="2800" b="1" i="1" dirty="0">
                <a:latin typeface="Times New Roman" pitchFamily="18" charset="0"/>
              </a:rPr>
              <a:t>f</a:t>
            </a:r>
            <a:r>
              <a:rPr lang="en-US" altLang="zh-CN" sz="2800" b="1" dirty="0">
                <a:latin typeface="Times New Roman" pitchFamily="18" charset="0"/>
              </a:rPr>
              <a:t>(13) = 13</a:t>
            </a:r>
            <a:r>
              <a:rPr lang="en-US" altLang="zh-CN" sz="2800" b="1" baseline="30000" dirty="0">
                <a:latin typeface="Times New Roman" pitchFamily="18" charset="0"/>
              </a:rPr>
              <a:t>2 </a:t>
            </a:r>
            <a:r>
              <a:rPr lang="en-US" altLang="zh-CN" sz="2800" b="1" dirty="0">
                <a:latin typeface="Times New Roman" pitchFamily="18" charset="0"/>
              </a:rPr>
              <a:t>= 169</a:t>
            </a:r>
          </a:p>
          <a:p>
            <a:pPr marL="342900" indent="-342900" eaLnBrk="0" hangingPunct="0">
              <a:lnSpc>
                <a:spcPct val="80000"/>
              </a:lnSpc>
              <a:spcBef>
                <a:spcPct val="40000"/>
              </a:spcBef>
              <a:buClr>
                <a:schemeClr val="hlink"/>
              </a:buClr>
            </a:pPr>
            <a:r>
              <a:rPr lang="en-US" altLang="zh-CN" sz="2800" b="1" i="1" dirty="0">
                <a:latin typeface="Times New Roman" pitchFamily="18" charset="0"/>
              </a:rPr>
              <a:t>                       f </a:t>
            </a:r>
            <a:r>
              <a:rPr lang="en-US" altLang="zh-CN" sz="2800" b="1" dirty="0">
                <a:latin typeface="Times New Roman" pitchFamily="18" charset="0"/>
              </a:rPr>
              <a:t>(</a:t>
            </a:r>
            <a:r>
              <a:rPr lang="en-US" altLang="zh-CN" sz="2800" b="1" i="1" dirty="0">
                <a:latin typeface="Times New Roman" pitchFamily="18" charset="0"/>
              </a:rPr>
              <a:t>s</a:t>
            </a:r>
            <a:r>
              <a:rPr lang="en-US" altLang="zh-CN" sz="2800" b="1" baseline="-25000" dirty="0">
                <a:latin typeface="Times New Roman" pitchFamily="18" charset="0"/>
              </a:rPr>
              <a:t>2</a:t>
            </a:r>
            <a:r>
              <a:rPr lang="en-US" altLang="zh-CN" sz="2800" b="1" dirty="0">
                <a:latin typeface="Times New Roman" pitchFamily="18" charset="0"/>
              </a:rPr>
              <a:t>) = </a:t>
            </a:r>
            <a:r>
              <a:rPr lang="en-US" altLang="zh-CN" sz="2800" b="1" i="1" dirty="0">
                <a:latin typeface="Times New Roman" pitchFamily="18" charset="0"/>
              </a:rPr>
              <a:t>f</a:t>
            </a:r>
            <a:r>
              <a:rPr lang="en-US" altLang="zh-CN" sz="2800" b="1" dirty="0">
                <a:latin typeface="Times New Roman" pitchFamily="18" charset="0"/>
              </a:rPr>
              <a:t>(24) = 24</a:t>
            </a:r>
            <a:r>
              <a:rPr lang="en-US" altLang="zh-CN" sz="2800" b="1" baseline="30000" dirty="0">
                <a:latin typeface="Times New Roman" pitchFamily="18" charset="0"/>
              </a:rPr>
              <a:t>2 </a:t>
            </a:r>
            <a:r>
              <a:rPr lang="en-US" altLang="zh-CN" sz="2800" b="1" dirty="0">
                <a:latin typeface="Times New Roman" pitchFamily="18" charset="0"/>
              </a:rPr>
              <a:t>= 576</a:t>
            </a:r>
          </a:p>
          <a:p>
            <a:pPr marL="342900" indent="-342900" eaLnBrk="0" hangingPunct="0">
              <a:lnSpc>
                <a:spcPct val="80000"/>
              </a:lnSpc>
              <a:spcBef>
                <a:spcPct val="40000"/>
              </a:spcBef>
              <a:buClr>
                <a:schemeClr val="hlink"/>
              </a:buClr>
            </a:pPr>
            <a:r>
              <a:rPr lang="en-US" altLang="zh-CN" sz="2800" b="1" i="1" dirty="0">
                <a:latin typeface="Times New Roman" pitchFamily="18" charset="0"/>
              </a:rPr>
              <a:t>                       f </a:t>
            </a:r>
            <a:r>
              <a:rPr lang="en-US" altLang="zh-CN" sz="2800" b="1" dirty="0">
                <a:latin typeface="Times New Roman" pitchFamily="18" charset="0"/>
              </a:rPr>
              <a:t>(</a:t>
            </a:r>
            <a:r>
              <a:rPr lang="en-US" altLang="zh-CN" sz="2800" b="1" i="1" dirty="0">
                <a:latin typeface="Times New Roman" pitchFamily="18" charset="0"/>
              </a:rPr>
              <a:t>s</a:t>
            </a:r>
            <a:r>
              <a:rPr lang="en-US" altLang="zh-CN" sz="2800" b="1" baseline="-25000" dirty="0">
                <a:latin typeface="Times New Roman" pitchFamily="18" charset="0"/>
              </a:rPr>
              <a:t>3</a:t>
            </a:r>
            <a:r>
              <a:rPr lang="en-US" altLang="zh-CN" sz="2800" b="1" dirty="0">
                <a:latin typeface="Times New Roman" pitchFamily="18" charset="0"/>
              </a:rPr>
              <a:t>) = </a:t>
            </a:r>
            <a:r>
              <a:rPr lang="en-US" altLang="zh-CN" sz="2800" b="1" i="1" dirty="0">
                <a:latin typeface="Times New Roman" pitchFamily="18" charset="0"/>
              </a:rPr>
              <a:t>f</a:t>
            </a:r>
            <a:r>
              <a:rPr lang="en-US" altLang="zh-CN" sz="2800" b="1" dirty="0">
                <a:latin typeface="Times New Roman" pitchFamily="18" charset="0"/>
              </a:rPr>
              <a:t>(8) = 8</a:t>
            </a:r>
            <a:r>
              <a:rPr lang="en-US" altLang="zh-CN" sz="2800" b="1" baseline="30000" dirty="0">
                <a:latin typeface="Times New Roman" pitchFamily="18" charset="0"/>
              </a:rPr>
              <a:t>2 </a:t>
            </a:r>
            <a:r>
              <a:rPr lang="en-US" altLang="zh-CN" sz="2800" b="1" dirty="0">
                <a:latin typeface="Times New Roman" pitchFamily="18" charset="0"/>
              </a:rPr>
              <a:t>= 64</a:t>
            </a:r>
          </a:p>
          <a:p>
            <a:pPr marL="342900" indent="-342900" eaLnBrk="0" hangingPunct="0">
              <a:lnSpc>
                <a:spcPct val="80000"/>
              </a:lnSpc>
              <a:spcBef>
                <a:spcPct val="40000"/>
              </a:spcBef>
              <a:buClr>
                <a:schemeClr val="hlink"/>
              </a:buClr>
            </a:pPr>
            <a:r>
              <a:rPr lang="en-US" altLang="zh-CN" sz="2800" b="1" i="1" dirty="0">
                <a:latin typeface="Times New Roman" pitchFamily="18" charset="0"/>
              </a:rPr>
              <a:t>                       f </a:t>
            </a:r>
            <a:r>
              <a:rPr lang="en-US" altLang="zh-CN" sz="2800" b="1" dirty="0">
                <a:latin typeface="Times New Roman" pitchFamily="18" charset="0"/>
              </a:rPr>
              <a:t>(</a:t>
            </a:r>
            <a:r>
              <a:rPr lang="en-US" altLang="zh-CN" sz="2800" b="1" i="1" dirty="0">
                <a:latin typeface="Times New Roman" pitchFamily="18" charset="0"/>
              </a:rPr>
              <a:t>s</a:t>
            </a:r>
            <a:r>
              <a:rPr lang="en-US" altLang="zh-CN" sz="2800" b="1" baseline="-25000" dirty="0">
                <a:latin typeface="Times New Roman" pitchFamily="18" charset="0"/>
              </a:rPr>
              <a:t>4</a:t>
            </a:r>
            <a:r>
              <a:rPr lang="en-US" altLang="zh-CN" sz="2800" b="1" dirty="0">
                <a:latin typeface="Times New Roman" pitchFamily="18" charset="0"/>
              </a:rPr>
              <a:t>) = </a:t>
            </a:r>
            <a:r>
              <a:rPr lang="en-US" altLang="zh-CN" sz="2800" b="1" i="1" dirty="0">
                <a:latin typeface="Times New Roman" pitchFamily="18" charset="0"/>
              </a:rPr>
              <a:t>f</a:t>
            </a:r>
            <a:r>
              <a:rPr lang="en-US" altLang="zh-CN" sz="2800" b="1" dirty="0">
                <a:latin typeface="Times New Roman" pitchFamily="18" charset="0"/>
              </a:rPr>
              <a:t>(19) = 19</a:t>
            </a:r>
            <a:r>
              <a:rPr lang="en-US" altLang="zh-CN" sz="2800" b="1" baseline="30000" dirty="0">
                <a:latin typeface="Times New Roman" pitchFamily="18" charset="0"/>
              </a:rPr>
              <a:t>2 </a:t>
            </a:r>
            <a:r>
              <a:rPr lang="en-US" altLang="zh-CN" sz="2800" b="1" dirty="0">
                <a:latin typeface="Times New Roman" pitchFamily="18" charset="0"/>
              </a:rPr>
              <a:t>= 361</a:t>
            </a:r>
            <a:endParaRPr lang="en-US" altLang="zh-CN" sz="2400" b="1" dirty="0">
              <a:latin typeface="Times New Roman" pitchFamily="18" charset="0"/>
            </a:endParaRPr>
          </a:p>
        </p:txBody>
      </p:sp>
      <p:sp>
        <p:nvSpPr>
          <p:cNvPr id="45060" name="Rectangle 5"/>
          <p:cNvSpPr>
            <a:spLocks noChangeArrowheads="1"/>
          </p:cNvSpPr>
          <p:nvPr/>
        </p:nvSpPr>
        <p:spPr bwMode="auto">
          <a:xfrm>
            <a:off x="1847528" y="501651"/>
            <a:ext cx="787432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20276D35-E828-1057-6A19-FD7D15E3B7EF}"/>
              </a:ext>
            </a:extLst>
          </p:cNvPr>
          <p:cNvSpPr>
            <a:spLocks noGrp="1"/>
          </p:cNvSpPr>
          <p:nvPr>
            <p:ph type="sldNum" sz="quarter" idx="11"/>
          </p:nvPr>
        </p:nvSpPr>
        <p:spPr/>
        <p:txBody>
          <a:bodyPr/>
          <a:lstStyle/>
          <a:p>
            <a:pPr>
              <a:defRPr/>
            </a:pPr>
            <a:fld id="{1240398B-3681-435F-A1B8-D490B121ECC3}" type="slidenum">
              <a:rPr lang="en-US" altLang="zh-CN" smtClean="0"/>
              <a:pPr>
                <a:defRPr/>
              </a:pPr>
              <a:t>18</a:t>
            </a:fld>
            <a:endParaRPr lang="en-US" altLang="zh-CN"/>
          </a:p>
        </p:txBody>
      </p:sp>
    </p:spTree>
    <p:extLst>
      <p:ext uri="{BB962C8B-B14F-4D97-AF65-F5344CB8AC3E}">
        <p14:creationId xmlns:p14="http://schemas.microsoft.com/office/powerpoint/2010/main" val="30124883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Effect transition="in" filter="blinds(horizontal)">
                                      <p:cBhvr>
                                        <p:cTn id="7" dur="500"/>
                                        <p:tgtEl>
                                          <p:spTgt spid="901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0115">
                                            <p:txEl>
                                              <p:pRg st="1" end="1"/>
                                            </p:txEl>
                                          </p:spTgt>
                                        </p:tgtEl>
                                        <p:attrNameLst>
                                          <p:attrName>style.visibility</p:attrName>
                                        </p:attrNameLst>
                                      </p:cBhvr>
                                      <p:to>
                                        <p:strVal val="visible"/>
                                      </p:to>
                                    </p:set>
                                    <p:animEffect transition="in" filter="blinds(horizontal)">
                                      <p:cBhvr>
                                        <p:cTn id="10" dur="500"/>
                                        <p:tgtEl>
                                          <p:spTgt spid="9011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0115">
                                            <p:txEl>
                                              <p:pRg st="2" end="2"/>
                                            </p:txEl>
                                          </p:spTgt>
                                        </p:tgtEl>
                                        <p:attrNameLst>
                                          <p:attrName>style.visibility</p:attrName>
                                        </p:attrNameLst>
                                      </p:cBhvr>
                                      <p:to>
                                        <p:strVal val="visible"/>
                                      </p:to>
                                    </p:set>
                                    <p:animEffect transition="in" filter="blinds(horizontal)">
                                      <p:cBhvr>
                                        <p:cTn id="13" dur="500"/>
                                        <p:tgtEl>
                                          <p:spTgt spid="90115">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0115">
                                            <p:txEl>
                                              <p:pRg st="3" end="3"/>
                                            </p:txEl>
                                          </p:spTgt>
                                        </p:tgtEl>
                                        <p:attrNameLst>
                                          <p:attrName>style.visibility</p:attrName>
                                        </p:attrNameLst>
                                      </p:cBhvr>
                                      <p:to>
                                        <p:strVal val="visible"/>
                                      </p:to>
                                    </p:set>
                                    <p:animEffect transition="in" filter="blinds(horizontal)">
                                      <p:cBhvr>
                                        <p:cTn id="16" dur="500"/>
                                        <p:tgtEl>
                                          <p:spTgt spid="90115">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90115">
                                            <p:txEl>
                                              <p:pRg st="4" end="4"/>
                                            </p:txEl>
                                          </p:spTgt>
                                        </p:tgtEl>
                                        <p:attrNameLst>
                                          <p:attrName>style.visibility</p:attrName>
                                        </p:attrNameLst>
                                      </p:cBhvr>
                                      <p:to>
                                        <p:strVal val="visible"/>
                                      </p:to>
                                    </p:set>
                                    <p:animEffect transition="in" filter="blinds(horizontal)">
                                      <p:cBhvr>
                                        <p:cTn id="21" dur="500"/>
                                        <p:tgtEl>
                                          <p:spTgt spid="90115">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90115">
                                            <p:txEl>
                                              <p:pRg st="5" end="5"/>
                                            </p:txEl>
                                          </p:spTgt>
                                        </p:tgtEl>
                                        <p:attrNameLst>
                                          <p:attrName>style.visibility</p:attrName>
                                        </p:attrNameLst>
                                      </p:cBhvr>
                                      <p:to>
                                        <p:strVal val="visible"/>
                                      </p:to>
                                    </p:set>
                                    <p:animEffect transition="in" filter="blinds(horizontal)">
                                      <p:cBhvr>
                                        <p:cTn id="24" dur="500"/>
                                        <p:tgtEl>
                                          <p:spTgt spid="90115">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90115">
                                            <p:txEl>
                                              <p:pRg st="6" end="6"/>
                                            </p:txEl>
                                          </p:spTgt>
                                        </p:tgtEl>
                                        <p:attrNameLst>
                                          <p:attrName>style.visibility</p:attrName>
                                        </p:attrNameLst>
                                      </p:cBhvr>
                                      <p:to>
                                        <p:strVal val="visible"/>
                                      </p:to>
                                    </p:set>
                                    <p:animEffect transition="in" filter="blinds(horizontal)">
                                      <p:cBhvr>
                                        <p:cTn id="27" dur="500"/>
                                        <p:tgtEl>
                                          <p:spTgt spid="90115">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90115">
                                            <p:txEl>
                                              <p:pRg st="7" end="7"/>
                                            </p:txEl>
                                          </p:spTgt>
                                        </p:tgtEl>
                                        <p:attrNameLst>
                                          <p:attrName>style.visibility</p:attrName>
                                        </p:attrNameLst>
                                      </p:cBhvr>
                                      <p:to>
                                        <p:strVal val="visible"/>
                                      </p:to>
                                    </p:set>
                                    <p:animEffect transition="in" filter="blinds(horizontal)">
                                      <p:cBhvr>
                                        <p:cTn id="30" dur="500"/>
                                        <p:tgtEl>
                                          <p:spTgt spid="901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body" idx="1"/>
          </p:nvPr>
        </p:nvSpPr>
        <p:spPr>
          <a:xfrm>
            <a:off x="1398396" y="1637507"/>
            <a:ext cx="7935913" cy="636587"/>
          </a:xfrm>
        </p:spPr>
        <p:txBody>
          <a:bodyPr/>
          <a:lstStyle/>
          <a:p>
            <a:pPr>
              <a:buFont typeface="Wingdings" pitchFamily="2" charset="2"/>
              <a:buNone/>
            </a:pPr>
            <a:r>
              <a:rPr lang="zh-CN" altLang="en-US" dirty="0">
                <a:latin typeface="Times New Roman" pitchFamily="18" charset="0"/>
                <a:ea typeface="黑体" pitchFamily="49" charset="-122"/>
              </a:rPr>
              <a:t>再计算种群</a:t>
            </a:r>
            <a:r>
              <a:rPr lang="en-US" altLang="zh-CN" i="1" dirty="0">
                <a:latin typeface="Times New Roman" pitchFamily="18" charset="0"/>
                <a:ea typeface="黑体" pitchFamily="49" charset="-122"/>
              </a:rPr>
              <a:t>S</a:t>
            </a:r>
            <a:r>
              <a:rPr lang="en-US" altLang="zh-CN" baseline="-25000" dirty="0">
                <a:latin typeface="Times New Roman" pitchFamily="18" charset="0"/>
                <a:ea typeface="黑体" pitchFamily="49" charset="-122"/>
              </a:rPr>
              <a:t>1</a:t>
            </a:r>
            <a:r>
              <a:rPr lang="zh-CN" altLang="en-US" dirty="0">
                <a:latin typeface="Times New Roman" pitchFamily="18" charset="0"/>
                <a:ea typeface="黑体" pitchFamily="49" charset="-122"/>
              </a:rPr>
              <a:t>中各个体的选择概率。</a:t>
            </a:r>
          </a:p>
        </p:txBody>
      </p:sp>
      <p:grpSp>
        <p:nvGrpSpPr>
          <p:cNvPr id="2" name="Group 3"/>
          <p:cNvGrpSpPr>
            <a:grpSpLocks/>
          </p:cNvGrpSpPr>
          <p:nvPr/>
        </p:nvGrpSpPr>
        <p:grpSpPr bwMode="auto">
          <a:xfrm>
            <a:off x="1524000" y="2318383"/>
            <a:ext cx="6192838" cy="2073276"/>
            <a:chOff x="657" y="799"/>
            <a:chExt cx="3901" cy="1306"/>
          </a:xfrm>
        </p:grpSpPr>
        <p:graphicFrame>
          <p:nvGraphicFramePr>
            <p:cNvPr id="8194" name="Object 4"/>
            <p:cNvGraphicFramePr>
              <a:graphicFrameLocks noChangeAspect="1"/>
            </p:cNvGraphicFramePr>
            <p:nvPr>
              <p:extLst>
                <p:ext uri="{D42A27DB-BD31-4B8C-83A1-F6EECF244321}">
                  <p14:modId xmlns:p14="http://schemas.microsoft.com/office/powerpoint/2010/main" val="1681886169"/>
                </p:ext>
              </p:extLst>
            </p:nvPr>
          </p:nvGraphicFramePr>
          <p:xfrm>
            <a:off x="2452" y="1195"/>
            <a:ext cx="1536" cy="910"/>
          </p:xfrm>
          <a:graphic>
            <a:graphicData uri="http://schemas.openxmlformats.org/presentationml/2006/ole">
              <mc:AlternateContent xmlns:mc="http://schemas.openxmlformats.org/markup-compatibility/2006">
                <mc:Choice xmlns:v="urn:schemas-microsoft-com:vml" Requires="v">
                  <p:oleObj name="Equation" r:id="rId3" imgW="1091726" imgH="647419" progId="Equation.3">
                    <p:embed/>
                  </p:oleObj>
                </mc:Choice>
                <mc:Fallback>
                  <p:oleObj name="Equation" r:id="rId3" imgW="1091726" imgH="647419" progId="Equation.3">
                    <p:embed/>
                    <p:pic>
                      <p:nvPicPr>
                        <p:cNvPr id="819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2" y="1195"/>
                          <a:ext cx="1536" cy="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9" name="Text Box 5"/>
            <p:cNvSpPr txBox="1">
              <a:spLocks noChangeArrowheads="1"/>
            </p:cNvSpPr>
            <p:nvPr/>
          </p:nvSpPr>
          <p:spPr bwMode="auto">
            <a:xfrm>
              <a:off x="657" y="799"/>
              <a:ext cx="390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kumimoji="1" lang="zh-CN" altLang="en-US" sz="3200" b="1" dirty="0">
                  <a:latin typeface="Times New Roman" pitchFamily="18" charset="0"/>
                  <a:ea typeface="黑体" pitchFamily="49" charset="-122"/>
                </a:rPr>
                <a:t>选择概率的计算公式为</a:t>
              </a:r>
            </a:p>
          </p:txBody>
        </p:sp>
      </p:grpSp>
      <p:sp>
        <p:nvSpPr>
          <p:cNvPr id="91142" name="Text Box 6"/>
          <p:cNvSpPr txBox="1">
            <a:spLocks noChangeArrowheads="1"/>
          </p:cNvSpPr>
          <p:nvPr/>
        </p:nvSpPr>
        <p:spPr bwMode="auto">
          <a:xfrm>
            <a:off x="1507029" y="3980350"/>
            <a:ext cx="6913563" cy="2952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sz="3200" dirty="0"/>
              <a:t> </a:t>
            </a:r>
            <a:r>
              <a:rPr kumimoji="1" lang="zh-CN" altLang="en-US" sz="3200" b="1" dirty="0">
                <a:latin typeface="Times New Roman" pitchFamily="18" charset="0"/>
                <a:ea typeface="黑体" pitchFamily="49" charset="-122"/>
              </a:rPr>
              <a:t>由此可求得</a:t>
            </a:r>
          </a:p>
          <a:p>
            <a:pPr eaLnBrk="1" hangingPunct="1">
              <a:lnSpc>
                <a:spcPct val="120000"/>
              </a:lnSpc>
              <a:spcBef>
                <a:spcPct val="20000"/>
              </a:spcBef>
            </a:pPr>
            <a:r>
              <a:rPr lang="zh-CN" altLang="en-US" sz="2800" dirty="0"/>
              <a:t>                      </a:t>
            </a:r>
            <a:r>
              <a:rPr kumimoji="1" lang="en-US" altLang="zh-CN" sz="2800" i="1" dirty="0">
                <a:latin typeface="Times New Roman" pitchFamily="18" charset="0"/>
              </a:rPr>
              <a:t>P</a:t>
            </a:r>
            <a:r>
              <a:rPr kumimoji="1" lang="en-US" altLang="zh-CN" sz="2800" dirty="0">
                <a:latin typeface="Times New Roman" pitchFamily="18" charset="0"/>
              </a:rPr>
              <a:t>(</a:t>
            </a:r>
            <a:r>
              <a:rPr kumimoji="1" lang="en-US" altLang="zh-CN" sz="2800" i="1" dirty="0">
                <a:latin typeface="Times New Roman" pitchFamily="18" charset="0"/>
              </a:rPr>
              <a:t>s</a:t>
            </a:r>
            <a:r>
              <a:rPr kumimoji="1" lang="en-US" altLang="zh-CN" sz="2800" baseline="-25000" dirty="0">
                <a:latin typeface="Times New Roman" pitchFamily="18" charset="0"/>
              </a:rPr>
              <a:t>1</a:t>
            </a:r>
            <a:r>
              <a:rPr kumimoji="1" lang="en-US" altLang="zh-CN" sz="2800" dirty="0">
                <a:latin typeface="Times New Roman" pitchFamily="18" charset="0"/>
              </a:rPr>
              <a:t>) = </a:t>
            </a:r>
            <a:r>
              <a:rPr kumimoji="1" lang="en-US" altLang="zh-CN" sz="2800" i="1" dirty="0">
                <a:latin typeface="Times New Roman" pitchFamily="18" charset="0"/>
              </a:rPr>
              <a:t>P</a:t>
            </a:r>
            <a:r>
              <a:rPr kumimoji="1" lang="en-US" altLang="zh-CN" sz="2800" dirty="0">
                <a:latin typeface="Times New Roman" pitchFamily="18" charset="0"/>
              </a:rPr>
              <a:t>(13) = 0.14</a:t>
            </a:r>
          </a:p>
          <a:p>
            <a:pPr eaLnBrk="1" hangingPunct="1">
              <a:lnSpc>
                <a:spcPct val="120000"/>
              </a:lnSpc>
              <a:spcBef>
                <a:spcPct val="20000"/>
              </a:spcBef>
            </a:pPr>
            <a:r>
              <a:rPr kumimoji="1" lang="en-US" altLang="zh-CN" sz="2800" i="1" dirty="0">
                <a:latin typeface="Times New Roman" pitchFamily="18" charset="0"/>
              </a:rPr>
              <a:t>                       P</a:t>
            </a:r>
            <a:r>
              <a:rPr kumimoji="1" lang="en-US" altLang="zh-CN" sz="2800" dirty="0">
                <a:latin typeface="Times New Roman" pitchFamily="18" charset="0"/>
              </a:rPr>
              <a:t>(</a:t>
            </a:r>
            <a:r>
              <a:rPr kumimoji="1" lang="en-US" altLang="zh-CN" sz="2800" i="1" dirty="0">
                <a:latin typeface="Times New Roman" pitchFamily="18" charset="0"/>
              </a:rPr>
              <a:t>s</a:t>
            </a:r>
            <a:r>
              <a:rPr kumimoji="1" lang="en-US" altLang="zh-CN" sz="2800" baseline="-25000" dirty="0">
                <a:latin typeface="Times New Roman" pitchFamily="18" charset="0"/>
              </a:rPr>
              <a:t>2</a:t>
            </a:r>
            <a:r>
              <a:rPr kumimoji="1" lang="en-US" altLang="zh-CN" sz="2800" dirty="0">
                <a:latin typeface="Times New Roman" pitchFamily="18" charset="0"/>
              </a:rPr>
              <a:t>) = </a:t>
            </a:r>
            <a:r>
              <a:rPr kumimoji="1" lang="en-US" altLang="zh-CN" sz="2800" i="1" dirty="0">
                <a:latin typeface="Times New Roman" pitchFamily="18" charset="0"/>
              </a:rPr>
              <a:t>P</a:t>
            </a:r>
            <a:r>
              <a:rPr kumimoji="1" lang="en-US" altLang="zh-CN" sz="2800" dirty="0">
                <a:latin typeface="Times New Roman" pitchFamily="18" charset="0"/>
              </a:rPr>
              <a:t>(24) = 0.49 </a:t>
            </a:r>
          </a:p>
          <a:p>
            <a:pPr eaLnBrk="1" hangingPunct="1">
              <a:lnSpc>
                <a:spcPct val="120000"/>
              </a:lnSpc>
              <a:spcBef>
                <a:spcPct val="20000"/>
              </a:spcBef>
            </a:pPr>
            <a:r>
              <a:rPr kumimoji="1" lang="en-US" altLang="zh-CN" sz="2800" i="1" dirty="0">
                <a:latin typeface="Times New Roman" pitchFamily="18" charset="0"/>
              </a:rPr>
              <a:t>                       P</a:t>
            </a:r>
            <a:r>
              <a:rPr kumimoji="1" lang="en-US" altLang="zh-CN" sz="2800" dirty="0">
                <a:latin typeface="Times New Roman" pitchFamily="18" charset="0"/>
              </a:rPr>
              <a:t>(</a:t>
            </a:r>
            <a:r>
              <a:rPr kumimoji="1" lang="en-US" altLang="zh-CN" sz="2800" i="1" dirty="0">
                <a:latin typeface="Times New Roman" pitchFamily="18" charset="0"/>
              </a:rPr>
              <a:t>s</a:t>
            </a:r>
            <a:r>
              <a:rPr kumimoji="1" lang="en-US" altLang="zh-CN" sz="2800" baseline="-25000" dirty="0">
                <a:latin typeface="Times New Roman" pitchFamily="18" charset="0"/>
              </a:rPr>
              <a:t>3</a:t>
            </a:r>
            <a:r>
              <a:rPr kumimoji="1" lang="en-US" altLang="zh-CN" sz="2800" dirty="0">
                <a:latin typeface="Times New Roman" pitchFamily="18" charset="0"/>
              </a:rPr>
              <a:t>) = </a:t>
            </a:r>
            <a:r>
              <a:rPr kumimoji="1" lang="en-US" altLang="zh-CN" sz="2800" i="1" dirty="0">
                <a:latin typeface="Times New Roman" pitchFamily="18" charset="0"/>
              </a:rPr>
              <a:t>P</a:t>
            </a:r>
            <a:r>
              <a:rPr kumimoji="1" lang="en-US" altLang="zh-CN" sz="2800" dirty="0">
                <a:latin typeface="Times New Roman" pitchFamily="18" charset="0"/>
              </a:rPr>
              <a:t>(8) = 0.06</a:t>
            </a:r>
          </a:p>
          <a:p>
            <a:pPr eaLnBrk="1" hangingPunct="1">
              <a:lnSpc>
                <a:spcPct val="120000"/>
              </a:lnSpc>
              <a:spcBef>
                <a:spcPct val="20000"/>
              </a:spcBef>
            </a:pPr>
            <a:r>
              <a:rPr kumimoji="1" lang="en-US" altLang="zh-CN" sz="2800" i="1" dirty="0">
                <a:latin typeface="Times New Roman" pitchFamily="18" charset="0"/>
              </a:rPr>
              <a:t>                       P</a:t>
            </a:r>
            <a:r>
              <a:rPr kumimoji="1" lang="en-US" altLang="zh-CN" sz="2800" dirty="0">
                <a:latin typeface="Times New Roman" pitchFamily="18" charset="0"/>
              </a:rPr>
              <a:t>(</a:t>
            </a:r>
            <a:r>
              <a:rPr kumimoji="1" lang="en-US" altLang="zh-CN" sz="2800" i="1" dirty="0">
                <a:latin typeface="Times New Roman" pitchFamily="18" charset="0"/>
              </a:rPr>
              <a:t>s</a:t>
            </a:r>
            <a:r>
              <a:rPr kumimoji="1" lang="en-US" altLang="zh-CN" sz="2800" baseline="-25000" dirty="0">
                <a:latin typeface="Times New Roman" pitchFamily="18" charset="0"/>
              </a:rPr>
              <a:t>4</a:t>
            </a:r>
            <a:r>
              <a:rPr kumimoji="1" lang="en-US" altLang="zh-CN" sz="2800" dirty="0">
                <a:latin typeface="Times New Roman" pitchFamily="18" charset="0"/>
              </a:rPr>
              <a:t>) = </a:t>
            </a:r>
            <a:r>
              <a:rPr kumimoji="1" lang="en-US" altLang="zh-CN" sz="2800" i="1" dirty="0">
                <a:latin typeface="Times New Roman" pitchFamily="18" charset="0"/>
              </a:rPr>
              <a:t>P</a:t>
            </a:r>
            <a:r>
              <a:rPr kumimoji="1" lang="en-US" altLang="zh-CN" sz="2800" dirty="0">
                <a:latin typeface="Times New Roman" pitchFamily="18" charset="0"/>
              </a:rPr>
              <a:t>(19) = 0.31</a:t>
            </a:r>
            <a:endParaRPr lang="en-US" altLang="zh-CN" sz="2800" dirty="0"/>
          </a:p>
        </p:txBody>
      </p:sp>
      <p:sp>
        <p:nvSpPr>
          <p:cNvPr id="8198" name="Rectangle 8"/>
          <p:cNvSpPr>
            <a:spLocks noChangeArrowheads="1"/>
          </p:cNvSpPr>
          <p:nvPr/>
        </p:nvSpPr>
        <p:spPr bwMode="auto">
          <a:xfrm>
            <a:off x="2285999" y="501651"/>
            <a:ext cx="793591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3" name="矩形 2"/>
          <p:cNvSpPr/>
          <p:nvPr/>
        </p:nvSpPr>
        <p:spPr>
          <a:xfrm>
            <a:off x="8420592" y="2902583"/>
            <a:ext cx="3326160" cy="1865126"/>
          </a:xfrm>
          <a:prstGeom prst="rect">
            <a:avLst/>
          </a:prstGeom>
        </p:spPr>
        <p:txBody>
          <a:bodyPr wrap="square">
            <a:spAutoFit/>
          </a:bodyPr>
          <a:lstStyle/>
          <a:p>
            <a:pPr marL="342900" indent="-342900" eaLnBrk="0" hangingPunct="0">
              <a:lnSpc>
                <a:spcPct val="90000"/>
              </a:lnSpc>
              <a:spcBef>
                <a:spcPct val="40000"/>
              </a:spcBef>
              <a:buClr>
                <a:schemeClr val="hlink"/>
              </a:buClr>
            </a:pPr>
            <a:r>
              <a:rPr lang="zh-CN" altLang="en-US" sz="2400" b="1" i="1" dirty="0">
                <a:latin typeface="Times New Roman" pitchFamily="18" charset="0"/>
              </a:rPr>
              <a:t> </a:t>
            </a:r>
            <a:r>
              <a:rPr lang="en-US" altLang="zh-CN" sz="2400" b="1" i="1" dirty="0">
                <a:latin typeface="Times New Roman" pitchFamily="18" charset="0"/>
              </a:rPr>
              <a:t>f </a:t>
            </a:r>
            <a:r>
              <a:rPr lang="en-US" altLang="zh-CN" sz="2400" b="1" dirty="0">
                <a:latin typeface="Times New Roman" pitchFamily="18" charset="0"/>
              </a:rPr>
              <a:t>(</a:t>
            </a:r>
            <a:r>
              <a:rPr lang="en-US" altLang="zh-CN" sz="2400" b="1" i="1" dirty="0">
                <a:latin typeface="Times New Roman" pitchFamily="18" charset="0"/>
              </a:rPr>
              <a:t>s</a:t>
            </a:r>
            <a:r>
              <a:rPr lang="en-US" altLang="zh-CN" sz="2400" b="1" baseline="-25000" dirty="0">
                <a:latin typeface="Times New Roman" pitchFamily="18" charset="0"/>
              </a:rPr>
              <a:t>1</a:t>
            </a:r>
            <a:r>
              <a:rPr lang="en-US" altLang="zh-CN" sz="2400" b="1" dirty="0">
                <a:latin typeface="Times New Roman" pitchFamily="18" charset="0"/>
              </a:rPr>
              <a:t>) = </a:t>
            </a:r>
            <a:r>
              <a:rPr lang="en-US" altLang="zh-CN" sz="2400" b="1" i="1" dirty="0">
                <a:latin typeface="Times New Roman" pitchFamily="18" charset="0"/>
              </a:rPr>
              <a:t>f</a:t>
            </a:r>
            <a:r>
              <a:rPr lang="en-US" altLang="zh-CN" sz="2400" b="1" dirty="0">
                <a:latin typeface="Times New Roman" pitchFamily="18" charset="0"/>
              </a:rPr>
              <a:t>(13) = 13</a:t>
            </a:r>
            <a:r>
              <a:rPr lang="en-US" altLang="zh-CN" sz="2400" b="1" baseline="30000" dirty="0">
                <a:latin typeface="Times New Roman" pitchFamily="18" charset="0"/>
              </a:rPr>
              <a:t>2 </a:t>
            </a:r>
            <a:r>
              <a:rPr lang="en-US" altLang="zh-CN" sz="2400" b="1" dirty="0">
                <a:latin typeface="Times New Roman" pitchFamily="18" charset="0"/>
              </a:rPr>
              <a:t>= 169</a:t>
            </a:r>
          </a:p>
          <a:p>
            <a:pPr marL="342900" indent="-342900" eaLnBrk="0" hangingPunct="0">
              <a:lnSpc>
                <a:spcPct val="90000"/>
              </a:lnSpc>
              <a:spcBef>
                <a:spcPct val="40000"/>
              </a:spcBef>
              <a:buClr>
                <a:schemeClr val="hlink"/>
              </a:buClr>
            </a:pPr>
            <a:r>
              <a:rPr lang="en-US" altLang="zh-CN" sz="2400" b="1" i="1" dirty="0">
                <a:latin typeface="Times New Roman" pitchFamily="18" charset="0"/>
              </a:rPr>
              <a:t>f </a:t>
            </a:r>
            <a:r>
              <a:rPr lang="en-US" altLang="zh-CN" sz="2400" b="1" dirty="0">
                <a:latin typeface="Times New Roman" pitchFamily="18" charset="0"/>
              </a:rPr>
              <a:t>(</a:t>
            </a:r>
            <a:r>
              <a:rPr lang="en-US" altLang="zh-CN" sz="2400" b="1" i="1" dirty="0">
                <a:latin typeface="Times New Roman" pitchFamily="18" charset="0"/>
              </a:rPr>
              <a:t>s</a:t>
            </a:r>
            <a:r>
              <a:rPr lang="en-US" altLang="zh-CN" sz="2400" b="1" baseline="-25000" dirty="0">
                <a:latin typeface="Times New Roman" pitchFamily="18" charset="0"/>
              </a:rPr>
              <a:t>2</a:t>
            </a:r>
            <a:r>
              <a:rPr lang="en-US" altLang="zh-CN" sz="2400" b="1" dirty="0">
                <a:latin typeface="Times New Roman" pitchFamily="18" charset="0"/>
              </a:rPr>
              <a:t>) = </a:t>
            </a:r>
            <a:r>
              <a:rPr lang="en-US" altLang="zh-CN" sz="2400" b="1" i="1" dirty="0">
                <a:latin typeface="Times New Roman" pitchFamily="18" charset="0"/>
              </a:rPr>
              <a:t>f</a:t>
            </a:r>
            <a:r>
              <a:rPr lang="en-US" altLang="zh-CN" sz="2400" b="1" dirty="0">
                <a:latin typeface="Times New Roman" pitchFamily="18" charset="0"/>
              </a:rPr>
              <a:t>(24) = 24</a:t>
            </a:r>
            <a:r>
              <a:rPr lang="en-US" altLang="zh-CN" sz="2400" b="1" baseline="30000" dirty="0">
                <a:latin typeface="Times New Roman" pitchFamily="18" charset="0"/>
              </a:rPr>
              <a:t>2 </a:t>
            </a:r>
            <a:r>
              <a:rPr lang="en-US" altLang="zh-CN" sz="2400" b="1" dirty="0">
                <a:latin typeface="Times New Roman" pitchFamily="18" charset="0"/>
              </a:rPr>
              <a:t>= 576</a:t>
            </a:r>
          </a:p>
          <a:p>
            <a:pPr marL="342900" indent="-342900" eaLnBrk="0" hangingPunct="0">
              <a:lnSpc>
                <a:spcPct val="90000"/>
              </a:lnSpc>
              <a:spcBef>
                <a:spcPct val="40000"/>
              </a:spcBef>
              <a:buClr>
                <a:schemeClr val="hlink"/>
              </a:buClr>
            </a:pPr>
            <a:r>
              <a:rPr lang="en-US" altLang="zh-CN" sz="2400" b="1" i="1" dirty="0">
                <a:latin typeface="Times New Roman" pitchFamily="18" charset="0"/>
              </a:rPr>
              <a:t> f </a:t>
            </a:r>
            <a:r>
              <a:rPr lang="en-US" altLang="zh-CN" sz="2400" b="1" dirty="0">
                <a:latin typeface="Times New Roman" pitchFamily="18" charset="0"/>
              </a:rPr>
              <a:t>(</a:t>
            </a:r>
            <a:r>
              <a:rPr lang="en-US" altLang="zh-CN" sz="2400" b="1" i="1" dirty="0">
                <a:latin typeface="Times New Roman" pitchFamily="18" charset="0"/>
              </a:rPr>
              <a:t>s</a:t>
            </a:r>
            <a:r>
              <a:rPr lang="en-US" altLang="zh-CN" sz="2400" b="1" baseline="-25000" dirty="0">
                <a:latin typeface="Times New Roman" pitchFamily="18" charset="0"/>
              </a:rPr>
              <a:t>3</a:t>
            </a:r>
            <a:r>
              <a:rPr lang="en-US" altLang="zh-CN" sz="2400" b="1" dirty="0">
                <a:latin typeface="Times New Roman" pitchFamily="18" charset="0"/>
              </a:rPr>
              <a:t>) = </a:t>
            </a:r>
            <a:r>
              <a:rPr lang="en-US" altLang="zh-CN" sz="2400" b="1" i="1" dirty="0">
                <a:latin typeface="Times New Roman" pitchFamily="18" charset="0"/>
              </a:rPr>
              <a:t>f</a:t>
            </a:r>
            <a:r>
              <a:rPr lang="en-US" altLang="zh-CN" sz="2400" b="1" dirty="0">
                <a:latin typeface="Times New Roman" pitchFamily="18" charset="0"/>
              </a:rPr>
              <a:t>(8) = 8</a:t>
            </a:r>
            <a:r>
              <a:rPr lang="en-US" altLang="zh-CN" sz="2400" b="1" baseline="30000" dirty="0">
                <a:latin typeface="Times New Roman" pitchFamily="18" charset="0"/>
              </a:rPr>
              <a:t>2 </a:t>
            </a:r>
            <a:r>
              <a:rPr lang="en-US" altLang="zh-CN" sz="2400" b="1" dirty="0">
                <a:latin typeface="Times New Roman" pitchFamily="18" charset="0"/>
              </a:rPr>
              <a:t>= 64</a:t>
            </a:r>
          </a:p>
          <a:p>
            <a:pPr marL="342900" indent="-342900" eaLnBrk="0" hangingPunct="0">
              <a:lnSpc>
                <a:spcPct val="90000"/>
              </a:lnSpc>
              <a:spcBef>
                <a:spcPct val="40000"/>
              </a:spcBef>
              <a:buClr>
                <a:schemeClr val="hlink"/>
              </a:buClr>
            </a:pPr>
            <a:r>
              <a:rPr lang="en-US" altLang="zh-CN" sz="2400" b="1" i="1" dirty="0">
                <a:latin typeface="Times New Roman" pitchFamily="18" charset="0"/>
              </a:rPr>
              <a:t> f </a:t>
            </a:r>
            <a:r>
              <a:rPr lang="en-US" altLang="zh-CN" sz="2400" b="1" dirty="0">
                <a:latin typeface="Times New Roman" pitchFamily="18" charset="0"/>
              </a:rPr>
              <a:t>(</a:t>
            </a:r>
            <a:r>
              <a:rPr lang="en-US" altLang="zh-CN" sz="2400" b="1" i="1" dirty="0">
                <a:latin typeface="Times New Roman" pitchFamily="18" charset="0"/>
              </a:rPr>
              <a:t>s</a:t>
            </a:r>
            <a:r>
              <a:rPr lang="en-US" altLang="zh-CN" sz="2400" b="1" baseline="-25000" dirty="0">
                <a:latin typeface="Times New Roman" pitchFamily="18" charset="0"/>
              </a:rPr>
              <a:t>4</a:t>
            </a:r>
            <a:r>
              <a:rPr lang="en-US" altLang="zh-CN" sz="2400" b="1" dirty="0">
                <a:latin typeface="Times New Roman" pitchFamily="18" charset="0"/>
              </a:rPr>
              <a:t>) = </a:t>
            </a:r>
            <a:r>
              <a:rPr lang="en-US" altLang="zh-CN" sz="2400" b="1" i="1" dirty="0">
                <a:latin typeface="Times New Roman" pitchFamily="18" charset="0"/>
              </a:rPr>
              <a:t>f</a:t>
            </a:r>
            <a:r>
              <a:rPr lang="en-US" altLang="zh-CN" sz="2400" b="1" dirty="0">
                <a:latin typeface="Times New Roman" pitchFamily="18" charset="0"/>
              </a:rPr>
              <a:t>(19) = 19</a:t>
            </a:r>
            <a:r>
              <a:rPr lang="en-US" altLang="zh-CN" sz="2400" b="1" baseline="30000" dirty="0">
                <a:latin typeface="Times New Roman" pitchFamily="18" charset="0"/>
              </a:rPr>
              <a:t>2 </a:t>
            </a:r>
            <a:r>
              <a:rPr lang="en-US" altLang="zh-CN" sz="2400" b="1" dirty="0">
                <a:latin typeface="Times New Roman" pitchFamily="18" charset="0"/>
              </a:rPr>
              <a:t>= 361</a:t>
            </a:r>
          </a:p>
        </p:txBody>
      </p:sp>
      <p:sp>
        <p:nvSpPr>
          <p:cNvPr id="4" name="灯片编号占位符 3">
            <a:extLst>
              <a:ext uri="{FF2B5EF4-FFF2-40B4-BE49-F238E27FC236}">
                <a16:creationId xmlns:a16="http://schemas.microsoft.com/office/drawing/2014/main" id="{7A736A6C-EB53-70CF-7C6F-8229076F4492}"/>
              </a:ext>
            </a:extLst>
          </p:cNvPr>
          <p:cNvSpPr>
            <a:spLocks noGrp="1"/>
          </p:cNvSpPr>
          <p:nvPr>
            <p:ph type="sldNum" sz="quarter" idx="11"/>
          </p:nvPr>
        </p:nvSpPr>
        <p:spPr/>
        <p:txBody>
          <a:bodyPr/>
          <a:lstStyle/>
          <a:p>
            <a:pPr>
              <a:defRPr/>
            </a:pPr>
            <a:fld id="{E0FB5469-1AEB-496D-971A-66705BF2F73C}" type="slidenum">
              <a:rPr lang="en-US" altLang="zh-CN" smtClean="0"/>
              <a:pPr>
                <a:defRPr/>
              </a:pPr>
              <a:t>19</a:t>
            </a:fld>
            <a:endParaRPr lang="en-US" altLang="zh-CN"/>
          </a:p>
        </p:txBody>
      </p:sp>
    </p:spTree>
    <p:extLst>
      <p:ext uri="{BB962C8B-B14F-4D97-AF65-F5344CB8AC3E}">
        <p14:creationId xmlns:p14="http://schemas.microsoft.com/office/powerpoint/2010/main" val="36386942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38">
                                            <p:txEl>
                                              <p:pRg st="0" end="0"/>
                                            </p:txEl>
                                          </p:spTgt>
                                        </p:tgtEl>
                                        <p:attrNameLst>
                                          <p:attrName>style.visibility</p:attrName>
                                        </p:attrNameLst>
                                      </p:cBhvr>
                                      <p:to>
                                        <p:strVal val="visible"/>
                                      </p:to>
                                    </p:set>
                                    <p:animEffect transition="in" filter="blinds(horizontal)">
                                      <p:cBhvr>
                                        <p:cTn id="7" dur="500"/>
                                        <p:tgtEl>
                                          <p:spTgt spid="911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1142"/>
                                        </p:tgtEl>
                                        <p:attrNameLst>
                                          <p:attrName>style.visibility</p:attrName>
                                        </p:attrNameLst>
                                      </p:cBhvr>
                                      <p:to>
                                        <p:strVal val="visible"/>
                                      </p:to>
                                    </p:set>
                                    <p:animEffect transition="in" filter="blinds(horizontal)">
                                      <p:cBhvr>
                                        <p:cTn id="17" dur="500"/>
                                        <p:tgtEl>
                                          <p:spTgt spid="91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build="p"/>
      <p:bldP spid="911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3233542" y="1659254"/>
            <a:ext cx="4103687" cy="503238"/>
          </a:xfrm>
          <a:prstGeom prst="rect">
            <a:avLst/>
          </a:prstGeom>
          <a:solidFill>
            <a:srgbClr val="FFFFFF"/>
          </a:solidFill>
          <a:ln w="9525">
            <a:solidFill>
              <a:srgbClr val="FFFFFF"/>
            </a:solidFill>
            <a:miter lim="800000"/>
            <a:headEnd/>
            <a:tailEnd/>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r>
              <a:rPr lang="zh-CN" altLang="en-US" sz="3200" b="1" dirty="0">
                <a:solidFill>
                  <a:srgbClr val="FF0000"/>
                </a:solidFill>
                <a:latin typeface="Times New Roman" pitchFamily="18" charset="0"/>
              </a:rPr>
              <a:t>      轮盘赌选择示意图</a:t>
            </a:r>
            <a:endParaRPr lang="zh-CN" altLang="en-US" sz="3200" b="1" dirty="0">
              <a:solidFill>
                <a:srgbClr val="FF0000"/>
              </a:solidFill>
            </a:endParaRPr>
          </a:p>
        </p:txBody>
      </p:sp>
      <p:grpSp>
        <p:nvGrpSpPr>
          <p:cNvPr id="46083" name="Group 3"/>
          <p:cNvGrpSpPr>
            <a:grpSpLocks/>
          </p:cNvGrpSpPr>
          <p:nvPr/>
        </p:nvGrpSpPr>
        <p:grpSpPr bwMode="auto">
          <a:xfrm>
            <a:off x="3390096" y="2516188"/>
            <a:ext cx="4440237" cy="3960812"/>
            <a:chOff x="1791" y="709"/>
            <a:chExt cx="2797" cy="2495"/>
          </a:xfrm>
        </p:grpSpPr>
        <p:sp>
          <p:nvSpPr>
            <p:cNvPr id="46085" name="Oval 4"/>
            <p:cNvSpPr>
              <a:spLocks noChangeArrowheads="1"/>
            </p:cNvSpPr>
            <p:nvPr/>
          </p:nvSpPr>
          <p:spPr bwMode="auto">
            <a:xfrm>
              <a:off x="1791" y="709"/>
              <a:ext cx="2585" cy="2495"/>
            </a:xfrm>
            <a:prstGeom prst="ellipse">
              <a:avLst/>
            </a:prstGeom>
            <a:solidFill>
              <a:schemeClr val="accent1"/>
            </a:solidFill>
            <a:ln w="9525">
              <a:solidFill>
                <a:schemeClr val="tx1"/>
              </a:solidFill>
              <a:round/>
              <a:headEnd/>
              <a:tailEnd/>
            </a:ln>
          </p:spPr>
          <p:txBody>
            <a:bodyPr wrap="none" anchor="ctr"/>
            <a:lstStyle/>
            <a:p>
              <a:endParaRPr lang="zh-CN" altLang="en-US">
                <a:ea typeface="宋体" pitchFamily="2" charset="-122"/>
              </a:endParaRPr>
            </a:p>
          </p:txBody>
        </p:sp>
        <p:sp>
          <p:nvSpPr>
            <p:cNvPr id="46086" name="Oval 5"/>
            <p:cNvSpPr>
              <a:spLocks noChangeArrowheads="1"/>
            </p:cNvSpPr>
            <p:nvPr/>
          </p:nvSpPr>
          <p:spPr bwMode="auto">
            <a:xfrm>
              <a:off x="2221" y="1143"/>
              <a:ext cx="1720" cy="1694"/>
            </a:xfrm>
            <a:prstGeom prst="ellipse">
              <a:avLst/>
            </a:prstGeom>
            <a:solidFill>
              <a:srgbClr val="FFFFFF"/>
            </a:solidFill>
            <a:ln w="9525">
              <a:solidFill>
                <a:srgbClr val="000000"/>
              </a:solidFill>
              <a:round/>
              <a:headEnd/>
              <a:tailEnd/>
            </a:ln>
          </p:spPr>
          <p:txBody>
            <a:bodyPr/>
            <a:lstStyle/>
            <a:p>
              <a:endParaRPr lang="zh-CN" altLang="en-US">
                <a:ea typeface="宋体" pitchFamily="2" charset="-122"/>
              </a:endParaRPr>
            </a:p>
          </p:txBody>
        </p:sp>
        <p:sp>
          <p:nvSpPr>
            <p:cNvPr id="46087" name="Line 6"/>
            <p:cNvSpPr>
              <a:spLocks noChangeShapeType="1"/>
            </p:cNvSpPr>
            <p:nvPr/>
          </p:nvSpPr>
          <p:spPr bwMode="auto">
            <a:xfrm rot="20974642" flipV="1">
              <a:off x="3027" y="1423"/>
              <a:ext cx="695" cy="5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8" name="Line 7"/>
            <p:cNvSpPr>
              <a:spLocks noChangeShapeType="1"/>
            </p:cNvSpPr>
            <p:nvPr/>
          </p:nvSpPr>
          <p:spPr bwMode="auto">
            <a:xfrm rot="4899708" flipH="1">
              <a:off x="2444" y="1464"/>
              <a:ext cx="487" cy="7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9" name="Line 8"/>
            <p:cNvSpPr>
              <a:spLocks noChangeShapeType="1"/>
            </p:cNvSpPr>
            <p:nvPr/>
          </p:nvSpPr>
          <p:spPr bwMode="auto">
            <a:xfrm rot="10912059" flipV="1">
              <a:off x="2219" y="1988"/>
              <a:ext cx="867" cy="1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0" name="Text Box 9"/>
            <p:cNvSpPr txBox="1">
              <a:spLocks noChangeArrowheads="1"/>
            </p:cNvSpPr>
            <p:nvPr/>
          </p:nvSpPr>
          <p:spPr bwMode="auto">
            <a:xfrm>
              <a:off x="2947" y="1253"/>
              <a:ext cx="469" cy="400"/>
            </a:xfrm>
            <a:prstGeom prst="rect">
              <a:avLst/>
            </a:prstGeom>
            <a:solidFill>
              <a:srgbClr val="FFFFFF"/>
            </a:solidFill>
            <a:ln w="9525">
              <a:solidFill>
                <a:srgbClr val="FFFFFF"/>
              </a:solidFill>
              <a:miter lim="800000"/>
              <a:headEnd/>
              <a:tailEnd/>
            </a:ln>
          </p:spPr>
          <p:txBody>
            <a:bodyPr lIns="0" tIns="0" rIns="0" bIns="0"/>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r>
                <a:rPr lang="en-US" altLang="zh-CN" sz="2000" i="1">
                  <a:latin typeface="Times New Roman" pitchFamily="18" charset="0"/>
                </a:rPr>
                <a:t>s</a:t>
              </a:r>
              <a:r>
                <a:rPr lang="en-US" altLang="zh-CN" sz="2000" baseline="-25000">
                  <a:latin typeface="Times New Roman" pitchFamily="18" charset="0"/>
                </a:rPr>
                <a:t>4</a:t>
              </a:r>
              <a:endParaRPr lang="en-US" altLang="zh-CN" sz="2000">
                <a:latin typeface="Times New Roman" pitchFamily="18" charset="0"/>
              </a:endParaRPr>
            </a:p>
            <a:p>
              <a:pPr algn="just" eaLnBrk="1" hangingPunct="1"/>
              <a:r>
                <a:rPr lang="en-US" altLang="zh-CN" sz="2000">
                  <a:latin typeface="Times New Roman" pitchFamily="18" charset="0"/>
                </a:rPr>
                <a:t>0.31</a:t>
              </a:r>
              <a:endParaRPr lang="en-US" altLang="zh-CN" sz="2000"/>
            </a:p>
          </p:txBody>
        </p:sp>
        <p:sp>
          <p:nvSpPr>
            <p:cNvPr id="46091" name="Text Box 10"/>
            <p:cNvSpPr txBox="1">
              <a:spLocks noChangeArrowheads="1"/>
            </p:cNvSpPr>
            <p:nvPr/>
          </p:nvSpPr>
          <p:spPr bwMode="auto">
            <a:xfrm>
              <a:off x="2947" y="2160"/>
              <a:ext cx="473" cy="378"/>
            </a:xfrm>
            <a:prstGeom prst="rect">
              <a:avLst/>
            </a:prstGeom>
            <a:solidFill>
              <a:srgbClr val="FFFFFF"/>
            </a:solidFill>
            <a:ln w="9525">
              <a:solidFill>
                <a:srgbClr val="FFFFFF"/>
              </a:solidFill>
              <a:miter lim="800000"/>
              <a:headEnd/>
              <a:tailEnd/>
            </a:ln>
          </p:spPr>
          <p:txBody>
            <a:bodyPr lIns="0" tIns="0" rIns="0" bIns="0"/>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r>
                <a:rPr lang="en-US" altLang="zh-CN" sz="2000" i="1">
                  <a:latin typeface="Times New Roman" pitchFamily="18" charset="0"/>
                </a:rPr>
                <a:t>s</a:t>
              </a:r>
              <a:r>
                <a:rPr lang="en-US" altLang="zh-CN" sz="2000" baseline="-25000">
                  <a:latin typeface="Times New Roman" pitchFamily="18" charset="0"/>
                </a:rPr>
                <a:t>2</a:t>
              </a:r>
              <a:endParaRPr lang="en-US" altLang="zh-CN" sz="2000">
                <a:latin typeface="Times New Roman" pitchFamily="18" charset="0"/>
              </a:endParaRPr>
            </a:p>
            <a:p>
              <a:pPr algn="just" eaLnBrk="1" hangingPunct="1"/>
              <a:r>
                <a:rPr lang="en-US" altLang="zh-CN" sz="2000">
                  <a:latin typeface="Times New Roman" pitchFamily="18" charset="0"/>
                </a:rPr>
                <a:t>0.49</a:t>
              </a:r>
              <a:endParaRPr lang="en-US" altLang="zh-CN" sz="2000"/>
            </a:p>
          </p:txBody>
        </p:sp>
        <p:sp>
          <p:nvSpPr>
            <p:cNvPr id="46092" name="Text Box 11"/>
            <p:cNvSpPr txBox="1">
              <a:spLocks noChangeArrowheads="1"/>
            </p:cNvSpPr>
            <p:nvPr/>
          </p:nvSpPr>
          <p:spPr bwMode="auto">
            <a:xfrm>
              <a:off x="3482" y="1631"/>
              <a:ext cx="360" cy="339"/>
            </a:xfrm>
            <a:prstGeom prst="rect">
              <a:avLst/>
            </a:prstGeom>
            <a:solidFill>
              <a:srgbClr val="FFFFFF"/>
            </a:solidFill>
            <a:ln w="9525">
              <a:solidFill>
                <a:srgbClr val="FFFFFF"/>
              </a:solidFill>
              <a:miter lim="800000"/>
              <a:headEnd/>
              <a:tailEnd/>
            </a:ln>
          </p:spPr>
          <p:txBody>
            <a:bodyPr lIns="0" tIns="0" rIns="0" bIns="0"/>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r>
                <a:rPr lang="en-US" altLang="zh-CN" sz="2000" i="1">
                  <a:latin typeface="Times New Roman" pitchFamily="18" charset="0"/>
                </a:rPr>
                <a:t>s</a:t>
              </a:r>
              <a:r>
                <a:rPr lang="en-US" altLang="zh-CN" sz="2000" baseline="-25000">
                  <a:latin typeface="Times New Roman" pitchFamily="18" charset="0"/>
                </a:rPr>
                <a:t>1</a:t>
              </a:r>
              <a:endParaRPr lang="en-US" altLang="zh-CN" sz="2000">
                <a:latin typeface="Times New Roman" pitchFamily="18" charset="0"/>
              </a:endParaRPr>
            </a:p>
            <a:p>
              <a:pPr algn="just" eaLnBrk="1" hangingPunct="1"/>
              <a:r>
                <a:rPr lang="en-US" altLang="zh-CN" sz="2000">
                  <a:latin typeface="Times New Roman" pitchFamily="18" charset="0"/>
                </a:rPr>
                <a:t>0.14</a:t>
              </a:r>
              <a:endParaRPr lang="en-US" altLang="zh-CN" sz="2000"/>
            </a:p>
          </p:txBody>
        </p:sp>
        <p:sp>
          <p:nvSpPr>
            <p:cNvPr id="46093" name="Line 12"/>
            <p:cNvSpPr>
              <a:spLocks noChangeShapeType="1"/>
            </p:cNvSpPr>
            <p:nvPr/>
          </p:nvSpPr>
          <p:spPr bwMode="auto">
            <a:xfrm>
              <a:off x="3080" y="2004"/>
              <a:ext cx="852" cy="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4" name="AutoShape 13"/>
            <p:cNvSpPr>
              <a:spLocks noChangeArrowheads="1"/>
            </p:cNvSpPr>
            <p:nvPr/>
          </p:nvSpPr>
          <p:spPr bwMode="auto">
            <a:xfrm>
              <a:off x="3042" y="709"/>
              <a:ext cx="156" cy="400"/>
            </a:xfrm>
            <a:prstGeom prst="downArrow">
              <a:avLst>
                <a:gd name="adj1" fmla="val 50000"/>
                <a:gd name="adj2" fmla="val 64103"/>
              </a:avLst>
            </a:prstGeom>
            <a:solidFill>
              <a:srgbClr val="FFFFFF"/>
            </a:solidFill>
            <a:ln w="9525">
              <a:solidFill>
                <a:srgbClr val="000000"/>
              </a:solidFill>
              <a:miter lim="800000"/>
              <a:headEnd/>
              <a:tailEnd/>
            </a:ln>
          </p:spPr>
          <p:txBody>
            <a:bodyPr vert="eaVert"/>
            <a:lstStyle/>
            <a:p>
              <a:endParaRPr lang="zh-CN" altLang="en-US">
                <a:ea typeface="宋体" pitchFamily="2" charset="-122"/>
              </a:endParaRPr>
            </a:p>
          </p:txBody>
        </p:sp>
        <p:sp>
          <p:nvSpPr>
            <p:cNvPr id="46095" name="Line 14"/>
            <p:cNvSpPr>
              <a:spLocks noChangeShapeType="1"/>
            </p:cNvSpPr>
            <p:nvPr/>
          </p:nvSpPr>
          <p:spPr bwMode="auto">
            <a:xfrm rot="17992015" flipH="1">
              <a:off x="4272" y="1924"/>
              <a:ext cx="398" cy="235"/>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6096" name="Text Box 15"/>
            <p:cNvSpPr txBox="1">
              <a:spLocks noChangeArrowheads="1"/>
            </p:cNvSpPr>
            <p:nvPr/>
          </p:nvSpPr>
          <p:spPr bwMode="auto">
            <a:xfrm>
              <a:off x="2245" y="1842"/>
              <a:ext cx="385" cy="159"/>
            </a:xfrm>
            <a:prstGeom prst="rect">
              <a:avLst/>
            </a:prstGeom>
            <a:solidFill>
              <a:srgbClr val="FFFFFF"/>
            </a:solidFill>
            <a:ln w="9525">
              <a:solidFill>
                <a:srgbClr val="FFFFFF"/>
              </a:solidFill>
              <a:miter lim="800000"/>
              <a:headEnd/>
              <a:tailEnd/>
            </a:ln>
          </p:spPr>
          <p:txBody>
            <a:bodyPr lIns="0" tIns="0" rIns="0" bIns="0"/>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lnSpc>
                  <a:spcPct val="50000"/>
                </a:lnSpc>
              </a:pPr>
              <a:r>
                <a:rPr lang="en-US" altLang="zh-CN" i="1" dirty="0">
                  <a:latin typeface="Times New Roman" pitchFamily="18" charset="0"/>
                  <a:ea typeface="宋体" pitchFamily="2" charset="-122"/>
                </a:rPr>
                <a:t>s</a:t>
              </a:r>
              <a:r>
                <a:rPr lang="en-US" altLang="zh-CN" baseline="-25000" dirty="0">
                  <a:latin typeface="Times New Roman" pitchFamily="18" charset="0"/>
                  <a:ea typeface="宋体" pitchFamily="2" charset="-122"/>
                </a:rPr>
                <a:t>3</a:t>
              </a:r>
              <a:r>
                <a:rPr lang="en-US" altLang="zh-CN" dirty="0">
                  <a:latin typeface="Times New Roman" pitchFamily="18" charset="0"/>
                  <a:ea typeface="宋体" pitchFamily="2" charset="-122"/>
                </a:rPr>
                <a:t>0.0</a:t>
              </a:r>
              <a:r>
                <a:rPr lang="en-US" altLang="zh-CN" sz="2000" dirty="0">
                  <a:latin typeface="Times New Roman" pitchFamily="18" charset="0"/>
                </a:rPr>
                <a:t>6</a:t>
              </a:r>
              <a:endParaRPr lang="en-US" altLang="zh-CN" sz="2000" dirty="0"/>
            </a:p>
          </p:txBody>
        </p:sp>
      </p:grpSp>
      <p:sp>
        <p:nvSpPr>
          <p:cNvPr id="46084" name="Rectangle 17"/>
          <p:cNvSpPr>
            <a:spLocks noChangeArrowheads="1"/>
          </p:cNvSpPr>
          <p:nvPr/>
        </p:nvSpPr>
        <p:spPr bwMode="auto">
          <a:xfrm>
            <a:off x="1775520" y="501651"/>
            <a:ext cx="794633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17" name="Text Box 6">
            <a:extLst>
              <a:ext uri="{FF2B5EF4-FFF2-40B4-BE49-F238E27FC236}">
                <a16:creationId xmlns:a16="http://schemas.microsoft.com/office/drawing/2014/main" id="{E8545F35-7350-4C3B-B75A-24A7C2F4D53F}"/>
              </a:ext>
            </a:extLst>
          </p:cNvPr>
          <p:cNvSpPr txBox="1">
            <a:spLocks noChangeArrowheads="1"/>
          </p:cNvSpPr>
          <p:nvPr/>
        </p:nvSpPr>
        <p:spPr bwMode="auto">
          <a:xfrm>
            <a:off x="8737600" y="2925877"/>
            <a:ext cx="3332152" cy="2287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kumimoji="1" lang="en-US" altLang="zh-CN" sz="2800" i="1" dirty="0">
                <a:latin typeface="Times New Roman" pitchFamily="18" charset="0"/>
              </a:rPr>
              <a:t>P</a:t>
            </a:r>
            <a:r>
              <a:rPr kumimoji="1" lang="en-US" altLang="zh-CN" sz="2800" dirty="0">
                <a:latin typeface="Times New Roman" pitchFamily="18" charset="0"/>
              </a:rPr>
              <a:t>(</a:t>
            </a:r>
            <a:r>
              <a:rPr kumimoji="1" lang="en-US" altLang="zh-CN" sz="2800" i="1" dirty="0">
                <a:latin typeface="Times New Roman" pitchFamily="18" charset="0"/>
              </a:rPr>
              <a:t>s</a:t>
            </a:r>
            <a:r>
              <a:rPr kumimoji="1" lang="en-US" altLang="zh-CN" sz="2800" baseline="-25000" dirty="0">
                <a:latin typeface="Times New Roman" pitchFamily="18" charset="0"/>
              </a:rPr>
              <a:t>1</a:t>
            </a:r>
            <a:r>
              <a:rPr kumimoji="1" lang="en-US" altLang="zh-CN" sz="2800" dirty="0">
                <a:latin typeface="Times New Roman" pitchFamily="18" charset="0"/>
              </a:rPr>
              <a:t>) = </a:t>
            </a:r>
            <a:r>
              <a:rPr kumimoji="1" lang="en-US" altLang="zh-CN" sz="2800" i="1" dirty="0">
                <a:latin typeface="Times New Roman" pitchFamily="18" charset="0"/>
              </a:rPr>
              <a:t>P</a:t>
            </a:r>
            <a:r>
              <a:rPr kumimoji="1" lang="en-US" altLang="zh-CN" sz="2800" dirty="0">
                <a:latin typeface="Times New Roman" pitchFamily="18" charset="0"/>
              </a:rPr>
              <a:t>(13) = 0.14</a:t>
            </a:r>
          </a:p>
          <a:p>
            <a:pPr eaLnBrk="1" hangingPunct="1">
              <a:lnSpc>
                <a:spcPct val="120000"/>
              </a:lnSpc>
              <a:spcBef>
                <a:spcPct val="20000"/>
              </a:spcBef>
            </a:pPr>
            <a:r>
              <a:rPr kumimoji="1" lang="en-US" altLang="zh-CN" sz="2800" i="1" dirty="0">
                <a:latin typeface="Times New Roman" pitchFamily="18" charset="0"/>
              </a:rPr>
              <a:t>P</a:t>
            </a:r>
            <a:r>
              <a:rPr kumimoji="1" lang="en-US" altLang="zh-CN" sz="2800" dirty="0">
                <a:latin typeface="Times New Roman" pitchFamily="18" charset="0"/>
              </a:rPr>
              <a:t>(</a:t>
            </a:r>
            <a:r>
              <a:rPr kumimoji="1" lang="en-US" altLang="zh-CN" sz="2800" i="1" dirty="0">
                <a:latin typeface="Times New Roman" pitchFamily="18" charset="0"/>
              </a:rPr>
              <a:t>s</a:t>
            </a:r>
            <a:r>
              <a:rPr kumimoji="1" lang="en-US" altLang="zh-CN" sz="2800" baseline="-25000" dirty="0">
                <a:latin typeface="Times New Roman" pitchFamily="18" charset="0"/>
              </a:rPr>
              <a:t>2</a:t>
            </a:r>
            <a:r>
              <a:rPr kumimoji="1" lang="en-US" altLang="zh-CN" sz="2800" dirty="0">
                <a:latin typeface="Times New Roman" pitchFamily="18" charset="0"/>
              </a:rPr>
              <a:t>) = </a:t>
            </a:r>
            <a:r>
              <a:rPr kumimoji="1" lang="en-US" altLang="zh-CN" sz="2800" i="1" dirty="0">
                <a:latin typeface="Times New Roman" pitchFamily="18" charset="0"/>
              </a:rPr>
              <a:t>P</a:t>
            </a:r>
            <a:r>
              <a:rPr kumimoji="1" lang="en-US" altLang="zh-CN" sz="2800" dirty="0">
                <a:latin typeface="Times New Roman" pitchFamily="18" charset="0"/>
              </a:rPr>
              <a:t>(24) = 0.49 </a:t>
            </a:r>
          </a:p>
          <a:p>
            <a:pPr eaLnBrk="1" hangingPunct="1">
              <a:lnSpc>
                <a:spcPct val="120000"/>
              </a:lnSpc>
              <a:spcBef>
                <a:spcPct val="20000"/>
              </a:spcBef>
            </a:pPr>
            <a:r>
              <a:rPr kumimoji="1" lang="en-US" altLang="zh-CN" sz="2800" i="1" dirty="0">
                <a:latin typeface="Times New Roman" pitchFamily="18" charset="0"/>
              </a:rPr>
              <a:t>P</a:t>
            </a:r>
            <a:r>
              <a:rPr kumimoji="1" lang="en-US" altLang="zh-CN" sz="2800" dirty="0">
                <a:latin typeface="Times New Roman" pitchFamily="18" charset="0"/>
              </a:rPr>
              <a:t>(</a:t>
            </a:r>
            <a:r>
              <a:rPr kumimoji="1" lang="en-US" altLang="zh-CN" sz="2800" i="1" dirty="0">
                <a:latin typeface="Times New Roman" pitchFamily="18" charset="0"/>
              </a:rPr>
              <a:t>s</a:t>
            </a:r>
            <a:r>
              <a:rPr kumimoji="1" lang="en-US" altLang="zh-CN" sz="2800" baseline="-25000" dirty="0">
                <a:latin typeface="Times New Roman" pitchFamily="18" charset="0"/>
              </a:rPr>
              <a:t>3</a:t>
            </a:r>
            <a:r>
              <a:rPr kumimoji="1" lang="en-US" altLang="zh-CN" sz="2800" dirty="0">
                <a:latin typeface="Times New Roman" pitchFamily="18" charset="0"/>
              </a:rPr>
              <a:t>) = </a:t>
            </a:r>
            <a:r>
              <a:rPr kumimoji="1" lang="en-US" altLang="zh-CN" sz="2800" i="1" dirty="0">
                <a:latin typeface="Times New Roman" pitchFamily="18" charset="0"/>
              </a:rPr>
              <a:t>P</a:t>
            </a:r>
            <a:r>
              <a:rPr kumimoji="1" lang="en-US" altLang="zh-CN" sz="2800" dirty="0">
                <a:latin typeface="Times New Roman" pitchFamily="18" charset="0"/>
              </a:rPr>
              <a:t>(8) = 0.06</a:t>
            </a:r>
          </a:p>
          <a:p>
            <a:pPr eaLnBrk="1" hangingPunct="1">
              <a:lnSpc>
                <a:spcPct val="120000"/>
              </a:lnSpc>
              <a:spcBef>
                <a:spcPct val="20000"/>
              </a:spcBef>
            </a:pPr>
            <a:r>
              <a:rPr kumimoji="1" lang="en-US" altLang="zh-CN" sz="2800" i="1" dirty="0">
                <a:latin typeface="Times New Roman" pitchFamily="18" charset="0"/>
              </a:rPr>
              <a:t>P</a:t>
            </a:r>
            <a:r>
              <a:rPr kumimoji="1" lang="en-US" altLang="zh-CN" sz="2800" dirty="0">
                <a:latin typeface="Times New Roman" pitchFamily="18" charset="0"/>
              </a:rPr>
              <a:t>(</a:t>
            </a:r>
            <a:r>
              <a:rPr kumimoji="1" lang="en-US" altLang="zh-CN" sz="2800" i="1" dirty="0">
                <a:latin typeface="Times New Roman" pitchFamily="18" charset="0"/>
              </a:rPr>
              <a:t>s</a:t>
            </a:r>
            <a:r>
              <a:rPr kumimoji="1" lang="en-US" altLang="zh-CN" sz="2800" baseline="-25000" dirty="0">
                <a:latin typeface="Times New Roman" pitchFamily="18" charset="0"/>
              </a:rPr>
              <a:t>4</a:t>
            </a:r>
            <a:r>
              <a:rPr kumimoji="1" lang="en-US" altLang="zh-CN" sz="2800" dirty="0">
                <a:latin typeface="Times New Roman" pitchFamily="18" charset="0"/>
              </a:rPr>
              <a:t>) = </a:t>
            </a:r>
            <a:r>
              <a:rPr kumimoji="1" lang="en-US" altLang="zh-CN" sz="2800" i="1" dirty="0">
                <a:latin typeface="Times New Roman" pitchFamily="18" charset="0"/>
              </a:rPr>
              <a:t>P</a:t>
            </a:r>
            <a:r>
              <a:rPr kumimoji="1" lang="en-US" altLang="zh-CN" sz="2800" dirty="0">
                <a:latin typeface="Times New Roman" pitchFamily="18" charset="0"/>
              </a:rPr>
              <a:t>(19) = 0.31</a:t>
            </a:r>
            <a:endParaRPr lang="en-US" altLang="zh-CN" sz="2800" dirty="0"/>
          </a:p>
        </p:txBody>
      </p:sp>
      <p:sp>
        <p:nvSpPr>
          <p:cNvPr id="2" name="灯片编号占位符 1">
            <a:extLst>
              <a:ext uri="{FF2B5EF4-FFF2-40B4-BE49-F238E27FC236}">
                <a16:creationId xmlns:a16="http://schemas.microsoft.com/office/drawing/2014/main" id="{F237DB05-4A4F-3E17-99F3-245DAE9997DF}"/>
              </a:ext>
            </a:extLst>
          </p:cNvPr>
          <p:cNvSpPr>
            <a:spLocks noGrp="1"/>
          </p:cNvSpPr>
          <p:nvPr>
            <p:ph type="sldNum" sz="quarter" idx="11"/>
          </p:nvPr>
        </p:nvSpPr>
        <p:spPr/>
        <p:txBody>
          <a:bodyPr/>
          <a:lstStyle/>
          <a:p>
            <a:pPr>
              <a:defRPr/>
            </a:pPr>
            <a:fld id="{E0FB5469-1AEB-496D-971A-66705BF2F73C}" type="slidenum">
              <a:rPr lang="en-US" altLang="zh-CN" smtClean="0"/>
              <a:pPr>
                <a:defRPr/>
              </a:pPr>
              <a:t>20</a:t>
            </a:fld>
            <a:endParaRPr lang="en-US" altLang="zh-CN"/>
          </a:p>
        </p:txBody>
      </p:sp>
    </p:spTree>
    <p:extLst>
      <p:ext uri="{BB962C8B-B14F-4D97-AF65-F5344CB8AC3E}">
        <p14:creationId xmlns:p14="http://schemas.microsoft.com/office/powerpoint/2010/main" val="20977949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116632"/>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赌轮选择法</a:t>
            </a:r>
          </a:p>
        </p:txBody>
      </p:sp>
      <p:sp>
        <p:nvSpPr>
          <p:cNvPr id="3" name="内容占位符 2"/>
          <p:cNvSpPr>
            <a:spLocks noGrp="1"/>
          </p:cNvSpPr>
          <p:nvPr>
            <p:ph idx="1"/>
          </p:nvPr>
        </p:nvSpPr>
        <p:spPr>
          <a:xfrm>
            <a:off x="1199456" y="1340768"/>
            <a:ext cx="9649072" cy="3886200"/>
          </a:xfrm>
        </p:spPr>
        <p:txBody>
          <a:bodyPr/>
          <a:lstStyle/>
          <a:p>
            <a:pPr marL="0" indent="0">
              <a:lnSpc>
                <a:spcPct val="150000"/>
              </a:lnSpc>
              <a:buNone/>
            </a:pPr>
            <a:r>
              <a:rPr lang="zh-CN" altLang="en-US" b="1" dirty="0">
                <a:latin typeface="Times New Roman" panose="02020603050405020304" pitchFamily="18" charset="0"/>
                <a:cs typeface="Times New Roman" panose="02020603050405020304" pitchFamily="18" charset="0"/>
              </a:rPr>
              <a:t>在算法中赌轮选择法可用下面的子过程来模拟</a:t>
            </a:r>
            <a:endParaRPr lang="en-US" altLang="zh-CN" b="1"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b="1" dirty="0">
                <a:latin typeface="Times New Roman" panose="02020603050405020304" pitchFamily="18" charset="0"/>
                <a:cs typeface="Times New Roman" panose="02020603050405020304" pitchFamily="18" charset="0"/>
              </a:rPr>
              <a:t>① 在［</a:t>
            </a:r>
            <a:r>
              <a:rPr lang="en-US" altLang="zh-CN" b="1" dirty="0">
                <a:latin typeface="Times New Roman" panose="02020603050405020304" pitchFamily="18" charset="0"/>
                <a:cs typeface="Times New Roman" panose="02020603050405020304" pitchFamily="18" charset="0"/>
              </a:rPr>
              <a:t>0, 1</a:t>
            </a:r>
            <a:r>
              <a:rPr lang="zh-CN" altLang="en-US" b="1" dirty="0">
                <a:latin typeface="Times New Roman" panose="02020603050405020304" pitchFamily="18" charset="0"/>
                <a:cs typeface="Times New Roman" panose="02020603050405020304" pitchFamily="18" charset="0"/>
              </a:rPr>
              <a:t>］区间内产生一个均匀分布的随机数</a:t>
            </a:r>
            <a:r>
              <a:rPr lang="en-US" altLang="zh-CN" b="1" dirty="0">
                <a:latin typeface="Times New Roman" panose="02020603050405020304" pitchFamily="18" charset="0"/>
                <a:cs typeface="Times New Roman" panose="02020603050405020304" pitchFamily="18" charset="0"/>
              </a:rPr>
              <a:t>r</a:t>
            </a:r>
            <a:endParaRPr lang="zh-CN" altLang="en-US" b="1" dirty="0">
              <a:latin typeface="Times New Roman" panose="02020603050405020304" pitchFamily="18" charset="0"/>
              <a:cs typeface="Times New Roman" panose="02020603050405020304" pitchFamily="18" charset="0"/>
            </a:endParaRPr>
          </a:p>
          <a:p>
            <a:pPr marL="457200" lvl="1" indent="0">
              <a:lnSpc>
                <a:spcPct val="150000"/>
              </a:lnSpc>
              <a:buNone/>
            </a:pPr>
            <a:r>
              <a:rPr lang="zh-CN" altLang="en-US" b="1" dirty="0">
                <a:latin typeface="Times New Roman" panose="02020603050405020304" pitchFamily="18" charset="0"/>
                <a:cs typeface="Times New Roman" panose="02020603050405020304" pitchFamily="18" charset="0"/>
              </a:rPr>
              <a:t>② 若</a:t>
            </a:r>
            <a:r>
              <a:rPr lang="en-US" altLang="zh-CN" b="1" i="1" dirty="0">
                <a:latin typeface="Times New Roman" panose="02020603050405020304" pitchFamily="18" charset="0"/>
                <a:cs typeface="Times New Roman" panose="02020603050405020304" pitchFamily="18" charset="0"/>
              </a:rPr>
              <a:t>r </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q</a:t>
            </a:r>
            <a:r>
              <a:rPr lang="en-US" altLang="zh-CN" b="1" baseline="-25000" dirty="0">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则染色体</a:t>
            </a:r>
            <a:r>
              <a:rPr lang="en-US" altLang="zh-CN" b="1" dirty="0">
                <a:latin typeface="Times New Roman" panose="02020603050405020304" pitchFamily="18" charset="0"/>
                <a:cs typeface="Times New Roman" panose="02020603050405020304" pitchFamily="18" charset="0"/>
              </a:rPr>
              <a:t>x</a:t>
            </a:r>
            <a:r>
              <a:rPr lang="en-US" altLang="zh-CN" b="1" baseline="-25000"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被选中。</a:t>
            </a:r>
          </a:p>
          <a:p>
            <a:pPr marL="457200" lvl="1" indent="0">
              <a:lnSpc>
                <a:spcPct val="150000"/>
              </a:lnSpc>
              <a:buNone/>
            </a:pPr>
            <a:r>
              <a:rPr lang="zh-CN" altLang="en-US" b="1" dirty="0">
                <a:latin typeface="Times New Roman" panose="02020603050405020304" pitchFamily="18" charset="0"/>
                <a:cs typeface="Times New Roman" panose="02020603050405020304" pitchFamily="18" charset="0"/>
              </a:rPr>
              <a:t>③ 若</a:t>
            </a:r>
            <a:r>
              <a:rPr lang="en-US" altLang="zh-CN" b="1" i="1" dirty="0">
                <a:latin typeface="Times New Roman" panose="02020603050405020304" pitchFamily="18" charset="0"/>
                <a:cs typeface="Times New Roman" panose="02020603050405020304" pitchFamily="18" charset="0"/>
              </a:rPr>
              <a:t>q</a:t>
            </a:r>
            <a:r>
              <a:rPr lang="en-US" altLang="zh-CN" b="1" i="1" baseline="-25000" dirty="0">
                <a:latin typeface="Times New Roman" panose="02020603050405020304" pitchFamily="18" charset="0"/>
                <a:cs typeface="Times New Roman" panose="02020603050405020304" pitchFamily="18" charset="0"/>
              </a:rPr>
              <a:t>k</a:t>
            </a:r>
            <a:r>
              <a:rPr lang="en-US" altLang="zh-CN" b="1" baseline="-25000" dirty="0">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&lt;</a:t>
            </a:r>
            <a:r>
              <a:rPr lang="en-US" altLang="zh-CN" b="1" i="1" dirty="0">
                <a:latin typeface="Times New Roman" panose="02020603050405020304" pitchFamily="18" charset="0"/>
                <a:cs typeface="Times New Roman" panose="02020603050405020304" pitchFamily="18" charset="0"/>
              </a:rPr>
              <a:t>r </a:t>
            </a:r>
            <a:r>
              <a:rPr lang="en-US" altLang="zh-CN" b="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q</a:t>
            </a:r>
            <a:r>
              <a:rPr lang="en-US" altLang="zh-CN" b="1" i="1" baseline="-25000" dirty="0" err="1">
                <a:latin typeface="Times New Roman" panose="02020603050405020304" pitchFamily="18" charset="0"/>
                <a:cs typeface="Times New Roman" panose="02020603050405020304" pitchFamily="18" charset="0"/>
              </a:rPr>
              <a:t>k</a:t>
            </a:r>
            <a:r>
              <a:rPr lang="en-US" altLang="zh-CN" b="1" baseline="-25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(2≤</a:t>
            </a:r>
            <a:r>
              <a:rPr lang="en-US" altLang="zh-CN" b="1" i="1" dirty="0">
                <a:latin typeface="Times New Roman" panose="02020603050405020304" pitchFamily="18" charset="0"/>
                <a:cs typeface="Times New Roman" panose="02020603050405020304" pitchFamily="18" charset="0"/>
              </a:rPr>
              <a:t>k</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N</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则染色体</a:t>
            </a:r>
            <a:r>
              <a:rPr lang="en-US" altLang="zh-CN" b="1" i="1" dirty="0" err="1">
                <a:latin typeface="Times New Roman" panose="02020603050405020304" pitchFamily="18" charset="0"/>
                <a:cs typeface="Times New Roman" panose="02020603050405020304" pitchFamily="18" charset="0"/>
              </a:rPr>
              <a:t>x</a:t>
            </a:r>
            <a:r>
              <a:rPr lang="en-US" altLang="zh-CN" b="1" i="1" baseline="-25000" dirty="0" err="1">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被选中。 其中的</a:t>
            </a:r>
            <a:r>
              <a:rPr lang="en-US" altLang="zh-CN" b="1" i="1" dirty="0">
                <a:latin typeface="Times New Roman" panose="02020603050405020304" pitchFamily="18" charset="0"/>
                <a:cs typeface="Times New Roman" panose="02020603050405020304" pitchFamily="18" charset="0"/>
              </a:rPr>
              <a:t>q</a:t>
            </a:r>
            <a:r>
              <a:rPr lang="en-US" altLang="zh-CN" b="1" i="1" baseline="-25000" dirty="0">
                <a:latin typeface="Times New Roman" panose="02020603050405020304" pitchFamily="18" charset="0"/>
                <a:cs typeface="Times New Roman" panose="02020603050405020304" pitchFamily="18" charset="0"/>
              </a:rPr>
              <a:t>i</a:t>
            </a:r>
            <a:r>
              <a:rPr lang="zh-CN" altLang="en-US" b="1" dirty="0">
                <a:latin typeface="Times New Roman" panose="02020603050405020304" pitchFamily="18" charset="0"/>
                <a:cs typeface="Times New Roman" panose="02020603050405020304" pitchFamily="18" charset="0"/>
              </a:rPr>
              <a:t>称为染色体</a:t>
            </a:r>
            <a:r>
              <a:rPr lang="en-US" altLang="zh-CN" b="1" i="1" dirty="0">
                <a:latin typeface="Times New Roman" panose="02020603050405020304" pitchFamily="18" charset="0"/>
                <a:cs typeface="Times New Roman" panose="02020603050405020304" pitchFamily="18" charset="0"/>
              </a:rPr>
              <a:t>x</a:t>
            </a:r>
            <a:r>
              <a:rPr lang="en-US" altLang="zh-CN" b="1" i="1" baseline="-25000" dirty="0">
                <a:latin typeface="Times New Roman" panose="02020603050405020304" pitchFamily="18" charset="0"/>
                <a:cs typeface="Times New Roman" panose="02020603050405020304" pitchFamily="18" charset="0"/>
              </a:rPr>
              <a:t>i</a:t>
            </a:r>
            <a:r>
              <a:rPr lang="en-US" altLang="zh-CN"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i</a:t>
            </a:r>
            <a:r>
              <a:rPr lang="en-US" altLang="zh-CN" b="1" dirty="0">
                <a:latin typeface="Times New Roman" panose="02020603050405020304" pitchFamily="18" charset="0"/>
                <a:cs typeface="Times New Roman" panose="02020603050405020304" pitchFamily="18" charset="0"/>
              </a:rPr>
              <a:t>=1,  2,  …,  </a:t>
            </a:r>
            <a:r>
              <a:rPr lang="en-US" altLang="zh-CN" b="1" i="1" dirty="0">
                <a:latin typeface="Times New Roman" panose="02020603050405020304" pitchFamily="18" charset="0"/>
                <a:cs typeface="Times New Roman" panose="02020603050405020304" pitchFamily="18" charset="0"/>
              </a:rPr>
              <a:t>n</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的积累概率</a:t>
            </a:r>
            <a:r>
              <a:rPr lang="en-US" altLang="zh-CN" b="1" dirty="0"/>
              <a:t>, </a:t>
            </a:r>
            <a:r>
              <a:rPr lang="zh-CN" altLang="en-US" b="1" dirty="0"/>
              <a:t>其计算公式为 </a:t>
            </a:r>
          </a:p>
        </p:txBody>
      </p:sp>
      <p:pic>
        <p:nvPicPr>
          <p:cNvPr id="1003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1114" y="5373216"/>
            <a:ext cx="20097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a:extLst>
              <a:ext uri="{FF2B5EF4-FFF2-40B4-BE49-F238E27FC236}">
                <a16:creationId xmlns:a16="http://schemas.microsoft.com/office/drawing/2014/main" id="{326A3D24-8BDB-E6EF-5CF3-AE2EDF044AF4}"/>
              </a:ext>
            </a:extLst>
          </p:cNvPr>
          <p:cNvSpPr>
            <a:spLocks noGrp="1"/>
          </p:cNvSpPr>
          <p:nvPr>
            <p:ph type="sldNum" sz="quarter" idx="11"/>
          </p:nvPr>
        </p:nvSpPr>
        <p:spPr/>
        <p:txBody>
          <a:bodyPr/>
          <a:lstStyle/>
          <a:p>
            <a:pPr>
              <a:defRPr/>
            </a:pPr>
            <a:fld id="{E0FB5469-1AEB-496D-971A-66705BF2F73C}" type="slidenum">
              <a:rPr lang="en-US" altLang="zh-CN" smtClean="0"/>
              <a:pPr>
                <a:defRPr/>
              </a:pPr>
              <a:t>21</a:t>
            </a:fld>
            <a:endParaRPr lang="en-US" altLang="zh-CN"/>
          </a:p>
        </p:txBody>
      </p:sp>
    </p:spTree>
    <p:extLst>
      <p:ext uri="{BB962C8B-B14F-4D97-AF65-F5344CB8AC3E}">
        <p14:creationId xmlns:p14="http://schemas.microsoft.com/office/powerpoint/2010/main" val="309306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00354"/>
                                        </p:tgtEl>
                                        <p:attrNameLst>
                                          <p:attrName>style.visibility</p:attrName>
                                        </p:attrNameLst>
                                      </p:cBhvr>
                                      <p:to>
                                        <p:strVal val="visible"/>
                                      </p:to>
                                    </p:set>
                                    <p:animEffect transition="in" filter="fade">
                                      <p:cBhvr>
                                        <p:cTn id="27" dur="1000"/>
                                        <p:tgtEl>
                                          <p:spTgt spid="100354"/>
                                        </p:tgtEl>
                                      </p:cBhvr>
                                    </p:animEffect>
                                    <p:anim calcmode="lin" valueType="num">
                                      <p:cBhvr>
                                        <p:cTn id="28" dur="1000" fill="hold"/>
                                        <p:tgtEl>
                                          <p:spTgt spid="100354"/>
                                        </p:tgtEl>
                                        <p:attrNameLst>
                                          <p:attrName>ppt_x</p:attrName>
                                        </p:attrNameLst>
                                      </p:cBhvr>
                                      <p:tavLst>
                                        <p:tav tm="0">
                                          <p:val>
                                            <p:strVal val="#ppt_x"/>
                                          </p:val>
                                        </p:tav>
                                        <p:tav tm="100000">
                                          <p:val>
                                            <p:strVal val="#ppt_x"/>
                                          </p:val>
                                        </p:tav>
                                      </p:tavLst>
                                    </p:anim>
                                    <p:anim calcmode="lin" valueType="num">
                                      <p:cBhvr>
                                        <p:cTn id="29" dur="1000" fill="hold"/>
                                        <p:tgtEl>
                                          <p:spTgt spid="1003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818862" y="1442600"/>
            <a:ext cx="213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kumimoji="1" lang="zh-CN" altLang="en-US" sz="2800" dirty="0">
                <a:solidFill>
                  <a:srgbClr val="FF3300"/>
                </a:solidFill>
                <a:latin typeface="黑体" pitchFamily="49" charset="-122"/>
                <a:ea typeface="黑体" pitchFamily="49" charset="-122"/>
              </a:rPr>
              <a:t>选择</a:t>
            </a:r>
            <a:r>
              <a:rPr kumimoji="1" lang="en-US" altLang="zh-CN" sz="2800" dirty="0">
                <a:solidFill>
                  <a:srgbClr val="FF3300"/>
                </a:solidFill>
                <a:latin typeface="黑体" pitchFamily="49" charset="-122"/>
                <a:ea typeface="黑体" pitchFamily="49" charset="-122"/>
              </a:rPr>
              <a:t>-</a:t>
            </a:r>
            <a:r>
              <a:rPr kumimoji="1" lang="zh-CN" altLang="en-US" sz="2800" dirty="0">
                <a:solidFill>
                  <a:srgbClr val="FF3300"/>
                </a:solidFill>
                <a:latin typeface="黑体" pitchFamily="49" charset="-122"/>
                <a:ea typeface="黑体" pitchFamily="49" charset="-122"/>
              </a:rPr>
              <a:t>复制</a:t>
            </a:r>
            <a:r>
              <a:rPr kumimoji="1" lang="zh-CN" altLang="en-US" sz="2800" dirty="0">
                <a:latin typeface="Times New Roman" pitchFamily="18" charset="0"/>
              </a:rPr>
              <a:t> 　</a:t>
            </a:r>
            <a:endParaRPr kumimoji="1" lang="zh-CN" altLang="en-US" sz="2400" dirty="0">
              <a:latin typeface="Times New Roman" pitchFamily="18" charset="0"/>
            </a:endParaRPr>
          </a:p>
        </p:txBody>
      </p:sp>
      <p:graphicFrame>
        <p:nvGraphicFramePr>
          <p:cNvPr id="93222" name="Group 38"/>
          <p:cNvGraphicFramePr>
            <a:graphicFrameLocks noGrp="1"/>
          </p:cNvGraphicFramePr>
          <p:nvPr>
            <p:extLst>
              <p:ext uri="{D42A27DB-BD31-4B8C-83A1-F6EECF244321}">
                <p14:modId xmlns:p14="http://schemas.microsoft.com/office/powerpoint/2010/main" val="3342167964"/>
              </p:ext>
            </p:extLst>
          </p:nvPr>
        </p:nvGraphicFramePr>
        <p:xfrm>
          <a:off x="2351586" y="2720824"/>
          <a:ext cx="7935415" cy="2292352"/>
        </p:xfrm>
        <a:graphic>
          <a:graphicData uri="http://schemas.openxmlformats.org/drawingml/2006/table">
            <a:tbl>
              <a:tblPr/>
              <a:tblGrid>
                <a:gridCol w="2016224">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1491264">
                  <a:extLst>
                    <a:ext uri="{9D8B030D-6E8A-4147-A177-3AD203B41FA5}">
                      <a16:colId xmlns:a16="http://schemas.microsoft.com/office/drawing/2014/main" val="20003"/>
                    </a:ext>
                  </a:extLst>
                </a:gridCol>
                <a:gridCol w="1475599">
                  <a:extLst>
                    <a:ext uri="{9D8B030D-6E8A-4147-A177-3AD203B41FA5}">
                      <a16:colId xmlns:a16="http://schemas.microsoft.com/office/drawing/2014/main" val="20004"/>
                    </a:ext>
                  </a:extLst>
                </a:gridCol>
              </a:tblGrid>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  染色体</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适应度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选择概率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积累概率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选中次数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dirty="0">
                          <a:ln>
                            <a:noFill/>
                          </a:ln>
                          <a:solidFill>
                            <a:schemeClr val="tx1"/>
                          </a:solidFill>
                          <a:effectLst/>
                          <a:latin typeface="Verdana" pitchFamily="34" charset="0"/>
                          <a:ea typeface="宋体" charset="-122"/>
                        </a:rPr>
                        <a:t>s</a:t>
                      </a:r>
                      <a:r>
                        <a:rPr kumimoji="0" lang="en-US" altLang="zh-CN" sz="2400" b="1" i="0" u="none" strike="noStrike" cap="none" normalizeH="0" baseline="-25000" dirty="0">
                          <a:ln>
                            <a:noFill/>
                          </a:ln>
                          <a:solidFill>
                            <a:schemeClr val="tx1"/>
                          </a:solidFill>
                          <a:effectLst/>
                          <a:latin typeface="Verdana" pitchFamily="34" charset="0"/>
                          <a:ea typeface="宋体" charset="-122"/>
                        </a:rPr>
                        <a:t>1</a:t>
                      </a:r>
                      <a:r>
                        <a:rPr kumimoji="0" lang="en-US" altLang="zh-CN" sz="2400" b="1" i="0" u="none" strike="noStrike" cap="none" normalizeH="0" baseline="0" dirty="0">
                          <a:ln>
                            <a:noFill/>
                          </a:ln>
                          <a:solidFill>
                            <a:schemeClr val="tx1"/>
                          </a:solidFill>
                          <a:effectLst/>
                          <a:latin typeface="Verdana" pitchFamily="34" charset="0"/>
                          <a:ea typeface="宋体" charset="-122"/>
                        </a:rPr>
                        <a:t>=01101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169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0.14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2</a:t>
                      </a:r>
                      <a:r>
                        <a:rPr kumimoji="0" lang="en-US" altLang="zh-CN" sz="2400" b="1" i="0" u="none" strike="noStrike" cap="none" normalizeH="0" baseline="0">
                          <a:ln>
                            <a:noFill/>
                          </a:ln>
                          <a:solidFill>
                            <a:schemeClr val="tx1"/>
                          </a:solidFill>
                          <a:effectLst/>
                          <a:latin typeface="Verdana" pitchFamily="34" charset="0"/>
                          <a:ea typeface="宋体" charset="-122"/>
                        </a:rPr>
                        <a:t>=11000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576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0.63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3</a:t>
                      </a:r>
                      <a:r>
                        <a:rPr kumimoji="0" lang="en-US" altLang="zh-CN" sz="2400" b="1" i="0" u="none" strike="noStrike" cap="none" normalizeH="0" baseline="0">
                          <a:ln>
                            <a:noFill/>
                          </a:ln>
                          <a:solidFill>
                            <a:schemeClr val="tx1"/>
                          </a:solidFill>
                          <a:effectLst/>
                          <a:latin typeface="Verdana" pitchFamily="34" charset="0"/>
                          <a:ea typeface="宋体" charset="-122"/>
                        </a:rPr>
                        <a:t>=01000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0.69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4</a:t>
                      </a:r>
                      <a:r>
                        <a:rPr kumimoji="0" lang="en-US" altLang="zh-CN" sz="2400" b="1" i="0" u="none" strike="noStrike" cap="none" normalizeH="0" baseline="0">
                          <a:ln>
                            <a:noFill/>
                          </a:ln>
                          <a:solidFill>
                            <a:schemeClr val="tx1"/>
                          </a:solidFill>
                          <a:effectLst/>
                          <a:latin typeface="Verdana" pitchFamily="34" charset="0"/>
                          <a:ea typeface="宋体" charset="-122"/>
                        </a:rPr>
                        <a:t>=10011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361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      </a:t>
                      </a:r>
                      <a:r>
                        <a:rPr kumimoji="0" lang="en-US" altLang="zh-CN" sz="2400" b="1" i="0" u="none" strike="noStrike" cap="none" normalizeH="0" baseline="0" dirty="0">
                          <a:ln>
                            <a:noFill/>
                          </a:ln>
                          <a:solidFill>
                            <a:schemeClr val="tx1"/>
                          </a:solidFill>
                          <a:effectLst/>
                          <a:latin typeface="Verdan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3220" name="Text Box 36"/>
          <p:cNvSpPr txBox="1">
            <a:spLocks noChangeArrowheads="1"/>
          </p:cNvSpPr>
          <p:nvPr/>
        </p:nvSpPr>
        <p:spPr bwMode="auto">
          <a:xfrm>
            <a:off x="2424113" y="4939656"/>
            <a:ext cx="7200900" cy="1729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30000"/>
              </a:spcBef>
            </a:pPr>
            <a:r>
              <a:rPr kumimoji="1" lang="zh-CN" altLang="en-US" sz="2800" dirty="0">
                <a:solidFill>
                  <a:srgbClr val="FF3300"/>
                </a:solidFill>
                <a:latin typeface="黑体" pitchFamily="49" charset="-122"/>
                <a:ea typeface="黑体" pitchFamily="49" charset="-122"/>
              </a:rPr>
              <a:t>于是，经选择复制得群体：</a:t>
            </a:r>
          </a:p>
          <a:p>
            <a:pPr eaLnBrk="1" hangingPunct="1">
              <a:spcBef>
                <a:spcPct val="50000"/>
              </a:spcBef>
            </a:pPr>
            <a:r>
              <a:rPr kumimoji="1" lang="en-US" altLang="zh-CN" sz="2800" b="1" i="1" dirty="0">
                <a:latin typeface="Times New Roman" pitchFamily="18" charset="0"/>
              </a:rPr>
              <a:t>        s</a:t>
            </a:r>
            <a:r>
              <a:rPr kumimoji="1" lang="en-US" altLang="zh-CN" sz="2800" b="1" baseline="-30000" dirty="0">
                <a:latin typeface="Times New Roman" pitchFamily="18" charset="0"/>
              </a:rPr>
              <a:t>1</a:t>
            </a:r>
            <a:r>
              <a:rPr kumimoji="1" lang="en-US" altLang="zh-CN" sz="2800" b="1" i="1" dirty="0">
                <a:latin typeface="Courier New" pitchFamily="49" charset="0"/>
              </a:rPr>
              <a:t>’</a:t>
            </a:r>
            <a:r>
              <a:rPr kumimoji="1" lang="en-US" altLang="zh-CN" sz="2800" b="1" i="1" dirty="0">
                <a:latin typeface="Times New Roman" pitchFamily="18" charset="0"/>
              </a:rPr>
              <a:t> </a:t>
            </a:r>
            <a:r>
              <a:rPr kumimoji="1" lang="en-US" altLang="zh-CN" sz="2800" b="1" dirty="0">
                <a:latin typeface="Times New Roman" pitchFamily="18" charset="0"/>
              </a:rPr>
              <a:t>=11000</a:t>
            </a:r>
            <a:r>
              <a:rPr kumimoji="1" lang="zh-CN" altLang="en-US" sz="2800" b="1" dirty="0">
                <a:latin typeface="Times New Roman" pitchFamily="18" charset="0"/>
              </a:rPr>
              <a:t>（</a:t>
            </a:r>
            <a:r>
              <a:rPr kumimoji="1" lang="en-US" altLang="zh-CN" sz="2800" b="1" dirty="0">
                <a:latin typeface="Times New Roman" pitchFamily="18" charset="0"/>
              </a:rPr>
              <a:t>24</a:t>
            </a:r>
            <a:r>
              <a:rPr kumimoji="1" lang="zh-CN" altLang="en-US" sz="2800" b="1" dirty="0">
                <a:latin typeface="Times New Roman" pitchFamily="18" charset="0"/>
              </a:rPr>
              <a:t>）</a:t>
            </a:r>
            <a:r>
              <a:rPr kumimoji="1" lang="en-US" altLang="zh-CN" sz="2800" b="1" dirty="0">
                <a:latin typeface="Times New Roman" pitchFamily="18" charset="0"/>
              </a:rPr>
              <a:t>,  </a:t>
            </a:r>
            <a:r>
              <a:rPr kumimoji="1" lang="en-US" altLang="zh-CN" sz="2800" b="1" i="1" dirty="0">
                <a:latin typeface="Times New Roman" pitchFamily="18" charset="0"/>
              </a:rPr>
              <a:t>s</a:t>
            </a:r>
            <a:r>
              <a:rPr kumimoji="1" lang="en-US" altLang="zh-CN" sz="2800" b="1" baseline="-30000" dirty="0">
                <a:latin typeface="Times New Roman" pitchFamily="18" charset="0"/>
              </a:rPr>
              <a:t>2</a:t>
            </a:r>
            <a:r>
              <a:rPr kumimoji="1" lang="en-US" altLang="zh-CN" sz="2800" b="1" i="1" dirty="0">
                <a:latin typeface="Courier New" pitchFamily="49" charset="0"/>
              </a:rPr>
              <a:t>’</a:t>
            </a:r>
            <a:r>
              <a:rPr kumimoji="1" lang="en-US" altLang="zh-CN" sz="2800" b="1" i="1" dirty="0">
                <a:latin typeface="Times New Roman" pitchFamily="18" charset="0"/>
              </a:rPr>
              <a:t> </a:t>
            </a:r>
            <a:r>
              <a:rPr kumimoji="1" lang="en-US" altLang="zh-CN" sz="2800" b="1" dirty="0">
                <a:latin typeface="Times New Roman" pitchFamily="18" charset="0"/>
              </a:rPr>
              <a:t>=01101</a:t>
            </a:r>
            <a:r>
              <a:rPr kumimoji="1" lang="zh-CN" altLang="en-US" sz="2800" b="1" dirty="0">
                <a:latin typeface="Times New Roman" pitchFamily="18" charset="0"/>
              </a:rPr>
              <a:t>（</a:t>
            </a:r>
            <a:r>
              <a:rPr kumimoji="1" lang="en-US" altLang="zh-CN" sz="2800" b="1" dirty="0">
                <a:latin typeface="Times New Roman" pitchFamily="18" charset="0"/>
              </a:rPr>
              <a:t>13</a:t>
            </a:r>
            <a:r>
              <a:rPr kumimoji="1" lang="zh-CN" altLang="en-US" sz="2800" b="1" dirty="0">
                <a:latin typeface="Times New Roman" pitchFamily="18" charset="0"/>
              </a:rPr>
              <a:t>） </a:t>
            </a:r>
          </a:p>
          <a:p>
            <a:pPr eaLnBrk="1" hangingPunct="1">
              <a:spcBef>
                <a:spcPct val="30000"/>
              </a:spcBef>
            </a:pPr>
            <a:r>
              <a:rPr kumimoji="1" lang="en-US" altLang="zh-CN" sz="2800" b="1" i="1" dirty="0">
                <a:latin typeface="Times New Roman" pitchFamily="18" charset="0"/>
              </a:rPr>
              <a:t>         s</a:t>
            </a:r>
            <a:r>
              <a:rPr kumimoji="1" lang="en-US" altLang="zh-CN" sz="2800" b="1" baseline="-30000" dirty="0">
                <a:latin typeface="Times New Roman" pitchFamily="18" charset="0"/>
              </a:rPr>
              <a:t>3</a:t>
            </a:r>
            <a:r>
              <a:rPr kumimoji="1" lang="en-US" altLang="zh-CN" sz="2800" b="1" i="1" dirty="0">
                <a:latin typeface="Courier New" pitchFamily="49" charset="0"/>
              </a:rPr>
              <a:t>’</a:t>
            </a:r>
            <a:r>
              <a:rPr kumimoji="1" lang="en-US" altLang="zh-CN" sz="2800" b="1" i="1" dirty="0">
                <a:latin typeface="Times New Roman" pitchFamily="18" charset="0"/>
              </a:rPr>
              <a:t> </a:t>
            </a:r>
            <a:r>
              <a:rPr kumimoji="1" lang="en-US" altLang="zh-CN" sz="2800" b="1" dirty="0">
                <a:latin typeface="Times New Roman" pitchFamily="18" charset="0"/>
              </a:rPr>
              <a:t>=11000</a:t>
            </a:r>
            <a:r>
              <a:rPr kumimoji="1" lang="zh-CN" altLang="en-US" sz="2800" b="1" dirty="0">
                <a:latin typeface="Times New Roman" pitchFamily="18" charset="0"/>
              </a:rPr>
              <a:t>（</a:t>
            </a:r>
            <a:r>
              <a:rPr kumimoji="1" lang="en-US" altLang="zh-CN" sz="2800" b="1" dirty="0">
                <a:latin typeface="Times New Roman" pitchFamily="18" charset="0"/>
              </a:rPr>
              <a:t>24</a:t>
            </a:r>
            <a:r>
              <a:rPr kumimoji="1" lang="zh-CN" altLang="en-US" sz="2800" b="1" dirty="0">
                <a:latin typeface="Times New Roman" pitchFamily="18" charset="0"/>
              </a:rPr>
              <a:t>）</a:t>
            </a:r>
            <a:r>
              <a:rPr kumimoji="1" lang="en-US" altLang="zh-CN" sz="2800" b="1" dirty="0">
                <a:latin typeface="Times New Roman" pitchFamily="18" charset="0"/>
              </a:rPr>
              <a:t>,  </a:t>
            </a:r>
            <a:r>
              <a:rPr kumimoji="1" lang="en-US" altLang="zh-CN" sz="2800" b="1" i="1" dirty="0">
                <a:latin typeface="Times New Roman" pitchFamily="18" charset="0"/>
              </a:rPr>
              <a:t>s</a:t>
            </a:r>
            <a:r>
              <a:rPr kumimoji="1" lang="en-US" altLang="zh-CN" sz="2800" b="1" baseline="-30000" dirty="0">
                <a:latin typeface="Times New Roman" pitchFamily="18" charset="0"/>
              </a:rPr>
              <a:t>4</a:t>
            </a:r>
            <a:r>
              <a:rPr kumimoji="1" lang="en-US" altLang="zh-CN" sz="2800" b="1" i="1" dirty="0">
                <a:latin typeface="Courier New" pitchFamily="49" charset="0"/>
              </a:rPr>
              <a:t>’</a:t>
            </a:r>
            <a:r>
              <a:rPr kumimoji="1" lang="en-US" altLang="zh-CN" sz="2800" b="1" i="1" dirty="0">
                <a:latin typeface="Times New Roman" pitchFamily="18" charset="0"/>
              </a:rPr>
              <a:t> </a:t>
            </a:r>
            <a:r>
              <a:rPr kumimoji="1" lang="en-US" altLang="zh-CN" sz="2800" b="1" dirty="0">
                <a:latin typeface="Times New Roman" pitchFamily="18" charset="0"/>
              </a:rPr>
              <a:t>=10011</a:t>
            </a:r>
            <a:r>
              <a:rPr kumimoji="1" lang="zh-CN" altLang="en-US" sz="2800" b="1" dirty="0">
                <a:latin typeface="Times New Roman" pitchFamily="18" charset="0"/>
              </a:rPr>
              <a:t>（</a:t>
            </a:r>
            <a:r>
              <a:rPr kumimoji="1" lang="en-US" altLang="zh-CN" sz="2800" b="1" dirty="0">
                <a:latin typeface="Times New Roman" pitchFamily="18" charset="0"/>
              </a:rPr>
              <a:t>19</a:t>
            </a:r>
            <a:r>
              <a:rPr kumimoji="1" lang="zh-CN" altLang="en-US" sz="2800" b="1" dirty="0">
                <a:latin typeface="Times New Roman" pitchFamily="18" charset="0"/>
              </a:rPr>
              <a:t>） </a:t>
            </a:r>
          </a:p>
        </p:txBody>
      </p:sp>
      <p:sp>
        <p:nvSpPr>
          <p:cNvPr id="47140" name="Rectangle 39"/>
          <p:cNvSpPr>
            <a:spLocks noChangeArrowheads="1"/>
          </p:cNvSpPr>
          <p:nvPr/>
        </p:nvSpPr>
        <p:spPr bwMode="auto">
          <a:xfrm>
            <a:off x="1919536" y="457247"/>
            <a:ext cx="793541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2" name="TextBox 1"/>
          <p:cNvSpPr txBox="1"/>
          <p:nvPr/>
        </p:nvSpPr>
        <p:spPr>
          <a:xfrm>
            <a:off x="2999656" y="1514402"/>
            <a:ext cx="6264696" cy="1200329"/>
          </a:xfrm>
          <a:prstGeom prst="rect">
            <a:avLst/>
          </a:prstGeom>
          <a:noFill/>
        </p:spPr>
        <p:txBody>
          <a:bodyPr wrap="square" rtlCol="0">
            <a:spAutoFit/>
          </a:bodyPr>
          <a:lstStyle/>
          <a:p>
            <a:r>
              <a:rPr lang="zh-CN" altLang="en-US" dirty="0"/>
              <a:t> </a:t>
            </a:r>
            <a:r>
              <a:rPr lang="zh-CN" altLang="en-US" sz="2400" b="1" dirty="0"/>
              <a:t>设从区间［</a:t>
            </a:r>
            <a:r>
              <a:rPr lang="en-US" altLang="zh-CN" sz="2400" b="1" dirty="0"/>
              <a:t>0, 1</a:t>
            </a:r>
            <a:r>
              <a:rPr lang="zh-CN" altLang="en-US" sz="2400" b="1" dirty="0"/>
              <a:t>］中产生</a:t>
            </a:r>
            <a:r>
              <a:rPr lang="en-US" altLang="zh-CN" sz="2400" b="1" dirty="0"/>
              <a:t>4</a:t>
            </a:r>
            <a:r>
              <a:rPr lang="zh-CN" altLang="en-US" sz="2400" b="1" dirty="0"/>
              <a:t>个随机数如下</a:t>
            </a:r>
            <a:r>
              <a:rPr lang="en-US" altLang="zh-CN" sz="2400" b="1" dirty="0"/>
              <a:t>: </a:t>
            </a:r>
          </a:p>
          <a:p>
            <a:r>
              <a:rPr lang="en-US" altLang="zh-CN" sz="2400" b="1" dirty="0"/>
              <a:t>               r</a:t>
            </a:r>
            <a:r>
              <a:rPr lang="en-US" altLang="zh-CN" sz="2400" b="1" baseline="-25000" dirty="0"/>
              <a:t>1</a:t>
            </a:r>
            <a:r>
              <a:rPr lang="en-US" altLang="zh-CN" sz="2400" b="1" dirty="0"/>
              <a:t> = 0.450126,   r</a:t>
            </a:r>
            <a:r>
              <a:rPr lang="en-US" altLang="zh-CN" sz="2400" b="1" baseline="-25000" dirty="0"/>
              <a:t>2</a:t>
            </a:r>
            <a:r>
              <a:rPr lang="en-US" altLang="zh-CN" sz="2400" b="1" dirty="0"/>
              <a:t> = 0.110347 </a:t>
            </a:r>
          </a:p>
          <a:p>
            <a:r>
              <a:rPr lang="en-US" altLang="zh-CN" sz="2400" b="1" dirty="0"/>
              <a:t>               r</a:t>
            </a:r>
            <a:r>
              <a:rPr lang="en-US" altLang="zh-CN" sz="2400" b="1" baseline="-25000" dirty="0"/>
              <a:t>3</a:t>
            </a:r>
            <a:r>
              <a:rPr lang="en-US" altLang="zh-CN" sz="2400" b="1" dirty="0"/>
              <a:t> = 0.572496,   r</a:t>
            </a:r>
            <a:r>
              <a:rPr lang="en-US" altLang="zh-CN" sz="2400" b="1" baseline="-25000" dirty="0"/>
              <a:t>4</a:t>
            </a:r>
            <a:r>
              <a:rPr lang="en-US" altLang="zh-CN" sz="2400" b="1" dirty="0"/>
              <a:t> = 0.98503</a:t>
            </a:r>
            <a:endParaRPr lang="zh-CN" altLang="en-US" sz="2400" b="1" dirty="0"/>
          </a:p>
        </p:txBody>
      </p:sp>
      <p:sp>
        <p:nvSpPr>
          <p:cNvPr id="3" name="灯片编号占位符 2">
            <a:extLst>
              <a:ext uri="{FF2B5EF4-FFF2-40B4-BE49-F238E27FC236}">
                <a16:creationId xmlns:a16="http://schemas.microsoft.com/office/drawing/2014/main" id="{6ED7262C-815D-BFA8-94B1-4B25FAD693AC}"/>
              </a:ext>
            </a:extLst>
          </p:cNvPr>
          <p:cNvSpPr>
            <a:spLocks noGrp="1"/>
          </p:cNvSpPr>
          <p:nvPr>
            <p:ph type="sldNum" sz="quarter" idx="11"/>
          </p:nvPr>
        </p:nvSpPr>
        <p:spPr/>
        <p:txBody>
          <a:bodyPr/>
          <a:lstStyle/>
          <a:p>
            <a:pPr>
              <a:defRPr/>
            </a:pPr>
            <a:fld id="{1240398B-3681-435F-A1B8-D490B121ECC3}" type="slidenum">
              <a:rPr lang="en-US" altLang="zh-CN" smtClean="0"/>
              <a:pPr>
                <a:defRPr/>
              </a:pPr>
              <a:t>22</a:t>
            </a:fld>
            <a:endParaRPr lang="en-US" altLang="zh-CN"/>
          </a:p>
        </p:txBody>
      </p:sp>
    </p:spTree>
    <p:extLst>
      <p:ext uri="{BB962C8B-B14F-4D97-AF65-F5344CB8AC3E}">
        <p14:creationId xmlns:p14="http://schemas.microsoft.com/office/powerpoint/2010/main" val="21529863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blinds(horizontal)">
                                      <p:cBhvr>
                                        <p:cTn id="7" dur="500"/>
                                        <p:tgtEl>
                                          <p:spTgt spid="931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3222"/>
                                        </p:tgtEl>
                                        <p:attrNameLst>
                                          <p:attrName>style.visibility</p:attrName>
                                        </p:attrNameLst>
                                      </p:cBhvr>
                                      <p:to>
                                        <p:strVal val="visible"/>
                                      </p:to>
                                    </p:set>
                                    <p:animEffect transition="in" filter="blinds(horizontal)">
                                      <p:cBhvr>
                                        <p:cTn id="17" dur="500"/>
                                        <p:tgtEl>
                                          <p:spTgt spid="932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3220"/>
                                        </p:tgtEl>
                                        <p:attrNameLst>
                                          <p:attrName>style.visibility</p:attrName>
                                        </p:attrNameLst>
                                      </p:cBhvr>
                                      <p:to>
                                        <p:strVal val="visible"/>
                                      </p:to>
                                    </p:set>
                                    <p:animEffect transition="in" filter="blinds(horizontal)">
                                      <p:cBhvr>
                                        <p:cTn id="22" dur="500"/>
                                        <p:tgtEl>
                                          <p:spTgt spid="93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P spid="93220"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1415480" y="1341439"/>
            <a:ext cx="9073008" cy="494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lnSpc>
                <a:spcPct val="120000"/>
              </a:lnSpc>
              <a:spcBef>
                <a:spcPct val="20000"/>
              </a:spcBef>
            </a:pPr>
            <a:r>
              <a:rPr kumimoji="1" lang="zh-CN" altLang="en-US" sz="3200" dirty="0">
                <a:solidFill>
                  <a:srgbClr val="FF3300"/>
                </a:solidFill>
                <a:latin typeface="Times New Roman" pitchFamily="18" charset="0"/>
                <a:ea typeface="黑体" pitchFamily="49" charset="-122"/>
              </a:rPr>
              <a:t>交叉</a:t>
            </a:r>
          </a:p>
          <a:p>
            <a:pPr algn="just" eaLnBrk="1" hangingPunct="1">
              <a:spcBef>
                <a:spcPct val="20000"/>
              </a:spcBef>
            </a:pPr>
            <a:r>
              <a:rPr kumimoji="1" lang="zh-CN" altLang="en-US" sz="2800" b="1" dirty="0">
                <a:latin typeface="Times New Roman" pitchFamily="18" charset="0"/>
                <a:ea typeface="黑体" pitchFamily="49" charset="-122"/>
              </a:rPr>
              <a:t>      </a:t>
            </a:r>
            <a:r>
              <a:rPr kumimoji="1" lang="zh-CN" altLang="en-US" sz="2800" b="1" dirty="0">
                <a:latin typeface="Times New Roman" pitchFamily="18" charset="0"/>
                <a:cs typeface="Times New Roman" pitchFamily="18" charset="0"/>
              </a:rPr>
              <a:t>  设交叉率</a:t>
            </a:r>
            <a:r>
              <a:rPr kumimoji="1" lang="en-US" altLang="zh-CN" sz="2800" b="1" i="1" dirty="0">
                <a:latin typeface="Times New Roman" pitchFamily="18" charset="0"/>
                <a:cs typeface="Times New Roman" pitchFamily="18" charset="0"/>
              </a:rPr>
              <a:t>p</a:t>
            </a:r>
            <a:r>
              <a:rPr kumimoji="1" lang="en-US" altLang="zh-CN" sz="2800" b="1" i="1" baseline="-30000" dirty="0">
                <a:latin typeface="Times New Roman" pitchFamily="18" charset="0"/>
                <a:cs typeface="Times New Roman" pitchFamily="18" charset="0"/>
              </a:rPr>
              <a:t>c</a:t>
            </a:r>
            <a:r>
              <a:rPr kumimoji="1" lang="en-US" altLang="zh-CN" sz="2800" b="1" dirty="0">
                <a:latin typeface="Times New Roman" pitchFamily="18" charset="0"/>
                <a:cs typeface="Times New Roman" pitchFamily="18" charset="0"/>
              </a:rPr>
              <a:t>=100%</a:t>
            </a:r>
            <a:r>
              <a:rPr kumimoji="1" lang="zh-CN" altLang="en-US" sz="2800" b="1" dirty="0">
                <a:latin typeface="Times New Roman" pitchFamily="18" charset="0"/>
                <a:cs typeface="Times New Roman" pitchFamily="18" charset="0"/>
              </a:rPr>
              <a:t>，即</a:t>
            </a:r>
            <a:r>
              <a:rPr kumimoji="1" lang="en-US" altLang="zh-CN" sz="2800" b="1" i="1" dirty="0">
                <a:latin typeface="Times New Roman" pitchFamily="18" charset="0"/>
                <a:cs typeface="Times New Roman" pitchFamily="18" charset="0"/>
              </a:rPr>
              <a:t>S</a:t>
            </a:r>
            <a:r>
              <a:rPr kumimoji="1" lang="en-US" altLang="zh-CN" sz="2800" b="1" baseline="-30000" dirty="0">
                <a:latin typeface="Times New Roman" pitchFamily="18" charset="0"/>
                <a:cs typeface="Times New Roman" pitchFamily="18" charset="0"/>
              </a:rPr>
              <a:t>1</a:t>
            </a:r>
            <a:r>
              <a:rPr kumimoji="1" lang="zh-CN" altLang="en-US" sz="2800" b="1" dirty="0">
                <a:latin typeface="Times New Roman" pitchFamily="18" charset="0"/>
                <a:cs typeface="Times New Roman" pitchFamily="18" charset="0"/>
              </a:rPr>
              <a:t>中的全体染色体都参加交叉运算。</a:t>
            </a:r>
            <a:endParaRPr kumimoji="1" lang="en-US" altLang="zh-CN" sz="2800" b="1" dirty="0">
              <a:latin typeface="Times New Roman" pitchFamily="18" charset="0"/>
              <a:cs typeface="Times New Roman" pitchFamily="18" charset="0"/>
            </a:endParaRPr>
          </a:p>
          <a:p>
            <a:pPr eaLnBrk="1" hangingPunct="1">
              <a:spcBef>
                <a:spcPct val="50000"/>
              </a:spcBef>
            </a:pPr>
            <a:r>
              <a:rPr kumimoji="1" lang="en-US" altLang="zh-CN" sz="2800" b="1" i="1" dirty="0">
                <a:latin typeface="Times New Roman" pitchFamily="18" charset="0"/>
              </a:rPr>
              <a:t>         s</a:t>
            </a:r>
            <a:r>
              <a:rPr kumimoji="1" lang="en-US" altLang="zh-CN" sz="2800" b="1" baseline="-30000" dirty="0">
                <a:latin typeface="Times New Roman" pitchFamily="18" charset="0"/>
              </a:rPr>
              <a:t>1</a:t>
            </a:r>
            <a:r>
              <a:rPr kumimoji="1" lang="en-US" altLang="zh-CN" sz="2800" b="1" i="1" dirty="0">
                <a:latin typeface="Courier New" pitchFamily="49" charset="0"/>
              </a:rPr>
              <a:t>’</a:t>
            </a:r>
            <a:r>
              <a:rPr kumimoji="1" lang="en-US" altLang="zh-CN" sz="2800" b="1" i="1" dirty="0">
                <a:latin typeface="Times New Roman" pitchFamily="18" charset="0"/>
              </a:rPr>
              <a:t> </a:t>
            </a:r>
            <a:r>
              <a:rPr kumimoji="1" lang="en-US" altLang="zh-CN" sz="2800" b="1" dirty="0">
                <a:latin typeface="Times New Roman" pitchFamily="18" charset="0"/>
              </a:rPr>
              <a:t>=11000</a:t>
            </a:r>
            <a:r>
              <a:rPr kumimoji="1" lang="zh-CN" altLang="en-US" sz="2800" b="1" dirty="0">
                <a:latin typeface="Times New Roman" pitchFamily="18" charset="0"/>
              </a:rPr>
              <a:t>（</a:t>
            </a:r>
            <a:r>
              <a:rPr kumimoji="1" lang="en-US" altLang="zh-CN" sz="2800" b="1" dirty="0">
                <a:latin typeface="Times New Roman" pitchFamily="18" charset="0"/>
              </a:rPr>
              <a:t>24</a:t>
            </a:r>
            <a:r>
              <a:rPr kumimoji="1" lang="zh-CN" altLang="en-US" sz="2800" b="1" dirty="0">
                <a:latin typeface="Times New Roman" pitchFamily="18" charset="0"/>
              </a:rPr>
              <a:t>）</a:t>
            </a:r>
            <a:r>
              <a:rPr kumimoji="1" lang="en-US" altLang="zh-CN" sz="2800" b="1" dirty="0">
                <a:latin typeface="Times New Roman" pitchFamily="18" charset="0"/>
              </a:rPr>
              <a:t>,  </a:t>
            </a:r>
            <a:r>
              <a:rPr kumimoji="1" lang="en-US" altLang="zh-CN" sz="2800" b="1" i="1" dirty="0">
                <a:latin typeface="Times New Roman" pitchFamily="18" charset="0"/>
              </a:rPr>
              <a:t>s</a:t>
            </a:r>
            <a:r>
              <a:rPr kumimoji="1" lang="en-US" altLang="zh-CN" sz="2800" b="1" baseline="-30000" dirty="0">
                <a:latin typeface="Times New Roman" pitchFamily="18" charset="0"/>
              </a:rPr>
              <a:t>2</a:t>
            </a:r>
            <a:r>
              <a:rPr kumimoji="1" lang="en-US" altLang="zh-CN" sz="2800" b="1" i="1" dirty="0">
                <a:latin typeface="Courier New" pitchFamily="49" charset="0"/>
              </a:rPr>
              <a:t>’</a:t>
            </a:r>
            <a:r>
              <a:rPr kumimoji="1" lang="en-US" altLang="zh-CN" sz="2800" b="1" i="1" dirty="0">
                <a:latin typeface="Times New Roman" pitchFamily="18" charset="0"/>
              </a:rPr>
              <a:t> </a:t>
            </a:r>
            <a:r>
              <a:rPr kumimoji="1" lang="en-US" altLang="zh-CN" sz="2800" b="1" dirty="0">
                <a:latin typeface="Times New Roman" pitchFamily="18" charset="0"/>
              </a:rPr>
              <a:t>=01101</a:t>
            </a:r>
            <a:r>
              <a:rPr kumimoji="1" lang="zh-CN" altLang="en-US" sz="2800" b="1" dirty="0">
                <a:latin typeface="Times New Roman" pitchFamily="18" charset="0"/>
              </a:rPr>
              <a:t>（</a:t>
            </a:r>
            <a:r>
              <a:rPr kumimoji="1" lang="en-US" altLang="zh-CN" sz="2800" b="1" dirty="0">
                <a:latin typeface="Times New Roman" pitchFamily="18" charset="0"/>
              </a:rPr>
              <a:t>13</a:t>
            </a:r>
            <a:r>
              <a:rPr kumimoji="1" lang="zh-CN" altLang="en-US" sz="2800" b="1" dirty="0">
                <a:latin typeface="Times New Roman" pitchFamily="18" charset="0"/>
              </a:rPr>
              <a:t>） </a:t>
            </a:r>
          </a:p>
          <a:p>
            <a:pPr eaLnBrk="1" hangingPunct="1">
              <a:spcBef>
                <a:spcPct val="30000"/>
              </a:spcBef>
            </a:pPr>
            <a:r>
              <a:rPr kumimoji="1" lang="en-US" altLang="zh-CN" sz="2800" b="1" i="1" dirty="0">
                <a:latin typeface="Times New Roman" pitchFamily="18" charset="0"/>
              </a:rPr>
              <a:t>         s</a:t>
            </a:r>
            <a:r>
              <a:rPr kumimoji="1" lang="en-US" altLang="zh-CN" sz="2800" b="1" baseline="-30000" dirty="0">
                <a:latin typeface="Times New Roman" pitchFamily="18" charset="0"/>
              </a:rPr>
              <a:t>3</a:t>
            </a:r>
            <a:r>
              <a:rPr kumimoji="1" lang="en-US" altLang="zh-CN" sz="2800" b="1" i="1" dirty="0">
                <a:latin typeface="Courier New" pitchFamily="49" charset="0"/>
              </a:rPr>
              <a:t>’</a:t>
            </a:r>
            <a:r>
              <a:rPr kumimoji="1" lang="en-US" altLang="zh-CN" sz="2800" b="1" i="1" dirty="0">
                <a:latin typeface="Times New Roman" pitchFamily="18" charset="0"/>
              </a:rPr>
              <a:t> </a:t>
            </a:r>
            <a:r>
              <a:rPr kumimoji="1" lang="en-US" altLang="zh-CN" sz="2800" b="1" dirty="0">
                <a:latin typeface="Times New Roman" pitchFamily="18" charset="0"/>
              </a:rPr>
              <a:t>=11000</a:t>
            </a:r>
            <a:r>
              <a:rPr kumimoji="1" lang="zh-CN" altLang="en-US" sz="2800" b="1" dirty="0">
                <a:latin typeface="Times New Roman" pitchFamily="18" charset="0"/>
              </a:rPr>
              <a:t>（</a:t>
            </a:r>
            <a:r>
              <a:rPr kumimoji="1" lang="en-US" altLang="zh-CN" sz="2800" b="1" dirty="0">
                <a:latin typeface="Times New Roman" pitchFamily="18" charset="0"/>
              </a:rPr>
              <a:t>24</a:t>
            </a:r>
            <a:r>
              <a:rPr kumimoji="1" lang="zh-CN" altLang="en-US" sz="2800" b="1" dirty="0">
                <a:latin typeface="Times New Roman" pitchFamily="18" charset="0"/>
              </a:rPr>
              <a:t>）</a:t>
            </a:r>
            <a:r>
              <a:rPr kumimoji="1" lang="en-US" altLang="zh-CN" sz="2800" b="1" dirty="0">
                <a:latin typeface="Times New Roman" pitchFamily="18" charset="0"/>
              </a:rPr>
              <a:t>,  </a:t>
            </a:r>
            <a:r>
              <a:rPr kumimoji="1" lang="en-US" altLang="zh-CN" sz="2800" b="1" i="1" dirty="0">
                <a:latin typeface="Times New Roman" pitchFamily="18" charset="0"/>
              </a:rPr>
              <a:t>s</a:t>
            </a:r>
            <a:r>
              <a:rPr kumimoji="1" lang="en-US" altLang="zh-CN" sz="2800" b="1" baseline="-30000" dirty="0">
                <a:latin typeface="Times New Roman" pitchFamily="18" charset="0"/>
              </a:rPr>
              <a:t>4</a:t>
            </a:r>
            <a:r>
              <a:rPr kumimoji="1" lang="en-US" altLang="zh-CN" sz="2800" b="1" i="1" dirty="0">
                <a:latin typeface="Courier New" pitchFamily="49" charset="0"/>
              </a:rPr>
              <a:t>’</a:t>
            </a:r>
            <a:r>
              <a:rPr kumimoji="1" lang="en-US" altLang="zh-CN" sz="2800" b="1" i="1" dirty="0">
                <a:latin typeface="Times New Roman" pitchFamily="18" charset="0"/>
              </a:rPr>
              <a:t> </a:t>
            </a:r>
            <a:r>
              <a:rPr kumimoji="1" lang="en-US" altLang="zh-CN" sz="2800" b="1" dirty="0">
                <a:latin typeface="Times New Roman" pitchFamily="18" charset="0"/>
              </a:rPr>
              <a:t>=10011</a:t>
            </a:r>
            <a:r>
              <a:rPr kumimoji="1" lang="zh-CN" altLang="en-US" sz="2800" b="1" dirty="0">
                <a:latin typeface="Times New Roman" pitchFamily="18" charset="0"/>
              </a:rPr>
              <a:t>（</a:t>
            </a:r>
            <a:r>
              <a:rPr kumimoji="1" lang="en-US" altLang="zh-CN" sz="2800" b="1" dirty="0">
                <a:latin typeface="Times New Roman" pitchFamily="18" charset="0"/>
              </a:rPr>
              <a:t>19</a:t>
            </a:r>
            <a:r>
              <a:rPr kumimoji="1" lang="zh-CN" altLang="en-US" sz="2800" b="1" dirty="0">
                <a:latin typeface="Times New Roman" pitchFamily="18" charset="0"/>
              </a:rPr>
              <a:t>） </a:t>
            </a:r>
            <a:endParaRPr kumimoji="1" lang="zh-CN" altLang="en-US" sz="2800" b="1" dirty="0">
              <a:latin typeface="Times New Roman" pitchFamily="18" charset="0"/>
              <a:cs typeface="Times New Roman" pitchFamily="18" charset="0"/>
            </a:endParaRPr>
          </a:p>
          <a:p>
            <a:pPr algn="just" eaLnBrk="1" hangingPunct="1">
              <a:spcBef>
                <a:spcPct val="20000"/>
              </a:spcBef>
            </a:pPr>
            <a:r>
              <a:rPr kumimoji="1" lang="zh-CN" altLang="en-US" sz="2800" b="1" dirty="0">
                <a:latin typeface="Times New Roman" pitchFamily="18" charset="0"/>
                <a:cs typeface="Times New Roman" pitchFamily="18" charset="0"/>
              </a:rPr>
              <a:t>        设</a:t>
            </a:r>
            <a:r>
              <a:rPr kumimoji="1" lang="en-US" altLang="zh-CN" sz="2800" b="1" i="1" dirty="0">
                <a:latin typeface="Times New Roman" pitchFamily="18" charset="0"/>
                <a:cs typeface="Times New Roman" pitchFamily="18" charset="0"/>
              </a:rPr>
              <a:t>s</a:t>
            </a:r>
            <a:r>
              <a:rPr kumimoji="1" lang="en-US" altLang="zh-CN" sz="2800" b="1" baseline="-30000" dirty="0">
                <a:latin typeface="Times New Roman" pitchFamily="18" charset="0"/>
                <a:cs typeface="Times New Roman" pitchFamily="18" charset="0"/>
              </a:rPr>
              <a:t>1</a:t>
            </a:r>
            <a:r>
              <a:rPr kumimoji="1" lang="en-US" altLang="zh-CN" sz="2800" b="1" i="1" dirty="0">
                <a:latin typeface="Courier New" pitchFamily="49" charset="0"/>
                <a:cs typeface="Times New Roman" pitchFamily="18" charset="0"/>
              </a:rPr>
              <a:t>’</a:t>
            </a:r>
            <a:r>
              <a:rPr kumimoji="1" lang="zh-CN" altLang="en-US" sz="2800" b="1" dirty="0">
                <a:latin typeface="Times New Roman" pitchFamily="18" charset="0"/>
                <a:cs typeface="Times New Roman" pitchFamily="18" charset="0"/>
              </a:rPr>
              <a:t>与</a:t>
            </a:r>
            <a:r>
              <a:rPr kumimoji="1" lang="en-US" altLang="zh-CN" sz="2800" b="1" i="1" dirty="0">
                <a:latin typeface="Times New Roman" pitchFamily="18" charset="0"/>
                <a:cs typeface="Times New Roman" pitchFamily="18" charset="0"/>
              </a:rPr>
              <a:t>s</a:t>
            </a:r>
            <a:r>
              <a:rPr kumimoji="1" lang="en-US" altLang="zh-CN" sz="2800" b="1" baseline="-30000" dirty="0">
                <a:latin typeface="Times New Roman" pitchFamily="18" charset="0"/>
                <a:cs typeface="Times New Roman" pitchFamily="18" charset="0"/>
              </a:rPr>
              <a:t>2</a:t>
            </a:r>
            <a:r>
              <a:rPr kumimoji="1" lang="en-US" altLang="zh-CN" sz="2800" b="1" i="1" dirty="0">
                <a:latin typeface="Courier New" pitchFamily="49" charset="0"/>
                <a:cs typeface="Times New Roman" pitchFamily="18" charset="0"/>
              </a:rPr>
              <a:t>’</a:t>
            </a:r>
            <a:r>
              <a:rPr kumimoji="1" lang="zh-CN" altLang="en-US" sz="2800" b="1" dirty="0">
                <a:latin typeface="Times New Roman" pitchFamily="18" charset="0"/>
                <a:cs typeface="Times New Roman" pitchFamily="18" charset="0"/>
              </a:rPr>
              <a:t>配对，</a:t>
            </a:r>
            <a:r>
              <a:rPr kumimoji="1" lang="en-US" altLang="zh-CN" sz="2800" b="1" i="1" dirty="0">
                <a:latin typeface="Times New Roman" pitchFamily="18" charset="0"/>
                <a:cs typeface="Times New Roman" pitchFamily="18" charset="0"/>
              </a:rPr>
              <a:t>s</a:t>
            </a:r>
            <a:r>
              <a:rPr kumimoji="1" lang="en-US" altLang="zh-CN" sz="2800" b="1" baseline="-30000" dirty="0">
                <a:latin typeface="Times New Roman" pitchFamily="18" charset="0"/>
                <a:cs typeface="Times New Roman" pitchFamily="18" charset="0"/>
              </a:rPr>
              <a:t>3</a:t>
            </a:r>
            <a:r>
              <a:rPr kumimoji="1" lang="en-US" altLang="zh-CN" sz="2800" b="1" i="1" dirty="0">
                <a:latin typeface="Courier New" pitchFamily="49" charset="0"/>
                <a:cs typeface="Times New Roman" pitchFamily="18" charset="0"/>
              </a:rPr>
              <a:t>’</a:t>
            </a:r>
            <a:r>
              <a:rPr kumimoji="1" lang="zh-CN" altLang="en-US" sz="2800" b="1" dirty="0">
                <a:latin typeface="Times New Roman" pitchFamily="18" charset="0"/>
                <a:cs typeface="Times New Roman" pitchFamily="18" charset="0"/>
              </a:rPr>
              <a:t>与</a:t>
            </a:r>
            <a:r>
              <a:rPr kumimoji="1" lang="en-US" altLang="zh-CN" sz="2800" b="1" i="1" dirty="0">
                <a:latin typeface="Times New Roman" pitchFamily="18" charset="0"/>
                <a:cs typeface="Times New Roman" pitchFamily="18" charset="0"/>
              </a:rPr>
              <a:t>s</a:t>
            </a:r>
            <a:r>
              <a:rPr kumimoji="1" lang="en-US" altLang="zh-CN" sz="2800" b="1" baseline="-30000" dirty="0">
                <a:latin typeface="Times New Roman" pitchFamily="18" charset="0"/>
                <a:cs typeface="Times New Roman" pitchFamily="18" charset="0"/>
              </a:rPr>
              <a:t>4</a:t>
            </a:r>
            <a:r>
              <a:rPr kumimoji="1" lang="en-US" altLang="zh-CN" sz="2800" b="1" i="1" dirty="0">
                <a:latin typeface="Courier New" pitchFamily="49" charset="0"/>
                <a:cs typeface="Times New Roman" pitchFamily="18" charset="0"/>
              </a:rPr>
              <a:t>’</a:t>
            </a:r>
            <a:r>
              <a:rPr kumimoji="1" lang="zh-CN" altLang="en-US" sz="2800" b="1" dirty="0">
                <a:latin typeface="Times New Roman" pitchFamily="18" charset="0"/>
                <a:cs typeface="Times New Roman" pitchFamily="18" charset="0"/>
              </a:rPr>
              <a:t>配对。分别交换后两位基因，得新染色体：</a:t>
            </a:r>
            <a:endParaRPr kumimoji="1" lang="zh-CN" altLang="en-US" sz="2800" b="1" dirty="0">
              <a:latin typeface="宋体" pitchFamily="2" charset="-122"/>
            </a:endParaRPr>
          </a:p>
          <a:p>
            <a:pPr algn="ctr" eaLnBrk="1" hangingPunct="1">
              <a:spcBef>
                <a:spcPct val="50000"/>
              </a:spcBef>
            </a:pPr>
            <a:r>
              <a:rPr kumimoji="1" lang="zh-CN" altLang="en-US" sz="2800" b="1" i="1" dirty="0">
                <a:latin typeface="Times New Roman" pitchFamily="18" charset="0"/>
              </a:rPr>
              <a:t>   </a:t>
            </a:r>
            <a:r>
              <a:rPr kumimoji="1" lang="en-US" altLang="zh-CN" sz="2800" b="1" i="1" dirty="0">
                <a:latin typeface="Times New Roman" pitchFamily="18" charset="0"/>
              </a:rPr>
              <a:t>s</a:t>
            </a:r>
            <a:r>
              <a:rPr kumimoji="1" lang="en-US" altLang="zh-CN" sz="2800" b="1" baseline="-30000" dirty="0">
                <a:latin typeface="Times New Roman" pitchFamily="18" charset="0"/>
              </a:rPr>
              <a:t>1</a:t>
            </a:r>
            <a:r>
              <a:rPr kumimoji="1" lang="en-US" altLang="zh-CN" sz="2800" b="1" i="1" dirty="0">
                <a:latin typeface="Courier New" pitchFamily="49" charset="0"/>
              </a:rPr>
              <a:t>’’</a:t>
            </a:r>
            <a:r>
              <a:rPr kumimoji="1" lang="en-US" altLang="zh-CN" sz="2800" b="1" dirty="0">
                <a:latin typeface="Times New Roman" pitchFamily="18" charset="0"/>
              </a:rPr>
              <a:t>=110</a:t>
            </a:r>
            <a:r>
              <a:rPr kumimoji="1" lang="en-US" altLang="zh-CN" sz="2800" b="1" dirty="0">
                <a:solidFill>
                  <a:srgbClr val="FF00FF"/>
                </a:solidFill>
                <a:latin typeface="Times New Roman" pitchFamily="18" charset="0"/>
              </a:rPr>
              <a:t>01</a:t>
            </a:r>
            <a:r>
              <a:rPr kumimoji="1" lang="zh-CN" altLang="en-US" sz="2800" b="1" dirty="0">
                <a:latin typeface="Times New Roman" pitchFamily="18" charset="0"/>
              </a:rPr>
              <a:t>（</a:t>
            </a:r>
            <a:r>
              <a:rPr kumimoji="1" lang="en-US" altLang="zh-CN" sz="2800" b="1" dirty="0">
                <a:latin typeface="Times New Roman" pitchFamily="18" charset="0"/>
              </a:rPr>
              <a:t>25</a:t>
            </a:r>
            <a:r>
              <a:rPr kumimoji="1" lang="zh-CN" altLang="en-US" sz="2800" b="1" dirty="0">
                <a:latin typeface="Times New Roman" pitchFamily="18" charset="0"/>
              </a:rPr>
              <a:t>）</a:t>
            </a:r>
            <a:r>
              <a:rPr kumimoji="1" lang="en-US" altLang="zh-CN" sz="2800" b="1" dirty="0">
                <a:latin typeface="Times New Roman" pitchFamily="18" charset="0"/>
              </a:rPr>
              <a:t>,  </a:t>
            </a:r>
            <a:r>
              <a:rPr kumimoji="1" lang="en-US" altLang="zh-CN" sz="2800" b="1" i="1" dirty="0">
                <a:latin typeface="Times New Roman" pitchFamily="18" charset="0"/>
              </a:rPr>
              <a:t>s</a:t>
            </a:r>
            <a:r>
              <a:rPr kumimoji="1" lang="en-US" altLang="zh-CN" sz="2800" b="1" baseline="-30000" dirty="0">
                <a:latin typeface="Times New Roman" pitchFamily="18" charset="0"/>
              </a:rPr>
              <a:t>2</a:t>
            </a:r>
            <a:r>
              <a:rPr kumimoji="1" lang="en-US" altLang="zh-CN" sz="2800" b="1" i="1" dirty="0">
                <a:latin typeface="Courier New" pitchFamily="49" charset="0"/>
              </a:rPr>
              <a:t>’’</a:t>
            </a:r>
            <a:r>
              <a:rPr kumimoji="1" lang="en-US" altLang="zh-CN" sz="2800" b="1" dirty="0">
                <a:latin typeface="Times New Roman" pitchFamily="18" charset="0"/>
              </a:rPr>
              <a:t>=011</a:t>
            </a:r>
            <a:r>
              <a:rPr kumimoji="1" lang="en-US" altLang="zh-CN" sz="2800" b="1" dirty="0">
                <a:solidFill>
                  <a:srgbClr val="FF00FF"/>
                </a:solidFill>
                <a:latin typeface="Times New Roman" pitchFamily="18" charset="0"/>
              </a:rPr>
              <a:t>00</a:t>
            </a:r>
            <a:r>
              <a:rPr kumimoji="1" lang="zh-CN" altLang="en-US" sz="2800" b="1" dirty="0">
                <a:latin typeface="Times New Roman" pitchFamily="18" charset="0"/>
              </a:rPr>
              <a:t>（</a:t>
            </a:r>
            <a:r>
              <a:rPr kumimoji="1" lang="en-US" altLang="zh-CN" sz="2800" b="1" dirty="0">
                <a:latin typeface="Times New Roman" pitchFamily="18" charset="0"/>
              </a:rPr>
              <a:t>12</a:t>
            </a:r>
            <a:r>
              <a:rPr kumimoji="1" lang="zh-CN" altLang="en-US" sz="2800" b="1" dirty="0">
                <a:latin typeface="Times New Roman" pitchFamily="18" charset="0"/>
              </a:rPr>
              <a:t>）</a:t>
            </a:r>
          </a:p>
          <a:p>
            <a:pPr algn="ctr" eaLnBrk="1" hangingPunct="1">
              <a:spcBef>
                <a:spcPct val="20000"/>
              </a:spcBef>
            </a:pPr>
            <a:r>
              <a:rPr kumimoji="1" lang="zh-CN" altLang="en-US" sz="2800" b="1" dirty="0">
                <a:latin typeface="Times New Roman" pitchFamily="18" charset="0"/>
              </a:rPr>
              <a:t>   </a:t>
            </a:r>
            <a:r>
              <a:rPr kumimoji="1" lang="en-US" altLang="zh-CN" sz="2800" b="1" i="1" dirty="0">
                <a:latin typeface="Times New Roman" pitchFamily="18" charset="0"/>
              </a:rPr>
              <a:t>s</a:t>
            </a:r>
            <a:r>
              <a:rPr kumimoji="1" lang="en-US" altLang="zh-CN" sz="2800" b="1" baseline="-30000" dirty="0">
                <a:latin typeface="Times New Roman" pitchFamily="18" charset="0"/>
              </a:rPr>
              <a:t>3</a:t>
            </a:r>
            <a:r>
              <a:rPr kumimoji="1" lang="en-US" altLang="zh-CN" sz="2800" b="1" i="1" dirty="0">
                <a:latin typeface="Courier New" pitchFamily="49" charset="0"/>
              </a:rPr>
              <a:t>’’</a:t>
            </a:r>
            <a:r>
              <a:rPr kumimoji="1" lang="en-US" altLang="zh-CN" sz="2800" b="1" dirty="0">
                <a:latin typeface="Times New Roman" pitchFamily="18" charset="0"/>
              </a:rPr>
              <a:t>=110</a:t>
            </a:r>
            <a:r>
              <a:rPr kumimoji="1" lang="en-US" altLang="zh-CN" sz="2800" b="1" dirty="0">
                <a:solidFill>
                  <a:srgbClr val="3333FF"/>
                </a:solidFill>
                <a:latin typeface="Times New Roman" pitchFamily="18" charset="0"/>
              </a:rPr>
              <a:t>11</a:t>
            </a:r>
            <a:r>
              <a:rPr kumimoji="1" lang="zh-CN" altLang="en-US" sz="2800" b="1" dirty="0">
                <a:latin typeface="Times New Roman" pitchFamily="18" charset="0"/>
              </a:rPr>
              <a:t>（</a:t>
            </a:r>
            <a:r>
              <a:rPr kumimoji="1" lang="en-US" altLang="zh-CN" sz="2800" b="1" dirty="0">
                <a:latin typeface="Times New Roman" pitchFamily="18" charset="0"/>
              </a:rPr>
              <a:t>27</a:t>
            </a:r>
            <a:r>
              <a:rPr kumimoji="1" lang="zh-CN" altLang="en-US" sz="2800" b="1" dirty="0">
                <a:latin typeface="Times New Roman" pitchFamily="18" charset="0"/>
              </a:rPr>
              <a:t>）</a:t>
            </a:r>
            <a:r>
              <a:rPr kumimoji="1" lang="en-US" altLang="zh-CN" sz="2800" b="1" dirty="0">
                <a:latin typeface="Times New Roman" pitchFamily="18" charset="0"/>
              </a:rPr>
              <a:t>,  </a:t>
            </a:r>
            <a:r>
              <a:rPr kumimoji="1" lang="en-US" altLang="zh-CN" sz="2800" b="1" i="1" dirty="0">
                <a:latin typeface="Times New Roman" pitchFamily="18" charset="0"/>
              </a:rPr>
              <a:t>s</a:t>
            </a:r>
            <a:r>
              <a:rPr kumimoji="1" lang="en-US" altLang="zh-CN" sz="2800" b="1" baseline="-30000" dirty="0">
                <a:latin typeface="Times New Roman" pitchFamily="18" charset="0"/>
              </a:rPr>
              <a:t>4</a:t>
            </a:r>
            <a:r>
              <a:rPr kumimoji="1" lang="en-US" altLang="zh-CN" sz="2800" b="1" i="1" dirty="0">
                <a:latin typeface="Courier New" pitchFamily="49" charset="0"/>
              </a:rPr>
              <a:t>’’</a:t>
            </a:r>
            <a:r>
              <a:rPr kumimoji="1" lang="en-US" altLang="zh-CN" sz="2800" b="1" dirty="0">
                <a:latin typeface="Times New Roman" pitchFamily="18" charset="0"/>
              </a:rPr>
              <a:t>=100</a:t>
            </a:r>
            <a:r>
              <a:rPr kumimoji="1" lang="en-US" altLang="zh-CN" sz="2800" b="1" dirty="0">
                <a:solidFill>
                  <a:srgbClr val="3333FF"/>
                </a:solidFill>
                <a:latin typeface="Times New Roman" pitchFamily="18" charset="0"/>
              </a:rPr>
              <a:t>00</a:t>
            </a:r>
            <a:r>
              <a:rPr kumimoji="1" lang="zh-CN" altLang="en-US" sz="2800" b="1" dirty="0">
                <a:latin typeface="Times New Roman" pitchFamily="18" charset="0"/>
              </a:rPr>
              <a:t>（</a:t>
            </a:r>
            <a:r>
              <a:rPr kumimoji="1" lang="en-US" altLang="zh-CN" sz="2800" b="1" dirty="0">
                <a:latin typeface="Times New Roman" pitchFamily="18" charset="0"/>
              </a:rPr>
              <a:t>16</a:t>
            </a:r>
            <a:r>
              <a:rPr kumimoji="1" lang="zh-CN" altLang="en-US" sz="2800" b="1" dirty="0">
                <a:latin typeface="Times New Roman" pitchFamily="18" charset="0"/>
              </a:rPr>
              <a:t>）</a:t>
            </a:r>
          </a:p>
        </p:txBody>
      </p:sp>
      <p:sp>
        <p:nvSpPr>
          <p:cNvPr id="48131" name="Rectangle 4"/>
          <p:cNvSpPr>
            <a:spLocks noChangeArrowheads="1"/>
          </p:cNvSpPr>
          <p:nvPr/>
        </p:nvSpPr>
        <p:spPr bwMode="auto">
          <a:xfrm>
            <a:off x="2286000" y="501651"/>
            <a:ext cx="74358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36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3600" dirty="0">
              <a:solidFill>
                <a:srgbClr val="008000"/>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F281A04E-FA8E-E58A-82C6-F870ED7D0835}"/>
              </a:ext>
            </a:extLst>
          </p:cNvPr>
          <p:cNvSpPr>
            <a:spLocks noGrp="1"/>
          </p:cNvSpPr>
          <p:nvPr>
            <p:ph type="sldNum" sz="quarter" idx="11"/>
          </p:nvPr>
        </p:nvSpPr>
        <p:spPr/>
        <p:txBody>
          <a:bodyPr/>
          <a:lstStyle/>
          <a:p>
            <a:pPr>
              <a:defRPr/>
            </a:pPr>
            <a:fld id="{1240398B-3681-435F-A1B8-D490B121ECC3}" type="slidenum">
              <a:rPr lang="en-US" altLang="zh-CN" smtClean="0"/>
              <a:pPr>
                <a:defRPr/>
              </a:pPr>
              <a:t>23</a:t>
            </a:fld>
            <a:endParaRPr lang="en-US" altLang="zh-CN"/>
          </a:p>
        </p:txBody>
      </p:sp>
    </p:spTree>
    <p:extLst>
      <p:ext uri="{BB962C8B-B14F-4D97-AF65-F5344CB8AC3E}">
        <p14:creationId xmlns:p14="http://schemas.microsoft.com/office/powerpoint/2010/main" val="20816255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4210">
                                            <p:txEl>
                                              <p:pRg st="0" end="0"/>
                                            </p:txEl>
                                          </p:spTgt>
                                        </p:tgtEl>
                                        <p:attrNameLst>
                                          <p:attrName>style.visibility</p:attrName>
                                        </p:attrNameLst>
                                      </p:cBhvr>
                                      <p:to>
                                        <p:strVal val="visible"/>
                                      </p:to>
                                    </p:set>
                                    <p:animEffect transition="in" filter="blinds(horizontal)">
                                      <p:cBhvr>
                                        <p:cTn id="7" dur="500"/>
                                        <p:tgtEl>
                                          <p:spTgt spid="942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4210">
                                            <p:txEl>
                                              <p:pRg st="1" end="1"/>
                                            </p:txEl>
                                          </p:spTgt>
                                        </p:tgtEl>
                                        <p:attrNameLst>
                                          <p:attrName>style.visibility</p:attrName>
                                        </p:attrNameLst>
                                      </p:cBhvr>
                                      <p:to>
                                        <p:strVal val="visible"/>
                                      </p:to>
                                    </p:set>
                                    <p:animEffect transition="in" filter="blinds(horizontal)">
                                      <p:cBhvr>
                                        <p:cTn id="12" dur="500"/>
                                        <p:tgtEl>
                                          <p:spTgt spid="942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4210">
                                            <p:txEl>
                                              <p:pRg st="2" end="2"/>
                                            </p:txEl>
                                          </p:spTgt>
                                        </p:tgtEl>
                                        <p:attrNameLst>
                                          <p:attrName>style.visibility</p:attrName>
                                        </p:attrNameLst>
                                      </p:cBhvr>
                                      <p:to>
                                        <p:strVal val="visible"/>
                                      </p:to>
                                    </p:set>
                                    <p:animEffect transition="in" filter="blinds(horizontal)">
                                      <p:cBhvr>
                                        <p:cTn id="17" dur="500"/>
                                        <p:tgtEl>
                                          <p:spTgt spid="942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4210">
                                            <p:txEl>
                                              <p:pRg st="3" end="3"/>
                                            </p:txEl>
                                          </p:spTgt>
                                        </p:tgtEl>
                                        <p:attrNameLst>
                                          <p:attrName>style.visibility</p:attrName>
                                        </p:attrNameLst>
                                      </p:cBhvr>
                                      <p:to>
                                        <p:strVal val="visible"/>
                                      </p:to>
                                    </p:set>
                                    <p:animEffect transition="in" filter="blinds(horizontal)">
                                      <p:cBhvr>
                                        <p:cTn id="22" dur="500"/>
                                        <p:tgtEl>
                                          <p:spTgt spid="942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94210">
                                            <p:txEl>
                                              <p:pRg st="4" end="4"/>
                                            </p:txEl>
                                          </p:spTgt>
                                        </p:tgtEl>
                                        <p:attrNameLst>
                                          <p:attrName>style.visibility</p:attrName>
                                        </p:attrNameLst>
                                      </p:cBhvr>
                                      <p:to>
                                        <p:strVal val="visible"/>
                                      </p:to>
                                    </p:set>
                                    <p:animEffect transition="in" filter="blinds(horizontal)">
                                      <p:cBhvr>
                                        <p:cTn id="27" dur="500"/>
                                        <p:tgtEl>
                                          <p:spTgt spid="942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4210">
                                            <p:txEl>
                                              <p:pRg st="5" end="5"/>
                                            </p:txEl>
                                          </p:spTgt>
                                        </p:tgtEl>
                                        <p:attrNameLst>
                                          <p:attrName>style.visibility</p:attrName>
                                        </p:attrNameLst>
                                      </p:cBhvr>
                                      <p:to>
                                        <p:strVal val="visible"/>
                                      </p:to>
                                    </p:set>
                                    <p:animEffect transition="in" filter="blinds(horizontal)">
                                      <p:cBhvr>
                                        <p:cTn id="32" dur="500"/>
                                        <p:tgtEl>
                                          <p:spTgt spid="942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94210">
                                            <p:txEl>
                                              <p:pRg st="6" end="6"/>
                                            </p:txEl>
                                          </p:spTgt>
                                        </p:tgtEl>
                                        <p:attrNameLst>
                                          <p:attrName>style.visibility</p:attrName>
                                        </p:attrNameLst>
                                      </p:cBhvr>
                                      <p:to>
                                        <p:strVal val="visible"/>
                                      </p:to>
                                    </p:set>
                                    <p:animEffect transition="in" filter="blinds(horizontal)">
                                      <p:cBhvr>
                                        <p:cTn id="37" dur="500"/>
                                        <p:tgtEl>
                                          <p:spTgt spid="942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1199456" y="1341439"/>
            <a:ext cx="9721080" cy="5552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lnSpc>
                <a:spcPct val="120000"/>
              </a:lnSpc>
              <a:spcBef>
                <a:spcPct val="20000"/>
              </a:spcBef>
            </a:pPr>
            <a:r>
              <a:rPr kumimoji="1" lang="zh-CN" altLang="en-US" sz="3200" b="1" dirty="0">
                <a:solidFill>
                  <a:srgbClr val="FF3300"/>
                </a:solidFill>
                <a:latin typeface="Times New Roman" pitchFamily="18" charset="0"/>
                <a:ea typeface="黑体" pitchFamily="49" charset="-122"/>
              </a:rPr>
              <a:t>变异</a:t>
            </a:r>
          </a:p>
          <a:p>
            <a:pPr algn="just" eaLnBrk="1" hangingPunct="1">
              <a:lnSpc>
                <a:spcPct val="120000"/>
              </a:lnSpc>
              <a:spcBef>
                <a:spcPct val="20000"/>
              </a:spcBef>
            </a:pPr>
            <a:r>
              <a:rPr kumimoji="1" lang="zh-CN" altLang="en-US" sz="2800" b="1" dirty="0">
                <a:latin typeface="Times New Roman" pitchFamily="18" charset="0"/>
                <a:cs typeface="Times New Roman" pitchFamily="18" charset="0"/>
              </a:rPr>
              <a:t>        设变异率</a:t>
            </a:r>
            <a:r>
              <a:rPr kumimoji="1" lang="en-US" altLang="zh-CN" sz="2800" b="1" i="1" dirty="0">
                <a:latin typeface="Times New Roman" pitchFamily="18" charset="0"/>
                <a:cs typeface="Times New Roman" pitchFamily="18" charset="0"/>
              </a:rPr>
              <a:t>p</a:t>
            </a:r>
            <a:r>
              <a:rPr kumimoji="1" lang="en-US" altLang="zh-CN" sz="2800" b="1" i="1" baseline="-30000" dirty="0">
                <a:latin typeface="Times New Roman" pitchFamily="18" charset="0"/>
                <a:cs typeface="Times New Roman" pitchFamily="18" charset="0"/>
              </a:rPr>
              <a:t>m</a:t>
            </a:r>
            <a:r>
              <a:rPr kumimoji="1" lang="en-US" altLang="zh-CN" sz="2800" b="1" dirty="0">
                <a:latin typeface="Times New Roman" pitchFamily="18" charset="0"/>
                <a:cs typeface="Times New Roman" pitchFamily="18" charset="0"/>
              </a:rPr>
              <a:t>=0.001</a:t>
            </a:r>
            <a:r>
              <a:rPr kumimoji="1" lang="zh-CN" altLang="en-US" sz="2800" b="1" dirty="0">
                <a:latin typeface="Times New Roman" pitchFamily="18" charset="0"/>
                <a:cs typeface="Times New Roman" pitchFamily="18" charset="0"/>
              </a:rPr>
              <a:t>。这样，群体</a:t>
            </a:r>
            <a:r>
              <a:rPr kumimoji="1" lang="en-US" altLang="zh-CN" sz="2800" b="1" i="1" dirty="0">
                <a:latin typeface="Times New Roman" pitchFamily="18" charset="0"/>
                <a:cs typeface="Times New Roman" pitchFamily="18" charset="0"/>
              </a:rPr>
              <a:t>S</a:t>
            </a:r>
            <a:r>
              <a:rPr kumimoji="1" lang="en-US" altLang="zh-CN" sz="2800" b="1" baseline="-30000" dirty="0">
                <a:latin typeface="Times New Roman" pitchFamily="18" charset="0"/>
                <a:cs typeface="Times New Roman" pitchFamily="18" charset="0"/>
              </a:rPr>
              <a:t>1</a:t>
            </a:r>
            <a:r>
              <a:rPr kumimoji="1" lang="zh-CN" altLang="en-US" sz="2800" b="1" dirty="0">
                <a:latin typeface="Times New Roman" pitchFamily="18" charset="0"/>
                <a:cs typeface="Times New Roman" pitchFamily="18" charset="0"/>
              </a:rPr>
              <a:t>中共有</a:t>
            </a:r>
          </a:p>
          <a:p>
            <a:pPr algn="just" eaLnBrk="1" hangingPunct="1">
              <a:lnSpc>
                <a:spcPct val="120000"/>
              </a:lnSpc>
              <a:spcBef>
                <a:spcPct val="20000"/>
              </a:spcBef>
            </a:pPr>
            <a:r>
              <a:rPr kumimoji="1" lang="zh-CN" altLang="en-US" sz="2800" b="1" dirty="0">
                <a:latin typeface="Times New Roman" pitchFamily="18" charset="0"/>
                <a:cs typeface="Times New Roman" pitchFamily="18" charset="0"/>
              </a:rPr>
              <a:t>                               </a:t>
            </a:r>
            <a:r>
              <a:rPr kumimoji="1" lang="en-US" altLang="zh-CN" sz="2800" b="1" dirty="0">
                <a:latin typeface="Times New Roman" pitchFamily="18" charset="0"/>
                <a:cs typeface="Times New Roman" pitchFamily="18" charset="0"/>
              </a:rPr>
              <a:t>5</a:t>
            </a:r>
            <a:r>
              <a:rPr kumimoji="1" lang="en-US" altLang="en-US" sz="2800" b="1" dirty="0"/>
              <a:t>×</a:t>
            </a:r>
            <a:r>
              <a:rPr kumimoji="1" lang="en-US" altLang="zh-CN" sz="2800" b="1" dirty="0">
                <a:latin typeface="Times New Roman" pitchFamily="18" charset="0"/>
              </a:rPr>
              <a:t>4</a:t>
            </a:r>
            <a:r>
              <a:rPr kumimoji="1" lang="en-US" altLang="en-US" sz="2800" b="1" dirty="0"/>
              <a:t>×</a:t>
            </a:r>
            <a:r>
              <a:rPr kumimoji="1" lang="en-US" altLang="zh-CN" sz="2800" b="1" dirty="0">
                <a:latin typeface="Times New Roman" pitchFamily="18" charset="0"/>
              </a:rPr>
              <a:t>0.001=0.02</a:t>
            </a:r>
          </a:p>
          <a:p>
            <a:pPr algn="just" eaLnBrk="1" hangingPunct="1">
              <a:lnSpc>
                <a:spcPct val="120000"/>
              </a:lnSpc>
              <a:spcBef>
                <a:spcPct val="20000"/>
              </a:spcBef>
            </a:pPr>
            <a:r>
              <a:rPr kumimoji="1" lang="zh-CN" altLang="en-US" sz="2800" b="1" dirty="0">
                <a:latin typeface="Times New Roman" pitchFamily="18" charset="0"/>
              </a:rPr>
              <a:t>位基因可以变异。</a:t>
            </a:r>
            <a:r>
              <a:rPr kumimoji="1" lang="en-US" altLang="zh-CN" sz="2800" b="1" dirty="0">
                <a:latin typeface="Times New Roman" pitchFamily="18" charset="0"/>
              </a:rPr>
              <a:t>0.02</a:t>
            </a:r>
            <a:r>
              <a:rPr kumimoji="1" lang="zh-CN" altLang="en-US" sz="2800" b="1" dirty="0">
                <a:latin typeface="Times New Roman" pitchFamily="18" charset="0"/>
              </a:rPr>
              <a:t>位显然不足</a:t>
            </a:r>
            <a:r>
              <a:rPr kumimoji="1" lang="en-US" altLang="zh-CN" sz="2800" b="1" dirty="0">
                <a:latin typeface="Times New Roman" pitchFamily="18" charset="0"/>
              </a:rPr>
              <a:t>1</a:t>
            </a:r>
            <a:r>
              <a:rPr kumimoji="1" lang="zh-CN" altLang="en-US" sz="2800" b="1" dirty="0">
                <a:latin typeface="Times New Roman" pitchFamily="18" charset="0"/>
              </a:rPr>
              <a:t>位，所以本轮遗传操作不做变异。</a:t>
            </a:r>
          </a:p>
          <a:p>
            <a:pPr eaLnBrk="1" hangingPunct="1">
              <a:lnSpc>
                <a:spcPct val="150000"/>
              </a:lnSpc>
            </a:pPr>
            <a:r>
              <a:rPr kumimoji="1" lang="zh-CN" altLang="en-US" sz="2800" b="1" dirty="0">
                <a:latin typeface="Times New Roman" pitchFamily="18" charset="0"/>
              </a:rPr>
              <a:t>       于是，得到第二代种群</a:t>
            </a:r>
            <a:r>
              <a:rPr kumimoji="1" lang="en-US" altLang="zh-CN" sz="2800" b="1" i="1" dirty="0">
                <a:latin typeface="Times New Roman" pitchFamily="18" charset="0"/>
              </a:rPr>
              <a:t>S</a:t>
            </a:r>
            <a:r>
              <a:rPr kumimoji="1" lang="en-US" altLang="zh-CN" b="1" dirty="0">
                <a:latin typeface="Times New Roman" pitchFamily="18" charset="0"/>
              </a:rPr>
              <a:t>2</a:t>
            </a:r>
            <a:r>
              <a:rPr kumimoji="1" lang="zh-CN" altLang="en-US" sz="2800" b="1" dirty="0">
                <a:latin typeface="Times New Roman" pitchFamily="18" charset="0"/>
              </a:rPr>
              <a:t>：</a:t>
            </a:r>
          </a:p>
          <a:p>
            <a:pPr eaLnBrk="1" hangingPunct="1">
              <a:lnSpc>
                <a:spcPct val="150000"/>
              </a:lnSpc>
            </a:pPr>
            <a:r>
              <a:rPr kumimoji="1" lang="zh-CN" altLang="en-US" sz="2800" b="1" dirty="0">
                <a:latin typeface="Times New Roman" pitchFamily="18" charset="0"/>
              </a:rPr>
              <a:t>     </a:t>
            </a:r>
            <a:r>
              <a:rPr kumimoji="1" lang="en-US" altLang="zh-CN" sz="2800" b="1" i="1" dirty="0">
                <a:latin typeface="Times New Roman" pitchFamily="18" charset="0"/>
              </a:rPr>
              <a:t>s</a:t>
            </a:r>
            <a:r>
              <a:rPr kumimoji="1" lang="en-US" altLang="zh-CN" sz="1200" b="1" dirty="0">
                <a:latin typeface="Times New Roman" pitchFamily="18" charset="0"/>
              </a:rPr>
              <a:t>1</a:t>
            </a:r>
            <a:r>
              <a:rPr kumimoji="1" lang="en-US" altLang="zh-CN" sz="2800" b="1" dirty="0">
                <a:latin typeface="Times New Roman" pitchFamily="18" charset="0"/>
              </a:rPr>
              <a:t>=11001</a:t>
            </a:r>
            <a:r>
              <a:rPr kumimoji="1" lang="zh-CN" altLang="en-US" sz="2800" b="1" dirty="0">
                <a:latin typeface="Times New Roman" pitchFamily="18" charset="0"/>
              </a:rPr>
              <a:t>（</a:t>
            </a:r>
            <a:r>
              <a:rPr kumimoji="1" lang="en-US" altLang="zh-CN" sz="2800" b="1" dirty="0">
                <a:latin typeface="Times New Roman" pitchFamily="18" charset="0"/>
              </a:rPr>
              <a:t>25</a:t>
            </a:r>
            <a:r>
              <a:rPr kumimoji="1" lang="zh-CN" altLang="en-US" sz="2800" b="1" dirty="0">
                <a:latin typeface="Times New Roman" pitchFamily="18" charset="0"/>
              </a:rPr>
              <a:t>）</a:t>
            </a:r>
            <a:r>
              <a:rPr kumimoji="1" lang="en-US" altLang="zh-CN" sz="2800" b="1" dirty="0">
                <a:latin typeface="Times New Roman" pitchFamily="18" charset="0"/>
              </a:rPr>
              <a:t>, </a:t>
            </a:r>
            <a:r>
              <a:rPr kumimoji="1" lang="en-US" altLang="zh-CN" sz="2800" b="1" i="1" dirty="0">
                <a:latin typeface="Times New Roman" pitchFamily="18" charset="0"/>
              </a:rPr>
              <a:t>s</a:t>
            </a:r>
            <a:r>
              <a:rPr kumimoji="1" lang="en-US" altLang="zh-CN" sz="1200" b="1" dirty="0">
                <a:latin typeface="Times New Roman" pitchFamily="18" charset="0"/>
              </a:rPr>
              <a:t>2</a:t>
            </a:r>
            <a:r>
              <a:rPr kumimoji="1" lang="en-US" altLang="zh-CN" sz="2800" b="1" dirty="0">
                <a:latin typeface="Times New Roman" pitchFamily="18" charset="0"/>
              </a:rPr>
              <a:t>=01100</a:t>
            </a:r>
            <a:r>
              <a:rPr kumimoji="1" lang="zh-CN" altLang="en-US" sz="2800" b="1" dirty="0">
                <a:latin typeface="Times New Roman" pitchFamily="18" charset="0"/>
              </a:rPr>
              <a:t>（</a:t>
            </a:r>
            <a:r>
              <a:rPr kumimoji="1" lang="en-US" altLang="zh-CN" sz="2800" b="1" dirty="0">
                <a:latin typeface="Times New Roman" pitchFamily="18" charset="0"/>
              </a:rPr>
              <a:t>12</a:t>
            </a:r>
            <a:r>
              <a:rPr kumimoji="1" lang="zh-CN" altLang="en-US" sz="2800" b="1" dirty="0">
                <a:latin typeface="Times New Roman" pitchFamily="18" charset="0"/>
              </a:rPr>
              <a:t>）</a:t>
            </a:r>
          </a:p>
          <a:p>
            <a:pPr eaLnBrk="1" hangingPunct="1">
              <a:lnSpc>
                <a:spcPct val="150000"/>
              </a:lnSpc>
            </a:pPr>
            <a:r>
              <a:rPr kumimoji="1" lang="zh-CN" altLang="en-US" sz="2800" b="1" dirty="0">
                <a:latin typeface="Times New Roman" pitchFamily="18" charset="0"/>
              </a:rPr>
              <a:t>     </a:t>
            </a:r>
            <a:r>
              <a:rPr kumimoji="1" lang="en-US" altLang="zh-CN" sz="2800" b="1" i="1" dirty="0">
                <a:latin typeface="Times New Roman" pitchFamily="18" charset="0"/>
              </a:rPr>
              <a:t>s</a:t>
            </a:r>
            <a:r>
              <a:rPr kumimoji="1" lang="en-US" altLang="zh-CN" sz="1200" b="1" dirty="0">
                <a:latin typeface="Times New Roman" pitchFamily="18" charset="0"/>
              </a:rPr>
              <a:t>3</a:t>
            </a:r>
            <a:r>
              <a:rPr kumimoji="1" lang="en-US" altLang="zh-CN" sz="2800" b="1" dirty="0">
                <a:latin typeface="Times New Roman" pitchFamily="18" charset="0"/>
              </a:rPr>
              <a:t>=11011</a:t>
            </a:r>
            <a:r>
              <a:rPr kumimoji="1" lang="zh-CN" altLang="en-US" sz="2800" b="1" dirty="0">
                <a:latin typeface="Times New Roman" pitchFamily="18" charset="0"/>
              </a:rPr>
              <a:t>（</a:t>
            </a:r>
            <a:r>
              <a:rPr kumimoji="1" lang="en-US" altLang="zh-CN" sz="2800" b="1" dirty="0">
                <a:latin typeface="Times New Roman" pitchFamily="18" charset="0"/>
              </a:rPr>
              <a:t>27</a:t>
            </a:r>
            <a:r>
              <a:rPr kumimoji="1" lang="zh-CN" altLang="en-US" sz="2800" b="1" dirty="0">
                <a:latin typeface="Times New Roman" pitchFamily="18" charset="0"/>
              </a:rPr>
              <a:t>）</a:t>
            </a:r>
            <a:r>
              <a:rPr kumimoji="1" lang="en-US" altLang="zh-CN" sz="2800" b="1" dirty="0">
                <a:latin typeface="Times New Roman" pitchFamily="18" charset="0"/>
              </a:rPr>
              <a:t>, </a:t>
            </a:r>
            <a:r>
              <a:rPr kumimoji="1" lang="en-US" altLang="zh-CN" sz="2800" b="1" i="1" dirty="0">
                <a:latin typeface="Times New Roman" pitchFamily="18" charset="0"/>
              </a:rPr>
              <a:t>s</a:t>
            </a:r>
            <a:r>
              <a:rPr kumimoji="1" lang="en-US" altLang="zh-CN" sz="1200" b="1" dirty="0">
                <a:latin typeface="Times New Roman" pitchFamily="18" charset="0"/>
              </a:rPr>
              <a:t>4</a:t>
            </a:r>
            <a:r>
              <a:rPr kumimoji="1" lang="en-US" altLang="zh-CN" sz="2800" b="1" dirty="0">
                <a:latin typeface="Times New Roman" pitchFamily="18" charset="0"/>
              </a:rPr>
              <a:t>=10000</a:t>
            </a:r>
            <a:r>
              <a:rPr kumimoji="1" lang="zh-CN" altLang="en-US" sz="2800" b="1" dirty="0">
                <a:latin typeface="Times New Roman" pitchFamily="18" charset="0"/>
              </a:rPr>
              <a:t>（</a:t>
            </a:r>
            <a:r>
              <a:rPr kumimoji="1" lang="en-US" altLang="zh-CN" sz="2800" b="1" dirty="0">
                <a:latin typeface="Times New Roman" pitchFamily="18" charset="0"/>
              </a:rPr>
              <a:t>16</a:t>
            </a:r>
            <a:r>
              <a:rPr kumimoji="1" lang="zh-CN" altLang="en-US" sz="2800" b="1" dirty="0">
                <a:latin typeface="Times New Roman" pitchFamily="18" charset="0"/>
              </a:rPr>
              <a:t>）</a:t>
            </a:r>
          </a:p>
          <a:p>
            <a:pPr algn="just" eaLnBrk="1" hangingPunct="1">
              <a:lnSpc>
                <a:spcPct val="120000"/>
              </a:lnSpc>
              <a:spcBef>
                <a:spcPct val="20000"/>
              </a:spcBef>
            </a:pPr>
            <a:endParaRPr kumimoji="1" lang="zh-CN" altLang="en-US" sz="2800" dirty="0">
              <a:latin typeface="Times New Roman" pitchFamily="18" charset="0"/>
            </a:endParaRPr>
          </a:p>
        </p:txBody>
      </p:sp>
      <p:sp>
        <p:nvSpPr>
          <p:cNvPr id="49155" name="Rectangle 4"/>
          <p:cNvSpPr>
            <a:spLocks noChangeArrowheads="1"/>
          </p:cNvSpPr>
          <p:nvPr/>
        </p:nvSpPr>
        <p:spPr bwMode="auto">
          <a:xfrm>
            <a:off x="2286000" y="501651"/>
            <a:ext cx="74358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36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3600" dirty="0">
              <a:solidFill>
                <a:srgbClr val="008000"/>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BA1D8685-E28F-7CCB-955D-82C23420A460}"/>
              </a:ext>
            </a:extLst>
          </p:cNvPr>
          <p:cNvSpPr>
            <a:spLocks noGrp="1"/>
          </p:cNvSpPr>
          <p:nvPr>
            <p:ph type="sldNum" sz="quarter" idx="11"/>
          </p:nvPr>
        </p:nvSpPr>
        <p:spPr/>
        <p:txBody>
          <a:bodyPr/>
          <a:lstStyle/>
          <a:p>
            <a:pPr>
              <a:defRPr/>
            </a:pPr>
            <a:fld id="{1240398B-3681-435F-A1B8-D490B121ECC3}" type="slidenum">
              <a:rPr lang="en-US" altLang="zh-CN" smtClean="0"/>
              <a:pPr>
                <a:defRPr/>
              </a:pPr>
              <a:t>24</a:t>
            </a:fld>
            <a:endParaRPr lang="en-US" altLang="zh-CN"/>
          </a:p>
        </p:txBody>
      </p:sp>
    </p:spTree>
    <p:extLst>
      <p:ext uri="{BB962C8B-B14F-4D97-AF65-F5344CB8AC3E}">
        <p14:creationId xmlns:p14="http://schemas.microsoft.com/office/powerpoint/2010/main" val="27642541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5234">
                                            <p:txEl>
                                              <p:pRg st="0" end="0"/>
                                            </p:txEl>
                                          </p:spTgt>
                                        </p:tgtEl>
                                        <p:attrNameLst>
                                          <p:attrName>style.visibility</p:attrName>
                                        </p:attrNameLst>
                                      </p:cBhvr>
                                      <p:to>
                                        <p:strVal val="visible"/>
                                      </p:to>
                                    </p:set>
                                    <p:animEffect transition="in" filter="blinds(horizontal)">
                                      <p:cBhvr>
                                        <p:cTn id="7" dur="500"/>
                                        <p:tgtEl>
                                          <p:spTgt spid="952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5234">
                                            <p:txEl>
                                              <p:pRg st="1" end="1"/>
                                            </p:txEl>
                                          </p:spTgt>
                                        </p:tgtEl>
                                        <p:attrNameLst>
                                          <p:attrName>style.visibility</p:attrName>
                                        </p:attrNameLst>
                                      </p:cBhvr>
                                      <p:to>
                                        <p:strVal val="visible"/>
                                      </p:to>
                                    </p:set>
                                    <p:animEffect transition="in" filter="blinds(horizontal)">
                                      <p:cBhvr>
                                        <p:cTn id="12" dur="500"/>
                                        <p:tgtEl>
                                          <p:spTgt spid="95234">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95234">
                                            <p:txEl>
                                              <p:pRg st="2" end="2"/>
                                            </p:txEl>
                                          </p:spTgt>
                                        </p:tgtEl>
                                        <p:attrNameLst>
                                          <p:attrName>style.visibility</p:attrName>
                                        </p:attrNameLst>
                                      </p:cBhvr>
                                      <p:to>
                                        <p:strVal val="visible"/>
                                      </p:to>
                                    </p:set>
                                    <p:animEffect transition="in" filter="blinds(horizontal)">
                                      <p:cBhvr>
                                        <p:cTn id="15" dur="500"/>
                                        <p:tgtEl>
                                          <p:spTgt spid="9523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95234">
                                            <p:txEl>
                                              <p:pRg st="3" end="3"/>
                                            </p:txEl>
                                          </p:spTgt>
                                        </p:tgtEl>
                                        <p:attrNameLst>
                                          <p:attrName>style.visibility</p:attrName>
                                        </p:attrNameLst>
                                      </p:cBhvr>
                                      <p:to>
                                        <p:strVal val="visible"/>
                                      </p:to>
                                    </p:set>
                                    <p:animEffect transition="in" filter="blinds(horizontal)">
                                      <p:cBhvr>
                                        <p:cTn id="20" dur="500"/>
                                        <p:tgtEl>
                                          <p:spTgt spid="9523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95234">
                                            <p:txEl>
                                              <p:pRg st="4" end="4"/>
                                            </p:txEl>
                                          </p:spTgt>
                                        </p:tgtEl>
                                        <p:attrNameLst>
                                          <p:attrName>style.visibility</p:attrName>
                                        </p:attrNameLst>
                                      </p:cBhvr>
                                      <p:to>
                                        <p:strVal val="visible"/>
                                      </p:to>
                                    </p:set>
                                    <p:animEffect transition="in" filter="blinds(horizontal)">
                                      <p:cBhvr>
                                        <p:cTn id="25" dur="500"/>
                                        <p:tgtEl>
                                          <p:spTgt spid="9523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95234">
                                            <p:txEl>
                                              <p:pRg st="5" end="5"/>
                                            </p:txEl>
                                          </p:spTgt>
                                        </p:tgtEl>
                                        <p:attrNameLst>
                                          <p:attrName>style.visibility</p:attrName>
                                        </p:attrNameLst>
                                      </p:cBhvr>
                                      <p:to>
                                        <p:strVal val="visible"/>
                                      </p:to>
                                    </p:set>
                                    <p:animEffect transition="in" filter="blinds(horizontal)">
                                      <p:cBhvr>
                                        <p:cTn id="30" dur="500"/>
                                        <p:tgtEl>
                                          <p:spTgt spid="95234">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95234">
                                            <p:txEl>
                                              <p:pRg st="6" end="6"/>
                                            </p:txEl>
                                          </p:spTgt>
                                        </p:tgtEl>
                                        <p:attrNameLst>
                                          <p:attrName>style.visibility</p:attrName>
                                        </p:attrNameLst>
                                      </p:cBhvr>
                                      <p:to>
                                        <p:strVal val="visible"/>
                                      </p:to>
                                    </p:set>
                                    <p:animEffect transition="in" filter="blinds(horizontal)">
                                      <p:cBhvr>
                                        <p:cTn id="33" dur="500"/>
                                        <p:tgtEl>
                                          <p:spTgt spid="9523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767408" y="1470151"/>
            <a:ext cx="61093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kumimoji="1" lang="zh-CN" altLang="en-US" sz="3200" b="1" dirty="0">
                <a:latin typeface="Times New Roman" pitchFamily="18" charset="0"/>
              </a:rPr>
              <a:t> </a:t>
            </a:r>
            <a:r>
              <a:rPr kumimoji="1" lang="zh-CN" altLang="en-US" sz="3200" b="1" dirty="0">
                <a:latin typeface="宋体" pitchFamily="2" charset="-122"/>
              </a:rPr>
              <a:t>第二代种群</a:t>
            </a:r>
            <a:r>
              <a:rPr kumimoji="1" lang="en-US" altLang="zh-CN" sz="3200" b="1" i="1" dirty="0">
                <a:latin typeface="Times New Roman" pitchFamily="18" charset="0"/>
              </a:rPr>
              <a:t>S</a:t>
            </a:r>
            <a:r>
              <a:rPr kumimoji="1" lang="en-US" altLang="zh-CN" sz="3200" b="1" baseline="-25000" dirty="0">
                <a:latin typeface="Times New Roman" pitchFamily="18" charset="0"/>
              </a:rPr>
              <a:t>2</a:t>
            </a:r>
            <a:r>
              <a:rPr kumimoji="1" lang="zh-CN" altLang="en-US" sz="3200" b="1" dirty="0">
                <a:latin typeface="宋体" pitchFamily="2" charset="-122"/>
              </a:rPr>
              <a:t>中各染色体的情况</a:t>
            </a:r>
            <a:r>
              <a:rPr kumimoji="1" lang="zh-CN" altLang="en-US" sz="3200" b="1" dirty="0">
                <a:latin typeface="Times New Roman" pitchFamily="18" charset="0"/>
              </a:rPr>
              <a:t> </a:t>
            </a:r>
          </a:p>
        </p:txBody>
      </p:sp>
      <p:graphicFrame>
        <p:nvGraphicFramePr>
          <p:cNvPr id="96294" name="Group 38"/>
          <p:cNvGraphicFramePr>
            <a:graphicFrameLocks noGrp="1"/>
          </p:cNvGraphicFramePr>
          <p:nvPr>
            <p:extLst>
              <p:ext uri="{D42A27DB-BD31-4B8C-83A1-F6EECF244321}">
                <p14:modId xmlns:p14="http://schemas.microsoft.com/office/powerpoint/2010/main" val="3883554771"/>
              </p:ext>
            </p:extLst>
          </p:nvPr>
        </p:nvGraphicFramePr>
        <p:xfrm>
          <a:off x="1863012" y="2374139"/>
          <a:ext cx="8075241" cy="2739569"/>
        </p:xfrm>
        <a:graphic>
          <a:graphicData uri="http://schemas.openxmlformats.org/drawingml/2006/table">
            <a:tbl>
              <a:tblPr/>
              <a:tblGrid>
                <a:gridCol w="1944216">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gridCol w="1522513">
                  <a:extLst>
                    <a:ext uri="{9D8B030D-6E8A-4147-A177-3AD203B41FA5}">
                      <a16:colId xmlns:a16="http://schemas.microsoft.com/office/drawing/2014/main" val="20004"/>
                    </a:ext>
                  </a:extLst>
                </a:gridCol>
              </a:tblGrid>
              <a:tr h="503882">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  染色体</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适应度</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选择概率</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积累概率</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 </a:t>
                      </a:r>
                      <a:r>
                        <a:rPr kumimoji="0" lang="zh-CN" altLang="en-US" sz="2400" b="1" i="0" u="none" strike="noStrike" cap="none" normalizeH="0" baseline="0" dirty="0">
                          <a:ln>
                            <a:noFill/>
                          </a:ln>
                          <a:solidFill>
                            <a:srgbClr val="CC00CC"/>
                          </a:solidFill>
                          <a:effectLst/>
                          <a:latin typeface="Verdana" pitchFamily="34" charset="0"/>
                          <a:ea typeface="宋体" charset="-122"/>
                        </a:rPr>
                        <a:t>选中次数</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6050">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1</a:t>
                      </a:r>
                      <a:r>
                        <a:rPr kumimoji="0" lang="en-US" altLang="zh-CN" sz="2400" b="1" i="0" u="none" strike="noStrike" cap="none" normalizeH="0" baseline="0">
                          <a:ln>
                            <a:noFill/>
                          </a:ln>
                          <a:solidFill>
                            <a:schemeClr val="tx1"/>
                          </a:solidFill>
                          <a:effectLst/>
                          <a:latin typeface="Verdana" pitchFamily="34" charset="0"/>
                          <a:ea typeface="宋体" charset="-122"/>
                        </a:rPr>
                        <a:t>=11001</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625</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0.36</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0.36</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1</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1624">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2</a:t>
                      </a:r>
                      <a:r>
                        <a:rPr kumimoji="0" lang="en-US" altLang="zh-CN" sz="2400" b="1" i="0" u="none" strike="noStrike" cap="none" normalizeH="0" baseline="0">
                          <a:ln>
                            <a:noFill/>
                          </a:ln>
                          <a:solidFill>
                            <a:schemeClr val="tx1"/>
                          </a:solidFill>
                          <a:effectLst/>
                          <a:latin typeface="Verdana" pitchFamily="34" charset="0"/>
                          <a:ea typeface="宋体" charset="-122"/>
                        </a:rPr>
                        <a:t>=01100</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144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0.08</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0.44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      </a:t>
                      </a:r>
                      <a:r>
                        <a:rPr kumimoji="0" lang="en-US" altLang="zh-CN" sz="2400" b="1" i="0" u="none" strike="noStrike" cap="none" normalizeH="0" baseline="0" dirty="0">
                          <a:ln>
                            <a:noFill/>
                          </a:ln>
                          <a:solidFill>
                            <a:schemeClr val="tx1"/>
                          </a:solidFill>
                          <a:effectLst/>
                          <a:latin typeface="Verdana" pitchFamily="34" charset="0"/>
                          <a:ea typeface="宋体" charset="-122"/>
                        </a:rPr>
                        <a:t>1</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4800">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3</a:t>
                      </a:r>
                      <a:r>
                        <a:rPr kumimoji="0" lang="en-US" altLang="zh-CN" sz="2400" b="1" i="0" u="none" strike="noStrike" cap="none" normalizeH="0" baseline="0">
                          <a:ln>
                            <a:noFill/>
                          </a:ln>
                          <a:solidFill>
                            <a:schemeClr val="tx1"/>
                          </a:solidFill>
                          <a:effectLst/>
                          <a:latin typeface="Verdana" pitchFamily="34" charset="0"/>
                          <a:ea typeface="宋体" charset="-122"/>
                        </a:rPr>
                        <a:t>=11011</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729</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0.41</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0.85 </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      </a:t>
                      </a:r>
                      <a:r>
                        <a:rPr kumimoji="0" lang="en-US" altLang="zh-CN" sz="2400" b="1" i="0" u="none" strike="noStrike" cap="none" normalizeH="0" baseline="0" dirty="0">
                          <a:ln>
                            <a:noFill/>
                          </a:ln>
                          <a:solidFill>
                            <a:schemeClr val="tx1"/>
                          </a:solidFill>
                          <a:effectLst/>
                          <a:latin typeface="Verdana" pitchFamily="34" charset="0"/>
                          <a:ea typeface="宋体" charset="-122"/>
                        </a:rPr>
                        <a:t>1</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3213">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4</a:t>
                      </a:r>
                      <a:r>
                        <a:rPr kumimoji="0" lang="en-US" altLang="zh-CN" sz="2400" b="1" i="0" u="none" strike="noStrike" cap="none" normalizeH="0" baseline="0">
                          <a:ln>
                            <a:noFill/>
                          </a:ln>
                          <a:solidFill>
                            <a:schemeClr val="tx1"/>
                          </a:solidFill>
                          <a:effectLst/>
                          <a:latin typeface="Verdana" pitchFamily="34" charset="0"/>
                          <a:ea typeface="宋体" charset="-122"/>
                        </a:rPr>
                        <a:t>=10000</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256</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0.15</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1.00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      </a:t>
                      </a:r>
                      <a:r>
                        <a:rPr kumimoji="0" lang="en-US" altLang="zh-CN" sz="2400" b="1" i="0" u="none" strike="noStrike" cap="none" normalizeH="0" baseline="0" dirty="0">
                          <a:ln>
                            <a:noFill/>
                          </a:ln>
                          <a:solidFill>
                            <a:schemeClr val="tx1"/>
                          </a:solidFill>
                          <a:effectLst/>
                          <a:latin typeface="Verdana" pitchFamily="34" charset="0"/>
                          <a:ea typeface="宋体" charset="-122"/>
                        </a:rPr>
                        <a:t>1</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0211" name="Rectangle 36"/>
          <p:cNvSpPr>
            <a:spLocks noChangeArrowheads="1"/>
          </p:cNvSpPr>
          <p:nvPr/>
        </p:nvSpPr>
        <p:spPr bwMode="auto">
          <a:xfrm>
            <a:off x="1847528" y="501651"/>
            <a:ext cx="787432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63386083-F17B-FCBA-D122-D07EF967924B}"/>
              </a:ext>
            </a:extLst>
          </p:cNvPr>
          <p:cNvSpPr>
            <a:spLocks noGrp="1"/>
          </p:cNvSpPr>
          <p:nvPr>
            <p:ph type="sldNum" sz="quarter" idx="11"/>
          </p:nvPr>
        </p:nvSpPr>
        <p:spPr/>
        <p:txBody>
          <a:bodyPr/>
          <a:lstStyle/>
          <a:p>
            <a:pPr>
              <a:defRPr/>
            </a:pPr>
            <a:fld id="{1240398B-3681-435F-A1B8-D490B121ECC3}" type="slidenum">
              <a:rPr lang="en-US" altLang="zh-CN" smtClean="0"/>
              <a:pPr>
                <a:defRPr/>
              </a:pPr>
              <a:t>25</a:t>
            </a:fld>
            <a:endParaRPr lang="en-US" altLang="zh-CN"/>
          </a:p>
        </p:txBody>
      </p:sp>
    </p:spTree>
    <p:extLst>
      <p:ext uri="{BB962C8B-B14F-4D97-AF65-F5344CB8AC3E}">
        <p14:creationId xmlns:p14="http://schemas.microsoft.com/office/powerpoint/2010/main" val="370482922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1127448" y="1341439"/>
            <a:ext cx="10009111" cy="107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20000"/>
              </a:lnSpc>
              <a:spcBef>
                <a:spcPct val="20000"/>
              </a:spcBef>
            </a:pPr>
            <a:r>
              <a:rPr kumimoji="1" lang="zh-CN" altLang="en-US" sz="2800" b="1" dirty="0">
                <a:latin typeface="宋体" pitchFamily="2" charset="-122"/>
              </a:rPr>
              <a:t>假设这一轮选择</a:t>
            </a:r>
            <a:r>
              <a:rPr kumimoji="1" lang="en-US" altLang="zh-CN" sz="2800" b="1" dirty="0">
                <a:latin typeface="Times New Roman" pitchFamily="18" charset="0"/>
              </a:rPr>
              <a:t>-</a:t>
            </a:r>
            <a:r>
              <a:rPr kumimoji="1" lang="zh-CN" altLang="en-US" sz="2800" b="1" dirty="0">
                <a:latin typeface="宋体" pitchFamily="2" charset="-122"/>
              </a:rPr>
              <a:t>复制操作中，种群</a:t>
            </a:r>
            <a:r>
              <a:rPr kumimoji="1" lang="en-US" altLang="zh-CN" sz="2800" b="1" i="1" dirty="0">
                <a:latin typeface="Times New Roman" pitchFamily="18" charset="0"/>
              </a:rPr>
              <a:t>S</a:t>
            </a:r>
            <a:r>
              <a:rPr kumimoji="1" lang="en-US" altLang="zh-CN" sz="2800" b="1" baseline="-30000" dirty="0">
                <a:latin typeface="Times New Roman" pitchFamily="18" charset="0"/>
              </a:rPr>
              <a:t>2</a:t>
            </a:r>
            <a:r>
              <a:rPr kumimoji="1" lang="zh-CN" altLang="en-US" sz="2800" b="1" dirty="0">
                <a:latin typeface="宋体" pitchFamily="2" charset="-122"/>
              </a:rPr>
              <a:t>中的</a:t>
            </a:r>
            <a:r>
              <a:rPr kumimoji="1" lang="en-US" altLang="zh-CN" sz="2800" b="1" dirty="0">
                <a:latin typeface="Times New Roman" pitchFamily="18" charset="0"/>
              </a:rPr>
              <a:t>4</a:t>
            </a:r>
            <a:r>
              <a:rPr kumimoji="1" lang="zh-CN" altLang="en-US" sz="2800" b="1" dirty="0">
                <a:latin typeface="宋体" pitchFamily="2" charset="-122"/>
              </a:rPr>
              <a:t>个染色体都被选中，则得到群体：</a:t>
            </a:r>
            <a:r>
              <a:rPr kumimoji="1" lang="zh-CN" altLang="en-US" sz="2800" b="1" dirty="0">
                <a:latin typeface="Times New Roman" pitchFamily="18" charset="0"/>
              </a:rPr>
              <a:t> </a:t>
            </a:r>
          </a:p>
        </p:txBody>
      </p:sp>
      <p:sp>
        <p:nvSpPr>
          <p:cNvPr id="97283" name="Text Box 3"/>
          <p:cNvSpPr txBox="1">
            <a:spLocks noChangeArrowheads="1"/>
          </p:cNvSpPr>
          <p:nvPr/>
        </p:nvSpPr>
        <p:spPr bwMode="auto">
          <a:xfrm>
            <a:off x="3000376" y="2133600"/>
            <a:ext cx="6480175" cy="102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20000"/>
              </a:lnSpc>
              <a:spcBef>
                <a:spcPct val="20000"/>
              </a:spcBef>
            </a:pPr>
            <a:r>
              <a:rPr kumimoji="1" lang="zh-CN" altLang="en-US" sz="2400" b="1" i="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1</a:t>
            </a:r>
            <a:r>
              <a:rPr kumimoji="1" lang="en-US" altLang="zh-CN" sz="2400" b="1" i="1" dirty="0">
                <a:latin typeface="Courier New" pitchFamily="49" charset="0"/>
              </a:rPr>
              <a:t>’</a:t>
            </a:r>
            <a:r>
              <a:rPr kumimoji="1" lang="en-US" altLang="zh-CN" sz="2400" b="1" dirty="0">
                <a:latin typeface="Times New Roman" pitchFamily="18" charset="0"/>
              </a:rPr>
              <a:t>=11001</a:t>
            </a:r>
            <a:r>
              <a:rPr kumimoji="1" lang="zh-CN" altLang="en-US" sz="2400" b="1" dirty="0">
                <a:latin typeface="宋体" pitchFamily="2" charset="-122"/>
              </a:rPr>
              <a:t>（</a:t>
            </a:r>
            <a:r>
              <a:rPr kumimoji="1" lang="en-US" altLang="zh-CN" sz="2400" b="1" dirty="0">
                <a:latin typeface="Times New Roman" pitchFamily="18" charset="0"/>
              </a:rPr>
              <a:t>25</a:t>
            </a:r>
            <a:r>
              <a:rPr kumimoji="1" lang="zh-CN" altLang="en-US" sz="2400" b="1" dirty="0">
                <a:latin typeface="宋体" pitchFamily="2" charset="-122"/>
              </a:rPr>
              <a:t>）</a:t>
            </a:r>
            <a:r>
              <a:rPr kumimoji="1" lang="en-US" altLang="zh-CN" sz="2400" b="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2</a:t>
            </a:r>
            <a:r>
              <a:rPr kumimoji="1" lang="en-US" altLang="zh-CN" sz="2400" b="1" i="1" dirty="0">
                <a:latin typeface="Courier New" pitchFamily="49" charset="0"/>
              </a:rPr>
              <a:t>’</a:t>
            </a:r>
            <a:r>
              <a:rPr kumimoji="1" lang="en-US" altLang="zh-CN" sz="2400" b="1" dirty="0">
                <a:latin typeface="Times New Roman" pitchFamily="18" charset="0"/>
              </a:rPr>
              <a:t>= 01100</a:t>
            </a:r>
            <a:r>
              <a:rPr kumimoji="1" lang="zh-CN" altLang="en-US" sz="2400" b="1" dirty="0">
                <a:latin typeface="宋体" pitchFamily="2" charset="-122"/>
              </a:rPr>
              <a:t>（</a:t>
            </a:r>
            <a:r>
              <a:rPr kumimoji="1" lang="en-US" altLang="zh-CN" sz="2400" b="1" dirty="0">
                <a:latin typeface="宋体" pitchFamily="2" charset="-122"/>
              </a:rPr>
              <a:t>12</a:t>
            </a:r>
            <a:r>
              <a:rPr kumimoji="1" lang="zh-CN" altLang="en-US" sz="2400" b="1" dirty="0">
                <a:latin typeface="宋体" pitchFamily="2" charset="-122"/>
              </a:rPr>
              <a:t>）</a:t>
            </a:r>
          </a:p>
          <a:p>
            <a:pPr eaLnBrk="1" hangingPunct="1">
              <a:lnSpc>
                <a:spcPct val="120000"/>
              </a:lnSpc>
              <a:spcBef>
                <a:spcPct val="20000"/>
              </a:spcBef>
            </a:pPr>
            <a:r>
              <a:rPr kumimoji="1" lang="zh-CN" altLang="en-US" sz="2400" b="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3</a:t>
            </a:r>
            <a:r>
              <a:rPr kumimoji="1" lang="en-US" altLang="zh-CN" sz="2400" b="1" i="1" dirty="0">
                <a:latin typeface="Courier New" pitchFamily="49" charset="0"/>
              </a:rPr>
              <a:t>’</a:t>
            </a:r>
            <a:r>
              <a:rPr kumimoji="1" lang="en-US" altLang="zh-CN" sz="2400" b="1" dirty="0">
                <a:latin typeface="Times New Roman" pitchFamily="18" charset="0"/>
              </a:rPr>
              <a:t>=11011</a:t>
            </a:r>
            <a:r>
              <a:rPr kumimoji="1" lang="zh-CN" altLang="en-US" sz="2400" b="1" dirty="0">
                <a:latin typeface="宋体" pitchFamily="2" charset="-122"/>
              </a:rPr>
              <a:t>（</a:t>
            </a:r>
            <a:r>
              <a:rPr kumimoji="1" lang="en-US" altLang="zh-CN" sz="2400" b="1" dirty="0">
                <a:latin typeface="Times New Roman" pitchFamily="18" charset="0"/>
              </a:rPr>
              <a:t>27</a:t>
            </a:r>
            <a:r>
              <a:rPr kumimoji="1" lang="zh-CN" altLang="en-US" sz="2400" b="1" dirty="0">
                <a:latin typeface="宋体" pitchFamily="2" charset="-122"/>
              </a:rPr>
              <a:t>）</a:t>
            </a:r>
            <a:r>
              <a:rPr kumimoji="1" lang="en-US" altLang="zh-CN" sz="2400" b="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4</a:t>
            </a:r>
            <a:r>
              <a:rPr kumimoji="1" lang="en-US" altLang="zh-CN" sz="2400" b="1" i="1" dirty="0">
                <a:latin typeface="Courier New" pitchFamily="49" charset="0"/>
              </a:rPr>
              <a:t>’</a:t>
            </a:r>
            <a:r>
              <a:rPr kumimoji="1" lang="en-US" altLang="zh-CN" sz="2400" b="1" dirty="0">
                <a:latin typeface="Times New Roman" pitchFamily="18" charset="0"/>
              </a:rPr>
              <a:t>= 10000</a:t>
            </a:r>
            <a:r>
              <a:rPr kumimoji="1" lang="zh-CN" altLang="en-US" sz="2400" b="1" dirty="0">
                <a:latin typeface="宋体" pitchFamily="2" charset="-122"/>
              </a:rPr>
              <a:t>（</a:t>
            </a:r>
            <a:r>
              <a:rPr kumimoji="1" lang="en-US" altLang="zh-CN" sz="2400" b="1" dirty="0">
                <a:latin typeface="Times New Roman" pitchFamily="18" charset="0"/>
              </a:rPr>
              <a:t>16</a:t>
            </a:r>
            <a:r>
              <a:rPr kumimoji="1" lang="zh-CN" altLang="en-US" sz="2400" b="1" dirty="0">
                <a:latin typeface="宋体" pitchFamily="2" charset="-122"/>
              </a:rPr>
              <a:t>）</a:t>
            </a:r>
            <a:r>
              <a:rPr kumimoji="1" lang="zh-CN" altLang="en-US" sz="2400" b="1" dirty="0">
                <a:latin typeface="Times New Roman" pitchFamily="18" charset="0"/>
              </a:rPr>
              <a:t> </a:t>
            </a:r>
          </a:p>
        </p:txBody>
      </p:sp>
      <p:sp>
        <p:nvSpPr>
          <p:cNvPr id="97284" name="Text Box 4"/>
          <p:cNvSpPr txBox="1">
            <a:spLocks noChangeArrowheads="1"/>
          </p:cNvSpPr>
          <p:nvPr/>
        </p:nvSpPr>
        <p:spPr bwMode="auto">
          <a:xfrm>
            <a:off x="1919288" y="3068639"/>
            <a:ext cx="7778750" cy="936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20000"/>
              </a:lnSpc>
              <a:spcBef>
                <a:spcPct val="20000"/>
              </a:spcBef>
            </a:pPr>
            <a:r>
              <a:rPr kumimoji="1" lang="zh-CN" altLang="en-US" sz="2400" b="1" dirty="0">
                <a:latin typeface="宋体" pitchFamily="2" charset="-122"/>
              </a:rPr>
              <a:t>     做交叉运算，让</a:t>
            </a:r>
            <a:r>
              <a:rPr kumimoji="1" lang="en-US" altLang="zh-CN" sz="2400" b="1" i="1" dirty="0">
                <a:latin typeface="Times New Roman" pitchFamily="18" charset="0"/>
              </a:rPr>
              <a:t>s</a:t>
            </a:r>
            <a:r>
              <a:rPr kumimoji="1" lang="en-US" altLang="zh-CN" sz="2400" b="1" baseline="-30000" dirty="0">
                <a:latin typeface="Times New Roman" pitchFamily="18" charset="0"/>
              </a:rPr>
              <a:t>1</a:t>
            </a:r>
            <a:r>
              <a:rPr kumimoji="1" lang="en-US" altLang="zh-CN" sz="2400" b="1" i="1" dirty="0">
                <a:latin typeface="Times New Roman" pitchFamily="18" charset="0"/>
              </a:rPr>
              <a:t>’</a:t>
            </a:r>
            <a:r>
              <a:rPr kumimoji="1" lang="zh-CN" altLang="en-US" sz="2400" b="1" dirty="0">
                <a:latin typeface="宋体" pitchFamily="2" charset="-122"/>
              </a:rPr>
              <a:t>与</a:t>
            </a:r>
            <a:r>
              <a:rPr kumimoji="1" lang="en-US" altLang="zh-CN" sz="2400" b="1" i="1" dirty="0">
                <a:latin typeface="Times New Roman" pitchFamily="18" charset="0"/>
              </a:rPr>
              <a:t>s</a:t>
            </a:r>
            <a:r>
              <a:rPr kumimoji="1" lang="en-US" altLang="zh-CN" sz="2400" b="1" baseline="-30000" dirty="0">
                <a:latin typeface="Times New Roman" pitchFamily="18" charset="0"/>
              </a:rPr>
              <a:t>2</a:t>
            </a:r>
            <a:r>
              <a:rPr kumimoji="1" lang="en-US" altLang="zh-CN" sz="2400" b="1" i="1" dirty="0">
                <a:latin typeface="Times New Roman" pitchFamily="18" charset="0"/>
              </a:rPr>
              <a:t>’</a:t>
            </a:r>
            <a:r>
              <a:rPr kumimoji="1" lang="zh-CN" altLang="en-US" sz="2400" b="1" dirty="0">
                <a:latin typeface="宋体" pitchFamily="2" charset="-122"/>
              </a:rPr>
              <a:t>，</a:t>
            </a:r>
            <a:r>
              <a:rPr kumimoji="1" lang="en-US" altLang="zh-CN" sz="2400" b="1" i="1" dirty="0">
                <a:latin typeface="Times New Roman" pitchFamily="18" charset="0"/>
              </a:rPr>
              <a:t>s</a:t>
            </a:r>
            <a:r>
              <a:rPr kumimoji="1" lang="en-US" altLang="zh-CN" sz="2400" b="1" baseline="-30000" dirty="0">
                <a:latin typeface="Times New Roman" pitchFamily="18" charset="0"/>
              </a:rPr>
              <a:t>3</a:t>
            </a:r>
            <a:r>
              <a:rPr kumimoji="1" lang="en-US" altLang="zh-CN" sz="2400" b="1" i="1" dirty="0">
                <a:latin typeface="Times New Roman" pitchFamily="18" charset="0"/>
              </a:rPr>
              <a:t>’</a:t>
            </a:r>
            <a:r>
              <a:rPr kumimoji="1" lang="zh-CN" altLang="en-US" sz="2400" b="1" dirty="0">
                <a:latin typeface="宋体" pitchFamily="2" charset="-122"/>
              </a:rPr>
              <a:t>与</a:t>
            </a:r>
            <a:r>
              <a:rPr kumimoji="1" lang="en-US" altLang="zh-CN" sz="2400" b="1" i="1" dirty="0">
                <a:latin typeface="Times New Roman" pitchFamily="18" charset="0"/>
              </a:rPr>
              <a:t>s</a:t>
            </a:r>
            <a:r>
              <a:rPr kumimoji="1" lang="en-US" altLang="zh-CN" sz="2400" b="1" baseline="-30000" dirty="0">
                <a:latin typeface="Times New Roman" pitchFamily="18" charset="0"/>
              </a:rPr>
              <a:t>4</a:t>
            </a:r>
            <a:r>
              <a:rPr kumimoji="1" lang="en-US" altLang="zh-CN" sz="2400" b="1" i="1" dirty="0">
                <a:latin typeface="Times New Roman" pitchFamily="18" charset="0"/>
              </a:rPr>
              <a:t>’</a:t>
            </a:r>
            <a:r>
              <a:rPr kumimoji="1" lang="en-US" altLang="zh-CN" sz="2400" b="1" dirty="0">
                <a:latin typeface="Times New Roman" pitchFamily="18" charset="0"/>
              </a:rPr>
              <a:t> </a:t>
            </a:r>
            <a:r>
              <a:rPr kumimoji="1" lang="zh-CN" altLang="en-US" sz="2400" b="1" dirty="0">
                <a:latin typeface="宋体" pitchFamily="2" charset="-122"/>
              </a:rPr>
              <a:t>分别交换后三位基因，得</a:t>
            </a:r>
            <a:r>
              <a:rPr kumimoji="1" lang="zh-CN" altLang="en-US" sz="2400" b="1" dirty="0">
                <a:latin typeface="Times New Roman" pitchFamily="18" charset="0"/>
              </a:rPr>
              <a:t> </a:t>
            </a:r>
          </a:p>
        </p:txBody>
      </p:sp>
      <p:sp>
        <p:nvSpPr>
          <p:cNvPr id="97285" name="Text Box 5"/>
          <p:cNvSpPr txBox="1">
            <a:spLocks noChangeArrowheads="1"/>
          </p:cNvSpPr>
          <p:nvPr/>
        </p:nvSpPr>
        <p:spPr bwMode="auto">
          <a:xfrm>
            <a:off x="2782888" y="3500438"/>
            <a:ext cx="6553200" cy="10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20000"/>
              </a:lnSpc>
              <a:spcBef>
                <a:spcPct val="20000"/>
              </a:spcBef>
            </a:pPr>
            <a:r>
              <a:rPr kumimoji="1" lang="zh-CN" altLang="en-US" sz="2400" b="1" i="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1</a:t>
            </a:r>
            <a:r>
              <a:rPr kumimoji="1" lang="en-US" altLang="zh-CN" sz="2400" b="1" i="1" dirty="0">
                <a:latin typeface="Times New Roman" pitchFamily="18" charset="0"/>
              </a:rPr>
              <a:t>’’ </a:t>
            </a:r>
            <a:r>
              <a:rPr kumimoji="1" lang="en-US" altLang="zh-CN" sz="2400" b="1" dirty="0">
                <a:latin typeface="Times New Roman" pitchFamily="18" charset="0"/>
              </a:rPr>
              <a:t>=11</a:t>
            </a:r>
            <a:r>
              <a:rPr kumimoji="1" lang="en-US" altLang="zh-CN" sz="2400" b="1" dirty="0">
                <a:solidFill>
                  <a:srgbClr val="FF00FF"/>
                </a:solidFill>
                <a:latin typeface="Times New Roman" pitchFamily="18" charset="0"/>
              </a:rPr>
              <a:t>100</a:t>
            </a:r>
            <a:r>
              <a:rPr kumimoji="1" lang="zh-CN" altLang="en-US" sz="2400" b="1" dirty="0">
                <a:latin typeface="宋体" pitchFamily="2" charset="-122"/>
              </a:rPr>
              <a:t>（</a:t>
            </a:r>
            <a:r>
              <a:rPr kumimoji="1" lang="en-US" altLang="zh-CN" sz="2400" b="1" dirty="0">
                <a:latin typeface="Times New Roman" pitchFamily="18" charset="0"/>
              </a:rPr>
              <a:t>28</a:t>
            </a:r>
            <a:r>
              <a:rPr kumimoji="1" lang="zh-CN" altLang="en-US" sz="2400" b="1" dirty="0">
                <a:latin typeface="宋体" pitchFamily="2" charset="-122"/>
              </a:rPr>
              <a:t>）</a:t>
            </a:r>
            <a:r>
              <a:rPr kumimoji="1" lang="en-US" altLang="zh-CN" sz="2400" b="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2</a:t>
            </a:r>
            <a:r>
              <a:rPr kumimoji="1" lang="en-US" altLang="zh-CN" sz="2400" b="1" i="1" dirty="0">
                <a:latin typeface="Times New Roman" pitchFamily="18" charset="0"/>
              </a:rPr>
              <a:t>’’ </a:t>
            </a:r>
            <a:r>
              <a:rPr kumimoji="1" lang="en-US" altLang="zh-CN" sz="2400" b="1" dirty="0">
                <a:latin typeface="Times New Roman" pitchFamily="18" charset="0"/>
              </a:rPr>
              <a:t>= 01</a:t>
            </a:r>
            <a:r>
              <a:rPr kumimoji="1" lang="en-US" altLang="zh-CN" sz="2400" b="1" dirty="0">
                <a:solidFill>
                  <a:srgbClr val="FF00FF"/>
                </a:solidFill>
                <a:latin typeface="Times New Roman" pitchFamily="18" charset="0"/>
              </a:rPr>
              <a:t>001</a:t>
            </a:r>
            <a:r>
              <a:rPr kumimoji="1" lang="zh-CN" altLang="en-US" sz="2400" b="1" dirty="0">
                <a:latin typeface="宋体" pitchFamily="2" charset="-122"/>
              </a:rPr>
              <a:t>（</a:t>
            </a:r>
            <a:r>
              <a:rPr kumimoji="1" lang="en-US" altLang="zh-CN" sz="2400" b="1" dirty="0">
                <a:latin typeface="Times New Roman" pitchFamily="18" charset="0"/>
              </a:rPr>
              <a:t>9</a:t>
            </a:r>
            <a:r>
              <a:rPr kumimoji="1" lang="zh-CN" altLang="en-US" sz="2400" b="1" dirty="0">
                <a:latin typeface="宋体" pitchFamily="2" charset="-122"/>
              </a:rPr>
              <a:t>）</a:t>
            </a:r>
          </a:p>
          <a:p>
            <a:pPr eaLnBrk="1" hangingPunct="1">
              <a:lnSpc>
                <a:spcPct val="120000"/>
              </a:lnSpc>
              <a:spcBef>
                <a:spcPct val="20000"/>
              </a:spcBef>
            </a:pPr>
            <a:r>
              <a:rPr kumimoji="1" lang="zh-CN" altLang="en-US" sz="2400" b="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3</a:t>
            </a:r>
            <a:r>
              <a:rPr kumimoji="1" lang="en-US" altLang="zh-CN" sz="2400" b="1" i="1" dirty="0">
                <a:latin typeface="Times New Roman" pitchFamily="18" charset="0"/>
              </a:rPr>
              <a:t>’’ </a:t>
            </a:r>
            <a:r>
              <a:rPr kumimoji="1" lang="en-US" altLang="zh-CN" sz="2400" b="1" dirty="0">
                <a:latin typeface="Times New Roman" pitchFamily="18" charset="0"/>
              </a:rPr>
              <a:t>=11</a:t>
            </a:r>
            <a:r>
              <a:rPr kumimoji="1" lang="en-US" altLang="zh-CN" sz="2400" b="1" dirty="0">
                <a:solidFill>
                  <a:srgbClr val="0066FF"/>
                </a:solidFill>
                <a:latin typeface="Times New Roman" pitchFamily="18" charset="0"/>
              </a:rPr>
              <a:t>000</a:t>
            </a:r>
            <a:r>
              <a:rPr kumimoji="1" lang="zh-CN" altLang="en-US" sz="2400" b="1" dirty="0">
                <a:latin typeface="宋体" pitchFamily="2" charset="-122"/>
              </a:rPr>
              <a:t>（</a:t>
            </a:r>
            <a:r>
              <a:rPr kumimoji="1" lang="en-US" altLang="zh-CN" sz="2400" b="1" dirty="0">
                <a:latin typeface="Times New Roman" pitchFamily="18" charset="0"/>
              </a:rPr>
              <a:t>24</a:t>
            </a:r>
            <a:r>
              <a:rPr kumimoji="1" lang="zh-CN" altLang="en-US" sz="2400" b="1" dirty="0">
                <a:latin typeface="宋体" pitchFamily="2" charset="-122"/>
              </a:rPr>
              <a:t>）</a:t>
            </a:r>
            <a:r>
              <a:rPr kumimoji="1" lang="en-US" altLang="zh-CN" sz="2400" b="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4</a:t>
            </a:r>
            <a:r>
              <a:rPr kumimoji="1" lang="en-US" altLang="zh-CN" sz="2400" b="1" i="1" dirty="0">
                <a:latin typeface="Times New Roman" pitchFamily="18" charset="0"/>
              </a:rPr>
              <a:t>’’ </a:t>
            </a:r>
            <a:r>
              <a:rPr kumimoji="1" lang="en-US" altLang="zh-CN" sz="2400" b="1" dirty="0">
                <a:latin typeface="Times New Roman" pitchFamily="18" charset="0"/>
              </a:rPr>
              <a:t>= 10</a:t>
            </a:r>
            <a:r>
              <a:rPr kumimoji="1" lang="en-US" altLang="zh-CN" sz="2400" b="1" dirty="0">
                <a:solidFill>
                  <a:srgbClr val="0066FF"/>
                </a:solidFill>
                <a:latin typeface="Times New Roman" pitchFamily="18" charset="0"/>
              </a:rPr>
              <a:t>011</a:t>
            </a:r>
            <a:r>
              <a:rPr kumimoji="1" lang="zh-CN" altLang="en-US" sz="2400" b="1" dirty="0">
                <a:latin typeface="宋体" pitchFamily="2" charset="-122"/>
              </a:rPr>
              <a:t>（</a:t>
            </a:r>
            <a:r>
              <a:rPr kumimoji="1" lang="en-US" altLang="zh-CN" sz="2400" b="1" dirty="0">
                <a:latin typeface="Times New Roman" pitchFamily="18" charset="0"/>
              </a:rPr>
              <a:t>19</a:t>
            </a:r>
            <a:r>
              <a:rPr kumimoji="1" lang="zh-CN" altLang="en-US" sz="2400" b="1" dirty="0">
                <a:latin typeface="宋体" pitchFamily="2" charset="-122"/>
              </a:rPr>
              <a:t>）</a:t>
            </a:r>
            <a:r>
              <a:rPr kumimoji="1" lang="zh-CN" altLang="en-US" sz="2400" b="1" dirty="0">
                <a:latin typeface="Times New Roman" pitchFamily="18" charset="0"/>
              </a:rPr>
              <a:t> </a:t>
            </a:r>
          </a:p>
        </p:txBody>
      </p:sp>
      <p:sp>
        <p:nvSpPr>
          <p:cNvPr id="97286" name="Text Box 6"/>
          <p:cNvSpPr txBox="1">
            <a:spLocks noChangeArrowheads="1"/>
          </p:cNvSpPr>
          <p:nvPr/>
        </p:nvSpPr>
        <p:spPr bwMode="auto">
          <a:xfrm>
            <a:off x="2566988" y="4508500"/>
            <a:ext cx="39741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kumimoji="1" lang="zh-CN" altLang="en-US" sz="2400" b="1">
                <a:latin typeface="宋体" pitchFamily="2" charset="-122"/>
              </a:rPr>
              <a:t>这一轮仍然不会发生变异。</a:t>
            </a:r>
            <a:r>
              <a:rPr kumimoji="1" lang="zh-CN" altLang="en-US" sz="2400" b="1">
                <a:latin typeface="Times New Roman" pitchFamily="18" charset="0"/>
              </a:rPr>
              <a:t> </a:t>
            </a:r>
          </a:p>
        </p:txBody>
      </p:sp>
      <p:sp>
        <p:nvSpPr>
          <p:cNvPr id="51207" name="Text Box 7"/>
          <p:cNvSpPr txBox="1">
            <a:spLocks noChangeArrowheads="1"/>
          </p:cNvSpPr>
          <p:nvPr/>
        </p:nvSpPr>
        <p:spPr bwMode="auto">
          <a:xfrm>
            <a:off x="3000375" y="4941889"/>
            <a:ext cx="5761038" cy="1638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20000"/>
              </a:lnSpc>
              <a:spcBef>
                <a:spcPct val="20000"/>
              </a:spcBef>
            </a:pPr>
            <a:r>
              <a:rPr kumimoji="1" lang="zh-CN" altLang="en-US" sz="2400" b="1" dirty="0"/>
              <a:t>于是，得第三代种群</a:t>
            </a:r>
            <a:r>
              <a:rPr kumimoji="1" lang="en-US" altLang="zh-CN" sz="2400" b="1" i="1" dirty="0"/>
              <a:t>S</a:t>
            </a:r>
            <a:r>
              <a:rPr kumimoji="1" lang="en-US" altLang="zh-CN" sz="1600" b="1" dirty="0"/>
              <a:t>3</a:t>
            </a:r>
            <a:r>
              <a:rPr kumimoji="1" lang="zh-CN" altLang="en-US" sz="2400" b="1" dirty="0"/>
              <a:t>：</a:t>
            </a:r>
            <a:endParaRPr kumimoji="1" lang="zh-CN" altLang="en-US" sz="2400" b="1" i="1" dirty="0">
              <a:latin typeface="Times New Roman" pitchFamily="18" charset="0"/>
            </a:endParaRPr>
          </a:p>
          <a:p>
            <a:pPr eaLnBrk="1" hangingPunct="1">
              <a:lnSpc>
                <a:spcPct val="120000"/>
              </a:lnSpc>
              <a:spcBef>
                <a:spcPct val="50000"/>
              </a:spcBef>
            </a:pPr>
            <a:r>
              <a:rPr kumimoji="1" lang="zh-CN" altLang="en-US" sz="2400" b="1" i="1" dirty="0"/>
              <a:t> </a:t>
            </a:r>
            <a:r>
              <a:rPr kumimoji="1" lang="en-US" altLang="zh-CN" sz="2400" b="1" i="1" dirty="0"/>
              <a:t>s</a:t>
            </a:r>
            <a:r>
              <a:rPr kumimoji="1" lang="en-US" altLang="zh-CN" sz="2400" b="1" baseline="-30000" dirty="0"/>
              <a:t>1</a:t>
            </a:r>
            <a:r>
              <a:rPr kumimoji="1" lang="en-US" altLang="zh-CN" sz="2400" b="1" dirty="0"/>
              <a:t>=11100</a:t>
            </a:r>
            <a:r>
              <a:rPr kumimoji="1" lang="zh-CN" altLang="en-US" sz="2400" b="1" dirty="0"/>
              <a:t>（</a:t>
            </a:r>
            <a:r>
              <a:rPr kumimoji="1" lang="en-US" altLang="zh-CN" sz="2400" b="1" dirty="0"/>
              <a:t>28</a:t>
            </a:r>
            <a:r>
              <a:rPr kumimoji="1" lang="zh-CN" altLang="en-US" sz="2400" b="1" dirty="0"/>
              <a:t>）</a:t>
            </a:r>
            <a:r>
              <a:rPr kumimoji="1" lang="en-US" altLang="zh-CN" sz="2400" b="1" dirty="0"/>
              <a:t>, </a:t>
            </a:r>
            <a:r>
              <a:rPr kumimoji="1" lang="en-US" altLang="zh-CN" sz="2400" b="1" i="1" dirty="0"/>
              <a:t>s</a:t>
            </a:r>
            <a:r>
              <a:rPr kumimoji="1" lang="en-US" altLang="zh-CN" sz="2400" b="1" baseline="-30000" dirty="0"/>
              <a:t>2</a:t>
            </a:r>
            <a:r>
              <a:rPr kumimoji="1" lang="en-US" altLang="zh-CN" sz="2400" b="1" dirty="0"/>
              <a:t>=01001</a:t>
            </a:r>
            <a:r>
              <a:rPr kumimoji="1" lang="zh-CN" altLang="en-US" sz="2400" b="1" dirty="0"/>
              <a:t>（</a:t>
            </a:r>
            <a:r>
              <a:rPr kumimoji="1" lang="en-US" altLang="zh-CN" sz="2400" b="1" dirty="0"/>
              <a:t>9</a:t>
            </a:r>
            <a:r>
              <a:rPr kumimoji="1" lang="zh-CN" altLang="en-US" sz="2400" b="1" dirty="0"/>
              <a:t>）</a:t>
            </a:r>
          </a:p>
          <a:p>
            <a:pPr eaLnBrk="1" hangingPunct="1">
              <a:lnSpc>
                <a:spcPct val="120000"/>
              </a:lnSpc>
              <a:spcBef>
                <a:spcPct val="20000"/>
              </a:spcBef>
            </a:pPr>
            <a:r>
              <a:rPr kumimoji="1" lang="zh-CN" altLang="en-US" sz="2400" b="1" dirty="0"/>
              <a:t> </a:t>
            </a:r>
            <a:r>
              <a:rPr kumimoji="1" lang="en-US" altLang="zh-CN" sz="2400" b="1" i="1" dirty="0"/>
              <a:t>s</a:t>
            </a:r>
            <a:r>
              <a:rPr kumimoji="1" lang="en-US" altLang="zh-CN" sz="2400" b="1" baseline="-30000" dirty="0"/>
              <a:t>3</a:t>
            </a:r>
            <a:r>
              <a:rPr kumimoji="1" lang="en-US" altLang="zh-CN" sz="2400" b="1" dirty="0"/>
              <a:t>=11000</a:t>
            </a:r>
            <a:r>
              <a:rPr kumimoji="1" lang="zh-CN" altLang="en-US" sz="2400" b="1" dirty="0"/>
              <a:t>（</a:t>
            </a:r>
            <a:r>
              <a:rPr kumimoji="1" lang="en-US" altLang="zh-CN" sz="2400" b="1" dirty="0"/>
              <a:t>24</a:t>
            </a:r>
            <a:r>
              <a:rPr kumimoji="1" lang="zh-CN" altLang="en-US" sz="2400" b="1" dirty="0"/>
              <a:t>）</a:t>
            </a:r>
            <a:r>
              <a:rPr kumimoji="1" lang="en-US" altLang="zh-CN" sz="2400" b="1" dirty="0"/>
              <a:t>, </a:t>
            </a:r>
            <a:r>
              <a:rPr kumimoji="1" lang="en-US" altLang="zh-CN" sz="2400" b="1" i="1" dirty="0"/>
              <a:t>s</a:t>
            </a:r>
            <a:r>
              <a:rPr kumimoji="1" lang="en-US" altLang="zh-CN" sz="2400" b="1" baseline="-30000" dirty="0"/>
              <a:t>4</a:t>
            </a:r>
            <a:r>
              <a:rPr kumimoji="1" lang="en-US" altLang="zh-CN" sz="2400" b="1" dirty="0"/>
              <a:t>=10011</a:t>
            </a:r>
            <a:r>
              <a:rPr kumimoji="1" lang="zh-CN" altLang="en-US" sz="2400" b="1" dirty="0"/>
              <a:t>（</a:t>
            </a:r>
            <a:r>
              <a:rPr kumimoji="1" lang="en-US" altLang="zh-CN" sz="2400" b="1" dirty="0"/>
              <a:t>19</a:t>
            </a:r>
            <a:r>
              <a:rPr kumimoji="1" lang="zh-CN" altLang="en-US" sz="2400" b="1" dirty="0"/>
              <a:t>）</a:t>
            </a:r>
            <a:r>
              <a:rPr kumimoji="1" lang="zh-CN" altLang="en-US" sz="2400" b="1" dirty="0">
                <a:latin typeface="Times New Roman" pitchFamily="18" charset="0"/>
              </a:rPr>
              <a:t> </a:t>
            </a:r>
          </a:p>
        </p:txBody>
      </p:sp>
      <p:sp>
        <p:nvSpPr>
          <p:cNvPr id="51208" name="Rectangle 9"/>
          <p:cNvSpPr>
            <a:spLocks noChangeArrowheads="1"/>
          </p:cNvSpPr>
          <p:nvPr/>
        </p:nvSpPr>
        <p:spPr bwMode="auto">
          <a:xfrm>
            <a:off x="2286000" y="501651"/>
            <a:ext cx="74358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36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3600" dirty="0">
              <a:solidFill>
                <a:srgbClr val="008000"/>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A9D056A1-8532-86DC-69DF-7028C979914E}"/>
              </a:ext>
            </a:extLst>
          </p:cNvPr>
          <p:cNvSpPr>
            <a:spLocks noGrp="1"/>
          </p:cNvSpPr>
          <p:nvPr>
            <p:ph type="sldNum" sz="quarter" idx="11"/>
          </p:nvPr>
        </p:nvSpPr>
        <p:spPr/>
        <p:txBody>
          <a:bodyPr/>
          <a:lstStyle/>
          <a:p>
            <a:pPr>
              <a:defRPr/>
            </a:pPr>
            <a:fld id="{1240398B-3681-435F-A1B8-D490B121ECC3}" type="slidenum">
              <a:rPr lang="en-US" altLang="zh-CN" smtClean="0"/>
              <a:pPr>
                <a:defRPr/>
              </a:pPr>
              <a:t>26</a:t>
            </a:fld>
            <a:endParaRPr lang="en-US" altLang="zh-CN"/>
          </a:p>
        </p:txBody>
      </p:sp>
    </p:spTree>
    <p:extLst>
      <p:ext uri="{BB962C8B-B14F-4D97-AF65-F5344CB8AC3E}">
        <p14:creationId xmlns:p14="http://schemas.microsoft.com/office/powerpoint/2010/main" val="8098025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7282"/>
                                        </p:tgtEl>
                                        <p:attrNameLst>
                                          <p:attrName>style.visibility</p:attrName>
                                        </p:attrNameLst>
                                      </p:cBhvr>
                                      <p:to>
                                        <p:strVal val="visible"/>
                                      </p:to>
                                    </p:set>
                                    <p:animEffect transition="in" filter="blinds(horizontal)">
                                      <p:cBhvr>
                                        <p:cTn id="7" dur="500"/>
                                        <p:tgtEl>
                                          <p:spTgt spid="972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7283"/>
                                        </p:tgtEl>
                                        <p:attrNameLst>
                                          <p:attrName>style.visibility</p:attrName>
                                        </p:attrNameLst>
                                      </p:cBhvr>
                                      <p:to>
                                        <p:strVal val="visible"/>
                                      </p:to>
                                    </p:set>
                                    <p:animEffect transition="in" filter="blinds(horizontal)">
                                      <p:cBhvr>
                                        <p:cTn id="12" dur="500"/>
                                        <p:tgtEl>
                                          <p:spTgt spid="972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7284"/>
                                        </p:tgtEl>
                                        <p:attrNameLst>
                                          <p:attrName>style.visibility</p:attrName>
                                        </p:attrNameLst>
                                      </p:cBhvr>
                                      <p:to>
                                        <p:strVal val="visible"/>
                                      </p:to>
                                    </p:set>
                                    <p:animEffect transition="in" filter="blinds(horizontal)">
                                      <p:cBhvr>
                                        <p:cTn id="17" dur="500"/>
                                        <p:tgtEl>
                                          <p:spTgt spid="972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7285"/>
                                        </p:tgtEl>
                                        <p:attrNameLst>
                                          <p:attrName>style.visibility</p:attrName>
                                        </p:attrNameLst>
                                      </p:cBhvr>
                                      <p:to>
                                        <p:strVal val="visible"/>
                                      </p:to>
                                    </p:set>
                                    <p:animEffect transition="in" filter="blinds(horizontal)">
                                      <p:cBhvr>
                                        <p:cTn id="22" dur="500"/>
                                        <p:tgtEl>
                                          <p:spTgt spid="972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7286"/>
                                        </p:tgtEl>
                                        <p:attrNameLst>
                                          <p:attrName>style.visibility</p:attrName>
                                        </p:attrNameLst>
                                      </p:cBhvr>
                                      <p:to>
                                        <p:strVal val="visible"/>
                                      </p:to>
                                    </p:set>
                                    <p:animEffect transition="in" filter="blinds(horizontal)">
                                      <p:cBhvr>
                                        <p:cTn id="27" dur="500"/>
                                        <p:tgtEl>
                                          <p:spTgt spid="97286"/>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51207"/>
                                        </p:tgtEl>
                                        <p:attrNameLst>
                                          <p:attrName>style.visibility</p:attrName>
                                        </p:attrNameLst>
                                      </p:cBhvr>
                                      <p:to>
                                        <p:strVal val="visible"/>
                                      </p:to>
                                    </p:set>
                                    <p:animEffect transition="in" filter="fade">
                                      <p:cBhvr>
                                        <p:cTn id="32" dur="1000"/>
                                        <p:tgtEl>
                                          <p:spTgt spid="51207"/>
                                        </p:tgtEl>
                                      </p:cBhvr>
                                    </p:animEffect>
                                    <p:anim calcmode="lin" valueType="num">
                                      <p:cBhvr>
                                        <p:cTn id="33" dur="1000" fill="hold"/>
                                        <p:tgtEl>
                                          <p:spTgt spid="51207"/>
                                        </p:tgtEl>
                                        <p:attrNameLst>
                                          <p:attrName>ppt_x</p:attrName>
                                        </p:attrNameLst>
                                      </p:cBhvr>
                                      <p:tavLst>
                                        <p:tav tm="0">
                                          <p:val>
                                            <p:strVal val="#ppt_x"/>
                                          </p:val>
                                        </p:tav>
                                        <p:tav tm="100000">
                                          <p:val>
                                            <p:strVal val="#ppt_x"/>
                                          </p:val>
                                        </p:tav>
                                      </p:tavLst>
                                    </p:anim>
                                    <p:anim calcmode="lin" valueType="num">
                                      <p:cBhvr>
                                        <p:cTn id="34" dur="1000" fill="hold"/>
                                        <p:tgtEl>
                                          <p:spTgt spid="512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p:bldP spid="97283" grpId="0"/>
      <p:bldP spid="97284" grpId="0"/>
      <p:bldP spid="97285" grpId="0"/>
      <p:bldP spid="97286" grpId="0"/>
      <p:bldP spid="5120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2222384" y="1406525"/>
            <a:ext cx="58272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kumimoji="1" lang="zh-CN" altLang="en-US" sz="2800" b="1">
                <a:latin typeface="宋体" pitchFamily="2" charset="-122"/>
              </a:rPr>
              <a:t>   第三代种群</a:t>
            </a:r>
            <a:r>
              <a:rPr kumimoji="1" lang="en-US" altLang="zh-CN" sz="2800" b="1" i="1">
                <a:latin typeface="Times New Roman" pitchFamily="18" charset="0"/>
              </a:rPr>
              <a:t>S</a:t>
            </a:r>
            <a:r>
              <a:rPr kumimoji="1" lang="en-US" altLang="zh-CN" sz="2800" b="1" baseline="-30000">
                <a:latin typeface="Times New Roman" pitchFamily="18" charset="0"/>
              </a:rPr>
              <a:t>3</a:t>
            </a:r>
            <a:r>
              <a:rPr kumimoji="1" lang="zh-CN" altLang="en-US" sz="2800" b="1">
                <a:latin typeface="宋体" pitchFamily="2" charset="-122"/>
              </a:rPr>
              <a:t>中各染色体的情况</a:t>
            </a:r>
            <a:r>
              <a:rPr kumimoji="1" lang="zh-CN" altLang="en-US" sz="2800" b="1">
                <a:latin typeface="Times New Roman" pitchFamily="18" charset="0"/>
              </a:rPr>
              <a:t> </a:t>
            </a:r>
          </a:p>
        </p:txBody>
      </p:sp>
      <p:graphicFrame>
        <p:nvGraphicFramePr>
          <p:cNvPr id="98341" name="Group 37"/>
          <p:cNvGraphicFramePr>
            <a:graphicFrameLocks noGrp="1"/>
          </p:cNvGraphicFramePr>
          <p:nvPr>
            <p:extLst>
              <p:ext uri="{D42A27DB-BD31-4B8C-83A1-F6EECF244321}">
                <p14:modId xmlns:p14="http://schemas.microsoft.com/office/powerpoint/2010/main" val="4078283272"/>
              </p:ext>
            </p:extLst>
          </p:nvPr>
        </p:nvGraphicFramePr>
        <p:xfrm>
          <a:off x="2207569" y="2187575"/>
          <a:ext cx="8079433" cy="3263900"/>
        </p:xfrm>
        <a:graphic>
          <a:graphicData uri="http://schemas.openxmlformats.org/drawingml/2006/table">
            <a:tbl>
              <a:tblPr/>
              <a:tblGrid>
                <a:gridCol w="2016224">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541415">
                  <a:extLst>
                    <a:ext uri="{9D8B030D-6E8A-4147-A177-3AD203B41FA5}">
                      <a16:colId xmlns:a16="http://schemas.microsoft.com/office/drawing/2014/main" val="20003"/>
                    </a:ext>
                  </a:extLst>
                </a:gridCol>
                <a:gridCol w="1569466">
                  <a:extLst>
                    <a:ext uri="{9D8B030D-6E8A-4147-A177-3AD203B41FA5}">
                      <a16:colId xmlns:a16="http://schemas.microsoft.com/office/drawing/2014/main" val="20004"/>
                    </a:ext>
                  </a:extLst>
                </a:gridCol>
              </a:tblGrid>
              <a:tr h="969471">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  染色体</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适应度</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选择概率</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积累概率</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估计的</a:t>
                      </a:r>
                    </a:p>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选中次数</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479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1</a:t>
                      </a:r>
                      <a:r>
                        <a:rPr kumimoji="0" lang="en-US" altLang="zh-CN" sz="2400" b="1" i="0" u="none" strike="noStrike" cap="none" normalizeH="0" baseline="0">
                          <a:ln>
                            <a:noFill/>
                          </a:ln>
                          <a:solidFill>
                            <a:schemeClr val="tx1"/>
                          </a:solidFill>
                          <a:effectLst/>
                          <a:latin typeface="Verdana" pitchFamily="34" charset="0"/>
                          <a:ea typeface="宋体" charset="-122"/>
                        </a:rPr>
                        <a:t>=11100</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784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0.44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0.44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2</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1622">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2</a:t>
                      </a:r>
                      <a:r>
                        <a:rPr kumimoji="0" lang="en-US" altLang="zh-CN" sz="2400" b="1" i="0" u="none" strike="noStrike" cap="none" normalizeH="0" baseline="0">
                          <a:ln>
                            <a:noFill/>
                          </a:ln>
                          <a:solidFill>
                            <a:schemeClr val="tx1"/>
                          </a:solidFill>
                          <a:effectLst/>
                          <a:latin typeface="Verdana" pitchFamily="34" charset="0"/>
                          <a:ea typeface="宋体" charset="-122"/>
                        </a:rPr>
                        <a:t>=01001</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81</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0.04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0.48</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479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3</a:t>
                      </a:r>
                      <a:r>
                        <a:rPr kumimoji="0" lang="en-US" altLang="zh-CN" sz="2400" b="1" i="0" u="none" strike="noStrike" cap="none" normalizeH="0" baseline="0">
                          <a:ln>
                            <a:noFill/>
                          </a:ln>
                          <a:solidFill>
                            <a:schemeClr val="tx1"/>
                          </a:solidFill>
                          <a:effectLst/>
                          <a:latin typeface="Verdana" pitchFamily="34" charset="0"/>
                          <a:ea typeface="宋体" charset="-122"/>
                        </a:rPr>
                        <a:t>=11000</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576</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0.32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0.80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1</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3211">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a:ln>
                            <a:noFill/>
                          </a:ln>
                          <a:solidFill>
                            <a:schemeClr val="tx1"/>
                          </a:solidFill>
                          <a:effectLst/>
                          <a:latin typeface="Verdana" pitchFamily="34" charset="0"/>
                          <a:ea typeface="宋体" charset="-122"/>
                        </a:rPr>
                        <a:t>s</a:t>
                      </a:r>
                      <a:r>
                        <a:rPr kumimoji="0" lang="en-US" altLang="zh-CN" sz="2400" b="1" i="0" u="none" strike="noStrike" cap="none" normalizeH="0" baseline="-25000">
                          <a:ln>
                            <a:noFill/>
                          </a:ln>
                          <a:solidFill>
                            <a:schemeClr val="tx1"/>
                          </a:solidFill>
                          <a:effectLst/>
                          <a:latin typeface="Verdana" pitchFamily="34" charset="0"/>
                          <a:ea typeface="宋体" charset="-122"/>
                        </a:rPr>
                        <a:t>4</a:t>
                      </a:r>
                      <a:r>
                        <a:rPr kumimoji="0" lang="en-US" altLang="zh-CN" sz="2400" b="1" i="0" u="none" strike="noStrike" cap="none" normalizeH="0" baseline="0">
                          <a:ln>
                            <a:noFill/>
                          </a:ln>
                          <a:solidFill>
                            <a:schemeClr val="tx1"/>
                          </a:solidFill>
                          <a:effectLst/>
                          <a:latin typeface="Verdana" pitchFamily="34" charset="0"/>
                          <a:ea typeface="宋体" charset="-122"/>
                        </a:rPr>
                        <a:t>=10011</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361</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chemeClr val="tx1"/>
                          </a:solidFill>
                          <a:effectLst/>
                          <a:latin typeface="Verdana" pitchFamily="34" charset="0"/>
                          <a:ea typeface="宋体" charset="-122"/>
                        </a:rPr>
                        <a:t>    </a:t>
                      </a:r>
                      <a:r>
                        <a:rPr kumimoji="0" lang="en-US" altLang="zh-CN" sz="2400" b="1" i="0" u="none" strike="noStrike" cap="none" normalizeH="0" baseline="0">
                          <a:ln>
                            <a:noFill/>
                          </a:ln>
                          <a:solidFill>
                            <a:schemeClr val="tx1"/>
                          </a:solidFill>
                          <a:effectLst/>
                          <a:latin typeface="Verdana" pitchFamily="34" charset="0"/>
                          <a:ea typeface="宋体" charset="-122"/>
                        </a:rPr>
                        <a:t>0.20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Verdana" pitchFamily="34" charset="0"/>
                          <a:ea typeface="宋体" charset="-122"/>
                        </a:rPr>
                        <a:t>  1.00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Verdana" pitchFamily="34" charset="0"/>
                          <a:ea typeface="宋体" charset="-122"/>
                        </a:rPr>
                        <a:t>      </a:t>
                      </a:r>
                      <a:r>
                        <a:rPr kumimoji="0" lang="en-US" altLang="zh-CN" sz="2400" b="1" i="0" u="none" strike="noStrike" cap="none" normalizeH="0" baseline="0" dirty="0">
                          <a:ln>
                            <a:noFill/>
                          </a:ln>
                          <a:solidFill>
                            <a:schemeClr val="tx1"/>
                          </a:solidFill>
                          <a:effectLst/>
                          <a:latin typeface="Verdana" pitchFamily="34" charset="0"/>
                          <a:ea typeface="宋体" charset="-122"/>
                        </a:rPr>
                        <a:t>1</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2259" name="Rectangle 38"/>
          <p:cNvSpPr>
            <a:spLocks noChangeArrowheads="1"/>
          </p:cNvSpPr>
          <p:nvPr/>
        </p:nvSpPr>
        <p:spPr bwMode="auto">
          <a:xfrm>
            <a:off x="2207569" y="501651"/>
            <a:ext cx="751428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A8B6F431-ECC8-82C2-74CA-F8515CBE1348}"/>
              </a:ext>
            </a:extLst>
          </p:cNvPr>
          <p:cNvSpPr>
            <a:spLocks noGrp="1"/>
          </p:cNvSpPr>
          <p:nvPr>
            <p:ph type="sldNum" sz="quarter" idx="11"/>
          </p:nvPr>
        </p:nvSpPr>
        <p:spPr/>
        <p:txBody>
          <a:bodyPr/>
          <a:lstStyle/>
          <a:p>
            <a:pPr>
              <a:defRPr/>
            </a:pPr>
            <a:fld id="{1240398B-3681-435F-A1B8-D490B121ECC3}" type="slidenum">
              <a:rPr lang="en-US" altLang="zh-CN" smtClean="0"/>
              <a:pPr>
                <a:defRPr/>
              </a:pPr>
              <a:t>27</a:t>
            </a:fld>
            <a:endParaRPr lang="en-US" altLang="zh-CN"/>
          </a:p>
        </p:txBody>
      </p:sp>
    </p:spTree>
    <p:extLst>
      <p:ext uri="{BB962C8B-B14F-4D97-AF65-F5344CB8AC3E}">
        <p14:creationId xmlns:p14="http://schemas.microsoft.com/office/powerpoint/2010/main" val="375007143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1199456" y="1271092"/>
            <a:ext cx="6985000" cy="154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20000"/>
              </a:lnSpc>
              <a:spcBef>
                <a:spcPct val="20000"/>
              </a:spcBef>
            </a:pPr>
            <a:r>
              <a:rPr kumimoji="1" lang="zh-CN" altLang="en-US" sz="2400" b="1" dirty="0"/>
              <a:t>      设这一轮的选择</a:t>
            </a:r>
            <a:r>
              <a:rPr kumimoji="1" lang="en-US" altLang="zh-CN" sz="2400" b="1" dirty="0"/>
              <a:t>-</a:t>
            </a:r>
            <a:r>
              <a:rPr kumimoji="1" lang="zh-CN" altLang="en-US" sz="2400" b="1" dirty="0"/>
              <a:t>复制结果为：</a:t>
            </a:r>
            <a:endParaRPr kumimoji="1" lang="zh-CN" altLang="en-US" sz="2400" b="1" i="1" dirty="0">
              <a:latin typeface="Times New Roman" pitchFamily="18" charset="0"/>
            </a:endParaRPr>
          </a:p>
          <a:p>
            <a:pPr eaLnBrk="1" hangingPunct="1">
              <a:lnSpc>
                <a:spcPct val="120000"/>
              </a:lnSpc>
              <a:spcBef>
                <a:spcPct val="20000"/>
              </a:spcBef>
            </a:pPr>
            <a:r>
              <a:rPr kumimoji="1" lang="zh-CN" altLang="en-US" sz="2400" b="1" i="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1</a:t>
            </a:r>
            <a:r>
              <a:rPr kumimoji="1" lang="en-US" altLang="zh-CN" sz="2400" b="1" i="1" dirty="0">
                <a:latin typeface="Courier New" pitchFamily="49" charset="0"/>
              </a:rPr>
              <a:t>’</a:t>
            </a:r>
            <a:r>
              <a:rPr kumimoji="1" lang="en-US" altLang="zh-CN" sz="2400" b="1" dirty="0">
                <a:latin typeface="Times New Roman" pitchFamily="18" charset="0"/>
              </a:rPr>
              <a:t>=111</a:t>
            </a:r>
            <a:r>
              <a:rPr kumimoji="1" lang="en-US" altLang="zh-CN" sz="2400" b="1" dirty="0">
                <a:solidFill>
                  <a:srgbClr val="0033CC"/>
                </a:solidFill>
                <a:latin typeface="Times New Roman" pitchFamily="18" charset="0"/>
              </a:rPr>
              <a:t>00</a:t>
            </a:r>
            <a:r>
              <a:rPr kumimoji="1" lang="zh-CN" altLang="en-US" sz="2400" b="1" dirty="0">
                <a:latin typeface="Times New Roman" pitchFamily="18" charset="0"/>
              </a:rPr>
              <a:t>（</a:t>
            </a:r>
            <a:r>
              <a:rPr kumimoji="1" lang="en-US" altLang="zh-CN" sz="2400" b="1" dirty="0">
                <a:latin typeface="Times New Roman" pitchFamily="18" charset="0"/>
              </a:rPr>
              <a:t>28</a:t>
            </a:r>
            <a:r>
              <a:rPr kumimoji="1" lang="zh-CN" altLang="en-US" sz="2400" b="1" dirty="0">
                <a:latin typeface="Times New Roman" pitchFamily="18" charset="0"/>
              </a:rPr>
              <a:t>）</a:t>
            </a:r>
            <a:r>
              <a:rPr kumimoji="1" lang="en-US" altLang="zh-CN" sz="2400" b="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2</a:t>
            </a:r>
            <a:r>
              <a:rPr kumimoji="1" lang="en-US" altLang="zh-CN" sz="2400" b="1" i="1" dirty="0">
                <a:latin typeface="Courier New" pitchFamily="49" charset="0"/>
              </a:rPr>
              <a:t>’</a:t>
            </a:r>
            <a:r>
              <a:rPr kumimoji="1" lang="en-US" altLang="zh-CN" sz="2400" b="1" dirty="0">
                <a:latin typeface="Times New Roman" pitchFamily="18" charset="0"/>
              </a:rPr>
              <a:t>=111</a:t>
            </a:r>
            <a:r>
              <a:rPr kumimoji="1" lang="en-US" altLang="zh-CN" sz="2400" b="1" dirty="0">
                <a:solidFill>
                  <a:srgbClr val="006600"/>
                </a:solidFill>
                <a:latin typeface="Times New Roman" pitchFamily="18" charset="0"/>
              </a:rPr>
              <a:t>00</a:t>
            </a:r>
            <a:r>
              <a:rPr kumimoji="1" lang="zh-CN" altLang="en-US" sz="2400" b="1" dirty="0">
                <a:latin typeface="Times New Roman" pitchFamily="18" charset="0"/>
              </a:rPr>
              <a:t>（</a:t>
            </a:r>
            <a:r>
              <a:rPr kumimoji="1" lang="en-US" altLang="zh-CN" sz="2400" b="1" dirty="0">
                <a:latin typeface="Times New Roman" pitchFamily="18" charset="0"/>
              </a:rPr>
              <a:t>28</a:t>
            </a:r>
            <a:r>
              <a:rPr kumimoji="1" lang="zh-CN" altLang="en-US" sz="2400" b="1" dirty="0">
                <a:latin typeface="Times New Roman" pitchFamily="18" charset="0"/>
              </a:rPr>
              <a:t>）</a:t>
            </a:r>
          </a:p>
          <a:p>
            <a:pPr eaLnBrk="1" hangingPunct="1">
              <a:lnSpc>
                <a:spcPct val="120000"/>
              </a:lnSpc>
              <a:spcBef>
                <a:spcPct val="20000"/>
              </a:spcBef>
            </a:pPr>
            <a:r>
              <a:rPr kumimoji="1" lang="zh-CN" altLang="en-US" sz="2400" b="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3</a:t>
            </a:r>
            <a:r>
              <a:rPr kumimoji="1" lang="en-US" altLang="zh-CN" sz="2400" b="1" i="1" dirty="0">
                <a:latin typeface="Courier New" pitchFamily="49" charset="0"/>
              </a:rPr>
              <a:t>’</a:t>
            </a:r>
            <a:r>
              <a:rPr kumimoji="1" lang="en-US" altLang="zh-CN" sz="2400" b="1" dirty="0">
                <a:latin typeface="Times New Roman" pitchFamily="18" charset="0"/>
              </a:rPr>
              <a:t>=110</a:t>
            </a:r>
            <a:r>
              <a:rPr kumimoji="1" lang="en-US" altLang="zh-CN" sz="2400" b="1" dirty="0">
                <a:solidFill>
                  <a:srgbClr val="CC9900"/>
                </a:solidFill>
                <a:latin typeface="Times New Roman" pitchFamily="18" charset="0"/>
              </a:rPr>
              <a:t>00</a:t>
            </a:r>
            <a:r>
              <a:rPr kumimoji="1" lang="zh-CN" altLang="en-US" sz="2400" b="1" dirty="0">
                <a:latin typeface="Times New Roman" pitchFamily="18" charset="0"/>
              </a:rPr>
              <a:t>（</a:t>
            </a:r>
            <a:r>
              <a:rPr kumimoji="1" lang="en-US" altLang="zh-CN" sz="2400" b="1" dirty="0">
                <a:latin typeface="Times New Roman" pitchFamily="18" charset="0"/>
              </a:rPr>
              <a:t>24</a:t>
            </a:r>
            <a:r>
              <a:rPr kumimoji="1" lang="zh-CN" altLang="en-US" sz="2400" b="1" dirty="0">
                <a:latin typeface="Times New Roman" pitchFamily="18" charset="0"/>
              </a:rPr>
              <a:t>）</a:t>
            </a:r>
            <a:r>
              <a:rPr kumimoji="1" lang="en-US" altLang="zh-CN" sz="2400" b="1" dirty="0">
                <a:latin typeface="Times New Roman" pitchFamily="18" charset="0"/>
              </a:rPr>
              <a:t>,  </a:t>
            </a:r>
            <a:r>
              <a:rPr kumimoji="1" lang="en-US" altLang="zh-CN" sz="2400" b="1" i="1" dirty="0">
                <a:latin typeface="Times New Roman" pitchFamily="18" charset="0"/>
              </a:rPr>
              <a:t>s</a:t>
            </a:r>
            <a:r>
              <a:rPr kumimoji="1" lang="en-US" altLang="zh-CN" sz="2400" b="1" baseline="-30000" dirty="0">
                <a:latin typeface="Times New Roman" pitchFamily="18" charset="0"/>
              </a:rPr>
              <a:t>4</a:t>
            </a:r>
            <a:r>
              <a:rPr kumimoji="1" lang="en-US" altLang="zh-CN" sz="2400" b="1" i="1" dirty="0">
                <a:latin typeface="Courier New" pitchFamily="49" charset="0"/>
              </a:rPr>
              <a:t>’</a:t>
            </a:r>
            <a:r>
              <a:rPr kumimoji="1" lang="en-US" altLang="zh-CN" sz="2400" b="1" dirty="0">
                <a:latin typeface="Times New Roman" pitchFamily="18" charset="0"/>
              </a:rPr>
              <a:t>=100</a:t>
            </a:r>
            <a:r>
              <a:rPr kumimoji="1" lang="en-US" altLang="zh-CN" sz="2400" b="1" dirty="0">
                <a:solidFill>
                  <a:srgbClr val="FF3300"/>
                </a:solidFill>
                <a:latin typeface="Times New Roman" pitchFamily="18" charset="0"/>
              </a:rPr>
              <a:t>11</a:t>
            </a:r>
            <a:r>
              <a:rPr kumimoji="1" lang="zh-CN" altLang="en-US" sz="2400" b="1" dirty="0">
                <a:latin typeface="Times New Roman" pitchFamily="18" charset="0"/>
              </a:rPr>
              <a:t>（</a:t>
            </a:r>
            <a:r>
              <a:rPr kumimoji="1" lang="en-US" altLang="zh-CN" sz="2400" b="1" dirty="0">
                <a:latin typeface="Times New Roman" pitchFamily="18" charset="0"/>
              </a:rPr>
              <a:t>19</a:t>
            </a:r>
            <a:r>
              <a:rPr kumimoji="1" lang="zh-CN" altLang="en-US" sz="2400" b="1" dirty="0">
                <a:latin typeface="Times New Roman" pitchFamily="18" charset="0"/>
              </a:rPr>
              <a:t>） </a:t>
            </a:r>
          </a:p>
        </p:txBody>
      </p:sp>
      <p:sp>
        <p:nvSpPr>
          <p:cNvPr id="99331" name="Text Box 3"/>
          <p:cNvSpPr txBox="1">
            <a:spLocks noChangeArrowheads="1"/>
          </p:cNvSpPr>
          <p:nvPr/>
        </p:nvSpPr>
        <p:spPr bwMode="auto">
          <a:xfrm>
            <a:off x="1026039" y="2823689"/>
            <a:ext cx="8712448"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20000"/>
              </a:lnSpc>
              <a:spcBef>
                <a:spcPct val="20000"/>
              </a:spcBef>
            </a:pPr>
            <a:r>
              <a:rPr kumimoji="1" lang="zh-CN" altLang="en-US" sz="2400" b="1" dirty="0">
                <a:latin typeface="宋体" pitchFamily="2" charset="-122"/>
              </a:rPr>
              <a:t>    做交叉运算，让</a:t>
            </a:r>
            <a:r>
              <a:rPr kumimoji="1" lang="en-US" altLang="zh-CN" sz="2400" b="1" i="1" dirty="0">
                <a:latin typeface="Times New Roman" pitchFamily="18" charset="0"/>
              </a:rPr>
              <a:t>s</a:t>
            </a:r>
            <a:r>
              <a:rPr kumimoji="1" lang="en-US" altLang="zh-CN" sz="2400" b="1" baseline="-30000" dirty="0">
                <a:latin typeface="Times New Roman" pitchFamily="18" charset="0"/>
              </a:rPr>
              <a:t>1</a:t>
            </a:r>
            <a:r>
              <a:rPr kumimoji="1" lang="en-US" altLang="zh-CN" sz="2400" b="1" i="1" dirty="0">
                <a:latin typeface="Times New Roman" pitchFamily="18" charset="0"/>
              </a:rPr>
              <a:t>’</a:t>
            </a:r>
            <a:r>
              <a:rPr kumimoji="1" lang="zh-CN" altLang="en-US" sz="2400" b="1" dirty="0">
                <a:latin typeface="宋体" pitchFamily="2" charset="-122"/>
              </a:rPr>
              <a:t>与</a:t>
            </a:r>
            <a:r>
              <a:rPr kumimoji="1" lang="en-US" altLang="zh-CN" sz="2400" b="1" i="1" dirty="0">
                <a:latin typeface="Times New Roman" pitchFamily="18" charset="0"/>
              </a:rPr>
              <a:t>s</a:t>
            </a:r>
            <a:r>
              <a:rPr kumimoji="1" lang="en-US" altLang="zh-CN" sz="2400" b="1" baseline="-30000" dirty="0">
                <a:latin typeface="Times New Roman" pitchFamily="18" charset="0"/>
              </a:rPr>
              <a:t>4</a:t>
            </a:r>
            <a:r>
              <a:rPr kumimoji="1" lang="en-US" altLang="zh-CN" sz="2400" b="1" i="1" dirty="0">
                <a:latin typeface="Times New Roman" pitchFamily="18" charset="0"/>
              </a:rPr>
              <a:t>’</a:t>
            </a:r>
            <a:r>
              <a:rPr kumimoji="1" lang="zh-CN" altLang="en-US" sz="2400" b="1" dirty="0">
                <a:latin typeface="宋体" pitchFamily="2" charset="-122"/>
              </a:rPr>
              <a:t>，</a:t>
            </a:r>
            <a:r>
              <a:rPr kumimoji="1" lang="en-US" altLang="zh-CN" sz="2400" b="1" i="1" dirty="0">
                <a:latin typeface="Times New Roman" pitchFamily="18" charset="0"/>
              </a:rPr>
              <a:t>s</a:t>
            </a:r>
            <a:r>
              <a:rPr kumimoji="1" lang="en-US" altLang="zh-CN" sz="2400" b="1" baseline="-30000" dirty="0">
                <a:latin typeface="Times New Roman" pitchFamily="18" charset="0"/>
              </a:rPr>
              <a:t>2</a:t>
            </a:r>
            <a:r>
              <a:rPr kumimoji="1" lang="en-US" altLang="zh-CN" sz="2400" b="1" i="1" dirty="0">
                <a:latin typeface="Times New Roman" pitchFamily="18" charset="0"/>
              </a:rPr>
              <a:t>’</a:t>
            </a:r>
            <a:r>
              <a:rPr kumimoji="1" lang="zh-CN" altLang="en-US" sz="2400" b="1" dirty="0">
                <a:latin typeface="宋体" pitchFamily="2" charset="-122"/>
              </a:rPr>
              <a:t>与</a:t>
            </a:r>
            <a:r>
              <a:rPr kumimoji="1" lang="en-US" altLang="zh-CN" sz="2400" b="1" i="1" dirty="0">
                <a:latin typeface="Times New Roman" pitchFamily="18" charset="0"/>
              </a:rPr>
              <a:t>s</a:t>
            </a:r>
            <a:r>
              <a:rPr kumimoji="1" lang="en-US" altLang="zh-CN" sz="2400" b="1" baseline="-30000" dirty="0">
                <a:latin typeface="Times New Roman" pitchFamily="18" charset="0"/>
              </a:rPr>
              <a:t>3</a:t>
            </a:r>
            <a:r>
              <a:rPr kumimoji="1" lang="en-US" altLang="zh-CN" sz="2400" b="1" i="1" dirty="0">
                <a:latin typeface="Times New Roman" pitchFamily="18" charset="0"/>
              </a:rPr>
              <a:t>’</a:t>
            </a:r>
            <a:r>
              <a:rPr kumimoji="1" lang="en-US" altLang="zh-CN" sz="2400" b="1" dirty="0">
                <a:latin typeface="Times New Roman" pitchFamily="18" charset="0"/>
              </a:rPr>
              <a:t> </a:t>
            </a:r>
            <a:r>
              <a:rPr kumimoji="1" lang="zh-CN" altLang="en-US" sz="2400" b="1" dirty="0">
                <a:latin typeface="宋体" pitchFamily="2" charset="-122"/>
              </a:rPr>
              <a:t>分别交换后两位基因，得</a:t>
            </a:r>
            <a:r>
              <a:rPr kumimoji="1" lang="zh-CN" altLang="en-US" sz="2400" b="1" dirty="0">
                <a:latin typeface="Times New Roman" pitchFamily="18" charset="0"/>
              </a:rPr>
              <a:t> </a:t>
            </a:r>
          </a:p>
        </p:txBody>
      </p:sp>
      <p:sp>
        <p:nvSpPr>
          <p:cNvPr id="99332" name="Text Box 4"/>
          <p:cNvSpPr txBox="1">
            <a:spLocks noChangeArrowheads="1"/>
          </p:cNvSpPr>
          <p:nvPr/>
        </p:nvSpPr>
        <p:spPr bwMode="auto">
          <a:xfrm>
            <a:off x="3216275" y="3284538"/>
            <a:ext cx="6624638" cy="102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20000"/>
              </a:lnSpc>
              <a:spcBef>
                <a:spcPct val="20000"/>
              </a:spcBef>
            </a:pPr>
            <a:r>
              <a:rPr kumimoji="1" lang="zh-CN" altLang="en-US" sz="2400" b="1" i="1">
                <a:latin typeface="Times New Roman" pitchFamily="18" charset="0"/>
              </a:rPr>
              <a:t>   </a:t>
            </a:r>
            <a:r>
              <a:rPr kumimoji="1" lang="en-US" altLang="zh-CN" sz="2400" b="1" i="1">
                <a:latin typeface="Times New Roman" pitchFamily="18" charset="0"/>
              </a:rPr>
              <a:t>s</a:t>
            </a:r>
            <a:r>
              <a:rPr kumimoji="1" lang="en-US" altLang="zh-CN" sz="2400" b="1" baseline="-30000">
                <a:latin typeface="Times New Roman" pitchFamily="18" charset="0"/>
              </a:rPr>
              <a:t>1</a:t>
            </a:r>
            <a:r>
              <a:rPr kumimoji="1" lang="en-US" altLang="zh-CN" sz="2400" b="1" i="1">
                <a:latin typeface="Courier New" pitchFamily="49" charset="0"/>
              </a:rPr>
              <a:t>’’</a:t>
            </a:r>
            <a:r>
              <a:rPr kumimoji="1" lang="en-US" altLang="zh-CN" sz="2400" b="1">
                <a:latin typeface="Times New Roman" pitchFamily="18" charset="0"/>
              </a:rPr>
              <a:t>=111</a:t>
            </a:r>
            <a:r>
              <a:rPr kumimoji="1" lang="en-US" altLang="zh-CN" sz="2400" b="1">
                <a:solidFill>
                  <a:srgbClr val="FF3300"/>
                </a:solidFill>
                <a:latin typeface="Times New Roman" pitchFamily="18" charset="0"/>
              </a:rPr>
              <a:t>11</a:t>
            </a:r>
            <a:r>
              <a:rPr kumimoji="1" lang="zh-CN" altLang="en-US" sz="2400" b="1">
                <a:latin typeface="宋体" pitchFamily="2" charset="-122"/>
              </a:rPr>
              <a:t>（</a:t>
            </a:r>
            <a:r>
              <a:rPr kumimoji="1" lang="en-US" altLang="zh-CN" sz="2400" b="1">
                <a:latin typeface="Times New Roman" pitchFamily="18" charset="0"/>
              </a:rPr>
              <a:t>31</a:t>
            </a:r>
            <a:r>
              <a:rPr kumimoji="1" lang="zh-CN" altLang="en-US" sz="2400" b="1">
                <a:latin typeface="宋体" pitchFamily="2" charset="-122"/>
              </a:rPr>
              <a:t>）</a:t>
            </a:r>
            <a:r>
              <a:rPr kumimoji="1" lang="en-US" altLang="zh-CN" sz="2400" b="1">
                <a:latin typeface="Times New Roman" pitchFamily="18" charset="0"/>
              </a:rPr>
              <a:t>, </a:t>
            </a:r>
            <a:r>
              <a:rPr kumimoji="1" lang="en-US" altLang="zh-CN" sz="2400" b="1" i="1">
                <a:latin typeface="Times New Roman" pitchFamily="18" charset="0"/>
              </a:rPr>
              <a:t>s</a:t>
            </a:r>
            <a:r>
              <a:rPr kumimoji="1" lang="en-US" altLang="zh-CN" sz="2400" b="1" baseline="-30000">
                <a:latin typeface="Times New Roman" pitchFamily="18" charset="0"/>
              </a:rPr>
              <a:t>2</a:t>
            </a:r>
            <a:r>
              <a:rPr kumimoji="1" lang="en-US" altLang="zh-CN" sz="2400" b="1" i="1">
                <a:latin typeface="Courier New" pitchFamily="49" charset="0"/>
              </a:rPr>
              <a:t>’’</a:t>
            </a:r>
            <a:r>
              <a:rPr kumimoji="1" lang="en-US" altLang="zh-CN" sz="2400" b="1">
                <a:latin typeface="Times New Roman" pitchFamily="18" charset="0"/>
              </a:rPr>
              <a:t>=111</a:t>
            </a:r>
            <a:r>
              <a:rPr kumimoji="1" lang="en-US" altLang="zh-CN" sz="2400" b="1">
                <a:solidFill>
                  <a:srgbClr val="CC9900"/>
                </a:solidFill>
                <a:latin typeface="Times New Roman" pitchFamily="18" charset="0"/>
              </a:rPr>
              <a:t>00</a:t>
            </a:r>
            <a:r>
              <a:rPr kumimoji="1" lang="zh-CN" altLang="en-US" sz="2400" b="1">
                <a:latin typeface="宋体" pitchFamily="2" charset="-122"/>
              </a:rPr>
              <a:t>（</a:t>
            </a:r>
            <a:r>
              <a:rPr kumimoji="1" lang="en-US" altLang="zh-CN" sz="2400" b="1">
                <a:latin typeface="Times New Roman" pitchFamily="18" charset="0"/>
              </a:rPr>
              <a:t>28</a:t>
            </a:r>
            <a:r>
              <a:rPr kumimoji="1" lang="zh-CN" altLang="en-US" sz="2400" b="1">
                <a:latin typeface="宋体" pitchFamily="2" charset="-122"/>
              </a:rPr>
              <a:t>）</a:t>
            </a:r>
          </a:p>
          <a:p>
            <a:pPr eaLnBrk="1" hangingPunct="1">
              <a:lnSpc>
                <a:spcPct val="120000"/>
              </a:lnSpc>
              <a:spcBef>
                <a:spcPct val="20000"/>
              </a:spcBef>
            </a:pPr>
            <a:r>
              <a:rPr kumimoji="1" lang="zh-CN" altLang="en-US" sz="2400" b="1">
                <a:latin typeface="Times New Roman" pitchFamily="18" charset="0"/>
              </a:rPr>
              <a:t>   </a:t>
            </a:r>
            <a:r>
              <a:rPr kumimoji="1" lang="en-US" altLang="zh-CN" sz="2400" b="1" i="1">
                <a:latin typeface="Times New Roman" pitchFamily="18" charset="0"/>
              </a:rPr>
              <a:t>s</a:t>
            </a:r>
            <a:r>
              <a:rPr kumimoji="1" lang="en-US" altLang="zh-CN" sz="2400" b="1" baseline="-30000">
                <a:latin typeface="Times New Roman" pitchFamily="18" charset="0"/>
              </a:rPr>
              <a:t>3</a:t>
            </a:r>
            <a:r>
              <a:rPr kumimoji="1" lang="en-US" altLang="zh-CN" sz="2400" b="1" i="1">
                <a:latin typeface="Courier New" pitchFamily="49" charset="0"/>
              </a:rPr>
              <a:t>’’</a:t>
            </a:r>
            <a:r>
              <a:rPr kumimoji="1" lang="en-US" altLang="zh-CN" sz="2400" b="1">
                <a:latin typeface="Times New Roman" pitchFamily="18" charset="0"/>
              </a:rPr>
              <a:t>=110</a:t>
            </a:r>
            <a:r>
              <a:rPr kumimoji="1" lang="en-US" altLang="zh-CN" sz="2400" b="1">
                <a:solidFill>
                  <a:srgbClr val="006600"/>
                </a:solidFill>
                <a:latin typeface="Times New Roman" pitchFamily="18" charset="0"/>
              </a:rPr>
              <a:t>00</a:t>
            </a:r>
            <a:r>
              <a:rPr kumimoji="1" lang="zh-CN" altLang="en-US" sz="2400" b="1">
                <a:latin typeface="宋体" pitchFamily="2" charset="-122"/>
              </a:rPr>
              <a:t>（</a:t>
            </a:r>
            <a:r>
              <a:rPr kumimoji="1" lang="en-US" altLang="zh-CN" sz="2400" b="1">
                <a:latin typeface="Times New Roman" pitchFamily="18" charset="0"/>
              </a:rPr>
              <a:t>24</a:t>
            </a:r>
            <a:r>
              <a:rPr kumimoji="1" lang="zh-CN" altLang="en-US" sz="2400" b="1">
                <a:latin typeface="宋体" pitchFamily="2" charset="-122"/>
              </a:rPr>
              <a:t>）</a:t>
            </a:r>
            <a:r>
              <a:rPr kumimoji="1" lang="en-US" altLang="zh-CN" sz="2400" b="1">
                <a:latin typeface="Times New Roman" pitchFamily="18" charset="0"/>
              </a:rPr>
              <a:t>, </a:t>
            </a:r>
            <a:r>
              <a:rPr kumimoji="1" lang="en-US" altLang="zh-CN" sz="2400" b="1" i="1">
                <a:latin typeface="Times New Roman" pitchFamily="18" charset="0"/>
              </a:rPr>
              <a:t>s</a:t>
            </a:r>
            <a:r>
              <a:rPr kumimoji="1" lang="en-US" altLang="zh-CN" sz="2400" b="1" baseline="-30000">
                <a:latin typeface="Times New Roman" pitchFamily="18" charset="0"/>
              </a:rPr>
              <a:t>4</a:t>
            </a:r>
            <a:r>
              <a:rPr kumimoji="1" lang="en-US" altLang="zh-CN" sz="2400" b="1" i="1">
                <a:latin typeface="Courier New" pitchFamily="49" charset="0"/>
              </a:rPr>
              <a:t>’’</a:t>
            </a:r>
            <a:r>
              <a:rPr kumimoji="1" lang="en-US" altLang="zh-CN" sz="2400" b="1">
                <a:latin typeface="Times New Roman" pitchFamily="18" charset="0"/>
              </a:rPr>
              <a:t>=100</a:t>
            </a:r>
            <a:r>
              <a:rPr kumimoji="1" lang="en-US" altLang="zh-CN" sz="2400" b="1">
                <a:solidFill>
                  <a:srgbClr val="0033CC"/>
                </a:solidFill>
                <a:latin typeface="Times New Roman" pitchFamily="18" charset="0"/>
              </a:rPr>
              <a:t>00</a:t>
            </a:r>
            <a:r>
              <a:rPr kumimoji="1" lang="zh-CN" altLang="en-US" sz="2400" b="1">
                <a:latin typeface="宋体" pitchFamily="2" charset="-122"/>
              </a:rPr>
              <a:t>（</a:t>
            </a:r>
            <a:r>
              <a:rPr kumimoji="1" lang="en-US" altLang="zh-CN" sz="2400" b="1">
                <a:latin typeface="Times New Roman" pitchFamily="18" charset="0"/>
              </a:rPr>
              <a:t>16</a:t>
            </a:r>
            <a:r>
              <a:rPr kumimoji="1" lang="zh-CN" altLang="en-US" sz="2400" b="1">
                <a:latin typeface="宋体" pitchFamily="2" charset="-122"/>
              </a:rPr>
              <a:t>）</a:t>
            </a:r>
            <a:r>
              <a:rPr kumimoji="1" lang="zh-CN" altLang="en-US" sz="2400" b="1">
                <a:latin typeface="Times New Roman" pitchFamily="18" charset="0"/>
              </a:rPr>
              <a:t> </a:t>
            </a:r>
          </a:p>
        </p:txBody>
      </p:sp>
      <p:sp>
        <p:nvSpPr>
          <p:cNvPr id="99333" name="Text Box 5"/>
          <p:cNvSpPr txBox="1">
            <a:spLocks noChangeArrowheads="1"/>
          </p:cNvSpPr>
          <p:nvPr/>
        </p:nvSpPr>
        <p:spPr bwMode="auto">
          <a:xfrm>
            <a:off x="1559496" y="4191299"/>
            <a:ext cx="40527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kumimoji="1" lang="zh-CN" altLang="en-US" sz="2400" b="1" dirty="0">
                <a:latin typeface="宋体" pitchFamily="2" charset="-122"/>
              </a:rPr>
              <a:t> 这一轮仍然不会发生变异。</a:t>
            </a:r>
            <a:endParaRPr kumimoji="1" lang="zh-CN" altLang="en-US" sz="2400" b="1" dirty="0">
              <a:latin typeface="Times New Roman" pitchFamily="18" charset="0"/>
            </a:endParaRPr>
          </a:p>
        </p:txBody>
      </p:sp>
      <p:sp>
        <p:nvSpPr>
          <p:cNvPr id="53254" name="Text Box 6"/>
          <p:cNvSpPr txBox="1">
            <a:spLocks noChangeArrowheads="1"/>
          </p:cNvSpPr>
          <p:nvPr/>
        </p:nvSpPr>
        <p:spPr bwMode="auto">
          <a:xfrm>
            <a:off x="2034225" y="4708387"/>
            <a:ext cx="6696075" cy="1638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20000"/>
              </a:lnSpc>
              <a:spcBef>
                <a:spcPct val="20000"/>
              </a:spcBef>
            </a:pPr>
            <a:r>
              <a:rPr kumimoji="1" lang="zh-CN" altLang="en-US" sz="2400" b="1" dirty="0"/>
              <a:t>        于是，得第四代种群</a:t>
            </a:r>
            <a:r>
              <a:rPr kumimoji="1" lang="en-US" altLang="zh-CN" sz="2400" b="1" i="1" dirty="0"/>
              <a:t>S</a:t>
            </a:r>
            <a:r>
              <a:rPr kumimoji="1" lang="en-US" altLang="zh-CN" sz="2400" b="1" baseline="-25000" dirty="0"/>
              <a:t>4</a:t>
            </a:r>
            <a:r>
              <a:rPr kumimoji="1" lang="zh-CN" altLang="en-US" sz="2400" b="1" dirty="0"/>
              <a:t>：</a:t>
            </a:r>
            <a:r>
              <a:rPr kumimoji="1" lang="zh-CN" altLang="en-US" sz="2400" b="1" i="1" dirty="0">
                <a:latin typeface="Times New Roman" pitchFamily="18" charset="0"/>
              </a:rPr>
              <a:t> </a:t>
            </a:r>
          </a:p>
          <a:p>
            <a:pPr eaLnBrk="1" hangingPunct="1">
              <a:lnSpc>
                <a:spcPct val="120000"/>
              </a:lnSpc>
              <a:spcBef>
                <a:spcPct val="50000"/>
              </a:spcBef>
            </a:pPr>
            <a:r>
              <a:rPr kumimoji="1" lang="zh-CN" altLang="en-US" sz="2400" b="1" i="1" dirty="0">
                <a:latin typeface="Times New Roman" pitchFamily="18" charset="0"/>
              </a:rPr>
              <a:t>          </a:t>
            </a:r>
            <a:r>
              <a:rPr kumimoji="1" lang="en-US" altLang="zh-CN" sz="2400" b="1" i="1" dirty="0"/>
              <a:t>s</a:t>
            </a:r>
            <a:r>
              <a:rPr kumimoji="1" lang="en-US" altLang="zh-CN" sz="2400" b="1" baseline="-30000" dirty="0"/>
              <a:t>1</a:t>
            </a:r>
            <a:r>
              <a:rPr kumimoji="1" lang="en-US" altLang="zh-CN" sz="2400" b="1" dirty="0"/>
              <a:t>=11111</a:t>
            </a:r>
            <a:r>
              <a:rPr kumimoji="1" lang="zh-CN" altLang="en-US" sz="2400" b="1" dirty="0"/>
              <a:t>（</a:t>
            </a:r>
            <a:r>
              <a:rPr kumimoji="1" lang="en-US" altLang="zh-CN" sz="2400" b="1" dirty="0"/>
              <a:t>31</a:t>
            </a:r>
            <a:r>
              <a:rPr kumimoji="1" lang="zh-CN" altLang="en-US" sz="2400" b="1" dirty="0"/>
              <a:t>）</a:t>
            </a:r>
            <a:r>
              <a:rPr kumimoji="1" lang="en-US" altLang="zh-CN" sz="2400" b="1" dirty="0"/>
              <a:t>,  </a:t>
            </a:r>
            <a:r>
              <a:rPr kumimoji="1" lang="en-US" altLang="zh-CN" sz="2400" b="1" i="1" dirty="0"/>
              <a:t>s</a:t>
            </a:r>
            <a:r>
              <a:rPr kumimoji="1" lang="en-US" altLang="zh-CN" sz="2400" b="1" baseline="-30000" dirty="0"/>
              <a:t>2</a:t>
            </a:r>
            <a:r>
              <a:rPr kumimoji="1" lang="en-US" altLang="zh-CN" sz="2400" b="1" dirty="0"/>
              <a:t>=11100</a:t>
            </a:r>
            <a:r>
              <a:rPr kumimoji="1" lang="zh-CN" altLang="en-US" sz="2400" b="1" dirty="0"/>
              <a:t>（</a:t>
            </a:r>
            <a:r>
              <a:rPr kumimoji="1" lang="en-US" altLang="zh-CN" sz="2400" b="1" dirty="0"/>
              <a:t>28</a:t>
            </a:r>
            <a:r>
              <a:rPr kumimoji="1" lang="zh-CN" altLang="en-US" sz="2400" b="1" dirty="0"/>
              <a:t>）</a:t>
            </a:r>
          </a:p>
          <a:p>
            <a:pPr eaLnBrk="1" hangingPunct="1">
              <a:lnSpc>
                <a:spcPct val="120000"/>
              </a:lnSpc>
              <a:spcBef>
                <a:spcPct val="20000"/>
              </a:spcBef>
            </a:pPr>
            <a:r>
              <a:rPr kumimoji="1" lang="zh-CN" altLang="en-US" sz="2400" b="1" dirty="0"/>
              <a:t>         </a:t>
            </a:r>
            <a:r>
              <a:rPr kumimoji="1" lang="en-US" altLang="zh-CN" sz="2400" b="1" i="1" dirty="0"/>
              <a:t>s</a:t>
            </a:r>
            <a:r>
              <a:rPr kumimoji="1" lang="en-US" altLang="zh-CN" sz="2400" b="1" baseline="-30000" dirty="0"/>
              <a:t>3</a:t>
            </a:r>
            <a:r>
              <a:rPr kumimoji="1" lang="en-US" altLang="zh-CN" sz="2400" b="1" dirty="0"/>
              <a:t>=11000</a:t>
            </a:r>
            <a:r>
              <a:rPr kumimoji="1" lang="zh-CN" altLang="en-US" sz="2400" b="1" dirty="0"/>
              <a:t>（</a:t>
            </a:r>
            <a:r>
              <a:rPr kumimoji="1" lang="en-US" altLang="zh-CN" sz="2400" b="1" dirty="0"/>
              <a:t>24</a:t>
            </a:r>
            <a:r>
              <a:rPr kumimoji="1" lang="zh-CN" altLang="en-US" sz="2400" b="1" dirty="0"/>
              <a:t>）</a:t>
            </a:r>
            <a:r>
              <a:rPr kumimoji="1" lang="en-US" altLang="zh-CN" sz="2400" b="1" dirty="0"/>
              <a:t>,  </a:t>
            </a:r>
            <a:r>
              <a:rPr kumimoji="1" lang="en-US" altLang="zh-CN" sz="2400" b="1" i="1" dirty="0"/>
              <a:t>s</a:t>
            </a:r>
            <a:r>
              <a:rPr kumimoji="1" lang="en-US" altLang="zh-CN" sz="2400" b="1" baseline="-30000" dirty="0"/>
              <a:t>4</a:t>
            </a:r>
            <a:r>
              <a:rPr kumimoji="1" lang="en-US" altLang="zh-CN" sz="2400" b="1" dirty="0"/>
              <a:t>=10000</a:t>
            </a:r>
            <a:r>
              <a:rPr kumimoji="1" lang="zh-CN" altLang="en-US" sz="2400" b="1" dirty="0"/>
              <a:t>（</a:t>
            </a:r>
            <a:r>
              <a:rPr kumimoji="1" lang="en-US" altLang="zh-CN" sz="2400" b="1" dirty="0"/>
              <a:t>16</a:t>
            </a:r>
            <a:r>
              <a:rPr kumimoji="1" lang="zh-CN" altLang="en-US" sz="2400" b="1" dirty="0"/>
              <a:t>）</a:t>
            </a:r>
            <a:r>
              <a:rPr kumimoji="1" lang="zh-CN" altLang="en-US" sz="2400" b="1" dirty="0">
                <a:latin typeface="Times New Roman" pitchFamily="18" charset="0"/>
              </a:rPr>
              <a:t> </a:t>
            </a:r>
          </a:p>
        </p:txBody>
      </p:sp>
      <p:sp>
        <p:nvSpPr>
          <p:cNvPr id="53255" name="Rectangle 8"/>
          <p:cNvSpPr>
            <a:spLocks noChangeArrowheads="1"/>
          </p:cNvSpPr>
          <p:nvPr/>
        </p:nvSpPr>
        <p:spPr bwMode="auto">
          <a:xfrm>
            <a:off x="1847528" y="501651"/>
            <a:ext cx="787432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6EC0596F-C7EA-3295-B280-EBA8E2CF1695}"/>
              </a:ext>
            </a:extLst>
          </p:cNvPr>
          <p:cNvSpPr>
            <a:spLocks noGrp="1"/>
          </p:cNvSpPr>
          <p:nvPr>
            <p:ph type="sldNum" sz="quarter" idx="11"/>
          </p:nvPr>
        </p:nvSpPr>
        <p:spPr/>
        <p:txBody>
          <a:bodyPr/>
          <a:lstStyle/>
          <a:p>
            <a:pPr>
              <a:defRPr/>
            </a:pPr>
            <a:fld id="{1240398B-3681-435F-A1B8-D490B121ECC3}" type="slidenum">
              <a:rPr lang="en-US" altLang="zh-CN" smtClean="0"/>
              <a:pPr>
                <a:defRPr/>
              </a:pPr>
              <a:t>28</a:t>
            </a:fld>
            <a:endParaRPr lang="en-US" altLang="zh-CN"/>
          </a:p>
        </p:txBody>
      </p:sp>
    </p:spTree>
    <p:extLst>
      <p:ext uri="{BB962C8B-B14F-4D97-AF65-F5344CB8AC3E}">
        <p14:creationId xmlns:p14="http://schemas.microsoft.com/office/powerpoint/2010/main" val="16946001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330"/>
                                        </p:tgtEl>
                                        <p:attrNameLst>
                                          <p:attrName>style.visibility</p:attrName>
                                        </p:attrNameLst>
                                      </p:cBhvr>
                                      <p:to>
                                        <p:strVal val="visible"/>
                                      </p:to>
                                    </p:set>
                                    <p:animEffect transition="in" filter="blinds(horizontal)">
                                      <p:cBhvr>
                                        <p:cTn id="7" dur="500"/>
                                        <p:tgtEl>
                                          <p:spTgt spid="993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9331"/>
                                        </p:tgtEl>
                                        <p:attrNameLst>
                                          <p:attrName>style.visibility</p:attrName>
                                        </p:attrNameLst>
                                      </p:cBhvr>
                                      <p:to>
                                        <p:strVal val="visible"/>
                                      </p:to>
                                    </p:set>
                                    <p:animEffect transition="in" filter="blinds(horizontal)">
                                      <p:cBhvr>
                                        <p:cTn id="12" dur="500"/>
                                        <p:tgtEl>
                                          <p:spTgt spid="993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9332"/>
                                        </p:tgtEl>
                                        <p:attrNameLst>
                                          <p:attrName>style.visibility</p:attrName>
                                        </p:attrNameLst>
                                      </p:cBhvr>
                                      <p:to>
                                        <p:strVal val="visible"/>
                                      </p:to>
                                    </p:set>
                                    <p:animEffect transition="in" filter="blinds(horizontal)">
                                      <p:cBhvr>
                                        <p:cTn id="17" dur="500"/>
                                        <p:tgtEl>
                                          <p:spTgt spid="993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9333"/>
                                        </p:tgtEl>
                                        <p:attrNameLst>
                                          <p:attrName>style.visibility</p:attrName>
                                        </p:attrNameLst>
                                      </p:cBhvr>
                                      <p:to>
                                        <p:strVal val="visible"/>
                                      </p:to>
                                    </p:set>
                                    <p:animEffect transition="in" filter="blinds(horizontal)">
                                      <p:cBhvr>
                                        <p:cTn id="22" dur="500"/>
                                        <p:tgtEl>
                                          <p:spTgt spid="99333"/>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53254"/>
                                        </p:tgtEl>
                                        <p:attrNameLst>
                                          <p:attrName>style.visibility</p:attrName>
                                        </p:attrNameLst>
                                      </p:cBhvr>
                                      <p:to>
                                        <p:strVal val="visible"/>
                                      </p:to>
                                    </p:set>
                                    <p:animEffect transition="in" filter="fade">
                                      <p:cBhvr>
                                        <p:cTn id="27" dur="1000"/>
                                        <p:tgtEl>
                                          <p:spTgt spid="53254"/>
                                        </p:tgtEl>
                                      </p:cBhvr>
                                    </p:animEffect>
                                    <p:anim calcmode="lin" valueType="num">
                                      <p:cBhvr>
                                        <p:cTn id="28" dur="1000" fill="hold"/>
                                        <p:tgtEl>
                                          <p:spTgt spid="53254"/>
                                        </p:tgtEl>
                                        <p:attrNameLst>
                                          <p:attrName>ppt_x</p:attrName>
                                        </p:attrNameLst>
                                      </p:cBhvr>
                                      <p:tavLst>
                                        <p:tav tm="0">
                                          <p:val>
                                            <p:strVal val="#ppt_x"/>
                                          </p:val>
                                        </p:tav>
                                        <p:tav tm="100000">
                                          <p:val>
                                            <p:strVal val="#ppt_x"/>
                                          </p:val>
                                        </p:tav>
                                      </p:tavLst>
                                    </p:anim>
                                    <p:anim calcmode="lin" valueType="num">
                                      <p:cBhvr>
                                        <p:cTn id="29" dur="1000" fill="hold"/>
                                        <p:tgtEl>
                                          <p:spTgt spid="532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p:bldP spid="99331" grpId="0"/>
      <p:bldP spid="99332" grpId="0"/>
      <p:bldP spid="99333" grpId="0"/>
      <p:bldP spid="5325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1163452" y="1556792"/>
            <a:ext cx="9865096" cy="4664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lnSpc>
                <a:spcPct val="120000"/>
              </a:lnSpc>
              <a:spcBef>
                <a:spcPct val="50000"/>
              </a:spcBef>
            </a:pPr>
            <a:r>
              <a:rPr kumimoji="1" lang="zh-CN" altLang="en-US" sz="3200" dirty="0">
                <a:latin typeface="宋体" pitchFamily="2" charset="-122"/>
              </a:rPr>
              <a:t>　  </a:t>
            </a:r>
            <a:r>
              <a:rPr kumimoji="1" lang="zh-CN" altLang="en-US" sz="3200" b="1" dirty="0">
                <a:latin typeface="宋体" pitchFamily="2" charset="-122"/>
              </a:rPr>
              <a:t>显然，在这一代种群中已经出现了适应度最高的染色体</a:t>
            </a:r>
            <a:r>
              <a:rPr kumimoji="1" lang="en-US" altLang="zh-CN" sz="3200" b="1" i="1" dirty="0">
                <a:latin typeface="Times New Roman" pitchFamily="18" charset="0"/>
                <a:cs typeface="Times New Roman" pitchFamily="18" charset="0"/>
              </a:rPr>
              <a:t>s</a:t>
            </a:r>
            <a:r>
              <a:rPr kumimoji="1" lang="en-US" altLang="zh-CN" sz="3200" b="1" baseline="-30000" dirty="0">
                <a:latin typeface="Times New Roman" pitchFamily="18" charset="0"/>
                <a:cs typeface="Times New Roman" pitchFamily="18" charset="0"/>
              </a:rPr>
              <a:t>1</a:t>
            </a:r>
            <a:r>
              <a:rPr kumimoji="1" lang="en-US" altLang="zh-CN" sz="3200" b="1" dirty="0">
                <a:latin typeface="Times New Roman" pitchFamily="18" charset="0"/>
                <a:cs typeface="Times New Roman" pitchFamily="18" charset="0"/>
              </a:rPr>
              <a:t>=11111</a:t>
            </a:r>
            <a:r>
              <a:rPr kumimoji="1" lang="zh-CN" altLang="en-US" sz="3200" b="1" dirty="0">
                <a:latin typeface="Times New Roman" pitchFamily="18" charset="0"/>
                <a:cs typeface="Times New Roman" pitchFamily="18" charset="0"/>
              </a:rPr>
              <a:t>。于是，遗传操作终止，将</a:t>
            </a:r>
            <a:r>
              <a:rPr kumimoji="1" lang="zh-CN" altLang="en-US" sz="3200" b="1" dirty="0">
                <a:latin typeface="宋体" pitchFamily="2" charset="-122"/>
              </a:rPr>
              <a:t>染色体</a:t>
            </a:r>
            <a:r>
              <a:rPr kumimoji="1" lang="zh-CN" altLang="en-US" sz="3200" b="1" dirty="0">
                <a:latin typeface="Courier New" pitchFamily="49" charset="0"/>
              </a:rPr>
              <a:t>“</a:t>
            </a:r>
            <a:r>
              <a:rPr kumimoji="1" lang="en-US" altLang="zh-CN" sz="3200" b="1" dirty="0">
                <a:latin typeface="Times New Roman" pitchFamily="18" charset="0"/>
              </a:rPr>
              <a:t>11111</a:t>
            </a:r>
            <a:r>
              <a:rPr kumimoji="1" lang="en-US" altLang="zh-CN" sz="3200" b="1" dirty="0">
                <a:latin typeface="Courier New" pitchFamily="49" charset="0"/>
              </a:rPr>
              <a:t>”</a:t>
            </a:r>
            <a:r>
              <a:rPr kumimoji="1" lang="zh-CN" altLang="en-US" sz="3200" b="1" dirty="0">
                <a:latin typeface="Times New Roman" pitchFamily="18" charset="0"/>
              </a:rPr>
              <a:t>作为最终结果输出。</a:t>
            </a:r>
            <a:endParaRPr kumimoji="1" lang="zh-CN" altLang="en-US" sz="3200" b="1" dirty="0">
              <a:latin typeface="宋体" pitchFamily="2" charset="-122"/>
            </a:endParaRPr>
          </a:p>
          <a:p>
            <a:pPr eaLnBrk="1" hangingPunct="1">
              <a:lnSpc>
                <a:spcPct val="120000"/>
              </a:lnSpc>
              <a:spcBef>
                <a:spcPct val="50000"/>
              </a:spcBef>
            </a:pPr>
            <a:r>
              <a:rPr kumimoji="1" lang="zh-CN" altLang="en-US" sz="3200" b="1" dirty="0">
                <a:latin typeface="宋体" pitchFamily="2" charset="-122"/>
              </a:rPr>
              <a:t>　　然后，将染色体</a:t>
            </a:r>
            <a:r>
              <a:rPr kumimoji="1" lang="zh-CN" altLang="en-US" sz="3200" b="1" dirty="0">
                <a:latin typeface="Times New Roman" pitchFamily="18" charset="0"/>
              </a:rPr>
              <a:t>“</a:t>
            </a:r>
            <a:r>
              <a:rPr kumimoji="1" lang="en-US" altLang="zh-CN" sz="3200" b="1" dirty="0">
                <a:latin typeface="Times New Roman" pitchFamily="18" charset="0"/>
              </a:rPr>
              <a:t>11111”</a:t>
            </a:r>
            <a:r>
              <a:rPr kumimoji="1" lang="zh-CN" altLang="en-US" sz="3200" b="1" dirty="0">
                <a:latin typeface="宋体" pitchFamily="2" charset="-122"/>
              </a:rPr>
              <a:t>解码为表现型，即得所求的最优解：</a:t>
            </a:r>
            <a:r>
              <a:rPr kumimoji="1" lang="en-US" altLang="zh-CN" sz="3200" b="1" dirty="0">
                <a:latin typeface="Times New Roman" pitchFamily="18" charset="0"/>
              </a:rPr>
              <a:t>31</a:t>
            </a:r>
            <a:r>
              <a:rPr kumimoji="1" lang="zh-CN" altLang="en-US" sz="3200" b="1" dirty="0">
                <a:latin typeface="宋体" pitchFamily="2" charset="-122"/>
              </a:rPr>
              <a:t>。</a:t>
            </a:r>
          </a:p>
          <a:p>
            <a:pPr eaLnBrk="1" hangingPunct="1">
              <a:lnSpc>
                <a:spcPct val="120000"/>
              </a:lnSpc>
              <a:spcBef>
                <a:spcPct val="50000"/>
              </a:spcBef>
            </a:pPr>
            <a:r>
              <a:rPr kumimoji="1" lang="zh-CN" altLang="en-US" sz="3200" b="1" dirty="0">
                <a:latin typeface="宋体" pitchFamily="2" charset="-122"/>
              </a:rPr>
              <a:t>    将</a:t>
            </a:r>
            <a:r>
              <a:rPr kumimoji="1" lang="en-US" altLang="zh-CN" sz="3200" b="1" dirty="0">
                <a:latin typeface="Times New Roman" pitchFamily="18" charset="0"/>
              </a:rPr>
              <a:t>31</a:t>
            </a:r>
            <a:r>
              <a:rPr kumimoji="1" lang="zh-CN" altLang="en-US" sz="3200" b="1" dirty="0">
                <a:latin typeface="宋体" pitchFamily="2" charset="-122"/>
              </a:rPr>
              <a:t>代入函数</a:t>
            </a:r>
            <a:r>
              <a:rPr kumimoji="1" lang="en-US" altLang="zh-CN" sz="3200" b="1" i="1" dirty="0">
                <a:latin typeface="Times New Roman" pitchFamily="18" charset="0"/>
              </a:rPr>
              <a:t>y</a:t>
            </a:r>
            <a:r>
              <a:rPr kumimoji="1" lang="en-US" altLang="zh-CN" sz="3200" b="1" dirty="0">
                <a:latin typeface="Times New Roman" pitchFamily="18" charset="0"/>
              </a:rPr>
              <a:t>=</a:t>
            </a:r>
            <a:r>
              <a:rPr kumimoji="1" lang="en-US" altLang="zh-CN" sz="3200" b="1" i="1" dirty="0">
                <a:latin typeface="Times New Roman" pitchFamily="18" charset="0"/>
              </a:rPr>
              <a:t>x</a:t>
            </a:r>
            <a:r>
              <a:rPr kumimoji="1" lang="en-US" altLang="zh-CN" sz="3200" b="1" baseline="30000" dirty="0">
                <a:latin typeface="Times New Roman" pitchFamily="18" charset="0"/>
              </a:rPr>
              <a:t>2</a:t>
            </a:r>
            <a:r>
              <a:rPr kumimoji="1" lang="zh-CN" altLang="en-US" sz="3200" b="1" dirty="0">
                <a:latin typeface="宋体" pitchFamily="2" charset="-122"/>
              </a:rPr>
              <a:t>中，即得原问题的解，即函数</a:t>
            </a:r>
            <a:r>
              <a:rPr kumimoji="1" lang="en-US" altLang="zh-CN" sz="3200" b="1" i="1" dirty="0">
                <a:latin typeface="Times New Roman" pitchFamily="18" charset="0"/>
              </a:rPr>
              <a:t>y</a:t>
            </a:r>
            <a:r>
              <a:rPr kumimoji="1" lang="en-US" altLang="zh-CN" sz="3200" b="1" dirty="0">
                <a:latin typeface="Times New Roman" pitchFamily="18" charset="0"/>
              </a:rPr>
              <a:t>=</a:t>
            </a:r>
            <a:r>
              <a:rPr kumimoji="1" lang="en-US" altLang="zh-CN" sz="3200" b="1" i="1" dirty="0">
                <a:latin typeface="Times New Roman" pitchFamily="18" charset="0"/>
              </a:rPr>
              <a:t>x</a:t>
            </a:r>
            <a:r>
              <a:rPr kumimoji="1" lang="en-US" altLang="zh-CN" sz="3200" b="1" baseline="30000" dirty="0">
                <a:latin typeface="Times New Roman" pitchFamily="18" charset="0"/>
              </a:rPr>
              <a:t>2</a:t>
            </a:r>
            <a:r>
              <a:rPr kumimoji="1" lang="zh-CN" altLang="en-US" sz="3200" b="1" dirty="0">
                <a:latin typeface="宋体" pitchFamily="2" charset="-122"/>
              </a:rPr>
              <a:t>的最大值为</a:t>
            </a:r>
            <a:r>
              <a:rPr kumimoji="1" lang="en-US" altLang="zh-CN" sz="3200" b="1" dirty="0">
                <a:latin typeface="Times New Roman" pitchFamily="18" charset="0"/>
              </a:rPr>
              <a:t>961</a:t>
            </a:r>
            <a:r>
              <a:rPr kumimoji="1" lang="zh-CN" altLang="en-US" sz="3200" b="1" dirty="0">
                <a:latin typeface="宋体" pitchFamily="2" charset="-122"/>
              </a:rPr>
              <a:t>。</a:t>
            </a:r>
            <a:r>
              <a:rPr kumimoji="1" lang="zh-CN" altLang="en-US" sz="3200" b="1" dirty="0">
                <a:latin typeface="Times New Roman" pitchFamily="18" charset="0"/>
              </a:rPr>
              <a:t> </a:t>
            </a:r>
          </a:p>
        </p:txBody>
      </p:sp>
      <p:sp>
        <p:nvSpPr>
          <p:cNvPr id="54275" name="Rectangle 4"/>
          <p:cNvSpPr>
            <a:spLocks noChangeArrowheads="1"/>
          </p:cNvSpPr>
          <p:nvPr/>
        </p:nvSpPr>
        <p:spPr bwMode="auto">
          <a:xfrm>
            <a:off x="1775520" y="501651"/>
            <a:ext cx="794633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2C0E554D-EDE4-3B2F-6DED-E4C31FFA5935}"/>
              </a:ext>
            </a:extLst>
          </p:cNvPr>
          <p:cNvSpPr>
            <a:spLocks noGrp="1"/>
          </p:cNvSpPr>
          <p:nvPr>
            <p:ph type="sldNum" sz="quarter" idx="11"/>
          </p:nvPr>
        </p:nvSpPr>
        <p:spPr/>
        <p:txBody>
          <a:bodyPr/>
          <a:lstStyle/>
          <a:p>
            <a:pPr>
              <a:defRPr/>
            </a:pPr>
            <a:fld id="{1240398B-3681-435F-A1B8-D490B121ECC3}" type="slidenum">
              <a:rPr lang="en-US" altLang="zh-CN" smtClean="0"/>
              <a:pPr>
                <a:defRPr/>
              </a:pPr>
              <a:t>29</a:t>
            </a:fld>
            <a:endParaRPr lang="en-US" altLang="zh-CN"/>
          </a:p>
        </p:txBody>
      </p:sp>
    </p:spTree>
    <p:extLst>
      <p:ext uri="{BB962C8B-B14F-4D97-AF65-F5344CB8AC3E}">
        <p14:creationId xmlns:p14="http://schemas.microsoft.com/office/powerpoint/2010/main" val="20483877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0354">
                                            <p:txEl>
                                              <p:pRg st="0" end="0"/>
                                            </p:txEl>
                                          </p:spTgt>
                                        </p:tgtEl>
                                        <p:attrNameLst>
                                          <p:attrName>style.visibility</p:attrName>
                                        </p:attrNameLst>
                                      </p:cBhvr>
                                      <p:to>
                                        <p:strVal val="visible"/>
                                      </p:to>
                                    </p:set>
                                    <p:animEffect transition="in" filter="blinds(horizontal)">
                                      <p:cBhvr>
                                        <p:cTn id="7" dur="500"/>
                                        <p:tgtEl>
                                          <p:spTgt spid="10035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0354">
                                            <p:txEl>
                                              <p:pRg st="1" end="1"/>
                                            </p:txEl>
                                          </p:spTgt>
                                        </p:tgtEl>
                                        <p:attrNameLst>
                                          <p:attrName>style.visibility</p:attrName>
                                        </p:attrNameLst>
                                      </p:cBhvr>
                                      <p:to>
                                        <p:strVal val="visible"/>
                                      </p:to>
                                    </p:set>
                                    <p:animEffect transition="in" filter="blinds(horizontal)">
                                      <p:cBhvr>
                                        <p:cTn id="12" dur="500"/>
                                        <p:tgtEl>
                                          <p:spTgt spid="10035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0354">
                                            <p:txEl>
                                              <p:pRg st="2" end="2"/>
                                            </p:txEl>
                                          </p:spTgt>
                                        </p:tgtEl>
                                        <p:attrNameLst>
                                          <p:attrName>style.visibility</p:attrName>
                                        </p:attrNameLst>
                                      </p:cBhvr>
                                      <p:to>
                                        <p:strVal val="visible"/>
                                      </p:to>
                                    </p:set>
                                    <p:animEffect transition="in" filter="blinds(horizontal)">
                                      <p:cBhvr>
                                        <p:cTn id="17" dur="500"/>
                                        <p:tgtEl>
                                          <p:spTgt spid="1003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Line 2"/>
          <p:cNvSpPr>
            <a:spLocks noChangeShapeType="1"/>
          </p:cNvSpPr>
          <p:nvPr/>
        </p:nvSpPr>
        <p:spPr bwMode="auto">
          <a:xfrm flipV="1">
            <a:off x="3018533" y="5855543"/>
            <a:ext cx="0" cy="1444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299" name="Text Box 3"/>
          <p:cNvSpPr txBox="1">
            <a:spLocks noChangeArrowheads="1"/>
          </p:cNvSpPr>
          <p:nvPr/>
        </p:nvSpPr>
        <p:spPr bwMode="auto">
          <a:xfrm>
            <a:off x="6889748" y="3858469"/>
            <a:ext cx="287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ltLang="zh-CN" sz="2000" i="1" dirty="0">
                <a:latin typeface="Times New Roman" pitchFamily="18" charset="0"/>
              </a:rPr>
              <a:t>y</a:t>
            </a:r>
          </a:p>
        </p:txBody>
      </p:sp>
      <p:sp>
        <p:nvSpPr>
          <p:cNvPr id="55300" name="Line 4"/>
          <p:cNvSpPr>
            <a:spLocks noChangeShapeType="1"/>
          </p:cNvSpPr>
          <p:nvPr/>
        </p:nvSpPr>
        <p:spPr bwMode="auto">
          <a:xfrm flipV="1">
            <a:off x="3304283" y="2917080"/>
            <a:ext cx="0" cy="2159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01" name="Line 5"/>
          <p:cNvSpPr>
            <a:spLocks noChangeShapeType="1"/>
          </p:cNvSpPr>
          <p:nvPr/>
        </p:nvSpPr>
        <p:spPr bwMode="auto">
          <a:xfrm flipV="1">
            <a:off x="4223445" y="5131643"/>
            <a:ext cx="0" cy="863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02" name="Line 6"/>
          <p:cNvSpPr>
            <a:spLocks noChangeShapeType="1"/>
          </p:cNvSpPr>
          <p:nvPr/>
        </p:nvSpPr>
        <p:spPr bwMode="auto">
          <a:xfrm flipV="1">
            <a:off x="4528245" y="4734768"/>
            <a:ext cx="0" cy="12239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03" name="Line 7"/>
          <p:cNvSpPr>
            <a:spLocks noChangeShapeType="1"/>
          </p:cNvSpPr>
          <p:nvPr/>
        </p:nvSpPr>
        <p:spPr bwMode="auto">
          <a:xfrm flipV="1">
            <a:off x="3880545" y="5436443"/>
            <a:ext cx="0" cy="5762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04" name="Line 8"/>
          <p:cNvSpPr>
            <a:spLocks noChangeShapeType="1"/>
          </p:cNvSpPr>
          <p:nvPr/>
        </p:nvSpPr>
        <p:spPr bwMode="auto">
          <a:xfrm flipV="1">
            <a:off x="8113711" y="2988518"/>
            <a:ext cx="0" cy="1444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grpSp>
        <p:nvGrpSpPr>
          <p:cNvPr id="55305" name="Group 9"/>
          <p:cNvGrpSpPr>
            <a:grpSpLocks/>
          </p:cNvGrpSpPr>
          <p:nvPr/>
        </p:nvGrpSpPr>
        <p:grpSpPr bwMode="auto">
          <a:xfrm>
            <a:off x="1792984" y="1043831"/>
            <a:ext cx="3959225" cy="2867025"/>
            <a:chOff x="431" y="436"/>
            <a:chExt cx="2494" cy="1806"/>
          </a:xfrm>
        </p:grpSpPr>
        <p:sp>
          <p:nvSpPr>
            <p:cNvPr id="55349" name="Line 10"/>
            <p:cNvSpPr>
              <a:spLocks noChangeShapeType="1"/>
            </p:cNvSpPr>
            <p:nvPr/>
          </p:nvSpPr>
          <p:spPr bwMode="auto">
            <a:xfrm flipV="1">
              <a:off x="1746" y="1434"/>
              <a:ext cx="0" cy="31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50" name="Line 11"/>
            <p:cNvSpPr>
              <a:spLocks noChangeShapeType="1"/>
            </p:cNvSpPr>
            <p:nvPr/>
          </p:nvSpPr>
          <p:spPr bwMode="auto">
            <a:xfrm flipV="1">
              <a:off x="1973" y="1207"/>
              <a:ext cx="0" cy="54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51" name="Text Box 12"/>
            <p:cNvSpPr txBox="1">
              <a:spLocks noChangeArrowheads="1"/>
            </p:cNvSpPr>
            <p:nvPr/>
          </p:nvSpPr>
          <p:spPr bwMode="auto">
            <a:xfrm>
              <a:off x="476" y="440"/>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ltLang="zh-CN" sz="2000" i="1" dirty="0">
                  <a:latin typeface="Times New Roman" pitchFamily="18" charset="0"/>
                </a:rPr>
                <a:t>y</a:t>
              </a:r>
            </a:p>
          </p:txBody>
        </p:sp>
        <p:sp>
          <p:nvSpPr>
            <p:cNvPr id="55352" name="Text Box 13"/>
            <p:cNvSpPr txBox="1">
              <a:spLocks noChangeArrowheads="1"/>
            </p:cNvSpPr>
            <p:nvPr/>
          </p:nvSpPr>
          <p:spPr bwMode="auto">
            <a:xfrm>
              <a:off x="1656" y="799"/>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kumimoji="1" lang="en-US" altLang="zh-CN" sz="2400" i="1" dirty="0">
                  <a:latin typeface="Times New Roman" pitchFamily="18" charset="0"/>
                </a:rPr>
                <a:t>y</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baseline="30000" dirty="0">
                  <a:latin typeface="Times New Roman" pitchFamily="18" charset="0"/>
                </a:rPr>
                <a:t>2</a:t>
              </a:r>
            </a:p>
          </p:txBody>
        </p:sp>
        <p:sp>
          <p:nvSpPr>
            <p:cNvPr id="55353" name="Line 14"/>
            <p:cNvSpPr>
              <a:spLocks noChangeShapeType="1"/>
            </p:cNvSpPr>
            <p:nvPr/>
          </p:nvSpPr>
          <p:spPr bwMode="auto">
            <a:xfrm flipV="1">
              <a:off x="431" y="1763"/>
              <a:ext cx="2267" cy="1"/>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dirty="0"/>
            </a:p>
          </p:txBody>
        </p:sp>
        <p:sp>
          <p:nvSpPr>
            <p:cNvPr id="55354" name="Text Box 15"/>
            <p:cNvSpPr txBox="1">
              <a:spLocks noChangeArrowheads="1"/>
            </p:cNvSpPr>
            <p:nvPr/>
          </p:nvSpPr>
          <p:spPr bwMode="auto">
            <a:xfrm>
              <a:off x="793" y="1773"/>
              <a:ext cx="21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    </a:t>
              </a:r>
              <a:r>
                <a:rPr lang="en-US" altLang="zh-CN" sz="2000" dirty="0">
                  <a:latin typeface="Times New Roman" pitchFamily="18" charset="0"/>
                </a:rPr>
                <a:t>8     13     19  24</a:t>
              </a:r>
              <a:r>
                <a:rPr lang="en-US" altLang="zh-CN" dirty="0">
                  <a:ea typeface="宋体" pitchFamily="2" charset="-122"/>
                </a:rPr>
                <a:t>            </a:t>
              </a:r>
              <a:r>
                <a:rPr lang="en-US" altLang="zh-CN" i="1" dirty="0">
                  <a:latin typeface="Times New Roman" pitchFamily="18" charset="0"/>
                  <a:ea typeface="宋体" pitchFamily="2" charset="-122"/>
                </a:rPr>
                <a:t> </a:t>
              </a:r>
              <a:r>
                <a:rPr lang="en-US" altLang="zh-CN" sz="2000" i="1" dirty="0">
                  <a:latin typeface="Times New Roman" pitchFamily="18" charset="0"/>
                </a:rPr>
                <a:t>x</a:t>
              </a:r>
            </a:p>
          </p:txBody>
        </p:sp>
        <p:sp>
          <p:nvSpPr>
            <p:cNvPr id="55355" name="Line 16"/>
            <p:cNvSpPr>
              <a:spLocks noChangeShapeType="1"/>
            </p:cNvSpPr>
            <p:nvPr/>
          </p:nvSpPr>
          <p:spPr bwMode="auto">
            <a:xfrm flipV="1">
              <a:off x="703" y="455"/>
              <a:ext cx="0" cy="1587"/>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dirty="0"/>
            </a:p>
          </p:txBody>
        </p:sp>
        <p:sp>
          <p:nvSpPr>
            <p:cNvPr id="55356" name="Arc 17"/>
            <p:cNvSpPr>
              <a:spLocks/>
            </p:cNvSpPr>
            <p:nvPr/>
          </p:nvSpPr>
          <p:spPr bwMode="auto">
            <a:xfrm flipV="1">
              <a:off x="703" y="436"/>
              <a:ext cx="1542" cy="1315"/>
            </a:xfrm>
            <a:custGeom>
              <a:avLst/>
              <a:gdLst>
                <a:gd name="T0" fmla="*/ 0 w 20978"/>
                <a:gd name="T1" fmla="*/ 0 h 21600"/>
                <a:gd name="T2" fmla="*/ 8 w 20978"/>
                <a:gd name="T3" fmla="*/ 4 h 21600"/>
                <a:gd name="T4" fmla="*/ 0 w 20978"/>
                <a:gd name="T5" fmla="*/ 5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lnTo>
                    <a:pt x="-1" y="0"/>
                  </a:lnTo>
                  <a:close/>
                </a:path>
              </a:pathLst>
            </a:custGeom>
            <a:noFill/>
            <a:ln w="1270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宋体" pitchFamily="2" charset="-122"/>
              </a:endParaRPr>
            </a:p>
          </p:txBody>
        </p:sp>
        <p:sp>
          <p:nvSpPr>
            <p:cNvPr id="55357" name="Oval 18"/>
            <p:cNvSpPr>
              <a:spLocks noChangeArrowheads="1"/>
            </p:cNvSpPr>
            <p:nvPr/>
          </p:nvSpPr>
          <p:spPr bwMode="auto">
            <a:xfrm>
              <a:off x="1701" y="1377"/>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58" name="Oval 19"/>
            <p:cNvSpPr>
              <a:spLocks noChangeArrowheads="1"/>
            </p:cNvSpPr>
            <p:nvPr/>
          </p:nvSpPr>
          <p:spPr bwMode="auto">
            <a:xfrm>
              <a:off x="1020" y="1661"/>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59" name="Oval 20"/>
            <p:cNvSpPr>
              <a:spLocks noChangeArrowheads="1"/>
            </p:cNvSpPr>
            <p:nvPr/>
          </p:nvSpPr>
          <p:spPr bwMode="auto">
            <a:xfrm>
              <a:off x="1338" y="1570"/>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60" name="Oval 21"/>
            <p:cNvSpPr>
              <a:spLocks noChangeArrowheads="1"/>
            </p:cNvSpPr>
            <p:nvPr/>
          </p:nvSpPr>
          <p:spPr bwMode="auto">
            <a:xfrm>
              <a:off x="1927" y="1162"/>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61" name="Text Box 22"/>
            <p:cNvSpPr txBox="1">
              <a:spLocks noChangeArrowheads="1"/>
            </p:cNvSpPr>
            <p:nvPr/>
          </p:nvSpPr>
          <p:spPr bwMode="auto">
            <a:xfrm>
              <a:off x="1156" y="2069"/>
              <a:ext cx="154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第一代种群及其适应度</a:t>
              </a:r>
            </a:p>
          </p:txBody>
        </p:sp>
      </p:grpSp>
      <p:grpSp>
        <p:nvGrpSpPr>
          <p:cNvPr id="55306" name="Group 23"/>
          <p:cNvGrpSpPr>
            <a:grpSpLocks/>
          </p:cNvGrpSpPr>
          <p:nvPr/>
        </p:nvGrpSpPr>
        <p:grpSpPr bwMode="auto">
          <a:xfrm>
            <a:off x="6745287" y="1043831"/>
            <a:ext cx="3959225" cy="2867025"/>
            <a:chOff x="2925" y="436"/>
            <a:chExt cx="2494" cy="1806"/>
          </a:xfrm>
        </p:grpSpPr>
        <p:sp>
          <p:nvSpPr>
            <p:cNvPr id="55335" name="Line 24"/>
            <p:cNvSpPr>
              <a:spLocks noChangeShapeType="1"/>
            </p:cNvSpPr>
            <p:nvPr/>
          </p:nvSpPr>
          <p:spPr bwMode="auto">
            <a:xfrm flipV="1">
              <a:off x="4513" y="1207"/>
              <a:ext cx="0" cy="5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36" name="Line 25"/>
            <p:cNvSpPr>
              <a:spLocks noChangeShapeType="1"/>
            </p:cNvSpPr>
            <p:nvPr/>
          </p:nvSpPr>
          <p:spPr bwMode="auto">
            <a:xfrm flipV="1">
              <a:off x="4080" y="1560"/>
              <a:ext cx="0" cy="1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37" name="Line 26"/>
            <p:cNvSpPr>
              <a:spLocks noChangeShapeType="1"/>
            </p:cNvSpPr>
            <p:nvPr/>
          </p:nvSpPr>
          <p:spPr bwMode="auto">
            <a:xfrm flipV="1">
              <a:off x="4649" y="935"/>
              <a:ext cx="0" cy="81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38" name="Text Box 27"/>
            <p:cNvSpPr txBox="1">
              <a:spLocks noChangeArrowheads="1"/>
            </p:cNvSpPr>
            <p:nvPr/>
          </p:nvSpPr>
          <p:spPr bwMode="auto">
            <a:xfrm>
              <a:off x="4150" y="799"/>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kumimoji="1" lang="en-US" altLang="zh-CN" sz="2400" i="1" dirty="0">
                  <a:latin typeface="Times New Roman" pitchFamily="18" charset="0"/>
                </a:rPr>
                <a:t>y</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baseline="30000" dirty="0">
                  <a:latin typeface="Times New Roman" pitchFamily="18" charset="0"/>
                </a:rPr>
                <a:t>2</a:t>
              </a:r>
            </a:p>
          </p:txBody>
        </p:sp>
        <p:sp>
          <p:nvSpPr>
            <p:cNvPr id="55339" name="Line 28"/>
            <p:cNvSpPr>
              <a:spLocks noChangeShapeType="1"/>
            </p:cNvSpPr>
            <p:nvPr/>
          </p:nvSpPr>
          <p:spPr bwMode="auto">
            <a:xfrm flipV="1">
              <a:off x="2925" y="1763"/>
              <a:ext cx="2267" cy="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dirty="0"/>
            </a:p>
          </p:txBody>
        </p:sp>
        <p:sp>
          <p:nvSpPr>
            <p:cNvPr id="55340" name="Text Box 29"/>
            <p:cNvSpPr txBox="1">
              <a:spLocks noChangeArrowheads="1"/>
            </p:cNvSpPr>
            <p:nvPr/>
          </p:nvSpPr>
          <p:spPr bwMode="auto">
            <a:xfrm>
              <a:off x="3334" y="1773"/>
              <a:ext cx="20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       </a:t>
              </a:r>
              <a:r>
                <a:rPr lang="en-US" altLang="zh-CN" sz="2000" dirty="0">
                  <a:latin typeface="Times New Roman" pitchFamily="18" charset="0"/>
                </a:rPr>
                <a:t>12    16      25 27</a:t>
              </a:r>
              <a:r>
                <a:rPr lang="en-US" altLang="zh-CN" dirty="0">
                  <a:ea typeface="宋体" pitchFamily="2" charset="-122"/>
                </a:rPr>
                <a:t>      </a:t>
              </a:r>
              <a:r>
                <a:rPr lang="en-US" altLang="zh-CN" i="1" dirty="0">
                  <a:latin typeface="Times New Roman" pitchFamily="18" charset="0"/>
                  <a:ea typeface="宋体" pitchFamily="2" charset="-122"/>
                </a:rPr>
                <a:t> </a:t>
              </a:r>
              <a:r>
                <a:rPr lang="en-US" altLang="zh-CN" sz="2000" i="1" dirty="0">
                  <a:latin typeface="Times New Roman" pitchFamily="18" charset="0"/>
                </a:rPr>
                <a:t>x</a:t>
              </a:r>
            </a:p>
          </p:txBody>
        </p:sp>
        <p:sp>
          <p:nvSpPr>
            <p:cNvPr id="55341" name="Text Box 30"/>
            <p:cNvSpPr txBox="1">
              <a:spLocks noChangeArrowheads="1"/>
            </p:cNvSpPr>
            <p:nvPr/>
          </p:nvSpPr>
          <p:spPr bwMode="auto">
            <a:xfrm>
              <a:off x="2970" y="440"/>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ltLang="zh-CN" sz="2000" i="1" dirty="0">
                  <a:latin typeface="Times New Roman" pitchFamily="18" charset="0"/>
                </a:rPr>
                <a:t>y</a:t>
              </a:r>
            </a:p>
          </p:txBody>
        </p:sp>
        <p:sp>
          <p:nvSpPr>
            <p:cNvPr id="55342" name="Line 31"/>
            <p:cNvSpPr>
              <a:spLocks noChangeShapeType="1"/>
            </p:cNvSpPr>
            <p:nvPr/>
          </p:nvSpPr>
          <p:spPr bwMode="auto">
            <a:xfrm flipV="1">
              <a:off x="3197" y="455"/>
              <a:ext cx="0" cy="1587"/>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dirty="0"/>
            </a:p>
          </p:txBody>
        </p:sp>
        <p:sp>
          <p:nvSpPr>
            <p:cNvPr id="55343" name="Arc 32"/>
            <p:cNvSpPr>
              <a:spLocks/>
            </p:cNvSpPr>
            <p:nvPr/>
          </p:nvSpPr>
          <p:spPr bwMode="auto">
            <a:xfrm flipV="1">
              <a:off x="3197" y="436"/>
              <a:ext cx="1542" cy="1315"/>
            </a:xfrm>
            <a:custGeom>
              <a:avLst/>
              <a:gdLst>
                <a:gd name="T0" fmla="*/ 0 w 20978"/>
                <a:gd name="T1" fmla="*/ 0 h 21600"/>
                <a:gd name="T2" fmla="*/ 8 w 20978"/>
                <a:gd name="T3" fmla="*/ 4 h 21600"/>
                <a:gd name="T4" fmla="*/ 0 w 20978"/>
                <a:gd name="T5" fmla="*/ 5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lnTo>
                    <a:pt x="-1" y="0"/>
                  </a:lnTo>
                  <a:close/>
                </a:path>
              </a:pathLst>
            </a:custGeom>
            <a:noFill/>
            <a:ln w="1270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宋体" pitchFamily="2" charset="-122"/>
              </a:endParaRPr>
            </a:p>
          </p:txBody>
        </p:sp>
        <p:sp>
          <p:nvSpPr>
            <p:cNvPr id="55344" name="Oval 33"/>
            <p:cNvSpPr>
              <a:spLocks noChangeArrowheads="1"/>
            </p:cNvSpPr>
            <p:nvPr/>
          </p:nvSpPr>
          <p:spPr bwMode="auto">
            <a:xfrm>
              <a:off x="4457" y="1140"/>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45" name="Oval 34"/>
            <p:cNvSpPr>
              <a:spLocks noChangeArrowheads="1"/>
            </p:cNvSpPr>
            <p:nvPr/>
          </p:nvSpPr>
          <p:spPr bwMode="auto">
            <a:xfrm>
              <a:off x="4024" y="1503"/>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46" name="Oval 35"/>
            <p:cNvSpPr>
              <a:spLocks noChangeArrowheads="1"/>
            </p:cNvSpPr>
            <p:nvPr/>
          </p:nvSpPr>
          <p:spPr bwMode="auto">
            <a:xfrm>
              <a:off x="4604" y="935"/>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47" name="Oval 36"/>
            <p:cNvSpPr>
              <a:spLocks noChangeArrowheads="1"/>
            </p:cNvSpPr>
            <p:nvPr/>
          </p:nvSpPr>
          <p:spPr bwMode="auto">
            <a:xfrm>
              <a:off x="3753" y="1603"/>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48" name="Text Box 37"/>
            <p:cNvSpPr txBox="1">
              <a:spLocks noChangeArrowheads="1"/>
            </p:cNvSpPr>
            <p:nvPr/>
          </p:nvSpPr>
          <p:spPr bwMode="auto">
            <a:xfrm>
              <a:off x="3560" y="2069"/>
              <a:ext cx="154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第二代种群及其适应度</a:t>
              </a:r>
            </a:p>
          </p:txBody>
        </p:sp>
      </p:grpSp>
      <p:grpSp>
        <p:nvGrpSpPr>
          <p:cNvPr id="55307" name="Group 38"/>
          <p:cNvGrpSpPr>
            <a:grpSpLocks/>
          </p:cNvGrpSpPr>
          <p:nvPr/>
        </p:nvGrpSpPr>
        <p:grpSpPr bwMode="auto">
          <a:xfrm>
            <a:off x="1775520" y="3890219"/>
            <a:ext cx="3689350" cy="2828925"/>
            <a:chOff x="420" y="2229"/>
            <a:chExt cx="2324" cy="1782"/>
          </a:xfrm>
        </p:grpSpPr>
        <p:grpSp>
          <p:nvGrpSpPr>
            <p:cNvPr id="55323" name="Group 39"/>
            <p:cNvGrpSpPr>
              <a:grpSpLocks/>
            </p:cNvGrpSpPr>
            <p:nvPr/>
          </p:nvGrpSpPr>
          <p:grpSpPr bwMode="auto">
            <a:xfrm>
              <a:off x="420" y="2229"/>
              <a:ext cx="2324" cy="1606"/>
              <a:chOff x="420" y="2229"/>
              <a:chExt cx="2324" cy="1606"/>
            </a:xfrm>
          </p:grpSpPr>
          <p:sp>
            <p:nvSpPr>
              <p:cNvPr id="55325" name="Text Box 40"/>
              <p:cNvSpPr txBox="1">
                <a:spLocks noChangeArrowheads="1"/>
              </p:cNvSpPr>
              <p:nvPr/>
            </p:nvSpPr>
            <p:spPr bwMode="auto">
              <a:xfrm>
                <a:off x="1645" y="2592"/>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kumimoji="1" lang="en-US" altLang="zh-CN" sz="2400" i="1" dirty="0">
                    <a:latin typeface="Times New Roman" pitchFamily="18" charset="0"/>
                  </a:rPr>
                  <a:t>y</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baseline="30000" dirty="0">
                    <a:latin typeface="Times New Roman" pitchFamily="18" charset="0"/>
                  </a:rPr>
                  <a:t>2</a:t>
                </a:r>
              </a:p>
            </p:txBody>
          </p:sp>
          <p:sp>
            <p:nvSpPr>
              <p:cNvPr id="55326" name="Line 41"/>
              <p:cNvSpPr>
                <a:spLocks noChangeShapeType="1"/>
              </p:cNvSpPr>
              <p:nvPr/>
            </p:nvSpPr>
            <p:spPr bwMode="auto">
              <a:xfrm flipV="1">
                <a:off x="420" y="3556"/>
                <a:ext cx="2267" cy="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dirty="0"/>
              </a:p>
            </p:txBody>
          </p:sp>
          <p:sp>
            <p:nvSpPr>
              <p:cNvPr id="55327" name="Text Box 42"/>
              <p:cNvSpPr txBox="1">
                <a:spLocks noChangeArrowheads="1"/>
              </p:cNvSpPr>
              <p:nvPr/>
            </p:nvSpPr>
            <p:spPr bwMode="auto">
              <a:xfrm>
                <a:off x="793" y="3566"/>
                <a:ext cx="19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       </a:t>
                </a:r>
                <a:r>
                  <a:rPr lang="en-US" altLang="zh-CN" sz="2000" dirty="0">
                    <a:latin typeface="Times New Roman" pitchFamily="18" charset="0"/>
                  </a:rPr>
                  <a:t>9           19  24 28</a:t>
                </a:r>
                <a:r>
                  <a:rPr lang="en-US" altLang="zh-CN" dirty="0">
                    <a:ea typeface="宋体" pitchFamily="2" charset="-122"/>
                  </a:rPr>
                  <a:t>      </a:t>
                </a:r>
                <a:r>
                  <a:rPr lang="en-US" altLang="zh-CN" i="1" dirty="0">
                    <a:latin typeface="Times New Roman" pitchFamily="18" charset="0"/>
                    <a:ea typeface="宋体" pitchFamily="2" charset="-122"/>
                  </a:rPr>
                  <a:t> </a:t>
                </a:r>
                <a:r>
                  <a:rPr lang="en-US" altLang="zh-CN" sz="2000" i="1" dirty="0">
                    <a:latin typeface="Times New Roman" pitchFamily="18" charset="0"/>
                  </a:rPr>
                  <a:t>x</a:t>
                </a:r>
              </a:p>
            </p:txBody>
          </p:sp>
          <p:sp>
            <p:nvSpPr>
              <p:cNvPr id="55328" name="Text Box 43"/>
              <p:cNvSpPr txBox="1">
                <a:spLocks noChangeArrowheads="1"/>
              </p:cNvSpPr>
              <p:nvPr/>
            </p:nvSpPr>
            <p:spPr bwMode="auto">
              <a:xfrm>
                <a:off x="465" y="2233"/>
                <a:ext cx="1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ltLang="zh-CN" sz="2000" i="1" dirty="0">
                    <a:latin typeface="Times New Roman" pitchFamily="18" charset="0"/>
                  </a:rPr>
                  <a:t>y</a:t>
                </a:r>
              </a:p>
            </p:txBody>
          </p:sp>
          <p:sp>
            <p:nvSpPr>
              <p:cNvPr id="55329" name="Line 44"/>
              <p:cNvSpPr>
                <a:spLocks noChangeShapeType="1"/>
              </p:cNvSpPr>
              <p:nvPr/>
            </p:nvSpPr>
            <p:spPr bwMode="auto">
              <a:xfrm flipV="1">
                <a:off x="692" y="2248"/>
                <a:ext cx="0" cy="1587"/>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dirty="0"/>
              </a:p>
            </p:txBody>
          </p:sp>
          <p:sp>
            <p:nvSpPr>
              <p:cNvPr id="55330" name="Arc 45"/>
              <p:cNvSpPr>
                <a:spLocks/>
              </p:cNvSpPr>
              <p:nvPr/>
            </p:nvSpPr>
            <p:spPr bwMode="auto">
              <a:xfrm flipV="1">
                <a:off x="692" y="2229"/>
                <a:ext cx="1542" cy="1315"/>
              </a:xfrm>
              <a:custGeom>
                <a:avLst/>
                <a:gdLst>
                  <a:gd name="T0" fmla="*/ 0 w 20978"/>
                  <a:gd name="T1" fmla="*/ 0 h 21600"/>
                  <a:gd name="T2" fmla="*/ 8 w 20978"/>
                  <a:gd name="T3" fmla="*/ 4 h 21600"/>
                  <a:gd name="T4" fmla="*/ 0 w 20978"/>
                  <a:gd name="T5" fmla="*/ 5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lnTo>
                      <a:pt x="-1" y="0"/>
                    </a:lnTo>
                    <a:close/>
                  </a:path>
                </a:pathLst>
              </a:custGeom>
              <a:noFill/>
              <a:ln w="1270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宋体" pitchFamily="2" charset="-122"/>
                </a:endParaRPr>
              </a:p>
            </p:txBody>
          </p:sp>
          <p:sp>
            <p:nvSpPr>
              <p:cNvPr id="55331" name="Oval 46"/>
              <p:cNvSpPr>
                <a:spLocks noChangeArrowheads="1"/>
              </p:cNvSpPr>
              <p:nvPr/>
            </p:nvSpPr>
            <p:spPr bwMode="auto">
              <a:xfrm>
                <a:off x="2106" y="2711"/>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32" name="Oval 47"/>
              <p:cNvSpPr>
                <a:spLocks noChangeArrowheads="1"/>
              </p:cNvSpPr>
              <p:nvPr/>
            </p:nvSpPr>
            <p:spPr bwMode="auto">
              <a:xfrm>
                <a:off x="1905" y="2998"/>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33" name="Oval 48"/>
              <p:cNvSpPr>
                <a:spLocks noChangeArrowheads="1"/>
              </p:cNvSpPr>
              <p:nvPr/>
            </p:nvSpPr>
            <p:spPr bwMode="auto">
              <a:xfrm>
                <a:off x="1693" y="3156"/>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34" name="Oval 49"/>
              <p:cNvSpPr>
                <a:spLocks noChangeArrowheads="1"/>
              </p:cNvSpPr>
              <p:nvPr/>
            </p:nvSpPr>
            <p:spPr bwMode="auto">
              <a:xfrm>
                <a:off x="1160" y="3417"/>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grpSp>
        <p:sp>
          <p:nvSpPr>
            <p:cNvPr id="55324" name="Text Box 50"/>
            <p:cNvSpPr txBox="1">
              <a:spLocks noChangeArrowheads="1"/>
            </p:cNvSpPr>
            <p:nvPr/>
          </p:nvSpPr>
          <p:spPr bwMode="auto">
            <a:xfrm>
              <a:off x="1111" y="3838"/>
              <a:ext cx="154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第三代种群及其适应度</a:t>
              </a:r>
            </a:p>
          </p:txBody>
        </p:sp>
      </p:grpSp>
      <p:grpSp>
        <p:nvGrpSpPr>
          <p:cNvPr id="55308" name="Group 51"/>
          <p:cNvGrpSpPr>
            <a:grpSpLocks/>
          </p:cNvGrpSpPr>
          <p:nvPr/>
        </p:nvGrpSpPr>
        <p:grpSpPr bwMode="auto">
          <a:xfrm>
            <a:off x="6818312" y="3852118"/>
            <a:ext cx="3781425" cy="2889250"/>
            <a:chOff x="2971" y="2205"/>
            <a:chExt cx="2382" cy="1820"/>
          </a:xfrm>
        </p:grpSpPr>
        <p:sp>
          <p:nvSpPr>
            <p:cNvPr id="55309" name="Line 52"/>
            <p:cNvSpPr>
              <a:spLocks noChangeShapeType="1"/>
            </p:cNvSpPr>
            <p:nvPr/>
          </p:nvSpPr>
          <p:spPr bwMode="auto">
            <a:xfrm flipV="1">
              <a:off x="4150" y="3294"/>
              <a:ext cx="0" cy="22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10" name="Text Box 53"/>
            <p:cNvSpPr txBox="1">
              <a:spLocks noChangeArrowheads="1"/>
            </p:cNvSpPr>
            <p:nvPr/>
          </p:nvSpPr>
          <p:spPr bwMode="auto">
            <a:xfrm>
              <a:off x="4196" y="2568"/>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kumimoji="1" lang="en-US" altLang="zh-CN" sz="2400" i="1" dirty="0">
                  <a:latin typeface="Times New Roman" pitchFamily="18" charset="0"/>
                </a:rPr>
                <a:t>y</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baseline="30000" dirty="0">
                  <a:latin typeface="Times New Roman" pitchFamily="18" charset="0"/>
                </a:rPr>
                <a:t>2</a:t>
              </a:r>
            </a:p>
          </p:txBody>
        </p:sp>
        <p:sp>
          <p:nvSpPr>
            <p:cNvPr id="55311" name="Line 54"/>
            <p:cNvSpPr>
              <a:spLocks noChangeShapeType="1"/>
            </p:cNvSpPr>
            <p:nvPr/>
          </p:nvSpPr>
          <p:spPr bwMode="auto">
            <a:xfrm flipV="1">
              <a:off x="2971" y="3532"/>
              <a:ext cx="2267" cy="0"/>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dirty="0"/>
            </a:p>
          </p:txBody>
        </p:sp>
        <p:sp>
          <p:nvSpPr>
            <p:cNvPr id="55312" name="Text Box 55"/>
            <p:cNvSpPr txBox="1">
              <a:spLocks noChangeArrowheads="1"/>
            </p:cNvSpPr>
            <p:nvPr/>
          </p:nvSpPr>
          <p:spPr bwMode="auto">
            <a:xfrm>
              <a:off x="3379" y="3542"/>
              <a:ext cx="19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               </a:t>
              </a:r>
              <a:r>
                <a:rPr lang="en-US" altLang="zh-CN" sz="2000" dirty="0">
                  <a:latin typeface="Times New Roman" pitchFamily="18" charset="0"/>
                </a:rPr>
                <a:t>16     24 28 31</a:t>
              </a:r>
              <a:r>
                <a:rPr lang="en-US" altLang="zh-CN" dirty="0">
                  <a:ea typeface="宋体" pitchFamily="2" charset="-122"/>
                </a:rPr>
                <a:t>   </a:t>
              </a:r>
              <a:r>
                <a:rPr lang="en-US" altLang="zh-CN" i="1" dirty="0">
                  <a:latin typeface="Times New Roman" pitchFamily="18" charset="0"/>
                  <a:ea typeface="宋体" pitchFamily="2" charset="-122"/>
                </a:rPr>
                <a:t> </a:t>
              </a:r>
              <a:r>
                <a:rPr lang="en-US" altLang="zh-CN" sz="2000" i="1" dirty="0">
                  <a:latin typeface="Times New Roman" pitchFamily="18" charset="0"/>
                </a:rPr>
                <a:t>x</a:t>
              </a:r>
            </a:p>
          </p:txBody>
        </p:sp>
        <p:sp>
          <p:nvSpPr>
            <p:cNvPr id="55313" name="Line 56"/>
            <p:cNvSpPr>
              <a:spLocks noChangeShapeType="1"/>
            </p:cNvSpPr>
            <p:nvPr/>
          </p:nvSpPr>
          <p:spPr bwMode="auto">
            <a:xfrm flipV="1">
              <a:off x="3243" y="2224"/>
              <a:ext cx="0" cy="1587"/>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dirty="0"/>
            </a:p>
          </p:txBody>
        </p:sp>
        <p:sp>
          <p:nvSpPr>
            <p:cNvPr id="55314" name="Arc 57"/>
            <p:cNvSpPr>
              <a:spLocks/>
            </p:cNvSpPr>
            <p:nvPr/>
          </p:nvSpPr>
          <p:spPr bwMode="auto">
            <a:xfrm flipV="1">
              <a:off x="3243" y="2205"/>
              <a:ext cx="1542" cy="1315"/>
            </a:xfrm>
            <a:custGeom>
              <a:avLst/>
              <a:gdLst>
                <a:gd name="T0" fmla="*/ 0 w 20978"/>
                <a:gd name="T1" fmla="*/ 0 h 21600"/>
                <a:gd name="T2" fmla="*/ 8 w 20978"/>
                <a:gd name="T3" fmla="*/ 4 h 21600"/>
                <a:gd name="T4" fmla="*/ 0 w 20978"/>
                <a:gd name="T5" fmla="*/ 5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lnTo>
                    <a:pt x="-1" y="0"/>
                  </a:lnTo>
                  <a:close/>
                </a:path>
              </a:pathLst>
            </a:custGeom>
            <a:noFill/>
            <a:ln w="1270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宋体" pitchFamily="2" charset="-122"/>
              </a:endParaRPr>
            </a:p>
          </p:txBody>
        </p:sp>
        <p:sp>
          <p:nvSpPr>
            <p:cNvPr id="55315" name="Line 58"/>
            <p:cNvSpPr>
              <a:spLocks noChangeShapeType="1"/>
            </p:cNvSpPr>
            <p:nvPr/>
          </p:nvSpPr>
          <p:spPr bwMode="auto">
            <a:xfrm>
              <a:off x="4785" y="2523"/>
              <a:ext cx="0" cy="9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16" name="Oval 59"/>
            <p:cNvSpPr>
              <a:spLocks noChangeArrowheads="1"/>
            </p:cNvSpPr>
            <p:nvPr/>
          </p:nvSpPr>
          <p:spPr bwMode="auto">
            <a:xfrm>
              <a:off x="4105" y="3249"/>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17" name="Line 60"/>
            <p:cNvSpPr>
              <a:spLocks noChangeShapeType="1"/>
            </p:cNvSpPr>
            <p:nvPr/>
          </p:nvSpPr>
          <p:spPr bwMode="auto">
            <a:xfrm flipV="1">
              <a:off x="4694" y="2750"/>
              <a:ext cx="0" cy="771"/>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18" name="Line 61"/>
            <p:cNvSpPr>
              <a:spLocks noChangeShapeType="1"/>
            </p:cNvSpPr>
            <p:nvPr/>
          </p:nvSpPr>
          <p:spPr bwMode="auto">
            <a:xfrm flipV="1">
              <a:off x="4522" y="2962"/>
              <a:ext cx="0" cy="54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55319" name="Oval 62"/>
            <p:cNvSpPr>
              <a:spLocks noChangeArrowheads="1"/>
            </p:cNvSpPr>
            <p:nvPr/>
          </p:nvSpPr>
          <p:spPr bwMode="auto">
            <a:xfrm>
              <a:off x="4468" y="2931"/>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20" name="Oval 63"/>
            <p:cNvSpPr>
              <a:spLocks noChangeArrowheads="1"/>
            </p:cNvSpPr>
            <p:nvPr/>
          </p:nvSpPr>
          <p:spPr bwMode="auto">
            <a:xfrm>
              <a:off x="4649" y="2704"/>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21" name="Oval 64"/>
            <p:cNvSpPr>
              <a:spLocks noChangeArrowheads="1"/>
            </p:cNvSpPr>
            <p:nvPr/>
          </p:nvSpPr>
          <p:spPr bwMode="auto">
            <a:xfrm>
              <a:off x="4740" y="2478"/>
              <a:ext cx="91" cy="91"/>
            </a:xfrm>
            <a:prstGeom prst="ellipse">
              <a:avLst/>
            </a:prstGeom>
            <a:solidFill>
              <a:schemeClr val="accent1"/>
            </a:solidFill>
            <a:ln w="9525">
              <a:solidFill>
                <a:schemeClr val="tx1"/>
              </a:solidFill>
              <a:round/>
              <a:headEnd/>
              <a:tailEnd/>
            </a:ln>
          </p:spPr>
          <p:txBody>
            <a:bodyPr wrap="none" anchor="ctr"/>
            <a:lstStyle/>
            <a:p>
              <a:endParaRPr lang="zh-CN" altLang="en-US" dirty="0">
                <a:ea typeface="宋体" pitchFamily="2" charset="-122"/>
              </a:endParaRPr>
            </a:p>
          </p:txBody>
        </p:sp>
        <p:sp>
          <p:nvSpPr>
            <p:cNvPr id="55322" name="Text Box 65"/>
            <p:cNvSpPr txBox="1">
              <a:spLocks noChangeArrowheads="1"/>
            </p:cNvSpPr>
            <p:nvPr/>
          </p:nvSpPr>
          <p:spPr bwMode="auto">
            <a:xfrm>
              <a:off x="3662" y="3852"/>
              <a:ext cx="154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zh-CN" altLang="en-US" dirty="0">
                  <a:ea typeface="宋体" pitchFamily="2" charset="-122"/>
                </a:rPr>
                <a:t>第四代种群及其适应度</a:t>
              </a:r>
            </a:p>
          </p:txBody>
        </p:sp>
      </p:grpSp>
      <p:sp>
        <p:nvSpPr>
          <p:cNvPr id="2" name="Rectangle 4">
            <a:extLst>
              <a:ext uri="{FF2B5EF4-FFF2-40B4-BE49-F238E27FC236}">
                <a16:creationId xmlns:a16="http://schemas.microsoft.com/office/drawing/2014/main" id="{AD88B6DC-B8FF-CFCB-F057-5A465DA1C07A}"/>
              </a:ext>
            </a:extLst>
          </p:cNvPr>
          <p:cNvSpPr>
            <a:spLocks noChangeArrowheads="1"/>
          </p:cNvSpPr>
          <p:nvPr/>
        </p:nvSpPr>
        <p:spPr bwMode="auto">
          <a:xfrm>
            <a:off x="1919536" y="404665"/>
            <a:ext cx="774712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dirty="0">
                <a:solidFill>
                  <a:srgbClr val="008000"/>
                </a:solidFill>
                <a:latin typeface="黑体" panose="02010609060101010101" pitchFamily="49" charset="-122"/>
                <a:ea typeface="黑体" panose="02010609060101010101" pitchFamily="49" charset="-122"/>
              </a:rPr>
              <a:t>遗传算法简单举例：函数极值</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3" name="灯片编号占位符 2">
            <a:extLst>
              <a:ext uri="{FF2B5EF4-FFF2-40B4-BE49-F238E27FC236}">
                <a16:creationId xmlns:a16="http://schemas.microsoft.com/office/drawing/2014/main" id="{CA9D5DFF-0496-BB32-BFEB-5EE804CEC78B}"/>
              </a:ext>
            </a:extLst>
          </p:cNvPr>
          <p:cNvSpPr>
            <a:spLocks noGrp="1"/>
          </p:cNvSpPr>
          <p:nvPr>
            <p:ph type="sldNum" sz="quarter" idx="11"/>
          </p:nvPr>
        </p:nvSpPr>
        <p:spPr/>
        <p:txBody>
          <a:bodyPr/>
          <a:lstStyle/>
          <a:p>
            <a:pPr>
              <a:defRPr/>
            </a:pPr>
            <a:fld id="{E0FB5469-1AEB-496D-971A-66705BF2F73C}" type="slidenum">
              <a:rPr lang="en-US" altLang="zh-CN" smtClean="0"/>
              <a:pPr>
                <a:defRPr/>
              </a:pPr>
              <a:t>30</a:t>
            </a:fld>
            <a:endParaRPr lang="en-US" altLang="zh-CN"/>
          </a:p>
        </p:txBody>
      </p:sp>
    </p:spTree>
    <p:extLst>
      <p:ext uri="{BB962C8B-B14F-4D97-AF65-F5344CB8AC3E}">
        <p14:creationId xmlns:p14="http://schemas.microsoft.com/office/powerpoint/2010/main" val="411105416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585124" y="103723"/>
            <a:ext cx="109728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应用举例</a:t>
            </a:r>
            <a:r>
              <a:rPr lang="en-US" altLang="zh-CN" dirty="0">
                <a:solidFill>
                  <a:srgbClr val="008000"/>
                </a:solidFill>
                <a:latin typeface="黑体" panose="02010609060101010101" pitchFamily="49" charset="-122"/>
                <a:ea typeface="黑体" panose="02010609060101010101" pitchFamily="49" charset="-122"/>
              </a:rPr>
              <a:t>2</a:t>
            </a:r>
            <a:endParaRPr lang="zh-CN" altLang="en-US" dirty="0">
              <a:solidFill>
                <a:srgbClr val="008000"/>
              </a:solidFill>
              <a:latin typeface="黑体" panose="02010609060101010101" pitchFamily="49" charset="-122"/>
              <a:ea typeface="黑体" panose="02010609060101010101" pitchFamily="49" charset="-122"/>
            </a:endParaRPr>
          </a:p>
        </p:txBody>
      </p:sp>
      <p:sp>
        <p:nvSpPr>
          <p:cNvPr id="12" name="内容占位符 11">
            <a:extLst>
              <a:ext uri="{FF2B5EF4-FFF2-40B4-BE49-F238E27FC236}">
                <a16:creationId xmlns:a16="http://schemas.microsoft.com/office/drawing/2014/main" id="{3067B8F9-9247-9D34-0DE7-C61BEFE1264C}"/>
              </a:ext>
            </a:extLst>
          </p:cNvPr>
          <p:cNvSpPr>
            <a:spLocks noGrp="1"/>
          </p:cNvSpPr>
          <p:nvPr>
            <p:ph idx="1"/>
          </p:nvPr>
        </p:nvSpPr>
        <p:spPr>
          <a:xfrm>
            <a:off x="725916" y="2838595"/>
            <a:ext cx="10972800" cy="3886200"/>
          </a:xfrm>
        </p:spPr>
        <p:txBody>
          <a:bodyPr/>
          <a:lstStyle/>
          <a:p>
            <a:r>
              <a:rPr lang="zh-CN" altLang="en-US" sz="2800" dirty="0"/>
              <a:t>假设群体规模为</a:t>
            </a:r>
            <a:r>
              <a:rPr lang="en-US" altLang="zh-CN" sz="2800" dirty="0"/>
              <a:t>5</a:t>
            </a:r>
            <a:r>
              <a:rPr lang="zh-CN" altLang="en-US" sz="2800" dirty="0"/>
              <a:t>；</a:t>
            </a:r>
            <a:endParaRPr lang="en-US" altLang="zh-CN" sz="2800" dirty="0"/>
          </a:p>
          <a:p>
            <a:r>
              <a:rPr lang="zh-CN" altLang="en-US" sz="2800" dirty="0"/>
              <a:t>使用浮点数编码构造染色体，即每个染色体以形式</a:t>
            </a:r>
            <a:r>
              <a:rPr lang="en-US" altLang="zh-CN" sz="2800" dirty="0"/>
              <a:t>(x1,x2,x3,x4) </a:t>
            </a:r>
            <a:r>
              <a:rPr lang="zh-CN" altLang="en-US" sz="2800" dirty="0"/>
              <a:t>表示。初始化群体的染色体，得到</a:t>
            </a:r>
            <a:r>
              <a:rPr lang="en-US" altLang="zh-CN" sz="2800" dirty="0"/>
              <a:t>:</a:t>
            </a:r>
            <a:endParaRPr lang="zh-CN" altLang="en-US" sz="2800" dirty="0"/>
          </a:p>
        </p:txBody>
      </p:sp>
      <p:sp>
        <p:nvSpPr>
          <p:cNvPr id="3" name="灯片编号占位符 2">
            <a:extLst>
              <a:ext uri="{FF2B5EF4-FFF2-40B4-BE49-F238E27FC236}">
                <a16:creationId xmlns:a16="http://schemas.microsoft.com/office/drawing/2014/main" id="{7804BF54-5C14-73BF-1A02-5C9C5B066C24}"/>
              </a:ext>
            </a:extLst>
          </p:cNvPr>
          <p:cNvSpPr>
            <a:spLocks noGrp="1"/>
          </p:cNvSpPr>
          <p:nvPr>
            <p:ph type="sldNum" sz="quarter" idx="11"/>
          </p:nvPr>
        </p:nvSpPr>
        <p:spPr/>
        <p:txBody>
          <a:bodyPr/>
          <a:lstStyle/>
          <a:p>
            <a:pPr>
              <a:defRPr/>
            </a:pPr>
            <a:fld id="{78D790EF-66D8-41F5-A04A-4E0BA9DEB82D}" type="slidenum">
              <a:rPr lang="en-US" altLang="zh-CN" smtClean="0"/>
              <a:pPr>
                <a:defRPr/>
              </a:pPr>
              <a:t>31</a:t>
            </a:fld>
            <a:endParaRPr lang="en-US" altLang="zh-CN"/>
          </a:p>
        </p:txBody>
      </p:sp>
      <p:graphicFrame>
        <p:nvGraphicFramePr>
          <p:cNvPr id="14" name="Object 7"/>
          <p:cNvGraphicFramePr>
            <a:graphicFrameLocks noChangeAspect="1"/>
          </p:cNvGraphicFramePr>
          <p:nvPr>
            <p:extLst>
              <p:ext uri="{D42A27DB-BD31-4B8C-83A1-F6EECF244321}">
                <p14:modId xmlns:p14="http://schemas.microsoft.com/office/powerpoint/2010/main" val="3531196043"/>
              </p:ext>
            </p:extLst>
          </p:nvPr>
        </p:nvGraphicFramePr>
        <p:xfrm>
          <a:off x="1250918" y="1354928"/>
          <a:ext cx="9690164" cy="955505"/>
        </p:xfrm>
        <a:graphic>
          <a:graphicData uri="http://schemas.openxmlformats.org/presentationml/2006/ole">
            <mc:AlternateContent xmlns:mc="http://schemas.openxmlformats.org/markup-compatibility/2006">
              <mc:Choice xmlns:v="urn:schemas-microsoft-com:vml" Requires="v">
                <p:oleObj name="Equation" r:id="rId2" imgW="4381200" imgH="431640" progId="Equation.DSMT4">
                  <p:embed/>
                </p:oleObj>
              </mc:Choice>
              <mc:Fallback>
                <p:oleObj name="Equation" r:id="rId2" imgW="4381200" imgH="431640" progId="Equation.DSMT4">
                  <p:embed/>
                  <p:pic>
                    <p:nvPicPr>
                      <p:cNvPr id="14" name="Object 7"/>
                      <p:cNvPicPr>
                        <a:picLocks noChangeAspect="1" noChangeArrowheads="1"/>
                      </p:cNvPicPr>
                      <p:nvPr/>
                    </p:nvPicPr>
                    <p:blipFill>
                      <a:blip r:embed="rId3"/>
                      <a:srcRect/>
                      <a:stretch>
                        <a:fillRect/>
                      </a:stretch>
                    </p:blipFill>
                    <p:spPr bwMode="auto">
                      <a:xfrm>
                        <a:off x="1250918" y="1354928"/>
                        <a:ext cx="9690164" cy="955505"/>
                      </a:xfrm>
                      <a:prstGeom prst="rect">
                        <a:avLst/>
                      </a:prstGeom>
                      <a:noFill/>
                    </p:spPr>
                  </p:pic>
                </p:oleObj>
              </mc:Fallback>
            </mc:AlternateContent>
          </a:graphicData>
        </a:graphic>
      </p:graphicFrame>
      <p:sp>
        <p:nvSpPr>
          <p:cNvPr id="2" name="矩形 1"/>
          <p:cNvSpPr/>
          <p:nvPr/>
        </p:nvSpPr>
        <p:spPr>
          <a:xfrm>
            <a:off x="705091" y="2185261"/>
            <a:ext cx="2852063" cy="584775"/>
          </a:xfrm>
          <a:prstGeom prst="rect">
            <a:avLst/>
          </a:prstGeom>
          <a:solidFill>
            <a:schemeClr val="bg1"/>
          </a:solidFill>
        </p:spPr>
        <p:txBody>
          <a:bodyPr wrap="none">
            <a:spAutoFit/>
          </a:bodyPr>
          <a:lstStyle/>
          <a:p>
            <a:r>
              <a:rPr lang="zh-CN" altLang="en-US" sz="3200" dirty="0">
                <a:solidFill>
                  <a:srgbClr val="008000"/>
                </a:solidFill>
                <a:latin typeface="黑体" panose="02010609060101010101" pitchFamily="49" charset="-122"/>
                <a:ea typeface="黑体" panose="02010609060101010101" pitchFamily="49" charset="-122"/>
              </a:rPr>
              <a:t>步骤</a:t>
            </a:r>
            <a:r>
              <a:rPr lang="en-US" altLang="zh-CN" sz="3200" dirty="0">
                <a:solidFill>
                  <a:srgbClr val="008000"/>
                </a:solidFill>
                <a:latin typeface="黑体" panose="02010609060101010101" pitchFamily="49" charset="-122"/>
                <a:ea typeface="黑体" panose="02010609060101010101" pitchFamily="49" charset="-122"/>
              </a:rPr>
              <a:t>1: </a:t>
            </a:r>
            <a:r>
              <a:rPr lang="zh-CN" altLang="en-US" sz="3200" dirty="0">
                <a:solidFill>
                  <a:srgbClr val="008000"/>
                </a:solidFill>
                <a:latin typeface="黑体" panose="02010609060101010101" pitchFamily="49" charset="-122"/>
                <a:ea typeface="黑体" panose="02010609060101010101" pitchFamily="49" charset="-122"/>
              </a:rPr>
              <a:t>初始化</a:t>
            </a:r>
            <a:endParaRPr lang="zh-CN" altLang="en-US" dirty="0"/>
          </a:p>
        </p:txBody>
      </p:sp>
      <p:pic>
        <p:nvPicPr>
          <p:cNvPr id="11" name="图片 10" descr="文本&#10;&#10;AI 生成的内容可能不正确。">
            <a:extLst>
              <a:ext uri="{FF2B5EF4-FFF2-40B4-BE49-F238E27FC236}">
                <a16:creationId xmlns:a16="http://schemas.microsoft.com/office/drawing/2014/main" id="{AC56B76B-EB72-8250-B573-B97BFAAF6181}"/>
              </a:ext>
            </a:extLst>
          </p:cNvPr>
          <p:cNvPicPr>
            <a:picLocks noChangeAspect="1"/>
          </p:cNvPicPr>
          <p:nvPr/>
        </p:nvPicPr>
        <p:blipFill>
          <a:blip r:embed="rId4">
            <a:extLst>
              <a:ext uri="{28A0092B-C50C-407E-A947-70E740481C1C}">
                <a14:useLocalDpi xmlns:a14="http://schemas.microsoft.com/office/drawing/2010/main" val="0"/>
              </a:ext>
            </a:extLst>
          </a:blip>
          <a:srcRect l="2074"/>
          <a:stretch>
            <a:fillRect/>
          </a:stretch>
        </p:blipFill>
        <p:spPr>
          <a:xfrm>
            <a:off x="1415480" y="4330144"/>
            <a:ext cx="6802490" cy="2342664"/>
          </a:xfrm>
          <a:prstGeom prst="rect">
            <a:avLst/>
          </a:prstGeom>
        </p:spPr>
      </p:pic>
    </p:spTree>
    <p:extLst>
      <p:ext uri="{BB962C8B-B14F-4D97-AF65-F5344CB8AC3E}">
        <p14:creationId xmlns:p14="http://schemas.microsoft.com/office/powerpoint/2010/main" val="11282408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wipe(left)">
                                      <p:cBhvr>
                                        <p:cTn id="17" dur="500"/>
                                        <p:tgtEl>
                                          <p:spTgt spid="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1981200" y="260648"/>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步骤</a:t>
            </a:r>
            <a:r>
              <a:rPr lang="en-US" altLang="zh-CN" dirty="0">
                <a:solidFill>
                  <a:srgbClr val="008000"/>
                </a:solidFill>
                <a:latin typeface="黑体" panose="02010609060101010101" pitchFamily="49" charset="-122"/>
                <a:ea typeface="黑体" panose="02010609060101010101" pitchFamily="49" charset="-122"/>
              </a:rPr>
              <a:t>2: </a:t>
            </a:r>
            <a:r>
              <a:rPr lang="zh-CN" altLang="en-US" dirty="0">
                <a:solidFill>
                  <a:srgbClr val="008000"/>
                </a:solidFill>
                <a:latin typeface="黑体" panose="02010609060101010101" pitchFamily="49" charset="-122"/>
                <a:ea typeface="黑体" panose="02010609060101010101" pitchFamily="49" charset="-122"/>
              </a:rPr>
              <a:t>适应值评价</a:t>
            </a:r>
          </a:p>
        </p:txBody>
      </p:sp>
      <p:sp>
        <p:nvSpPr>
          <p:cNvPr id="2" name="灯片编号占位符 1">
            <a:extLst>
              <a:ext uri="{FF2B5EF4-FFF2-40B4-BE49-F238E27FC236}">
                <a16:creationId xmlns:a16="http://schemas.microsoft.com/office/drawing/2014/main" id="{6D9B1ABA-A7ED-0DA6-199E-0C2015A7EF29}"/>
              </a:ext>
            </a:extLst>
          </p:cNvPr>
          <p:cNvSpPr>
            <a:spLocks noGrp="1"/>
          </p:cNvSpPr>
          <p:nvPr>
            <p:ph type="sldNum" sz="quarter" idx="11"/>
          </p:nvPr>
        </p:nvSpPr>
        <p:spPr/>
        <p:txBody>
          <a:bodyPr/>
          <a:lstStyle/>
          <a:p>
            <a:pPr>
              <a:defRPr/>
            </a:pPr>
            <a:fld id="{FEF569DF-D019-4843-B296-F7B6269C71E5}" type="slidenum">
              <a:rPr lang="en-US" altLang="zh-CN" smtClean="0"/>
              <a:pPr>
                <a:defRPr/>
              </a:pPr>
              <a:t>32</a:t>
            </a:fld>
            <a:endParaRPr lang="en-US" altLang="zh-CN"/>
          </a:p>
        </p:txBody>
      </p:sp>
      <p:sp>
        <p:nvSpPr>
          <p:cNvPr id="4" name="矩形 3">
            <a:extLst>
              <a:ext uri="{FF2B5EF4-FFF2-40B4-BE49-F238E27FC236}">
                <a16:creationId xmlns:a16="http://schemas.microsoft.com/office/drawing/2014/main" id="{298B6526-1BE3-B29C-35CC-EB1A8992C879}"/>
              </a:ext>
            </a:extLst>
          </p:cNvPr>
          <p:cNvSpPr/>
          <p:nvPr/>
        </p:nvSpPr>
        <p:spPr>
          <a:xfrm>
            <a:off x="983432" y="1632248"/>
            <a:ext cx="4022757" cy="584775"/>
          </a:xfrm>
          <a:prstGeom prst="rect">
            <a:avLst/>
          </a:prstGeom>
          <a:solidFill>
            <a:schemeClr val="bg1"/>
          </a:solidFill>
        </p:spPr>
        <p:txBody>
          <a:bodyPr wrap="square">
            <a:spAutoFit/>
          </a:bodyPr>
          <a:lstStyle/>
          <a:p>
            <a:r>
              <a:rPr lang="zh-CN" altLang="en-US" sz="3200" dirty="0">
                <a:solidFill>
                  <a:srgbClr val="008000"/>
                </a:solidFill>
                <a:latin typeface="黑体" panose="02010609060101010101" pitchFamily="49" charset="-122"/>
                <a:ea typeface="黑体" panose="02010609060101010101" pitchFamily="49" charset="-122"/>
              </a:rPr>
              <a:t>步骤</a:t>
            </a:r>
            <a:r>
              <a:rPr lang="en-US" altLang="zh-CN" sz="3200" dirty="0">
                <a:solidFill>
                  <a:srgbClr val="008000"/>
                </a:solidFill>
                <a:latin typeface="黑体" panose="02010609060101010101" pitchFamily="49" charset="-122"/>
                <a:ea typeface="黑体" panose="02010609060101010101" pitchFamily="49" charset="-122"/>
              </a:rPr>
              <a:t>2: </a:t>
            </a:r>
            <a:r>
              <a:rPr lang="zh-CN" altLang="en-US" sz="3200" dirty="0">
                <a:solidFill>
                  <a:srgbClr val="008000"/>
                </a:solidFill>
                <a:latin typeface="黑体" panose="02010609060101010101" pitchFamily="49" charset="-122"/>
                <a:ea typeface="黑体" panose="02010609060101010101" pitchFamily="49" charset="-122"/>
              </a:rPr>
              <a:t>适应值评价</a:t>
            </a:r>
            <a:endParaRPr lang="zh-CN" altLang="en-US" dirty="0"/>
          </a:p>
        </p:txBody>
      </p:sp>
      <p:graphicFrame>
        <p:nvGraphicFramePr>
          <p:cNvPr id="5" name="Object 7">
            <a:extLst>
              <a:ext uri="{FF2B5EF4-FFF2-40B4-BE49-F238E27FC236}">
                <a16:creationId xmlns:a16="http://schemas.microsoft.com/office/drawing/2014/main" id="{DD0E9779-F5EC-2B26-48F8-2DC5543A12E7}"/>
              </a:ext>
            </a:extLst>
          </p:cNvPr>
          <p:cNvGraphicFramePr>
            <a:graphicFrameLocks noChangeAspect="1"/>
          </p:cNvGraphicFramePr>
          <p:nvPr>
            <p:extLst>
              <p:ext uri="{D42A27DB-BD31-4B8C-83A1-F6EECF244321}">
                <p14:modId xmlns:p14="http://schemas.microsoft.com/office/powerpoint/2010/main" val="1554214772"/>
              </p:ext>
            </p:extLst>
          </p:nvPr>
        </p:nvGraphicFramePr>
        <p:xfrm>
          <a:off x="1981200" y="2287003"/>
          <a:ext cx="7105650" cy="1517650"/>
        </p:xfrm>
        <a:graphic>
          <a:graphicData uri="http://schemas.openxmlformats.org/presentationml/2006/ole">
            <mc:AlternateContent xmlns:mc="http://schemas.openxmlformats.org/markup-compatibility/2006">
              <mc:Choice xmlns:v="urn:schemas-microsoft-com:vml" Requires="v">
                <p:oleObj name="Equation" r:id="rId2" imgW="3213000" imgH="685800" progId="Equation.DSMT4">
                  <p:embed/>
                </p:oleObj>
              </mc:Choice>
              <mc:Fallback>
                <p:oleObj name="Equation" r:id="rId2" imgW="3213000" imgH="685800" progId="Equation.DSMT4">
                  <p:embed/>
                  <p:pic>
                    <p:nvPicPr>
                      <p:cNvPr id="14" name="Object 7"/>
                      <p:cNvPicPr>
                        <a:picLocks noChangeAspect="1" noChangeArrowheads="1"/>
                      </p:cNvPicPr>
                      <p:nvPr/>
                    </p:nvPicPr>
                    <p:blipFill>
                      <a:blip r:embed="rId3"/>
                      <a:srcRect/>
                      <a:stretch>
                        <a:fillRect/>
                      </a:stretch>
                    </p:blipFill>
                    <p:spPr bwMode="auto">
                      <a:xfrm>
                        <a:off x="1981200" y="2287003"/>
                        <a:ext cx="7105650" cy="1517650"/>
                      </a:xfrm>
                      <a:prstGeom prst="rect">
                        <a:avLst/>
                      </a:prstGeom>
                      <a:noFill/>
                    </p:spPr>
                  </p:pic>
                </p:oleObj>
              </mc:Fallback>
            </mc:AlternateContent>
          </a:graphicData>
        </a:graphic>
      </p:graphicFrame>
      <p:pic>
        <p:nvPicPr>
          <p:cNvPr id="7" name="图片 6" descr="文本&#10;&#10;AI 生成的内容可能不正确。">
            <a:extLst>
              <a:ext uri="{FF2B5EF4-FFF2-40B4-BE49-F238E27FC236}">
                <a16:creationId xmlns:a16="http://schemas.microsoft.com/office/drawing/2014/main" id="{9B1C340B-5DC0-069F-1FE2-3BA8EC9213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6081" y="3804653"/>
            <a:ext cx="8779838" cy="3053347"/>
          </a:xfrm>
          <a:prstGeom prst="rect">
            <a:avLst/>
          </a:prstGeom>
        </p:spPr>
      </p:pic>
    </p:spTree>
    <p:extLst>
      <p:ext uri="{BB962C8B-B14F-4D97-AF65-F5344CB8AC3E}">
        <p14:creationId xmlns:p14="http://schemas.microsoft.com/office/powerpoint/2010/main" val="353768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E4381D6-D3E2-8FE0-3290-68E8D471B47D}"/>
              </a:ext>
            </a:extLst>
          </p:cNvPr>
          <p:cNvSpPr/>
          <p:nvPr/>
        </p:nvSpPr>
        <p:spPr>
          <a:xfrm>
            <a:off x="8414644" y="3668914"/>
            <a:ext cx="3167756" cy="2304288"/>
          </a:xfrm>
          <a:prstGeom prst="rect">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03426" name="Rectangle 2"/>
          <p:cNvSpPr>
            <a:spLocks noGrp="1" noChangeArrowheads="1"/>
          </p:cNvSpPr>
          <p:nvPr>
            <p:ph type="title"/>
          </p:nvPr>
        </p:nvSpPr>
        <p:spPr>
          <a:xfrm>
            <a:off x="609600" y="295925"/>
            <a:ext cx="10972800" cy="1371600"/>
          </a:xfrm>
        </p:spPr>
        <p:txBody>
          <a:bodyPr/>
          <a:lstStyle/>
          <a:p>
            <a:pPr algn="l"/>
            <a:r>
              <a:rPr lang="zh-CN" altLang="en-US" sz="4000" dirty="0">
                <a:solidFill>
                  <a:srgbClr val="008000"/>
                </a:solidFill>
                <a:latin typeface="黑体" panose="02010609060101010101" pitchFamily="49" charset="-122"/>
                <a:ea typeface="黑体" panose="02010609060101010101" pitchFamily="49" charset="-122"/>
              </a:rPr>
              <a:t>步骤</a:t>
            </a:r>
            <a:r>
              <a:rPr lang="en-US" altLang="zh-CN" sz="4000" dirty="0">
                <a:solidFill>
                  <a:srgbClr val="008000"/>
                </a:solidFill>
                <a:latin typeface="黑体" panose="02010609060101010101" pitchFamily="49" charset="-122"/>
                <a:ea typeface="黑体" panose="02010609060101010101" pitchFamily="49" charset="-122"/>
              </a:rPr>
              <a:t>3: </a:t>
            </a:r>
            <a:r>
              <a:rPr lang="zh-CN" altLang="en-US" sz="4000" dirty="0">
                <a:solidFill>
                  <a:srgbClr val="008000"/>
                </a:solidFill>
                <a:latin typeface="黑体" panose="02010609060101010101" pitchFamily="49" charset="-122"/>
                <a:ea typeface="黑体" panose="02010609060101010101" pitchFamily="49" charset="-122"/>
              </a:rPr>
              <a:t>选择</a:t>
            </a:r>
            <a:endParaRPr lang="zh-CN" altLang="en-US" sz="3800" dirty="0"/>
          </a:p>
        </p:txBody>
      </p:sp>
      <p:sp>
        <p:nvSpPr>
          <p:cNvPr id="5" name="内容占位符 4">
            <a:extLst>
              <a:ext uri="{FF2B5EF4-FFF2-40B4-BE49-F238E27FC236}">
                <a16:creationId xmlns:a16="http://schemas.microsoft.com/office/drawing/2014/main" id="{2CC47156-17DD-242B-131E-D6FB37AD5867}"/>
              </a:ext>
            </a:extLst>
          </p:cNvPr>
          <p:cNvSpPr>
            <a:spLocks noGrp="1"/>
          </p:cNvSpPr>
          <p:nvPr>
            <p:ph sz="half" idx="2"/>
          </p:nvPr>
        </p:nvSpPr>
        <p:spPr>
          <a:xfrm>
            <a:off x="609600" y="1667525"/>
            <a:ext cx="7640961" cy="1041395"/>
          </a:xfrm>
        </p:spPr>
        <p:txBody>
          <a:bodyPr/>
          <a:lstStyle/>
          <a:p>
            <a:pPr marL="0" indent="0">
              <a:buNone/>
            </a:pPr>
            <a:r>
              <a:rPr lang="zh-CN" altLang="en-US" sz="3200" b="1" dirty="0"/>
              <a:t>采用轮盘赌选择算法，计算各染色体适应值 同群体适应值总和的比</a:t>
            </a:r>
          </a:p>
        </p:txBody>
      </p:sp>
      <p:sp>
        <p:nvSpPr>
          <p:cNvPr id="4" name="灯片编号占位符 3">
            <a:extLst>
              <a:ext uri="{FF2B5EF4-FFF2-40B4-BE49-F238E27FC236}">
                <a16:creationId xmlns:a16="http://schemas.microsoft.com/office/drawing/2014/main" id="{38A921DA-9236-98BC-78A4-10AE799D5536}"/>
              </a:ext>
            </a:extLst>
          </p:cNvPr>
          <p:cNvSpPr>
            <a:spLocks noGrp="1"/>
          </p:cNvSpPr>
          <p:nvPr>
            <p:ph type="sldNum" sz="quarter" idx="11"/>
          </p:nvPr>
        </p:nvSpPr>
        <p:spPr/>
        <p:txBody>
          <a:bodyPr/>
          <a:lstStyle/>
          <a:p>
            <a:pPr>
              <a:defRPr/>
            </a:pPr>
            <a:fld id="{FEF569DF-D019-4843-B296-F7B6269C71E5}" type="slidenum">
              <a:rPr lang="en-US" altLang="zh-CN" smtClean="0"/>
              <a:pPr>
                <a:defRPr/>
              </a:pPr>
              <a:t>33</a:t>
            </a:fld>
            <a:endParaRPr lang="en-US" altLang="zh-CN"/>
          </a:p>
        </p:txBody>
      </p:sp>
      <p:graphicFrame>
        <p:nvGraphicFramePr>
          <p:cNvPr id="2" name="表格 1">
            <a:extLst>
              <a:ext uri="{FF2B5EF4-FFF2-40B4-BE49-F238E27FC236}">
                <a16:creationId xmlns:a16="http://schemas.microsoft.com/office/drawing/2014/main" id="{3CA2B9D8-08C8-4014-F313-3AE2306ED98D}"/>
              </a:ext>
            </a:extLst>
          </p:cNvPr>
          <p:cNvGraphicFramePr>
            <a:graphicFrameLocks noGrp="1"/>
          </p:cNvGraphicFramePr>
          <p:nvPr>
            <p:extLst>
              <p:ext uri="{D42A27DB-BD31-4B8C-83A1-F6EECF244321}">
                <p14:modId xmlns:p14="http://schemas.microsoft.com/office/powerpoint/2010/main" val="3473308564"/>
              </p:ext>
            </p:extLst>
          </p:nvPr>
        </p:nvGraphicFramePr>
        <p:xfrm>
          <a:off x="8414644" y="3668914"/>
          <a:ext cx="3167756" cy="2304288"/>
        </p:xfrm>
        <a:graphic>
          <a:graphicData uri="http://schemas.openxmlformats.org/drawingml/2006/table">
            <a:tbl>
              <a:tblPr firstRow="1" bandRow="1">
                <a:tableStyleId>{2D5ABB26-0587-4C30-8999-92F81FD0307C}</a:tableStyleId>
              </a:tblPr>
              <a:tblGrid>
                <a:gridCol w="1341058">
                  <a:extLst>
                    <a:ext uri="{9D8B030D-6E8A-4147-A177-3AD203B41FA5}">
                      <a16:colId xmlns:a16="http://schemas.microsoft.com/office/drawing/2014/main" val="1813246438"/>
                    </a:ext>
                  </a:extLst>
                </a:gridCol>
                <a:gridCol w="1826698">
                  <a:extLst>
                    <a:ext uri="{9D8B030D-6E8A-4147-A177-3AD203B41FA5}">
                      <a16:colId xmlns:a16="http://schemas.microsoft.com/office/drawing/2014/main" val="3209354654"/>
                    </a:ext>
                  </a:extLst>
                </a:gridCol>
              </a:tblGrid>
              <a:tr h="269466">
                <a:tc>
                  <a:txBody>
                    <a:bodyPr/>
                    <a:lstStyle/>
                    <a:p>
                      <a:pPr algn="ctr">
                        <a:lnSpc>
                          <a:spcPct val="80000"/>
                        </a:lnSpc>
                      </a:pPr>
                      <a:r>
                        <a:rPr lang="zh-CN" altLang="en-US" sz="2400" b="1" baseline="0" dirty="0">
                          <a:latin typeface="Times New Roman" panose="02020603050405020304" pitchFamily="18" charset="0"/>
                          <a:cs typeface="Times New Roman" panose="02020603050405020304" pitchFamily="18" charset="0"/>
                        </a:rPr>
                        <a:t>染色体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zh-CN" altLang="en-US" sz="2400" b="1" dirty="0">
                          <a:latin typeface="Times New Roman" panose="02020603050405020304" pitchFamily="18" charset="0"/>
                          <a:cs typeface="Times New Roman" panose="02020603050405020304" pitchFamily="18" charset="0"/>
                        </a:rPr>
                        <a:t>累计概率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0137650"/>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1</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0.226749</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9437292"/>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2</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0.382114</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6131042"/>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3</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0.654337</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2485105"/>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4</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0.798915</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3735626"/>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5</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1.000000</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8084462"/>
                  </a:ext>
                </a:extLst>
              </a:tr>
            </a:tbl>
          </a:graphicData>
        </a:graphic>
      </p:graphicFrame>
      <p:sp>
        <p:nvSpPr>
          <p:cNvPr id="6" name="文本框 5">
            <a:extLst>
              <a:ext uri="{FF2B5EF4-FFF2-40B4-BE49-F238E27FC236}">
                <a16:creationId xmlns:a16="http://schemas.microsoft.com/office/drawing/2014/main" id="{86786204-AF42-5ED7-73A3-35434FDFE2A1}"/>
              </a:ext>
            </a:extLst>
          </p:cNvPr>
          <p:cNvSpPr txBox="1"/>
          <p:nvPr/>
        </p:nvSpPr>
        <p:spPr>
          <a:xfrm>
            <a:off x="8352904" y="283448"/>
            <a:ext cx="3614192" cy="2425472"/>
          </a:xfrm>
          <a:prstGeom prst="rect">
            <a:avLst/>
          </a:prstGeom>
          <a:solidFill>
            <a:schemeClr val="bg1">
              <a:lumMod val="85000"/>
            </a:schemeClr>
          </a:solidFill>
        </p:spPr>
        <p:txBody>
          <a:bodyPr wrap="square" rtlCol="0">
            <a:spAutoFit/>
          </a:bodyPr>
          <a:lstStyle/>
          <a:p>
            <a:pPr>
              <a:lnSpc>
                <a:spcPct val="110000"/>
              </a:lnSpc>
            </a:pPr>
            <a:r>
              <a:rPr lang="en-US" altLang="zh-CN" sz="2800" dirty="0"/>
              <a:t>Eval(C1)=0.0373603</a:t>
            </a:r>
          </a:p>
          <a:p>
            <a:pPr>
              <a:lnSpc>
                <a:spcPct val="110000"/>
              </a:lnSpc>
            </a:pPr>
            <a:r>
              <a:rPr lang="en-US" altLang="zh-CN" sz="2800" dirty="0"/>
              <a:t>Eval(C2)=0.0255988</a:t>
            </a:r>
          </a:p>
          <a:p>
            <a:pPr>
              <a:lnSpc>
                <a:spcPct val="110000"/>
              </a:lnSpc>
            </a:pPr>
            <a:r>
              <a:rPr lang="en-US" altLang="zh-CN" sz="2800" dirty="0"/>
              <a:t>Eval(C3)=0.0448529</a:t>
            </a:r>
          </a:p>
          <a:p>
            <a:pPr>
              <a:lnSpc>
                <a:spcPct val="110000"/>
              </a:lnSpc>
            </a:pPr>
            <a:r>
              <a:rPr lang="en-US" altLang="zh-CN" sz="2800" dirty="0"/>
              <a:t>Eval(C4)=0.0238214</a:t>
            </a:r>
          </a:p>
          <a:p>
            <a:pPr>
              <a:lnSpc>
                <a:spcPct val="110000"/>
              </a:lnSpc>
            </a:pPr>
            <a:r>
              <a:rPr lang="en-US" altLang="zh-CN" sz="2800" dirty="0"/>
              <a:t>Eval(C5)=0.0331319</a:t>
            </a:r>
            <a:endParaRPr lang="zh-CN" altLang="en-US" dirty="0"/>
          </a:p>
        </p:txBody>
      </p:sp>
      <p:graphicFrame>
        <p:nvGraphicFramePr>
          <p:cNvPr id="7" name="Object 7">
            <a:extLst>
              <a:ext uri="{FF2B5EF4-FFF2-40B4-BE49-F238E27FC236}">
                <a16:creationId xmlns:a16="http://schemas.microsoft.com/office/drawing/2014/main" id="{C5D03FEE-E135-864B-8EE3-E6AB594FDB58}"/>
              </a:ext>
            </a:extLst>
          </p:cNvPr>
          <p:cNvGraphicFramePr>
            <a:graphicFrameLocks noChangeAspect="1"/>
          </p:cNvGraphicFramePr>
          <p:nvPr>
            <p:extLst>
              <p:ext uri="{D42A27DB-BD31-4B8C-83A1-F6EECF244321}">
                <p14:modId xmlns:p14="http://schemas.microsoft.com/office/powerpoint/2010/main" val="1039891016"/>
              </p:ext>
            </p:extLst>
          </p:nvPr>
        </p:nvGraphicFramePr>
        <p:xfrm>
          <a:off x="1085072" y="2741613"/>
          <a:ext cx="3819525" cy="955675"/>
        </p:xfrm>
        <a:graphic>
          <a:graphicData uri="http://schemas.openxmlformats.org/presentationml/2006/ole">
            <mc:AlternateContent xmlns:mc="http://schemas.openxmlformats.org/markup-compatibility/2006">
              <mc:Choice xmlns:v="urn:schemas-microsoft-com:vml" Requires="v">
                <p:oleObj name="Equation" r:id="rId2" imgW="1726920" imgH="431640" progId="Equation.DSMT4">
                  <p:embed/>
                </p:oleObj>
              </mc:Choice>
              <mc:Fallback>
                <p:oleObj name="Equation" r:id="rId2" imgW="1726920" imgH="431640" progId="Equation.DSMT4">
                  <p:embed/>
                  <p:pic>
                    <p:nvPicPr>
                      <p:cNvPr id="5" name="Object 7">
                        <a:extLst>
                          <a:ext uri="{FF2B5EF4-FFF2-40B4-BE49-F238E27FC236}">
                            <a16:creationId xmlns:a16="http://schemas.microsoft.com/office/drawing/2014/main" id="{DD0E9779-F5EC-2B26-48F8-2DC5543A12E7}"/>
                          </a:ext>
                        </a:extLst>
                      </p:cNvPr>
                      <p:cNvPicPr>
                        <a:picLocks noChangeAspect="1" noChangeArrowheads="1"/>
                      </p:cNvPicPr>
                      <p:nvPr/>
                    </p:nvPicPr>
                    <p:blipFill>
                      <a:blip r:embed="rId3"/>
                      <a:srcRect/>
                      <a:stretch>
                        <a:fillRect/>
                      </a:stretch>
                    </p:blipFill>
                    <p:spPr bwMode="auto">
                      <a:xfrm>
                        <a:off x="1085072" y="2741613"/>
                        <a:ext cx="3819525" cy="955675"/>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88A2389E-CBDF-6B44-844B-1FB22A092845}"/>
              </a:ext>
            </a:extLst>
          </p:cNvPr>
          <p:cNvGraphicFramePr>
            <a:graphicFrameLocks noChangeAspect="1"/>
          </p:cNvGraphicFramePr>
          <p:nvPr>
            <p:extLst>
              <p:ext uri="{D42A27DB-BD31-4B8C-83A1-F6EECF244321}">
                <p14:modId xmlns:p14="http://schemas.microsoft.com/office/powerpoint/2010/main" val="1956526737"/>
              </p:ext>
            </p:extLst>
          </p:nvPr>
        </p:nvGraphicFramePr>
        <p:xfrm>
          <a:off x="1002655" y="3697288"/>
          <a:ext cx="5813425" cy="3008312"/>
        </p:xfrm>
        <a:graphic>
          <a:graphicData uri="http://schemas.openxmlformats.org/presentationml/2006/ole">
            <mc:AlternateContent xmlns:mc="http://schemas.openxmlformats.org/markup-compatibility/2006">
              <mc:Choice xmlns:v="urn:schemas-microsoft-com:vml" Requires="v">
                <p:oleObj name="Equation" r:id="rId4" imgW="2628720" imgH="1358640" progId="Equation.DSMT4">
                  <p:embed/>
                </p:oleObj>
              </mc:Choice>
              <mc:Fallback>
                <p:oleObj name="Equation" r:id="rId4" imgW="2628720" imgH="1358640" progId="Equation.DSMT4">
                  <p:embed/>
                  <p:pic>
                    <p:nvPicPr>
                      <p:cNvPr id="7" name="Object 7">
                        <a:extLst>
                          <a:ext uri="{FF2B5EF4-FFF2-40B4-BE49-F238E27FC236}">
                            <a16:creationId xmlns:a16="http://schemas.microsoft.com/office/drawing/2014/main" id="{C5D03FEE-E135-864B-8EE3-E6AB594FDB58}"/>
                          </a:ext>
                        </a:extLst>
                      </p:cNvPr>
                      <p:cNvPicPr>
                        <a:picLocks noChangeAspect="1" noChangeArrowheads="1"/>
                      </p:cNvPicPr>
                      <p:nvPr/>
                    </p:nvPicPr>
                    <p:blipFill>
                      <a:blip r:embed="rId5"/>
                      <a:srcRect/>
                      <a:stretch>
                        <a:fillRect/>
                      </a:stretch>
                    </p:blipFill>
                    <p:spPr bwMode="auto">
                      <a:xfrm>
                        <a:off x="1002655" y="3697288"/>
                        <a:ext cx="5813425" cy="3008312"/>
                      </a:xfrm>
                      <a:prstGeom prst="rect">
                        <a:avLst/>
                      </a:prstGeom>
                      <a:noFill/>
                    </p:spPr>
                  </p:pic>
                </p:oleObj>
              </mc:Fallback>
            </mc:AlternateContent>
          </a:graphicData>
        </a:graphic>
      </p:graphicFrame>
    </p:spTree>
    <p:extLst>
      <p:ext uri="{BB962C8B-B14F-4D97-AF65-F5344CB8AC3E}">
        <p14:creationId xmlns:p14="http://schemas.microsoft.com/office/powerpoint/2010/main" val="68959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5E233-0410-BC5C-93F9-FD269ABC2AFF}"/>
            </a:ext>
          </a:extLst>
        </p:cNvPr>
        <p:cNvGrpSpPr/>
        <p:nvPr/>
      </p:nvGrpSpPr>
      <p:grpSpPr>
        <a:xfrm>
          <a:off x="0" y="0"/>
          <a:ext cx="0" cy="0"/>
          <a:chOff x="0" y="0"/>
          <a:chExt cx="0" cy="0"/>
        </a:xfrm>
      </p:grpSpPr>
      <p:sp>
        <p:nvSpPr>
          <p:cNvPr id="103426" name="Rectangle 2">
            <a:extLst>
              <a:ext uri="{FF2B5EF4-FFF2-40B4-BE49-F238E27FC236}">
                <a16:creationId xmlns:a16="http://schemas.microsoft.com/office/drawing/2014/main" id="{ACAC16F7-6AC8-A396-2FD1-3F845F425BB4}"/>
              </a:ext>
            </a:extLst>
          </p:cNvPr>
          <p:cNvSpPr>
            <a:spLocks noGrp="1" noChangeArrowheads="1"/>
          </p:cNvSpPr>
          <p:nvPr>
            <p:ph type="title"/>
          </p:nvPr>
        </p:nvSpPr>
        <p:spPr>
          <a:xfrm>
            <a:off x="592832" y="152400"/>
            <a:ext cx="10972800" cy="1371600"/>
          </a:xfrm>
        </p:spPr>
        <p:txBody>
          <a:bodyPr/>
          <a:lstStyle/>
          <a:p>
            <a:pPr algn="ctr"/>
            <a:r>
              <a:rPr lang="zh-CN" altLang="en-US" sz="4000" dirty="0">
                <a:solidFill>
                  <a:srgbClr val="008000"/>
                </a:solidFill>
                <a:latin typeface="黑体" panose="02010609060101010101" pitchFamily="49" charset="-122"/>
                <a:ea typeface="黑体" panose="02010609060101010101" pitchFamily="49" charset="-122"/>
              </a:rPr>
              <a:t>步骤</a:t>
            </a:r>
            <a:r>
              <a:rPr lang="en-US" altLang="zh-CN" sz="4000" dirty="0">
                <a:solidFill>
                  <a:srgbClr val="008000"/>
                </a:solidFill>
                <a:latin typeface="黑体" panose="02010609060101010101" pitchFamily="49" charset="-122"/>
                <a:ea typeface="黑体" panose="02010609060101010101" pitchFamily="49" charset="-122"/>
              </a:rPr>
              <a:t>3: </a:t>
            </a:r>
            <a:r>
              <a:rPr lang="zh-CN" altLang="en-US" sz="4000" dirty="0">
                <a:solidFill>
                  <a:srgbClr val="008000"/>
                </a:solidFill>
                <a:latin typeface="黑体" panose="02010609060101010101" pitchFamily="49" charset="-122"/>
                <a:ea typeface="黑体" panose="02010609060101010101" pitchFamily="49" charset="-122"/>
              </a:rPr>
              <a:t>选择</a:t>
            </a:r>
            <a:endParaRPr lang="zh-CN" altLang="en-US" sz="3800" dirty="0"/>
          </a:p>
        </p:txBody>
      </p:sp>
      <p:sp>
        <p:nvSpPr>
          <p:cNvPr id="5" name="内容占位符 4">
            <a:extLst>
              <a:ext uri="{FF2B5EF4-FFF2-40B4-BE49-F238E27FC236}">
                <a16:creationId xmlns:a16="http://schemas.microsoft.com/office/drawing/2014/main" id="{EB6794C4-F843-AE56-4938-6440BD7C711B}"/>
              </a:ext>
            </a:extLst>
          </p:cNvPr>
          <p:cNvSpPr>
            <a:spLocks noGrp="1"/>
          </p:cNvSpPr>
          <p:nvPr>
            <p:ph sz="half" idx="2"/>
          </p:nvPr>
        </p:nvSpPr>
        <p:spPr>
          <a:xfrm>
            <a:off x="637253" y="1248432"/>
            <a:ext cx="10961915" cy="1041395"/>
          </a:xfrm>
        </p:spPr>
        <p:txBody>
          <a:bodyPr/>
          <a:lstStyle/>
          <a:p>
            <a:pPr marL="0" indent="0">
              <a:buNone/>
            </a:pPr>
            <a:r>
              <a:rPr lang="zh-CN" altLang="en-US" sz="3200" b="1" dirty="0"/>
              <a:t>下面是</a:t>
            </a:r>
            <a:r>
              <a:rPr lang="en-US" altLang="zh-CN" sz="3200" b="1" dirty="0"/>
              <a:t>5</a:t>
            </a:r>
            <a:r>
              <a:rPr lang="zh-CN" altLang="en-US" sz="3200" b="1" dirty="0"/>
              <a:t>次选择产生的</a:t>
            </a:r>
            <a:r>
              <a:rPr lang="en-US" altLang="zh-CN" sz="3200" b="1" dirty="0"/>
              <a:t>[0, 1] </a:t>
            </a:r>
            <a:r>
              <a:rPr lang="zh-CN" altLang="en-US" sz="3200" b="1" dirty="0"/>
              <a:t>的随机数和选中的染色体</a:t>
            </a:r>
          </a:p>
        </p:txBody>
      </p:sp>
      <p:sp>
        <p:nvSpPr>
          <p:cNvPr id="4" name="灯片编号占位符 3">
            <a:extLst>
              <a:ext uri="{FF2B5EF4-FFF2-40B4-BE49-F238E27FC236}">
                <a16:creationId xmlns:a16="http://schemas.microsoft.com/office/drawing/2014/main" id="{E1F83555-9640-ED16-AADD-5DC7C451EC2B}"/>
              </a:ext>
            </a:extLst>
          </p:cNvPr>
          <p:cNvSpPr>
            <a:spLocks noGrp="1"/>
          </p:cNvSpPr>
          <p:nvPr>
            <p:ph type="sldNum" sz="quarter" idx="11"/>
          </p:nvPr>
        </p:nvSpPr>
        <p:spPr/>
        <p:txBody>
          <a:bodyPr/>
          <a:lstStyle/>
          <a:p>
            <a:pPr>
              <a:defRPr/>
            </a:pPr>
            <a:fld id="{FEF569DF-D019-4843-B296-F7B6269C71E5}" type="slidenum">
              <a:rPr lang="en-US" altLang="zh-CN" smtClean="0"/>
              <a:pPr>
                <a:defRPr/>
              </a:pPr>
              <a:t>34</a:t>
            </a:fld>
            <a:endParaRPr lang="en-US" altLang="zh-CN"/>
          </a:p>
        </p:txBody>
      </p:sp>
      <p:sp>
        <p:nvSpPr>
          <p:cNvPr id="7" name="矩形 6">
            <a:extLst>
              <a:ext uri="{FF2B5EF4-FFF2-40B4-BE49-F238E27FC236}">
                <a16:creationId xmlns:a16="http://schemas.microsoft.com/office/drawing/2014/main" id="{CD7F8FA0-FC0F-F47E-3CE8-11E50F044B51}"/>
              </a:ext>
            </a:extLst>
          </p:cNvPr>
          <p:cNvSpPr/>
          <p:nvPr/>
        </p:nvSpPr>
        <p:spPr>
          <a:xfrm>
            <a:off x="8752078" y="1988840"/>
            <a:ext cx="3167756" cy="2304288"/>
          </a:xfrm>
          <a:prstGeom prst="rect">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aphicFrame>
        <p:nvGraphicFramePr>
          <p:cNvPr id="8" name="表格 7">
            <a:extLst>
              <a:ext uri="{FF2B5EF4-FFF2-40B4-BE49-F238E27FC236}">
                <a16:creationId xmlns:a16="http://schemas.microsoft.com/office/drawing/2014/main" id="{A6BA004A-798F-7998-CE05-20C5F2B2912F}"/>
              </a:ext>
            </a:extLst>
          </p:cNvPr>
          <p:cNvGraphicFramePr>
            <a:graphicFrameLocks noGrp="1"/>
          </p:cNvGraphicFramePr>
          <p:nvPr>
            <p:extLst>
              <p:ext uri="{D42A27DB-BD31-4B8C-83A1-F6EECF244321}">
                <p14:modId xmlns:p14="http://schemas.microsoft.com/office/powerpoint/2010/main" val="3904923281"/>
              </p:ext>
            </p:extLst>
          </p:nvPr>
        </p:nvGraphicFramePr>
        <p:xfrm>
          <a:off x="8752078" y="1988840"/>
          <a:ext cx="3167756" cy="2304288"/>
        </p:xfrm>
        <a:graphic>
          <a:graphicData uri="http://schemas.openxmlformats.org/drawingml/2006/table">
            <a:tbl>
              <a:tblPr firstRow="1" bandRow="1">
                <a:tableStyleId>{2D5ABB26-0587-4C30-8999-92F81FD0307C}</a:tableStyleId>
              </a:tblPr>
              <a:tblGrid>
                <a:gridCol w="1341058">
                  <a:extLst>
                    <a:ext uri="{9D8B030D-6E8A-4147-A177-3AD203B41FA5}">
                      <a16:colId xmlns:a16="http://schemas.microsoft.com/office/drawing/2014/main" val="1813246438"/>
                    </a:ext>
                  </a:extLst>
                </a:gridCol>
                <a:gridCol w="1826698">
                  <a:extLst>
                    <a:ext uri="{9D8B030D-6E8A-4147-A177-3AD203B41FA5}">
                      <a16:colId xmlns:a16="http://schemas.microsoft.com/office/drawing/2014/main" val="3209354654"/>
                    </a:ext>
                  </a:extLst>
                </a:gridCol>
              </a:tblGrid>
              <a:tr h="269466">
                <a:tc>
                  <a:txBody>
                    <a:bodyPr/>
                    <a:lstStyle/>
                    <a:p>
                      <a:pPr algn="ctr">
                        <a:lnSpc>
                          <a:spcPct val="80000"/>
                        </a:lnSpc>
                      </a:pPr>
                      <a:r>
                        <a:rPr lang="zh-CN" altLang="en-US" sz="2400" b="1" baseline="0" dirty="0">
                          <a:latin typeface="Times New Roman" panose="02020603050405020304" pitchFamily="18" charset="0"/>
                          <a:cs typeface="Times New Roman" panose="02020603050405020304" pitchFamily="18" charset="0"/>
                        </a:rPr>
                        <a:t>染色体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zh-CN" altLang="en-US" sz="2400" b="1" dirty="0">
                          <a:latin typeface="Times New Roman" panose="02020603050405020304" pitchFamily="18" charset="0"/>
                          <a:cs typeface="Times New Roman" panose="02020603050405020304" pitchFamily="18" charset="0"/>
                        </a:rPr>
                        <a:t>累计概率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0137650"/>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1</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0.226749</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9437292"/>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2</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0.382114</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6131042"/>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3</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0.654337</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2485105"/>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4</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0.798915</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3735626"/>
                  </a:ext>
                </a:extLst>
              </a:tr>
              <a:tr h="269466">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0" lang="en-US" altLang="zh-CN"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5</a:t>
                      </a:r>
                      <a:endParaRPr kumimoji="0" lang="zh-CN" altLang="en-US" sz="2400" b="1" i="0" u="none" strike="noStrike" kern="1200" cap="none" spc="0" normalizeH="0" baseline="-25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400" b="1" dirty="0">
                          <a:latin typeface="Times New Roman" panose="02020603050405020304" pitchFamily="18" charset="0"/>
                          <a:cs typeface="Times New Roman" panose="02020603050405020304" pitchFamily="18" charset="0"/>
                        </a:rPr>
                        <a:t>1.000000</a:t>
                      </a:r>
                      <a:endParaRPr lang="zh-CN" alt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8084462"/>
                  </a:ext>
                </a:extLst>
              </a:tr>
            </a:tbl>
          </a:graphicData>
        </a:graphic>
      </p:graphicFrame>
      <p:pic>
        <p:nvPicPr>
          <p:cNvPr id="12" name="图片 11" descr="文本&#10;&#10;AI 生成的内容可能不正确。">
            <a:extLst>
              <a:ext uri="{FF2B5EF4-FFF2-40B4-BE49-F238E27FC236}">
                <a16:creationId xmlns:a16="http://schemas.microsoft.com/office/drawing/2014/main" id="{B8F39C2E-289F-C5A9-0F13-622EE9B23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0459" y="1834638"/>
            <a:ext cx="3311525" cy="2086185"/>
          </a:xfrm>
          <a:prstGeom prst="rect">
            <a:avLst/>
          </a:prstGeom>
        </p:spPr>
      </p:pic>
      <p:pic>
        <p:nvPicPr>
          <p:cNvPr id="14" name="图片 13" descr="文本&#10;&#10;AI 生成的内容可能不正确。">
            <a:extLst>
              <a:ext uri="{FF2B5EF4-FFF2-40B4-BE49-F238E27FC236}">
                <a16:creationId xmlns:a16="http://schemas.microsoft.com/office/drawing/2014/main" id="{A242AFB0-B30B-ACD3-03AB-2943C1317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271" y="4051481"/>
            <a:ext cx="6696744" cy="2654119"/>
          </a:xfrm>
          <a:prstGeom prst="rect">
            <a:avLst/>
          </a:prstGeom>
        </p:spPr>
      </p:pic>
    </p:spTree>
    <p:extLst>
      <p:ext uri="{BB962C8B-B14F-4D97-AF65-F5344CB8AC3E}">
        <p14:creationId xmlns:p14="http://schemas.microsoft.com/office/powerpoint/2010/main" val="280658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790780" y="351742"/>
            <a:ext cx="10365933" cy="1059837"/>
          </a:xfrm>
        </p:spPr>
        <p:txBody>
          <a:bodyPr/>
          <a:lstStyle/>
          <a:p>
            <a:pPr algn="ctr"/>
            <a:r>
              <a:rPr lang="zh-CN" altLang="en-US" sz="3600" dirty="0">
                <a:solidFill>
                  <a:srgbClr val="008000"/>
                </a:solidFill>
                <a:latin typeface="黑体" panose="02010609060101010101" pitchFamily="49" charset="-122"/>
                <a:ea typeface="黑体" panose="02010609060101010101" pitchFamily="49" charset="-122"/>
              </a:rPr>
              <a:t>步骤</a:t>
            </a:r>
            <a:r>
              <a:rPr lang="en-US" altLang="zh-CN" sz="3600" dirty="0">
                <a:solidFill>
                  <a:srgbClr val="008000"/>
                </a:solidFill>
                <a:latin typeface="黑体" panose="02010609060101010101" pitchFamily="49" charset="-122"/>
                <a:ea typeface="黑体" panose="02010609060101010101" pitchFamily="49" charset="-122"/>
              </a:rPr>
              <a:t>4: </a:t>
            </a:r>
            <a:r>
              <a:rPr lang="zh-CN" altLang="en-US" sz="3600" dirty="0">
                <a:solidFill>
                  <a:srgbClr val="008000"/>
                </a:solidFill>
                <a:latin typeface="黑体" panose="02010609060101010101" pitchFamily="49" charset="-122"/>
                <a:ea typeface="黑体" panose="02010609060101010101" pitchFamily="49" charset="-122"/>
              </a:rPr>
              <a:t>交配</a:t>
            </a:r>
            <a:r>
              <a:rPr lang="en-US" altLang="zh-CN" sz="3600" dirty="0">
                <a:solidFill>
                  <a:srgbClr val="008000"/>
                </a:solidFill>
                <a:latin typeface="黑体" panose="02010609060101010101" pitchFamily="49" charset="-122"/>
                <a:ea typeface="黑体" panose="02010609060101010101" pitchFamily="49" charset="-122"/>
              </a:rPr>
              <a:t>(</a:t>
            </a:r>
            <a:r>
              <a:rPr lang="zh-CN" altLang="en-US" sz="3600" dirty="0">
                <a:solidFill>
                  <a:srgbClr val="008000"/>
                </a:solidFill>
                <a:latin typeface="黑体" panose="02010609060101010101" pitchFamily="49" charset="-122"/>
                <a:ea typeface="黑体" panose="02010609060101010101" pitchFamily="49" charset="-122"/>
              </a:rPr>
              <a:t>交叉</a:t>
            </a:r>
            <a:r>
              <a:rPr lang="en-US" altLang="zh-CN" sz="3600" dirty="0">
                <a:solidFill>
                  <a:srgbClr val="008000"/>
                </a:solidFill>
                <a:latin typeface="黑体" panose="02010609060101010101" pitchFamily="49" charset="-122"/>
                <a:ea typeface="黑体" panose="02010609060101010101" pitchFamily="49" charset="-122"/>
              </a:rPr>
              <a:t>)</a:t>
            </a:r>
            <a:endParaRPr lang="zh-CN" altLang="en-US" sz="3800" dirty="0"/>
          </a:p>
        </p:txBody>
      </p:sp>
      <p:sp>
        <p:nvSpPr>
          <p:cNvPr id="2" name="灯片编号占位符 1">
            <a:extLst>
              <a:ext uri="{FF2B5EF4-FFF2-40B4-BE49-F238E27FC236}">
                <a16:creationId xmlns:a16="http://schemas.microsoft.com/office/drawing/2014/main" id="{FC519248-3423-927A-DEBF-6C5BCD4C77F9}"/>
              </a:ext>
            </a:extLst>
          </p:cNvPr>
          <p:cNvSpPr>
            <a:spLocks noGrp="1"/>
          </p:cNvSpPr>
          <p:nvPr>
            <p:ph type="sldNum" sz="quarter" idx="11"/>
          </p:nvPr>
        </p:nvSpPr>
        <p:spPr/>
        <p:txBody>
          <a:bodyPr/>
          <a:lstStyle/>
          <a:p>
            <a:pPr>
              <a:defRPr/>
            </a:pPr>
            <a:fld id="{FEF569DF-D019-4843-B296-F7B6269C71E5}" type="slidenum">
              <a:rPr lang="en-US" altLang="zh-CN" smtClean="0"/>
              <a:pPr>
                <a:defRPr/>
              </a:pPr>
              <a:t>35</a:t>
            </a:fld>
            <a:endParaRPr lang="en-US" altLang="zh-CN"/>
          </a:p>
        </p:txBody>
      </p:sp>
      <p:sp>
        <p:nvSpPr>
          <p:cNvPr id="3" name="内容占位符 4">
            <a:extLst>
              <a:ext uri="{FF2B5EF4-FFF2-40B4-BE49-F238E27FC236}">
                <a16:creationId xmlns:a16="http://schemas.microsoft.com/office/drawing/2014/main" id="{C256314F-72FF-DD1D-AC3E-2964CA005F0C}"/>
              </a:ext>
            </a:extLst>
          </p:cNvPr>
          <p:cNvSpPr txBox="1">
            <a:spLocks/>
          </p:cNvSpPr>
          <p:nvPr/>
        </p:nvSpPr>
        <p:spPr>
          <a:xfrm>
            <a:off x="815084" y="1592905"/>
            <a:ext cx="10561832" cy="1041395"/>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r>
              <a:rPr lang="zh-CN" altLang="en-US" b="1" kern="0" dirty="0"/>
              <a:t>假设交配概率为</a:t>
            </a:r>
            <a:r>
              <a:rPr lang="en-US" altLang="zh-CN" b="1" kern="0" dirty="0"/>
              <a:t>0.88</a:t>
            </a:r>
            <a:r>
              <a:rPr lang="zh-CN" altLang="en-US" b="1" kern="0" dirty="0"/>
              <a:t>。下面对每个染色体产生</a:t>
            </a:r>
            <a:r>
              <a:rPr lang="en-US" altLang="zh-CN" b="1" kern="0" dirty="0"/>
              <a:t>[0, 1] </a:t>
            </a:r>
            <a:r>
              <a:rPr lang="zh-CN" altLang="en-US" b="1" kern="0" dirty="0"/>
              <a:t>的随机数，决定染色体是否参加交配。</a:t>
            </a:r>
          </a:p>
        </p:txBody>
      </p:sp>
      <p:graphicFrame>
        <p:nvGraphicFramePr>
          <p:cNvPr id="9" name="Object 7">
            <a:extLst>
              <a:ext uri="{FF2B5EF4-FFF2-40B4-BE49-F238E27FC236}">
                <a16:creationId xmlns:a16="http://schemas.microsoft.com/office/drawing/2014/main" id="{795E4AEA-38A1-A0C3-118E-68F8B33DF058}"/>
              </a:ext>
            </a:extLst>
          </p:cNvPr>
          <p:cNvGraphicFramePr>
            <a:graphicFrameLocks noChangeAspect="1"/>
          </p:cNvGraphicFramePr>
          <p:nvPr>
            <p:extLst>
              <p:ext uri="{D42A27DB-BD31-4B8C-83A1-F6EECF244321}">
                <p14:modId xmlns:p14="http://schemas.microsoft.com/office/powerpoint/2010/main" val="159296697"/>
              </p:ext>
            </p:extLst>
          </p:nvPr>
        </p:nvGraphicFramePr>
        <p:xfrm>
          <a:off x="1199456" y="2996952"/>
          <a:ext cx="5522170" cy="3059057"/>
        </p:xfrm>
        <a:graphic>
          <a:graphicData uri="http://schemas.openxmlformats.org/presentationml/2006/ole">
            <mc:AlternateContent xmlns:mc="http://schemas.openxmlformats.org/markup-compatibility/2006">
              <mc:Choice xmlns:v="urn:schemas-microsoft-com:vml" Requires="v">
                <p:oleObj name="Equation" r:id="rId2" imgW="2247840" imgH="1244520" progId="Equation.DSMT4">
                  <p:embed/>
                </p:oleObj>
              </mc:Choice>
              <mc:Fallback>
                <p:oleObj name="Equation" r:id="rId2" imgW="2247840" imgH="1244520" progId="Equation.DSMT4">
                  <p:embed/>
                  <p:pic>
                    <p:nvPicPr>
                      <p:cNvPr id="8" name="Object 7">
                        <a:extLst>
                          <a:ext uri="{FF2B5EF4-FFF2-40B4-BE49-F238E27FC236}">
                            <a16:creationId xmlns:a16="http://schemas.microsoft.com/office/drawing/2014/main" id="{88A2389E-CBDF-6B44-844B-1FB22A092845}"/>
                          </a:ext>
                        </a:extLst>
                      </p:cNvPr>
                      <p:cNvPicPr>
                        <a:picLocks noChangeAspect="1" noChangeArrowheads="1"/>
                      </p:cNvPicPr>
                      <p:nvPr/>
                    </p:nvPicPr>
                    <p:blipFill>
                      <a:blip r:embed="rId3"/>
                      <a:srcRect/>
                      <a:stretch>
                        <a:fillRect/>
                      </a:stretch>
                    </p:blipFill>
                    <p:spPr bwMode="auto">
                      <a:xfrm>
                        <a:off x="1199456" y="2996952"/>
                        <a:ext cx="5522170" cy="3059057"/>
                      </a:xfrm>
                      <a:prstGeom prst="rect">
                        <a:avLst/>
                      </a:prstGeom>
                      <a:noFill/>
                    </p:spPr>
                  </p:pic>
                </p:oleObj>
              </mc:Fallback>
            </mc:AlternateContent>
          </a:graphicData>
        </a:graphic>
      </p:graphicFrame>
    </p:spTree>
    <p:extLst>
      <p:ext uri="{BB962C8B-B14F-4D97-AF65-F5344CB8AC3E}">
        <p14:creationId xmlns:p14="http://schemas.microsoft.com/office/powerpoint/2010/main" val="377014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471D-918C-4FEC-FEDD-027E8890303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F25CAD9-4AC0-41F5-DB4B-561EBEAAC3AD}"/>
              </a:ext>
            </a:extLst>
          </p:cNvPr>
          <p:cNvSpPr>
            <a:spLocks noGrp="1"/>
          </p:cNvSpPr>
          <p:nvPr>
            <p:ph type="sldNum" sz="quarter" idx="11"/>
          </p:nvPr>
        </p:nvSpPr>
        <p:spPr/>
        <p:txBody>
          <a:bodyPr/>
          <a:lstStyle/>
          <a:p>
            <a:pPr>
              <a:defRPr/>
            </a:pPr>
            <a:fld id="{FEF569DF-D019-4843-B296-F7B6269C71E5}" type="slidenum">
              <a:rPr lang="en-US" altLang="zh-CN" smtClean="0"/>
              <a:pPr>
                <a:defRPr/>
              </a:pPr>
              <a:t>36</a:t>
            </a:fld>
            <a:endParaRPr lang="en-US" altLang="zh-CN"/>
          </a:p>
        </p:txBody>
      </p:sp>
      <p:sp>
        <p:nvSpPr>
          <p:cNvPr id="3" name="Rectangle 2">
            <a:extLst>
              <a:ext uri="{FF2B5EF4-FFF2-40B4-BE49-F238E27FC236}">
                <a16:creationId xmlns:a16="http://schemas.microsoft.com/office/drawing/2014/main" id="{DC553608-D4B8-4913-7FEE-288C4C810447}"/>
              </a:ext>
            </a:extLst>
          </p:cNvPr>
          <p:cNvSpPr txBox="1">
            <a:spLocks noChangeArrowheads="1"/>
          </p:cNvSpPr>
          <p:nvPr/>
        </p:nvSpPr>
        <p:spPr bwMode="auto">
          <a:xfrm>
            <a:off x="672634" y="234785"/>
            <a:ext cx="10365933" cy="105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a:r>
              <a:rPr lang="zh-CN" altLang="en-US" sz="3600" kern="0" dirty="0">
                <a:solidFill>
                  <a:srgbClr val="008000"/>
                </a:solidFill>
                <a:latin typeface="黑体" panose="02010609060101010101" pitchFamily="49" charset="-122"/>
                <a:ea typeface="黑体" panose="02010609060101010101" pitchFamily="49" charset="-122"/>
              </a:rPr>
              <a:t>步骤</a:t>
            </a:r>
            <a:r>
              <a:rPr lang="en-US" altLang="zh-CN" sz="3600" kern="0" dirty="0">
                <a:solidFill>
                  <a:srgbClr val="008000"/>
                </a:solidFill>
                <a:latin typeface="黑体" panose="02010609060101010101" pitchFamily="49" charset="-122"/>
                <a:ea typeface="黑体" panose="02010609060101010101" pitchFamily="49" charset="-122"/>
              </a:rPr>
              <a:t>4: </a:t>
            </a:r>
            <a:r>
              <a:rPr lang="zh-CN" altLang="en-US" sz="3600" kern="0" dirty="0">
                <a:solidFill>
                  <a:srgbClr val="008000"/>
                </a:solidFill>
                <a:latin typeface="黑体" panose="02010609060101010101" pitchFamily="49" charset="-122"/>
                <a:ea typeface="黑体" panose="02010609060101010101" pitchFamily="49" charset="-122"/>
              </a:rPr>
              <a:t>交配</a:t>
            </a:r>
            <a:r>
              <a:rPr lang="en-US" altLang="zh-CN" sz="3600" kern="0" dirty="0">
                <a:solidFill>
                  <a:srgbClr val="008000"/>
                </a:solidFill>
                <a:latin typeface="黑体" panose="02010609060101010101" pitchFamily="49" charset="-122"/>
                <a:ea typeface="黑体" panose="02010609060101010101" pitchFamily="49" charset="-122"/>
              </a:rPr>
              <a:t>(</a:t>
            </a:r>
            <a:r>
              <a:rPr lang="zh-CN" altLang="en-US" sz="3600" kern="0" dirty="0">
                <a:solidFill>
                  <a:srgbClr val="008000"/>
                </a:solidFill>
                <a:latin typeface="黑体" panose="02010609060101010101" pitchFamily="49" charset="-122"/>
                <a:ea typeface="黑体" panose="02010609060101010101" pitchFamily="49" charset="-122"/>
              </a:rPr>
              <a:t>交叉</a:t>
            </a:r>
            <a:r>
              <a:rPr lang="en-US" altLang="zh-CN" sz="3600" kern="0" dirty="0">
                <a:solidFill>
                  <a:srgbClr val="008000"/>
                </a:solidFill>
                <a:latin typeface="黑体" panose="02010609060101010101" pitchFamily="49" charset="-122"/>
                <a:ea typeface="黑体" panose="02010609060101010101" pitchFamily="49" charset="-122"/>
              </a:rPr>
              <a:t>)</a:t>
            </a:r>
            <a:endParaRPr lang="zh-CN" altLang="en-US" sz="3800" kern="0" dirty="0"/>
          </a:p>
        </p:txBody>
      </p:sp>
      <p:pic>
        <p:nvPicPr>
          <p:cNvPr id="10" name="图片 9" descr="文本&#10;&#10;AI 生成的内容可能不正确。">
            <a:extLst>
              <a:ext uri="{FF2B5EF4-FFF2-40B4-BE49-F238E27FC236}">
                <a16:creationId xmlns:a16="http://schemas.microsoft.com/office/drawing/2014/main" id="{36EFF769-FC58-9F30-1B80-2F73F8479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351" y="1239611"/>
            <a:ext cx="8599815" cy="1293467"/>
          </a:xfrm>
          <a:prstGeom prst="rect">
            <a:avLst/>
          </a:prstGeom>
        </p:spPr>
      </p:pic>
      <p:pic>
        <p:nvPicPr>
          <p:cNvPr id="12" name="图片 11" descr="文本&#10;&#10;AI 生成的内容可能不正确。">
            <a:extLst>
              <a:ext uri="{FF2B5EF4-FFF2-40B4-BE49-F238E27FC236}">
                <a16:creationId xmlns:a16="http://schemas.microsoft.com/office/drawing/2014/main" id="{4D6E34AD-B0F5-AB61-B7CB-A0FBCA085B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407" y="2708920"/>
            <a:ext cx="6064041" cy="3816424"/>
          </a:xfrm>
          <a:prstGeom prst="rect">
            <a:avLst/>
          </a:prstGeom>
        </p:spPr>
      </p:pic>
      <p:sp>
        <p:nvSpPr>
          <p:cNvPr id="4" name="圆角矩形 3">
            <a:extLst>
              <a:ext uri="{FF2B5EF4-FFF2-40B4-BE49-F238E27FC236}">
                <a16:creationId xmlns:a16="http://schemas.microsoft.com/office/drawing/2014/main" id="{B2E42191-88DF-187F-8B89-6E8F7A746FDE}"/>
              </a:ext>
            </a:extLst>
          </p:cNvPr>
          <p:cNvSpPr/>
          <p:nvPr/>
        </p:nvSpPr>
        <p:spPr>
          <a:xfrm>
            <a:off x="4383238" y="2780928"/>
            <a:ext cx="2000793" cy="360040"/>
          </a:xfrm>
          <a:prstGeom prst="roundRect">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a:extLst>
              <a:ext uri="{FF2B5EF4-FFF2-40B4-BE49-F238E27FC236}">
                <a16:creationId xmlns:a16="http://schemas.microsoft.com/office/drawing/2014/main" id="{0F118021-BED0-FBEC-93B5-00CA690F9B89}"/>
              </a:ext>
            </a:extLst>
          </p:cNvPr>
          <p:cNvSpPr/>
          <p:nvPr/>
        </p:nvSpPr>
        <p:spPr>
          <a:xfrm>
            <a:off x="4295800" y="4221088"/>
            <a:ext cx="2000792" cy="360040"/>
          </a:xfrm>
          <a:prstGeom prst="roundRect">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a:extLst>
              <a:ext uri="{FF2B5EF4-FFF2-40B4-BE49-F238E27FC236}">
                <a16:creationId xmlns:a16="http://schemas.microsoft.com/office/drawing/2014/main" id="{2A8BB9FD-2702-DC04-604F-E6A032B3B74B}"/>
              </a:ext>
            </a:extLst>
          </p:cNvPr>
          <p:cNvSpPr/>
          <p:nvPr/>
        </p:nvSpPr>
        <p:spPr>
          <a:xfrm>
            <a:off x="5537938" y="5013176"/>
            <a:ext cx="846093" cy="360040"/>
          </a:xfrm>
          <a:prstGeom prst="roundRect">
            <a:avLst/>
          </a:prstGeom>
          <a:solidFill>
            <a:srgbClr val="FFC000">
              <a:alpha val="46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5">
            <a:extLst>
              <a:ext uri="{FF2B5EF4-FFF2-40B4-BE49-F238E27FC236}">
                <a16:creationId xmlns:a16="http://schemas.microsoft.com/office/drawing/2014/main" id="{19ABAB71-B8E6-4AAD-248C-728C1A9DAD74}"/>
              </a:ext>
            </a:extLst>
          </p:cNvPr>
          <p:cNvSpPr/>
          <p:nvPr/>
        </p:nvSpPr>
        <p:spPr>
          <a:xfrm>
            <a:off x="5432555" y="5733256"/>
            <a:ext cx="846093" cy="360040"/>
          </a:xfrm>
          <a:prstGeom prst="roundRect">
            <a:avLst/>
          </a:prstGeom>
          <a:solidFill>
            <a:srgbClr val="FFC000">
              <a:alpha val="46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文本&#10;&#10;AI 生成的内容可能不正确。">
            <a:extLst>
              <a:ext uri="{FF2B5EF4-FFF2-40B4-BE49-F238E27FC236}">
                <a16:creationId xmlns:a16="http://schemas.microsoft.com/office/drawing/2014/main" id="{A4038D82-C0CD-FF21-F5AB-7EAB7FAEA2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6936" y="3057926"/>
            <a:ext cx="5186460" cy="2088232"/>
          </a:xfrm>
          <a:prstGeom prst="rect">
            <a:avLst/>
          </a:prstGeom>
          <a:effectLst>
            <a:glow rad="127000">
              <a:srgbClr val="FF00FF"/>
            </a:glow>
          </a:effectLst>
        </p:spPr>
      </p:pic>
    </p:spTree>
    <p:extLst>
      <p:ext uri="{BB962C8B-B14F-4D97-AF65-F5344CB8AC3E}">
        <p14:creationId xmlns:p14="http://schemas.microsoft.com/office/powerpoint/2010/main" val="82380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929318E-2A87-D067-0C29-9FB3CC4443B8}"/>
              </a:ext>
            </a:extLst>
          </p:cNvPr>
          <p:cNvSpPr>
            <a:spLocks noGrp="1"/>
          </p:cNvSpPr>
          <p:nvPr>
            <p:ph type="sldNum" sz="quarter" idx="11"/>
          </p:nvPr>
        </p:nvSpPr>
        <p:spPr/>
        <p:txBody>
          <a:bodyPr/>
          <a:lstStyle/>
          <a:p>
            <a:pPr>
              <a:defRPr/>
            </a:pPr>
            <a:fld id="{FEF569DF-D019-4843-B296-F7B6269C71E5}" type="slidenum">
              <a:rPr lang="en-US" altLang="zh-CN" smtClean="0"/>
              <a:pPr>
                <a:defRPr/>
              </a:pPr>
              <a:t>37</a:t>
            </a:fld>
            <a:endParaRPr lang="en-US" altLang="zh-CN"/>
          </a:p>
        </p:txBody>
      </p:sp>
      <p:sp>
        <p:nvSpPr>
          <p:cNvPr id="4" name="Rectangle 2">
            <a:extLst>
              <a:ext uri="{FF2B5EF4-FFF2-40B4-BE49-F238E27FC236}">
                <a16:creationId xmlns:a16="http://schemas.microsoft.com/office/drawing/2014/main" id="{EC419A9D-C6E4-672D-619A-D6FCD9483D8A}"/>
              </a:ext>
            </a:extLst>
          </p:cNvPr>
          <p:cNvSpPr txBox="1">
            <a:spLocks noChangeArrowheads="1"/>
          </p:cNvSpPr>
          <p:nvPr/>
        </p:nvSpPr>
        <p:spPr bwMode="auto">
          <a:xfrm>
            <a:off x="695399" y="225299"/>
            <a:ext cx="10365933" cy="105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a:r>
              <a:rPr lang="zh-CN" altLang="en-US" sz="3600" kern="0" dirty="0">
                <a:solidFill>
                  <a:srgbClr val="008000"/>
                </a:solidFill>
                <a:latin typeface="黑体" panose="02010609060101010101" pitchFamily="49" charset="-122"/>
                <a:ea typeface="黑体" panose="02010609060101010101" pitchFamily="49" charset="-122"/>
              </a:rPr>
              <a:t>步骤</a:t>
            </a:r>
            <a:r>
              <a:rPr lang="en-US" altLang="zh-CN" sz="3600" kern="0" dirty="0">
                <a:solidFill>
                  <a:srgbClr val="008000"/>
                </a:solidFill>
                <a:latin typeface="黑体" panose="02010609060101010101" pitchFamily="49" charset="-122"/>
                <a:ea typeface="黑体" panose="02010609060101010101" pitchFamily="49" charset="-122"/>
              </a:rPr>
              <a:t>5: </a:t>
            </a:r>
            <a:r>
              <a:rPr lang="zh-CN" altLang="en-US" sz="3600" kern="0" dirty="0">
                <a:solidFill>
                  <a:srgbClr val="008000"/>
                </a:solidFill>
                <a:latin typeface="黑体" panose="02010609060101010101" pitchFamily="49" charset="-122"/>
                <a:ea typeface="黑体" panose="02010609060101010101" pitchFamily="49" charset="-122"/>
              </a:rPr>
              <a:t>变异</a:t>
            </a:r>
            <a:endParaRPr lang="zh-CN" altLang="en-US" sz="3800" kern="0" dirty="0"/>
          </a:p>
        </p:txBody>
      </p:sp>
      <p:sp>
        <p:nvSpPr>
          <p:cNvPr id="6" name="内容占位符 4">
            <a:extLst>
              <a:ext uri="{FF2B5EF4-FFF2-40B4-BE49-F238E27FC236}">
                <a16:creationId xmlns:a16="http://schemas.microsoft.com/office/drawing/2014/main" id="{7AABF283-A262-1411-66E9-288569FEAB26}"/>
              </a:ext>
            </a:extLst>
          </p:cNvPr>
          <p:cNvSpPr txBox="1">
            <a:spLocks/>
          </p:cNvSpPr>
          <p:nvPr/>
        </p:nvSpPr>
        <p:spPr>
          <a:xfrm>
            <a:off x="695400" y="1029022"/>
            <a:ext cx="11103024" cy="1463874"/>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a:buNone/>
            </a:pPr>
            <a:r>
              <a:rPr lang="zh-CN" altLang="en-US" sz="2800" b="1" kern="0" dirty="0"/>
              <a:t>假设变异概率为</a:t>
            </a:r>
            <a:r>
              <a:rPr lang="en-US" altLang="zh-CN" sz="2800" b="1" kern="0" dirty="0"/>
              <a:t>0.1</a:t>
            </a:r>
            <a:r>
              <a:rPr lang="zh-CN" altLang="en-US" sz="2800" b="1" kern="0" dirty="0"/>
              <a:t>。对于每个染色体的每个基因随机生成 </a:t>
            </a:r>
            <a:r>
              <a:rPr lang="en-US" altLang="zh-CN" sz="2800" b="1" kern="0" dirty="0"/>
              <a:t>[0, 1] </a:t>
            </a:r>
            <a:r>
              <a:rPr lang="zh-CN" altLang="en-US" sz="2800" b="1" kern="0" dirty="0"/>
              <a:t>的随机数，若该随机数小于</a:t>
            </a:r>
            <a:r>
              <a:rPr lang="en-US" altLang="zh-CN" sz="2800" b="1" kern="0" dirty="0"/>
              <a:t>0.1</a:t>
            </a:r>
            <a:r>
              <a:rPr lang="zh-CN" altLang="en-US" sz="2800" b="1" kern="0" dirty="0"/>
              <a:t>，则改变基因的值；否则 改变基因的值 。以下是发生变异的染色体和基因改变的过程。</a:t>
            </a:r>
          </a:p>
        </p:txBody>
      </p:sp>
      <p:pic>
        <p:nvPicPr>
          <p:cNvPr id="8" name="图片 7" descr="文本, 信件&#10;&#10;AI 生成的内容可能不正确。">
            <a:extLst>
              <a:ext uri="{FF2B5EF4-FFF2-40B4-BE49-F238E27FC236}">
                <a16:creationId xmlns:a16="http://schemas.microsoft.com/office/drawing/2014/main" id="{7CF408C4-9B64-DE87-9C4E-D34C09B6BB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697" y="2505836"/>
            <a:ext cx="8016930" cy="1718945"/>
          </a:xfrm>
          <a:prstGeom prst="rect">
            <a:avLst/>
          </a:prstGeom>
        </p:spPr>
      </p:pic>
      <p:sp>
        <p:nvSpPr>
          <p:cNvPr id="2" name="圆角矩形标注 1"/>
          <p:cNvSpPr/>
          <p:nvPr/>
        </p:nvSpPr>
        <p:spPr>
          <a:xfrm>
            <a:off x="8976321" y="764704"/>
            <a:ext cx="3215680" cy="2664296"/>
          </a:xfrm>
          <a:prstGeom prst="wedgeRoundRectCallout">
            <a:avLst>
              <a:gd name="adj1" fmla="val -144469"/>
              <a:gd name="adj2" fmla="val 6591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实数编码的变异方法</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随机变异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非一致变异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均匀性变异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自适应变异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正态性变异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pic>
        <p:nvPicPr>
          <p:cNvPr id="10" name="图片 9" descr="文本&#10;&#10;AI 生成的内容可能不正确。">
            <a:extLst>
              <a:ext uri="{FF2B5EF4-FFF2-40B4-BE49-F238E27FC236}">
                <a16:creationId xmlns:a16="http://schemas.microsoft.com/office/drawing/2014/main" id="{9E66FE4C-FFA4-1DB8-0540-7BD69FD0B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481" y="4224781"/>
            <a:ext cx="7245511" cy="2614193"/>
          </a:xfrm>
          <a:prstGeom prst="rect">
            <a:avLst/>
          </a:prstGeom>
        </p:spPr>
      </p:pic>
      <p:sp>
        <p:nvSpPr>
          <p:cNvPr id="11" name="圆角矩形标注 1">
            <a:extLst>
              <a:ext uri="{FF2B5EF4-FFF2-40B4-BE49-F238E27FC236}">
                <a16:creationId xmlns:a16="http://schemas.microsoft.com/office/drawing/2014/main" id="{2E1C18E3-CE04-1680-D786-83E136771BA9}"/>
              </a:ext>
            </a:extLst>
          </p:cNvPr>
          <p:cNvSpPr/>
          <p:nvPr/>
        </p:nvSpPr>
        <p:spPr>
          <a:xfrm>
            <a:off x="8976320" y="755218"/>
            <a:ext cx="3215680" cy="2664296"/>
          </a:xfrm>
          <a:prstGeom prst="wedgeRoundRectCallout">
            <a:avLst>
              <a:gd name="adj1" fmla="val -170759"/>
              <a:gd name="adj2" fmla="val 406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实数编码的变异方法</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随机变异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非一致变异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均匀性变异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自适应变异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342900" indent="-342900">
              <a:lnSpc>
                <a:spcPct val="110000"/>
              </a:lnSpc>
              <a:buFont typeface="+mj-ea"/>
              <a:buAutoNum type="circleNumDbPlain"/>
            </a:pPr>
            <a:r>
              <a:rPr lang="zh-CN" altLang="en-US"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正态性变异</a:t>
            </a:r>
            <a:endParaRPr lang="en-US" altLang="zh-CN" sz="2400" b="1" dirty="0">
              <a:solidFill>
                <a:srgbClr val="FFFF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61103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0-#ppt_h/2"/>
                                          </p:val>
                                        </p:tav>
                                        <p:tav tm="100000">
                                          <p:val>
                                            <p:strVal val="#ppt_y"/>
                                          </p:val>
                                        </p:tav>
                                      </p:tavLst>
                                    </p:anim>
                                  </p:childTnLst>
                                </p:cTn>
                              </p:par>
                              <p:par>
                                <p:cTn id="19" presetID="2" presetClass="entr" presetSubtype="3"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1+#ppt_w/2"/>
                                          </p:val>
                                        </p:tav>
                                        <p:tav tm="100000">
                                          <p:val>
                                            <p:strVal val="#ppt_x"/>
                                          </p:val>
                                        </p:tav>
                                      </p:tavLst>
                                    </p:anim>
                                    <p:anim calcmode="lin" valueType="num">
                                      <p:cBhvr additive="base">
                                        <p:cTn id="22"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A389C-1C64-0482-E0EF-1D9C2D559C8E}"/>
            </a:ext>
          </a:extLst>
        </p:cNvPr>
        <p:cNvGrpSpPr/>
        <p:nvPr/>
      </p:nvGrpSpPr>
      <p:grpSpPr>
        <a:xfrm>
          <a:off x="0" y="0"/>
          <a:ext cx="0" cy="0"/>
          <a:chOff x="0" y="0"/>
          <a:chExt cx="0" cy="0"/>
        </a:xfrm>
      </p:grpSpPr>
      <p:sp>
        <p:nvSpPr>
          <p:cNvPr id="103426" name="Rectangle 2">
            <a:extLst>
              <a:ext uri="{FF2B5EF4-FFF2-40B4-BE49-F238E27FC236}">
                <a16:creationId xmlns:a16="http://schemas.microsoft.com/office/drawing/2014/main" id="{8D7794DB-22BC-9A86-F0C4-68CA27AF335E}"/>
              </a:ext>
            </a:extLst>
          </p:cNvPr>
          <p:cNvSpPr>
            <a:spLocks noGrp="1" noChangeArrowheads="1"/>
          </p:cNvSpPr>
          <p:nvPr>
            <p:ph type="title"/>
          </p:nvPr>
        </p:nvSpPr>
        <p:spPr>
          <a:xfrm>
            <a:off x="1981200" y="188640"/>
            <a:ext cx="8229600" cy="1371600"/>
          </a:xfrm>
        </p:spPr>
        <p:txBody>
          <a:bodyPr/>
          <a:lstStyle/>
          <a:p>
            <a:pPr algn="ctr"/>
            <a:r>
              <a:rPr lang="zh-CN" altLang="en-US" sz="3600" dirty="0">
                <a:solidFill>
                  <a:srgbClr val="008000"/>
                </a:solidFill>
                <a:latin typeface="黑体" panose="02010609060101010101" pitchFamily="49" charset="-122"/>
                <a:ea typeface="黑体" panose="02010609060101010101" pitchFamily="49" charset="-122"/>
              </a:rPr>
              <a:t>步骤</a:t>
            </a:r>
            <a:r>
              <a:rPr lang="en-US" altLang="zh-CN" sz="3600" dirty="0">
                <a:solidFill>
                  <a:srgbClr val="008000"/>
                </a:solidFill>
                <a:latin typeface="黑体" panose="02010609060101010101" pitchFamily="49" charset="-122"/>
                <a:ea typeface="黑体" panose="02010609060101010101" pitchFamily="49" charset="-122"/>
              </a:rPr>
              <a:t>6: </a:t>
            </a:r>
            <a:r>
              <a:rPr lang="zh-CN" altLang="en-US" sz="3600" dirty="0">
                <a:solidFill>
                  <a:srgbClr val="008000"/>
                </a:solidFill>
                <a:latin typeface="黑体" panose="02010609060101010101" pitchFamily="49" charset="-122"/>
                <a:ea typeface="黑体" panose="02010609060101010101" pitchFamily="49" charset="-122"/>
              </a:rPr>
              <a:t>重新评价染色体适应值</a:t>
            </a:r>
            <a:endParaRPr lang="zh-CN" altLang="en-US" sz="3800" dirty="0"/>
          </a:p>
        </p:txBody>
      </p:sp>
      <p:sp>
        <p:nvSpPr>
          <p:cNvPr id="2" name="灯片编号占位符 1">
            <a:extLst>
              <a:ext uri="{FF2B5EF4-FFF2-40B4-BE49-F238E27FC236}">
                <a16:creationId xmlns:a16="http://schemas.microsoft.com/office/drawing/2014/main" id="{4FA02DF6-4925-21D5-71E9-10454F6B4DEE}"/>
              </a:ext>
            </a:extLst>
          </p:cNvPr>
          <p:cNvSpPr>
            <a:spLocks noGrp="1"/>
          </p:cNvSpPr>
          <p:nvPr>
            <p:ph type="sldNum" sz="quarter" idx="11"/>
          </p:nvPr>
        </p:nvSpPr>
        <p:spPr/>
        <p:txBody>
          <a:bodyPr/>
          <a:lstStyle/>
          <a:p>
            <a:pPr>
              <a:defRPr/>
            </a:pPr>
            <a:fld id="{FEF569DF-D019-4843-B296-F7B6269C71E5}" type="slidenum">
              <a:rPr lang="en-US" altLang="zh-CN" smtClean="0"/>
              <a:pPr>
                <a:defRPr/>
              </a:pPr>
              <a:t>38</a:t>
            </a:fld>
            <a:endParaRPr lang="en-US" altLang="zh-CN" dirty="0"/>
          </a:p>
        </p:txBody>
      </p:sp>
      <p:sp>
        <p:nvSpPr>
          <p:cNvPr id="3" name="内容占位符 4">
            <a:extLst>
              <a:ext uri="{FF2B5EF4-FFF2-40B4-BE49-F238E27FC236}">
                <a16:creationId xmlns:a16="http://schemas.microsoft.com/office/drawing/2014/main" id="{12F69AC6-591B-9E9E-DE24-F87C3B63BAFC}"/>
              </a:ext>
            </a:extLst>
          </p:cNvPr>
          <p:cNvSpPr txBox="1">
            <a:spLocks/>
          </p:cNvSpPr>
          <p:nvPr/>
        </p:nvSpPr>
        <p:spPr>
          <a:xfrm>
            <a:off x="695400" y="1258652"/>
            <a:ext cx="10561832" cy="685562"/>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a:buNone/>
            </a:pPr>
            <a:r>
              <a:rPr lang="zh-CN" altLang="en-US" b="1" kern="0" dirty="0"/>
              <a:t>重新评价染色体适应值 ，更新</a:t>
            </a:r>
            <a:r>
              <a:rPr lang="en-US" altLang="zh-CN" b="1" kern="0" dirty="0"/>
              <a:t>Best</a:t>
            </a:r>
            <a:r>
              <a:rPr lang="zh-CN" altLang="en-US" b="1" kern="0" dirty="0"/>
              <a:t>。</a:t>
            </a:r>
          </a:p>
        </p:txBody>
      </p:sp>
      <p:pic>
        <p:nvPicPr>
          <p:cNvPr id="5" name="图片 4" descr="文本, 信件&#10;&#10;AI 生成的内容可能不正确。">
            <a:extLst>
              <a:ext uri="{FF2B5EF4-FFF2-40B4-BE49-F238E27FC236}">
                <a16:creationId xmlns:a16="http://schemas.microsoft.com/office/drawing/2014/main" id="{2C0CAFE5-26A1-3BA2-A0A4-5ADA613266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772" y="1944213"/>
            <a:ext cx="10339743" cy="2852939"/>
          </a:xfrm>
          <a:prstGeom prst="rect">
            <a:avLst/>
          </a:prstGeom>
        </p:spPr>
      </p:pic>
      <p:pic>
        <p:nvPicPr>
          <p:cNvPr id="9" name="图片 8" descr="文本&#10;&#10;AI 生成的内容可能不正确。">
            <a:extLst>
              <a:ext uri="{FF2B5EF4-FFF2-40B4-BE49-F238E27FC236}">
                <a16:creationId xmlns:a16="http://schemas.microsoft.com/office/drawing/2014/main" id="{33F617A0-1439-BFA3-0F96-245A967AA0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918" y="5009193"/>
            <a:ext cx="10424795" cy="1440160"/>
          </a:xfrm>
          <a:prstGeom prst="rect">
            <a:avLst/>
          </a:prstGeom>
        </p:spPr>
      </p:pic>
    </p:spTree>
    <p:extLst>
      <p:ext uri="{BB962C8B-B14F-4D97-AF65-F5344CB8AC3E}">
        <p14:creationId xmlns:p14="http://schemas.microsoft.com/office/powerpoint/2010/main" val="2837516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algn="ctr"/>
            <a:r>
              <a:rPr lang="zh-CN" altLang="en-US" sz="4000" dirty="0">
                <a:solidFill>
                  <a:srgbClr val="008000"/>
                </a:solidFill>
                <a:latin typeface="黑体" panose="02010609060101010101" pitchFamily="49" charset="-122"/>
                <a:ea typeface="黑体" panose="02010609060101010101" pitchFamily="49" charset="-122"/>
              </a:rPr>
              <a:t>步骤</a:t>
            </a:r>
            <a:r>
              <a:rPr lang="en-US" altLang="zh-CN" sz="4000" dirty="0">
                <a:solidFill>
                  <a:srgbClr val="008000"/>
                </a:solidFill>
                <a:latin typeface="黑体" panose="02010609060101010101" pitchFamily="49" charset="-122"/>
                <a:ea typeface="黑体" panose="02010609060101010101" pitchFamily="49" charset="-122"/>
              </a:rPr>
              <a:t>7: </a:t>
            </a:r>
            <a:r>
              <a:rPr lang="zh-CN" altLang="en-US" sz="4000" dirty="0">
                <a:solidFill>
                  <a:srgbClr val="008000"/>
                </a:solidFill>
                <a:latin typeface="黑体" panose="02010609060101010101" pitchFamily="49" charset="-122"/>
                <a:ea typeface="黑体" panose="02010609060101010101" pitchFamily="49" charset="-122"/>
              </a:rPr>
              <a:t>判断结束</a:t>
            </a:r>
            <a:endParaRPr lang="zh-CN" altLang="en-US" sz="3800" dirty="0"/>
          </a:p>
        </p:txBody>
      </p:sp>
      <p:sp>
        <p:nvSpPr>
          <p:cNvPr id="2" name="灯片编号占位符 1">
            <a:extLst>
              <a:ext uri="{FF2B5EF4-FFF2-40B4-BE49-F238E27FC236}">
                <a16:creationId xmlns:a16="http://schemas.microsoft.com/office/drawing/2014/main" id="{677BD74E-8414-5697-9FE5-4C2FE5B3D5A9}"/>
              </a:ext>
            </a:extLst>
          </p:cNvPr>
          <p:cNvSpPr>
            <a:spLocks noGrp="1"/>
          </p:cNvSpPr>
          <p:nvPr>
            <p:ph type="sldNum" sz="quarter" idx="11"/>
          </p:nvPr>
        </p:nvSpPr>
        <p:spPr/>
        <p:txBody>
          <a:bodyPr/>
          <a:lstStyle/>
          <a:p>
            <a:pPr>
              <a:defRPr/>
            </a:pPr>
            <a:fld id="{FEF569DF-D019-4843-B296-F7B6269C71E5}" type="slidenum">
              <a:rPr lang="en-US" altLang="zh-CN" smtClean="0"/>
              <a:pPr>
                <a:defRPr/>
              </a:pPr>
              <a:t>39</a:t>
            </a:fld>
            <a:endParaRPr lang="en-US" altLang="zh-CN"/>
          </a:p>
        </p:txBody>
      </p:sp>
      <p:sp>
        <p:nvSpPr>
          <p:cNvPr id="3" name="内容占位符 4">
            <a:extLst>
              <a:ext uri="{FF2B5EF4-FFF2-40B4-BE49-F238E27FC236}">
                <a16:creationId xmlns:a16="http://schemas.microsoft.com/office/drawing/2014/main" id="{4EF4163F-80DE-4D81-AA46-1B7D12BF7A80}"/>
              </a:ext>
            </a:extLst>
          </p:cNvPr>
          <p:cNvSpPr txBox="1">
            <a:spLocks/>
          </p:cNvSpPr>
          <p:nvPr/>
        </p:nvSpPr>
        <p:spPr>
          <a:xfrm>
            <a:off x="1020568" y="2085670"/>
            <a:ext cx="10561832" cy="2423450"/>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a:lnSpc>
                <a:spcPct val="150000"/>
              </a:lnSpc>
            </a:pPr>
            <a:r>
              <a:rPr lang="zh-CN" altLang="en-US" b="1" kern="0" dirty="0"/>
              <a:t>如果满足算法终止条件，则输出找到的最优解</a:t>
            </a:r>
            <a:r>
              <a:rPr lang="en-US" altLang="zh-CN" b="1" kern="0" dirty="0"/>
              <a:t>Best</a:t>
            </a:r>
            <a:r>
              <a:rPr lang="zh-CN" altLang="en-US" b="1" kern="0" dirty="0"/>
              <a:t>并退出程序。</a:t>
            </a:r>
            <a:endParaRPr lang="en-US" altLang="zh-CN" b="1" kern="0" dirty="0"/>
          </a:p>
          <a:p>
            <a:pPr>
              <a:lnSpc>
                <a:spcPct val="150000"/>
              </a:lnSpc>
            </a:pPr>
            <a:r>
              <a:rPr lang="zh-CN" altLang="en-US" b="1" kern="0" dirty="0"/>
              <a:t>否则返回步骤</a:t>
            </a:r>
            <a:r>
              <a:rPr lang="en-US" altLang="zh-CN" b="1" kern="0" dirty="0"/>
              <a:t>3</a:t>
            </a:r>
            <a:r>
              <a:rPr lang="zh-CN" altLang="en-US" b="1" kern="0" dirty="0"/>
              <a:t>继续执行。</a:t>
            </a:r>
          </a:p>
        </p:txBody>
      </p:sp>
    </p:spTree>
    <p:extLst>
      <p:ext uri="{BB962C8B-B14F-4D97-AF65-F5344CB8AC3E}">
        <p14:creationId xmlns:p14="http://schemas.microsoft.com/office/powerpoint/2010/main" val="12309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81200" y="18864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参数设置</a:t>
            </a:r>
          </a:p>
        </p:txBody>
      </p:sp>
      <p:sp>
        <p:nvSpPr>
          <p:cNvPr id="4" name="内容占位符 3"/>
          <p:cNvSpPr>
            <a:spLocks noGrp="1"/>
          </p:cNvSpPr>
          <p:nvPr>
            <p:ph idx="1"/>
          </p:nvPr>
        </p:nvSpPr>
        <p:spPr>
          <a:xfrm>
            <a:off x="983432" y="1412776"/>
            <a:ext cx="10153128" cy="5181128"/>
          </a:xfrm>
          <a:solidFill>
            <a:srgbClr val="F8FDC7"/>
          </a:solidFill>
        </p:spPr>
        <p:txBody>
          <a:bodyPr/>
          <a:lstStyle/>
          <a:p>
            <a:pPr>
              <a:lnSpc>
                <a:spcPct val="120000"/>
              </a:lnSpc>
            </a:pPr>
            <a:r>
              <a:rPr lang="zh-CN" altLang="en-US" b="1" dirty="0">
                <a:solidFill>
                  <a:srgbClr val="FF0000"/>
                </a:solidFill>
                <a:effectLst>
                  <a:outerShdw blurRad="38100" dist="38100" dir="2700000" algn="tl">
                    <a:srgbClr val="000000">
                      <a:alpha val="43137"/>
                    </a:srgbClr>
                  </a:outerShdw>
                </a:effectLst>
                <a:ea typeface="黑体" panose="02010609060101010101" pitchFamily="49" charset="-122"/>
              </a:rPr>
              <a:t>群体规模</a:t>
            </a:r>
            <a:r>
              <a:rPr lang="en-US" altLang="zh-CN" b="1" i="1" dirty="0">
                <a:solidFill>
                  <a:srgbClr val="FF0000"/>
                </a:solidFill>
                <a:effectLst>
                  <a:outerShdw blurRad="38100" dist="38100" dir="2700000" algn="tl">
                    <a:srgbClr val="000000">
                      <a:alpha val="43137"/>
                    </a:srgbClr>
                  </a:outerShdw>
                </a:effectLst>
                <a:ea typeface="黑体" panose="02010609060101010101" pitchFamily="49" charset="-122"/>
              </a:rPr>
              <a:t>N</a:t>
            </a:r>
          </a:p>
          <a:p>
            <a:pPr marL="0" indent="0">
              <a:lnSpc>
                <a:spcPct val="120000"/>
              </a:lnSpc>
              <a:buNone/>
            </a:pPr>
            <a:r>
              <a:rPr lang="en-US" altLang="zh-CN" b="1" i="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     </a:t>
            </a:r>
            <a:r>
              <a:rPr lang="en-US" altLang="zh-CN" b="1" i="1" dirty="0">
                <a:solidFill>
                  <a:schemeClr val="tx2"/>
                </a:solidFill>
                <a:latin typeface="宋体" panose="02010600030101010101" pitchFamily="2" charset="-122"/>
                <a:ea typeface="宋体" panose="02010600030101010101" pitchFamily="2" charset="-122"/>
              </a:rPr>
              <a:t>——</a:t>
            </a:r>
            <a:r>
              <a:rPr lang="zh-CN" altLang="en-US" b="1" dirty="0">
                <a:solidFill>
                  <a:schemeClr val="tx2"/>
                </a:solidFill>
                <a:latin typeface="华文楷体" panose="02010600040101010101" pitchFamily="2" charset="-122"/>
                <a:ea typeface="华文楷体" panose="02010600040101010101" pitchFamily="2" charset="-122"/>
              </a:rPr>
              <a:t>影响算法的搜索能力和运行效率</a:t>
            </a:r>
            <a:endParaRPr lang="en-US" altLang="zh-CN" b="1" dirty="0">
              <a:solidFill>
                <a:schemeClr val="tx2"/>
              </a:solidFill>
              <a:latin typeface="华文楷体" panose="02010600040101010101" pitchFamily="2" charset="-122"/>
              <a:ea typeface="华文楷体" panose="02010600040101010101" pitchFamily="2" charset="-122"/>
            </a:endParaRPr>
          </a:p>
          <a:p>
            <a:pPr marL="971550" lvl="1" indent="-514350">
              <a:lnSpc>
                <a:spcPct val="120000"/>
              </a:lnSpc>
              <a:buClr>
                <a:schemeClr val="tx1"/>
              </a:buClr>
              <a:buFont typeface="+mj-ea"/>
              <a:buAutoNum type="circleNumDbPlain"/>
            </a:pPr>
            <a:r>
              <a:rPr lang="zh-CN" altLang="en-US" sz="3200" b="1" dirty="0">
                <a:solidFill>
                  <a:schemeClr val="tx2"/>
                </a:solidFill>
                <a:ea typeface="华文楷体" panose="02010600040101010101" pitchFamily="2" charset="-122"/>
              </a:rPr>
              <a:t>若</a:t>
            </a:r>
            <a:r>
              <a:rPr lang="en-US" altLang="zh-CN" sz="3200" b="1" i="1" dirty="0">
                <a:solidFill>
                  <a:schemeClr val="tx2"/>
                </a:solidFill>
                <a:ea typeface="华文楷体" panose="02010600040101010101" pitchFamily="2" charset="-122"/>
              </a:rPr>
              <a:t>N</a:t>
            </a:r>
            <a:r>
              <a:rPr lang="zh-CN" altLang="en-US" sz="3200" b="1" dirty="0">
                <a:solidFill>
                  <a:schemeClr val="tx2"/>
                </a:solidFill>
                <a:ea typeface="华文楷体" panose="02010600040101010101" pitchFamily="2" charset="-122"/>
              </a:rPr>
              <a:t>设置较大，虽可以保证群体的多样性、提高算法的搜索能力，但势必增加算法的计算量，降低了算法的运行效率。</a:t>
            </a:r>
            <a:endParaRPr lang="en-US" altLang="zh-CN" sz="3200" b="1" dirty="0">
              <a:solidFill>
                <a:schemeClr val="tx2"/>
              </a:solidFill>
              <a:ea typeface="华文楷体" panose="02010600040101010101" pitchFamily="2" charset="-122"/>
            </a:endParaRPr>
          </a:p>
          <a:p>
            <a:pPr marL="971550" lvl="1" indent="-514350">
              <a:lnSpc>
                <a:spcPct val="120000"/>
              </a:lnSpc>
              <a:buClr>
                <a:schemeClr val="tx1"/>
              </a:buClr>
              <a:buFont typeface="+mj-ea"/>
              <a:buAutoNum type="circleNumDbPlain"/>
            </a:pPr>
            <a:r>
              <a:rPr lang="zh-CN" altLang="en-US" sz="3200" b="1" dirty="0">
                <a:solidFill>
                  <a:schemeClr val="tx2"/>
                </a:solidFill>
                <a:ea typeface="华文楷体" panose="02010600040101010101" pitchFamily="2" charset="-122"/>
              </a:rPr>
              <a:t>若</a:t>
            </a:r>
            <a:r>
              <a:rPr lang="en-US" altLang="zh-CN" sz="3200" b="1" i="1" dirty="0">
                <a:solidFill>
                  <a:schemeClr val="tx2"/>
                </a:solidFill>
                <a:ea typeface="华文楷体" panose="02010600040101010101" pitchFamily="2" charset="-122"/>
              </a:rPr>
              <a:t>N</a:t>
            </a:r>
            <a:r>
              <a:rPr lang="zh-CN" altLang="en-US" sz="3200" b="1" dirty="0">
                <a:solidFill>
                  <a:schemeClr val="tx2"/>
                </a:solidFill>
                <a:ea typeface="华文楷体" panose="02010600040101010101" pitchFamily="2" charset="-122"/>
              </a:rPr>
              <a:t>设置较小，虽然降低了计算量，但同时降低了每次进化中群体包含更多较好染色体的能力。</a:t>
            </a:r>
            <a:endParaRPr lang="en-US" altLang="zh-CN" sz="3200" b="1" dirty="0">
              <a:solidFill>
                <a:schemeClr val="tx2"/>
              </a:solidFill>
              <a:ea typeface="华文楷体" panose="02010600040101010101" pitchFamily="2" charset="-122"/>
            </a:endParaRPr>
          </a:p>
          <a:p>
            <a:pPr>
              <a:lnSpc>
                <a:spcPct val="120000"/>
              </a:lnSpc>
              <a:buClr>
                <a:schemeClr val="tx1"/>
              </a:buClr>
              <a:buFont typeface="Wingdings" panose="05000000000000000000" pitchFamily="2" charset="2"/>
              <a:buChar char="u"/>
            </a:pPr>
            <a:r>
              <a:rPr lang="en-US" altLang="zh-CN" b="1" i="1" dirty="0">
                <a:solidFill>
                  <a:srgbClr val="3333FF"/>
                </a:solidFill>
                <a:latin typeface="+mj-lt"/>
                <a:ea typeface="华文楷体" panose="02010600040101010101" pitchFamily="2" charset="-122"/>
              </a:rPr>
              <a:t>N</a:t>
            </a:r>
            <a:r>
              <a:rPr lang="zh-CN" altLang="en-US" b="1" dirty="0">
                <a:solidFill>
                  <a:srgbClr val="3333FF"/>
                </a:solidFill>
                <a:latin typeface="+mj-lt"/>
                <a:ea typeface="华文楷体" panose="02010600040101010101" pitchFamily="2" charset="-122"/>
              </a:rPr>
              <a:t>的设置一般为</a:t>
            </a:r>
            <a:r>
              <a:rPr lang="en-US" altLang="zh-CN" b="1" dirty="0">
                <a:solidFill>
                  <a:srgbClr val="3333FF"/>
                </a:solidFill>
                <a:latin typeface="+mj-lt"/>
                <a:ea typeface="华文楷体" panose="02010600040101010101" pitchFamily="2" charset="-122"/>
              </a:rPr>
              <a:t>20~100</a:t>
            </a:r>
            <a:r>
              <a:rPr lang="zh-CN" altLang="en-US" b="1" dirty="0">
                <a:solidFill>
                  <a:srgbClr val="3333FF"/>
                </a:solidFill>
                <a:latin typeface="+mj-lt"/>
                <a:ea typeface="华文楷体" panose="02010600040101010101" pitchFamily="2" charset="-122"/>
              </a:rPr>
              <a:t>。</a:t>
            </a:r>
            <a:endParaRPr lang="zh-CN" altLang="en-US" b="1" dirty="0">
              <a:solidFill>
                <a:srgbClr val="3333FF"/>
              </a:solidFill>
              <a:latin typeface="+mj-lt"/>
            </a:endParaRPr>
          </a:p>
        </p:txBody>
      </p:sp>
      <p:sp>
        <p:nvSpPr>
          <p:cNvPr id="2" name="灯片编号占位符 1">
            <a:extLst>
              <a:ext uri="{FF2B5EF4-FFF2-40B4-BE49-F238E27FC236}">
                <a16:creationId xmlns:a16="http://schemas.microsoft.com/office/drawing/2014/main" id="{93059AA6-8ADD-45D5-A490-EF83F4AEE19A}"/>
              </a:ext>
            </a:extLst>
          </p:cNvPr>
          <p:cNvSpPr>
            <a:spLocks noGrp="1"/>
          </p:cNvSpPr>
          <p:nvPr>
            <p:ph type="sldNum" sz="quarter" idx="11"/>
          </p:nvPr>
        </p:nvSpPr>
        <p:spPr/>
        <p:txBody>
          <a:bodyPr/>
          <a:lstStyle/>
          <a:p>
            <a:pPr>
              <a:defRPr/>
            </a:pPr>
            <a:fld id="{E0FB5469-1AEB-496D-971A-66705BF2F73C}" type="slidenum">
              <a:rPr lang="en-US" altLang="zh-CN" smtClean="0"/>
              <a:pPr>
                <a:defRPr/>
              </a:pPr>
              <a:t>40</a:t>
            </a:fld>
            <a:endParaRPr lang="en-US" altLang="zh-CN"/>
          </a:p>
        </p:txBody>
      </p:sp>
    </p:spTree>
    <p:extLst>
      <p:ext uri="{BB962C8B-B14F-4D97-AF65-F5344CB8AC3E}">
        <p14:creationId xmlns:p14="http://schemas.microsoft.com/office/powerpoint/2010/main" val="275906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81200" y="18864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参数设置</a:t>
            </a:r>
          </a:p>
        </p:txBody>
      </p:sp>
      <p:sp>
        <p:nvSpPr>
          <p:cNvPr id="4" name="内容占位符 3"/>
          <p:cNvSpPr>
            <a:spLocks noGrp="1"/>
          </p:cNvSpPr>
          <p:nvPr>
            <p:ph idx="1"/>
          </p:nvPr>
        </p:nvSpPr>
        <p:spPr>
          <a:xfrm>
            <a:off x="1055440" y="1412776"/>
            <a:ext cx="10153128" cy="5181128"/>
          </a:xfrm>
          <a:solidFill>
            <a:srgbClr val="F8FDC7"/>
          </a:solidFill>
        </p:spPr>
        <p:txBody>
          <a:bodyPr/>
          <a:lstStyle/>
          <a:p>
            <a:r>
              <a:rPr lang="zh-CN" altLang="en-US" b="1" dirty="0">
                <a:solidFill>
                  <a:srgbClr val="FF0000"/>
                </a:solidFill>
                <a:latin typeface="黑体" panose="02010609060101010101" pitchFamily="49" charset="-122"/>
                <a:ea typeface="黑体" panose="02010609060101010101" pitchFamily="49" charset="-122"/>
              </a:rPr>
              <a:t>染色体长度</a:t>
            </a:r>
            <a:r>
              <a:rPr lang="en-US" altLang="zh-CN" b="1" i="1" dirty="0">
                <a:solidFill>
                  <a:srgbClr val="FF0000"/>
                </a:solidFill>
                <a:ea typeface="宋体" panose="02010600030101010101" pitchFamily="2" charset="-122"/>
              </a:rPr>
              <a:t>L</a:t>
            </a:r>
            <a:r>
              <a:rPr lang="en-US" altLang="zh-CN" dirty="0">
                <a:solidFill>
                  <a:srgbClr val="FF0000"/>
                </a:solidFill>
                <a:ea typeface="宋体" panose="02010600030101010101" pitchFamily="2" charset="-122"/>
              </a:rPr>
              <a:t> </a:t>
            </a:r>
            <a:endParaRPr lang="zh-CN" altLang="en-US" dirty="0">
              <a:solidFill>
                <a:srgbClr val="FF0000"/>
              </a:solidFill>
              <a:ea typeface="宋体" panose="02010600030101010101" pitchFamily="2" charset="-122"/>
            </a:endParaRPr>
          </a:p>
          <a:p>
            <a:pPr marL="0" indent="0">
              <a:buNone/>
            </a:pPr>
            <a:r>
              <a:rPr lang="en-US" altLang="zh-CN" b="1" i="1" dirty="0">
                <a:solidFill>
                  <a:schemeClr val="tx2"/>
                </a:solidFill>
                <a:latin typeface="宋体" panose="02010600030101010101" pitchFamily="2" charset="-122"/>
                <a:ea typeface="宋体" panose="02010600030101010101" pitchFamily="2" charset="-122"/>
              </a:rPr>
              <a:t>  ——</a:t>
            </a:r>
            <a:r>
              <a:rPr lang="zh-CN" altLang="en-US" b="1" dirty="0">
                <a:solidFill>
                  <a:schemeClr val="tx2"/>
                </a:solidFill>
                <a:latin typeface="华文楷体" panose="02010600040101010101" pitchFamily="2" charset="-122"/>
                <a:ea typeface="华文楷体" panose="02010600040101010101" pitchFamily="2" charset="-122"/>
              </a:rPr>
              <a:t>影响算法的计算量和交配变异操作的效果</a:t>
            </a:r>
          </a:p>
          <a:p>
            <a:pPr marL="457200" lvl="1" indent="0">
              <a:buNone/>
            </a:pPr>
            <a:r>
              <a:rPr lang="en-US" altLang="zh-CN" sz="3200" b="1" dirty="0">
                <a:solidFill>
                  <a:schemeClr val="tx2"/>
                </a:solidFill>
                <a:latin typeface="华文楷体" panose="02010600040101010101" pitchFamily="2" charset="-122"/>
                <a:ea typeface="华文楷体" panose="02010600040101010101" pitchFamily="2" charset="-122"/>
              </a:rPr>
              <a:t> </a:t>
            </a:r>
            <a:r>
              <a:rPr lang="en-US" altLang="zh-CN" sz="3200" b="1" i="1" dirty="0">
                <a:solidFill>
                  <a:schemeClr val="tx2"/>
                </a:solidFill>
                <a:latin typeface="华文楷体" panose="02010600040101010101" pitchFamily="2" charset="-122"/>
                <a:ea typeface="华文楷体" panose="02010600040101010101" pitchFamily="2" charset="-122"/>
              </a:rPr>
              <a:t>L</a:t>
            </a:r>
            <a:r>
              <a:rPr lang="zh-CN" altLang="en-US" sz="3200" b="1" dirty="0">
                <a:solidFill>
                  <a:schemeClr val="tx2"/>
                </a:solidFill>
                <a:latin typeface="华文楷体" panose="02010600040101010101" pitchFamily="2" charset="-122"/>
                <a:ea typeface="华文楷体" panose="02010600040101010101" pitchFamily="2" charset="-122"/>
              </a:rPr>
              <a:t>的设置一般由问题的解的形式和选择的编码方法决定。</a:t>
            </a:r>
          </a:p>
          <a:p>
            <a:pPr marL="971550" lvl="1" indent="-514350">
              <a:buFont typeface="+mj-ea"/>
              <a:buAutoNum type="circleNumDbPlain"/>
            </a:pPr>
            <a:r>
              <a:rPr lang="zh-CN" altLang="en-US" sz="3200" b="1" dirty="0">
                <a:solidFill>
                  <a:schemeClr val="tx2"/>
                </a:solidFill>
                <a:latin typeface="华文楷体" panose="02010600040101010101" pitchFamily="2" charset="-122"/>
                <a:ea typeface="华文楷体" panose="02010600040101010101" pitchFamily="2" charset="-122"/>
              </a:rPr>
              <a:t>对于</a:t>
            </a:r>
            <a:r>
              <a:rPr lang="zh-CN" altLang="en-US" sz="3200" b="1" dirty="0">
                <a:solidFill>
                  <a:srgbClr val="CC00CC"/>
                </a:solidFill>
                <a:latin typeface="华文楷体" panose="02010600040101010101" pitchFamily="2" charset="-122"/>
                <a:ea typeface="华文楷体" panose="02010600040101010101" pitchFamily="2" charset="-122"/>
              </a:rPr>
              <a:t>二进制编码</a:t>
            </a:r>
            <a:r>
              <a:rPr lang="zh-CN" altLang="en-US" sz="3200" b="1" dirty="0">
                <a:solidFill>
                  <a:schemeClr val="tx2"/>
                </a:solidFill>
                <a:latin typeface="华文楷体" panose="02010600040101010101" pitchFamily="2" charset="-122"/>
                <a:ea typeface="华文楷体" panose="02010600040101010101" pitchFamily="2" charset="-122"/>
              </a:rPr>
              <a:t>方法，染色体的长度</a:t>
            </a:r>
            <a:r>
              <a:rPr lang="en-US" altLang="zh-CN" sz="3200" b="1" i="1" dirty="0">
                <a:solidFill>
                  <a:schemeClr val="tx2"/>
                </a:solidFill>
                <a:latin typeface="华文楷体" panose="02010600040101010101" pitchFamily="2" charset="-122"/>
                <a:ea typeface="华文楷体" panose="02010600040101010101" pitchFamily="2" charset="-122"/>
              </a:rPr>
              <a:t>L</a:t>
            </a:r>
            <a:r>
              <a:rPr lang="zh-CN" altLang="en-US" sz="3200" b="1" dirty="0">
                <a:solidFill>
                  <a:schemeClr val="tx2"/>
                </a:solidFill>
                <a:latin typeface="华文楷体" panose="02010600040101010101" pitchFamily="2" charset="-122"/>
                <a:ea typeface="华文楷体" panose="02010600040101010101" pitchFamily="2" charset="-122"/>
              </a:rPr>
              <a:t>根据解的取值范围和规定精度要求选择大小。</a:t>
            </a:r>
            <a:endParaRPr lang="en-US" altLang="zh-CN" sz="3200" b="1" dirty="0">
              <a:solidFill>
                <a:schemeClr val="tx2"/>
              </a:solidFill>
              <a:latin typeface="华文楷体" panose="02010600040101010101" pitchFamily="2" charset="-122"/>
              <a:ea typeface="华文楷体" panose="02010600040101010101" pitchFamily="2" charset="-122"/>
            </a:endParaRPr>
          </a:p>
          <a:p>
            <a:pPr marL="971550" lvl="1" indent="-514350">
              <a:buFont typeface="+mj-ea"/>
              <a:buAutoNum type="circleNumDbPlain"/>
            </a:pPr>
            <a:r>
              <a:rPr lang="zh-CN" altLang="en-US" sz="3200" b="1" dirty="0">
                <a:solidFill>
                  <a:schemeClr val="tx2"/>
                </a:solidFill>
                <a:latin typeface="华文楷体" panose="02010600040101010101" pitchFamily="2" charset="-122"/>
                <a:ea typeface="华文楷体" panose="02010600040101010101" pitchFamily="2" charset="-122"/>
              </a:rPr>
              <a:t>对于</a:t>
            </a:r>
            <a:r>
              <a:rPr lang="zh-CN" altLang="en-US" sz="3200" b="1" dirty="0">
                <a:solidFill>
                  <a:srgbClr val="FF00FF"/>
                </a:solidFill>
                <a:latin typeface="华文楷体" panose="02010600040101010101" pitchFamily="2" charset="-122"/>
                <a:ea typeface="华文楷体" panose="02010600040101010101" pitchFamily="2" charset="-122"/>
              </a:rPr>
              <a:t>浮点数编码</a:t>
            </a:r>
            <a:r>
              <a:rPr lang="zh-CN" altLang="en-US" sz="3200" b="1" dirty="0">
                <a:solidFill>
                  <a:schemeClr val="tx2"/>
                </a:solidFill>
                <a:latin typeface="华文楷体" panose="02010600040101010101" pitchFamily="2" charset="-122"/>
                <a:ea typeface="华文楷体" panose="02010600040101010101" pitchFamily="2" charset="-122"/>
              </a:rPr>
              <a:t>方法，染色体的长度</a:t>
            </a:r>
            <a:r>
              <a:rPr lang="en-US" altLang="zh-CN" sz="3200" b="1" i="1" dirty="0">
                <a:solidFill>
                  <a:schemeClr val="tx2"/>
                </a:solidFill>
                <a:latin typeface="华文楷体" panose="02010600040101010101" pitchFamily="2" charset="-122"/>
                <a:ea typeface="华文楷体" panose="02010600040101010101" pitchFamily="2" charset="-122"/>
              </a:rPr>
              <a:t>L</a:t>
            </a:r>
            <a:r>
              <a:rPr lang="en-US" altLang="zh-CN" sz="3200" b="1" dirty="0">
                <a:solidFill>
                  <a:schemeClr val="tx2"/>
                </a:solidFill>
                <a:latin typeface="华文楷体" panose="02010600040101010101" pitchFamily="2" charset="-122"/>
                <a:ea typeface="华文楷体" panose="02010600040101010101" pitchFamily="2" charset="-122"/>
              </a:rPr>
              <a:t> </a:t>
            </a:r>
            <a:r>
              <a:rPr lang="zh-CN" altLang="en-US" sz="3200" b="1" dirty="0">
                <a:solidFill>
                  <a:schemeClr val="tx2"/>
                </a:solidFill>
                <a:latin typeface="华文楷体" panose="02010600040101010101" pitchFamily="2" charset="-122"/>
                <a:ea typeface="华文楷体" panose="02010600040101010101" pitchFamily="2" charset="-122"/>
              </a:rPr>
              <a:t>跟问题定义的解的维数</a:t>
            </a:r>
            <a:r>
              <a:rPr lang="en-US" altLang="zh-CN" sz="3200" b="1" i="1" dirty="0">
                <a:solidFill>
                  <a:schemeClr val="tx2"/>
                </a:solidFill>
                <a:latin typeface="华文楷体" panose="02010600040101010101" pitchFamily="2" charset="-122"/>
                <a:ea typeface="华文楷体" panose="02010600040101010101" pitchFamily="2" charset="-122"/>
              </a:rPr>
              <a:t>D</a:t>
            </a:r>
            <a:r>
              <a:rPr lang="zh-CN" altLang="en-US" sz="3200" b="1" dirty="0">
                <a:solidFill>
                  <a:schemeClr val="tx2"/>
                </a:solidFill>
                <a:latin typeface="华文楷体" panose="02010600040101010101" pitchFamily="2" charset="-122"/>
                <a:ea typeface="华文楷体" panose="02010600040101010101" pitchFamily="2" charset="-122"/>
              </a:rPr>
              <a:t>相同。</a:t>
            </a:r>
          </a:p>
          <a:p>
            <a:pPr marL="971550" lvl="1" indent="-514350">
              <a:buFont typeface="+mj-ea"/>
              <a:buAutoNum type="circleNumDbPlain"/>
            </a:pPr>
            <a:r>
              <a:rPr lang="zh-CN" altLang="en-US" sz="3200" b="1" dirty="0">
                <a:solidFill>
                  <a:schemeClr val="tx2"/>
                </a:solidFill>
                <a:latin typeface="华文楷体" panose="02010600040101010101" pitchFamily="2" charset="-122"/>
                <a:ea typeface="华文楷体" panose="02010600040101010101" pitchFamily="2" charset="-122"/>
              </a:rPr>
              <a:t>染色体除定长编码外，还可以变长编码。</a:t>
            </a:r>
            <a:endParaRPr lang="zh-CN" altLang="en-US" sz="3200" b="1" dirty="0">
              <a:solidFill>
                <a:srgbClr val="3333FF"/>
              </a:solidFill>
            </a:endParaRPr>
          </a:p>
        </p:txBody>
      </p:sp>
      <p:sp>
        <p:nvSpPr>
          <p:cNvPr id="2" name="灯片编号占位符 1">
            <a:extLst>
              <a:ext uri="{FF2B5EF4-FFF2-40B4-BE49-F238E27FC236}">
                <a16:creationId xmlns:a16="http://schemas.microsoft.com/office/drawing/2014/main" id="{4AD7C480-5C35-86AF-0B5B-3AD95D680163}"/>
              </a:ext>
            </a:extLst>
          </p:cNvPr>
          <p:cNvSpPr>
            <a:spLocks noGrp="1"/>
          </p:cNvSpPr>
          <p:nvPr>
            <p:ph type="sldNum" sz="quarter" idx="11"/>
          </p:nvPr>
        </p:nvSpPr>
        <p:spPr/>
        <p:txBody>
          <a:bodyPr/>
          <a:lstStyle/>
          <a:p>
            <a:pPr>
              <a:defRPr/>
            </a:pPr>
            <a:fld id="{E0FB5469-1AEB-496D-971A-66705BF2F73C}" type="slidenum">
              <a:rPr lang="en-US" altLang="zh-CN" smtClean="0"/>
              <a:pPr>
                <a:defRPr/>
              </a:pPr>
              <a:t>41</a:t>
            </a:fld>
            <a:endParaRPr lang="en-US" altLang="zh-CN"/>
          </a:p>
        </p:txBody>
      </p:sp>
    </p:spTree>
    <p:extLst>
      <p:ext uri="{BB962C8B-B14F-4D97-AF65-F5344CB8AC3E}">
        <p14:creationId xmlns:p14="http://schemas.microsoft.com/office/powerpoint/2010/main" val="257086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81200" y="44624"/>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参数设置</a:t>
            </a:r>
          </a:p>
        </p:txBody>
      </p:sp>
      <p:sp>
        <p:nvSpPr>
          <p:cNvPr id="4" name="内容占位符 3"/>
          <p:cNvSpPr>
            <a:spLocks noGrp="1"/>
          </p:cNvSpPr>
          <p:nvPr>
            <p:ph idx="1"/>
          </p:nvPr>
        </p:nvSpPr>
        <p:spPr>
          <a:xfrm>
            <a:off x="1055440" y="1196752"/>
            <a:ext cx="10225136" cy="5616624"/>
          </a:xfrm>
          <a:solidFill>
            <a:srgbClr val="F8FDC7"/>
          </a:solidFill>
        </p:spPr>
        <p:txBody>
          <a:bodyPr/>
          <a:lstStyle/>
          <a:p>
            <a:r>
              <a:rPr lang="zh-CN" altLang="en-US" b="1" dirty="0">
                <a:solidFill>
                  <a:srgbClr val="FF0000"/>
                </a:solidFill>
                <a:latin typeface="黑体" panose="02010609060101010101" pitchFamily="49" charset="-122"/>
                <a:ea typeface="黑体" panose="02010609060101010101" pitchFamily="49" charset="-122"/>
              </a:rPr>
              <a:t>交叉概率</a:t>
            </a:r>
            <a:r>
              <a:rPr lang="en-US" altLang="zh-CN" b="1" i="1" dirty="0">
                <a:solidFill>
                  <a:srgbClr val="FF0000"/>
                </a:solidFill>
                <a:ea typeface="宋体" panose="02010600030101010101" pitchFamily="2" charset="-122"/>
              </a:rPr>
              <a:t>P</a:t>
            </a:r>
            <a:r>
              <a:rPr lang="en-US" altLang="zh-CN" b="1" i="1" baseline="-25000" dirty="0">
                <a:solidFill>
                  <a:srgbClr val="FF0000"/>
                </a:solidFill>
                <a:ea typeface="宋体" panose="02010600030101010101" pitchFamily="2" charset="-122"/>
              </a:rPr>
              <a:t>c</a:t>
            </a:r>
            <a:r>
              <a:rPr lang="en-US" altLang="zh-CN" dirty="0">
                <a:solidFill>
                  <a:srgbClr val="FF0000"/>
                </a:solidFill>
                <a:ea typeface="宋体" panose="02010600030101010101" pitchFamily="2" charset="-122"/>
              </a:rPr>
              <a:t> </a:t>
            </a:r>
            <a:endParaRPr lang="zh-CN" altLang="en-US" dirty="0">
              <a:solidFill>
                <a:srgbClr val="FF0000"/>
              </a:solidFill>
              <a:ea typeface="宋体" panose="02010600030101010101" pitchFamily="2" charset="-122"/>
            </a:endParaRPr>
          </a:p>
          <a:p>
            <a:pPr lvl="1">
              <a:buClr>
                <a:schemeClr val="tx1"/>
              </a:buClr>
              <a:buNone/>
            </a:pPr>
            <a:r>
              <a:rPr lang="en-US" altLang="zh-CN" sz="2400" b="1" i="1" dirty="0">
                <a:solidFill>
                  <a:schemeClr val="tx2"/>
                </a:solidFill>
                <a:latin typeface="宋体" panose="02010600030101010101" pitchFamily="2" charset="-122"/>
                <a:ea typeface="宋体" panose="02010600030101010101" pitchFamily="2" charset="-122"/>
              </a:rPr>
              <a:t>  </a:t>
            </a:r>
            <a:r>
              <a:rPr lang="zh-CN" altLang="en-US" b="1" dirty="0">
                <a:solidFill>
                  <a:schemeClr val="tx2"/>
                </a:solidFill>
                <a:latin typeface="华文楷体" panose="02010600040101010101" pitchFamily="2" charset="-122"/>
                <a:ea typeface="华文楷体" panose="02010600040101010101" pitchFamily="2" charset="-122"/>
              </a:rPr>
              <a:t>决定进化过程种群参加交叉的染色体平均数目</a:t>
            </a:r>
            <a:endParaRPr lang="en-US" altLang="zh-CN" b="1" dirty="0">
              <a:solidFill>
                <a:schemeClr val="tx2"/>
              </a:solidFill>
              <a:latin typeface="华文楷体" panose="02010600040101010101" pitchFamily="2" charset="-122"/>
              <a:ea typeface="华文楷体" panose="02010600040101010101" pitchFamily="2" charset="-122"/>
            </a:endParaRPr>
          </a:p>
          <a:p>
            <a:pPr lvl="1">
              <a:buClr>
                <a:schemeClr val="tx1"/>
              </a:buClr>
              <a:buFont typeface="Wingdings" panose="05000000000000000000" pitchFamily="2" charset="2"/>
              <a:buChar char="ü"/>
            </a:pPr>
            <a:r>
              <a:rPr lang="zh-CN" altLang="en-US" b="1" dirty="0">
                <a:solidFill>
                  <a:srgbClr val="3333FF"/>
                </a:solidFill>
                <a:ea typeface="华文楷体" panose="02010600040101010101" pitchFamily="2" charset="-122"/>
              </a:rPr>
              <a:t>取值一般为</a:t>
            </a:r>
            <a:r>
              <a:rPr lang="en-US" altLang="zh-CN" b="1" dirty="0">
                <a:solidFill>
                  <a:srgbClr val="3333FF"/>
                </a:solidFill>
                <a:ea typeface="华文楷体" panose="02010600040101010101" pitchFamily="2" charset="-122"/>
              </a:rPr>
              <a:t>0.4</a:t>
            </a:r>
            <a:r>
              <a:rPr lang="zh-CN" altLang="en-US" b="1" dirty="0">
                <a:solidFill>
                  <a:srgbClr val="3333FF"/>
                </a:solidFill>
                <a:ea typeface="华文楷体" panose="02010600040101010101" pitchFamily="2" charset="-122"/>
              </a:rPr>
              <a:t>至</a:t>
            </a:r>
            <a:r>
              <a:rPr lang="en-US" altLang="zh-CN" b="1" dirty="0">
                <a:solidFill>
                  <a:srgbClr val="3333FF"/>
                </a:solidFill>
                <a:ea typeface="华文楷体" panose="02010600040101010101" pitchFamily="2" charset="-122"/>
              </a:rPr>
              <a:t>0.99</a:t>
            </a:r>
            <a:r>
              <a:rPr lang="zh-CN" altLang="en-US" b="1" dirty="0">
                <a:solidFill>
                  <a:srgbClr val="3333FF"/>
                </a:solidFill>
                <a:ea typeface="华文楷体" panose="02010600040101010101" pitchFamily="2" charset="-122"/>
              </a:rPr>
              <a:t>。</a:t>
            </a:r>
            <a:endParaRPr lang="en-US" altLang="zh-CN" b="1" dirty="0">
              <a:solidFill>
                <a:srgbClr val="3333FF"/>
              </a:solidFill>
              <a:ea typeface="华文楷体" panose="02010600040101010101" pitchFamily="2" charset="-122"/>
            </a:endParaRPr>
          </a:p>
          <a:p>
            <a:r>
              <a:rPr lang="zh-CN" altLang="en-US" b="1" dirty="0">
                <a:solidFill>
                  <a:srgbClr val="CC00CC"/>
                </a:solidFill>
                <a:latin typeface="黑体" panose="02010609060101010101" pitchFamily="49" charset="-122"/>
                <a:ea typeface="黑体" panose="02010609060101010101" pitchFamily="49" charset="-122"/>
              </a:rPr>
              <a:t>变异概率</a:t>
            </a:r>
            <a:r>
              <a:rPr lang="en-US" altLang="zh-CN" b="1" i="1" dirty="0">
                <a:solidFill>
                  <a:srgbClr val="CC00CC"/>
                </a:solidFill>
                <a:ea typeface="宋体" panose="02010600030101010101" pitchFamily="2" charset="-122"/>
              </a:rPr>
              <a:t>P</a:t>
            </a:r>
            <a:r>
              <a:rPr lang="en-US" altLang="zh-CN" b="1" i="1" baseline="-25000" dirty="0">
                <a:solidFill>
                  <a:srgbClr val="CC00CC"/>
                </a:solidFill>
                <a:ea typeface="宋体" panose="02010600030101010101" pitchFamily="2" charset="-122"/>
              </a:rPr>
              <a:t>m</a:t>
            </a:r>
            <a:r>
              <a:rPr lang="en-US" altLang="zh-CN" dirty="0">
                <a:solidFill>
                  <a:srgbClr val="CC00CC"/>
                </a:solidFill>
                <a:ea typeface="宋体" panose="02010600030101010101" pitchFamily="2" charset="-122"/>
              </a:rPr>
              <a:t> </a:t>
            </a:r>
            <a:endParaRPr lang="zh-CN" altLang="en-US" dirty="0">
              <a:solidFill>
                <a:srgbClr val="CC00CC"/>
              </a:solidFill>
              <a:ea typeface="宋体" panose="02010600030101010101" pitchFamily="2" charset="-122"/>
            </a:endParaRPr>
          </a:p>
          <a:p>
            <a:pPr marL="0" indent="0">
              <a:buNone/>
            </a:pPr>
            <a:r>
              <a:rPr lang="en-US" altLang="zh-CN" sz="2800" b="1" i="1" dirty="0">
                <a:solidFill>
                  <a:schemeClr val="tx2"/>
                </a:solidFill>
                <a:latin typeface="宋体" panose="02010600030101010101" pitchFamily="2" charset="-122"/>
                <a:ea typeface="宋体" panose="02010600030101010101" pitchFamily="2" charset="-122"/>
              </a:rPr>
              <a:t>    </a:t>
            </a:r>
            <a:r>
              <a:rPr lang="zh-CN" altLang="en-US" sz="2800" b="1" dirty="0">
                <a:solidFill>
                  <a:schemeClr val="tx2"/>
                </a:solidFill>
                <a:latin typeface="华文楷体" panose="02010600040101010101" pitchFamily="2" charset="-122"/>
                <a:ea typeface="华文楷体" panose="02010600040101010101" pitchFamily="2" charset="-122"/>
              </a:rPr>
              <a:t>增加群体进化的多样性，决定进化过程中群体发生变异的基因平均个数。</a:t>
            </a:r>
          </a:p>
          <a:p>
            <a:pPr marL="971550" lvl="1" indent="-514350">
              <a:buClr>
                <a:schemeClr val="tx1"/>
              </a:buClr>
              <a:buFont typeface="+mj-ea"/>
              <a:buAutoNum type="circleNumDbPlain"/>
            </a:pPr>
            <a:r>
              <a:rPr lang="en-US" altLang="zh-CN" b="1" dirty="0">
                <a:solidFill>
                  <a:schemeClr val="tx2"/>
                </a:solidFill>
                <a:latin typeface="华文楷体" panose="02010600040101010101" pitchFamily="2" charset="-122"/>
                <a:ea typeface="华文楷体" panose="02010600040101010101" pitchFamily="2" charset="-122"/>
              </a:rPr>
              <a:t> </a:t>
            </a:r>
            <a:r>
              <a:rPr lang="zh-CN" altLang="en-US" b="1" dirty="0">
                <a:solidFill>
                  <a:srgbClr val="008000"/>
                </a:solidFill>
                <a:ea typeface="华文楷体" panose="02010600040101010101" pitchFamily="2" charset="-122"/>
              </a:rPr>
              <a:t>取值一般为</a:t>
            </a:r>
            <a:r>
              <a:rPr lang="en-US" altLang="zh-CN" b="1" dirty="0">
                <a:solidFill>
                  <a:srgbClr val="008000"/>
                </a:solidFill>
                <a:ea typeface="华文楷体" panose="02010600040101010101" pitchFamily="2" charset="-122"/>
              </a:rPr>
              <a:t>0.001</a:t>
            </a:r>
            <a:r>
              <a:rPr lang="zh-CN" altLang="en-US" b="1" dirty="0">
                <a:solidFill>
                  <a:srgbClr val="008000"/>
                </a:solidFill>
                <a:ea typeface="华文楷体" panose="02010600040101010101" pitchFamily="2" charset="-122"/>
              </a:rPr>
              <a:t>至</a:t>
            </a:r>
            <a:r>
              <a:rPr lang="en-US" altLang="zh-CN" b="1" dirty="0">
                <a:solidFill>
                  <a:srgbClr val="008000"/>
                </a:solidFill>
                <a:ea typeface="华文楷体" panose="02010600040101010101" pitchFamily="2" charset="-122"/>
              </a:rPr>
              <a:t>0.1</a:t>
            </a:r>
            <a:r>
              <a:rPr lang="zh-CN" altLang="en-US" b="1" dirty="0">
                <a:solidFill>
                  <a:srgbClr val="008000"/>
                </a:solidFill>
                <a:ea typeface="华文楷体" panose="02010600040101010101" pitchFamily="2" charset="-122"/>
              </a:rPr>
              <a:t>之间。</a:t>
            </a:r>
          </a:p>
          <a:p>
            <a:pPr marL="971550" lvl="1" indent="-514350">
              <a:buClr>
                <a:schemeClr val="tx1"/>
              </a:buClr>
              <a:buFont typeface="+mj-ea"/>
              <a:buAutoNum type="circleNumDbPlain"/>
            </a:pPr>
            <a:r>
              <a:rPr lang="en-US" altLang="zh-CN" b="1" dirty="0">
                <a:solidFill>
                  <a:schemeClr val="tx2"/>
                </a:solidFill>
                <a:latin typeface="华文楷体" panose="02010600040101010101" pitchFamily="2" charset="-122"/>
                <a:ea typeface="华文楷体" panose="02010600040101010101" pitchFamily="2" charset="-122"/>
              </a:rPr>
              <a:t> </a:t>
            </a:r>
            <a:r>
              <a:rPr lang="en-US" altLang="zh-CN" b="1" i="1" dirty="0">
                <a:solidFill>
                  <a:schemeClr val="tx2"/>
                </a:solidFill>
                <a:latin typeface="华文楷体" panose="02010600040101010101" pitchFamily="2" charset="-122"/>
                <a:ea typeface="华文楷体" panose="02010600040101010101" pitchFamily="2" charset="-122"/>
              </a:rPr>
              <a:t>P</a:t>
            </a:r>
            <a:r>
              <a:rPr lang="en-US" altLang="zh-CN" b="1" i="1" baseline="-25000" dirty="0">
                <a:solidFill>
                  <a:schemeClr val="tx2"/>
                </a:solidFill>
                <a:latin typeface="华文楷体" panose="02010600040101010101" pitchFamily="2" charset="-122"/>
                <a:ea typeface="华文楷体" panose="02010600040101010101" pitchFamily="2" charset="-122"/>
              </a:rPr>
              <a:t>m</a:t>
            </a:r>
            <a:r>
              <a:rPr lang="zh-CN" altLang="en-US" b="1" dirty="0">
                <a:solidFill>
                  <a:schemeClr val="tx2"/>
                </a:solidFill>
                <a:latin typeface="华文楷体" panose="02010600040101010101" pitchFamily="2" charset="-122"/>
                <a:ea typeface="华文楷体" panose="02010600040101010101" pitchFamily="2" charset="-122"/>
              </a:rPr>
              <a:t>的值不宜过大。因变异对已找到的较优解具有一定的破坏作用，</a:t>
            </a:r>
            <a:r>
              <a:rPr lang="en-US" altLang="zh-CN" b="1" i="1" dirty="0">
                <a:solidFill>
                  <a:schemeClr val="tx2"/>
                </a:solidFill>
                <a:latin typeface="华文楷体" panose="02010600040101010101" pitchFamily="2" charset="-122"/>
                <a:ea typeface="华文楷体" panose="02010600040101010101" pitchFamily="2" charset="-122"/>
              </a:rPr>
              <a:t>P</a:t>
            </a:r>
            <a:r>
              <a:rPr lang="en-US" altLang="zh-CN" b="1" i="1" baseline="-25000" dirty="0">
                <a:solidFill>
                  <a:schemeClr val="tx2"/>
                </a:solidFill>
                <a:latin typeface="华文楷体" panose="02010600040101010101" pitchFamily="2" charset="-122"/>
                <a:ea typeface="华文楷体" panose="02010600040101010101" pitchFamily="2" charset="-122"/>
              </a:rPr>
              <a:t>m</a:t>
            </a:r>
            <a:r>
              <a:rPr lang="zh-CN" altLang="en-US" b="1" dirty="0">
                <a:solidFill>
                  <a:schemeClr val="tx2"/>
                </a:solidFill>
                <a:latin typeface="华文楷体" panose="02010600040101010101" pitchFamily="2" charset="-122"/>
                <a:ea typeface="华文楷体" panose="02010600040101010101" pitchFamily="2" charset="-122"/>
              </a:rPr>
              <a:t>值太大可能导致算法目前处于的较好的搜索状态倒退回原来较差的情况。</a:t>
            </a:r>
            <a:endParaRPr lang="zh-CN" altLang="en-US" b="1" dirty="0">
              <a:solidFill>
                <a:srgbClr val="3333FF"/>
              </a:solidFill>
              <a:ea typeface="华文楷体" panose="02010600040101010101" pitchFamily="2" charset="-122"/>
            </a:endParaRPr>
          </a:p>
          <a:p>
            <a:pPr marL="628650" indent="-571500">
              <a:buClr>
                <a:schemeClr val="tx1"/>
              </a:buClr>
            </a:pPr>
            <a:r>
              <a:rPr lang="zh-CN" altLang="en-US" sz="2800" b="1" dirty="0">
                <a:solidFill>
                  <a:schemeClr val="tx2"/>
                </a:solidFill>
                <a:latin typeface="华文楷体" panose="02010600040101010101" pitchFamily="2" charset="-122"/>
                <a:ea typeface="华文楷体" panose="02010600040101010101" pitchFamily="2" charset="-122"/>
              </a:rPr>
              <a:t>可用自适应方法在算法运行过程调整</a:t>
            </a:r>
            <a:r>
              <a:rPr lang="en-US" altLang="zh-CN" sz="2800" b="1" i="1" dirty="0">
                <a:solidFill>
                  <a:srgbClr val="FF0000"/>
                </a:solidFill>
                <a:ea typeface="宋体" panose="02010600030101010101" pitchFamily="2" charset="-122"/>
              </a:rPr>
              <a:t>P</a:t>
            </a:r>
            <a:r>
              <a:rPr lang="en-US" altLang="zh-CN" sz="2800" b="1" i="1" baseline="-25000" dirty="0">
                <a:solidFill>
                  <a:srgbClr val="FF0000"/>
                </a:solidFill>
                <a:ea typeface="宋体" panose="02010600030101010101" pitchFamily="2" charset="-122"/>
              </a:rPr>
              <a:t>c</a:t>
            </a:r>
            <a:r>
              <a:rPr lang="zh-CN" altLang="en-US" sz="2800" b="1" dirty="0">
                <a:solidFill>
                  <a:schemeClr val="tx2"/>
                </a:solidFill>
                <a:latin typeface="华文楷体" panose="02010600040101010101" pitchFamily="2" charset="-122"/>
                <a:ea typeface="华文楷体" panose="02010600040101010101" pitchFamily="2" charset="-122"/>
              </a:rPr>
              <a:t>和</a:t>
            </a:r>
            <a:r>
              <a:rPr lang="en-US" altLang="zh-CN" sz="2800" b="1" i="1" dirty="0">
                <a:solidFill>
                  <a:srgbClr val="CC00CC"/>
                </a:solidFill>
                <a:ea typeface="宋体" panose="02010600030101010101" pitchFamily="2" charset="-122"/>
              </a:rPr>
              <a:t>P</a:t>
            </a:r>
            <a:r>
              <a:rPr lang="en-US" altLang="zh-CN" sz="2800" b="1" i="1" baseline="-25000" dirty="0">
                <a:solidFill>
                  <a:srgbClr val="CC00CC"/>
                </a:solidFill>
                <a:ea typeface="宋体" panose="02010600030101010101" pitchFamily="2" charset="-122"/>
              </a:rPr>
              <a:t>m </a:t>
            </a:r>
            <a:r>
              <a:rPr lang="zh-CN" altLang="en-US" sz="2800" b="1" dirty="0">
                <a:solidFill>
                  <a:schemeClr val="tx2"/>
                </a:solidFill>
                <a:latin typeface="华文楷体" panose="02010600040101010101" pitchFamily="2" charset="-122"/>
                <a:ea typeface="华文楷体" panose="02010600040101010101" pitchFamily="2" charset="-122"/>
              </a:rPr>
              <a:t>。</a:t>
            </a:r>
            <a:endParaRPr lang="zh-CN" altLang="en-US" dirty="0">
              <a:solidFill>
                <a:schemeClr val="tx2"/>
              </a:solidFill>
              <a:latin typeface="华文楷体" panose="02010600040101010101" pitchFamily="2" charset="-122"/>
              <a:ea typeface="华文楷体" panose="02010600040101010101" pitchFamily="2" charset="-122"/>
            </a:endParaRPr>
          </a:p>
          <a:p>
            <a:pPr marL="457200" lvl="1" indent="0">
              <a:buNone/>
            </a:pPr>
            <a:endParaRPr lang="zh-CN" altLang="en-US" sz="3200" b="1" dirty="0">
              <a:solidFill>
                <a:srgbClr val="3333FF"/>
              </a:solidFill>
            </a:endParaRPr>
          </a:p>
        </p:txBody>
      </p:sp>
      <p:sp>
        <p:nvSpPr>
          <p:cNvPr id="2" name="灯片编号占位符 1">
            <a:extLst>
              <a:ext uri="{FF2B5EF4-FFF2-40B4-BE49-F238E27FC236}">
                <a16:creationId xmlns:a16="http://schemas.microsoft.com/office/drawing/2014/main" id="{7DAF0527-40FA-AB2B-C2CD-ECE10DB2AB1B}"/>
              </a:ext>
            </a:extLst>
          </p:cNvPr>
          <p:cNvSpPr>
            <a:spLocks noGrp="1"/>
          </p:cNvSpPr>
          <p:nvPr>
            <p:ph type="sldNum" sz="quarter" idx="11"/>
          </p:nvPr>
        </p:nvSpPr>
        <p:spPr/>
        <p:txBody>
          <a:bodyPr/>
          <a:lstStyle/>
          <a:p>
            <a:pPr>
              <a:defRPr/>
            </a:pPr>
            <a:fld id="{E0FB5469-1AEB-496D-971A-66705BF2F73C}" type="slidenum">
              <a:rPr lang="en-US" altLang="zh-CN" smtClean="0"/>
              <a:pPr>
                <a:defRPr/>
              </a:pPr>
              <a:t>42</a:t>
            </a:fld>
            <a:endParaRPr lang="en-US" altLang="zh-CN"/>
          </a:p>
        </p:txBody>
      </p:sp>
    </p:spTree>
    <p:extLst>
      <p:ext uri="{BB962C8B-B14F-4D97-AF65-F5344CB8AC3E}">
        <p14:creationId xmlns:p14="http://schemas.microsoft.com/office/powerpoint/2010/main" val="3970070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left)">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left)">
                                      <p:cBhvr>
                                        <p:cTn id="4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bwMode="auto">
          <a:xfrm>
            <a:off x="407368" y="356050"/>
            <a:ext cx="68580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dirty="0">
                <a:solidFill>
                  <a:srgbClr val="008000"/>
                </a:solidFill>
                <a:latin typeface="黑体" panose="02010609060101010101" pitchFamily="49" charset="-122"/>
                <a:ea typeface="黑体" panose="02010609060101010101" pitchFamily="49" charset="-122"/>
              </a:rPr>
              <a:t>遗传算法的实现</a:t>
            </a:r>
            <a:r>
              <a:rPr lang="en-US" altLang="zh-CN" dirty="0">
                <a:latin typeface="黑体" panose="02010609060101010101" pitchFamily="49" charset="-122"/>
              </a:rPr>
              <a:t>——</a:t>
            </a:r>
            <a:endParaRPr lang="zh-CN" altLang="en-US" dirty="0">
              <a:solidFill>
                <a:srgbClr val="FF3300"/>
              </a:solidFill>
              <a:ea typeface="宋体" pitchFamily="2" charset="-122"/>
            </a:endParaRPr>
          </a:p>
        </p:txBody>
      </p:sp>
      <p:sp>
        <p:nvSpPr>
          <p:cNvPr id="98307" name="Rectangle 3"/>
          <p:cNvSpPr>
            <a:spLocks noGrp="1" noChangeArrowheads="1"/>
          </p:cNvSpPr>
          <p:nvPr>
            <p:ph type="body" idx="1"/>
          </p:nvPr>
        </p:nvSpPr>
        <p:spPr>
          <a:xfrm>
            <a:off x="6385148" y="404664"/>
            <a:ext cx="5470375" cy="720080"/>
          </a:xfrm>
        </p:spPr>
        <p:txBody>
          <a:bodyPr/>
          <a:lstStyle/>
          <a:p>
            <a:pPr marL="0" indent="0">
              <a:buNone/>
            </a:pPr>
            <a:r>
              <a:rPr lang="en-US" altLang="zh-CN" dirty="0" err="1">
                <a:ea typeface="宋体" pitchFamily="2" charset="-122"/>
              </a:rPr>
              <a:t>Matlab</a:t>
            </a:r>
            <a:r>
              <a:rPr lang="zh-CN" altLang="en-US" b="1" dirty="0">
                <a:ea typeface="宋体" pitchFamily="2" charset="-122"/>
              </a:rPr>
              <a:t>的遗传算法工具箱</a:t>
            </a:r>
          </a:p>
          <a:p>
            <a:pPr>
              <a:buFont typeface="Wingdings" pitchFamily="2" charset="2"/>
              <a:buNone/>
            </a:pPr>
            <a:endParaRPr lang="en-US" altLang="zh-CN" dirty="0">
              <a:ea typeface="宋体" pitchFamily="2" charset="-122"/>
            </a:endParaRPr>
          </a:p>
        </p:txBody>
      </p:sp>
      <p:pic>
        <p:nvPicPr>
          <p:cNvPr id="983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8" y="1100133"/>
            <a:ext cx="9145016" cy="5717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82FDF06A-7010-8972-9DFF-2DA6FFFE52CB}"/>
              </a:ext>
            </a:extLst>
          </p:cNvPr>
          <p:cNvSpPr>
            <a:spLocks noGrp="1"/>
          </p:cNvSpPr>
          <p:nvPr>
            <p:ph type="sldNum" sz="quarter" idx="11"/>
          </p:nvPr>
        </p:nvSpPr>
        <p:spPr/>
        <p:txBody>
          <a:bodyPr/>
          <a:lstStyle/>
          <a:p>
            <a:pPr>
              <a:defRPr/>
            </a:pPr>
            <a:fld id="{E0FB5469-1AEB-496D-971A-66705BF2F73C}" type="slidenum">
              <a:rPr lang="en-US" altLang="zh-CN" smtClean="0"/>
              <a:pPr>
                <a:defRPr/>
              </a:pPr>
              <a:t>43</a:t>
            </a:fld>
            <a:endParaRPr lang="en-US" altLang="zh-CN"/>
          </a:p>
        </p:txBody>
      </p:sp>
    </p:spTree>
    <p:extLst>
      <p:ext uri="{BB962C8B-B14F-4D97-AF65-F5344CB8AC3E}">
        <p14:creationId xmlns:p14="http://schemas.microsoft.com/office/powerpoint/2010/main" val="303421632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bwMode="auto">
          <a:xfrm>
            <a:off x="2766392" y="381000"/>
            <a:ext cx="68580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dirty="0">
                <a:solidFill>
                  <a:srgbClr val="008000"/>
                </a:solidFill>
                <a:latin typeface="黑体" panose="02010609060101010101" pitchFamily="49" charset="-122"/>
                <a:ea typeface="黑体" panose="02010609060101010101" pitchFamily="49" charset="-122"/>
              </a:rPr>
              <a:t>遗传算法的实现</a:t>
            </a:r>
            <a:endParaRPr lang="zh-CN" altLang="en-US" dirty="0">
              <a:solidFill>
                <a:srgbClr val="FF3300"/>
              </a:solidFill>
              <a:ea typeface="宋体" pitchFamily="2" charset="-122"/>
            </a:endParaRPr>
          </a:p>
        </p:txBody>
      </p:sp>
      <p:sp>
        <p:nvSpPr>
          <p:cNvPr id="99331" name="Rectangle 3"/>
          <p:cNvSpPr>
            <a:spLocks noGrp="1" noChangeArrowheads="1"/>
          </p:cNvSpPr>
          <p:nvPr>
            <p:ph type="body" idx="1"/>
          </p:nvPr>
        </p:nvSpPr>
        <p:spPr>
          <a:xfrm>
            <a:off x="479376" y="1341438"/>
            <a:ext cx="11103024" cy="4679950"/>
          </a:xfrm>
        </p:spPr>
        <p:txBody>
          <a:bodyPr/>
          <a:lstStyle/>
          <a:p>
            <a:r>
              <a:rPr lang="en-US" altLang="zh-CN" dirty="0" err="1">
                <a:ea typeface="宋体" pitchFamily="2" charset="-122"/>
              </a:rPr>
              <a:t>Matlab</a:t>
            </a:r>
            <a:r>
              <a:rPr lang="zh-CN" altLang="en-US" b="1" dirty="0">
                <a:ea typeface="宋体" pitchFamily="2" charset="-122"/>
              </a:rPr>
              <a:t>的遗传算法函数调用</a:t>
            </a:r>
          </a:p>
          <a:p>
            <a:pPr lvl="1"/>
            <a:r>
              <a:rPr lang="zh-CN" altLang="en-US" b="1" dirty="0">
                <a:latin typeface="Arial" pitchFamily="34" charset="0"/>
                <a:ea typeface="宋体" pitchFamily="2" charset="-122"/>
              </a:rPr>
              <a:t>第一步：编写适应度函数；</a:t>
            </a:r>
          </a:p>
          <a:p>
            <a:pPr lvl="1"/>
            <a:r>
              <a:rPr lang="zh-CN" altLang="en-US" b="1" dirty="0">
                <a:latin typeface="Arial" pitchFamily="34" charset="0"/>
                <a:ea typeface="宋体" pitchFamily="2" charset="-122"/>
              </a:rPr>
              <a:t>第二步：对遗传算法参数进行设置；</a:t>
            </a:r>
            <a:endParaRPr lang="en-US" altLang="zh-CN" b="1" dirty="0">
              <a:latin typeface="Arial" pitchFamily="34" charset="0"/>
              <a:ea typeface="宋体" pitchFamily="2" charset="-122"/>
            </a:endParaRPr>
          </a:p>
          <a:p>
            <a:pPr marL="57150" indent="0">
              <a:buNone/>
            </a:pPr>
            <a:r>
              <a:rPr lang="en-US" altLang="zh-CN" sz="2800" b="1" dirty="0">
                <a:solidFill>
                  <a:srgbClr val="0000FF"/>
                </a:solidFill>
                <a:latin typeface="Arial" pitchFamily="34" charset="0"/>
                <a:ea typeface="宋体" pitchFamily="2" charset="-122"/>
              </a:rPr>
              <a:t>options = </a:t>
            </a:r>
            <a:r>
              <a:rPr lang="en-US" altLang="zh-CN" sz="2800" b="1" dirty="0" err="1">
                <a:solidFill>
                  <a:srgbClr val="0000FF"/>
                </a:solidFill>
                <a:latin typeface="Arial" pitchFamily="34" charset="0"/>
                <a:ea typeface="宋体" pitchFamily="2" charset="-122"/>
              </a:rPr>
              <a:t>gaoptimset</a:t>
            </a:r>
            <a:r>
              <a:rPr lang="en-US" altLang="zh-CN" sz="2800" b="1" dirty="0">
                <a:solidFill>
                  <a:srgbClr val="0000FF"/>
                </a:solidFill>
                <a:latin typeface="Arial" pitchFamily="34" charset="0"/>
                <a:ea typeface="宋体" pitchFamily="2" charset="-122"/>
              </a:rPr>
              <a:t>(‘</a:t>
            </a:r>
            <a:r>
              <a:rPr lang="zh-CN" altLang="en-US" sz="2800" b="1" dirty="0">
                <a:solidFill>
                  <a:srgbClr val="0000FF"/>
                </a:solidFill>
                <a:latin typeface="Arial" pitchFamily="34" charset="0"/>
                <a:ea typeface="宋体" pitchFamily="2" charset="-122"/>
              </a:rPr>
              <a:t>参数名</a:t>
            </a:r>
            <a:r>
              <a:rPr lang="en-US" altLang="zh-CN" sz="2800" b="1" dirty="0">
                <a:solidFill>
                  <a:srgbClr val="0000FF"/>
                </a:solidFill>
                <a:latin typeface="Arial" pitchFamily="34" charset="0"/>
                <a:ea typeface="宋体" pitchFamily="2" charset="-122"/>
              </a:rPr>
              <a:t>’, </a:t>
            </a:r>
            <a:r>
              <a:rPr lang="zh-CN" altLang="en-US" sz="2800" b="1" dirty="0">
                <a:solidFill>
                  <a:srgbClr val="0000FF"/>
                </a:solidFill>
                <a:latin typeface="Arial" pitchFamily="34" charset="0"/>
                <a:ea typeface="宋体" pitchFamily="2" charset="-122"/>
              </a:rPr>
              <a:t>参数值</a:t>
            </a:r>
            <a:r>
              <a:rPr lang="en-US" altLang="zh-CN" sz="2800" b="1" dirty="0">
                <a:solidFill>
                  <a:srgbClr val="0000FF"/>
                </a:solidFill>
                <a:latin typeface="Arial" pitchFamily="34" charset="0"/>
                <a:ea typeface="宋体" pitchFamily="2" charset="-122"/>
              </a:rPr>
              <a:t>, …,’</a:t>
            </a:r>
            <a:r>
              <a:rPr lang="zh-CN" altLang="en-US" sz="2800" b="1" dirty="0">
                <a:solidFill>
                  <a:srgbClr val="0000FF"/>
                </a:solidFill>
                <a:latin typeface="Arial" pitchFamily="34" charset="0"/>
                <a:ea typeface="宋体" pitchFamily="2" charset="-122"/>
              </a:rPr>
              <a:t>参数名</a:t>
            </a:r>
            <a:r>
              <a:rPr lang="en-US" altLang="zh-CN" sz="2800" b="1" dirty="0">
                <a:solidFill>
                  <a:srgbClr val="0000FF"/>
                </a:solidFill>
                <a:latin typeface="Arial" pitchFamily="34" charset="0"/>
                <a:ea typeface="宋体" pitchFamily="2" charset="-122"/>
              </a:rPr>
              <a:t>’, </a:t>
            </a:r>
            <a:r>
              <a:rPr lang="zh-CN" altLang="en-US" sz="2800" b="1" dirty="0">
                <a:solidFill>
                  <a:srgbClr val="0000FF"/>
                </a:solidFill>
                <a:latin typeface="Arial" pitchFamily="34" charset="0"/>
                <a:ea typeface="宋体" pitchFamily="2" charset="-122"/>
              </a:rPr>
              <a:t>参数值</a:t>
            </a:r>
            <a:r>
              <a:rPr lang="en-US" altLang="zh-CN" sz="2800" b="1" dirty="0">
                <a:solidFill>
                  <a:srgbClr val="0000FF"/>
                </a:solidFill>
                <a:latin typeface="Arial" pitchFamily="34" charset="0"/>
                <a:ea typeface="宋体" pitchFamily="2" charset="-122"/>
              </a:rPr>
              <a:t>)</a:t>
            </a:r>
            <a:endParaRPr lang="zh-CN" altLang="en-US" sz="2800" b="1" dirty="0">
              <a:solidFill>
                <a:srgbClr val="0000FF"/>
              </a:solidFill>
              <a:latin typeface="Arial" pitchFamily="34" charset="0"/>
              <a:ea typeface="宋体" pitchFamily="2" charset="-122"/>
            </a:endParaRPr>
          </a:p>
          <a:p>
            <a:pPr lvl="1">
              <a:buFont typeface="Wingdings" pitchFamily="2" charset="2"/>
              <a:buNone/>
            </a:pPr>
            <a:r>
              <a:rPr lang="zh-CN" altLang="en-US" b="1" dirty="0">
                <a:solidFill>
                  <a:srgbClr val="0000FF"/>
                </a:solidFill>
                <a:latin typeface="Arial" pitchFamily="34" charset="0"/>
                <a:ea typeface="宋体" pitchFamily="2" charset="-122"/>
              </a:rPr>
              <a:t>例</a:t>
            </a:r>
            <a:r>
              <a:rPr lang="en-US" altLang="zh-CN" b="1" dirty="0">
                <a:solidFill>
                  <a:srgbClr val="0000FF"/>
                </a:solidFill>
                <a:latin typeface="Arial" pitchFamily="34" charset="0"/>
                <a:ea typeface="宋体" pitchFamily="2" charset="-122"/>
              </a:rPr>
              <a:t>:options = </a:t>
            </a:r>
            <a:r>
              <a:rPr lang="en-US" altLang="zh-CN" b="1" dirty="0" err="1">
                <a:solidFill>
                  <a:srgbClr val="0000FF"/>
                </a:solidFill>
                <a:latin typeface="Arial" pitchFamily="34" charset="0"/>
                <a:ea typeface="宋体" pitchFamily="2" charset="-122"/>
              </a:rPr>
              <a:t>gaoptimset</a:t>
            </a:r>
            <a:r>
              <a:rPr lang="en-US" altLang="zh-CN" b="1" dirty="0">
                <a:solidFill>
                  <a:srgbClr val="0000FF"/>
                </a:solidFill>
                <a:latin typeface="Arial" pitchFamily="34" charset="0"/>
                <a:ea typeface="宋体" pitchFamily="2" charset="-122"/>
              </a:rPr>
              <a:t>('</a:t>
            </a:r>
            <a:r>
              <a:rPr lang="en-US" altLang="zh-CN" b="1" dirty="0" err="1">
                <a:solidFill>
                  <a:srgbClr val="0000FF"/>
                </a:solidFill>
                <a:latin typeface="Arial" pitchFamily="34" charset="0"/>
                <a:ea typeface="宋体" pitchFamily="2" charset="-122"/>
              </a:rPr>
              <a:t>PopulationSize</a:t>
            </a:r>
            <a:r>
              <a:rPr lang="en-US" altLang="zh-CN" b="1" dirty="0">
                <a:solidFill>
                  <a:srgbClr val="0000FF"/>
                </a:solidFill>
                <a:latin typeface="Arial" pitchFamily="34" charset="0"/>
                <a:ea typeface="宋体" pitchFamily="2" charset="-122"/>
              </a:rPr>
              <a:t>', 100)</a:t>
            </a:r>
            <a:endParaRPr lang="zh-CN" altLang="en-US" b="1" dirty="0">
              <a:solidFill>
                <a:srgbClr val="0000FF"/>
              </a:solidFill>
              <a:latin typeface="Arial" pitchFamily="34" charset="0"/>
              <a:ea typeface="宋体" pitchFamily="2" charset="-122"/>
            </a:endParaRPr>
          </a:p>
          <a:p>
            <a:pPr lvl="1"/>
            <a:r>
              <a:rPr lang="zh-CN" altLang="en-US" b="1" dirty="0">
                <a:latin typeface="Arial" pitchFamily="34" charset="0"/>
                <a:ea typeface="宋体" pitchFamily="2" charset="-122"/>
              </a:rPr>
              <a:t>第三步：调用遗传算法函数；</a:t>
            </a:r>
          </a:p>
          <a:p>
            <a:pPr lvl="1">
              <a:buFont typeface="Wingdings" pitchFamily="2" charset="2"/>
              <a:buNone/>
            </a:pPr>
            <a:r>
              <a:rPr lang="sv-SE" altLang="zh-CN" b="1" dirty="0">
                <a:solidFill>
                  <a:srgbClr val="0000FF"/>
                </a:solidFill>
                <a:latin typeface="Arial" pitchFamily="34" charset="0"/>
                <a:ea typeface="宋体" pitchFamily="2" charset="-122"/>
              </a:rPr>
              <a:t>[x fval] = ga(@fitnessfun, nvars)</a:t>
            </a:r>
          </a:p>
          <a:p>
            <a:pPr lvl="1">
              <a:buFont typeface="Wingdings" pitchFamily="2" charset="2"/>
              <a:buNone/>
            </a:pPr>
            <a:r>
              <a:rPr lang="en-US" altLang="zh-CN" sz="2400" b="1" dirty="0">
                <a:solidFill>
                  <a:srgbClr val="0000FF"/>
                </a:solidFill>
                <a:latin typeface="Arial" pitchFamily="34" charset="0"/>
                <a:ea typeface="宋体" pitchFamily="2" charset="-122"/>
              </a:rPr>
              <a:t>[x </a:t>
            </a:r>
            <a:r>
              <a:rPr lang="en-US" altLang="zh-CN" sz="2400" b="1" dirty="0" err="1">
                <a:solidFill>
                  <a:srgbClr val="0000FF"/>
                </a:solidFill>
                <a:latin typeface="Arial" pitchFamily="34" charset="0"/>
                <a:ea typeface="宋体" pitchFamily="2" charset="-122"/>
              </a:rPr>
              <a:t>fval</a:t>
            </a:r>
            <a:r>
              <a:rPr lang="en-US" altLang="zh-CN" sz="2400" b="1" dirty="0">
                <a:solidFill>
                  <a:srgbClr val="0000FF"/>
                </a:solidFill>
                <a:latin typeface="Arial" pitchFamily="34" charset="0"/>
                <a:ea typeface="宋体" pitchFamily="2" charset="-122"/>
              </a:rPr>
              <a:t> </a:t>
            </a:r>
            <a:r>
              <a:rPr lang="en-US" altLang="zh-CN" sz="2400" b="1" dirty="0" err="1">
                <a:solidFill>
                  <a:srgbClr val="0000FF"/>
                </a:solidFill>
                <a:latin typeface="Arial" pitchFamily="34" charset="0"/>
                <a:ea typeface="宋体" pitchFamily="2" charset="-122"/>
              </a:rPr>
              <a:t>exitflag</a:t>
            </a:r>
            <a:r>
              <a:rPr lang="en-US" altLang="zh-CN" sz="2400" b="1" dirty="0">
                <a:solidFill>
                  <a:srgbClr val="0000FF"/>
                </a:solidFill>
                <a:latin typeface="Arial" pitchFamily="34" charset="0"/>
                <a:ea typeface="宋体" pitchFamily="2" charset="-122"/>
              </a:rPr>
              <a:t> output population scores] = </a:t>
            </a:r>
            <a:r>
              <a:rPr lang="en-US" altLang="zh-CN" sz="2400" b="1" dirty="0" err="1">
                <a:solidFill>
                  <a:srgbClr val="0000FF"/>
                </a:solidFill>
                <a:latin typeface="Arial" pitchFamily="34" charset="0"/>
                <a:ea typeface="宋体" pitchFamily="2" charset="-122"/>
              </a:rPr>
              <a:t>ga</a:t>
            </a:r>
            <a:r>
              <a:rPr lang="en-US" altLang="zh-CN" sz="2400" b="1" dirty="0">
                <a:solidFill>
                  <a:srgbClr val="0000FF"/>
                </a:solidFill>
                <a:latin typeface="Arial" pitchFamily="34" charset="0"/>
                <a:ea typeface="宋体" pitchFamily="2" charset="-122"/>
              </a:rPr>
              <a:t>(@</a:t>
            </a:r>
            <a:r>
              <a:rPr lang="en-US" altLang="zh-CN" sz="2400" b="1" dirty="0" err="1">
                <a:solidFill>
                  <a:srgbClr val="0000FF"/>
                </a:solidFill>
                <a:latin typeface="Arial" pitchFamily="34" charset="0"/>
                <a:ea typeface="宋体" pitchFamily="2" charset="-122"/>
              </a:rPr>
              <a:t>fitnessfcn</a:t>
            </a:r>
            <a:r>
              <a:rPr lang="en-US" altLang="zh-CN" sz="2400" b="1" dirty="0">
                <a:solidFill>
                  <a:srgbClr val="0000FF"/>
                </a:solidFill>
                <a:latin typeface="Arial" pitchFamily="34" charset="0"/>
                <a:ea typeface="宋体" pitchFamily="2" charset="-122"/>
              </a:rPr>
              <a:t>, </a:t>
            </a:r>
            <a:r>
              <a:rPr lang="en-US" altLang="zh-CN" sz="2400" b="1" dirty="0" err="1">
                <a:solidFill>
                  <a:srgbClr val="0000FF"/>
                </a:solidFill>
                <a:latin typeface="Arial" pitchFamily="34" charset="0"/>
                <a:ea typeface="宋体" pitchFamily="2" charset="-122"/>
              </a:rPr>
              <a:t>nvars</a:t>
            </a:r>
            <a:r>
              <a:rPr lang="en-US" altLang="zh-CN" sz="2400" b="1" dirty="0">
                <a:solidFill>
                  <a:srgbClr val="0000FF"/>
                </a:solidFill>
                <a:latin typeface="Arial" pitchFamily="34" charset="0"/>
                <a:ea typeface="宋体" pitchFamily="2" charset="-122"/>
              </a:rPr>
              <a:t>)</a:t>
            </a:r>
          </a:p>
          <a:p>
            <a:pPr lvl="1">
              <a:buFont typeface="Wingdings" pitchFamily="2" charset="2"/>
              <a:buNone/>
            </a:pPr>
            <a:r>
              <a:rPr lang="en-US" altLang="zh-CN" b="1" dirty="0">
                <a:solidFill>
                  <a:srgbClr val="0000FF"/>
                </a:solidFill>
                <a:latin typeface="Arial" pitchFamily="34" charset="0"/>
                <a:ea typeface="宋体" pitchFamily="2" charset="-122"/>
              </a:rPr>
              <a:t>[x </a:t>
            </a:r>
            <a:r>
              <a:rPr lang="en-US" altLang="zh-CN" b="1" dirty="0" err="1">
                <a:solidFill>
                  <a:srgbClr val="0000FF"/>
                </a:solidFill>
                <a:latin typeface="Arial" pitchFamily="34" charset="0"/>
                <a:ea typeface="宋体" pitchFamily="2" charset="-122"/>
              </a:rPr>
              <a:t>fval</a:t>
            </a:r>
            <a:r>
              <a:rPr lang="en-US" altLang="zh-CN" b="1" dirty="0">
                <a:solidFill>
                  <a:srgbClr val="0000FF"/>
                </a:solidFill>
                <a:latin typeface="Arial" pitchFamily="34" charset="0"/>
                <a:ea typeface="宋体" pitchFamily="2" charset="-122"/>
              </a:rPr>
              <a:t>] = </a:t>
            </a:r>
            <a:r>
              <a:rPr lang="en-US" altLang="zh-CN" b="1" dirty="0" err="1">
                <a:solidFill>
                  <a:srgbClr val="0000FF"/>
                </a:solidFill>
                <a:latin typeface="Arial" pitchFamily="34" charset="0"/>
                <a:ea typeface="宋体" pitchFamily="2" charset="-122"/>
              </a:rPr>
              <a:t>ga</a:t>
            </a:r>
            <a:r>
              <a:rPr lang="en-US" altLang="zh-CN" b="1" dirty="0">
                <a:solidFill>
                  <a:srgbClr val="0000FF"/>
                </a:solidFill>
                <a:latin typeface="Arial" pitchFamily="34" charset="0"/>
                <a:ea typeface="宋体" pitchFamily="2" charset="-122"/>
              </a:rPr>
              <a:t>(@</a:t>
            </a:r>
            <a:r>
              <a:rPr lang="en-US" altLang="zh-CN" b="1" dirty="0" err="1">
                <a:solidFill>
                  <a:srgbClr val="0000FF"/>
                </a:solidFill>
                <a:latin typeface="Arial" pitchFamily="34" charset="0"/>
                <a:ea typeface="宋体" pitchFamily="2" charset="-122"/>
              </a:rPr>
              <a:t>fitnessfun</a:t>
            </a:r>
            <a:r>
              <a:rPr lang="en-US" altLang="zh-CN" b="1" dirty="0">
                <a:solidFill>
                  <a:srgbClr val="0000FF"/>
                </a:solidFill>
                <a:latin typeface="Arial" pitchFamily="34" charset="0"/>
                <a:ea typeface="宋体" pitchFamily="2" charset="-122"/>
              </a:rPr>
              <a:t>, </a:t>
            </a:r>
            <a:r>
              <a:rPr lang="en-US" altLang="zh-CN" b="1" dirty="0" err="1">
                <a:solidFill>
                  <a:srgbClr val="0000FF"/>
                </a:solidFill>
                <a:latin typeface="Arial" pitchFamily="34" charset="0"/>
                <a:ea typeface="宋体" pitchFamily="2" charset="-122"/>
              </a:rPr>
              <a:t>nvars</a:t>
            </a:r>
            <a:r>
              <a:rPr lang="en-US" altLang="zh-CN" b="1" dirty="0">
                <a:solidFill>
                  <a:srgbClr val="0000FF"/>
                </a:solidFill>
                <a:latin typeface="Arial" pitchFamily="34" charset="0"/>
                <a:ea typeface="宋体" pitchFamily="2" charset="-122"/>
              </a:rPr>
              <a:t>, [],[],[],[],[],[],[],options)</a:t>
            </a:r>
            <a:endParaRPr lang="zh-CN" altLang="en-US" b="1" dirty="0">
              <a:solidFill>
                <a:srgbClr val="0000FF"/>
              </a:solidFill>
              <a:latin typeface="Arial" pitchFamily="34" charset="0"/>
              <a:ea typeface="宋体" pitchFamily="2" charset="-122"/>
            </a:endParaRPr>
          </a:p>
        </p:txBody>
      </p:sp>
      <p:sp>
        <p:nvSpPr>
          <p:cNvPr id="99332" name="Text Box 4"/>
          <p:cNvSpPr txBox="1">
            <a:spLocks noChangeArrowheads="1"/>
          </p:cNvSpPr>
          <p:nvPr/>
        </p:nvSpPr>
        <p:spPr bwMode="auto">
          <a:xfrm>
            <a:off x="3402574" y="6334780"/>
            <a:ext cx="77588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zh-CN" altLang="en-US" sz="2800" b="1" dirty="0">
                <a:solidFill>
                  <a:srgbClr val="CC00CC"/>
                </a:solidFill>
              </a:rPr>
              <a:t>约束条件：线性等式、线性不等式或非线性约束</a:t>
            </a:r>
          </a:p>
        </p:txBody>
      </p:sp>
      <p:sp>
        <p:nvSpPr>
          <p:cNvPr id="99333" name="AutoShape 5"/>
          <p:cNvSpPr>
            <a:spLocks noChangeArrowheads="1"/>
          </p:cNvSpPr>
          <p:nvPr/>
        </p:nvSpPr>
        <p:spPr bwMode="auto">
          <a:xfrm rot="-3002547">
            <a:off x="7409250" y="6094563"/>
            <a:ext cx="609600" cy="152400"/>
          </a:xfrm>
          <a:prstGeom prst="rightArrow">
            <a:avLst>
              <a:gd name="adj1" fmla="val 50000"/>
              <a:gd name="adj2" fmla="val 100000"/>
            </a:avLst>
          </a:prstGeom>
          <a:solidFill>
            <a:schemeClr val="accent1"/>
          </a:solidFill>
          <a:ln w="9525">
            <a:solidFill>
              <a:schemeClr val="tx1"/>
            </a:solidFill>
            <a:miter lim="800000"/>
            <a:headEnd/>
            <a:tailEnd/>
          </a:ln>
        </p:spPr>
        <p:txBody>
          <a:bodyPr wrap="none" anchor="ctr"/>
          <a:lstStyle/>
          <a:p>
            <a:endParaRPr lang="zh-CN" altLang="en-US">
              <a:ea typeface="宋体" pitchFamily="2" charset="-122"/>
            </a:endParaRPr>
          </a:p>
        </p:txBody>
      </p:sp>
      <p:sp>
        <p:nvSpPr>
          <p:cNvPr id="2" name="灯片编号占位符 1">
            <a:extLst>
              <a:ext uri="{FF2B5EF4-FFF2-40B4-BE49-F238E27FC236}">
                <a16:creationId xmlns:a16="http://schemas.microsoft.com/office/drawing/2014/main" id="{BD4235ED-FDB2-5431-93DB-F1E4206320D2}"/>
              </a:ext>
            </a:extLst>
          </p:cNvPr>
          <p:cNvSpPr>
            <a:spLocks noGrp="1"/>
          </p:cNvSpPr>
          <p:nvPr>
            <p:ph type="sldNum" sz="quarter" idx="11"/>
          </p:nvPr>
        </p:nvSpPr>
        <p:spPr/>
        <p:txBody>
          <a:bodyPr/>
          <a:lstStyle/>
          <a:p>
            <a:pPr>
              <a:defRPr/>
            </a:pPr>
            <a:fld id="{E0FB5469-1AEB-496D-971A-66705BF2F73C}" type="slidenum">
              <a:rPr lang="en-US" altLang="zh-CN" smtClean="0"/>
              <a:pPr>
                <a:defRPr/>
              </a:pPr>
              <a:t>44</a:t>
            </a:fld>
            <a:endParaRPr lang="en-US" altLang="zh-CN"/>
          </a:p>
        </p:txBody>
      </p:sp>
    </p:spTree>
    <p:extLst>
      <p:ext uri="{BB962C8B-B14F-4D97-AF65-F5344CB8AC3E}">
        <p14:creationId xmlns:p14="http://schemas.microsoft.com/office/powerpoint/2010/main" val="117095161"/>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bwMode="auto">
          <a:xfrm>
            <a:off x="5308600" y="239517"/>
            <a:ext cx="68580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zh-CN" altLang="en-US" dirty="0">
                <a:solidFill>
                  <a:srgbClr val="008000"/>
                </a:solidFill>
                <a:latin typeface="黑体" panose="02010609060101010101" pitchFamily="49" charset="-122"/>
                <a:ea typeface="黑体" panose="02010609060101010101" pitchFamily="49" charset="-122"/>
              </a:rPr>
              <a:t>遗传算法的实现</a:t>
            </a:r>
            <a:endParaRPr lang="zh-CN" altLang="en-US" dirty="0">
              <a:solidFill>
                <a:srgbClr val="FF3300"/>
              </a:solidFill>
              <a:ea typeface="宋体" pitchFamily="2" charset="-122"/>
            </a:endParaRPr>
          </a:p>
        </p:txBody>
      </p:sp>
      <p:sp>
        <p:nvSpPr>
          <p:cNvPr id="100355" name="Rectangle 3"/>
          <p:cNvSpPr>
            <a:spLocks noGrp="1" noChangeArrowheads="1"/>
          </p:cNvSpPr>
          <p:nvPr>
            <p:ph type="body" idx="1"/>
          </p:nvPr>
        </p:nvSpPr>
        <p:spPr>
          <a:xfrm>
            <a:off x="335360" y="573660"/>
            <a:ext cx="10643728" cy="6284340"/>
          </a:xfrm>
        </p:spPr>
        <p:txBody>
          <a:bodyPr/>
          <a:lstStyle/>
          <a:p>
            <a:r>
              <a:rPr lang="en-US" altLang="zh-CN" b="1" dirty="0" err="1">
                <a:ea typeface="宋体" pitchFamily="2" charset="-122"/>
              </a:rPr>
              <a:t>Matlab</a:t>
            </a:r>
            <a:r>
              <a:rPr lang="zh-CN" altLang="en-US" b="1" dirty="0">
                <a:ea typeface="宋体" pitchFamily="2" charset="-122"/>
              </a:rPr>
              <a:t>的遗传算法函数调用</a:t>
            </a:r>
            <a:endParaRPr lang="en-US" altLang="zh-CN" b="1" dirty="0">
              <a:ea typeface="宋体" pitchFamily="2" charset="-122"/>
            </a:endParaRPr>
          </a:p>
          <a:p>
            <a:pPr>
              <a:buFont typeface="Wingdings" pitchFamily="2" charset="2"/>
              <a:buNone/>
            </a:pPr>
            <a:r>
              <a:rPr lang="en-US" altLang="zh-CN" dirty="0">
                <a:solidFill>
                  <a:srgbClr val="0000FF"/>
                </a:solidFill>
                <a:ea typeface="宋体" pitchFamily="2" charset="-122"/>
              </a:rPr>
              <a:t>[x </a:t>
            </a:r>
            <a:r>
              <a:rPr lang="en-US" altLang="zh-CN" dirty="0" err="1">
                <a:solidFill>
                  <a:srgbClr val="0000FF"/>
                </a:solidFill>
                <a:ea typeface="宋体" pitchFamily="2" charset="-122"/>
              </a:rPr>
              <a:t>fval</a:t>
            </a:r>
            <a:r>
              <a:rPr lang="en-US" altLang="zh-CN" dirty="0">
                <a:solidFill>
                  <a:srgbClr val="0000FF"/>
                </a:solidFill>
                <a:ea typeface="宋体" pitchFamily="2" charset="-122"/>
              </a:rPr>
              <a:t>]=</a:t>
            </a:r>
            <a:r>
              <a:rPr lang="en-US" altLang="zh-CN" dirty="0" err="1">
                <a:solidFill>
                  <a:srgbClr val="0000FF"/>
                </a:solidFill>
                <a:ea typeface="宋体" pitchFamily="2" charset="-122"/>
              </a:rPr>
              <a:t>ga</a:t>
            </a:r>
            <a:r>
              <a:rPr lang="en-US" altLang="zh-CN" dirty="0">
                <a:solidFill>
                  <a:srgbClr val="0000FF"/>
                </a:solidFill>
                <a:ea typeface="宋体" pitchFamily="2" charset="-122"/>
              </a:rPr>
              <a:t>(@</a:t>
            </a:r>
            <a:r>
              <a:rPr lang="en-US" altLang="zh-CN" dirty="0" err="1">
                <a:solidFill>
                  <a:srgbClr val="0000FF"/>
                </a:solidFill>
                <a:ea typeface="宋体" pitchFamily="2" charset="-122"/>
              </a:rPr>
              <a:t>fitnessfun</a:t>
            </a:r>
            <a:r>
              <a:rPr lang="en-US" altLang="zh-CN" dirty="0">
                <a:solidFill>
                  <a:srgbClr val="0000FF"/>
                </a:solidFill>
                <a:ea typeface="宋体" pitchFamily="2" charset="-122"/>
              </a:rPr>
              <a:t>, </a:t>
            </a:r>
            <a:r>
              <a:rPr lang="en-US" altLang="zh-CN" dirty="0" err="1">
                <a:solidFill>
                  <a:srgbClr val="0000FF"/>
                </a:solidFill>
                <a:ea typeface="宋体" pitchFamily="2" charset="-122"/>
              </a:rPr>
              <a:t>nvars</a:t>
            </a:r>
            <a:r>
              <a:rPr lang="en-US" altLang="zh-CN" dirty="0">
                <a:solidFill>
                  <a:srgbClr val="0000FF"/>
                </a:solidFill>
                <a:ea typeface="宋体" pitchFamily="2" charset="-122"/>
              </a:rPr>
              <a:t>, [],[],[],[],[],[],[], options)</a:t>
            </a:r>
            <a:r>
              <a:rPr lang="zh-CN" altLang="en-US" dirty="0">
                <a:solidFill>
                  <a:srgbClr val="0000FF"/>
                </a:solidFill>
                <a:ea typeface="宋体" pitchFamily="2" charset="-122"/>
              </a:rPr>
              <a:t>；</a:t>
            </a:r>
          </a:p>
          <a:p>
            <a:pPr>
              <a:buFont typeface="Wingdings" pitchFamily="2" charset="2"/>
              <a:buNone/>
            </a:pPr>
            <a:r>
              <a:rPr lang="en-US" altLang="zh-CN" sz="2800" dirty="0" err="1">
                <a:ea typeface="宋体" pitchFamily="2" charset="-122"/>
              </a:rPr>
              <a:t>fitnessfcn</a:t>
            </a:r>
            <a:r>
              <a:rPr lang="en-US" altLang="zh-CN" sz="2800" dirty="0">
                <a:ea typeface="宋体" pitchFamily="2" charset="-122"/>
              </a:rPr>
              <a:t> — Fitness function</a:t>
            </a:r>
          </a:p>
          <a:p>
            <a:pPr>
              <a:buFont typeface="Wingdings" pitchFamily="2" charset="2"/>
              <a:buNone/>
            </a:pPr>
            <a:r>
              <a:rPr lang="en-US" altLang="zh-CN" sz="2800" dirty="0" err="1">
                <a:ea typeface="宋体" pitchFamily="2" charset="-122"/>
              </a:rPr>
              <a:t>nvars</a:t>
            </a:r>
            <a:r>
              <a:rPr lang="en-US" altLang="zh-CN" sz="2800" dirty="0">
                <a:ea typeface="宋体" pitchFamily="2" charset="-122"/>
              </a:rPr>
              <a:t> — Number of variables for the problem</a:t>
            </a:r>
          </a:p>
          <a:p>
            <a:pPr>
              <a:buFont typeface="Wingdings" pitchFamily="2" charset="2"/>
              <a:buNone/>
            </a:pPr>
            <a:r>
              <a:rPr lang="en-US" altLang="zh-CN" sz="2800" dirty="0" err="1">
                <a:ea typeface="宋体" pitchFamily="2" charset="-122"/>
              </a:rPr>
              <a:t>Aineq</a:t>
            </a:r>
            <a:r>
              <a:rPr lang="en-US" altLang="zh-CN" sz="2800" dirty="0">
                <a:ea typeface="宋体" pitchFamily="2" charset="-122"/>
              </a:rPr>
              <a:t> — Matrix for inequality constraints</a:t>
            </a:r>
          </a:p>
          <a:p>
            <a:pPr>
              <a:buFont typeface="Wingdings" pitchFamily="2" charset="2"/>
              <a:buNone/>
            </a:pPr>
            <a:r>
              <a:rPr lang="en-US" altLang="zh-CN" sz="2800" dirty="0" err="1">
                <a:ea typeface="宋体" pitchFamily="2" charset="-122"/>
              </a:rPr>
              <a:t>Bineq</a:t>
            </a:r>
            <a:r>
              <a:rPr lang="en-US" altLang="zh-CN" sz="2800" dirty="0">
                <a:ea typeface="宋体" pitchFamily="2" charset="-122"/>
              </a:rPr>
              <a:t> — Vector for inequality constraints</a:t>
            </a:r>
          </a:p>
          <a:p>
            <a:pPr>
              <a:buFont typeface="Wingdings" pitchFamily="2" charset="2"/>
              <a:buNone/>
            </a:pPr>
            <a:r>
              <a:rPr lang="en-US" altLang="zh-CN" sz="2800" dirty="0" err="1">
                <a:ea typeface="宋体" pitchFamily="2" charset="-122"/>
              </a:rPr>
              <a:t>Aeq</a:t>
            </a:r>
            <a:r>
              <a:rPr lang="en-US" altLang="zh-CN" sz="2800" dirty="0">
                <a:ea typeface="宋体" pitchFamily="2" charset="-122"/>
              </a:rPr>
              <a:t> — Matrix for equality constraints</a:t>
            </a:r>
          </a:p>
          <a:p>
            <a:pPr>
              <a:buFont typeface="Wingdings" pitchFamily="2" charset="2"/>
              <a:buNone/>
            </a:pPr>
            <a:r>
              <a:rPr lang="en-US" altLang="zh-CN" sz="2800" dirty="0" err="1">
                <a:ea typeface="宋体" pitchFamily="2" charset="-122"/>
              </a:rPr>
              <a:t>Beq</a:t>
            </a:r>
            <a:r>
              <a:rPr lang="en-US" altLang="zh-CN" sz="2800" dirty="0">
                <a:ea typeface="宋体" pitchFamily="2" charset="-122"/>
              </a:rPr>
              <a:t> —  Vector for equality constraints</a:t>
            </a:r>
          </a:p>
          <a:p>
            <a:pPr>
              <a:buFont typeface="Wingdings" pitchFamily="2" charset="2"/>
              <a:buNone/>
            </a:pPr>
            <a:r>
              <a:rPr lang="en-US" altLang="zh-CN" sz="2800" dirty="0">
                <a:ea typeface="宋体" pitchFamily="2" charset="-122"/>
              </a:rPr>
              <a:t>LB — Lower bound on x</a:t>
            </a:r>
          </a:p>
          <a:p>
            <a:pPr>
              <a:buFont typeface="Wingdings" pitchFamily="2" charset="2"/>
              <a:buNone/>
            </a:pPr>
            <a:r>
              <a:rPr lang="en-US" altLang="zh-CN" sz="2800" dirty="0">
                <a:ea typeface="宋体" pitchFamily="2" charset="-122"/>
              </a:rPr>
              <a:t>UB —  Upper bound on x</a:t>
            </a:r>
          </a:p>
          <a:p>
            <a:pPr>
              <a:buFont typeface="Wingdings" pitchFamily="2" charset="2"/>
              <a:buNone/>
            </a:pPr>
            <a:r>
              <a:rPr lang="en-US" altLang="zh-CN" sz="2800" dirty="0" err="1">
                <a:ea typeface="宋体" pitchFamily="2" charset="-122"/>
              </a:rPr>
              <a:t>nonlcon</a:t>
            </a:r>
            <a:r>
              <a:rPr lang="en-US" altLang="zh-CN" sz="2800" dirty="0">
                <a:ea typeface="宋体" pitchFamily="2" charset="-122"/>
              </a:rPr>
              <a:t> —  Nonlinear constraint Function</a:t>
            </a:r>
          </a:p>
          <a:p>
            <a:pPr>
              <a:buFont typeface="Wingdings" pitchFamily="2" charset="2"/>
              <a:buNone/>
            </a:pPr>
            <a:r>
              <a:rPr lang="en-US" altLang="zh-CN" sz="2800" dirty="0">
                <a:ea typeface="宋体" pitchFamily="2" charset="-122"/>
              </a:rPr>
              <a:t>options — Options structure</a:t>
            </a:r>
          </a:p>
        </p:txBody>
      </p:sp>
      <p:sp>
        <p:nvSpPr>
          <p:cNvPr id="2" name="矩形 1"/>
          <p:cNvSpPr/>
          <p:nvPr/>
        </p:nvSpPr>
        <p:spPr>
          <a:xfrm>
            <a:off x="8257659" y="3681956"/>
            <a:ext cx="3312368" cy="1569660"/>
          </a:xfrm>
          <a:prstGeom prst="rect">
            <a:avLst/>
          </a:prstGeom>
          <a:solidFill>
            <a:srgbClr val="66FFFF"/>
          </a:solidFill>
          <a:scene3d>
            <a:camera prst="orthographicFront"/>
            <a:lightRig rig="threePt" dir="t"/>
          </a:scene3d>
          <a:sp3d>
            <a:bevelT w="165100" prst="coolSlant"/>
          </a:sp3d>
        </p:spPr>
        <p:txBody>
          <a:bodyPr wrap="square">
            <a:spAutoFit/>
          </a:bodyPr>
          <a:lstStyle/>
          <a:p>
            <a:pPr algn="ctr"/>
            <a:r>
              <a:rPr lang="zh-CN" altLang="en-US" sz="3200" b="1" dirty="0"/>
              <a:t>还可以根据原理</a:t>
            </a:r>
            <a:endParaRPr lang="en-US" altLang="zh-CN" sz="3200" b="1" dirty="0"/>
          </a:p>
          <a:p>
            <a:pPr algn="ctr"/>
            <a:r>
              <a:rPr lang="zh-CN" altLang="en-US" sz="3200" b="1" dirty="0"/>
              <a:t>编写属于自己的遗传算法程序</a:t>
            </a:r>
            <a:endParaRPr lang="en-US" altLang="zh-CN" sz="3200" b="1" dirty="0"/>
          </a:p>
        </p:txBody>
      </p:sp>
      <p:sp>
        <p:nvSpPr>
          <p:cNvPr id="3" name="灯片编号占位符 2">
            <a:extLst>
              <a:ext uri="{FF2B5EF4-FFF2-40B4-BE49-F238E27FC236}">
                <a16:creationId xmlns:a16="http://schemas.microsoft.com/office/drawing/2014/main" id="{2FE1D0EF-0754-F8FC-93E3-3DC43DCF135B}"/>
              </a:ext>
            </a:extLst>
          </p:cNvPr>
          <p:cNvSpPr>
            <a:spLocks noGrp="1"/>
          </p:cNvSpPr>
          <p:nvPr>
            <p:ph type="sldNum" sz="quarter" idx="11"/>
          </p:nvPr>
        </p:nvSpPr>
        <p:spPr/>
        <p:txBody>
          <a:bodyPr/>
          <a:lstStyle/>
          <a:p>
            <a:pPr>
              <a:defRPr/>
            </a:pPr>
            <a:fld id="{E0FB5469-1AEB-496D-971A-66705BF2F73C}" type="slidenum">
              <a:rPr lang="en-US" altLang="zh-CN" smtClean="0"/>
              <a:pPr>
                <a:defRPr/>
              </a:pPr>
              <a:t>45</a:t>
            </a:fld>
            <a:endParaRPr lang="en-US" altLang="zh-CN"/>
          </a:p>
        </p:txBody>
      </p:sp>
    </p:spTree>
    <p:extLst>
      <p:ext uri="{BB962C8B-B14F-4D97-AF65-F5344CB8AC3E}">
        <p14:creationId xmlns:p14="http://schemas.microsoft.com/office/powerpoint/2010/main" val="235553874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2074718" y="173578"/>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混合遗传算法</a:t>
            </a:r>
            <a:endParaRPr lang="en-US" altLang="zh-CN" dirty="0">
              <a:solidFill>
                <a:srgbClr val="008000"/>
              </a:solidFill>
              <a:latin typeface="黑体" panose="02010609060101010101" pitchFamily="49" charset="-122"/>
              <a:ea typeface="黑体" panose="02010609060101010101" pitchFamily="49" charset="-122"/>
            </a:endParaRPr>
          </a:p>
        </p:txBody>
      </p:sp>
      <p:sp>
        <p:nvSpPr>
          <p:cNvPr id="119820" name="Text Box 12"/>
          <p:cNvSpPr txBox="1">
            <a:spLocks noChangeArrowheads="1"/>
          </p:cNvSpPr>
          <p:nvPr/>
        </p:nvSpPr>
        <p:spPr bwMode="auto">
          <a:xfrm>
            <a:off x="2711451" y="1337071"/>
            <a:ext cx="14081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3200" b="1">
                <a:solidFill>
                  <a:srgbClr val="0000FF"/>
                </a:solidFill>
              </a:rPr>
              <a:t>爬山法</a:t>
            </a:r>
          </a:p>
        </p:txBody>
      </p:sp>
      <p:sp>
        <p:nvSpPr>
          <p:cNvPr id="119821" name="Text Box 13"/>
          <p:cNvSpPr txBox="1">
            <a:spLocks noChangeArrowheads="1"/>
          </p:cNvSpPr>
          <p:nvPr/>
        </p:nvSpPr>
        <p:spPr bwMode="auto">
          <a:xfrm>
            <a:off x="7608889" y="1408510"/>
            <a:ext cx="26320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zh-CN" altLang="en-US" sz="3200" b="1">
                <a:solidFill>
                  <a:srgbClr val="0000FF"/>
                </a:solidFill>
              </a:rPr>
              <a:t>模拟退火算法</a:t>
            </a:r>
          </a:p>
        </p:txBody>
      </p:sp>
      <p:sp>
        <p:nvSpPr>
          <p:cNvPr id="119822" name="Text Box 14"/>
          <p:cNvSpPr txBox="1">
            <a:spLocks noChangeArrowheads="1"/>
          </p:cNvSpPr>
          <p:nvPr/>
        </p:nvSpPr>
        <p:spPr bwMode="auto">
          <a:xfrm>
            <a:off x="8112125" y="5005785"/>
            <a:ext cx="22240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3200" b="1">
                <a:solidFill>
                  <a:srgbClr val="0000FF"/>
                </a:solidFill>
              </a:rPr>
              <a:t>最速下降法</a:t>
            </a:r>
          </a:p>
        </p:txBody>
      </p:sp>
      <p:sp>
        <p:nvSpPr>
          <p:cNvPr id="119824" name="Text Box 16"/>
          <p:cNvSpPr txBox="1">
            <a:spLocks noChangeArrowheads="1"/>
          </p:cNvSpPr>
          <p:nvPr/>
        </p:nvSpPr>
        <p:spPr bwMode="auto">
          <a:xfrm>
            <a:off x="1847851" y="4721621"/>
            <a:ext cx="1812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zh-CN" altLang="en-US" sz="3200" b="1">
                <a:solidFill>
                  <a:srgbClr val="0000FF"/>
                </a:solidFill>
              </a:rPr>
              <a:t>其它</a:t>
            </a:r>
            <a:r>
              <a:rPr lang="en-US" altLang="zh-CN" sz="3200" b="1">
                <a:solidFill>
                  <a:srgbClr val="0000FF"/>
                </a:solidFill>
              </a:rPr>
              <a:t>……</a:t>
            </a:r>
          </a:p>
        </p:txBody>
      </p:sp>
      <p:sp>
        <p:nvSpPr>
          <p:cNvPr id="119825" name="Text Box 17"/>
          <p:cNvSpPr txBox="1">
            <a:spLocks noChangeArrowheads="1"/>
          </p:cNvSpPr>
          <p:nvPr/>
        </p:nvSpPr>
        <p:spPr bwMode="auto">
          <a:xfrm>
            <a:off x="4343401" y="6305946"/>
            <a:ext cx="26320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zh-CN" altLang="en-US" sz="3200" b="1">
                <a:solidFill>
                  <a:srgbClr val="0000FF"/>
                </a:solidFill>
              </a:rPr>
              <a:t>局部搜索算法</a:t>
            </a:r>
          </a:p>
        </p:txBody>
      </p:sp>
      <p:sp>
        <p:nvSpPr>
          <p:cNvPr id="119813" name="AutoShape 5"/>
          <p:cNvSpPr>
            <a:spLocks noChangeArrowheads="1"/>
          </p:cNvSpPr>
          <p:nvPr/>
        </p:nvSpPr>
        <p:spPr bwMode="gray">
          <a:xfrm rot="40599961">
            <a:off x="6476562" y="2427753"/>
            <a:ext cx="1143532" cy="421649"/>
          </a:xfrm>
          <a:prstGeom prst="rightArrow">
            <a:avLst>
              <a:gd name="adj1" fmla="val 35167"/>
              <a:gd name="adj2" fmla="val 99295"/>
            </a:avLst>
          </a:prstGeom>
          <a:solidFill>
            <a:schemeClr val="accent1">
              <a:alpha val="89999"/>
            </a:schemeClr>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9814" name="AutoShape 6"/>
          <p:cNvSpPr>
            <a:spLocks noChangeArrowheads="1"/>
          </p:cNvSpPr>
          <p:nvPr/>
        </p:nvSpPr>
        <p:spPr bwMode="gray">
          <a:xfrm rot="6390168">
            <a:off x="5087144" y="5225653"/>
            <a:ext cx="973138" cy="396875"/>
          </a:xfrm>
          <a:prstGeom prst="rightArrow">
            <a:avLst>
              <a:gd name="adj1" fmla="val 35167"/>
              <a:gd name="adj2" fmla="val 99295"/>
            </a:avLst>
          </a:prstGeom>
          <a:solidFill>
            <a:schemeClr val="accent1">
              <a:alpha val="89999"/>
            </a:schemeClr>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9815" name="AutoShape 7"/>
          <p:cNvSpPr>
            <a:spLocks noChangeArrowheads="1"/>
          </p:cNvSpPr>
          <p:nvPr/>
        </p:nvSpPr>
        <p:spPr bwMode="gray">
          <a:xfrm rot="35432739">
            <a:off x="4425118" y="2183075"/>
            <a:ext cx="1030621" cy="480690"/>
          </a:xfrm>
          <a:prstGeom prst="rightArrow">
            <a:avLst>
              <a:gd name="adj1" fmla="val 35167"/>
              <a:gd name="adj2" fmla="val 99856"/>
            </a:avLst>
          </a:prstGeom>
          <a:solidFill>
            <a:schemeClr val="accent1">
              <a:alpha val="89999"/>
            </a:schemeClr>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9816" name="AutoShape 8"/>
          <p:cNvSpPr>
            <a:spLocks noChangeArrowheads="1"/>
          </p:cNvSpPr>
          <p:nvPr/>
        </p:nvSpPr>
        <p:spPr bwMode="gray">
          <a:xfrm rot="9645550">
            <a:off x="3408713" y="4043057"/>
            <a:ext cx="1215092" cy="370002"/>
          </a:xfrm>
          <a:prstGeom prst="rightArrow">
            <a:avLst>
              <a:gd name="adj1" fmla="val 35167"/>
              <a:gd name="adj2" fmla="val 99694"/>
            </a:avLst>
          </a:prstGeom>
          <a:solidFill>
            <a:schemeClr val="accent1">
              <a:alpha val="89999"/>
            </a:schemeClr>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9817" name="AutoShape 9"/>
          <p:cNvSpPr>
            <a:spLocks noChangeArrowheads="1"/>
          </p:cNvSpPr>
          <p:nvPr/>
        </p:nvSpPr>
        <p:spPr bwMode="gray">
          <a:xfrm rot="1297076">
            <a:off x="6816726" y="4289822"/>
            <a:ext cx="1084263" cy="354013"/>
          </a:xfrm>
          <a:prstGeom prst="rightArrow">
            <a:avLst>
              <a:gd name="adj1" fmla="val 35167"/>
              <a:gd name="adj2" fmla="val 124028"/>
            </a:avLst>
          </a:prstGeom>
          <a:solidFill>
            <a:schemeClr val="accent1">
              <a:alpha val="89999"/>
            </a:schemeClr>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9819" name="Oval 11"/>
          <p:cNvSpPr>
            <a:spLocks noChangeArrowheads="1"/>
          </p:cNvSpPr>
          <p:nvPr/>
        </p:nvSpPr>
        <p:spPr bwMode="auto">
          <a:xfrm>
            <a:off x="3086101" y="1545178"/>
            <a:ext cx="5378053" cy="4401807"/>
          </a:xfrm>
          <a:prstGeom prst="ellipse">
            <a:avLst/>
          </a:prstGeom>
          <a:noFill/>
          <a:ln w="38100" algn="ctr">
            <a:solidFill>
              <a:schemeClr val="bg2"/>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square" anchor="ctr">
            <a:spAutoFit/>
          </a:bodyPr>
          <a:lstStyle/>
          <a:p>
            <a:endParaRPr lang="zh-CN" altLang="en-US"/>
          </a:p>
        </p:txBody>
      </p:sp>
      <p:sp>
        <p:nvSpPr>
          <p:cNvPr id="119826" name="Oval 18"/>
          <p:cNvSpPr>
            <a:spLocks noChangeArrowheads="1"/>
          </p:cNvSpPr>
          <p:nvPr/>
        </p:nvSpPr>
        <p:spPr bwMode="gray">
          <a:xfrm>
            <a:off x="3086101" y="4289821"/>
            <a:ext cx="417513" cy="374650"/>
          </a:xfrm>
          <a:prstGeom prst="ellipse">
            <a:avLst/>
          </a:prstGeom>
          <a:gradFill rotWithShape="1">
            <a:gsLst>
              <a:gs pos="0">
                <a:schemeClr val="accent2">
                  <a:gamma/>
                  <a:tint val="48627"/>
                  <a:invGamma/>
                </a:schemeClr>
              </a:gs>
              <a:gs pos="100000">
                <a:schemeClr val="accent2"/>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7" name="Oval 19"/>
          <p:cNvSpPr>
            <a:spLocks noChangeArrowheads="1"/>
          </p:cNvSpPr>
          <p:nvPr/>
        </p:nvSpPr>
        <p:spPr bwMode="gray">
          <a:xfrm>
            <a:off x="4295776" y="1625996"/>
            <a:ext cx="417513" cy="374650"/>
          </a:xfrm>
          <a:prstGeom prst="ellipse">
            <a:avLst/>
          </a:prstGeom>
          <a:gradFill rotWithShape="1">
            <a:gsLst>
              <a:gs pos="0">
                <a:schemeClr val="accent2">
                  <a:gamma/>
                  <a:tint val="48627"/>
                  <a:invGamma/>
                </a:schemeClr>
              </a:gs>
              <a:gs pos="100000">
                <a:schemeClr val="accent2"/>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8" name="Oval 20"/>
          <p:cNvSpPr>
            <a:spLocks noChangeArrowheads="1"/>
          </p:cNvSpPr>
          <p:nvPr/>
        </p:nvSpPr>
        <p:spPr bwMode="gray">
          <a:xfrm>
            <a:off x="7319963" y="1984771"/>
            <a:ext cx="417512" cy="374650"/>
          </a:xfrm>
          <a:prstGeom prst="ellipse">
            <a:avLst/>
          </a:prstGeom>
          <a:gradFill rotWithShape="1">
            <a:gsLst>
              <a:gs pos="0">
                <a:schemeClr val="accent2">
                  <a:gamma/>
                  <a:tint val="48627"/>
                  <a:invGamma/>
                </a:schemeClr>
              </a:gs>
              <a:gs pos="100000">
                <a:schemeClr val="accent2"/>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9" name="Oval 21"/>
          <p:cNvSpPr>
            <a:spLocks noChangeArrowheads="1"/>
          </p:cNvSpPr>
          <p:nvPr/>
        </p:nvSpPr>
        <p:spPr bwMode="gray">
          <a:xfrm>
            <a:off x="5102226" y="5859859"/>
            <a:ext cx="417513" cy="374650"/>
          </a:xfrm>
          <a:prstGeom prst="ellipse">
            <a:avLst/>
          </a:prstGeom>
          <a:gradFill rotWithShape="1">
            <a:gsLst>
              <a:gs pos="0">
                <a:schemeClr val="accent2">
                  <a:gamma/>
                  <a:tint val="48627"/>
                  <a:invGamma/>
                </a:schemeClr>
              </a:gs>
              <a:gs pos="100000">
                <a:schemeClr val="accent2"/>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1" name="Oval 23"/>
          <p:cNvSpPr>
            <a:spLocks noChangeArrowheads="1"/>
          </p:cNvSpPr>
          <p:nvPr/>
        </p:nvSpPr>
        <p:spPr bwMode="gray">
          <a:xfrm>
            <a:off x="7824788" y="4577159"/>
            <a:ext cx="417512" cy="374650"/>
          </a:xfrm>
          <a:prstGeom prst="ellipse">
            <a:avLst/>
          </a:prstGeom>
          <a:gradFill rotWithShape="1">
            <a:gsLst>
              <a:gs pos="0">
                <a:schemeClr val="accent2">
                  <a:gamma/>
                  <a:tint val="48627"/>
                  <a:invGamma/>
                </a:schemeClr>
              </a:gs>
              <a:gs pos="100000">
                <a:schemeClr val="accent2"/>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4" name="Oval 26"/>
          <p:cNvSpPr>
            <a:spLocks noChangeArrowheads="1"/>
          </p:cNvSpPr>
          <p:nvPr/>
        </p:nvSpPr>
        <p:spPr bwMode="gray">
          <a:xfrm>
            <a:off x="4610905" y="2688149"/>
            <a:ext cx="2360702" cy="22197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square" anchor="ctr">
            <a:spAutoFit/>
          </a:bodyPr>
          <a:lstStyle/>
          <a:p>
            <a:endParaRPr lang="zh-CN" altLang="en-US"/>
          </a:p>
        </p:txBody>
      </p:sp>
      <p:sp>
        <p:nvSpPr>
          <p:cNvPr id="119835" name="Oval 27"/>
          <p:cNvSpPr>
            <a:spLocks noChangeArrowheads="1"/>
          </p:cNvSpPr>
          <p:nvPr/>
        </p:nvSpPr>
        <p:spPr bwMode="gray">
          <a:xfrm>
            <a:off x="4701530" y="2885085"/>
            <a:ext cx="2163985" cy="1899102"/>
          </a:xfrm>
          <a:prstGeom prst="ellipse">
            <a:avLst/>
          </a:prstGeom>
          <a:gradFill rotWithShape="1">
            <a:gsLst>
              <a:gs pos="0">
                <a:schemeClr val="hlink">
                  <a:gamma/>
                  <a:shade val="63529"/>
                  <a:invGamma/>
                </a:schemeClr>
              </a:gs>
              <a:gs pos="100000">
                <a:schemeClr val="hlink">
                  <a:alpha val="0"/>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square" anchor="ctr">
            <a:spAutoFit/>
          </a:bodyPr>
          <a:lstStyle/>
          <a:p>
            <a:endParaRPr lang="zh-CN" altLang="en-US"/>
          </a:p>
        </p:txBody>
      </p:sp>
      <p:sp>
        <p:nvSpPr>
          <p:cNvPr id="119836" name="Oval 28"/>
          <p:cNvSpPr>
            <a:spLocks noChangeArrowheads="1"/>
          </p:cNvSpPr>
          <p:nvPr/>
        </p:nvSpPr>
        <p:spPr bwMode="gray">
          <a:xfrm>
            <a:off x="4786788" y="2954435"/>
            <a:ext cx="2030413" cy="1764409"/>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square" anchor="ctr">
            <a:spAutoFit/>
          </a:bodyPr>
          <a:lstStyle/>
          <a:p>
            <a:endParaRPr lang="zh-CN" altLang="en-US"/>
          </a:p>
        </p:txBody>
      </p:sp>
      <p:grpSp>
        <p:nvGrpSpPr>
          <p:cNvPr id="119837" name="Group 29"/>
          <p:cNvGrpSpPr>
            <a:grpSpLocks/>
          </p:cNvGrpSpPr>
          <p:nvPr/>
        </p:nvGrpSpPr>
        <p:grpSpPr bwMode="auto">
          <a:xfrm>
            <a:off x="4907019" y="3062995"/>
            <a:ext cx="1768475" cy="1570038"/>
            <a:chOff x="4166" y="1706"/>
            <a:chExt cx="1252" cy="1252"/>
          </a:xfrm>
        </p:grpSpPr>
        <p:sp>
          <p:nvSpPr>
            <p:cNvPr id="119838" name="Oval 30"/>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9839" name="Oval 31"/>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9840" name="Oval 32"/>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19841" name="Oval 33"/>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119842" name="Text Box 34"/>
          <p:cNvSpPr txBox="1">
            <a:spLocks noChangeArrowheads="1"/>
          </p:cNvSpPr>
          <p:nvPr/>
        </p:nvSpPr>
        <p:spPr bwMode="gray">
          <a:xfrm>
            <a:off x="4743958" y="3454574"/>
            <a:ext cx="2019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36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遗传算法</a:t>
            </a:r>
          </a:p>
        </p:txBody>
      </p:sp>
      <p:sp>
        <p:nvSpPr>
          <p:cNvPr id="2" name="灯片编号占位符 1">
            <a:extLst>
              <a:ext uri="{FF2B5EF4-FFF2-40B4-BE49-F238E27FC236}">
                <a16:creationId xmlns:a16="http://schemas.microsoft.com/office/drawing/2014/main" id="{28B46817-04E6-1F2D-E9C8-597606D72CE3}"/>
              </a:ext>
            </a:extLst>
          </p:cNvPr>
          <p:cNvSpPr>
            <a:spLocks noGrp="1"/>
          </p:cNvSpPr>
          <p:nvPr>
            <p:ph type="sldNum" sz="quarter" idx="11"/>
          </p:nvPr>
        </p:nvSpPr>
        <p:spPr/>
        <p:txBody>
          <a:bodyPr/>
          <a:lstStyle/>
          <a:p>
            <a:pPr>
              <a:defRPr/>
            </a:pPr>
            <a:fld id="{E0FB5469-1AEB-496D-971A-66705BF2F73C}" type="slidenum">
              <a:rPr lang="en-US" altLang="zh-CN" smtClean="0"/>
              <a:pPr>
                <a:defRPr/>
              </a:pPr>
              <a:t>46</a:t>
            </a:fld>
            <a:endParaRPr lang="en-US" altLang="zh-CN"/>
          </a:p>
        </p:txBody>
      </p:sp>
    </p:spTree>
    <p:extLst>
      <p:ext uri="{BB962C8B-B14F-4D97-AF65-F5344CB8AC3E}">
        <p14:creationId xmlns:p14="http://schemas.microsoft.com/office/powerpoint/2010/main" val="9613974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119821"/>
                                        </p:tgtEl>
                                        <p:attrNameLst>
                                          <p:attrName>style.visibility</p:attrName>
                                        </p:attrNameLst>
                                      </p:cBhvr>
                                      <p:to>
                                        <p:strVal val="visible"/>
                                      </p:to>
                                    </p:set>
                                    <p:anim calcmode="lin" valueType="num">
                                      <p:cBhvr>
                                        <p:cTn id="7" dur="1000" fill="hold"/>
                                        <p:tgtEl>
                                          <p:spTgt spid="119821"/>
                                        </p:tgtEl>
                                        <p:attrNameLst>
                                          <p:attrName>ppt_w</p:attrName>
                                        </p:attrNameLst>
                                      </p:cBhvr>
                                      <p:tavLst>
                                        <p:tav tm="0">
                                          <p:val>
                                            <p:fltVal val="0"/>
                                          </p:val>
                                        </p:tav>
                                        <p:tav tm="100000">
                                          <p:val>
                                            <p:strVal val="#ppt_w"/>
                                          </p:val>
                                        </p:tav>
                                      </p:tavLst>
                                    </p:anim>
                                    <p:anim calcmode="lin" valueType="num">
                                      <p:cBhvr>
                                        <p:cTn id="8" dur="1000" fill="hold"/>
                                        <p:tgtEl>
                                          <p:spTgt spid="119821"/>
                                        </p:tgtEl>
                                        <p:attrNameLst>
                                          <p:attrName>ppt_h</p:attrName>
                                        </p:attrNameLst>
                                      </p:cBhvr>
                                      <p:tavLst>
                                        <p:tav tm="0">
                                          <p:val>
                                            <p:fltVal val="0"/>
                                          </p:val>
                                        </p:tav>
                                        <p:tav tm="100000">
                                          <p:val>
                                            <p:strVal val="#ppt_h"/>
                                          </p:val>
                                        </p:tav>
                                      </p:tavLst>
                                    </p:anim>
                                    <p:anim calcmode="lin" valueType="num">
                                      <p:cBhvr>
                                        <p:cTn id="9" dur="1000" fill="hold"/>
                                        <p:tgtEl>
                                          <p:spTgt spid="119821"/>
                                        </p:tgtEl>
                                        <p:attrNameLst>
                                          <p:attrName>style.rotation</p:attrName>
                                        </p:attrNameLst>
                                      </p:cBhvr>
                                      <p:tavLst>
                                        <p:tav tm="0">
                                          <p:val>
                                            <p:fltVal val="360"/>
                                          </p:val>
                                        </p:tav>
                                        <p:tav tm="100000">
                                          <p:val>
                                            <p:fltVal val="0"/>
                                          </p:val>
                                        </p:tav>
                                      </p:tavLst>
                                    </p:anim>
                                    <p:animEffect transition="in" filter="fade">
                                      <p:cBhvr>
                                        <p:cTn id="10" dur="1000"/>
                                        <p:tgtEl>
                                          <p:spTgt spid="11982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119820"/>
                                        </p:tgtEl>
                                        <p:attrNameLst>
                                          <p:attrName>style.visibility</p:attrName>
                                        </p:attrNameLst>
                                      </p:cBhvr>
                                      <p:to>
                                        <p:strVal val="visible"/>
                                      </p:to>
                                    </p:set>
                                    <p:anim calcmode="lin" valueType="num">
                                      <p:cBhvr>
                                        <p:cTn id="15" dur="1000" fill="hold"/>
                                        <p:tgtEl>
                                          <p:spTgt spid="119820"/>
                                        </p:tgtEl>
                                        <p:attrNameLst>
                                          <p:attrName>ppt_w</p:attrName>
                                        </p:attrNameLst>
                                      </p:cBhvr>
                                      <p:tavLst>
                                        <p:tav tm="0">
                                          <p:val>
                                            <p:fltVal val="0"/>
                                          </p:val>
                                        </p:tav>
                                        <p:tav tm="100000">
                                          <p:val>
                                            <p:strVal val="#ppt_w"/>
                                          </p:val>
                                        </p:tav>
                                      </p:tavLst>
                                    </p:anim>
                                    <p:anim calcmode="lin" valueType="num">
                                      <p:cBhvr>
                                        <p:cTn id="16" dur="1000" fill="hold"/>
                                        <p:tgtEl>
                                          <p:spTgt spid="119820"/>
                                        </p:tgtEl>
                                        <p:attrNameLst>
                                          <p:attrName>ppt_h</p:attrName>
                                        </p:attrNameLst>
                                      </p:cBhvr>
                                      <p:tavLst>
                                        <p:tav tm="0">
                                          <p:val>
                                            <p:fltVal val="0"/>
                                          </p:val>
                                        </p:tav>
                                        <p:tav tm="100000">
                                          <p:val>
                                            <p:strVal val="#ppt_h"/>
                                          </p:val>
                                        </p:tav>
                                      </p:tavLst>
                                    </p:anim>
                                    <p:anim calcmode="lin" valueType="num">
                                      <p:cBhvr>
                                        <p:cTn id="17" dur="1000" fill="hold"/>
                                        <p:tgtEl>
                                          <p:spTgt spid="119820"/>
                                        </p:tgtEl>
                                        <p:attrNameLst>
                                          <p:attrName>style.rotation</p:attrName>
                                        </p:attrNameLst>
                                      </p:cBhvr>
                                      <p:tavLst>
                                        <p:tav tm="0">
                                          <p:val>
                                            <p:fltVal val="360"/>
                                          </p:val>
                                        </p:tav>
                                        <p:tav tm="100000">
                                          <p:val>
                                            <p:fltVal val="0"/>
                                          </p:val>
                                        </p:tav>
                                      </p:tavLst>
                                    </p:anim>
                                    <p:animEffect transition="in" filter="fade">
                                      <p:cBhvr>
                                        <p:cTn id="18" dur="1000"/>
                                        <p:tgtEl>
                                          <p:spTgt spid="11982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119822"/>
                                        </p:tgtEl>
                                        <p:attrNameLst>
                                          <p:attrName>style.visibility</p:attrName>
                                        </p:attrNameLst>
                                      </p:cBhvr>
                                      <p:to>
                                        <p:strVal val="visible"/>
                                      </p:to>
                                    </p:set>
                                    <p:anim calcmode="lin" valueType="num">
                                      <p:cBhvr>
                                        <p:cTn id="23" dur="1000" fill="hold"/>
                                        <p:tgtEl>
                                          <p:spTgt spid="119822"/>
                                        </p:tgtEl>
                                        <p:attrNameLst>
                                          <p:attrName>ppt_w</p:attrName>
                                        </p:attrNameLst>
                                      </p:cBhvr>
                                      <p:tavLst>
                                        <p:tav tm="0">
                                          <p:val>
                                            <p:fltVal val="0"/>
                                          </p:val>
                                        </p:tav>
                                        <p:tav tm="100000">
                                          <p:val>
                                            <p:strVal val="#ppt_w"/>
                                          </p:val>
                                        </p:tav>
                                      </p:tavLst>
                                    </p:anim>
                                    <p:anim calcmode="lin" valueType="num">
                                      <p:cBhvr>
                                        <p:cTn id="24" dur="1000" fill="hold"/>
                                        <p:tgtEl>
                                          <p:spTgt spid="119822"/>
                                        </p:tgtEl>
                                        <p:attrNameLst>
                                          <p:attrName>ppt_h</p:attrName>
                                        </p:attrNameLst>
                                      </p:cBhvr>
                                      <p:tavLst>
                                        <p:tav tm="0">
                                          <p:val>
                                            <p:fltVal val="0"/>
                                          </p:val>
                                        </p:tav>
                                        <p:tav tm="100000">
                                          <p:val>
                                            <p:strVal val="#ppt_h"/>
                                          </p:val>
                                        </p:tav>
                                      </p:tavLst>
                                    </p:anim>
                                    <p:anim calcmode="lin" valueType="num">
                                      <p:cBhvr>
                                        <p:cTn id="25" dur="1000" fill="hold"/>
                                        <p:tgtEl>
                                          <p:spTgt spid="119822"/>
                                        </p:tgtEl>
                                        <p:attrNameLst>
                                          <p:attrName>style.rotation</p:attrName>
                                        </p:attrNameLst>
                                      </p:cBhvr>
                                      <p:tavLst>
                                        <p:tav tm="0">
                                          <p:val>
                                            <p:fltVal val="360"/>
                                          </p:val>
                                        </p:tav>
                                        <p:tav tm="100000">
                                          <p:val>
                                            <p:fltVal val="0"/>
                                          </p:val>
                                        </p:tav>
                                      </p:tavLst>
                                    </p:anim>
                                    <p:animEffect transition="in" filter="fade">
                                      <p:cBhvr>
                                        <p:cTn id="26" dur="1000"/>
                                        <p:tgtEl>
                                          <p:spTgt spid="11982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9" presetClass="entr" presetSubtype="0" decel="100000" fill="hold" grpId="0" nodeType="clickEffect">
                                  <p:stCondLst>
                                    <p:cond delay="0"/>
                                  </p:stCondLst>
                                  <p:childTnLst>
                                    <p:set>
                                      <p:cBhvr>
                                        <p:cTn id="30" dur="1" fill="hold">
                                          <p:stCondLst>
                                            <p:cond delay="0"/>
                                          </p:stCondLst>
                                        </p:cTn>
                                        <p:tgtEl>
                                          <p:spTgt spid="119825"/>
                                        </p:tgtEl>
                                        <p:attrNameLst>
                                          <p:attrName>style.visibility</p:attrName>
                                        </p:attrNameLst>
                                      </p:cBhvr>
                                      <p:to>
                                        <p:strVal val="visible"/>
                                      </p:to>
                                    </p:set>
                                    <p:anim calcmode="lin" valueType="num">
                                      <p:cBhvr>
                                        <p:cTn id="31" dur="1000" fill="hold"/>
                                        <p:tgtEl>
                                          <p:spTgt spid="119825"/>
                                        </p:tgtEl>
                                        <p:attrNameLst>
                                          <p:attrName>ppt_w</p:attrName>
                                        </p:attrNameLst>
                                      </p:cBhvr>
                                      <p:tavLst>
                                        <p:tav tm="0">
                                          <p:val>
                                            <p:fltVal val="0"/>
                                          </p:val>
                                        </p:tav>
                                        <p:tav tm="100000">
                                          <p:val>
                                            <p:strVal val="#ppt_w"/>
                                          </p:val>
                                        </p:tav>
                                      </p:tavLst>
                                    </p:anim>
                                    <p:anim calcmode="lin" valueType="num">
                                      <p:cBhvr>
                                        <p:cTn id="32" dur="1000" fill="hold"/>
                                        <p:tgtEl>
                                          <p:spTgt spid="119825"/>
                                        </p:tgtEl>
                                        <p:attrNameLst>
                                          <p:attrName>ppt_h</p:attrName>
                                        </p:attrNameLst>
                                      </p:cBhvr>
                                      <p:tavLst>
                                        <p:tav tm="0">
                                          <p:val>
                                            <p:fltVal val="0"/>
                                          </p:val>
                                        </p:tav>
                                        <p:tav tm="100000">
                                          <p:val>
                                            <p:strVal val="#ppt_h"/>
                                          </p:val>
                                        </p:tav>
                                      </p:tavLst>
                                    </p:anim>
                                    <p:anim calcmode="lin" valueType="num">
                                      <p:cBhvr>
                                        <p:cTn id="33" dur="1000" fill="hold"/>
                                        <p:tgtEl>
                                          <p:spTgt spid="119825"/>
                                        </p:tgtEl>
                                        <p:attrNameLst>
                                          <p:attrName>style.rotation</p:attrName>
                                        </p:attrNameLst>
                                      </p:cBhvr>
                                      <p:tavLst>
                                        <p:tav tm="0">
                                          <p:val>
                                            <p:fltVal val="360"/>
                                          </p:val>
                                        </p:tav>
                                        <p:tav tm="100000">
                                          <p:val>
                                            <p:fltVal val="0"/>
                                          </p:val>
                                        </p:tav>
                                      </p:tavLst>
                                    </p:anim>
                                    <p:animEffect transition="in" filter="fade">
                                      <p:cBhvr>
                                        <p:cTn id="34" dur="1000"/>
                                        <p:tgtEl>
                                          <p:spTgt spid="11982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9" presetClass="entr" presetSubtype="0" decel="100000" fill="hold" grpId="0" nodeType="clickEffect">
                                  <p:stCondLst>
                                    <p:cond delay="0"/>
                                  </p:stCondLst>
                                  <p:childTnLst>
                                    <p:set>
                                      <p:cBhvr>
                                        <p:cTn id="38" dur="1" fill="hold">
                                          <p:stCondLst>
                                            <p:cond delay="0"/>
                                          </p:stCondLst>
                                        </p:cTn>
                                        <p:tgtEl>
                                          <p:spTgt spid="119824"/>
                                        </p:tgtEl>
                                        <p:attrNameLst>
                                          <p:attrName>style.visibility</p:attrName>
                                        </p:attrNameLst>
                                      </p:cBhvr>
                                      <p:to>
                                        <p:strVal val="visible"/>
                                      </p:to>
                                    </p:set>
                                    <p:anim calcmode="lin" valueType="num">
                                      <p:cBhvr>
                                        <p:cTn id="39" dur="1000" fill="hold"/>
                                        <p:tgtEl>
                                          <p:spTgt spid="119824"/>
                                        </p:tgtEl>
                                        <p:attrNameLst>
                                          <p:attrName>ppt_w</p:attrName>
                                        </p:attrNameLst>
                                      </p:cBhvr>
                                      <p:tavLst>
                                        <p:tav tm="0">
                                          <p:val>
                                            <p:fltVal val="0"/>
                                          </p:val>
                                        </p:tav>
                                        <p:tav tm="100000">
                                          <p:val>
                                            <p:strVal val="#ppt_w"/>
                                          </p:val>
                                        </p:tav>
                                      </p:tavLst>
                                    </p:anim>
                                    <p:anim calcmode="lin" valueType="num">
                                      <p:cBhvr>
                                        <p:cTn id="40" dur="1000" fill="hold"/>
                                        <p:tgtEl>
                                          <p:spTgt spid="119824"/>
                                        </p:tgtEl>
                                        <p:attrNameLst>
                                          <p:attrName>ppt_h</p:attrName>
                                        </p:attrNameLst>
                                      </p:cBhvr>
                                      <p:tavLst>
                                        <p:tav tm="0">
                                          <p:val>
                                            <p:fltVal val="0"/>
                                          </p:val>
                                        </p:tav>
                                        <p:tav tm="100000">
                                          <p:val>
                                            <p:strVal val="#ppt_h"/>
                                          </p:val>
                                        </p:tav>
                                      </p:tavLst>
                                    </p:anim>
                                    <p:anim calcmode="lin" valueType="num">
                                      <p:cBhvr>
                                        <p:cTn id="41" dur="1000" fill="hold"/>
                                        <p:tgtEl>
                                          <p:spTgt spid="119824"/>
                                        </p:tgtEl>
                                        <p:attrNameLst>
                                          <p:attrName>style.rotation</p:attrName>
                                        </p:attrNameLst>
                                      </p:cBhvr>
                                      <p:tavLst>
                                        <p:tav tm="0">
                                          <p:val>
                                            <p:fltVal val="360"/>
                                          </p:val>
                                        </p:tav>
                                        <p:tav tm="100000">
                                          <p:val>
                                            <p:fltVal val="0"/>
                                          </p:val>
                                        </p:tav>
                                      </p:tavLst>
                                    </p:anim>
                                    <p:animEffect transition="in" filter="fade">
                                      <p:cBhvr>
                                        <p:cTn id="42" dur="1000"/>
                                        <p:tgtEl>
                                          <p:spTgt spid="119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20" grpId="0"/>
      <p:bldP spid="119821" grpId="0"/>
      <p:bldP spid="119822" grpId="0"/>
      <p:bldP spid="119824" grpId="0"/>
      <p:bldP spid="11982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Rectangle 3"/>
          <p:cNvSpPr>
            <a:spLocks noGrp="1" noChangeArrowheads="1"/>
          </p:cNvSpPr>
          <p:nvPr>
            <p:ph type="body" idx="1"/>
          </p:nvPr>
        </p:nvSpPr>
        <p:spPr>
          <a:xfrm>
            <a:off x="479376" y="1631950"/>
            <a:ext cx="10873208" cy="4892675"/>
          </a:xfrm>
        </p:spPr>
        <p:txBody>
          <a:bodyPr/>
          <a:lstStyle/>
          <a:p>
            <a:pPr algn="just" eaLnBrk="1" hangingPunct="1">
              <a:lnSpc>
                <a:spcPct val="110000"/>
              </a:lnSpc>
            </a:pPr>
            <a:r>
              <a:rPr lang="zh-CN" altLang="en-US" dirty="0">
                <a:solidFill>
                  <a:srgbClr val="FF0000"/>
                </a:solidFill>
                <a:ea typeface="黑体" pitchFamily="49" charset="-122"/>
              </a:rPr>
              <a:t>遗传算法的特点</a:t>
            </a:r>
          </a:p>
          <a:p>
            <a:pPr lvl="1" eaLnBrk="1" hangingPunct="1">
              <a:lnSpc>
                <a:spcPct val="110000"/>
              </a:lnSpc>
            </a:pPr>
            <a:r>
              <a:rPr lang="zh-CN" altLang="en-US" b="1" dirty="0">
                <a:solidFill>
                  <a:srgbClr val="3333FF"/>
                </a:solidFill>
                <a:latin typeface="楷体_GB2312" pitchFamily="49" charset="-122"/>
                <a:ea typeface="楷体_GB2312" pitchFamily="49" charset="-122"/>
              </a:rPr>
              <a:t>遗传算法使用概率搜索技术。</a:t>
            </a:r>
            <a:r>
              <a:rPr lang="zh-CN" altLang="en-US" b="1" dirty="0">
                <a:latin typeface="楷体_GB2312" pitchFamily="49" charset="-122"/>
                <a:ea typeface="楷体_GB2312" pitchFamily="49" charset="-122"/>
              </a:rPr>
              <a:t>遗传算法属于一种自适应概率搜索技术，其</a:t>
            </a:r>
            <a:r>
              <a:rPr lang="zh-CN" altLang="en-US" b="1" u="sng" dirty="0">
                <a:latin typeface="楷体_GB2312" pitchFamily="49" charset="-122"/>
                <a:ea typeface="楷体_GB2312" pitchFamily="49" charset="-122"/>
              </a:rPr>
              <a:t>选择、交叉、变异</a:t>
            </a:r>
            <a:r>
              <a:rPr lang="zh-CN" altLang="en-US" b="1" dirty="0">
                <a:latin typeface="楷体_GB2312" pitchFamily="49" charset="-122"/>
                <a:ea typeface="楷体_GB2312" pitchFamily="49" charset="-122"/>
              </a:rPr>
              <a:t>等运算都是以一种概率的方式来进行的，从而增加了其搜索过程的灵活性。</a:t>
            </a:r>
          </a:p>
          <a:p>
            <a:pPr lvl="1" eaLnBrk="1" hangingPunct="1">
              <a:lnSpc>
                <a:spcPct val="110000"/>
              </a:lnSpc>
            </a:pPr>
            <a:r>
              <a:rPr lang="zh-CN" altLang="en-US" b="1" dirty="0">
                <a:solidFill>
                  <a:srgbClr val="008000"/>
                </a:solidFill>
                <a:latin typeface="楷体_GB2312" pitchFamily="49" charset="-122"/>
                <a:ea typeface="楷体_GB2312" pitchFamily="49" charset="-122"/>
              </a:rPr>
              <a:t>实践和理论都已证明了在一定条件下遗传算法总是以概率 </a:t>
            </a:r>
            <a:r>
              <a:rPr lang="en-US" altLang="zh-CN" b="1" dirty="0">
                <a:solidFill>
                  <a:srgbClr val="CC00CC"/>
                </a:solidFill>
                <a:latin typeface="楷体_GB2312" pitchFamily="49" charset="-122"/>
                <a:ea typeface="楷体_GB2312" pitchFamily="49" charset="-122"/>
              </a:rPr>
              <a:t>1</a:t>
            </a:r>
            <a:r>
              <a:rPr lang="en-US" altLang="zh-CN" b="1" dirty="0">
                <a:solidFill>
                  <a:srgbClr val="008000"/>
                </a:solidFill>
                <a:latin typeface="楷体_GB2312" pitchFamily="49" charset="-122"/>
                <a:ea typeface="楷体_GB2312" pitchFamily="49" charset="-122"/>
              </a:rPr>
              <a:t> </a:t>
            </a:r>
            <a:r>
              <a:rPr lang="zh-CN" altLang="en-US" b="1" dirty="0">
                <a:solidFill>
                  <a:srgbClr val="008000"/>
                </a:solidFill>
                <a:latin typeface="楷体_GB2312" pitchFamily="49" charset="-122"/>
                <a:ea typeface="楷体_GB2312" pitchFamily="49" charset="-122"/>
              </a:rPr>
              <a:t>收敛于问题的最优解。</a:t>
            </a:r>
            <a:r>
              <a:rPr lang="zh-CN" altLang="en-US" dirty="0"/>
              <a:t> </a:t>
            </a:r>
          </a:p>
          <a:p>
            <a:pPr eaLnBrk="1" hangingPunct="1">
              <a:lnSpc>
                <a:spcPct val="110000"/>
              </a:lnSpc>
            </a:pPr>
            <a:r>
              <a:rPr lang="zh-CN" altLang="en-US" dirty="0">
                <a:solidFill>
                  <a:srgbClr val="FF0000"/>
                </a:solidFill>
                <a:ea typeface="黑体" pitchFamily="49" charset="-122"/>
              </a:rPr>
              <a:t>遗传算法的应用</a:t>
            </a:r>
          </a:p>
          <a:p>
            <a:pPr lvl="1" eaLnBrk="1" hangingPunct="1">
              <a:lnSpc>
                <a:spcPct val="110000"/>
              </a:lnSpc>
            </a:pPr>
            <a:r>
              <a:rPr lang="zh-CN" altLang="en-US" b="1" dirty="0">
                <a:ea typeface="楷体_GB2312" pitchFamily="49" charset="-122"/>
              </a:rPr>
              <a:t>它提供了一种求解复杂系统优化问题的通用框架，它不依赖于问题的具体领域，对问题的种类有很强的鲁棒性，所以广泛应用于很多学科。</a:t>
            </a:r>
          </a:p>
        </p:txBody>
      </p:sp>
      <p:sp>
        <p:nvSpPr>
          <p:cNvPr id="51203" name="Rectangle 4"/>
          <p:cNvSpPr>
            <a:spLocks noChangeArrowheads="1"/>
          </p:cNvSpPr>
          <p:nvPr/>
        </p:nvSpPr>
        <p:spPr bwMode="auto">
          <a:xfrm>
            <a:off x="1992313" y="333375"/>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4400" dirty="0">
                <a:solidFill>
                  <a:srgbClr val="008000"/>
                </a:solidFill>
                <a:ea typeface="黑体" pitchFamily="49" charset="-122"/>
              </a:rPr>
              <a:t>遗传算法的特点和应用</a:t>
            </a:r>
            <a:endParaRPr lang="zh-CN" altLang="en-US" sz="4000" dirty="0">
              <a:solidFill>
                <a:schemeClr val="bg2"/>
              </a:solidFill>
              <a:ea typeface="黑体" pitchFamily="49" charset="-122"/>
            </a:endParaRPr>
          </a:p>
        </p:txBody>
      </p:sp>
      <p:sp>
        <p:nvSpPr>
          <p:cNvPr id="2" name="灯片编号占位符 1">
            <a:extLst>
              <a:ext uri="{FF2B5EF4-FFF2-40B4-BE49-F238E27FC236}">
                <a16:creationId xmlns:a16="http://schemas.microsoft.com/office/drawing/2014/main" id="{9FFB7E9F-ED3A-9BFE-3781-7293BAB6B605}"/>
              </a:ext>
            </a:extLst>
          </p:cNvPr>
          <p:cNvSpPr>
            <a:spLocks noGrp="1"/>
          </p:cNvSpPr>
          <p:nvPr>
            <p:ph type="sldNum" sz="quarter" idx="11"/>
          </p:nvPr>
        </p:nvSpPr>
        <p:spPr/>
        <p:txBody>
          <a:bodyPr/>
          <a:lstStyle/>
          <a:p>
            <a:pPr>
              <a:defRPr/>
            </a:pPr>
            <a:fld id="{E0FB5469-1AEB-496D-971A-66705BF2F73C}" type="slidenum">
              <a:rPr lang="en-US" altLang="zh-CN" smtClean="0"/>
              <a:pPr>
                <a:defRPr/>
              </a:pPr>
              <a:t>47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wipe(left)">
                                      <p:cBhvr>
                                        <p:cTn id="7" dur="500"/>
                                        <p:tgtEl>
                                          <p:spTgt spid="162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19">
                                            <p:txEl>
                                              <p:pRg st="1" end="1"/>
                                            </p:txEl>
                                          </p:spTgt>
                                        </p:tgtEl>
                                        <p:attrNameLst>
                                          <p:attrName>style.visibility</p:attrName>
                                        </p:attrNameLst>
                                      </p:cBhvr>
                                      <p:to>
                                        <p:strVal val="visible"/>
                                      </p:to>
                                    </p:set>
                                    <p:animEffect transition="in" filter="wipe(left)">
                                      <p:cBhvr>
                                        <p:cTn id="12" dur="500"/>
                                        <p:tgtEl>
                                          <p:spTgt spid="1628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2819">
                                            <p:txEl>
                                              <p:pRg st="2" end="2"/>
                                            </p:txEl>
                                          </p:spTgt>
                                        </p:tgtEl>
                                        <p:attrNameLst>
                                          <p:attrName>style.visibility</p:attrName>
                                        </p:attrNameLst>
                                      </p:cBhvr>
                                      <p:to>
                                        <p:strVal val="visible"/>
                                      </p:to>
                                    </p:set>
                                    <p:animEffect transition="in" filter="wipe(left)">
                                      <p:cBhvr>
                                        <p:cTn id="17" dur="500"/>
                                        <p:tgtEl>
                                          <p:spTgt spid="1628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2819">
                                            <p:txEl>
                                              <p:pRg st="3" end="3"/>
                                            </p:txEl>
                                          </p:spTgt>
                                        </p:tgtEl>
                                        <p:attrNameLst>
                                          <p:attrName>style.visibility</p:attrName>
                                        </p:attrNameLst>
                                      </p:cBhvr>
                                      <p:to>
                                        <p:strVal val="visible"/>
                                      </p:to>
                                    </p:set>
                                    <p:animEffect transition="in" filter="wipe(left)">
                                      <p:cBhvr>
                                        <p:cTn id="22" dur="500"/>
                                        <p:tgtEl>
                                          <p:spTgt spid="1628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2819">
                                            <p:txEl>
                                              <p:pRg st="4" end="4"/>
                                            </p:txEl>
                                          </p:spTgt>
                                        </p:tgtEl>
                                        <p:attrNameLst>
                                          <p:attrName>style.visibility</p:attrName>
                                        </p:attrNameLst>
                                      </p:cBhvr>
                                      <p:to>
                                        <p:strVal val="visible"/>
                                      </p:to>
                                    </p:set>
                                    <p:animEffect transition="in" filter="wipe(left)">
                                      <p:cBhvr>
                                        <p:cTn id="27" dur="500"/>
                                        <p:tgtEl>
                                          <p:spTgt spid="162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992313" y="260350"/>
            <a:ext cx="8229600" cy="1081088"/>
          </a:xfrm>
        </p:spPr>
        <p:txBody>
          <a:bodyPr/>
          <a:lstStyle/>
          <a:p>
            <a:pPr algn="ctr" eaLnBrk="1" hangingPunct="1"/>
            <a:r>
              <a:rPr lang="zh-CN" altLang="en-US" dirty="0">
                <a:solidFill>
                  <a:srgbClr val="008000"/>
                </a:solidFill>
                <a:ea typeface="黑体" pitchFamily="49" charset="-122"/>
              </a:rPr>
              <a:t>用遗传算法求隶属函数</a:t>
            </a:r>
          </a:p>
        </p:txBody>
      </p:sp>
      <p:sp>
        <p:nvSpPr>
          <p:cNvPr id="168963" name="Rectangle 3"/>
          <p:cNvSpPr>
            <a:spLocks noGrp="1" noChangeArrowheads="1"/>
          </p:cNvSpPr>
          <p:nvPr>
            <p:ph type="body" sz="half" idx="1"/>
          </p:nvPr>
        </p:nvSpPr>
        <p:spPr>
          <a:xfrm>
            <a:off x="1127448" y="1484313"/>
            <a:ext cx="9577064" cy="5040312"/>
          </a:xfrm>
        </p:spPr>
        <p:txBody>
          <a:bodyPr/>
          <a:lstStyle/>
          <a:p>
            <a:pPr eaLnBrk="1" hangingPunct="1"/>
            <a:r>
              <a:rPr lang="zh-CN" altLang="en-US" sz="2400" dirty="0">
                <a:ea typeface="黑体" pitchFamily="49" charset="-122"/>
              </a:rPr>
              <a:t>例：设考虑一个单输入</a:t>
            </a:r>
            <a:r>
              <a:rPr lang="en-US" altLang="zh-CN" sz="2400" dirty="0">
                <a:ea typeface="黑体" pitchFamily="49" charset="-122"/>
              </a:rPr>
              <a:t>x</a:t>
            </a:r>
            <a:r>
              <a:rPr lang="zh-CN" altLang="en-US" sz="2400" dirty="0">
                <a:ea typeface="黑体" pitchFamily="49" charset="-122"/>
              </a:rPr>
              <a:t>和单输出</a:t>
            </a:r>
            <a:r>
              <a:rPr lang="en-US" altLang="zh-CN" sz="2400" dirty="0">
                <a:ea typeface="黑体" pitchFamily="49" charset="-122"/>
              </a:rPr>
              <a:t>y</a:t>
            </a:r>
            <a:r>
              <a:rPr lang="zh-CN" altLang="en-US" sz="2400" dirty="0">
                <a:ea typeface="黑体" pitchFamily="49" charset="-122"/>
              </a:rPr>
              <a:t>的系统，其输入、输出值如表</a:t>
            </a:r>
            <a:r>
              <a:rPr lang="en-US" altLang="zh-CN" sz="2400" dirty="0">
                <a:ea typeface="黑体" pitchFamily="49" charset="-122"/>
              </a:rPr>
              <a:t>:</a:t>
            </a:r>
          </a:p>
          <a:p>
            <a:pPr eaLnBrk="1" hangingPunct="1"/>
            <a:endParaRPr lang="en-US" altLang="zh-CN" sz="2400" dirty="0">
              <a:ea typeface="黑体" pitchFamily="49" charset="-122"/>
            </a:endParaRPr>
          </a:p>
          <a:p>
            <a:pPr eaLnBrk="1" hangingPunct="1"/>
            <a:endParaRPr lang="en-US" altLang="zh-CN" sz="1800" dirty="0">
              <a:ea typeface="黑体" pitchFamily="49" charset="-122"/>
            </a:endParaRPr>
          </a:p>
          <a:p>
            <a:pPr eaLnBrk="1" hangingPunct="1"/>
            <a:endParaRPr lang="en-US" altLang="zh-CN" sz="1800" dirty="0">
              <a:ea typeface="黑体" pitchFamily="49" charset="-122"/>
            </a:endParaRPr>
          </a:p>
          <a:p>
            <a:pPr eaLnBrk="1" hangingPunct="1"/>
            <a:r>
              <a:rPr lang="zh-CN" altLang="en-US" sz="2400" dirty="0">
                <a:ea typeface="黑体" pitchFamily="49" charset="-122"/>
              </a:rPr>
              <a:t>表示系统输入</a:t>
            </a:r>
            <a:r>
              <a:rPr lang="en-US" altLang="zh-CN" sz="2400" dirty="0">
                <a:ea typeface="黑体" pitchFamily="49" charset="-122"/>
              </a:rPr>
              <a:t>(x)</a:t>
            </a:r>
            <a:r>
              <a:rPr lang="zh-CN" altLang="en-US" sz="2400" dirty="0">
                <a:ea typeface="黑体" pitchFamily="49" charset="-122"/>
              </a:rPr>
              <a:t>、输出</a:t>
            </a:r>
            <a:r>
              <a:rPr lang="en-US" altLang="zh-CN" sz="2400" dirty="0">
                <a:ea typeface="黑体" pitchFamily="49" charset="-122"/>
              </a:rPr>
              <a:t>(y)</a:t>
            </a:r>
            <a:r>
              <a:rPr lang="zh-CN" altLang="en-US" sz="2400" dirty="0">
                <a:ea typeface="黑体" pitchFamily="49" charset="-122"/>
              </a:rPr>
              <a:t>之间的函数映射为：</a:t>
            </a:r>
          </a:p>
          <a:p>
            <a:pPr eaLnBrk="1" hangingPunct="1"/>
            <a:endParaRPr lang="zh-CN" altLang="en-US" sz="2400" dirty="0">
              <a:ea typeface="黑体" pitchFamily="49" charset="-122"/>
            </a:endParaRPr>
          </a:p>
          <a:p>
            <a:pPr eaLnBrk="1" hangingPunct="1"/>
            <a:endParaRPr lang="zh-CN" altLang="en-US" dirty="0">
              <a:ea typeface="黑体" pitchFamily="49" charset="-122"/>
            </a:endParaRPr>
          </a:p>
          <a:p>
            <a:pPr eaLnBrk="1" hangingPunct="1"/>
            <a:r>
              <a:rPr lang="zh-CN" altLang="en-US" sz="2400" dirty="0">
                <a:ea typeface="黑体" pitchFamily="49" charset="-122"/>
              </a:rPr>
              <a:t>由映射函数可知：</a:t>
            </a:r>
            <a:r>
              <a:rPr lang="zh-CN" altLang="en-US" sz="2400" u="sng" dirty="0">
                <a:solidFill>
                  <a:srgbClr val="3333FF"/>
                </a:solidFill>
                <a:ea typeface="黑体" pitchFamily="49" charset="-122"/>
              </a:rPr>
              <a:t>小</a:t>
            </a:r>
            <a:r>
              <a:rPr lang="en-US" altLang="zh-CN" sz="2400" u="sng" dirty="0">
                <a:solidFill>
                  <a:srgbClr val="3333FF"/>
                </a:solidFill>
                <a:ea typeface="黑体" pitchFamily="49" charset="-122"/>
              </a:rPr>
              <a:t>x</a:t>
            </a:r>
            <a:r>
              <a:rPr lang="zh-CN" altLang="en-US" sz="2400" dirty="0">
                <a:solidFill>
                  <a:srgbClr val="3333FF"/>
                </a:solidFill>
                <a:ea typeface="黑体" pitchFamily="49" charset="-122"/>
              </a:rPr>
              <a:t>映射到</a:t>
            </a:r>
            <a:r>
              <a:rPr lang="zh-CN" altLang="en-US" sz="2400" u="sng" dirty="0">
                <a:solidFill>
                  <a:srgbClr val="3333FF"/>
                </a:solidFill>
                <a:ea typeface="黑体" pitchFamily="49" charset="-122"/>
              </a:rPr>
              <a:t>小</a:t>
            </a:r>
            <a:r>
              <a:rPr lang="en-US" altLang="zh-CN" sz="2400" u="sng" dirty="0">
                <a:solidFill>
                  <a:srgbClr val="3333FF"/>
                </a:solidFill>
                <a:ea typeface="黑体" pitchFamily="49" charset="-122"/>
              </a:rPr>
              <a:t>y</a:t>
            </a:r>
            <a:r>
              <a:rPr lang="zh-CN" altLang="en-US" sz="2400" dirty="0">
                <a:solidFill>
                  <a:srgbClr val="3333FF"/>
                </a:solidFill>
                <a:ea typeface="黑体" pitchFamily="49" charset="-122"/>
              </a:rPr>
              <a:t>，</a:t>
            </a:r>
            <a:r>
              <a:rPr lang="zh-CN" altLang="en-US" sz="2400" u="sng" dirty="0">
                <a:solidFill>
                  <a:srgbClr val="3333FF"/>
                </a:solidFill>
                <a:ea typeface="黑体" pitchFamily="49" charset="-122"/>
              </a:rPr>
              <a:t>大</a:t>
            </a:r>
            <a:r>
              <a:rPr lang="en-US" altLang="zh-CN" sz="2400" u="sng" dirty="0">
                <a:solidFill>
                  <a:srgbClr val="3333FF"/>
                </a:solidFill>
                <a:ea typeface="黑体" pitchFamily="49" charset="-122"/>
              </a:rPr>
              <a:t>x</a:t>
            </a:r>
            <a:r>
              <a:rPr lang="zh-CN" altLang="en-US" sz="2400" dirty="0">
                <a:solidFill>
                  <a:srgbClr val="3333FF"/>
                </a:solidFill>
                <a:ea typeface="黑体" pitchFamily="49" charset="-122"/>
              </a:rPr>
              <a:t>映射到</a:t>
            </a:r>
            <a:r>
              <a:rPr lang="zh-CN" altLang="en-US" sz="2400" u="sng" dirty="0">
                <a:solidFill>
                  <a:srgbClr val="3333FF"/>
                </a:solidFill>
                <a:ea typeface="黑体" pitchFamily="49" charset="-122"/>
              </a:rPr>
              <a:t>非常大</a:t>
            </a:r>
            <a:r>
              <a:rPr lang="en-US" altLang="zh-CN" sz="2400" u="sng" dirty="0">
                <a:solidFill>
                  <a:srgbClr val="3333FF"/>
                </a:solidFill>
                <a:ea typeface="黑体" pitchFamily="49" charset="-122"/>
              </a:rPr>
              <a:t>y</a:t>
            </a:r>
            <a:r>
              <a:rPr lang="zh-CN" altLang="en-US" sz="2400" dirty="0">
                <a:solidFill>
                  <a:srgbClr val="3333FF"/>
                </a:solidFill>
                <a:ea typeface="黑体" pitchFamily="49" charset="-122"/>
              </a:rPr>
              <a:t>。</a:t>
            </a:r>
          </a:p>
          <a:p>
            <a:pPr eaLnBrk="1" hangingPunct="1"/>
            <a:r>
              <a:rPr lang="zh-CN" altLang="en-US" sz="2400" dirty="0">
                <a:ea typeface="黑体" pitchFamily="49" charset="-122"/>
              </a:rPr>
              <a:t>设变量</a:t>
            </a:r>
            <a:r>
              <a:rPr lang="en-US" altLang="zh-CN" sz="2400" dirty="0">
                <a:ea typeface="黑体" pitchFamily="49" charset="-122"/>
              </a:rPr>
              <a:t>x</a:t>
            </a:r>
            <a:r>
              <a:rPr lang="en-US" altLang="zh-CN" sz="2400" dirty="0">
                <a:ea typeface="黑体" pitchFamily="49" charset="-122"/>
                <a:sym typeface="Symbol"/>
              </a:rPr>
              <a:t></a:t>
            </a:r>
            <a:r>
              <a:rPr lang="en-US" altLang="zh-CN" sz="2400" dirty="0">
                <a:ea typeface="黑体" pitchFamily="49" charset="-122"/>
              </a:rPr>
              <a:t>[0,5]</a:t>
            </a:r>
            <a:r>
              <a:rPr lang="zh-CN" altLang="en-US" sz="2400" dirty="0">
                <a:ea typeface="黑体" pitchFamily="49" charset="-122"/>
              </a:rPr>
              <a:t>，变量</a:t>
            </a:r>
            <a:r>
              <a:rPr lang="en-US" altLang="zh-CN" sz="2400" dirty="0">
                <a:ea typeface="黑体" pitchFamily="49" charset="-122"/>
              </a:rPr>
              <a:t>y</a:t>
            </a:r>
            <a:r>
              <a:rPr lang="en-US" altLang="zh-CN" sz="2400" dirty="0">
                <a:ea typeface="黑体" pitchFamily="49" charset="-122"/>
                <a:sym typeface="Symbol"/>
              </a:rPr>
              <a:t></a:t>
            </a:r>
            <a:r>
              <a:rPr lang="en-US" altLang="zh-CN" sz="2400" dirty="0">
                <a:ea typeface="黑体" pitchFamily="49" charset="-122"/>
              </a:rPr>
              <a:t>[0,25],</a:t>
            </a:r>
            <a:r>
              <a:rPr lang="zh-CN" altLang="en-US" sz="2400" dirty="0">
                <a:ea typeface="黑体" pitchFamily="49" charset="-122"/>
              </a:rPr>
              <a:t>各隶属函数为</a:t>
            </a:r>
            <a:r>
              <a:rPr lang="zh-CN" altLang="en-US" sz="2400" u="sng" dirty="0">
                <a:ea typeface="黑体" pitchFamily="49" charset="-122"/>
              </a:rPr>
              <a:t>直角三角形</a:t>
            </a:r>
          </a:p>
          <a:p>
            <a:pPr eaLnBrk="1" hangingPunct="1"/>
            <a:endParaRPr lang="en-US" altLang="zh-CN" sz="2400" dirty="0">
              <a:ea typeface="黑体" pitchFamily="49" charset="-122"/>
            </a:endParaRPr>
          </a:p>
        </p:txBody>
      </p:sp>
      <p:graphicFrame>
        <p:nvGraphicFramePr>
          <p:cNvPr id="169013" name="Group 53"/>
          <p:cNvGraphicFramePr>
            <a:graphicFrameLocks noGrp="1"/>
          </p:cNvGraphicFramePr>
          <p:nvPr>
            <p:ph sz="quarter" idx="2"/>
          </p:nvPr>
        </p:nvGraphicFramePr>
        <p:xfrm>
          <a:off x="4008438" y="2060575"/>
          <a:ext cx="4032250" cy="914400"/>
        </p:xfrm>
        <a:graphic>
          <a:graphicData uri="http://schemas.openxmlformats.org/drawingml/2006/table">
            <a:tbl>
              <a:tblPr/>
              <a:tblGrid>
                <a:gridCol w="671512">
                  <a:extLst>
                    <a:ext uri="{9D8B030D-6E8A-4147-A177-3AD203B41FA5}">
                      <a16:colId xmlns:a16="http://schemas.microsoft.com/office/drawing/2014/main" val="20000"/>
                    </a:ext>
                  </a:extLst>
                </a:gridCol>
                <a:gridCol w="673100">
                  <a:extLst>
                    <a:ext uri="{9D8B030D-6E8A-4147-A177-3AD203B41FA5}">
                      <a16:colId xmlns:a16="http://schemas.microsoft.com/office/drawing/2014/main" val="20001"/>
                    </a:ext>
                  </a:extLst>
                </a:gridCol>
                <a:gridCol w="671513">
                  <a:extLst>
                    <a:ext uri="{9D8B030D-6E8A-4147-A177-3AD203B41FA5}">
                      <a16:colId xmlns:a16="http://schemas.microsoft.com/office/drawing/2014/main" val="20002"/>
                    </a:ext>
                  </a:extLst>
                </a:gridCol>
                <a:gridCol w="671512">
                  <a:extLst>
                    <a:ext uri="{9D8B030D-6E8A-4147-A177-3AD203B41FA5}">
                      <a16:colId xmlns:a16="http://schemas.microsoft.com/office/drawing/2014/main" val="20003"/>
                    </a:ext>
                  </a:extLst>
                </a:gridCol>
                <a:gridCol w="673100">
                  <a:extLst>
                    <a:ext uri="{9D8B030D-6E8A-4147-A177-3AD203B41FA5}">
                      <a16:colId xmlns:a16="http://schemas.microsoft.com/office/drawing/2014/main" val="20004"/>
                    </a:ext>
                  </a:extLst>
                </a:gridCol>
                <a:gridCol w="671513">
                  <a:extLst>
                    <a:ext uri="{9D8B030D-6E8A-4147-A177-3AD203B41FA5}">
                      <a16:colId xmlns:a16="http://schemas.microsoft.com/office/drawing/2014/main" val="20005"/>
                    </a:ext>
                  </a:extLst>
                </a:gridCol>
              </a:tblGrid>
              <a:tr h="3952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69014" name="Group 54"/>
          <p:cNvGraphicFramePr>
            <a:graphicFrameLocks noGrp="1"/>
          </p:cNvGraphicFramePr>
          <p:nvPr>
            <p:ph sz="quarter" idx="3"/>
          </p:nvPr>
        </p:nvGraphicFramePr>
        <p:xfrm>
          <a:off x="4295776" y="3500438"/>
          <a:ext cx="3394075" cy="925512"/>
        </p:xfrm>
        <a:graphic>
          <a:graphicData uri="http://schemas.openxmlformats.org/drawingml/2006/table">
            <a:tbl>
              <a:tblPr/>
              <a:tblGrid>
                <a:gridCol w="1131888">
                  <a:extLst>
                    <a:ext uri="{9D8B030D-6E8A-4147-A177-3AD203B41FA5}">
                      <a16:colId xmlns:a16="http://schemas.microsoft.com/office/drawing/2014/main" val="20000"/>
                    </a:ext>
                  </a:extLst>
                </a:gridCol>
                <a:gridCol w="1130300">
                  <a:extLst>
                    <a:ext uri="{9D8B030D-6E8A-4147-A177-3AD203B41FA5}">
                      <a16:colId xmlns:a16="http://schemas.microsoft.com/office/drawing/2014/main" val="20001"/>
                    </a:ext>
                  </a:extLst>
                </a:gridCol>
                <a:gridCol w="1131887">
                  <a:extLst>
                    <a:ext uri="{9D8B030D-6E8A-4147-A177-3AD203B41FA5}">
                      <a16:colId xmlns:a16="http://schemas.microsoft.com/office/drawing/2014/main" val="20002"/>
                    </a:ext>
                  </a:extLst>
                </a:gridCol>
              </a:tblGrid>
              <a:tr h="46354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19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VL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69011" name="Rectangle 51"/>
          <p:cNvSpPr>
            <a:spLocks noChangeArrowheads="1"/>
          </p:cNvSpPr>
          <p:nvPr/>
        </p:nvSpPr>
        <p:spPr bwMode="auto">
          <a:xfrm>
            <a:off x="8688388" y="3429001"/>
            <a:ext cx="1784350" cy="1006475"/>
          </a:xfrm>
          <a:prstGeom prst="rect">
            <a:avLst/>
          </a:prstGeom>
          <a:solidFill>
            <a:srgbClr val="F7DBF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ea typeface="楷体_GB2312" pitchFamily="49" charset="-122"/>
              </a:rPr>
              <a:t>S——</a:t>
            </a:r>
            <a:r>
              <a:rPr lang="zh-CN" altLang="en-US" sz="2000" b="1">
                <a:ea typeface="楷体_GB2312" pitchFamily="49" charset="-122"/>
              </a:rPr>
              <a:t>小</a:t>
            </a:r>
          </a:p>
          <a:p>
            <a:r>
              <a:rPr lang="en-US" altLang="zh-CN" sz="2000" b="1">
                <a:ea typeface="楷体_GB2312" pitchFamily="49" charset="-122"/>
              </a:rPr>
              <a:t>L——</a:t>
            </a:r>
            <a:r>
              <a:rPr lang="zh-CN" altLang="en-US" sz="2000" b="1">
                <a:ea typeface="楷体_GB2312" pitchFamily="49" charset="-122"/>
              </a:rPr>
              <a:t>大</a:t>
            </a:r>
          </a:p>
          <a:p>
            <a:r>
              <a:rPr lang="en-US" altLang="zh-CN" sz="2000" b="1">
                <a:ea typeface="楷体_GB2312" pitchFamily="49" charset="-122"/>
              </a:rPr>
              <a:t>VL——</a:t>
            </a:r>
            <a:r>
              <a:rPr lang="zh-CN" altLang="en-US" sz="2000" b="1">
                <a:ea typeface="楷体_GB2312" pitchFamily="49" charset="-122"/>
              </a:rPr>
              <a:t>非常大</a:t>
            </a:r>
          </a:p>
        </p:txBody>
      </p:sp>
      <p:grpSp>
        <p:nvGrpSpPr>
          <p:cNvPr id="169025" name="Group 65"/>
          <p:cNvGrpSpPr>
            <a:grpSpLocks/>
          </p:cNvGrpSpPr>
          <p:nvPr/>
        </p:nvGrpSpPr>
        <p:grpSpPr bwMode="auto">
          <a:xfrm>
            <a:off x="3216275" y="5338764"/>
            <a:ext cx="5543550" cy="1519237"/>
            <a:chOff x="1066" y="3363"/>
            <a:chExt cx="3492" cy="957"/>
          </a:xfrm>
        </p:grpSpPr>
        <p:sp>
          <p:nvSpPr>
            <p:cNvPr id="53291" name="Line 56"/>
            <p:cNvSpPr>
              <a:spLocks noChangeShapeType="1"/>
            </p:cNvSpPr>
            <p:nvPr/>
          </p:nvSpPr>
          <p:spPr bwMode="auto">
            <a:xfrm flipV="1">
              <a:off x="1294" y="3403"/>
              <a:ext cx="0" cy="68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2" name="Line 57"/>
            <p:cNvSpPr>
              <a:spLocks noChangeShapeType="1"/>
            </p:cNvSpPr>
            <p:nvPr/>
          </p:nvSpPr>
          <p:spPr bwMode="auto">
            <a:xfrm>
              <a:off x="1294" y="4089"/>
              <a:ext cx="299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3" name="Line 58"/>
            <p:cNvSpPr>
              <a:spLocks noChangeShapeType="1"/>
            </p:cNvSpPr>
            <p:nvPr/>
          </p:nvSpPr>
          <p:spPr bwMode="auto">
            <a:xfrm>
              <a:off x="1294" y="3565"/>
              <a:ext cx="1290" cy="52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4" name="Line 59"/>
            <p:cNvSpPr>
              <a:spLocks noChangeShapeType="1"/>
            </p:cNvSpPr>
            <p:nvPr/>
          </p:nvSpPr>
          <p:spPr bwMode="auto">
            <a:xfrm flipV="1">
              <a:off x="4178" y="3565"/>
              <a:ext cx="0" cy="5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5" name="Line 60"/>
            <p:cNvSpPr>
              <a:spLocks noChangeShapeType="1"/>
            </p:cNvSpPr>
            <p:nvPr/>
          </p:nvSpPr>
          <p:spPr bwMode="auto">
            <a:xfrm flipH="1">
              <a:off x="2015" y="3565"/>
              <a:ext cx="2163" cy="524"/>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6" name="Text Box 61"/>
            <p:cNvSpPr txBox="1">
              <a:spLocks noChangeArrowheads="1"/>
            </p:cNvSpPr>
            <p:nvPr/>
          </p:nvSpPr>
          <p:spPr bwMode="auto">
            <a:xfrm>
              <a:off x="1712" y="4089"/>
              <a:ext cx="284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a:t>基</a:t>
              </a:r>
              <a:r>
                <a:rPr lang="en-US" altLang="zh-CN"/>
                <a:t>1                              </a:t>
              </a:r>
              <a:r>
                <a:rPr lang="zh-CN" altLang="en-US"/>
                <a:t>基</a:t>
              </a:r>
              <a:r>
                <a:rPr lang="en-US" altLang="zh-CN"/>
                <a:t>2                     x(y)</a:t>
              </a:r>
            </a:p>
          </p:txBody>
        </p:sp>
        <p:sp>
          <p:nvSpPr>
            <p:cNvPr id="53297" name="Text Box 62"/>
            <p:cNvSpPr txBox="1">
              <a:spLocks noChangeArrowheads="1"/>
            </p:cNvSpPr>
            <p:nvPr/>
          </p:nvSpPr>
          <p:spPr bwMode="auto">
            <a:xfrm>
              <a:off x="1882" y="3612"/>
              <a:ext cx="3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53298" name="Text Box 63"/>
            <p:cNvSpPr txBox="1">
              <a:spLocks noChangeArrowheads="1"/>
            </p:cNvSpPr>
            <p:nvPr/>
          </p:nvSpPr>
          <p:spPr bwMode="auto">
            <a:xfrm>
              <a:off x="3016" y="3566"/>
              <a:ext cx="7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L (VL)</a:t>
              </a:r>
            </a:p>
          </p:txBody>
        </p:sp>
        <p:sp>
          <p:nvSpPr>
            <p:cNvPr id="53299" name="Text Box 64"/>
            <p:cNvSpPr txBox="1">
              <a:spLocks noChangeArrowheads="1"/>
            </p:cNvSpPr>
            <p:nvPr/>
          </p:nvSpPr>
          <p:spPr bwMode="auto">
            <a:xfrm>
              <a:off x="1066" y="3363"/>
              <a:ext cx="304"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l-GR" altLang="zh-CN" sz="1600" b="1" dirty="0"/>
                <a:t>μ</a:t>
              </a:r>
              <a:endParaRPr lang="en-US" altLang="zh-CN" sz="1600" b="1" dirty="0"/>
            </a:p>
            <a:p>
              <a:pPr eaLnBrk="1" hangingPunct="1">
                <a:spcBef>
                  <a:spcPct val="50000"/>
                </a:spcBef>
              </a:pPr>
              <a:r>
                <a:rPr lang="en-US" altLang="zh-CN" dirty="0"/>
                <a:t>1</a:t>
              </a:r>
            </a:p>
          </p:txBody>
        </p:sp>
      </p:grpSp>
      <p:sp>
        <p:nvSpPr>
          <p:cNvPr id="2" name="灯片编号占位符 1">
            <a:extLst>
              <a:ext uri="{FF2B5EF4-FFF2-40B4-BE49-F238E27FC236}">
                <a16:creationId xmlns:a16="http://schemas.microsoft.com/office/drawing/2014/main" id="{D7D34A1A-20B9-359A-0638-2C38942B231A}"/>
              </a:ext>
            </a:extLst>
          </p:cNvPr>
          <p:cNvSpPr>
            <a:spLocks noGrp="1"/>
          </p:cNvSpPr>
          <p:nvPr>
            <p:ph type="sldNum" sz="quarter" idx="11"/>
          </p:nvPr>
        </p:nvSpPr>
        <p:spPr/>
        <p:txBody>
          <a:bodyPr/>
          <a:lstStyle/>
          <a:p>
            <a:pPr>
              <a:defRPr/>
            </a:pPr>
            <a:fld id="{6E623E09-9292-430A-945A-636A50DBB6F1}" type="slidenum">
              <a:rPr lang="en-US" altLang="zh-CN" smtClean="0"/>
              <a:pPr>
                <a:defRPr/>
              </a:pPr>
              <a:t>48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8963">
                                            <p:txEl>
                                              <p:pRg st="0" end="0"/>
                                            </p:txEl>
                                          </p:spTgt>
                                        </p:tgtEl>
                                        <p:attrNameLst>
                                          <p:attrName>style.visibility</p:attrName>
                                        </p:attrNameLst>
                                      </p:cBhvr>
                                      <p:to>
                                        <p:strVal val="visible"/>
                                      </p:to>
                                    </p:set>
                                    <p:animEffect transition="in" filter="wipe(left)">
                                      <p:cBhvr>
                                        <p:cTn id="7" dur="500"/>
                                        <p:tgtEl>
                                          <p:spTgt spid="168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69013"/>
                                        </p:tgtEl>
                                        <p:attrNameLst>
                                          <p:attrName>style.visibility</p:attrName>
                                        </p:attrNameLst>
                                      </p:cBhvr>
                                      <p:to>
                                        <p:strVal val="visible"/>
                                      </p:to>
                                    </p:set>
                                    <p:animEffect transition="in" filter="wipe(up)">
                                      <p:cBhvr>
                                        <p:cTn id="12" dur="500"/>
                                        <p:tgtEl>
                                          <p:spTgt spid="1690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8963">
                                            <p:txEl>
                                              <p:pRg st="4" end="4"/>
                                            </p:txEl>
                                          </p:spTgt>
                                        </p:tgtEl>
                                        <p:attrNameLst>
                                          <p:attrName>style.visibility</p:attrName>
                                        </p:attrNameLst>
                                      </p:cBhvr>
                                      <p:to>
                                        <p:strVal val="visible"/>
                                      </p:to>
                                    </p:set>
                                    <p:animEffect transition="in" filter="wipe(left)">
                                      <p:cBhvr>
                                        <p:cTn id="17" dur="500"/>
                                        <p:tgtEl>
                                          <p:spTgt spid="16896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69014"/>
                                        </p:tgtEl>
                                        <p:attrNameLst>
                                          <p:attrName>style.visibility</p:attrName>
                                        </p:attrNameLst>
                                      </p:cBhvr>
                                      <p:to>
                                        <p:strVal val="visible"/>
                                      </p:to>
                                    </p:set>
                                    <p:animEffect transition="in" filter="wipe(up)">
                                      <p:cBhvr>
                                        <p:cTn id="22" dur="500"/>
                                        <p:tgtEl>
                                          <p:spTgt spid="169014"/>
                                        </p:tgtEl>
                                      </p:cBhvr>
                                    </p:animEffect>
                                  </p:childTnLst>
                                </p:cTn>
                              </p:par>
                            </p:childTnLst>
                          </p:cTn>
                        </p:par>
                        <p:par>
                          <p:cTn id="23" fill="hold" nodeType="afterGroup">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169011"/>
                                        </p:tgtEl>
                                        <p:attrNameLst>
                                          <p:attrName>style.visibility</p:attrName>
                                        </p:attrNameLst>
                                      </p:cBhvr>
                                      <p:to>
                                        <p:strVal val="visible"/>
                                      </p:to>
                                    </p:set>
                                    <p:animEffect transition="in" filter="wipe(up)">
                                      <p:cBhvr>
                                        <p:cTn id="26" dur="500"/>
                                        <p:tgtEl>
                                          <p:spTgt spid="1690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68963">
                                            <p:txEl>
                                              <p:pRg st="7" end="7"/>
                                            </p:txEl>
                                          </p:spTgt>
                                        </p:tgtEl>
                                        <p:attrNameLst>
                                          <p:attrName>style.visibility</p:attrName>
                                        </p:attrNameLst>
                                      </p:cBhvr>
                                      <p:to>
                                        <p:strVal val="visible"/>
                                      </p:to>
                                    </p:set>
                                    <p:animEffect transition="in" filter="wipe(left)">
                                      <p:cBhvr>
                                        <p:cTn id="31" dur="500"/>
                                        <p:tgtEl>
                                          <p:spTgt spid="168963">
                                            <p:txEl>
                                              <p:pRg st="7" end="7"/>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68963">
                                            <p:txEl>
                                              <p:pRg st="8" end="8"/>
                                            </p:txEl>
                                          </p:spTgt>
                                        </p:tgtEl>
                                        <p:attrNameLst>
                                          <p:attrName>style.visibility</p:attrName>
                                        </p:attrNameLst>
                                      </p:cBhvr>
                                      <p:to>
                                        <p:strVal val="visible"/>
                                      </p:to>
                                    </p:set>
                                    <p:animEffect transition="in" filter="wipe(left)">
                                      <p:cBhvr>
                                        <p:cTn id="36" dur="500"/>
                                        <p:tgtEl>
                                          <p:spTgt spid="168963">
                                            <p:txEl>
                                              <p:pRg st="8" end="8"/>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169025"/>
                                        </p:tgtEl>
                                        <p:attrNameLst>
                                          <p:attrName>style.visibility</p:attrName>
                                        </p:attrNameLst>
                                      </p:cBhvr>
                                      <p:to>
                                        <p:strVal val="visible"/>
                                      </p:to>
                                    </p:set>
                                    <p:animEffect transition="in" filter="wipe(up)">
                                      <p:cBhvr>
                                        <p:cTn id="41" dur="500"/>
                                        <p:tgtEl>
                                          <p:spTgt spid="169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01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ea typeface="黑体" pitchFamily="49" charset="-122"/>
              </a:rPr>
              <a:t>用遗传算法求隶属函数</a:t>
            </a:r>
          </a:p>
        </p:txBody>
      </p:sp>
      <p:sp>
        <p:nvSpPr>
          <p:cNvPr id="172035" name="Rectangle 3"/>
          <p:cNvSpPr>
            <a:spLocks noGrp="1" noChangeArrowheads="1"/>
          </p:cNvSpPr>
          <p:nvPr>
            <p:ph type="body" sz="half" idx="1"/>
          </p:nvPr>
        </p:nvSpPr>
        <p:spPr>
          <a:xfrm>
            <a:off x="911425" y="1484784"/>
            <a:ext cx="10081119" cy="4968552"/>
          </a:xfrm>
        </p:spPr>
        <p:txBody>
          <a:bodyPr/>
          <a:lstStyle/>
          <a:p>
            <a:pPr eaLnBrk="1" hangingPunct="1"/>
            <a:r>
              <a:rPr lang="zh-CN" altLang="en-US" sz="2800" dirty="0">
                <a:solidFill>
                  <a:srgbClr val="FF0000"/>
                </a:solidFill>
                <a:ea typeface="黑体" pitchFamily="49" charset="-122"/>
              </a:rPr>
              <a:t>该问题的求知变量是</a:t>
            </a:r>
            <a:r>
              <a:rPr lang="en-US" altLang="zh-CN" sz="2800" dirty="0">
                <a:solidFill>
                  <a:srgbClr val="FF0000"/>
                </a:solidFill>
                <a:ea typeface="黑体" pitchFamily="49" charset="-122"/>
              </a:rPr>
              <a:t>4</a:t>
            </a:r>
            <a:r>
              <a:rPr lang="zh-CN" altLang="en-US" sz="2800" dirty="0">
                <a:solidFill>
                  <a:srgbClr val="FF0000"/>
                </a:solidFill>
                <a:ea typeface="黑体" pitchFamily="49" charset="-122"/>
              </a:rPr>
              <a:t>个隶属函数的底边长</a:t>
            </a:r>
          </a:p>
          <a:p>
            <a:pPr eaLnBrk="1" hangingPunct="1"/>
            <a:r>
              <a:rPr lang="zh-CN" altLang="en-US" sz="2400" dirty="0">
                <a:ea typeface="黑体" pitchFamily="49" charset="-122"/>
              </a:rPr>
              <a:t>用</a:t>
            </a:r>
            <a:r>
              <a:rPr lang="en-US" altLang="zh-CN" sz="2400" dirty="0">
                <a:solidFill>
                  <a:srgbClr val="3333FF"/>
                </a:solidFill>
                <a:ea typeface="黑体" pitchFamily="49" charset="-122"/>
              </a:rPr>
              <a:t>6bits</a:t>
            </a:r>
            <a:r>
              <a:rPr lang="en-US" altLang="zh-CN" sz="2400" dirty="0">
                <a:ea typeface="黑体" pitchFamily="49" charset="-122"/>
              </a:rPr>
              <a:t> </a:t>
            </a:r>
            <a:r>
              <a:rPr lang="zh-CN" altLang="en-US" sz="2400" dirty="0">
                <a:ea typeface="黑体" pitchFamily="49" charset="-122"/>
              </a:rPr>
              <a:t>定义每个隶属函数的底边，然后将它们连成</a:t>
            </a:r>
            <a:r>
              <a:rPr lang="en-US" altLang="zh-CN" sz="2400" dirty="0">
                <a:solidFill>
                  <a:srgbClr val="3333FF"/>
                </a:solidFill>
                <a:ea typeface="黑体" pitchFamily="49" charset="-122"/>
              </a:rPr>
              <a:t>24bits</a:t>
            </a:r>
            <a:r>
              <a:rPr lang="zh-CN" altLang="en-US" sz="2400" dirty="0">
                <a:ea typeface="黑体" pitchFamily="49" charset="-122"/>
              </a:rPr>
              <a:t>的二进制串</a:t>
            </a:r>
            <a:r>
              <a:rPr lang="en-US" altLang="zh-CN" sz="2400" dirty="0">
                <a:solidFill>
                  <a:srgbClr val="CC00CC"/>
                </a:solidFill>
                <a:ea typeface="黑体" pitchFamily="49" charset="-122"/>
              </a:rPr>
              <a:t>a</a:t>
            </a:r>
            <a:r>
              <a:rPr lang="en-US" altLang="zh-CN" sz="2400" baseline="-25000" dirty="0">
                <a:solidFill>
                  <a:srgbClr val="CC00CC"/>
                </a:solidFill>
                <a:ea typeface="黑体" pitchFamily="49" charset="-122"/>
              </a:rPr>
              <a:t>1</a:t>
            </a:r>
            <a:r>
              <a:rPr lang="en-US" altLang="zh-CN" sz="2400" dirty="0">
                <a:solidFill>
                  <a:srgbClr val="CC00CC"/>
                </a:solidFill>
                <a:ea typeface="黑体" pitchFamily="49" charset="-122"/>
              </a:rPr>
              <a:t>a</a:t>
            </a:r>
            <a:r>
              <a:rPr lang="en-US" altLang="zh-CN" sz="2400" baseline="-25000" dirty="0">
                <a:solidFill>
                  <a:srgbClr val="CC00CC"/>
                </a:solidFill>
                <a:ea typeface="黑体" pitchFamily="49" charset="-122"/>
              </a:rPr>
              <a:t>2</a:t>
            </a:r>
            <a:r>
              <a:rPr lang="en-US" altLang="zh-CN" sz="2400" dirty="0">
                <a:ea typeface="黑体" pitchFamily="49" charset="-122"/>
              </a:rPr>
              <a:t>|</a:t>
            </a:r>
            <a:r>
              <a:rPr lang="en-US" altLang="zh-CN" sz="2400" dirty="0">
                <a:solidFill>
                  <a:srgbClr val="3333FF"/>
                </a:solidFill>
                <a:ea typeface="黑体" pitchFamily="49" charset="-122"/>
              </a:rPr>
              <a:t>b</a:t>
            </a:r>
            <a:r>
              <a:rPr lang="en-US" altLang="zh-CN" sz="2400" baseline="-25000" dirty="0">
                <a:solidFill>
                  <a:srgbClr val="3333FF"/>
                </a:solidFill>
                <a:ea typeface="黑体" pitchFamily="49" charset="-122"/>
              </a:rPr>
              <a:t>1</a:t>
            </a:r>
            <a:r>
              <a:rPr lang="en-US" altLang="zh-CN" sz="2400" dirty="0">
                <a:solidFill>
                  <a:srgbClr val="3333FF"/>
                </a:solidFill>
                <a:ea typeface="黑体" pitchFamily="49" charset="-122"/>
              </a:rPr>
              <a:t>b</a:t>
            </a:r>
            <a:r>
              <a:rPr lang="en-US" altLang="zh-CN" sz="2400" baseline="-25000" dirty="0">
                <a:solidFill>
                  <a:srgbClr val="3333FF"/>
                </a:solidFill>
                <a:ea typeface="黑体" pitchFamily="49" charset="-122"/>
              </a:rPr>
              <a:t>2</a:t>
            </a:r>
            <a:r>
              <a:rPr lang="zh-CN" altLang="en-US" sz="2400" dirty="0">
                <a:ea typeface="黑体" pitchFamily="49" charset="-122"/>
              </a:rPr>
              <a:t>。</a:t>
            </a:r>
          </a:p>
          <a:p>
            <a:pPr lvl="1" eaLnBrk="1" hangingPunct="1"/>
            <a:r>
              <a:rPr lang="zh-CN" altLang="en-US" sz="2400" dirty="0">
                <a:ea typeface="黑体" pitchFamily="49" charset="-122"/>
              </a:rPr>
              <a:t>对输入</a:t>
            </a:r>
            <a:r>
              <a:rPr lang="en-US" altLang="zh-CN" sz="2400" dirty="0">
                <a:ea typeface="黑体" pitchFamily="49" charset="-122"/>
              </a:rPr>
              <a:t>x</a:t>
            </a:r>
            <a:r>
              <a:rPr lang="zh-CN" altLang="en-US" sz="2400" dirty="0">
                <a:ea typeface="黑体" pitchFamily="49" charset="-122"/>
              </a:rPr>
              <a:t>：</a:t>
            </a:r>
            <a:r>
              <a:rPr lang="en-US" altLang="zh-CN" sz="2400" dirty="0" err="1">
                <a:ea typeface="黑体" pitchFamily="49" charset="-122"/>
              </a:rPr>
              <a:t>Xmin</a:t>
            </a:r>
            <a:r>
              <a:rPr lang="en-US" altLang="zh-CN" sz="2400" dirty="0">
                <a:ea typeface="黑体" pitchFamily="49" charset="-122"/>
              </a:rPr>
              <a:t>=0, </a:t>
            </a:r>
            <a:r>
              <a:rPr lang="en-US" altLang="zh-CN" sz="2400" dirty="0" err="1">
                <a:ea typeface="黑体" pitchFamily="49" charset="-122"/>
              </a:rPr>
              <a:t>Xmax</a:t>
            </a:r>
            <a:r>
              <a:rPr lang="en-US" altLang="zh-CN" sz="2400" dirty="0">
                <a:ea typeface="黑体" pitchFamily="49" charset="-122"/>
              </a:rPr>
              <a:t>=5</a:t>
            </a:r>
          </a:p>
          <a:p>
            <a:pPr lvl="1" eaLnBrk="1" hangingPunct="1"/>
            <a:endParaRPr lang="en-US" altLang="zh-CN" sz="2000" dirty="0">
              <a:ea typeface="黑体" pitchFamily="49" charset="-122"/>
            </a:endParaRPr>
          </a:p>
          <a:p>
            <a:pPr lvl="1" eaLnBrk="1" hangingPunct="1"/>
            <a:endParaRPr lang="en-US" altLang="zh-CN" sz="2000" dirty="0">
              <a:ea typeface="黑体" pitchFamily="49" charset="-122"/>
            </a:endParaRPr>
          </a:p>
          <a:p>
            <a:pPr lvl="1" eaLnBrk="1" hangingPunct="1"/>
            <a:endParaRPr lang="en-US" altLang="zh-CN" sz="2000" dirty="0">
              <a:ea typeface="黑体" pitchFamily="49" charset="-122"/>
            </a:endParaRPr>
          </a:p>
          <a:p>
            <a:pPr lvl="1" eaLnBrk="1" hangingPunct="1"/>
            <a:r>
              <a:rPr lang="zh-CN" altLang="en-US" sz="2400" dirty="0">
                <a:ea typeface="黑体" pitchFamily="49" charset="-122"/>
              </a:rPr>
              <a:t>对输出</a:t>
            </a:r>
            <a:r>
              <a:rPr lang="en-US" altLang="zh-CN" sz="2400" dirty="0">
                <a:ea typeface="黑体" pitchFamily="49" charset="-122"/>
              </a:rPr>
              <a:t>y</a:t>
            </a:r>
            <a:r>
              <a:rPr lang="zh-CN" altLang="en-US" sz="2400" dirty="0">
                <a:ea typeface="黑体" pitchFamily="49" charset="-122"/>
              </a:rPr>
              <a:t>：</a:t>
            </a:r>
            <a:r>
              <a:rPr lang="en-US" altLang="zh-CN" sz="2400" dirty="0" err="1">
                <a:ea typeface="黑体" pitchFamily="49" charset="-122"/>
              </a:rPr>
              <a:t>Ymin</a:t>
            </a:r>
            <a:r>
              <a:rPr lang="en-US" altLang="zh-CN" sz="2400" dirty="0">
                <a:ea typeface="黑体" pitchFamily="49" charset="-122"/>
              </a:rPr>
              <a:t>=0, </a:t>
            </a:r>
            <a:r>
              <a:rPr lang="en-US" altLang="zh-CN" sz="2400" dirty="0" err="1">
                <a:ea typeface="黑体" pitchFamily="49" charset="-122"/>
              </a:rPr>
              <a:t>Ymax</a:t>
            </a:r>
            <a:r>
              <a:rPr lang="en-US" altLang="zh-CN" sz="2400" dirty="0">
                <a:ea typeface="黑体" pitchFamily="49" charset="-122"/>
              </a:rPr>
              <a:t>=25</a:t>
            </a:r>
          </a:p>
          <a:p>
            <a:pPr lvl="1" eaLnBrk="1" hangingPunct="1"/>
            <a:endParaRPr lang="en-US" altLang="zh-CN" sz="2000" dirty="0">
              <a:ea typeface="黑体" pitchFamily="49" charset="-122"/>
            </a:endParaRPr>
          </a:p>
          <a:p>
            <a:pPr lvl="1" eaLnBrk="1" hangingPunct="1"/>
            <a:endParaRPr lang="en-US" altLang="zh-CN" sz="2000" dirty="0">
              <a:ea typeface="黑体" pitchFamily="49" charset="-122"/>
            </a:endParaRPr>
          </a:p>
          <a:p>
            <a:pPr lvl="1" eaLnBrk="1" hangingPunct="1"/>
            <a:endParaRPr lang="en-US" altLang="zh-CN" sz="2000" dirty="0">
              <a:ea typeface="黑体" pitchFamily="49" charset="-122"/>
            </a:endParaRPr>
          </a:p>
          <a:p>
            <a:pPr lvl="1" eaLnBrk="1" hangingPunct="1"/>
            <a:r>
              <a:rPr lang="zh-CN" altLang="en-US" dirty="0">
                <a:ea typeface="黑体" pitchFamily="49" charset="-122"/>
              </a:rPr>
              <a:t>设初始群体数为</a:t>
            </a:r>
            <a:r>
              <a:rPr lang="en-US" altLang="zh-CN" dirty="0">
                <a:ea typeface="黑体" pitchFamily="49" charset="-122"/>
              </a:rPr>
              <a:t>4</a:t>
            </a:r>
          </a:p>
          <a:p>
            <a:pPr lvl="1" eaLnBrk="1" hangingPunct="1"/>
            <a:endParaRPr lang="en-US" altLang="zh-CN" sz="2000" dirty="0">
              <a:ea typeface="黑体" pitchFamily="49" charset="-122"/>
            </a:endParaRPr>
          </a:p>
        </p:txBody>
      </p:sp>
      <p:graphicFrame>
        <p:nvGraphicFramePr>
          <p:cNvPr id="54276" name="Object 4"/>
          <p:cNvGraphicFramePr>
            <a:graphicFrameLocks noGrp="1" noChangeAspect="1"/>
          </p:cNvGraphicFramePr>
          <p:nvPr>
            <p:ph sz="quarter" idx="2"/>
            <p:extLst>
              <p:ext uri="{D42A27DB-BD31-4B8C-83A1-F6EECF244321}">
                <p14:modId xmlns:p14="http://schemas.microsoft.com/office/powerpoint/2010/main" val="1357657143"/>
              </p:ext>
            </p:extLst>
          </p:nvPr>
        </p:nvGraphicFramePr>
        <p:xfrm>
          <a:off x="2639616" y="3212976"/>
          <a:ext cx="4824635" cy="1067886"/>
        </p:xfrm>
        <a:graphic>
          <a:graphicData uri="http://schemas.openxmlformats.org/presentationml/2006/ole">
            <mc:AlternateContent xmlns:mc="http://schemas.openxmlformats.org/markup-compatibility/2006">
              <mc:Choice xmlns:v="urn:schemas-microsoft-com:vml" Requires="v">
                <p:oleObj name="公式" r:id="rId2" imgW="1777229" imgH="393529" progId="Equation.3">
                  <p:embed/>
                </p:oleObj>
              </mc:Choice>
              <mc:Fallback>
                <p:oleObj name="公式" r:id="rId2" imgW="1777229" imgH="393529" progId="Equation.3">
                  <p:embed/>
                  <p:pic>
                    <p:nvPicPr>
                      <p:cNvPr id="54276"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616" y="3212976"/>
                        <a:ext cx="4824635" cy="1067886"/>
                      </a:xfrm>
                      <a:prstGeom prst="rect">
                        <a:avLst/>
                      </a:prstGeom>
                      <a:noFill/>
                    </p:spPr>
                  </p:pic>
                </p:oleObj>
              </mc:Fallback>
            </mc:AlternateContent>
          </a:graphicData>
        </a:graphic>
      </p:graphicFrame>
      <p:graphicFrame>
        <p:nvGraphicFramePr>
          <p:cNvPr id="54277" name="Object 6"/>
          <p:cNvGraphicFramePr>
            <a:graphicFrameLocks noGrp="1" noChangeAspect="1"/>
          </p:cNvGraphicFramePr>
          <p:nvPr>
            <p:ph sz="quarter" idx="3"/>
            <p:extLst>
              <p:ext uri="{D42A27DB-BD31-4B8C-83A1-F6EECF244321}">
                <p14:modId xmlns:p14="http://schemas.microsoft.com/office/powerpoint/2010/main" val="3950090894"/>
              </p:ext>
            </p:extLst>
          </p:nvPr>
        </p:nvGraphicFramePr>
        <p:xfrm>
          <a:off x="2567608" y="4797153"/>
          <a:ext cx="4536603" cy="984479"/>
        </p:xfrm>
        <a:graphic>
          <a:graphicData uri="http://schemas.openxmlformats.org/presentationml/2006/ole">
            <mc:AlternateContent xmlns:mc="http://schemas.openxmlformats.org/markup-compatibility/2006">
              <mc:Choice xmlns:v="urn:schemas-microsoft-com:vml" Requires="v">
                <p:oleObj name="公式" r:id="rId4" imgW="1815312" imgH="393529" progId="Equation.3">
                  <p:embed/>
                </p:oleObj>
              </mc:Choice>
              <mc:Fallback>
                <p:oleObj name="公式" r:id="rId4" imgW="1815312" imgH="393529" progId="Equation.3">
                  <p:embed/>
                  <p:pic>
                    <p:nvPicPr>
                      <p:cNvPr id="54277" name="Object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7608" y="4797153"/>
                        <a:ext cx="4536603" cy="984479"/>
                      </a:xfrm>
                      <a:prstGeom prst="rect">
                        <a:avLst/>
                      </a:prstGeom>
                      <a:noFill/>
                    </p:spPr>
                  </p:pic>
                </p:oleObj>
              </mc:Fallback>
            </mc:AlternateContent>
          </a:graphicData>
        </a:graphic>
      </p:graphicFrame>
      <p:sp>
        <p:nvSpPr>
          <p:cNvPr id="2" name="灯片编号占位符 1">
            <a:extLst>
              <a:ext uri="{FF2B5EF4-FFF2-40B4-BE49-F238E27FC236}">
                <a16:creationId xmlns:a16="http://schemas.microsoft.com/office/drawing/2014/main" id="{DA6FEDF7-2B76-ED9C-CE3A-695767F3E9A9}"/>
              </a:ext>
            </a:extLst>
          </p:cNvPr>
          <p:cNvSpPr>
            <a:spLocks noGrp="1"/>
          </p:cNvSpPr>
          <p:nvPr>
            <p:ph type="sldNum" sz="quarter" idx="11"/>
          </p:nvPr>
        </p:nvSpPr>
        <p:spPr>
          <a:xfrm>
            <a:off x="78528" y="6298443"/>
            <a:ext cx="453978" cy="457200"/>
          </a:xfrm>
        </p:spPr>
        <p:txBody>
          <a:bodyPr/>
          <a:lstStyle/>
          <a:p>
            <a:pPr>
              <a:defRPr/>
            </a:pPr>
            <a:fld id="{6E623E09-9292-430A-945A-636A50DBB6F1}" type="slidenum">
              <a:rPr lang="en-US" altLang="zh-CN" smtClean="0"/>
              <a:pPr>
                <a:defRPr/>
              </a:pPr>
              <a:t>49</a:t>
            </a:fld>
            <a:endParaRPr lang="en-US" altLang="zh-CN"/>
          </a:p>
        </p:txBody>
      </p:sp>
      <p:grpSp>
        <p:nvGrpSpPr>
          <p:cNvPr id="3" name="Group 65">
            <a:extLst>
              <a:ext uri="{FF2B5EF4-FFF2-40B4-BE49-F238E27FC236}">
                <a16:creationId xmlns:a16="http://schemas.microsoft.com/office/drawing/2014/main" id="{05D98B4D-17A4-1483-8540-E5ADC5F95C8C}"/>
              </a:ext>
            </a:extLst>
          </p:cNvPr>
          <p:cNvGrpSpPr>
            <a:grpSpLocks/>
          </p:cNvGrpSpPr>
          <p:nvPr/>
        </p:nvGrpSpPr>
        <p:grpSpPr bwMode="auto">
          <a:xfrm>
            <a:off x="6673130" y="5419762"/>
            <a:ext cx="5543550" cy="1519237"/>
            <a:chOff x="1066" y="3363"/>
            <a:chExt cx="3492" cy="957"/>
          </a:xfrm>
        </p:grpSpPr>
        <p:sp>
          <p:nvSpPr>
            <p:cNvPr id="4" name="Line 56">
              <a:extLst>
                <a:ext uri="{FF2B5EF4-FFF2-40B4-BE49-F238E27FC236}">
                  <a16:creationId xmlns:a16="http://schemas.microsoft.com/office/drawing/2014/main" id="{06F10B74-3BB4-36F7-DE13-C726DAB16CDE}"/>
                </a:ext>
              </a:extLst>
            </p:cNvPr>
            <p:cNvSpPr>
              <a:spLocks noChangeShapeType="1"/>
            </p:cNvSpPr>
            <p:nvPr/>
          </p:nvSpPr>
          <p:spPr bwMode="auto">
            <a:xfrm flipV="1">
              <a:off x="1294" y="3403"/>
              <a:ext cx="0" cy="68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Line 57">
              <a:extLst>
                <a:ext uri="{FF2B5EF4-FFF2-40B4-BE49-F238E27FC236}">
                  <a16:creationId xmlns:a16="http://schemas.microsoft.com/office/drawing/2014/main" id="{69993582-723F-A5B8-D291-AECDF232703D}"/>
                </a:ext>
              </a:extLst>
            </p:cNvPr>
            <p:cNvSpPr>
              <a:spLocks noChangeShapeType="1"/>
            </p:cNvSpPr>
            <p:nvPr/>
          </p:nvSpPr>
          <p:spPr bwMode="auto">
            <a:xfrm>
              <a:off x="1294" y="4089"/>
              <a:ext cx="299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58">
              <a:extLst>
                <a:ext uri="{FF2B5EF4-FFF2-40B4-BE49-F238E27FC236}">
                  <a16:creationId xmlns:a16="http://schemas.microsoft.com/office/drawing/2014/main" id="{F33446BD-3001-42D2-7623-2868A6A8EA9D}"/>
                </a:ext>
              </a:extLst>
            </p:cNvPr>
            <p:cNvSpPr>
              <a:spLocks noChangeShapeType="1"/>
            </p:cNvSpPr>
            <p:nvPr/>
          </p:nvSpPr>
          <p:spPr bwMode="auto">
            <a:xfrm>
              <a:off x="1294" y="3565"/>
              <a:ext cx="1290" cy="52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59">
              <a:extLst>
                <a:ext uri="{FF2B5EF4-FFF2-40B4-BE49-F238E27FC236}">
                  <a16:creationId xmlns:a16="http://schemas.microsoft.com/office/drawing/2014/main" id="{A285F73C-B12D-4266-25A8-7D7E62581128}"/>
                </a:ext>
              </a:extLst>
            </p:cNvPr>
            <p:cNvSpPr>
              <a:spLocks noChangeShapeType="1"/>
            </p:cNvSpPr>
            <p:nvPr/>
          </p:nvSpPr>
          <p:spPr bwMode="auto">
            <a:xfrm flipV="1">
              <a:off x="4178" y="3565"/>
              <a:ext cx="0" cy="5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60">
              <a:extLst>
                <a:ext uri="{FF2B5EF4-FFF2-40B4-BE49-F238E27FC236}">
                  <a16:creationId xmlns:a16="http://schemas.microsoft.com/office/drawing/2014/main" id="{4923390A-B20A-F99E-745A-C39D10968098}"/>
                </a:ext>
              </a:extLst>
            </p:cNvPr>
            <p:cNvSpPr>
              <a:spLocks noChangeShapeType="1"/>
            </p:cNvSpPr>
            <p:nvPr/>
          </p:nvSpPr>
          <p:spPr bwMode="auto">
            <a:xfrm flipH="1">
              <a:off x="2015" y="3565"/>
              <a:ext cx="2163" cy="524"/>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Text Box 61">
              <a:extLst>
                <a:ext uri="{FF2B5EF4-FFF2-40B4-BE49-F238E27FC236}">
                  <a16:creationId xmlns:a16="http://schemas.microsoft.com/office/drawing/2014/main" id="{AD0ABD05-782E-6252-3AF3-CB32C13CBAFF}"/>
                </a:ext>
              </a:extLst>
            </p:cNvPr>
            <p:cNvSpPr txBox="1">
              <a:spLocks noChangeArrowheads="1"/>
            </p:cNvSpPr>
            <p:nvPr/>
          </p:nvSpPr>
          <p:spPr bwMode="auto">
            <a:xfrm>
              <a:off x="1712" y="4089"/>
              <a:ext cx="284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dirty="0"/>
                <a:t>基</a:t>
              </a:r>
              <a:r>
                <a:rPr lang="en-US" altLang="zh-CN" dirty="0"/>
                <a:t>1                              </a:t>
              </a:r>
              <a:r>
                <a:rPr lang="zh-CN" altLang="en-US" dirty="0"/>
                <a:t>基</a:t>
              </a:r>
              <a:r>
                <a:rPr lang="en-US" altLang="zh-CN" dirty="0"/>
                <a:t>2                     x(y)</a:t>
              </a:r>
            </a:p>
          </p:txBody>
        </p:sp>
        <p:sp>
          <p:nvSpPr>
            <p:cNvPr id="10" name="Text Box 62">
              <a:extLst>
                <a:ext uri="{FF2B5EF4-FFF2-40B4-BE49-F238E27FC236}">
                  <a16:creationId xmlns:a16="http://schemas.microsoft.com/office/drawing/2014/main" id="{DE9C312F-98A1-3F88-AE19-FBB81E261B8A}"/>
                </a:ext>
              </a:extLst>
            </p:cNvPr>
            <p:cNvSpPr txBox="1">
              <a:spLocks noChangeArrowheads="1"/>
            </p:cNvSpPr>
            <p:nvPr/>
          </p:nvSpPr>
          <p:spPr bwMode="auto">
            <a:xfrm>
              <a:off x="1882" y="3612"/>
              <a:ext cx="3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11" name="Text Box 63">
              <a:extLst>
                <a:ext uri="{FF2B5EF4-FFF2-40B4-BE49-F238E27FC236}">
                  <a16:creationId xmlns:a16="http://schemas.microsoft.com/office/drawing/2014/main" id="{AE02B8F1-6EBA-9DB1-96FF-DC8AA4DEE7E5}"/>
                </a:ext>
              </a:extLst>
            </p:cNvPr>
            <p:cNvSpPr txBox="1">
              <a:spLocks noChangeArrowheads="1"/>
            </p:cNvSpPr>
            <p:nvPr/>
          </p:nvSpPr>
          <p:spPr bwMode="auto">
            <a:xfrm>
              <a:off x="3016" y="3566"/>
              <a:ext cx="7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L (VL)</a:t>
              </a:r>
            </a:p>
          </p:txBody>
        </p:sp>
        <p:sp>
          <p:nvSpPr>
            <p:cNvPr id="12" name="Text Box 64">
              <a:extLst>
                <a:ext uri="{FF2B5EF4-FFF2-40B4-BE49-F238E27FC236}">
                  <a16:creationId xmlns:a16="http://schemas.microsoft.com/office/drawing/2014/main" id="{0039571B-2531-FE30-8BC6-87822ABA5597}"/>
                </a:ext>
              </a:extLst>
            </p:cNvPr>
            <p:cNvSpPr txBox="1">
              <a:spLocks noChangeArrowheads="1"/>
            </p:cNvSpPr>
            <p:nvPr/>
          </p:nvSpPr>
          <p:spPr bwMode="auto">
            <a:xfrm>
              <a:off x="1066" y="3363"/>
              <a:ext cx="304"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l-GR" altLang="zh-CN" sz="1600" b="1" dirty="0"/>
                <a:t>μ</a:t>
              </a:r>
              <a:endParaRPr lang="en-US" altLang="zh-CN" sz="1600" b="1" dirty="0"/>
            </a:p>
            <a:p>
              <a:pPr eaLnBrk="1" hangingPunct="1">
                <a:spcBef>
                  <a:spcPct val="50000"/>
                </a:spcBef>
              </a:pPr>
              <a:r>
                <a:rPr lang="en-US" altLang="zh-CN" dirty="0"/>
                <a:t>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animEffect transition="in" filter="wipe(left)">
                                      <p:cBhvr>
                                        <p:cTn id="7" dur="500"/>
                                        <p:tgtEl>
                                          <p:spTgt spid="172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2035">
                                            <p:txEl>
                                              <p:pRg st="1" end="1"/>
                                            </p:txEl>
                                          </p:spTgt>
                                        </p:tgtEl>
                                        <p:attrNameLst>
                                          <p:attrName>style.visibility</p:attrName>
                                        </p:attrNameLst>
                                      </p:cBhvr>
                                      <p:to>
                                        <p:strVal val="visible"/>
                                      </p:to>
                                    </p:set>
                                    <p:animEffect transition="in" filter="wipe(left)">
                                      <p:cBhvr>
                                        <p:cTn id="12" dur="500"/>
                                        <p:tgtEl>
                                          <p:spTgt spid="1720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2035">
                                            <p:txEl>
                                              <p:pRg st="2" end="2"/>
                                            </p:txEl>
                                          </p:spTgt>
                                        </p:tgtEl>
                                        <p:attrNameLst>
                                          <p:attrName>style.visibility</p:attrName>
                                        </p:attrNameLst>
                                      </p:cBhvr>
                                      <p:to>
                                        <p:strVal val="visible"/>
                                      </p:to>
                                    </p:set>
                                    <p:animEffect transition="in" filter="wipe(left)">
                                      <p:cBhvr>
                                        <p:cTn id="17" dur="500"/>
                                        <p:tgtEl>
                                          <p:spTgt spid="1720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4276"/>
                                        </p:tgtEl>
                                        <p:attrNameLst>
                                          <p:attrName>style.visibility</p:attrName>
                                        </p:attrNameLst>
                                      </p:cBhvr>
                                      <p:to>
                                        <p:strVal val="visible"/>
                                      </p:to>
                                    </p:set>
                                    <p:animEffect transition="in" filter="wipe(left)">
                                      <p:cBhvr>
                                        <p:cTn id="22" dur="500"/>
                                        <p:tgtEl>
                                          <p:spTgt spid="542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2035">
                                            <p:txEl>
                                              <p:pRg st="6" end="6"/>
                                            </p:txEl>
                                          </p:spTgt>
                                        </p:tgtEl>
                                        <p:attrNameLst>
                                          <p:attrName>style.visibility</p:attrName>
                                        </p:attrNameLst>
                                      </p:cBhvr>
                                      <p:to>
                                        <p:strVal val="visible"/>
                                      </p:to>
                                    </p:set>
                                    <p:animEffect transition="in" filter="wipe(left)">
                                      <p:cBhvr>
                                        <p:cTn id="27" dur="500"/>
                                        <p:tgtEl>
                                          <p:spTgt spid="172035">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4277"/>
                                        </p:tgtEl>
                                        <p:attrNameLst>
                                          <p:attrName>style.visibility</p:attrName>
                                        </p:attrNameLst>
                                      </p:cBhvr>
                                      <p:to>
                                        <p:strVal val="visible"/>
                                      </p:to>
                                    </p:set>
                                    <p:animEffect transition="in" filter="wipe(left)">
                                      <p:cBhvr>
                                        <p:cTn id="32" dur="500"/>
                                        <p:tgtEl>
                                          <p:spTgt spid="5427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2035">
                                            <p:txEl>
                                              <p:pRg st="10" end="10"/>
                                            </p:txEl>
                                          </p:spTgt>
                                        </p:tgtEl>
                                        <p:attrNameLst>
                                          <p:attrName>style.visibility</p:attrName>
                                        </p:attrNameLst>
                                      </p:cBhvr>
                                      <p:to>
                                        <p:strVal val="visible"/>
                                      </p:to>
                                    </p:set>
                                    <p:animEffect transition="in" filter="wipe(left)">
                                      <p:cBhvr>
                                        <p:cTn id="37" dur="500"/>
                                        <p:tgtEl>
                                          <p:spTgt spid="1720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ea typeface="黑体" pitchFamily="49" charset="-122"/>
              </a:rPr>
              <a:t>用遗传算法求隶属函数</a:t>
            </a:r>
          </a:p>
        </p:txBody>
      </p:sp>
      <p:graphicFrame>
        <p:nvGraphicFramePr>
          <p:cNvPr id="176413" name="Group 285"/>
          <p:cNvGraphicFramePr>
            <a:graphicFrameLocks noGrp="1"/>
          </p:cNvGraphicFramePr>
          <p:nvPr>
            <p:ph idx="1"/>
            <p:extLst>
              <p:ext uri="{D42A27DB-BD31-4B8C-83A1-F6EECF244321}">
                <p14:modId xmlns:p14="http://schemas.microsoft.com/office/powerpoint/2010/main" val="1594608134"/>
              </p:ext>
            </p:extLst>
          </p:nvPr>
        </p:nvGraphicFramePr>
        <p:xfrm>
          <a:off x="1774826" y="2349500"/>
          <a:ext cx="8588375" cy="4403728"/>
        </p:xfrm>
        <a:graphic>
          <a:graphicData uri="http://schemas.openxmlformats.org/drawingml/2006/table">
            <a:tbl>
              <a:tblPr/>
              <a:tblGrid>
                <a:gridCol w="623888">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gridCol w="690562">
                  <a:extLst>
                    <a:ext uri="{9D8B030D-6E8A-4147-A177-3AD203B41FA5}">
                      <a16:colId xmlns:a16="http://schemas.microsoft.com/office/drawing/2014/main" val="20002"/>
                    </a:ext>
                  </a:extLst>
                </a:gridCol>
                <a:gridCol w="690563">
                  <a:extLst>
                    <a:ext uri="{9D8B030D-6E8A-4147-A177-3AD203B41FA5}">
                      <a16:colId xmlns:a16="http://schemas.microsoft.com/office/drawing/2014/main" val="20003"/>
                    </a:ext>
                  </a:extLst>
                </a:gridCol>
                <a:gridCol w="690562">
                  <a:extLst>
                    <a:ext uri="{9D8B030D-6E8A-4147-A177-3AD203B41FA5}">
                      <a16:colId xmlns:a16="http://schemas.microsoft.com/office/drawing/2014/main" val="20004"/>
                    </a:ext>
                  </a:extLst>
                </a:gridCol>
                <a:gridCol w="690563">
                  <a:extLst>
                    <a:ext uri="{9D8B030D-6E8A-4147-A177-3AD203B41FA5}">
                      <a16:colId xmlns:a16="http://schemas.microsoft.com/office/drawing/2014/main" val="20005"/>
                    </a:ext>
                  </a:extLst>
                </a:gridCol>
                <a:gridCol w="690562">
                  <a:extLst>
                    <a:ext uri="{9D8B030D-6E8A-4147-A177-3AD203B41FA5}">
                      <a16:colId xmlns:a16="http://schemas.microsoft.com/office/drawing/2014/main" val="20006"/>
                    </a:ext>
                  </a:extLst>
                </a:gridCol>
                <a:gridCol w="688975">
                  <a:extLst>
                    <a:ext uri="{9D8B030D-6E8A-4147-A177-3AD203B41FA5}">
                      <a16:colId xmlns:a16="http://schemas.microsoft.com/office/drawing/2014/main" val="20007"/>
                    </a:ext>
                  </a:extLst>
                </a:gridCol>
                <a:gridCol w="819150">
                  <a:extLst>
                    <a:ext uri="{9D8B030D-6E8A-4147-A177-3AD203B41FA5}">
                      <a16:colId xmlns:a16="http://schemas.microsoft.com/office/drawing/2014/main" val="20008"/>
                    </a:ext>
                  </a:extLst>
                </a:gridCol>
                <a:gridCol w="984250">
                  <a:extLst>
                    <a:ext uri="{9D8B030D-6E8A-4147-A177-3AD203B41FA5}">
                      <a16:colId xmlns:a16="http://schemas.microsoft.com/office/drawing/2014/main" val="20009"/>
                    </a:ext>
                  </a:extLst>
                </a:gridCol>
              </a:tblGrid>
              <a:tr h="51813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1" i="0" u="none" strike="noStrike" cap="none" normalizeH="0" baseline="0">
                          <a:ln>
                            <a:noFill/>
                          </a:ln>
                          <a:solidFill>
                            <a:schemeClr val="tx1"/>
                          </a:solidFill>
                          <a:effectLst/>
                          <a:latin typeface="Arial" charset="0"/>
                          <a:ea typeface="宋体" pitchFamily="2" charset="-122"/>
                        </a:rPr>
                        <a:t>个体编号</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Arial" charset="0"/>
                          <a:ea typeface="宋体" pitchFamily="2" charset="-122"/>
                        </a:rPr>
                        <a:t>字符串</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①b</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②b</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③b</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④b</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①d</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②d</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③d</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④d</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extLst>
                  <a:ext uri="{0D108BD9-81ED-4DB2-BD59-A6C34878D82A}">
                    <a16:rowId xmlns:a16="http://schemas.microsoft.com/office/drawing/2014/main" val="10000"/>
                  </a:ext>
                </a:extLst>
              </a:tr>
              <a:tr h="485698">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000111  010100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7</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22</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0.56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1.59</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8.73</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20.24</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569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010110  110011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485698">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010010 001100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18</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12</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14</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38</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1.43</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0.95</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17.46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15.08</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569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101100 100110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4"/>
                  </a:ext>
                </a:extLst>
              </a:tr>
              <a:tr h="485698">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010101 101010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42</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13</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1.67</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3.33</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5.16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15.87</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569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001101 101000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485698">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100100 001001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9</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44</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35</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2.86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0.71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17.46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13.89</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569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101100 100011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bl>
          </a:graphicData>
        </a:graphic>
      </p:graphicFrame>
      <p:sp>
        <p:nvSpPr>
          <p:cNvPr id="55375" name="AutoShape 284"/>
          <p:cNvSpPr>
            <a:spLocks noChangeArrowheads="1"/>
          </p:cNvSpPr>
          <p:nvPr/>
        </p:nvSpPr>
        <p:spPr bwMode="auto">
          <a:xfrm>
            <a:off x="5448301" y="1484314"/>
            <a:ext cx="4392613" cy="504825"/>
          </a:xfrm>
          <a:prstGeom prst="wedgeRoundRectCallout">
            <a:avLst>
              <a:gd name="adj1" fmla="val -9343"/>
              <a:gd name="adj2" fmla="val 127046"/>
              <a:gd name="adj3" fmla="val 16667"/>
            </a:avLst>
          </a:prstGeom>
          <a:solidFill>
            <a:srgbClr val="F7DB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b="1"/>
              <a:t>①d=①b/(2</a:t>
            </a:r>
            <a:r>
              <a:rPr lang="en-US" altLang="zh-CN" sz="2000" b="1" baseline="30000"/>
              <a:t>6</a:t>
            </a:r>
            <a:r>
              <a:rPr lang="en-US" altLang="zh-CN" sz="2000" b="1"/>
              <a:t>-1) ×(Xmax-Xmin)</a:t>
            </a:r>
          </a:p>
        </p:txBody>
      </p:sp>
      <p:sp>
        <p:nvSpPr>
          <p:cNvPr id="55376" name="Text Box 286"/>
          <p:cNvSpPr txBox="1">
            <a:spLocks noChangeArrowheads="1"/>
          </p:cNvSpPr>
          <p:nvPr/>
        </p:nvSpPr>
        <p:spPr bwMode="auto">
          <a:xfrm>
            <a:off x="1992314" y="1844676"/>
            <a:ext cx="1800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000">
                <a:solidFill>
                  <a:srgbClr val="FF0000"/>
                </a:solidFill>
                <a:ea typeface="黑体" pitchFamily="49" charset="-122"/>
              </a:rPr>
              <a:t>第一次迭代</a:t>
            </a:r>
          </a:p>
        </p:txBody>
      </p:sp>
      <p:sp>
        <p:nvSpPr>
          <p:cNvPr id="2" name="灯片编号占位符 1">
            <a:extLst>
              <a:ext uri="{FF2B5EF4-FFF2-40B4-BE49-F238E27FC236}">
                <a16:creationId xmlns:a16="http://schemas.microsoft.com/office/drawing/2014/main" id="{7A8D6137-6BD8-0B64-D775-5516AF9C7A35}"/>
              </a:ext>
            </a:extLst>
          </p:cNvPr>
          <p:cNvSpPr>
            <a:spLocks noGrp="1"/>
          </p:cNvSpPr>
          <p:nvPr>
            <p:ph type="sldNum" sz="quarter" idx="11"/>
          </p:nvPr>
        </p:nvSpPr>
        <p:spPr/>
        <p:txBody>
          <a:bodyPr/>
          <a:lstStyle/>
          <a:p>
            <a:pPr>
              <a:defRPr/>
            </a:pPr>
            <a:fld id="{80D5EF37-78AF-4CB4-937F-E187B8314658}" type="slidenum">
              <a:rPr lang="en-US" altLang="zh-CN" smtClean="0"/>
              <a:pPr>
                <a:defRPr/>
              </a:pPr>
              <a:t>50</a:t>
            </a:fld>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ea typeface="黑体" pitchFamily="49" charset="-122"/>
              </a:rPr>
              <a:t>用遗传算法求隶属函数</a:t>
            </a:r>
          </a:p>
        </p:txBody>
      </p:sp>
      <p:graphicFrame>
        <p:nvGraphicFramePr>
          <p:cNvPr id="178385" name="Group 209"/>
          <p:cNvGraphicFramePr>
            <a:graphicFrameLocks noGrp="1"/>
          </p:cNvGraphicFramePr>
          <p:nvPr>
            <p:ph idx="1"/>
            <p:extLst>
              <p:ext uri="{D42A27DB-BD31-4B8C-83A1-F6EECF244321}">
                <p14:modId xmlns:p14="http://schemas.microsoft.com/office/powerpoint/2010/main" val="155880888"/>
              </p:ext>
            </p:extLst>
          </p:nvPr>
        </p:nvGraphicFramePr>
        <p:xfrm>
          <a:off x="1774826" y="1412876"/>
          <a:ext cx="8588375" cy="2557463"/>
        </p:xfrm>
        <a:graphic>
          <a:graphicData uri="http://schemas.openxmlformats.org/drawingml/2006/table">
            <a:tbl>
              <a:tblPr/>
              <a:tblGrid>
                <a:gridCol w="623888">
                  <a:extLst>
                    <a:ext uri="{9D8B030D-6E8A-4147-A177-3AD203B41FA5}">
                      <a16:colId xmlns:a16="http://schemas.microsoft.com/office/drawing/2014/main" val="20000"/>
                    </a:ext>
                  </a:extLst>
                </a:gridCol>
                <a:gridCol w="744537">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936625">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gridCol w="1008063">
                  <a:extLst>
                    <a:ext uri="{9D8B030D-6E8A-4147-A177-3AD203B41FA5}">
                      <a16:colId xmlns:a16="http://schemas.microsoft.com/office/drawing/2014/main" val="20005"/>
                    </a:ext>
                  </a:extLst>
                </a:gridCol>
                <a:gridCol w="936625">
                  <a:extLst>
                    <a:ext uri="{9D8B030D-6E8A-4147-A177-3AD203B41FA5}">
                      <a16:colId xmlns:a16="http://schemas.microsoft.com/office/drawing/2014/main" val="20006"/>
                    </a:ext>
                  </a:extLst>
                </a:gridCol>
                <a:gridCol w="950912">
                  <a:extLst>
                    <a:ext uri="{9D8B030D-6E8A-4147-A177-3AD203B41FA5}">
                      <a16:colId xmlns:a16="http://schemas.microsoft.com/office/drawing/2014/main" val="20007"/>
                    </a:ext>
                  </a:extLst>
                </a:gridCol>
                <a:gridCol w="819150">
                  <a:extLst>
                    <a:ext uri="{9D8B030D-6E8A-4147-A177-3AD203B41FA5}">
                      <a16:colId xmlns:a16="http://schemas.microsoft.com/office/drawing/2014/main" val="20008"/>
                    </a:ext>
                  </a:extLst>
                </a:gridCol>
                <a:gridCol w="984250">
                  <a:extLst>
                    <a:ext uri="{9D8B030D-6E8A-4147-A177-3AD203B41FA5}">
                      <a16:colId xmlns:a16="http://schemas.microsoft.com/office/drawing/2014/main" val="20009"/>
                    </a:ext>
                  </a:extLst>
                </a:gridCol>
              </a:tblGrid>
              <a:tr h="76695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个体编号</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①d</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②d</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③d</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④d</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2241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0.56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1.59</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8.73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20.24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12.25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DBFD"/>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extLst>
                  <a:ext uri="{0D108BD9-81ED-4DB2-BD59-A6C34878D82A}">
                    <a16:rowId xmlns:a16="http://schemas.microsoft.com/office/drawing/2014/main" val="10001"/>
                  </a:ext>
                </a:extLst>
              </a:tr>
              <a:tr h="43984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1.43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0.95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17.46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15.08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12.22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90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1.67</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3.33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5.16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15.87</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10.72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15.48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20.24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2.86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0.71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17.46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13.89</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6.98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12.22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178341" name="Group 165"/>
          <p:cNvGrpSpPr>
            <a:grpSpLocks/>
          </p:cNvGrpSpPr>
          <p:nvPr/>
        </p:nvGrpSpPr>
        <p:grpSpPr bwMode="auto">
          <a:xfrm>
            <a:off x="1919288" y="3971926"/>
            <a:ext cx="8642350" cy="2886075"/>
            <a:chOff x="113" y="2115"/>
            <a:chExt cx="5444" cy="1818"/>
          </a:xfrm>
        </p:grpSpPr>
        <p:sp>
          <p:nvSpPr>
            <p:cNvPr id="56398" name="Line 166"/>
            <p:cNvSpPr>
              <a:spLocks noChangeShapeType="1"/>
            </p:cNvSpPr>
            <p:nvPr/>
          </p:nvSpPr>
          <p:spPr bwMode="auto">
            <a:xfrm flipV="1">
              <a:off x="385" y="2387"/>
              <a:ext cx="0" cy="127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99" name="Line 167"/>
            <p:cNvSpPr>
              <a:spLocks noChangeShapeType="1"/>
            </p:cNvSpPr>
            <p:nvPr/>
          </p:nvSpPr>
          <p:spPr bwMode="auto">
            <a:xfrm>
              <a:off x="385" y="3657"/>
              <a:ext cx="235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0" name="Line 168"/>
            <p:cNvSpPr>
              <a:spLocks noChangeShapeType="1"/>
            </p:cNvSpPr>
            <p:nvPr/>
          </p:nvSpPr>
          <p:spPr bwMode="auto">
            <a:xfrm flipV="1">
              <a:off x="3061" y="2341"/>
              <a:ext cx="0" cy="131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1" name="Line 169"/>
            <p:cNvSpPr>
              <a:spLocks noChangeShapeType="1"/>
            </p:cNvSpPr>
            <p:nvPr/>
          </p:nvSpPr>
          <p:spPr bwMode="auto">
            <a:xfrm>
              <a:off x="3061" y="3657"/>
              <a:ext cx="235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2" name="Line 170"/>
            <p:cNvSpPr>
              <a:spLocks noChangeShapeType="1"/>
            </p:cNvSpPr>
            <p:nvPr/>
          </p:nvSpPr>
          <p:spPr bwMode="auto">
            <a:xfrm flipV="1">
              <a:off x="748"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3" name="Line 171"/>
            <p:cNvSpPr>
              <a:spLocks noChangeShapeType="1"/>
            </p:cNvSpPr>
            <p:nvPr/>
          </p:nvSpPr>
          <p:spPr bwMode="auto">
            <a:xfrm flipV="1">
              <a:off x="1111"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4" name="Line 172"/>
            <p:cNvSpPr>
              <a:spLocks noChangeShapeType="1"/>
            </p:cNvSpPr>
            <p:nvPr/>
          </p:nvSpPr>
          <p:spPr bwMode="auto">
            <a:xfrm flipV="1">
              <a:off x="1474"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5" name="Line 173"/>
            <p:cNvSpPr>
              <a:spLocks noChangeShapeType="1"/>
            </p:cNvSpPr>
            <p:nvPr/>
          </p:nvSpPr>
          <p:spPr bwMode="auto">
            <a:xfrm flipV="1">
              <a:off x="1837"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6" name="Line 174"/>
            <p:cNvSpPr>
              <a:spLocks noChangeShapeType="1"/>
            </p:cNvSpPr>
            <p:nvPr/>
          </p:nvSpPr>
          <p:spPr bwMode="auto">
            <a:xfrm flipV="1">
              <a:off x="2245"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7" name="Line 175"/>
            <p:cNvSpPr>
              <a:spLocks noChangeShapeType="1"/>
            </p:cNvSpPr>
            <p:nvPr/>
          </p:nvSpPr>
          <p:spPr bwMode="auto">
            <a:xfrm flipV="1">
              <a:off x="3424"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8" name="Line 176"/>
            <p:cNvSpPr>
              <a:spLocks noChangeShapeType="1"/>
            </p:cNvSpPr>
            <p:nvPr/>
          </p:nvSpPr>
          <p:spPr bwMode="auto">
            <a:xfrm flipV="1">
              <a:off x="3787"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9" name="Line 177"/>
            <p:cNvSpPr>
              <a:spLocks noChangeShapeType="1"/>
            </p:cNvSpPr>
            <p:nvPr/>
          </p:nvSpPr>
          <p:spPr bwMode="auto">
            <a:xfrm flipV="1">
              <a:off x="4150"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10" name="Line 178"/>
            <p:cNvSpPr>
              <a:spLocks noChangeShapeType="1"/>
            </p:cNvSpPr>
            <p:nvPr/>
          </p:nvSpPr>
          <p:spPr bwMode="auto">
            <a:xfrm flipV="1">
              <a:off x="4513"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11" name="Line 179"/>
            <p:cNvSpPr>
              <a:spLocks noChangeShapeType="1"/>
            </p:cNvSpPr>
            <p:nvPr/>
          </p:nvSpPr>
          <p:spPr bwMode="auto">
            <a:xfrm flipV="1">
              <a:off x="4921"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12" name="Text Box 180"/>
            <p:cNvSpPr txBox="1">
              <a:spLocks noChangeArrowheads="1"/>
            </p:cNvSpPr>
            <p:nvPr/>
          </p:nvSpPr>
          <p:spPr bwMode="auto">
            <a:xfrm>
              <a:off x="158" y="3657"/>
              <a:ext cx="27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  0         1       2      3        4        5         x     </a:t>
              </a:r>
            </a:p>
          </p:txBody>
        </p:sp>
        <p:sp>
          <p:nvSpPr>
            <p:cNvPr id="56413" name="Text Box 181"/>
            <p:cNvSpPr txBox="1">
              <a:spLocks noChangeArrowheads="1"/>
            </p:cNvSpPr>
            <p:nvPr/>
          </p:nvSpPr>
          <p:spPr bwMode="auto">
            <a:xfrm>
              <a:off x="2835" y="3702"/>
              <a:ext cx="27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dirty="0"/>
                <a:t>  0        5       10     15     20      25         y     </a:t>
              </a:r>
            </a:p>
          </p:txBody>
        </p:sp>
        <p:sp>
          <p:nvSpPr>
            <p:cNvPr id="56414" name="Text Box 182"/>
            <p:cNvSpPr txBox="1">
              <a:spLocks noChangeArrowheads="1"/>
            </p:cNvSpPr>
            <p:nvPr/>
          </p:nvSpPr>
          <p:spPr bwMode="auto">
            <a:xfrm>
              <a:off x="113" y="2115"/>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zh-CN"/>
            </a:p>
          </p:txBody>
        </p:sp>
        <p:sp>
          <p:nvSpPr>
            <p:cNvPr id="56415" name="Rectangle 183"/>
            <p:cNvSpPr>
              <a:spLocks noChangeArrowheads="1"/>
            </p:cNvSpPr>
            <p:nvPr/>
          </p:nvSpPr>
          <p:spPr bwMode="auto">
            <a:xfrm>
              <a:off x="227" y="2115"/>
              <a:ext cx="263"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000" dirty="0"/>
                <a:t>μ</a:t>
              </a:r>
              <a:r>
                <a:rPr lang="en-US" altLang="zh-CN" sz="2000" baseline="-25000" dirty="0"/>
                <a:t>x</a:t>
              </a:r>
            </a:p>
            <a:p>
              <a:endParaRPr lang="en-US" altLang="zh-CN" dirty="0"/>
            </a:p>
            <a:p>
              <a:r>
                <a:rPr lang="en-US" altLang="zh-CN" dirty="0"/>
                <a:t>1</a:t>
              </a:r>
            </a:p>
          </p:txBody>
        </p:sp>
        <p:sp>
          <p:nvSpPr>
            <p:cNvPr id="56416" name="Rectangle 184"/>
            <p:cNvSpPr>
              <a:spLocks noChangeArrowheads="1"/>
            </p:cNvSpPr>
            <p:nvPr/>
          </p:nvSpPr>
          <p:spPr bwMode="auto">
            <a:xfrm>
              <a:off x="2835" y="2115"/>
              <a:ext cx="263"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000" dirty="0"/>
                <a:t>μ</a:t>
              </a:r>
              <a:r>
                <a:rPr lang="en-US" altLang="zh-CN" sz="2000" baseline="-25000" dirty="0"/>
                <a:t>y</a:t>
              </a:r>
            </a:p>
            <a:p>
              <a:endParaRPr lang="en-US" altLang="zh-CN" dirty="0"/>
            </a:p>
            <a:p>
              <a:r>
                <a:rPr lang="en-US" altLang="zh-CN" dirty="0"/>
                <a:t>1</a:t>
              </a:r>
            </a:p>
          </p:txBody>
        </p:sp>
        <p:sp>
          <p:nvSpPr>
            <p:cNvPr id="56417" name="Line 185"/>
            <p:cNvSpPr>
              <a:spLocks noChangeShapeType="1"/>
            </p:cNvSpPr>
            <p:nvPr/>
          </p:nvSpPr>
          <p:spPr bwMode="auto">
            <a:xfrm>
              <a:off x="385" y="2614"/>
              <a:ext cx="182" cy="104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18" name="Line 186"/>
            <p:cNvSpPr>
              <a:spLocks noChangeShapeType="1"/>
            </p:cNvSpPr>
            <p:nvPr/>
          </p:nvSpPr>
          <p:spPr bwMode="auto">
            <a:xfrm flipV="1">
              <a:off x="2245" y="2614"/>
              <a:ext cx="0" cy="104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19" name="Line 187"/>
            <p:cNvSpPr>
              <a:spLocks noChangeShapeType="1"/>
            </p:cNvSpPr>
            <p:nvPr/>
          </p:nvSpPr>
          <p:spPr bwMode="auto">
            <a:xfrm flipH="1">
              <a:off x="1565" y="2614"/>
              <a:ext cx="680" cy="1043"/>
            </a:xfrm>
            <a:prstGeom prst="line">
              <a:avLst/>
            </a:prstGeom>
            <a:noFill/>
            <a:ln w="38100">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20" name="Text Box 188"/>
            <p:cNvSpPr txBox="1">
              <a:spLocks noChangeArrowheads="1"/>
            </p:cNvSpPr>
            <p:nvPr/>
          </p:nvSpPr>
          <p:spPr bwMode="auto">
            <a:xfrm>
              <a:off x="521" y="2750"/>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56421" name="Text Box 189"/>
            <p:cNvSpPr txBox="1">
              <a:spLocks noChangeArrowheads="1"/>
            </p:cNvSpPr>
            <p:nvPr/>
          </p:nvSpPr>
          <p:spPr bwMode="auto">
            <a:xfrm>
              <a:off x="1701" y="2795"/>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L</a:t>
              </a:r>
            </a:p>
          </p:txBody>
        </p:sp>
        <p:sp>
          <p:nvSpPr>
            <p:cNvPr id="56422" name="Line 190"/>
            <p:cNvSpPr>
              <a:spLocks noChangeShapeType="1"/>
            </p:cNvSpPr>
            <p:nvPr/>
          </p:nvSpPr>
          <p:spPr bwMode="auto">
            <a:xfrm>
              <a:off x="3061" y="2614"/>
              <a:ext cx="635" cy="104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23" name="Line 191"/>
            <p:cNvSpPr>
              <a:spLocks noChangeShapeType="1"/>
            </p:cNvSpPr>
            <p:nvPr/>
          </p:nvSpPr>
          <p:spPr bwMode="auto">
            <a:xfrm flipV="1">
              <a:off x="4921" y="2568"/>
              <a:ext cx="0" cy="10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24" name="Line 192"/>
            <p:cNvSpPr>
              <a:spLocks noChangeShapeType="1"/>
            </p:cNvSpPr>
            <p:nvPr/>
          </p:nvSpPr>
          <p:spPr bwMode="auto">
            <a:xfrm flipH="1">
              <a:off x="3334" y="2568"/>
              <a:ext cx="1587" cy="1089"/>
            </a:xfrm>
            <a:prstGeom prst="line">
              <a:avLst/>
            </a:prstGeom>
            <a:noFill/>
            <a:ln w="28575">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25" name="Text Box 193"/>
            <p:cNvSpPr txBox="1">
              <a:spLocks noChangeArrowheads="1"/>
            </p:cNvSpPr>
            <p:nvPr/>
          </p:nvSpPr>
          <p:spPr bwMode="auto">
            <a:xfrm>
              <a:off x="3243" y="2614"/>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56426" name="Text Box 194"/>
            <p:cNvSpPr txBox="1">
              <a:spLocks noChangeArrowheads="1"/>
            </p:cNvSpPr>
            <p:nvPr/>
          </p:nvSpPr>
          <p:spPr bwMode="auto">
            <a:xfrm>
              <a:off x="4332" y="2568"/>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VL</a:t>
              </a:r>
            </a:p>
          </p:txBody>
        </p:sp>
        <p:sp>
          <p:nvSpPr>
            <p:cNvPr id="56427" name="Text Box 195"/>
            <p:cNvSpPr txBox="1">
              <a:spLocks noChangeArrowheads="1"/>
            </p:cNvSpPr>
            <p:nvPr/>
          </p:nvSpPr>
          <p:spPr bwMode="auto">
            <a:xfrm>
              <a:off x="431" y="3657"/>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0.56</a:t>
              </a:r>
            </a:p>
          </p:txBody>
        </p:sp>
        <p:sp>
          <p:nvSpPr>
            <p:cNvPr id="56428" name="Text Box 196"/>
            <p:cNvSpPr txBox="1">
              <a:spLocks noChangeArrowheads="1"/>
            </p:cNvSpPr>
            <p:nvPr/>
          </p:nvSpPr>
          <p:spPr bwMode="auto">
            <a:xfrm>
              <a:off x="1474" y="3702"/>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3.41</a:t>
              </a:r>
            </a:p>
          </p:txBody>
        </p:sp>
        <p:sp>
          <p:nvSpPr>
            <p:cNvPr id="56429" name="Text Box 197"/>
            <p:cNvSpPr txBox="1">
              <a:spLocks noChangeArrowheads="1"/>
            </p:cNvSpPr>
            <p:nvPr/>
          </p:nvSpPr>
          <p:spPr bwMode="auto">
            <a:xfrm>
              <a:off x="3152" y="3702"/>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4.76</a:t>
              </a:r>
            </a:p>
          </p:txBody>
        </p:sp>
        <p:sp>
          <p:nvSpPr>
            <p:cNvPr id="56430" name="Text Box 198"/>
            <p:cNvSpPr txBox="1">
              <a:spLocks noChangeArrowheads="1"/>
            </p:cNvSpPr>
            <p:nvPr/>
          </p:nvSpPr>
          <p:spPr bwMode="auto">
            <a:xfrm>
              <a:off x="3515" y="3702"/>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8.73</a:t>
              </a:r>
            </a:p>
          </p:txBody>
        </p:sp>
      </p:grpSp>
      <p:sp>
        <p:nvSpPr>
          <p:cNvPr id="178375" name="Line 199"/>
          <p:cNvSpPr>
            <a:spLocks noChangeShapeType="1"/>
          </p:cNvSpPr>
          <p:nvPr/>
        </p:nvSpPr>
        <p:spPr bwMode="auto">
          <a:xfrm flipV="1">
            <a:off x="4656138" y="5699126"/>
            <a:ext cx="0" cy="720725"/>
          </a:xfrm>
          <a:prstGeom prst="line">
            <a:avLst/>
          </a:prstGeom>
          <a:noFill/>
          <a:ln w="28575">
            <a:solidFill>
              <a:srgbClr val="99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8379" name="Line 203"/>
          <p:cNvSpPr>
            <a:spLocks noChangeShapeType="1"/>
          </p:cNvSpPr>
          <p:nvPr/>
        </p:nvSpPr>
        <p:spPr bwMode="auto">
          <a:xfrm flipH="1">
            <a:off x="2351088" y="5734050"/>
            <a:ext cx="5689600" cy="0"/>
          </a:xfrm>
          <a:prstGeom prst="line">
            <a:avLst/>
          </a:prstGeom>
          <a:noFill/>
          <a:ln w="28575">
            <a:solidFill>
              <a:srgbClr val="CC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8380" name="Line 204"/>
          <p:cNvSpPr>
            <a:spLocks noChangeShapeType="1"/>
          </p:cNvSpPr>
          <p:nvPr/>
        </p:nvSpPr>
        <p:spPr bwMode="auto">
          <a:xfrm>
            <a:off x="8040688" y="5734050"/>
            <a:ext cx="0" cy="647700"/>
          </a:xfrm>
          <a:prstGeom prst="line">
            <a:avLst/>
          </a:prstGeom>
          <a:noFill/>
          <a:ln w="28575">
            <a:solidFill>
              <a:srgbClr val="CC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96" name="Rectangle 205"/>
          <p:cNvSpPr>
            <a:spLocks noChangeArrowheads="1"/>
          </p:cNvSpPr>
          <p:nvPr/>
        </p:nvSpPr>
        <p:spPr bwMode="auto">
          <a:xfrm>
            <a:off x="6826250" y="4076701"/>
            <a:ext cx="3684588" cy="366713"/>
          </a:xfrm>
          <a:prstGeom prst="rect">
            <a:avLst/>
          </a:prstGeom>
          <a:solidFill>
            <a:srgbClr val="F7DBF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u="sng">
                <a:ea typeface="楷体_GB2312" pitchFamily="49" charset="-122"/>
              </a:rPr>
              <a:t>小</a:t>
            </a:r>
            <a:r>
              <a:rPr lang="en-US" altLang="zh-CN" b="1" u="sng">
                <a:ea typeface="楷体_GB2312" pitchFamily="49" charset="-122"/>
              </a:rPr>
              <a:t>x</a:t>
            </a:r>
            <a:r>
              <a:rPr lang="zh-CN" altLang="en-US" b="1">
                <a:ea typeface="楷体_GB2312" pitchFamily="49" charset="-122"/>
              </a:rPr>
              <a:t>映射到</a:t>
            </a:r>
            <a:r>
              <a:rPr lang="zh-CN" altLang="en-US" b="1" u="sng">
                <a:ea typeface="楷体_GB2312" pitchFamily="49" charset="-122"/>
              </a:rPr>
              <a:t>小</a:t>
            </a:r>
            <a:r>
              <a:rPr lang="en-US" altLang="zh-CN" b="1" u="sng">
                <a:ea typeface="楷体_GB2312" pitchFamily="49" charset="-122"/>
              </a:rPr>
              <a:t>y</a:t>
            </a:r>
            <a:r>
              <a:rPr lang="zh-CN" altLang="en-US" b="1">
                <a:ea typeface="楷体_GB2312" pitchFamily="49" charset="-122"/>
              </a:rPr>
              <a:t>，</a:t>
            </a:r>
            <a:r>
              <a:rPr lang="zh-CN" altLang="en-US" b="1" u="sng">
                <a:ea typeface="楷体_GB2312" pitchFamily="49" charset="-122"/>
              </a:rPr>
              <a:t>大</a:t>
            </a:r>
            <a:r>
              <a:rPr lang="en-US" altLang="zh-CN" b="1" u="sng">
                <a:ea typeface="楷体_GB2312" pitchFamily="49" charset="-122"/>
              </a:rPr>
              <a:t>x</a:t>
            </a:r>
            <a:r>
              <a:rPr lang="zh-CN" altLang="en-US" b="1">
                <a:ea typeface="楷体_GB2312" pitchFamily="49" charset="-122"/>
              </a:rPr>
              <a:t>映射到</a:t>
            </a:r>
            <a:r>
              <a:rPr lang="zh-CN" altLang="en-US" b="1" u="sng">
                <a:ea typeface="楷体_GB2312" pitchFamily="49" charset="-122"/>
              </a:rPr>
              <a:t>非常大</a:t>
            </a:r>
            <a:r>
              <a:rPr lang="en-US" altLang="zh-CN" b="1" u="sng">
                <a:ea typeface="楷体_GB2312" pitchFamily="49" charset="-122"/>
              </a:rPr>
              <a:t>y</a:t>
            </a:r>
            <a:endParaRPr lang="en-US" altLang="zh-CN" b="1">
              <a:ea typeface="楷体_GB2312" pitchFamily="49" charset="-122"/>
            </a:endParaRPr>
          </a:p>
        </p:txBody>
      </p:sp>
      <p:sp>
        <p:nvSpPr>
          <p:cNvPr id="178382" name="Text Box 206"/>
          <p:cNvSpPr txBox="1">
            <a:spLocks noChangeArrowheads="1"/>
          </p:cNvSpPr>
          <p:nvPr/>
        </p:nvSpPr>
        <p:spPr bwMode="auto">
          <a:xfrm>
            <a:off x="7824789" y="6453189"/>
            <a:ext cx="50323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b="1"/>
              <a:t>12.25</a:t>
            </a:r>
          </a:p>
        </p:txBody>
      </p:sp>
      <p:sp>
        <p:nvSpPr>
          <p:cNvPr id="2" name="灯片编号占位符 1">
            <a:extLst>
              <a:ext uri="{FF2B5EF4-FFF2-40B4-BE49-F238E27FC236}">
                <a16:creationId xmlns:a16="http://schemas.microsoft.com/office/drawing/2014/main" id="{B9F899DC-7592-8E93-35FB-889D0A7DE98F}"/>
              </a:ext>
            </a:extLst>
          </p:cNvPr>
          <p:cNvSpPr>
            <a:spLocks noGrp="1"/>
          </p:cNvSpPr>
          <p:nvPr>
            <p:ph type="sldNum" sz="quarter" idx="11"/>
          </p:nvPr>
        </p:nvSpPr>
        <p:spPr/>
        <p:txBody>
          <a:bodyPr/>
          <a:lstStyle/>
          <a:p>
            <a:pPr>
              <a:defRPr/>
            </a:pPr>
            <a:fld id="{80D5EF37-78AF-4CB4-937F-E187B8314658}" type="slidenum">
              <a:rPr lang="en-US" altLang="zh-CN" smtClean="0"/>
              <a:pPr>
                <a:defRPr/>
              </a:pPr>
              <a:t>51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78341"/>
                                        </p:tgtEl>
                                        <p:attrNameLst>
                                          <p:attrName>style.visibility</p:attrName>
                                        </p:attrNameLst>
                                      </p:cBhvr>
                                      <p:to>
                                        <p:strVal val="visible"/>
                                      </p:to>
                                    </p:set>
                                    <p:animEffect transition="in" filter="wipe(up)">
                                      <p:cBhvr>
                                        <p:cTn id="7" dur="500"/>
                                        <p:tgtEl>
                                          <p:spTgt spid="1783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8375"/>
                                        </p:tgtEl>
                                        <p:attrNameLst>
                                          <p:attrName>style.visibility</p:attrName>
                                        </p:attrNameLst>
                                      </p:cBhvr>
                                      <p:to>
                                        <p:strVal val="visible"/>
                                      </p:to>
                                    </p:set>
                                    <p:animEffect transition="in" filter="wipe(down)">
                                      <p:cBhvr>
                                        <p:cTn id="12" dur="500"/>
                                        <p:tgtEl>
                                          <p:spTgt spid="1783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78379"/>
                                        </p:tgtEl>
                                        <p:attrNameLst>
                                          <p:attrName>style.visibility</p:attrName>
                                        </p:attrNameLst>
                                      </p:cBhvr>
                                      <p:to>
                                        <p:strVal val="visible"/>
                                      </p:to>
                                    </p:set>
                                    <p:animEffect transition="in" filter="wipe(down)">
                                      <p:cBhvr>
                                        <p:cTn id="17" dur="500"/>
                                        <p:tgtEl>
                                          <p:spTgt spid="1783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78380"/>
                                        </p:tgtEl>
                                        <p:attrNameLst>
                                          <p:attrName>style.visibility</p:attrName>
                                        </p:attrNameLst>
                                      </p:cBhvr>
                                      <p:to>
                                        <p:strVal val="visible"/>
                                      </p:to>
                                    </p:set>
                                    <p:animEffect transition="in" filter="wipe(down)">
                                      <p:cBhvr>
                                        <p:cTn id="22" dur="500"/>
                                        <p:tgtEl>
                                          <p:spTgt spid="1783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78382"/>
                                        </p:tgtEl>
                                        <p:attrNameLst>
                                          <p:attrName>style.visibility</p:attrName>
                                        </p:attrNameLst>
                                      </p:cBhvr>
                                      <p:to>
                                        <p:strVal val="visible"/>
                                      </p:to>
                                    </p:set>
                                    <p:anim calcmode="lin" valueType="num">
                                      <p:cBhvr additive="base">
                                        <p:cTn id="27" dur="500" fill="hold"/>
                                        <p:tgtEl>
                                          <p:spTgt spid="178382"/>
                                        </p:tgtEl>
                                        <p:attrNameLst>
                                          <p:attrName>ppt_x</p:attrName>
                                        </p:attrNameLst>
                                      </p:cBhvr>
                                      <p:tavLst>
                                        <p:tav tm="0">
                                          <p:val>
                                            <p:strVal val="#ppt_x"/>
                                          </p:val>
                                        </p:tav>
                                        <p:tav tm="100000">
                                          <p:val>
                                            <p:strVal val="#ppt_x"/>
                                          </p:val>
                                        </p:tav>
                                      </p:tavLst>
                                    </p:anim>
                                    <p:anim calcmode="lin" valueType="num">
                                      <p:cBhvr additive="base">
                                        <p:cTn id="28" dur="500" fill="hold"/>
                                        <p:tgtEl>
                                          <p:spTgt spid="1783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375" grpId="0" animBg="1"/>
      <p:bldP spid="178379" grpId="0" animBg="1"/>
      <p:bldP spid="178380" grpId="0" animBg="1"/>
      <p:bldP spid="17838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ea typeface="黑体" pitchFamily="49" charset="-122"/>
              </a:rPr>
              <a:t>用遗传算法求隶属函数</a:t>
            </a:r>
          </a:p>
        </p:txBody>
      </p:sp>
      <p:graphicFrame>
        <p:nvGraphicFramePr>
          <p:cNvPr id="179495" name="Group 295"/>
          <p:cNvGraphicFramePr>
            <a:graphicFrameLocks noGrp="1"/>
          </p:cNvGraphicFramePr>
          <p:nvPr>
            <p:ph idx="1"/>
            <p:extLst>
              <p:ext uri="{D42A27DB-BD31-4B8C-83A1-F6EECF244321}">
                <p14:modId xmlns:p14="http://schemas.microsoft.com/office/powerpoint/2010/main" val="1954680304"/>
              </p:ext>
            </p:extLst>
          </p:nvPr>
        </p:nvGraphicFramePr>
        <p:xfrm>
          <a:off x="2208214" y="1412876"/>
          <a:ext cx="7604125" cy="2557463"/>
        </p:xfrm>
        <a:graphic>
          <a:graphicData uri="http://schemas.openxmlformats.org/drawingml/2006/table">
            <a:tbl>
              <a:tblPr/>
              <a:tblGrid>
                <a:gridCol w="623887">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65188">
                  <a:extLst>
                    <a:ext uri="{9D8B030D-6E8A-4147-A177-3AD203B41FA5}">
                      <a16:colId xmlns:a16="http://schemas.microsoft.com/office/drawing/2014/main" val="20003"/>
                    </a:ext>
                  </a:extLst>
                </a:gridCol>
                <a:gridCol w="935037">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gridCol w="1079500">
                  <a:extLst>
                    <a:ext uri="{9D8B030D-6E8A-4147-A177-3AD203B41FA5}">
                      <a16:colId xmlns:a16="http://schemas.microsoft.com/office/drawing/2014/main" val="20006"/>
                    </a:ext>
                  </a:extLst>
                </a:gridCol>
                <a:gridCol w="1627188">
                  <a:extLst>
                    <a:ext uri="{9D8B030D-6E8A-4147-A177-3AD203B41FA5}">
                      <a16:colId xmlns:a16="http://schemas.microsoft.com/office/drawing/2014/main" val="20007"/>
                    </a:ext>
                  </a:extLst>
                </a:gridCol>
              </a:tblGrid>
              <a:tr h="76695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个体编号</a:t>
                      </a:r>
                    </a:p>
                  </a:txBody>
                  <a:tcPr marT="45731" marB="457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a:ln>
                            <a:noFill/>
                          </a:ln>
                          <a:solidFill>
                            <a:schemeClr val="tx1"/>
                          </a:solidFill>
                          <a:effectLst/>
                          <a:latin typeface="Arial" charset="0"/>
                          <a:ea typeface="宋体" pitchFamily="2" charset="-122"/>
                        </a:rPr>
                        <a:t>均方差</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a:ln>
                            <a:noFill/>
                          </a:ln>
                          <a:solidFill>
                            <a:schemeClr val="tx1"/>
                          </a:solidFill>
                          <a:effectLst/>
                          <a:latin typeface="Arial" charset="0"/>
                          <a:ea typeface="宋体" pitchFamily="2" charset="-122"/>
                        </a:rPr>
                        <a:t>下一代个体的繁殖次数</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extLst>
                  <a:ext uri="{0D108BD9-81ED-4DB2-BD59-A6C34878D82A}">
                    <a16:rowId xmlns:a16="http://schemas.microsoft.com/office/drawing/2014/main" val="10000"/>
                  </a:ext>
                </a:extLst>
              </a:tr>
              <a:tr h="52241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12.25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rgbClr val="FF0000"/>
                          </a:solidFill>
                          <a:effectLst/>
                          <a:latin typeface="Arial" charset="0"/>
                          <a:ea typeface="宋体" pitchFamily="2" charset="-122"/>
                        </a:rPr>
                        <a:t>1.06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rgbClr val="3333FF"/>
                          </a:solidFill>
                          <a:effectLst/>
                          <a:latin typeface="Arial" charset="0"/>
                          <a:ea typeface="宋体" pitchFamily="2" charset="-122"/>
                        </a:rPr>
                        <a:t>2</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984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12.22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2.49</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rgbClr val="3333FF"/>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90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10.72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15.48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20.24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2.10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rgbClr val="3333FF"/>
                          </a:solidFill>
                          <a:effectLst/>
                          <a:latin typeface="Arial" charset="0"/>
                          <a:ea typeface="宋体" pitchFamily="2" charset="-122"/>
                        </a:rPr>
                        <a:t>1</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6.98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12.22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2.27</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rgbClr val="3333FF"/>
                          </a:solidFill>
                          <a:effectLst/>
                          <a:latin typeface="Arial" charset="0"/>
                          <a:ea typeface="宋体" pitchFamily="2" charset="-122"/>
                        </a:rPr>
                        <a:t>1</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57406" name="Group 82"/>
          <p:cNvGrpSpPr>
            <a:grpSpLocks/>
          </p:cNvGrpSpPr>
          <p:nvPr/>
        </p:nvGrpSpPr>
        <p:grpSpPr bwMode="auto">
          <a:xfrm>
            <a:off x="1919288" y="3971926"/>
            <a:ext cx="8642350" cy="2886075"/>
            <a:chOff x="113" y="2115"/>
            <a:chExt cx="5444" cy="1818"/>
          </a:xfrm>
        </p:grpSpPr>
        <p:sp>
          <p:nvSpPr>
            <p:cNvPr id="57408" name="Line 83"/>
            <p:cNvSpPr>
              <a:spLocks noChangeShapeType="1"/>
            </p:cNvSpPr>
            <p:nvPr/>
          </p:nvSpPr>
          <p:spPr bwMode="auto">
            <a:xfrm flipV="1">
              <a:off x="385" y="2387"/>
              <a:ext cx="0" cy="127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09" name="Line 84"/>
            <p:cNvSpPr>
              <a:spLocks noChangeShapeType="1"/>
            </p:cNvSpPr>
            <p:nvPr/>
          </p:nvSpPr>
          <p:spPr bwMode="auto">
            <a:xfrm>
              <a:off x="385" y="3657"/>
              <a:ext cx="235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0" name="Line 85"/>
            <p:cNvSpPr>
              <a:spLocks noChangeShapeType="1"/>
            </p:cNvSpPr>
            <p:nvPr/>
          </p:nvSpPr>
          <p:spPr bwMode="auto">
            <a:xfrm flipV="1">
              <a:off x="3061" y="2341"/>
              <a:ext cx="0" cy="131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1" name="Line 86"/>
            <p:cNvSpPr>
              <a:spLocks noChangeShapeType="1"/>
            </p:cNvSpPr>
            <p:nvPr/>
          </p:nvSpPr>
          <p:spPr bwMode="auto">
            <a:xfrm>
              <a:off x="3061" y="3657"/>
              <a:ext cx="235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2" name="Line 87"/>
            <p:cNvSpPr>
              <a:spLocks noChangeShapeType="1"/>
            </p:cNvSpPr>
            <p:nvPr/>
          </p:nvSpPr>
          <p:spPr bwMode="auto">
            <a:xfrm flipV="1">
              <a:off x="748"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3" name="Line 88"/>
            <p:cNvSpPr>
              <a:spLocks noChangeShapeType="1"/>
            </p:cNvSpPr>
            <p:nvPr/>
          </p:nvSpPr>
          <p:spPr bwMode="auto">
            <a:xfrm flipV="1">
              <a:off x="1111"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4" name="Line 89"/>
            <p:cNvSpPr>
              <a:spLocks noChangeShapeType="1"/>
            </p:cNvSpPr>
            <p:nvPr/>
          </p:nvSpPr>
          <p:spPr bwMode="auto">
            <a:xfrm flipV="1">
              <a:off x="1474"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5" name="Line 90"/>
            <p:cNvSpPr>
              <a:spLocks noChangeShapeType="1"/>
            </p:cNvSpPr>
            <p:nvPr/>
          </p:nvSpPr>
          <p:spPr bwMode="auto">
            <a:xfrm flipV="1">
              <a:off x="1837"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6" name="Line 91"/>
            <p:cNvSpPr>
              <a:spLocks noChangeShapeType="1"/>
            </p:cNvSpPr>
            <p:nvPr/>
          </p:nvSpPr>
          <p:spPr bwMode="auto">
            <a:xfrm flipV="1">
              <a:off x="2245"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7" name="Line 92"/>
            <p:cNvSpPr>
              <a:spLocks noChangeShapeType="1"/>
            </p:cNvSpPr>
            <p:nvPr/>
          </p:nvSpPr>
          <p:spPr bwMode="auto">
            <a:xfrm flipV="1">
              <a:off x="3424"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8" name="Line 93"/>
            <p:cNvSpPr>
              <a:spLocks noChangeShapeType="1"/>
            </p:cNvSpPr>
            <p:nvPr/>
          </p:nvSpPr>
          <p:spPr bwMode="auto">
            <a:xfrm flipV="1">
              <a:off x="3787"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19" name="Line 94"/>
            <p:cNvSpPr>
              <a:spLocks noChangeShapeType="1"/>
            </p:cNvSpPr>
            <p:nvPr/>
          </p:nvSpPr>
          <p:spPr bwMode="auto">
            <a:xfrm flipV="1">
              <a:off x="4150"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0" name="Line 95"/>
            <p:cNvSpPr>
              <a:spLocks noChangeShapeType="1"/>
            </p:cNvSpPr>
            <p:nvPr/>
          </p:nvSpPr>
          <p:spPr bwMode="auto">
            <a:xfrm flipV="1">
              <a:off x="4513"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1" name="Line 96"/>
            <p:cNvSpPr>
              <a:spLocks noChangeShapeType="1"/>
            </p:cNvSpPr>
            <p:nvPr/>
          </p:nvSpPr>
          <p:spPr bwMode="auto">
            <a:xfrm flipV="1">
              <a:off x="4921" y="3566"/>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2" name="Text Box 97"/>
            <p:cNvSpPr txBox="1">
              <a:spLocks noChangeArrowheads="1"/>
            </p:cNvSpPr>
            <p:nvPr/>
          </p:nvSpPr>
          <p:spPr bwMode="auto">
            <a:xfrm>
              <a:off x="158" y="3657"/>
              <a:ext cx="27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  0         1       2      3        4        5         x     </a:t>
              </a:r>
            </a:p>
          </p:txBody>
        </p:sp>
        <p:sp>
          <p:nvSpPr>
            <p:cNvPr id="57423" name="Text Box 98"/>
            <p:cNvSpPr txBox="1">
              <a:spLocks noChangeArrowheads="1"/>
            </p:cNvSpPr>
            <p:nvPr/>
          </p:nvSpPr>
          <p:spPr bwMode="auto">
            <a:xfrm>
              <a:off x="2835" y="3702"/>
              <a:ext cx="27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  0        5       10     15     20      25         y     </a:t>
              </a:r>
            </a:p>
          </p:txBody>
        </p:sp>
        <p:sp>
          <p:nvSpPr>
            <p:cNvPr id="57424" name="Text Box 99"/>
            <p:cNvSpPr txBox="1">
              <a:spLocks noChangeArrowheads="1"/>
            </p:cNvSpPr>
            <p:nvPr/>
          </p:nvSpPr>
          <p:spPr bwMode="auto">
            <a:xfrm>
              <a:off x="113" y="2115"/>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zh-CN"/>
            </a:p>
          </p:txBody>
        </p:sp>
        <p:sp>
          <p:nvSpPr>
            <p:cNvPr id="57425" name="Rectangle 100"/>
            <p:cNvSpPr>
              <a:spLocks noChangeArrowheads="1"/>
            </p:cNvSpPr>
            <p:nvPr/>
          </p:nvSpPr>
          <p:spPr bwMode="auto">
            <a:xfrm>
              <a:off x="204" y="2115"/>
              <a:ext cx="263"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000" dirty="0"/>
                <a:t>μ</a:t>
              </a:r>
              <a:r>
                <a:rPr lang="en-US" altLang="zh-CN" sz="2000" baseline="-25000" dirty="0"/>
                <a:t>x</a:t>
              </a:r>
            </a:p>
            <a:p>
              <a:endParaRPr lang="en-US" altLang="zh-CN" dirty="0"/>
            </a:p>
            <a:p>
              <a:r>
                <a:rPr lang="en-US" altLang="zh-CN" dirty="0"/>
                <a:t>1</a:t>
              </a:r>
            </a:p>
          </p:txBody>
        </p:sp>
        <p:sp>
          <p:nvSpPr>
            <p:cNvPr id="57426" name="Rectangle 101"/>
            <p:cNvSpPr>
              <a:spLocks noChangeArrowheads="1"/>
            </p:cNvSpPr>
            <p:nvPr/>
          </p:nvSpPr>
          <p:spPr bwMode="auto">
            <a:xfrm>
              <a:off x="2835" y="2115"/>
              <a:ext cx="263"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sz="2000" dirty="0"/>
                <a:t>μ</a:t>
              </a:r>
              <a:r>
                <a:rPr lang="en-US" altLang="zh-CN" sz="2000" baseline="-25000" dirty="0"/>
                <a:t>y</a:t>
              </a:r>
            </a:p>
            <a:p>
              <a:endParaRPr lang="en-US" altLang="zh-CN" dirty="0"/>
            </a:p>
            <a:p>
              <a:r>
                <a:rPr lang="en-US" altLang="zh-CN" dirty="0"/>
                <a:t>1</a:t>
              </a:r>
            </a:p>
          </p:txBody>
        </p:sp>
        <p:sp>
          <p:nvSpPr>
            <p:cNvPr id="57427" name="Line 102"/>
            <p:cNvSpPr>
              <a:spLocks noChangeShapeType="1"/>
            </p:cNvSpPr>
            <p:nvPr/>
          </p:nvSpPr>
          <p:spPr bwMode="auto">
            <a:xfrm>
              <a:off x="385" y="2614"/>
              <a:ext cx="182" cy="104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8" name="Line 103"/>
            <p:cNvSpPr>
              <a:spLocks noChangeShapeType="1"/>
            </p:cNvSpPr>
            <p:nvPr/>
          </p:nvSpPr>
          <p:spPr bwMode="auto">
            <a:xfrm flipV="1">
              <a:off x="2245" y="2614"/>
              <a:ext cx="0" cy="104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9" name="Line 104"/>
            <p:cNvSpPr>
              <a:spLocks noChangeShapeType="1"/>
            </p:cNvSpPr>
            <p:nvPr/>
          </p:nvSpPr>
          <p:spPr bwMode="auto">
            <a:xfrm flipH="1">
              <a:off x="1565" y="2614"/>
              <a:ext cx="680" cy="1043"/>
            </a:xfrm>
            <a:prstGeom prst="line">
              <a:avLst/>
            </a:prstGeom>
            <a:noFill/>
            <a:ln w="38100">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30" name="Text Box 105"/>
            <p:cNvSpPr txBox="1">
              <a:spLocks noChangeArrowheads="1"/>
            </p:cNvSpPr>
            <p:nvPr/>
          </p:nvSpPr>
          <p:spPr bwMode="auto">
            <a:xfrm>
              <a:off x="521" y="2750"/>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57431" name="Text Box 106"/>
            <p:cNvSpPr txBox="1">
              <a:spLocks noChangeArrowheads="1"/>
            </p:cNvSpPr>
            <p:nvPr/>
          </p:nvSpPr>
          <p:spPr bwMode="auto">
            <a:xfrm>
              <a:off x="1701" y="2795"/>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L</a:t>
              </a:r>
            </a:p>
          </p:txBody>
        </p:sp>
        <p:sp>
          <p:nvSpPr>
            <p:cNvPr id="57432" name="Line 107"/>
            <p:cNvSpPr>
              <a:spLocks noChangeShapeType="1"/>
            </p:cNvSpPr>
            <p:nvPr/>
          </p:nvSpPr>
          <p:spPr bwMode="auto">
            <a:xfrm>
              <a:off x="3061" y="2614"/>
              <a:ext cx="635" cy="104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33" name="Line 108"/>
            <p:cNvSpPr>
              <a:spLocks noChangeShapeType="1"/>
            </p:cNvSpPr>
            <p:nvPr/>
          </p:nvSpPr>
          <p:spPr bwMode="auto">
            <a:xfrm flipV="1">
              <a:off x="4921" y="2568"/>
              <a:ext cx="0" cy="10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34" name="Line 109"/>
            <p:cNvSpPr>
              <a:spLocks noChangeShapeType="1"/>
            </p:cNvSpPr>
            <p:nvPr/>
          </p:nvSpPr>
          <p:spPr bwMode="auto">
            <a:xfrm flipH="1">
              <a:off x="3334" y="2568"/>
              <a:ext cx="1587" cy="1089"/>
            </a:xfrm>
            <a:prstGeom prst="line">
              <a:avLst/>
            </a:prstGeom>
            <a:noFill/>
            <a:ln w="28575">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35" name="Text Box 110"/>
            <p:cNvSpPr txBox="1">
              <a:spLocks noChangeArrowheads="1"/>
            </p:cNvSpPr>
            <p:nvPr/>
          </p:nvSpPr>
          <p:spPr bwMode="auto">
            <a:xfrm>
              <a:off x="3243" y="2614"/>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57436" name="Text Box 111"/>
            <p:cNvSpPr txBox="1">
              <a:spLocks noChangeArrowheads="1"/>
            </p:cNvSpPr>
            <p:nvPr/>
          </p:nvSpPr>
          <p:spPr bwMode="auto">
            <a:xfrm>
              <a:off x="4332" y="2568"/>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VL</a:t>
              </a:r>
            </a:p>
          </p:txBody>
        </p:sp>
        <p:sp>
          <p:nvSpPr>
            <p:cNvPr id="57437" name="Text Box 112"/>
            <p:cNvSpPr txBox="1">
              <a:spLocks noChangeArrowheads="1"/>
            </p:cNvSpPr>
            <p:nvPr/>
          </p:nvSpPr>
          <p:spPr bwMode="auto">
            <a:xfrm>
              <a:off x="431" y="3657"/>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0.56</a:t>
              </a:r>
            </a:p>
          </p:txBody>
        </p:sp>
        <p:sp>
          <p:nvSpPr>
            <p:cNvPr id="57438" name="Text Box 113"/>
            <p:cNvSpPr txBox="1">
              <a:spLocks noChangeArrowheads="1"/>
            </p:cNvSpPr>
            <p:nvPr/>
          </p:nvSpPr>
          <p:spPr bwMode="auto">
            <a:xfrm>
              <a:off x="1474" y="3702"/>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3.41</a:t>
              </a:r>
            </a:p>
          </p:txBody>
        </p:sp>
        <p:sp>
          <p:nvSpPr>
            <p:cNvPr id="57439" name="Text Box 114"/>
            <p:cNvSpPr txBox="1">
              <a:spLocks noChangeArrowheads="1"/>
            </p:cNvSpPr>
            <p:nvPr/>
          </p:nvSpPr>
          <p:spPr bwMode="auto">
            <a:xfrm>
              <a:off x="3152" y="3702"/>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4.76</a:t>
              </a:r>
            </a:p>
          </p:txBody>
        </p:sp>
        <p:sp>
          <p:nvSpPr>
            <p:cNvPr id="57440" name="Text Box 115"/>
            <p:cNvSpPr txBox="1">
              <a:spLocks noChangeArrowheads="1"/>
            </p:cNvSpPr>
            <p:nvPr/>
          </p:nvSpPr>
          <p:spPr bwMode="auto">
            <a:xfrm>
              <a:off x="3515" y="3702"/>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8.73</a:t>
              </a:r>
            </a:p>
          </p:txBody>
        </p:sp>
      </p:grpSp>
      <p:sp>
        <p:nvSpPr>
          <p:cNvPr id="57407" name="Rectangle 119"/>
          <p:cNvSpPr>
            <a:spLocks noChangeArrowheads="1"/>
          </p:cNvSpPr>
          <p:nvPr/>
        </p:nvSpPr>
        <p:spPr bwMode="auto">
          <a:xfrm>
            <a:off x="6826250" y="4062413"/>
            <a:ext cx="3176588" cy="366712"/>
          </a:xfrm>
          <a:prstGeom prst="rect">
            <a:avLst/>
          </a:prstGeom>
          <a:solidFill>
            <a:srgbClr val="F7DBF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ea typeface="楷体_GB2312" pitchFamily="49" charset="-122"/>
              </a:rPr>
              <a:t>第一代个体中最佳的物理映射</a:t>
            </a:r>
          </a:p>
        </p:txBody>
      </p:sp>
      <p:sp>
        <p:nvSpPr>
          <p:cNvPr id="2" name="灯片编号占位符 1">
            <a:extLst>
              <a:ext uri="{FF2B5EF4-FFF2-40B4-BE49-F238E27FC236}">
                <a16:creationId xmlns:a16="http://schemas.microsoft.com/office/drawing/2014/main" id="{C054CD6F-0E09-3353-7677-51FF492DDE81}"/>
              </a:ext>
            </a:extLst>
          </p:cNvPr>
          <p:cNvSpPr>
            <a:spLocks noGrp="1"/>
          </p:cNvSpPr>
          <p:nvPr>
            <p:ph type="sldNum" sz="quarter" idx="11"/>
          </p:nvPr>
        </p:nvSpPr>
        <p:spPr/>
        <p:txBody>
          <a:bodyPr/>
          <a:lstStyle/>
          <a:p>
            <a:pPr>
              <a:defRPr/>
            </a:pPr>
            <a:fld id="{80D5EF37-78AF-4CB4-937F-E187B8314658}" type="slidenum">
              <a:rPr lang="en-US" altLang="zh-CN" smtClean="0"/>
              <a:pPr>
                <a:defRPr/>
              </a:pPr>
              <a:t>52</a:t>
            </a:fld>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ea typeface="黑体" pitchFamily="49" charset="-122"/>
              </a:rPr>
              <a:t>用遗传算法求隶属函数</a:t>
            </a:r>
          </a:p>
        </p:txBody>
      </p:sp>
      <p:graphicFrame>
        <p:nvGraphicFramePr>
          <p:cNvPr id="180400" name="Group 176"/>
          <p:cNvGraphicFramePr>
            <a:graphicFrameLocks noGrp="1"/>
          </p:cNvGraphicFramePr>
          <p:nvPr>
            <p:ph idx="1"/>
            <p:extLst>
              <p:ext uri="{D42A27DB-BD31-4B8C-83A1-F6EECF244321}">
                <p14:modId xmlns:p14="http://schemas.microsoft.com/office/powerpoint/2010/main" val="2439772302"/>
              </p:ext>
            </p:extLst>
          </p:nvPr>
        </p:nvGraphicFramePr>
        <p:xfrm>
          <a:off x="1774825" y="2349501"/>
          <a:ext cx="8713788" cy="4371975"/>
        </p:xfrm>
        <a:graphic>
          <a:graphicData uri="http://schemas.openxmlformats.org/drawingml/2006/table">
            <a:tbl>
              <a:tblPr/>
              <a:tblGrid>
                <a:gridCol w="1127125">
                  <a:extLst>
                    <a:ext uri="{9D8B030D-6E8A-4147-A177-3AD203B41FA5}">
                      <a16:colId xmlns:a16="http://schemas.microsoft.com/office/drawing/2014/main" val="20000"/>
                    </a:ext>
                  </a:extLst>
                </a:gridCol>
                <a:gridCol w="2392363">
                  <a:extLst>
                    <a:ext uri="{9D8B030D-6E8A-4147-A177-3AD203B41FA5}">
                      <a16:colId xmlns:a16="http://schemas.microsoft.com/office/drawing/2014/main" val="20001"/>
                    </a:ext>
                  </a:extLst>
                </a:gridCol>
                <a:gridCol w="2200275">
                  <a:extLst>
                    <a:ext uri="{9D8B030D-6E8A-4147-A177-3AD203B41FA5}">
                      <a16:colId xmlns:a16="http://schemas.microsoft.com/office/drawing/2014/main" val="20002"/>
                    </a:ext>
                  </a:extLst>
                </a:gridCol>
                <a:gridCol w="671512">
                  <a:extLst>
                    <a:ext uri="{9D8B030D-6E8A-4147-A177-3AD203B41FA5}">
                      <a16:colId xmlns:a16="http://schemas.microsoft.com/office/drawing/2014/main" val="20003"/>
                    </a:ext>
                  </a:extLst>
                </a:gridCol>
                <a:gridCol w="738212">
                  <a:extLst>
                    <a:ext uri="{9D8B030D-6E8A-4147-A177-3AD203B41FA5}">
                      <a16:colId xmlns:a16="http://schemas.microsoft.com/office/drawing/2014/main" val="20004"/>
                    </a:ext>
                  </a:extLst>
                </a:gridCol>
                <a:gridCol w="838176">
                  <a:extLst>
                    <a:ext uri="{9D8B030D-6E8A-4147-A177-3AD203B41FA5}">
                      <a16:colId xmlns:a16="http://schemas.microsoft.com/office/drawing/2014/main" val="20005"/>
                    </a:ext>
                  </a:extLst>
                </a:gridCol>
                <a:gridCol w="746125">
                  <a:extLst>
                    <a:ext uri="{9D8B030D-6E8A-4147-A177-3AD203B41FA5}">
                      <a16:colId xmlns:a16="http://schemas.microsoft.com/office/drawing/2014/main" val="20006"/>
                    </a:ext>
                  </a:extLst>
                </a:gridCol>
              </a:tblGrid>
              <a:tr h="4857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个体编号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所选字符串</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新字符串</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zh-CN" sz="2400" b="1" i="0" u="none" strike="noStrike" cap="none" normalizeH="0" baseline="0" dirty="0">
                          <a:ln>
                            <a:noFill/>
                          </a:ln>
                          <a:solidFill>
                            <a:schemeClr val="tx1"/>
                          </a:solidFill>
                          <a:effectLst/>
                          <a:latin typeface="Arial" charset="0"/>
                          <a:ea typeface="宋体" pitchFamily="2" charset="-122"/>
                        </a:rPr>
                        <a:t>①</a:t>
                      </a:r>
                      <a:r>
                        <a:rPr kumimoji="0" lang="en-US" altLang="zh-CN" sz="2000" b="1" i="0" u="none" strike="noStrike" cap="none" normalizeH="0" baseline="0" dirty="0">
                          <a:ln>
                            <a:noFill/>
                          </a:ln>
                          <a:solidFill>
                            <a:schemeClr val="tx1"/>
                          </a:solidFill>
                          <a:effectLst/>
                          <a:latin typeface="Arial"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②b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③b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④b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85775">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000111  0101</a:t>
                      </a:r>
                      <a:r>
                        <a:rPr kumimoji="0" lang="en-US" altLang="zh-CN" sz="2000" b="0" i="0" u="none" strike="noStrike" cap="none" normalizeH="0" baseline="0">
                          <a:ln>
                            <a:noFill/>
                          </a:ln>
                          <a:solidFill>
                            <a:srgbClr val="FF0000"/>
                          </a:solidFill>
                          <a:effectLst/>
                          <a:latin typeface="Arial" charset="0"/>
                          <a:ea typeface="宋体" pitchFamily="2" charset="-122"/>
                        </a:rPr>
                        <a:t>|</a:t>
                      </a:r>
                      <a:r>
                        <a:rPr kumimoji="0" lang="en-US" altLang="zh-CN" sz="2000" b="0" i="0" u="sng" strike="noStrike" cap="none" normalizeH="0" baseline="0">
                          <a:ln>
                            <a:noFill/>
                          </a:ln>
                          <a:solidFill>
                            <a:schemeClr val="tx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000111  0101</a:t>
                      </a:r>
                      <a:r>
                        <a:rPr kumimoji="0" lang="en-US" altLang="zh-CN" sz="2000" b="0" i="0" u="none" strike="noStrike" cap="none" normalizeH="0" baseline="0">
                          <a:ln>
                            <a:noFill/>
                          </a:ln>
                          <a:solidFill>
                            <a:srgbClr val="FF0000"/>
                          </a:solidFill>
                          <a:effectLst/>
                          <a:latin typeface="Arial" charset="0"/>
                          <a:ea typeface="宋体"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57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010110  1100</a:t>
                      </a:r>
                      <a:r>
                        <a:rPr kumimoji="0" lang="en-US" altLang="zh-CN" sz="2000" b="0" i="0" u="none" strike="noStrike" cap="none" normalizeH="0" baseline="0">
                          <a:ln>
                            <a:noFill/>
                          </a:ln>
                          <a:solidFill>
                            <a:srgbClr val="3333FF"/>
                          </a:solidFill>
                          <a:effectLst/>
                          <a:latin typeface="Arial" charset="0"/>
                          <a:ea typeface="宋体" pitchFamily="2" charset="-122"/>
                        </a:rPr>
                        <a:t>|</a:t>
                      </a:r>
                      <a:r>
                        <a:rPr kumimoji="0" lang="en-US" altLang="zh-CN" sz="2000" b="0" i="0" u="sng" strike="noStrike" cap="none" normalizeH="0" baseline="0">
                          <a:ln>
                            <a:noFill/>
                          </a:ln>
                          <a:solidFill>
                            <a:schemeClr val="tx1"/>
                          </a:solidFill>
                          <a:effectLst/>
                          <a:latin typeface="Arial" charset="0"/>
                          <a:ea typeface="宋体"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010110  1100</a:t>
                      </a:r>
                      <a:r>
                        <a:rPr kumimoji="0" lang="en-US" altLang="zh-CN" sz="2000" b="0" i="0" u="none" strike="noStrike" cap="none" normalizeH="0" baseline="0">
                          <a:ln>
                            <a:noFill/>
                          </a:ln>
                          <a:solidFill>
                            <a:srgbClr val="3333FF"/>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485775">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2(3)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010101 1010</a:t>
                      </a:r>
                      <a:r>
                        <a:rPr kumimoji="0" lang="en-US" altLang="zh-CN" sz="2000" b="0" i="0" u="none" strike="noStrike" cap="none" normalizeH="0" baseline="0" dirty="0">
                          <a:ln>
                            <a:noFill/>
                          </a:ln>
                          <a:solidFill>
                            <a:srgbClr val="FF0000"/>
                          </a:solidFill>
                          <a:effectLst/>
                          <a:latin typeface="Arial" charset="0"/>
                          <a:ea typeface="宋体" pitchFamily="2" charset="-122"/>
                        </a:rPr>
                        <a:t>|</a:t>
                      </a:r>
                      <a:r>
                        <a:rPr kumimoji="0" lang="en-US" altLang="zh-CN" sz="2000" b="0" i="0" u="sng" strike="noStrike" cap="none" normalizeH="0" baseline="0" dirty="0">
                          <a:ln>
                            <a:noFill/>
                          </a:ln>
                          <a:solidFill>
                            <a:schemeClr val="tx1"/>
                          </a:solidFill>
                          <a:effectLst/>
                          <a:latin typeface="Arial" charset="0"/>
                          <a:ea typeface="宋体"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010101 1010</a:t>
                      </a:r>
                      <a:r>
                        <a:rPr kumimoji="0" lang="en-US" altLang="zh-CN" sz="2000" b="0" i="0" u="none" strike="noStrike" cap="none" normalizeH="0" baseline="0">
                          <a:ln>
                            <a:noFill/>
                          </a:ln>
                          <a:solidFill>
                            <a:srgbClr val="FF0000"/>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57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001101 1010</a:t>
                      </a:r>
                      <a:r>
                        <a:rPr kumimoji="0" lang="en-US" altLang="zh-CN" sz="2000" b="0" i="0" u="none" strike="noStrike" cap="none" normalizeH="0" baseline="0">
                          <a:ln>
                            <a:noFill/>
                          </a:ln>
                          <a:solidFill>
                            <a:srgbClr val="3333FF"/>
                          </a:solidFill>
                          <a:effectLst/>
                          <a:latin typeface="Arial" charset="0"/>
                          <a:ea typeface="宋体" pitchFamily="2" charset="-122"/>
                        </a:rPr>
                        <a:t>|</a:t>
                      </a:r>
                      <a:r>
                        <a:rPr kumimoji="0" lang="en-US" altLang="zh-CN" sz="2000" b="0" i="0" u="sng" strike="noStrike" cap="none" normalizeH="0" baseline="0">
                          <a:ln>
                            <a:noFill/>
                          </a:ln>
                          <a:solidFill>
                            <a:schemeClr val="tx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001101 1010</a:t>
                      </a:r>
                      <a:r>
                        <a:rPr kumimoji="0" lang="en-US" altLang="zh-CN" sz="2000" b="0" i="0" u="none" strike="noStrike" cap="none" normalizeH="0" baseline="0">
                          <a:ln>
                            <a:noFill/>
                          </a:ln>
                          <a:solidFill>
                            <a:srgbClr val="3333FF"/>
                          </a:solidFill>
                          <a:effectLst/>
                          <a:latin typeface="Arial" charset="0"/>
                          <a:ea typeface="宋体"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4"/>
                  </a:ext>
                </a:extLst>
              </a:tr>
              <a:tr h="485775">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3(1)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000111  010100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000111  010100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57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010110  1</a:t>
                      </a:r>
                      <a:r>
                        <a:rPr kumimoji="0" lang="en-US" altLang="zh-CN" sz="2000" b="0" i="0" u="none" strike="noStrike" cap="none" normalizeH="0" baseline="0" dirty="0">
                          <a:ln>
                            <a:noFill/>
                          </a:ln>
                          <a:solidFill>
                            <a:srgbClr val="3333FF"/>
                          </a:solidFill>
                          <a:effectLst/>
                          <a:latin typeface="Arial" charset="0"/>
                          <a:ea typeface="宋体" pitchFamily="2" charset="-122"/>
                        </a:rPr>
                        <a:t>|</a:t>
                      </a:r>
                      <a:r>
                        <a:rPr kumimoji="0" lang="en-US" altLang="zh-CN" sz="2000" b="0" i="0" u="sng" strike="noStrike" cap="none" normalizeH="0" baseline="0" dirty="0">
                          <a:ln>
                            <a:noFill/>
                          </a:ln>
                          <a:solidFill>
                            <a:schemeClr val="tx1"/>
                          </a:solidFill>
                          <a:effectLst/>
                          <a:latin typeface="Arial" charset="0"/>
                          <a:ea typeface="宋体" pitchFamily="2" charset="-122"/>
                        </a:rPr>
                        <a:t>10011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010110  1</a:t>
                      </a:r>
                      <a:r>
                        <a:rPr kumimoji="0" lang="en-US" altLang="zh-CN" sz="2000" b="0" i="0" u="none" strike="noStrike" cap="none" normalizeH="0" baseline="0">
                          <a:ln>
                            <a:noFill/>
                          </a:ln>
                          <a:solidFill>
                            <a:srgbClr val="3333FF"/>
                          </a:solidFill>
                          <a:effectLst/>
                          <a:latin typeface="Arial" charset="0"/>
                          <a:ea typeface="宋体" pitchFamily="2" charset="-122"/>
                        </a:rPr>
                        <a:t>00011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485775">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4(4)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100100 001001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100100 001001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57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101100 1</a:t>
                      </a:r>
                      <a:r>
                        <a:rPr kumimoji="0" lang="en-US" altLang="zh-CN" sz="2000" b="0" i="0" u="none" strike="noStrike" cap="none" normalizeH="0" baseline="0">
                          <a:ln>
                            <a:noFill/>
                          </a:ln>
                          <a:solidFill>
                            <a:srgbClr val="3333FF"/>
                          </a:solidFill>
                          <a:effectLst/>
                          <a:latin typeface="Arial" charset="0"/>
                          <a:ea typeface="宋体" pitchFamily="2" charset="-122"/>
                        </a:rPr>
                        <a:t>|</a:t>
                      </a:r>
                      <a:r>
                        <a:rPr kumimoji="0" lang="en-US" altLang="zh-CN" sz="2000" b="0" i="0" u="sng" strike="noStrike" cap="none" normalizeH="0" baseline="0">
                          <a:ln>
                            <a:noFill/>
                          </a:ln>
                          <a:solidFill>
                            <a:schemeClr val="tx1"/>
                          </a:solidFill>
                          <a:effectLst/>
                          <a:latin typeface="Arial" charset="0"/>
                          <a:ea typeface="宋体" pitchFamily="2" charset="-122"/>
                        </a:rPr>
                        <a:t>00011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101100 1</a:t>
                      </a:r>
                      <a:r>
                        <a:rPr kumimoji="0" lang="en-US" altLang="zh-CN" sz="2000" b="0" i="0" u="none" strike="noStrike" cap="none" normalizeH="0" baseline="0" dirty="0">
                          <a:ln>
                            <a:noFill/>
                          </a:ln>
                          <a:solidFill>
                            <a:srgbClr val="3333FF"/>
                          </a:solidFill>
                          <a:effectLst/>
                          <a:latin typeface="Arial" charset="0"/>
                          <a:ea typeface="宋体" pitchFamily="2" charset="-122"/>
                        </a:rPr>
                        <a:t>10011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bl>
          </a:graphicData>
        </a:graphic>
      </p:graphicFrame>
      <p:sp>
        <p:nvSpPr>
          <p:cNvPr id="58433" name="Text Box 80"/>
          <p:cNvSpPr txBox="1">
            <a:spLocks noChangeArrowheads="1"/>
          </p:cNvSpPr>
          <p:nvPr/>
        </p:nvSpPr>
        <p:spPr bwMode="auto">
          <a:xfrm>
            <a:off x="1487488" y="1620678"/>
            <a:ext cx="23042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800" dirty="0">
                <a:solidFill>
                  <a:srgbClr val="FF0000"/>
                </a:solidFill>
                <a:ea typeface="黑体" pitchFamily="49" charset="-122"/>
              </a:rPr>
              <a:t>第二次迭代</a:t>
            </a:r>
          </a:p>
        </p:txBody>
      </p:sp>
      <p:sp>
        <p:nvSpPr>
          <p:cNvPr id="2" name="灯片编号占位符 1">
            <a:extLst>
              <a:ext uri="{FF2B5EF4-FFF2-40B4-BE49-F238E27FC236}">
                <a16:creationId xmlns:a16="http://schemas.microsoft.com/office/drawing/2014/main" id="{45C4BEC7-58FE-0CD2-8574-1FA5138EF16C}"/>
              </a:ext>
            </a:extLst>
          </p:cNvPr>
          <p:cNvSpPr>
            <a:spLocks noGrp="1"/>
          </p:cNvSpPr>
          <p:nvPr>
            <p:ph type="sldNum" sz="quarter" idx="11"/>
          </p:nvPr>
        </p:nvSpPr>
        <p:spPr/>
        <p:txBody>
          <a:bodyPr/>
          <a:lstStyle/>
          <a:p>
            <a:pPr>
              <a:defRPr/>
            </a:pPr>
            <a:fld id="{80D5EF37-78AF-4CB4-937F-E187B8314658}" type="slidenum">
              <a:rPr lang="en-US" altLang="zh-CN" smtClean="0"/>
              <a:pPr>
                <a:defRPr/>
              </a:pPr>
              <a:t>53</a:t>
            </a:fld>
            <a:endParaRPr lang="en-US"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ea typeface="黑体" pitchFamily="49" charset="-122"/>
              </a:rPr>
              <a:t>用遗传算法求隶属函数</a:t>
            </a:r>
          </a:p>
        </p:txBody>
      </p:sp>
      <p:graphicFrame>
        <p:nvGraphicFramePr>
          <p:cNvPr id="183299" name="Group 3"/>
          <p:cNvGraphicFramePr>
            <a:graphicFrameLocks noGrp="1"/>
          </p:cNvGraphicFramePr>
          <p:nvPr>
            <p:ph idx="1"/>
            <p:extLst>
              <p:ext uri="{D42A27DB-BD31-4B8C-83A1-F6EECF244321}">
                <p14:modId xmlns:p14="http://schemas.microsoft.com/office/powerpoint/2010/main" val="3645194235"/>
              </p:ext>
            </p:extLst>
          </p:nvPr>
        </p:nvGraphicFramePr>
        <p:xfrm>
          <a:off x="1774826" y="2349500"/>
          <a:ext cx="8588375" cy="4403728"/>
        </p:xfrm>
        <a:graphic>
          <a:graphicData uri="http://schemas.openxmlformats.org/drawingml/2006/table">
            <a:tbl>
              <a:tblPr/>
              <a:tblGrid>
                <a:gridCol w="623888">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gridCol w="690562">
                  <a:extLst>
                    <a:ext uri="{9D8B030D-6E8A-4147-A177-3AD203B41FA5}">
                      <a16:colId xmlns:a16="http://schemas.microsoft.com/office/drawing/2014/main" val="20002"/>
                    </a:ext>
                  </a:extLst>
                </a:gridCol>
                <a:gridCol w="690563">
                  <a:extLst>
                    <a:ext uri="{9D8B030D-6E8A-4147-A177-3AD203B41FA5}">
                      <a16:colId xmlns:a16="http://schemas.microsoft.com/office/drawing/2014/main" val="20003"/>
                    </a:ext>
                  </a:extLst>
                </a:gridCol>
                <a:gridCol w="690562">
                  <a:extLst>
                    <a:ext uri="{9D8B030D-6E8A-4147-A177-3AD203B41FA5}">
                      <a16:colId xmlns:a16="http://schemas.microsoft.com/office/drawing/2014/main" val="20004"/>
                    </a:ext>
                  </a:extLst>
                </a:gridCol>
                <a:gridCol w="690563">
                  <a:extLst>
                    <a:ext uri="{9D8B030D-6E8A-4147-A177-3AD203B41FA5}">
                      <a16:colId xmlns:a16="http://schemas.microsoft.com/office/drawing/2014/main" val="20005"/>
                    </a:ext>
                  </a:extLst>
                </a:gridCol>
                <a:gridCol w="690562">
                  <a:extLst>
                    <a:ext uri="{9D8B030D-6E8A-4147-A177-3AD203B41FA5}">
                      <a16:colId xmlns:a16="http://schemas.microsoft.com/office/drawing/2014/main" val="20006"/>
                    </a:ext>
                  </a:extLst>
                </a:gridCol>
                <a:gridCol w="688975">
                  <a:extLst>
                    <a:ext uri="{9D8B030D-6E8A-4147-A177-3AD203B41FA5}">
                      <a16:colId xmlns:a16="http://schemas.microsoft.com/office/drawing/2014/main" val="20007"/>
                    </a:ext>
                  </a:extLst>
                </a:gridCol>
                <a:gridCol w="819150">
                  <a:extLst>
                    <a:ext uri="{9D8B030D-6E8A-4147-A177-3AD203B41FA5}">
                      <a16:colId xmlns:a16="http://schemas.microsoft.com/office/drawing/2014/main" val="20008"/>
                    </a:ext>
                  </a:extLst>
                </a:gridCol>
                <a:gridCol w="984250">
                  <a:extLst>
                    <a:ext uri="{9D8B030D-6E8A-4147-A177-3AD203B41FA5}">
                      <a16:colId xmlns:a16="http://schemas.microsoft.com/office/drawing/2014/main" val="20009"/>
                    </a:ext>
                  </a:extLst>
                </a:gridCol>
              </a:tblGrid>
              <a:tr h="51813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1" i="0" u="none" strike="noStrike" cap="none" normalizeH="0" baseline="0">
                          <a:ln>
                            <a:noFill/>
                          </a:ln>
                          <a:solidFill>
                            <a:schemeClr val="tx1"/>
                          </a:solidFill>
                          <a:effectLst/>
                          <a:latin typeface="Arial" charset="0"/>
                          <a:ea typeface="宋体" pitchFamily="2" charset="-122"/>
                        </a:rPr>
                        <a:t>个体编号</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所选字符串</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①b</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②b</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③b</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④b</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①d</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②d</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③d</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④d</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extLst>
                  <a:ext uri="{0D108BD9-81ED-4DB2-BD59-A6C34878D82A}">
                    <a16:rowId xmlns:a16="http://schemas.microsoft.com/office/drawing/2014/main" val="10000"/>
                  </a:ext>
                </a:extLst>
              </a:tr>
              <a:tr h="485698">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000111  0101</a:t>
                      </a:r>
                      <a:r>
                        <a:rPr kumimoji="0" lang="en-US" altLang="zh-CN" sz="2000" b="0" i="0" u="none" strike="noStrike" cap="none" normalizeH="0" baseline="0">
                          <a:ln>
                            <a:noFill/>
                          </a:ln>
                          <a:solidFill>
                            <a:srgbClr val="FF0000"/>
                          </a:solidFill>
                          <a:effectLst/>
                          <a:latin typeface="Arial" charset="0"/>
                          <a:ea typeface="宋体" pitchFamily="2" charset="-122"/>
                        </a:rPr>
                        <a:t>10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7</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22</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22</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48</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0.56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1.74</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8.73</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19.05</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569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010110  1100</a:t>
                      </a:r>
                      <a:r>
                        <a:rPr kumimoji="0" lang="en-US" altLang="zh-CN" sz="2000" b="0" i="0" u="none" strike="noStrike" cap="none" normalizeH="0" baseline="0">
                          <a:ln>
                            <a:noFill/>
                          </a:ln>
                          <a:solidFill>
                            <a:srgbClr val="3333FF"/>
                          </a:solidFill>
                          <a:effectLst/>
                          <a:latin typeface="Arial" charset="0"/>
                          <a:ea typeface="宋体" pitchFamily="2" charset="-122"/>
                        </a:rPr>
                        <a:t>00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485698">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010101 1010</a:t>
                      </a:r>
                      <a:r>
                        <a:rPr kumimoji="0" lang="en-US" altLang="zh-CN" sz="2000" b="0" i="0" u="none" strike="noStrike" cap="none" normalizeH="0" baseline="0">
                          <a:ln>
                            <a:noFill/>
                          </a:ln>
                          <a:solidFill>
                            <a:srgbClr val="FF0000"/>
                          </a:solidFill>
                          <a:effectLst/>
                          <a:latin typeface="Arial" charset="0"/>
                          <a:ea typeface="宋体" pitchFamily="2" charset="-122"/>
                        </a:rPr>
                        <a:t>00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13</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43</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1.67</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3.17</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5.17</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17.06</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569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001101 1010</a:t>
                      </a:r>
                      <a:r>
                        <a:rPr kumimoji="0" lang="en-US" altLang="zh-CN" sz="2000" b="0" i="0" u="none" strike="noStrike" cap="none" normalizeH="0" baseline="0">
                          <a:ln>
                            <a:noFill/>
                          </a:ln>
                          <a:solidFill>
                            <a:srgbClr val="3333FF"/>
                          </a:solidFill>
                          <a:effectLst/>
                          <a:latin typeface="Arial" charset="0"/>
                          <a:ea typeface="宋体" pitchFamily="2" charset="-122"/>
                        </a:rPr>
                        <a:t>11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4"/>
                  </a:ext>
                </a:extLst>
              </a:tr>
              <a:tr h="485698">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000111  010100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7</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22</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35</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0.56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1.59</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8.73</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13.89</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569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010110  1</a:t>
                      </a:r>
                      <a:r>
                        <a:rPr kumimoji="0" lang="en-US" altLang="zh-CN" sz="2000" b="0" i="0" u="none" strike="noStrike" cap="none" normalizeH="0" baseline="0">
                          <a:ln>
                            <a:noFill/>
                          </a:ln>
                          <a:solidFill>
                            <a:srgbClr val="3333FF"/>
                          </a:solidFill>
                          <a:effectLst/>
                          <a:latin typeface="Arial" charset="0"/>
                          <a:ea typeface="宋体" pitchFamily="2" charset="-122"/>
                        </a:rPr>
                        <a:t>00011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485698">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100100 001001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9</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44</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2.86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0.71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17.46</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20.24</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569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101100 1</a:t>
                      </a:r>
                      <a:r>
                        <a:rPr kumimoji="0" lang="en-US" altLang="zh-CN" sz="2000" b="0" i="0" u="none" strike="noStrike" cap="none" normalizeH="0" baseline="0" dirty="0">
                          <a:ln>
                            <a:noFill/>
                          </a:ln>
                          <a:solidFill>
                            <a:srgbClr val="3333FF"/>
                          </a:solidFill>
                          <a:effectLst/>
                          <a:latin typeface="Arial" charset="0"/>
                          <a:ea typeface="宋体" pitchFamily="2" charset="-122"/>
                        </a:rPr>
                        <a:t>10011</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bl>
          </a:graphicData>
        </a:graphic>
      </p:graphicFrame>
      <p:sp>
        <p:nvSpPr>
          <p:cNvPr id="59471" name="AutoShape 79"/>
          <p:cNvSpPr>
            <a:spLocks noChangeArrowheads="1"/>
          </p:cNvSpPr>
          <p:nvPr/>
        </p:nvSpPr>
        <p:spPr bwMode="auto">
          <a:xfrm>
            <a:off x="5448301" y="1484314"/>
            <a:ext cx="4392613" cy="504825"/>
          </a:xfrm>
          <a:prstGeom prst="wedgeRoundRectCallout">
            <a:avLst>
              <a:gd name="adj1" fmla="val -9343"/>
              <a:gd name="adj2" fmla="val 127046"/>
              <a:gd name="adj3" fmla="val 16667"/>
            </a:avLst>
          </a:prstGeom>
          <a:solidFill>
            <a:srgbClr val="F7DB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b="1"/>
              <a:t>①d=①b/(2</a:t>
            </a:r>
            <a:r>
              <a:rPr lang="en-US" altLang="zh-CN" sz="2000" b="1" baseline="30000"/>
              <a:t>6</a:t>
            </a:r>
            <a:r>
              <a:rPr lang="en-US" altLang="zh-CN" sz="2000" b="1"/>
              <a:t>-1) ×(Xmax-Xmin)</a:t>
            </a:r>
          </a:p>
        </p:txBody>
      </p:sp>
      <p:sp>
        <p:nvSpPr>
          <p:cNvPr id="59472" name="Text Box 80"/>
          <p:cNvSpPr txBox="1">
            <a:spLocks noChangeArrowheads="1"/>
          </p:cNvSpPr>
          <p:nvPr/>
        </p:nvSpPr>
        <p:spPr bwMode="auto">
          <a:xfrm>
            <a:off x="1343248" y="1717843"/>
            <a:ext cx="237705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800" dirty="0">
                <a:solidFill>
                  <a:srgbClr val="FF0000"/>
                </a:solidFill>
                <a:ea typeface="黑体" pitchFamily="49" charset="-122"/>
              </a:rPr>
              <a:t>第二次迭代</a:t>
            </a:r>
          </a:p>
        </p:txBody>
      </p:sp>
      <p:sp>
        <p:nvSpPr>
          <p:cNvPr id="2" name="灯片编号占位符 1">
            <a:extLst>
              <a:ext uri="{FF2B5EF4-FFF2-40B4-BE49-F238E27FC236}">
                <a16:creationId xmlns:a16="http://schemas.microsoft.com/office/drawing/2014/main" id="{13D7309B-E932-7F31-0F51-A258317409AA}"/>
              </a:ext>
            </a:extLst>
          </p:cNvPr>
          <p:cNvSpPr>
            <a:spLocks noGrp="1"/>
          </p:cNvSpPr>
          <p:nvPr>
            <p:ph type="sldNum" sz="quarter" idx="11"/>
          </p:nvPr>
        </p:nvSpPr>
        <p:spPr/>
        <p:txBody>
          <a:bodyPr/>
          <a:lstStyle/>
          <a:p>
            <a:pPr>
              <a:defRPr/>
            </a:pPr>
            <a:fld id="{80D5EF37-78AF-4CB4-937F-E187B8314658}" type="slidenum">
              <a:rPr lang="en-US" altLang="zh-CN" smtClean="0"/>
              <a:pPr>
                <a:defRPr/>
              </a:pPr>
              <a:t>54</a:t>
            </a:fld>
            <a:endParaRPr lang="en-US" altLang="zh-C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992313" y="188913"/>
            <a:ext cx="8229600" cy="1371600"/>
          </a:xfrm>
        </p:spPr>
        <p:txBody>
          <a:bodyPr/>
          <a:lstStyle/>
          <a:p>
            <a:pPr algn="ctr" eaLnBrk="1" hangingPunct="1"/>
            <a:r>
              <a:rPr lang="zh-CN" altLang="en-US" dirty="0">
                <a:solidFill>
                  <a:srgbClr val="008000"/>
                </a:solidFill>
                <a:ea typeface="黑体" pitchFamily="49" charset="-122"/>
              </a:rPr>
              <a:t>用遗传算法求隶属函数</a:t>
            </a:r>
          </a:p>
        </p:txBody>
      </p:sp>
      <p:graphicFrame>
        <p:nvGraphicFramePr>
          <p:cNvPr id="181390" name="Group 142"/>
          <p:cNvGraphicFramePr>
            <a:graphicFrameLocks noGrp="1"/>
          </p:cNvGraphicFramePr>
          <p:nvPr>
            <p:ph idx="1"/>
            <p:extLst>
              <p:ext uri="{D42A27DB-BD31-4B8C-83A1-F6EECF244321}">
                <p14:modId xmlns:p14="http://schemas.microsoft.com/office/powerpoint/2010/main" val="1627237296"/>
              </p:ext>
            </p:extLst>
          </p:nvPr>
        </p:nvGraphicFramePr>
        <p:xfrm>
          <a:off x="1774826" y="1412876"/>
          <a:ext cx="8588375" cy="2557463"/>
        </p:xfrm>
        <a:graphic>
          <a:graphicData uri="http://schemas.openxmlformats.org/drawingml/2006/table">
            <a:tbl>
              <a:tblPr/>
              <a:tblGrid>
                <a:gridCol w="623888">
                  <a:extLst>
                    <a:ext uri="{9D8B030D-6E8A-4147-A177-3AD203B41FA5}">
                      <a16:colId xmlns:a16="http://schemas.microsoft.com/office/drawing/2014/main" val="20000"/>
                    </a:ext>
                  </a:extLst>
                </a:gridCol>
                <a:gridCol w="744537">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936625">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gridCol w="1008063">
                  <a:extLst>
                    <a:ext uri="{9D8B030D-6E8A-4147-A177-3AD203B41FA5}">
                      <a16:colId xmlns:a16="http://schemas.microsoft.com/office/drawing/2014/main" val="20005"/>
                    </a:ext>
                  </a:extLst>
                </a:gridCol>
                <a:gridCol w="936625">
                  <a:extLst>
                    <a:ext uri="{9D8B030D-6E8A-4147-A177-3AD203B41FA5}">
                      <a16:colId xmlns:a16="http://schemas.microsoft.com/office/drawing/2014/main" val="20006"/>
                    </a:ext>
                  </a:extLst>
                </a:gridCol>
                <a:gridCol w="950912">
                  <a:extLst>
                    <a:ext uri="{9D8B030D-6E8A-4147-A177-3AD203B41FA5}">
                      <a16:colId xmlns:a16="http://schemas.microsoft.com/office/drawing/2014/main" val="20007"/>
                    </a:ext>
                  </a:extLst>
                </a:gridCol>
                <a:gridCol w="819150">
                  <a:extLst>
                    <a:ext uri="{9D8B030D-6E8A-4147-A177-3AD203B41FA5}">
                      <a16:colId xmlns:a16="http://schemas.microsoft.com/office/drawing/2014/main" val="20008"/>
                    </a:ext>
                  </a:extLst>
                </a:gridCol>
                <a:gridCol w="984250">
                  <a:extLst>
                    <a:ext uri="{9D8B030D-6E8A-4147-A177-3AD203B41FA5}">
                      <a16:colId xmlns:a16="http://schemas.microsoft.com/office/drawing/2014/main" val="20009"/>
                    </a:ext>
                  </a:extLst>
                </a:gridCol>
              </a:tblGrid>
              <a:tr h="76695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个体编号</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①d</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②d</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③d</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④d</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2241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0.56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8.73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19.05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14.25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984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1.67</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3.17</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5.17</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17.06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3.98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11.1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19.1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90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3</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0.56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1.59</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8.73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13.89</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17.25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1FF"/>
                    </a:solidFill>
                  </a:tcPr>
                </a:tc>
                <a:extLst>
                  <a:ext uri="{0D108BD9-81ED-4DB2-BD59-A6C34878D82A}">
                    <a16:rowId xmlns:a16="http://schemas.microsoft.com/office/drawing/2014/main" val="10003"/>
                  </a:ext>
                </a:extLst>
              </a:tr>
              <a:tr h="396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2.86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0.71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17.46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20.24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3.58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17.22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0488" name="Text Box 98"/>
          <p:cNvSpPr txBox="1">
            <a:spLocks noChangeArrowheads="1"/>
          </p:cNvSpPr>
          <p:nvPr/>
        </p:nvSpPr>
        <p:spPr bwMode="auto">
          <a:xfrm>
            <a:off x="6240464" y="6491288"/>
            <a:ext cx="43211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  0        5       10     15     20      25         y     </a:t>
            </a:r>
          </a:p>
        </p:txBody>
      </p:sp>
      <p:grpSp>
        <p:nvGrpSpPr>
          <p:cNvPr id="181389" name="Group 141"/>
          <p:cNvGrpSpPr>
            <a:grpSpLocks/>
          </p:cNvGrpSpPr>
          <p:nvPr/>
        </p:nvGrpSpPr>
        <p:grpSpPr bwMode="auto">
          <a:xfrm>
            <a:off x="1919288" y="3971925"/>
            <a:ext cx="8996363" cy="2814638"/>
            <a:chOff x="249" y="2502"/>
            <a:chExt cx="5667" cy="1773"/>
          </a:xfrm>
        </p:grpSpPr>
        <p:sp>
          <p:nvSpPr>
            <p:cNvPr id="60490" name="Line 83"/>
            <p:cNvSpPr>
              <a:spLocks noChangeShapeType="1"/>
            </p:cNvSpPr>
            <p:nvPr/>
          </p:nvSpPr>
          <p:spPr bwMode="auto">
            <a:xfrm flipV="1">
              <a:off x="521" y="2774"/>
              <a:ext cx="0" cy="127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1" name="Line 84"/>
            <p:cNvSpPr>
              <a:spLocks noChangeShapeType="1"/>
            </p:cNvSpPr>
            <p:nvPr/>
          </p:nvSpPr>
          <p:spPr bwMode="auto">
            <a:xfrm>
              <a:off x="521" y="4044"/>
              <a:ext cx="235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2" name="Line 85"/>
            <p:cNvSpPr>
              <a:spLocks noChangeShapeType="1"/>
            </p:cNvSpPr>
            <p:nvPr/>
          </p:nvSpPr>
          <p:spPr bwMode="auto">
            <a:xfrm flipV="1">
              <a:off x="3197" y="2728"/>
              <a:ext cx="0" cy="131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3" name="Line 86"/>
            <p:cNvSpPr>
              <a:spLocks noChangeShapeType="1"/>
            </p:cNvSpPr>
            <p:nvPr/>
          </p:nvSpPr>
          <p:spPr bwMode="auto">
            <a:xfrm>
              <a:off x="3197" y="4044"/>
              <a:ext cx="235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4" name="Line 87"/>
            <p:cNvSpPr>
              <a:spLocks noChangeShapeType="1"/>
            </p:cNvSpPr>
            <p:nvPr/>
          </p:nvSpPr>
          <p:spPr bwMode="auto">
            <a:xfrm flipV="1">
              <a:off x="884"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5" name="Line 88"/>
            <p:cNvSpPr>
              <a:spLocks noChangeShapeType="1"/>
            </p:cNvSpPr>
            <p:nvPr/>
          </p:nvSpPr>
          <p:spPr bwMode="auto">
            <a:xfrm flipV="1">
              <a:off x="1247"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6" name="Line 89"/>
            <p:cNvSpPr>
              <a:spLocks noChangeShapeType="1"/>
            </p:cNvSpPr>
            <p:nvPr/>
          </p:nvSpPr>
          <p:spPr bwMode="auto">
            <a:xfrm flipV="1">
              <a:off x="1610"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7" name="Line 90"/>
            <p:cNvSpPr>
              <a:spLocks noChangeShapeType="1"/>
            </p:cNvSpPr>
            <p:nvPr/>
          </p:nvSpPr>
          <p:spPr bwMode="auto">
            <a:xfrm flipV="1">
              <a:off x="1973"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8" name="Line 91"/>
            <p:cNvSpPr>
              <a:spLocks noChangeShapeType="1"/>
            </p:cNvSpPr>
            <p:nvPr/>
          </p:nvSpPr>
          <p:spPr bwMode="auto">
            <a:xfrm flipV="1">
              <a:off x="2381"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9" name="Line 92"/>
            <p:cNvSpPr>
              <a:spLocks noChangeShapeType="1"/>
            </p:cNvSpPr>
            <p:nvPr/>
          </p:nvSpPr>
          <p:spPr bwMode="auto">
            <a:xfrm flipV="1">
              <a:off x="3560"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00" name="Line 93"/>
            <p:cNvSpPr>
              <a:spLocks noChangeShapeType="1"/>
            </p:cNvSpPr>
            <p:nvPr/>
          </p:nvSpPr>
          <p:spPr bwMode="auto">
            <a:xfrm flipV="1">
              <a:off x="3923"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01" name="Line 94"/>
            <p:cNvSpPr>
              <a:spLocks noChangeShapeType="1"/>
            </p:cNvSpPr>
            <p:nvPr/>
          </p:nvSpPr>
          <p:spPr bwMode="auto">
            <a:xfrm flipV="1">
              <a:off x="4286"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02" name="Line 95"/>
            <p:cNvSpPr>
              <a:spLocks noChangeShapeType="1"/>
            </p:cNvSpPr>
            <p:nvPr/>
          </p:nvSpPr>
          <p:spPr bwMode="auto">
            <a:xfrm flipV="1">
              <a:off x="4649"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03" name="Line 96"/>
            <p:cNvSpPr>
              <a:spLocks noChangeShapeType="1"/>
            </p:cNvSpPr>
            <p:nvPr/>
          </p:nvSpPr>
          <p:spPr bwMode="auto">
            <a:xfrm flipV="1">
              <a:off x="5057" y="3953"/>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04" name="Text Box 97"/>
            <p:cNvSpPr txBox="1">
              <a:spLocks noChangeArrowheads="1"/>
            </p:cNvSpPr>
            <p:nvPr/>
          </p:nvSpPr>
          <p:spPr bwMode="auto">
            <a:xfrm>
              <a:off x="294" y="4044"/>
              <a:ext cx="27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  0         1       2      3        4        5         x     </a:t>
              </a:r>
            </a:p>
          </p:txBody>
        </p:sp>
        <p:sp>
          <p:nvSpPr>
            <p:cNvPr id="60505" name="Text Box 99"/>
            <p:cNvSpPr txBox="1">
              <a:spLocks noChangeArrowheads="1"/>
            </p:cNvSpPr>
            <p:nvPr/>
          </p:nvSpPr>
          <p:spPr bwMode="auto">
            <a:xfrm>
              <a:off x="249" y="2502"/>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zh-CN"/>
            </a:p>
          </p:txBody>
        </p:sp>
        <p:sp>
          <p:nvSpPr>
            <p:cNvPr id="60506" name="Rectangle 100"/>
            <p:cNvSpPr>
              <a:spLocks noChangeArrowheads="1"/>
            </p:cNvSpPr>
            <p:nvPr/>
          </p:nvSpPr>
          <p:spPr bwMode="auto">
            <a:xfrm>
              <a:off x="340" y="2502"/>
              <a:ext cx="287"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a:t>μ</a:t>
              </a:r>
              <a:r>
                <a:rPr lang="en-US" altLang="zh-CN"/>
                <a:t> </a:t>
              </a:r>
              <a:r>
                <a:rPr lang="en-US" altLang="zh-CN" baseline="-25000"/>
                <a:t>x</a:t>
              </a:r>
            </a:p>
            <a:p>
              <a:endParaRPr lang="en-US" altLang="zh-CN"/>
            </a:p>
            <a:p>
              <a:r>
                <a:rPr lang="en-US" altLang="zh-CN"/>
                <a:t>1</a:t>
              </a:r>
            </a:p>
          </p:txBody>
        </p:sp>
        <p:sp>
          <p:nvSpPr>
            <p:cNvPr id="60507" name="Rectangle 101"/>
            <p:cNvSpPr>
              <a:spLocks noChangeArrowheads="1"/>
            </p:cNvSpPr>
            <p:nvPr/>
          </p:nvSpPr>
          <p:spPr bwMode="auto">
            <a:xfrm>
              <a:off x="2971" y="2502"/>
              <a:ext cx="287"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a:t>μ</a:t>
              </a:r>
              <a:r>
                <a:rPr lang="en-US" altLang="zh-CN"/>
                <a:t> </a:t>
              </a:r>
              <a:r>
                <a:rPr lang="en-US" altLang="zh-CN" baseline="-25000"/>
                <a:t>y</a:t>
              </a:r>
            </a:p>
            <a:p>
              <a:endParaRPr lang="en-US" altLang="zh-CN"/>
            </a:p>
            <a:p>
              <a:r>
                <a:rPr lang="en-US" altLang="zh-CN"/>
                <a:t>1</a:t>
              </a:r>
            </a:p>
          </p:txBody>
        </p:sp>
        <p:sp>
          <p:nvSpPr>
            <p:cNvPr id="60508" name="Line 102"/>
            <p:cNvSpPr>
              <a:spLocks noChangeShapeType="1"/>
            </p:cNvSpPr>
            <p:nvPr/>
          </p:nvSpPr>
          <p:spPr bwMode="auto">
            <a:xfrm>
              <a:off x="521" y="3001"/>
              <a:ext cx="182" cy="104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09" name="Line 103"/>
            <p:cNvSpPr>
              <a:spLocks noChangeShapeType="1"/>
            </p:cNvSpPr>
            <p:nvPr/>
          </p:nvSpPr>
          <p:spPr bwMode="auto">
            <a:xfrm flipV="1">
              <a:off x="2381" y="3001"/>
              <a:ext cx="0" cy="104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10" name="Line 104"/>
            <p:cNvSpPr>
              <a:spLocks noChangeShapeType="1"/>
            </p:cNvSpPr>
            <p:nvPr/>
          </p:nvSpPr>
          <p:spPr bwMode="auto">
            <a:xfrm flipH="1">
              <a:off x="1701" y="3001"/>
              <a:ext cx="680" cy="1043"/>
            </a:xfrm>
            <a:prstGeom prst="line">
              <a:avLst/>
            </a:prstGeom>
            <a:noFill/>
            <a:ln w="38100">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11" name="Text Box 105"/>
            <p:cNvSpPr txBox="1">
              <a:spLocks noChangeArrowheads="1"/>
            </p:cNvSpPr>
            <p:nvPr/>
          </p:nvSpPr>
          <p:spPr bwMode="auto">
            <a:xfrm>
              <a:off x="657" y="3137"/>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60512" name="Text Box 106"/>
            <p:cNvSpPr txBox="1">
              <a:spLocks noChangeArrowheads="1"/>
            </p:cNvSpPr>
            <p:nvPr/>
          </p:nvSpPr>
          <p:spPr bwMode="auto">
            <a:xfrm>
              <a:off x="1837" y="3182"/>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L</a:t>
              </a:r>
            </a:p>
          </p:txBody>
        </p:sp>
        <p:sp>
          <p:nvSpPr>
            <p:cNvPr id="60513" name="Line 107"/>
            <p:cNvSpPr>
              <a:spLocks noChangeShapeType="1"/>
            </p:cNvSpPr>
            <p:nvPr/>
          </p:nvSpPr>
          <p:spPr bwMode="auto">
            <a:xfrm>
              <a:off x="3197" y="3001"/>
              <a:ext cx="635" cy="104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14" name="Line 108"/>
            <p:cNvSpPr>
              <a:spLocks noChangeShapeType="1"/>
            </p:cNvSpPr>
            <p:nvPr/>
          </p:nvSpPr>
          <p:spPr bwMode="auto">
            <a:xfrm flipV="1">
              <a:off x="5057" y="2955"/>
              <a:ext cx="0" cy="10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15" name="Line 109"/>
            <p:cNvSpPr>
              <a:spLocks noChangeShapeType="1"/>
            </p:cNvSpPr>
            <p:nvPr/>
          </p:nvSpPr>
          <p:spPr bwMode="auto">
            <a:xfrm flipH="1">
              <a:off x="3969" y="2955"/>
              <a:ext cx="1088" cy="1110"/>
            </a:xfrm>
            <a:prstGeom prst="line">
              <a:avLst/>
            </a:prstGeom>
            <a:noFill/>
            <a:ln w="28575">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16" name="Text Box 110"/>
            <p:cNvSpPr txBox="1">
              <a:spLocks noChangeArrowheads="1"/>
            </p:cNvSpPr>
            <p:nvPr/>
          </p:nvSpPr>
          <p:spPr bwMode="auto">
            <a:xfrm>
              <a:off x="3379" y="3001"/>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60517" name="Text Box 111"/>
            <p:cNvSpPr txBox="1">
              <a:spLocks noChangeArrowheads="1"/>
            </p:cNvSpPr>
            <p:nvPr/>
          </p:nvSpPr>
          <p:spPr bwMode="auto">
            <a:xfrm>
              <a:off x="4468" y="2955"/>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VL</a:t>
              </a:r>
            </a:p>
          </p:txBody>
        </p:sp>
        <p:sp>
          <p:nvSpPr>
            <p:cNvPr id="60518" name="Text Box 112"/>
            <p:cNvSpPr txBox="1">
              <a:spLocks noChangeArrowheads="1"/>
            </p:cNvSpPr>
            <p:nvPr/>
          </p:nvSpPr>
          <p:spPr bwMode="auto">
            <a:xfrm>
              <a:off x="567" y="4044"/>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0.56</a:t>
              </a:r>
            </a:p>
          </p:txBody>
        </p:sp>
        <p:sp>
          <p:nvSpPr>
            <p:cNvPr id="60519" name="Text Box 113"/>
            <p:cNvSpPr txBox="1">
              <a:spLocks noChangeArrowheads="1"/>
            </p:cNvSpPr>
            <p:nvPr/>
          </p:nvSpPr>
          <p:spPr bwMode="auto">
            <a:xfrm>
              <a:off x="1610" y="4089"/>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3.41</a:t>
              </a:r>
            </a:p>
          </p:txBody>
        </p:sp>
        <p:sp>
          <p:nvSpPr>
            <p:cNvPr id="60520" name="Text Box 114"/>
            <p:cNvSpPr txBox="1">
              <a:spLocks noChangeArrowheads="1"/>
            </p:cNvSpPr>
            <p:nvPr/>
          </p:nvSpPr>
          <p:spPr bwMode="auto">
            <a:xfrm>
              <a:off x="3651" y="4065"/>
              <a:ext cx="27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8.73</a:t>
              </a:r>
            </a:p>
          </p:txBody>
        </p:sp>
        <p:sp>
          <p:nvSpPr>
            <p:cNvPr id="60521" name="Text Box 115"/>
            <p:cNvSpPr txBox="1">
              <a:spLocks noChangeArrowheads="1"/>
            </p:cNvSpPr>
            <p:nvPr/>
          </p:nvSpPr>
          <p:spPr bwMode="auto">
            <a:xfrm>
              <a:off x="3969" y="4065"/>
              <a:ext cx="3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11.11</a:t>
              </a:r>
            </a:p>
          </p:txBody>
        </p:sp>
        <p:sp>
          <p:nvSpPr>
            <p:cNvPr id="60522" name="Line 116"/>
            <p:cNvSpPr>
              <a:spLocks noChangeShapeType="1"/>
            </p:cNvSpPr>
            <p:nvPr/>
          </p:nvSpPr>
          <p:spPr bwMode="auto">
            <a:xfrm flipV="1">
              <a:off x="1973" y="3590"/>
              <a:ext cx="0" cy="454"/>
            </a:xfrm>
            <a:prstGeom prst="line">
              <a:avLst/>
            </a:prstGeom>
            <a:noFill/>
            <a:ln w="28575">
              <a:solidFill>
                <a:srgbClr val="99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23" name="Line 117"/>
            <p:cNvSpPr>
              <a:spLocks noChangeShapeType="1"/>
            </p:cNvSpPr>
            <p:nvPr/>
          </p:nvSpPr>
          <p:spPr bwMode="auto">
            <a:xfrm flipH="1">
              <a:off x="521" y="3612"/>
              <a:ext cx="3901" cy="0"/>
            </a:xfrm>
            <a:prstGeom prst="line">
              <a:avLst/>
            </a:prstGeom>
            <a:noFill/>
            <a:ln w="28575">
              <a:solidFill>
                <a:srgbClr val="CC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24" name="Line 118"/>
            <p:cNvSpPr>
              <a:spLocks noChangeShapeType="1"/>
            </p:cNvSpPr>
            <p:nvPr/>
          </p:nvSpPr>
          <p:spPr bwMode="auto">
            <a:xfrm>
              <a:off x="4422" y="3612"/>
              <a:ext cx="0" cy="408"/>
            </a:xfrm>
            <a:prstGeom prst="line">
              <a:avLst/>
            </a:prstGeom>
            <a:noFill/>
            <a:ln w="28575">
              <a:solidFill>
                <a:srgbClr val="CC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25" name="Rectangle 119"/>
            <p:cNvSpPr>
              <a:spLocks noChangeArrowheads="1"/>
            </p:cNvSpPr>
            <p:nvPr/>
          </p:nvSpPr>
          <p:spPr bwMode="auto">
            <a:xfrm>
              <a:off x="3340" y="2568"/>
              <a:ext cx="2576" cy="252"/>
            </a:xfrm>
            <a:prstGeom prst="rect">
              <a:avLst/>
            </a:prstGeom>
            <a:solidFill>
              <a:srgbClr val="F7DBF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u="sng" dirty="0">
                  <a:ea typeface="楷体_GB2312" pitchFamily="49" charset="-122"/>
                </a:rPr>
                <a:t>小</a:t>
              </a:r>
              <a:r>
                <a:rPr lang="en-US" altLang="zh-CN" sz="2000" b="1" u="sng" dirty="0">
                  <a:ea typeface="楷体_GB2312" pitchFamily="49" charset="-122"/>
                </a:rPr>
                <a:t>x</a:t>
              </a:r>
              <a:r>
                <a:rPr lang="zh-CN" altLang="en-US" sz="2000" b="1" dirty="0">
                  <a:ea typeface="楷体_GB2312" pitchFamily="49" charset="-122"/>
                </a:rPr>
                <a:t>映射到</a:t>
              </a:r>
              <a:r>
                <a:rPr lang="zh-CN" altLang="en-US" sz="2000" b="1" u="sng" dirty="0">
                  <a:ea typeface="楷体_GB2312" pitchFamily="49" charset="-122"/>
                </a:rPr>
                <a:t>小</a:t>
              </a:r>
              <a:r>
                <a:rPr lang="en-US" altLang="zh-CN" sz="2000" b="1" u="sng" dirty="0">
                  <a:ea typeface="楷体_GB2312" pitchFamily="49" charset="-122"/>
                </a:rPr>
                <a:t>y</a:t>
              </a:r>
              <a:r>
                <a:rPr lang="zh-CN" altLang="en-US" sz="2000" b="1" dirty="0">
                  <a:ea typeface="楷体_GB2312" pitchFamily="49" charset="-122"/>
                </a:rPr>
                <a:t>，</a:t>
              </a:r>
              <a:r>
                <a:rPr lang="zh-CN" altLang="en-US" sz="2000" b="1" u="sng" dirty="0">
                  <a:ea typeface="楷体_GB2312" pitchFamily="49" charset="-122"/>
                </a:rPr>
                <a:t>大</a:t>
              </a:r>
              <a:r>
                <a:rPr lang="en-US" altLang="zh-CN" sz="2000" b="1" u="sng" dirty="0">
                  <a:ea typeface="楷体_GB2312" pitchFamily="49" charset="-122"/>
                </a:rPr>
                <a:t>x</a:t>
              </a:r>
              <a:r>
                <a:rPr lang="zh-CN" altLang="en-US" sz="2000" b="1" dirty="0">
                  <a:ea typeface="楷体_GB2312" pitchFamily="49" charset="-122"/>
                </a:rPr>
                <a:t>映射到</a:t>
              </a:r>
              <a:r>
                <a:rPr lang="zh-CN" altLang="en-US" sz="2000" b="1" u="sng" dirty="0">
                  <a:ea typeface="楷体_GB2312" pitchFamily="49" charset="-122"/>
                </a:rPr>
                <a:t>非常大</a:t>
              </a:r>
              <a:r>
                <a:rPr lang="en-US" altLang="zh-CN" sz="2000" b="1" u="sng" dirty="0">
                  <a:ea typeface="楷体_GB2312" pitchFamily="49" charset="-122"/>
                </a:rPr>
                <a:t>y</a:t>
              </a:r>
              <a:endParaRPr lang="en-US" altLang="zh-CN" sz="2000" b="1" dirty="0">
                <a:ea typeface="楷体_GB2312" pitchFamily="49" charset="-122"/>
              </a:endParaRPr>
            </a:p>
          </p:txBody>
        </p:sp>
        <p:sp>
          <p:nvSpPr>
            <p:cNvPr id="60526" name="Text Box 120"/>
            <p:cNvSpPr txBox="1">
              <a:spLocks noChangeArrowheads="1"/>
            </p:cNvSpPr>
            <p:nvPr/>
          </p:nvSpPr>
          <p:spPr bwMode="auto">
            <a:xfrm>
              <a:off x="4332" y="4065"/>
              <a:ext cx="3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b="1"/>
                <a:t>17.25</a:t>
              </a:r>
            </a:p>
          </p:txBody>
        </p:sp>
      </p:grpSp>
      <p:sp>
        <p:nvSpPr>
          <p:cNvPr id="2" name="灯片编号占位符 1">
            <a:extLst>
              <a:ext uri="{FF2B5EF4-FFF2-40B4-BE49-F238E27FC236}">
                <a16:creationId xmlns:a16="http://schemas.microsoft.com/office/drawing/2014/main" id="{15FEFED8-8BAE-BEC0-4A70-FB9A86C7411F}"/>
              </a:ext>
            </a:extLst>
          </p:cNvPr>
          <p:cNvSpPr>
            <a:spLocks noGrp="1"/>
          </p:cNvSpPr>
          <p:nvPr>
            <p:ph type="sldNum" sz="quarter" idx="11"/>
          </p:nvPr>
        </p:nvSpPr>
        <p:spPr/>
        <p:txBody>
          <a:bodyPr/>
          <a:lstStyle/>
          <a:p>
            <a:pPr>
              <a:defRPr/>
            </a:pPr>
            <a:fld id="{80D5EF37-78AF-4CB4-937F-E187B8314658}" type="slidenum">
              <a:rPr lang="en-US" altLang="zh-CN" smtClean="0"/>
              <a:pPr>
                <a:defRPr/>
              </a:pPr>
              <a:t>55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81389"/>
                                        </p:tgtEl>
                                        <p:attrNameLst>
                                          <p:attrName>style.visibility</p:attrName>
                                        </p:attrNameLst>
                                      </p:cBhvr>
                                      <p:to>
                                        <p:strVal val="visible"/>
                                      </p:to>
                                    </p:set>
                                    <p:animEffect transition="in" filter="wipe(up)">
                                      <p:cBhvr>
                                        <p:cTn id="7" dur="500"/>
                                        <p:tgtEl>
                                          <p:spTgt spid="181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ea typeface="黑体" pitchFamily="49" charset="-122"/>
              </a:rPr>
              <a:t>用遗传算法求隶属函数</a:t>
            </a:r>
          </a:p>
        </p:txBody>
      </p:sp>
      <p:graphicFrame>
        <p:nvGraphicFramePr>
          <p:cNvPr id="182275" name="Group 3"/>
          <p:cNvGraphicFramePr>
            <a:graphicFrameLocks noGrp="1"/>
          </p:cNvGraphicFramePr>
          <p:nvPr>
            <p:ph idx="1"/>
            <p:extLst>
              <p:ext uri="{D42A27DB-BD31-4B8C-83A1-F6EECF244321}">
                <p14:modId xmlns:p14="http://schemas.microsoft.com/office/powerpoint/2010/main" val="3600125931"/>
              </p:ext>
            </p:extLst>
          </p:nvPr>
        </p:nvGraphicFramePr>
        <p:xfrm>
          <a:off x="2208214" y="1412876"/>
          <a:ext cx="7604125" cy="2557463"/>
        </p:xfrm>
        <a:graphic>
          <a:graphicData uri="http://schemas.openxmlformats.org/drawingml/2006/table">
            <a:tbl>
              <a:tblPr/>
              <a:tblGrid>
                <a:gridCol w="623887">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65188">
                  <a:extLst>
                    <a:ext uri="{9D8B030D-6E8A-4147-A177-3AD203B41FA5}">
                      <a16:colId xmlns:a16="http://schemas.microsoft.com/office/drawing/2014/main" val="20003"/>
                    </a:ext>
                  </a:extLst>
                </a:gridCol>
                <a:gridCol w="935037">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gridCol w="1079500">
                  <a:extLst>
                    <a:ext uri="{9D8B030D-6E8A-4147-A177-3AD203B41FA5}">
                      <a16:colId xmlns:a16="http://schemas.microsoft.com/office/drawing/2014/main" val="20006"/>
                    </a:ext>
                  </a:extLst>
                </a:gridCol>
                <a:gridCol w="1627188">
                  <a:extLst>
                    <a:ext uri="{9D8B030D-6E8A-4147-A177-3AD203B41FA5}">
                      <a16:colId xmlns:a16="http://schemas.microsoft.com/office/drawing/2014/main" val="20007"/>
                    </a:ext>
                  </a:extLst>
                </a:gridCol>
              </a:tblGrid>
              <a:tr h="76695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个体编号</a:t>
                      </a:r>
                    </a:p>
                  </a:txBody>
                  <a:tcPr marT="45731" marB="457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a:ln>
                            <a:noFill/>
                          </a:ln>
                          <a:solidFill>
                            <a:schemeClr val="tx1"/>
                          </a:solidFill>
                          <a:effectLst/>
                          <a:latin typeface="Arial" charset="0"/>
                          <a:ea typeface="宋体" pitchFamily="2" charset="-122"/>
                        </a:rPr>
                        <a:t>均方差</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a:ln>
                            <a:noFill/>
                          </a:ln>
                          <a:solidFill>
                            <a:schemeClr val="tx1"/>
                          </a:solidFill>
                          <a:effectLst/>
                          <a:latin typeface="Arial" charset="0"/>
                          <a:ea typeface="宋体" pitchFamily="2" charset="-122"/>
                        </a:rPr>
                        <a:t>下一代个体的繁殖次数</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extLst>
                  <a:ext uri="{0D108BD9-81ED-4DB2-BD59-A6C34878D82A}">
                    <a16:rowId xmlns:a16="http://schemas.microsoft.com/office/drawing/2014/main" val="10000"/>
                  </a:ext>
                </a:extLst>
              </a:tr>
              <a:tr h="52241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14.25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0.83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984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3.98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11.1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19.1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2.04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90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rgbClr val="FF0000"/>
                          </a:solidFill>
                          <a:effectLst/>
                          <a:latin typeface="Arial" charset="0"/>
                          <a:ea typeface="宋体" pitchFamily="2" charset="-122"/>
                        </a:rPr>
                        <a:t>0.79</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2</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4</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3.58</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17.22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25</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2.87</a:t>
                      </a: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a:t>
                      </a: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1502" name="Line 113"/>
          <p:cNvSpPr>
            <a:spLocks noChangeShapeType="1"/>
          </p:cNvSpPr>
          <p:nvPr/>
        </p:nvSpPr>
        <p:spPr bwMode="auto">
          <a:xfrm flipV="1">
            <a:off x="2351088" y="4403726"/>
            <a:ext cx="0" cy="20161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3" name="Line 114"/>
          <p:cNvSpPr>
            <a:spLocks noChangeShapeType="1"/>
          </p:cNvSpPr>
          <p:nvPr/>
        </p:nvSpPr>
        <p:spPr bwMode="auto">
          <a:xfrm>
            <a:off x="2351088" y="6419850"/>
            <a:ext cx="374491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4" name="Line 115"/>
          <p:cNvSpPr>
            <a:spLocks noChangeShapeType="1"/>
          </p:cNvSpPr>
          <p:nvPr/>
        </p:nvSpPr>
        <p:spPr bwMode="auto">
          <a:xfrm flipV="1">
            <a:off x="6599238" y="4330700"/>
            <a:ext cx="0" cy="20891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5" name="Line 116"/>
          <p:cNvSpPr>
            <a:spLocks noChangeShapeType="1"/>
          </p:cNvSpPr>
          <p:nvPr/>
        </p:nvSpPr>
        <p:spPr bwMode="auto">
          <a:xfrm>
            <a:off x="6599238" y="6419850"/>
            <a:ext cx="374491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6" name="Line 117"/>
          <p:cNvSpPr>
            <a:spLocks noChangeShapeType="1"/>
          </p:cNvSpPr>
          <p:nvPr/>
        </p:nvSpPr>
        <p:spPr bwMode="auto">
          <a:xfrm flipV="1">
            <a:off x="2927350"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7" name="Line 118"/>
          <p:cNvSpPr>
            <a:spLocks noChangeShapeType="1"/>
          </p:cNvSpPr>
          <p:nvPr/>
        </p:nvSpPr>
        <p:spPr bwMode="auto">
          <a:xfrm flipV="1">
            <a:off x="3503613"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8" name="Line 119"/>
          <p:cNvSpPr>
            <a:spLocks noChangeShapeType="1"/>
          </p:cNvSpPr>
          <p:nvPr/>
        </p:nvSpPr>
        <p:spPr bwMode="auto">
          <a:xfrm flipV="1">
            <a:off x="4079875"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9" name="Line 120"/>
          <p:cNvSpPr>
            <a:spLocks noChangeShapeType="1"/>
          </p:cNvSpPr>
          <p:nvPr/>
        </p:nvSpPr>
        <p:spPr bwMode="auto">
          <a:xfrm flipV="1">
            <a:off x="4656138"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10" name="Line 121"/>
          <p:cNvSpPr>
            <a:spLocks noChangeShapeType="1"/>
          </p:cNvSpPr>
          <p:nvPr/>
        </p:nvSpPr>
        <p:spPr bwMode="auto">
          <a:xfrm flipV="1">
            <a:off x="5303838"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11" name="Line 122"/>
          <p:cNvSpPr>
            <a:spLocks noChangeShapeType="1"/>
          </p:cNvSpPr>
          <p:nvPr/>
        </p:nvSpPr>
        <p:spPr bwMode="auto">
          <a:xfrm flipV="1">
            <a:off x="7175500"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12" name="Line 123"/>
          <p:cNvSpPr>
            <a:spLocks noChangeShapeType="1"/>
          </p:cNvSpPr>
          <p:nvPr/>
        </p:nvSpPr>
        <p:spPr bwMode="auto">
          <a:xfrm flipV="1">
            <a:off x="7751763"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13" name="Line 124"/>
          <p:cNvSpPr>
            <a:spLocks noChangeShapeType="1"/>
          </p:cNvSpPr>
          <p:nvPr/>
        </p:nvSpPr>
        <p:spPr bwMode="auto">
          <a:xfrm flipV="1">
            <a:off x="8328025"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14" name="Line 125"/>
          <p:cNvSpPr>
            <a:spLocks noChangeShapeType="1"/>
          </p:cNvSpPr>
          <p:nvPr/>
        </p:nvSpPr>
        <p:spPr bwMode="auto">
          <a:xfrm flipV="1">
            <a:off x="8904288"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15" name="Line 126"/>
          <p:cNvSpPr>
            <a:spLocks noChangeShapeType="1"/>
          </p:cNvSpPr>
          <p:nvPr/>
        </p:nvSpPr>
        <p:spPr bwMode="auto">
          <a:xfrm flipV="1">
            <a:off x="9551988" y="627538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16" name="Text Box 127"/>
          <p:cNvSpPr txBox="1">
            <a:spLocks noChangeArrowheads="1"/>
          </p:cNvSpPr>
          <p:nvPr/>
        </p:nvSpPr>
        <p:spPr bwMode="auto">
          <a:xfrm>
            <a:off x="1990726" y="6419851"/>
            <a:ext cx="43211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  0         1       2      3        4        5         x     </a:t>
            </a:r>
          </a:p>
        </p:txBody>
      </p:sp>
      <p:sp>
        <p:nvSpPr>
          <p:cNvPr id="61517" name="Text Box 128"/>
          <p:cNvSpPr txBox="1">
            <a:spLocks noChangeArrowheads="1"/>
          </p:cNvSpPr>
          <p:nvPr/>
        </p:nvSpPr>
        <p:spPr bwMode="auto">
          <a:xfrm>
            <a:off x="1919289" y="397192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zh-CN"/>
          </a:p>
        </p:txBody>
      </p:sp>
      <p:sp>
        <p:nvSpPr>
          <p:cNvPr id="61518" name="Rectangle 129"/>
          <p:cNvSpPr>
            <a:spLocks noChangeArrowheads="1"/>
          </p:cNvSpPr>
          <p:nvPr/>
        </p:nvSpPr>
        <p:spPr bwMode="auto">
          <a:xfrm>
            <a:off x="2063751" y="3971925"/>
            <a:ext cx="45561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a:t>μ</a:t>
            </a:r>
            <a:r>
              <a:rPr lang="en-US" altLang="zh-CN"/>
              <a:t> </a:t>
            </a:r>
            <a:r>
              <a:rPr lang="en-US" altLang="zh-CN" baseline="-25000"/>
              <a:t>x</a:t>
            </a:r>
          </a:p>
          <a:p>
            <a:endParaRPr lang="en-US" altLang="zh-CN"/>
          </a:p>
          <a:p>
            <a:r>
              <a:rPr lang="en-US" altLang="zh-CN"/>
              <a:t>1</a:t>
            </a:r>
          </a:p>
        </p:txBody>
      </p:sp>
      <p:sp>
        <p:nvSpPr>
          <p:cNvPr id="61519" name="Rectangle 130"/>
          <p:cNvSpPr>
            <a:spLocks noChangeArrowheads="1"/>
          </p:cNvSpPr>
          <p:nvPr/>
        </p:nvSpPr>
        <p:spPr bwMode="auto">
          <a:xfrm>
            <a:off x="6240463" y="3971925"/>
            <a:ext cx="455612"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zh-CN"/>
              <a:t>μ</a:t>
            </a:r>
            <a:r>
              <a:rPr lang="en-US" altLang="zh-CN"/>
              <a:t> </a:t>
            </a:r>
            <a:r>
              <a:rPr lang="en-US" altLang="zh-CN" baseline="-25000"/>
              <a:t>y</a:t>
            </a:r>
          </a:p>
          <a:p>
            <a:endParaRPr lang="en-US" altLang="zh-CN"/>
          </a:p>
          <a:p>
            <a:r>
              <a:rPr lang="en-US" altLang="zh-CN"/>
              <a:t>1</a:t>
            </a:r>
          </a:p>
        </p:txBody>
      </p:sp>
      <p:sp>
        <p:nvSpPr>
          <p:cNvPr id="61520" name="Line 131"/>
          <p:cNvSpPr>
            <a:spLocks noChangeShapeType="1"/>
          </p:cNvSpPr>
          <p:nvPr/>
        </p:nvSpPr>
        <p:spPr bwMode="auto">
          <a:xfrm>
            <a:off x="2351089" y="4764088"/>
            <a:ext cx="288925" cy="165576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21" name="Line 132"/>
          <p:cNvSpPr>
            <a:spLocks noChangeShapeType="1"/>
          </p:cNvSpPr>
          <p:nvPr/>
        </p:nvSpPr>
        <p:spPr bwMode="auto">
          <a:xfrm flipV="1">
            <a:off x="5303838" y="4764088"/>
            <a:ext cx="0" cy="16557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22" name="Line 133"/>
          <p:cNvSpPr>
            <a:spLocks noChangeShapeType="1"/>
          </p:cNvSpPr>
          <p:nvPr/>
        </p:nvSpPr>
        <p:spPr bwMode="auto">
          <a:xfrm flipH="1">
            <a:off x="4224338" y="4764088"/>
            <a:ext cx="1079500" cy="1655762"/>
          </a:xfrm>
          <a:prstGeom prst="line">
            <a:avLst/>
          </a:prstGeom>
          <a:noFill/>
          <a:ln w="38100">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23" name="Text Box 134"/>
          <p:cNvSpPr txBox="1">
            <a:spLocks noChangeArrowheads="1"/>
          </p:cNvSpPr>
          <p:nvPr/>
        </p:nvSpPr>
        <p:spPr bwMode="auto">
          <a:xfrm>
            <a:off x="2566988" y="4979988"/>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61524" name="Text Box 135"/>
          <p:cNvSpPr txBox="1">
            <a:spLocks noChangeArrowheads="1"/>
          </p:cNvSpPr>
          <p:nvPr/>
        </p:nvSpPr>
        <p:spPr bwMode="auto">
          <a:xfrm>
            <a:off x="4440238" y="5051426"/>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L</a:t>
            </a:r>
          </a:p>
        </p:txBody>
      </p:sp>
      <p:sp>
        <p:nvSpPr>
          <p:cNvPr id="61525" name="Line 136"/>
          <p:cNvSpPr>
            <a:spLocks noChangeShapeType="1"/>
          </p:cNvSpPr>
          <p:nvPr/>
        </p:nvSpPr>
        <p:spPr bwMode="auto">
          <a:xfrm>
            <a:off x="6599238" y="4764088"/>
            <a:ext cx="1008062" cy="165576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26" name="Line 137"/>
          <p:cNvSpPr>
            <a:spLocks noChangeShapeType="1"/>
          </p:cNvSpPr>
          <p:nvPr/>
        </p:nvSpPr>
        <p:spPr bwMode="auto">
          <a:xfrm flipV="1">
            <a:off x="9551988" y="4691064"/>
            <a:ext cx="0" cy="172878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27" name="Line 138"/>
          <p:cNvSpPr>
            <a:spLocks noChangeShapeType="1"/>
          </p:cNvSpPr>
          <p:nvPr/>
        </p:nvSpPr>
        <p:spPr bwMode="auto">
          <a:xfrm flipH="1">
            <a:off x="7824788" y="4691064"/>
            <a:ext cx="1727200" cy="1762125"/>
          </a:xfrm>
          <a:prstGeom prst="line">
            <a:avLst/>
          </a:prstGeom>
          <a:noFill/>
          <a:ln w="28575">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28" name="Text Box 139"/>
          <p:cNvSpPr txBox="1">
            <a:spLocks noChangeArrowheads="1"/>
          </p:cNvSpPr>
          <p:nvPr/>
        </p:nvSpPr>
        <p:spPr bwMode="auto">
          <a:xfrm>
            <a:off x="6888163" y="4764088"/>
            <a:ext cx="360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S</a:t>
            </a:r>
          </a:p>
        </p:txBody>
      </p:sp>
      <p:sp>
        <p:nvSpPr>
          <p:cNvPr id="61529" name="Text Box 140"/>
          <p:cNvSpPr txBox="1">
            <a:spLocks noChangeArrowheads="1"/>
          </p:cNvSpPr>
          <p:nvPr/>
        </p:nvSpPr>
        <p:spPr bwMode="auto">
          <a:xfrm>
            <a:off x="8616950" y="4691063"/>
            <a:ext cx="5032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VL</a:t>
            </a:r>
          </a:p>
        </p:txBody>
      </p:sp>
      <p:sp>
        <p:nvSpPr>
          <p:cNvPr id="61530" name="Text Box 141"/>
          <p:cNvSpPr txBox="1">
            <a:spLocks noChangeArrowheads="1"/>
          </p:cNvSpPr>
          <p:nvPr/>
        </p:nvSpPr>
        <p:spPr bwMode="auto">
          <a:xfrm>
            <a:off x="2424113" y="6419851"/>
            <a:ext cx="4318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0.56</a:t>
            </a:r>
          </a:p>
        </p:txBody>
      </p:sp>
      <p:sp>
        <p:nvSpPr>
          <p:cNvPr id="61531" name="Text Box 142"/>
          <p:cNvSpPr txBox="1">
            <a:spLocks noChangeArrowheads="1"/>
          </p:cNvSpPr>
          <p:nvPr/>
        </p:nvSpPr>
        <p:spPr bwMode="auto">
          <a:xfrm>
            <a:off x="4079875" y="6491289"/>
            <a:ext cx="4318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3.41</a:t>
            </a:r>
          </a:p>
        </p:txBody>
      </p:sp>
      <p:sp>
        <p:nvSpPr>
          <p:cNvPr id="61532" name="Text Box 143"/>
          <p:cNvSpPr txBox="1">
            <a:spLocks noChangeArrowheads="1"/>
          </p:cNvSpPr>
          <p:nvPr/>
        </p:nvSpPr>
        <p:spPr bwMode="auto">
          <a:xfrm>
            <a:off x="7319963" y="6453189"/>
            <a:ext cx="4318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8.73</a:t>
            </a:r>
          </a:p>
        </p:txBody>
      </p:sp>
      <p:sp>
        <p:nvSpPr>
          <p:cNvPr id="61533" name="Text Box 144"/>
          <p:cNvSpPr txBox="1">
            <a:spLocks noChangeArrowheads="1"/>
          </p:cNvSpPr>
          <p:nvPr/>
        </p:nvSpPr>
        <p:spPr bwMode="auto">
          <a:xfrm>
            <a:off x="7824789" y="6453189"/>
            <a:ext cx="50323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a:t>11.11</a:t>
            </a:r>
          </a:p>
        </p:txBody>
      </p:sp>
      <p:sp>
        <p:nvSpPr>
          <p:cNvPr id="61534" name="Line 145"/>
          <p:cNvSpPr>
            <a:spLocks noChangeShapeType="1"/>
          </p:cNvSpPr>
          <p:nvPr/>
        </p:nvSpPr>
        <p:spPr bwMode="auto">
          <a:xfrm flipV="1">
            <a:off x="4656138" y="5699126"/>
            <a:ext cx="0" cy="720725"/>
          </a:xfrm>
          <a:prstGeom prst="line">
            <a:avLst/>
          </a:prstGeom>
          <a:noFill/>
          <a:ln w="28575">
            <a:solidFill>
              <a:srgbClr val="99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35" name="Line 146"/>
          <p:cNvSpPr>
            <a:spLocks noChangeShapeType="1"/>
          </p:cNvSpPr>
          <p:nvPr/>
        </p:nvSpPr>
        <p:spPr bwMode="auto">
          <a:xfrm flipH="1">
            <a:off x="2351089" y="5734050"/>
            <a:ext cx="6192837" cy="0"/>
          </a:xfrm>
          <a:prstGeom prst="line">
            <a:avLst/>
          </a:prstGeom>
          <a:noFill/>
          <a:ln w="28575">
            <a:solidFill>
              <a:srgbClr val="CC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36" name="Line 147"/>
          <p:cNvSpPr>
            <a:spLocks noChangeShapeType="1"/>
          </p:cNvSpPr>
          <p:nvPr/>
        </p:nvSpPr>
        <p:spPr bwMode="auto">
          <a:xfrm>
            <a:off x="8543925" y="5734050"/>
            <a:ext cx="0" cy="647700"/>
          </a:xfrm>
          <a:prstGeom prst="line">
            <a:avLst/>
          </a:prstGeom>
          <a:noFill/>
          <a:ln w="28575">
            <a:solidFill>
              <a:srgbClr val="CC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37" name="Rectangle 148"/>
          <p:cNvSpPr>
            <a:spLocks noChangeArrowheads="1"/>
          </p:cNvSpPr>
          <p:nvPr/>
        </p:nvSpPr>
        <p:spPr bwMode="auto">
          <a:xfrm>
            <a:off x="6826250" y="4062413"/>
            <a:ext cx="3518912" cy="400110"/>
          </a:xfrm>
          <a:prstGeom prst="rect">
            <a:avLst/>
          </a:prstGeom>
          <a:solidFill>
            <a:srgbClr val="F7DBF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ea typeface="楷体_GB2312" pitchFamily="49" charset="-122"/>
              </a:rPr>
              <a:t>第二代个体中最佳的物理映射</a:t>
            </a:r>
          </a:p>
        </p:txBody>
      </p:sp>
      <p:sp>
        <p:nvSpPr>
          <p:cNvPr id="61538" name="Text Box 149"/>
          <p:cNvSpPr txBox="1">
            <a:spLocks noChangeArrowheads="1"/>
          </p:cNvSpPr>
          <p:nvPr/>
        </p:nvSpPr>
        <p:spPr bwMode="auto">
          <a:xfrm>
            <a:off x="8401050" y="6453189"/>
            <a:ext cx="5032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000" b="1"/>
              <a:t>17.25</a:t>
            </a:r>
          </a:p>
        </p:txBody>
      </p:sp>
      <p:sp>
        <p:nvSpPr>
          <p:cNvPr id="2" name="灯片编号占位符 1">
            <a:extLst>
              <a:ext uri="{FF2B5EF4-FFF2-40B4-BE49-F238E27FC236}">
                <a16:creationId xmlns:a16="http://schemas.microsoft.com/office/drawing/2014/main" id="{4FD5B814-05C4-89DB-64A0-F183115706AF}"/>
              </a:ext>
            </a:extLst>
          </p:cNvPr>
          <p:cNvSpPr>
            <a:spLocks noGrp="1"/>
          </p:cNvSpPr>
          <p:nvPr>
            <p:ph type="sldNum" sz="quarter" idx="11"/>
          </p:nvPr>
        </p:nvSpPr>
        <p:spPr/>
        <p:txBody>
          <a:bodyPr/>
          <a:lstStyle/>
          <a:p>
            <a:pPr>
              <a:defRPr/>
            </a:pPr>
            <a:fld id="{80D5EF37-78AF-4CB4-937F-E187B8314658}" type="slidenum">
              <a:rPr lang="en-US" altLang="zh-CN" smtClean="0"/>
              <a:pPr>
                <a:defRPr/>
              </a:pPr>
              <a:t>56</a:t>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981200" y="332656"/>
            <a:ext cx="8229600" cy="1100138"/>
          </a:xfrm>
        </p:spPr>
        <p:txBody>
          <a:bodyPr/>
          <a:lstStyle/>
          <a:p>
            <a:pPr algn="ctr" eaLnBrk="1" hangingPunct="1"/>
            <a:r>
              <a:rPr lang="zh-CN" altLang="en-US" dirty="0">
                <a:solidFill>
                  <a:srgbClr val="008000"/>
                </a:solidFill>
                <a:ea typeface="黑体" pitchFamily="49" charset="-122"/>
              </a:rPr>
              <a:t>确定</a:t>
            </a:r>
            <a:r>
              <a:rPr lang="en-US" altLang="zh-CN" dirty="0">
                <a:solidFill>
                  <a:srgbClr val="008000"/>
                </a:solidFill>
                <a:ea typeface="黑体" pitchFamily="49" charset="-122"/>
              </a:rPr>
              <a:t>F</a:t>
            </a:r>
            <a:r>
              <a:rPr lang="zh-CN" altLang="en-US" dirty="0">
                <a:solidFill>
                  <a:srgbClr val="008000"/>
                </a:solidFill>
                <a:ea typeface="黑体" pitchFamily="49" charset="-122"/>
              </a:rPr>
              <a:t>集隶属函数要注意的方面</a:t>
            </a:r>
          </a:p>
        </p:txBody>
      </p:sp>
      <p:sp>
        <p:nvSpPr>
          <p:cNvPr id="195587" name="Rectangle 3"/>
          <p:cNvSpPr>
            <a:spLocks noGrp="1" noChangeArrowheads="1"/>
          </p:cNvSpPr>
          <p:nvPr>
            <p:ph type="body" sz="half" idx="1"/>
          </p:nvPr>
        </p:nvSpPr>
        <p:spPr>
          <a:xfrm>
            <a:off x="983432" y="1484314"/>
            <a:ext cx="10297144" cy="5113337"/>
          </a:xfrm>
        </p:spPr>
        <p:txBody>
          <a:bodyPr/>
          <a:lstStyle/>
          <a:p>
            <a:pPr eaLnBrk="1" hangingPunct="1"/>
            <a:r>
              <a:rPr lang="zh-CN" altLang="en-US" sz="2800" b="1" dirty="0">
                <a:ea typeface="楷体_GB2312" pitchFamily="49" charset="-122"/>
              </a:rPr>
              <a:t>确定</a:t>
            </a:r>
            <a:r>
              <a:rPr lang="en-US" altLang="zh-CN" sz="2800" b="1" dirty="0">
                <a:ea typeface="楷体_GB2312" pitchFamily="49" charset="-122"/>
              </a:rPr>
              <a:t>F</a:t>
            </a:r>
            <a:r>
              <a:rPr lang="zh-CN" altLang="en-US" sz="2800" b="1" dirty="0">
                <a:ea typeface="楷体_GB2312" pitchFamily="49" charset="-122"/>
              </a:rPr>
              <a:t>集隶属函数的方法的多样的，但这些方法所得到的隶属函数只是</a:t>
            </a:r>
            <a:r>
              <a:rPr lang="zh-CN" altLang="en-US" sz="2800" b="1" dirty="0">
                <a:solidFill>
                  <a:srgbClr val="CC00CC"/>
                </a:solidFill>
                <a:ea typeface="楷体_GB2312" pitchFamily="49" charset="-122"/>
              </a:rPr>
              <a:t>近似</a:t>
            </a:r>
            <a:r>
              <a:rPr lang="zh-CN" altLang="en-US" sz="2800" b="1" dirty="0">
                <a:ea typeface="楷体_GB2312" pitchFamily="49" charset="-122"/>
              </a:rPr>
              <a:t>的，因此，</a:t>
            </a:r>
            <a:r>
              <a:rPr lang="zh-CN" altLang="en-US" sz="2800" b="1" dirty="0">
                <a:solidFill>
                  <a:srgbClr val="FF0000"/>
                </a:solidFill>
                <a:ea typeface="楷体_GB2312" pitchFamily="49" charset="-122"/>
              </a:rPr>
              <a:t>需要在实践中为断地通过学习，加以修改，使之逐步完善。</a:t>
            </a:r>
          </a:p>
          <a:p>
            <a:pPr eaLnBrk="1" hangingPunct="1"/>
            <a:r>
              <a:rPr lang="zh-CN" altLang="en-US" sz="2800" b="1" dirty="0">
                <a:solidFill>
                  <a:srgbClr val="3333FF"/>
                </a:solidFill>
                <a:ea typeface="楷体_GB2312" pitchFamily="49" charset="-122"/>
              </a:rPr>
              <a:t>例：在论域</a:t>
            </a:r>
            <a:r>
              <a:rPr lang="en-US" altLang="zh-CN" sz="2800" b="1" dirty="0">
                <a:solidFill>
                  <a:srgbClr val="3333FF"/>
                </a:solidFill>
                <a:ea typeface="楷体_GB2312" pitchFamily="49" charset="-122"/>
              </a:rPr>
              <a:t>U={1,2,3,4,5,6,7,8,9}</a:t>
            </a:r>
            <a:r>
              <a:rPr lang="zh-CN" altLang="en-US" sz="2800" b="1" dirty="0">
                <a:solidFill>
                  <a:srgbClr val="3333FF"/>
                </a:solidFill>
                <a:ea typeface="楷体_GB2312" pitchFamily="49" charset="-122"/>
              </a:rPr>
              <a:t>上确定</a:t>
            </a:r>
            <a:r>
              <a:rPr lang="en-US" altLang="zh-CN" sz="2800" b="1" dirty="0">
                <a:solidFill>
                  <a:srgbClr val="FF0000"/>
                </a:solidFill>
                <a:ea typeface="楷体_GB2312" pitchFamily="49" charset="-122"/>
              </a:rPr>
              <a:t>A=“</a:t>
            </a:r>
            <a:r>
              <a:rPr lang="zh-CN" altLang="en-US" sz="2800" b="1" dirty="0">
                <a:solidFill>
                  <a:srgbClr val="FF0000"/>
                </a:solidFill>
                <a:ea typeface="楷体_GB2312" pitchFamily="49" charset="-122"/>
              </a:rPr>
              <a:t>靠近</a:t>
            </a:r>
            <a:r>
              <a:rPr lang="en-US" altLang="zh-CN" sz="2800" b="1" dirty="0">
                <a:solidFill>
                  <a:srgbClr val="FF0000"/>
                </a:solidFill>
                <a:ea typeface="楷体_GB2312" pitchFamily="49" charset="-122"/>
              </a:rPr>
              <a:t>5</a:t>
            </a:r>
            <a:r>
              <a:rPr lang="zh-CN" altLang="en-US" sz="2800" b="1" dirty="0">
                <a:solidFill>
                  <a:srgbClr val="FF0000"/>
                </a:solidFill>
                <a:ea typeface="楷体_GB2312" pitchFamily="49" charset="-122"/>
              </a:rPr>
              <a:t>的数”</a:t>
            </a:r>
            <a:r>
              <a:rPr lang="zh-CN" altLang="en-US" sz="2800" b="1" dirty="0">
                <a:solidFill>
                  <a:srgbClr val="3333FF"/>
                </a:solidFill>
                <a:ea typeface="楷体_GB2312" pitchFamily="49" charset="-122"/>
              </a:rPr>
              <a:t>的隶属函数</a:t>
            </a:r>
            <a:r>
              <a:rPr lang="zh-CN" altLang="en-US" sz="2800" b="1" dirty="0">
                <a:ea typeface="楷体_GB2312" pitchFamily="49" charset="-122"/>
              </a:rPr>
              <a:t>，</a:t>
            </a:r>
          </a:p>
          <a:p>
            <a:pPr eaLnBrk="1" hangingPunct="1"/>
            <a:r>
              <a:rPr lang="zh-CN" altLang="en-US" sz="2800" b="1" dirty="0">
                <a:solidFill>
                  <a:srgbClr val="CC00CC"/>
                </a:solidFill>
                <a:ea typeface="楷体_GB2312" pitchFamily="49" charset="-122"/>
              </a:rPr>
              <a:t>解：</a:t>
            </a:r>
            <a:r>
              <a:rPr lang="zh-CN" altLang="en-US" sz="2800" b="1" dirty="0">
                <a:ea typeface="楷体_GB2312" pitchFamily="49" charset="-122"/>
              </a:rPr>
              <a:t>用指派方法易知，选用中间型</a:t>
            </a:r>
          </a:p>
          <a:p>
            <a:pPr eaLnBrk="1" hangingPunct="1"/>
            <a:endParaRPr lang="zh-CN" altLang="en-US" sz="2400" b="1" dirty="0">
              <a:ea typeface="楷体_GB2312" pitchFamily="49" charset="-122"/>
            </a:endParaRPr>
          </a:p>
          <a:p>
            <a:pPr eaLnBrk="1" hangingPunct="1"/>
            <a:endParaRPr lang="zh-CN" altLang="en-US" dirty="0"/>
          </a:p>
          <a:p>
            <a:pPr eaLnBrk="1" hangingPunct="1"/>
            <a:endParaRPr lang="zh-CN" altLang="en-US" sz="2400" dirty="0"/>
          </a:p>
          <a:p>
            <a:pPr eaLnBrk="1" hangingPunct="1"/>
            <a:endParaRPr lang="zh-CN" altLang="en-US" sz="2400" dirty="0"/>
          </a:p>
          <a:p>
            <a:pPr eaLnBrk="1" hangingPunct="1"/>
            <a:r>
              <a:rPr lang="en-US" altLang="zh-CN" sz="2400" dirty="0"/>
              <a:t>A(4)=A(6)=0.5</a:t>
            </a:r>
            <a:r>
              <a:rPr lang="zh-CN" altLang="en-US" sz="2400" dirty="0"/>
              <a:t>，</a:t>
            </a:r>
            <a:r>
              <a:rPr lang="zh-CN" altLang="en-US" sz="2400" b="1" dirty="0">
                <a:ea typeface="楷体_GB2312" pitchFamily="49" charset="-122"/>
              </a:rPr>
              <a:t>不符合实际</a:t>
            </a:r>
          </a:p>
        </p:txBody>
      </p:sp>
      <p:graphicFrame>
        <p:nvGraphicFramePr>
          <p:cNvPr id="195588" name="Object 4"/>
          <p:cNvGraphicFramePr>
            <a:graphicFrameLocks noGrp="1" noChangeAspect="1"/>
          </p:cNvGraphicFramePr>
          <p:nvPr>
            <p:ph sz="quarter" idx="2"/>
            <p:extLst>
              <p:ext uri="{D42A27DB-BD31-4B8C-83A1-F6EECF244321}">
                <p14:modId xmlns:p14="http://schemas.microsoft.com/office/powerpoint/2010/main" val="4027921777"/>
              </p:ext>
            </p:extLst>
          </p:nvPr>
        </p:nvGraphicFramePr>
        <p:xfrm>
          <a:off x="3215680" y="4328976"/>
          <a:ext cx="2592387" cy="941387"/>
        </p:xfrm>
        <a:graphic>
          <a:graphicData uri="http://schemas.openxmlformats.org/presentationml/2006/ole">
            <mc:AlternateContent xmlns:mc="http://schemas.openxmlformats.org/markup-compatibility/2006">
              <mc:Choice xmlns:v="urn:schemas-microsoft-com:vml" Requires="v">
                <p:oleObj name="公式" r:id="rId2" imgW="1155700" imgH="419100" progId="Equation.3">
                  <p:embed/>
                </p:oleObj>
              </mc:Choice>
              <mc:Fallback>
                <p:oleObj name="公式" r:id="rId2" imgW="1155700" imgH="419100" progId="Equation.3">
                  <p:embed/>
                  <p:pic>
                    <p:nvPicPr>
                      <p:cNvPr id="195588"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5680" y="4328976"/>
                        <a:ext cx="2592387" cy="941387"/>
                      </a:xfrm>
                      <a:prstGeom prst="rect">
                        <a:avLst/>
                      </a:prstGeom>
                      <a:solidFill>
                        <a:srgbClr val="CCFF66"/>
                      </a:solidFill>
                    </p:spPr>
                  </p:pic>
                </p:oleObj>
              </mc:Fallback>
            </mc:AlternateContent>
          </a:graphicData>
        </a:graphic>
      </p:graphicFrame>
      <p:graphicFrame>
        <p:nvGraphicFramePr>
          <p:cNvPr id="195590" name="Object 6"/>
          <p:cNvGraphicFramePr>
            <a:graphicFrameLocks noGrp="1" noChangeAspect="1"/>
          </p:cNvGraphicFramePr>
          <p:nvPr>
            <p:ph sz="quarter" idx="3"/>
            <p:extLst>
              <p:ext uri="{D42A27DB-BD31-4B8C-83A1-F6EECF244321}">
                <p14:modId xmlns:p14="http://schemas.microsoft.com/office/powerpoint/2010/main" val="918848643"/>
              </p:ext>
            </p:extLst>
          </p:nvPr>
        </p:nvGraphicFramePr>
        <p:xfrm>
          <a:off x="2243423" y="5378134"/>
          <a:ext cx="7777162" cy="927100"/>
        </p:xfrm>
        <a:graphic>
          <a:graphicData uri="http://schemas.openxmlformats.org/presentationml/2006/ole">
            <mc:AlternateContent xmlns:mc="http://schemas.openxmlformats.org/markup-compatibility/2006">
              <mc:Choice xmlns:v="urn:schemas-microsoft-com:vml" Requires="v">
                <p:oleObj name="公式" r:id="rId4" imgW="3314700" imgH="393700" progId="Equation.3">
                  <p:embed/>
                </p:oleObj>
              </mc:Choice>
              <mc:Fallback>
                <p:oleObj name="公式" r:id="rId4" imgW="3314700" imgH="393700" progId="Equation.3">
                  <p:embed/>
                  <p:pic>
                    <p:nvPicPr>
                      <p:cNvPr id="195590" name="Object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3423" y="5378134"/>
                        <a:ext cx="7777162"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图片 4" descr="图表, 折线图&#10;&#10;描述已自动生成">
            <a:extLst>
              <a:ext uri="{FF2B5EF4-FFF2-40B4-BE49-F238E27FC236}">
                <a16:creationId xmlns:a16="http://schemas.microsoft.com/office/drawing/2014/main" id="{FB9F11AB-D691-1969-2885-36BE2DD6177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7846"/>
          <a:stretch/>
        </p:blipFill>
        <p:spPr>
          <a:xfrm>
            <a:off x="9288388" y="3490723"/>
            <a:ext cx="1992188" cy="1835891"/>
          </a:xfrm>
          <a:prstGeom prst="rect">
            <a:avLst/>
          </a:prstGeom>
          <a:effectLst>
            <a:glow rad="127000">
              <a:srgbClr val="CCFF66"/>
            </a:glow>
          </a:effectLst>
        </p:spPr>
      </p:pic>
      <p:sp>
        <p:nvSpPr>
          <p:cNvPr id="2" name="灯片编号占位符 1">
            <a:extLst>
              <a:ext uri="{FF2B5EF4-FFF2-40B4-BE49-F238E27FC236}">
                <a16:creationId xmlns:a16="http://schemas.microsoft.com/office/drawing/2014/main" id="{F577D4F3-ACCF-2637-9F5F-675ADD77DCED}"/>
              </a:ext>
            </a:extLst>
          </p:cNvPr>
          <p:cNvSpPr>
            <a:spLocks noGrp="1"/>
          </p:cNvSpPr>
          <p:nvPr>
            <p:ph type="sldNum" sz="quarter" idx="11"/>
          </p:nvPr>
        </p:nvSpPr>
        <p:spPr/>
        <p:txBody>
          <a:bodyPr/>
          <a:lstStyle/>
          <a:p>
            <a:pPr>
              <a:defRPr/>
            </a:pPr>
            <a:fld id="{6E623E09-9292-430A-945A-636A50DBB6F1}" type="slidenum">
              <a:rPr lang="en-US" altLang="zh-CN" smtClean="0"/>
              <a:pPr>
                <a:defRPr/>
              </a:pPr>
              <a:t>57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Effect transition="in" filter="wipe(left)">
                                      <p:cBhvr>
                                        <p:cTn id="7" dur="500"/>
                                        <p:tgtEl>
                                          <p:spTgt spid="195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5587">
                                            <p:txEl>
                                              <p:pRg st="1" end="1"/>
                                            </p:txEl>
                                          </p:spTgt>
                                        </p:tgtEl>
                                        <p:attrNameLst>
                                          <p:attrName>style.visibility</p:attrName>
                                        </p:attrNameLst>
                                      </p:cBhvr>
                                      <p:to>
                                        <p:strVal val="visible"/>
                                      </p:to>
                                    </p:set>
                                    <p:animEffect transition="in" filter="wipe(left)">
                                      <p:cBhvr>
                                        <p:cTn id="12" dur="500"/>
                                        <p:tgtEl>
                                          <p:spTgt spid="1955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5587">
                                            <p:txEl>
                                              <p:pRg st="2" end="2"/>
                                            </p:txEl>
                                          </p:spTgt>
                                        </p:tgtEl>
                                        <p:attrNameLst>
                                          <p:attrName>style.visibility</p:attrName>
                                        </p:attrNameLst>
                                      </p:cBhvr>
                                      <p:to>
                                        <p:strVal val="visible"/>
                                      </p:to>
                                    </p:set>
                                    <p:animEffect transition="in" filter="wipe(left)">
                                      <p:cBhvr>
                                        <p:cTn id="17" dur="500"/>
                                        <p:tgtEl>
                                          <p:spTgt spid="1955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5588"/>
                                        </p:tgtEl>
                                        <p:attrNameLst>
                                          <p:attrName>style.visibility</p:attrName>
                                        </p:attrNameLst>
                                      </p:cBhvr>
                                      <p:to>
                                        <p:strVal val="visible"/>
                                      </p:to>
                                    </p:set>
                                    <p:animEffect transition="in" filter="wipe(left)">
                                      <p:cBhvr>
                                        <p:cTn id="22" dur="500"/>
                                        <p:tgtEl>
                                          <p:spTgt spid="1955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95590"/>
                                        </p:tgtEl>
                                        <p:attrNameLst>
                                          <p:attrName>style.visibility</p:attrName>
                                        </p:attrNameLst>
                                      </p:cBhvr>
                                      <p:to>
                                        <p:strVal val="visible"/>
                                      </p:to>
                                    </p:set>
                                    <p:animEffect transition="in" filter="wipe(left)">
                                      <p:cBhvr>
                                        <p:cTn id="33" dur="500"/>
                                        <p:tgtEl>
                                          <p:spTgt spid="19559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95587">
                                            <p:txEl>
                                              <p:pRg st="7" end="7"/>
                                            </p:txEl>
                                          </p:spTgt>
                                        </p:tgtEl>
                                        <p:attrNameLst>
                                          <p:attrName>style.visibility</p:attrName>
                                        </p:attrNameLst>
                                      </p:cBhvr>
                                      <p:to>
                                        <p:strVal val="visible"/>
                                      </p:to>
                                    </p:set>
                                    <p:animEffect transition="in" filter="wipe(left)">
                                      <p:cBhvr>
                                        <p:cTn id="38" dur="500"/>
                                        <p:tgtEl>
                                          <p:spTgt spid="1955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981200" y="364554"/>
            <a:ext cx="8229600" cy="1100138"/>
          </a:xfrm>
        </p:spPr>
        <p:txBody>
          <a:bodyPr/>
          <a:lstStyle/>
          <a:p>
            <a:pPr algn="ctr" eaLnBrk="1" hangingPunct="1"/>
            <a:r>
              <a:rPr lang="zh-CN" altLang="en-US" dirty="0">
                <a:solidFill>
                  <a:srgbClr val="008000"/>
                </a:solidFill>
                <a:ea typeface="黑体" pitchFamily="49" charset="-122"/>
              </a:rPr>
              <a:t>确定</a:t>
            </a:r>
            <a:r>
              <a:rPr lang="en-US" altLang="zh-CN" dirty="0">
                <a:solidFill>
                  <a:srgbClr val="008000"/>
                </a:solidFill>
                <a:ea typeface="黑体" pitchFamily="49" charset="-122"/>
              </a:rPr>
              <a:t>F</a:t>
            </a:r>
            <a:r>
              <a:rPr lang="zh-CN" altLang="en-US" dirty="0">
                <a:solidFill>
                  <a:srgbClr val="008000"/>
                </a:solidFill>
                <a:ea typeface="黑体" pitchFamily="49" charset="-122"/>
              </a:rPr>
              <a:t>集隶属函数要注意的方面</a:t>
            </a:r>
          </a:p>
        </p:txBody>
      </p:sp>
      <p:sp>
        <p:nvSpPr>
          <p:cNvPr id="198659" name="Rectangle 3"/>
          <p:cNvSpPr>
            <a:spLocks noGrp="1" noChangeArrowheads="1"/>
          </p:cNvSpPr>
          <p:nvPr>
            <p:ph type="body" sz="half" idx="1"/>
          </p:nvPr>
        </p:nvSpPr>
        <p:spPr>
          <a:xfrm>
            <a:off x="983432" y="1484314"/>
            <a:ext cx="10441160" cy="5113337"/>
          </a:xfrm>
        </p:spPr>
        <p:txBody>
          <a:bodyPr/>
          <a:lstStyle/>
          <a:p>
            <a:pPr eaLnBrk="1" hangingPunct="1">
              <a:lnSpc>
                <a:spcPct val="130000"/>
              </a:lnSpc>
            </a:pPr>
            <a:r>
              <a:rPr lang="zh-CN" altLang="en-US" sz="2800" b="1" dirty="0">
                <a:solidFill>
                  <a:srgbClr val="3333FF"/>
                </a:solidFill>
                <a:ea typeface="楷体_GB2312" pitchFamily="49" charset="-122"/>
              </a:rPr>
              <a:t>例：在论域</a:t>
            </a:r>
            <a:r>
              <a:rPr lang="en-US" altLang="zh-CN" sz="2800" b="1" dirty="0">
                <a:solidFill>
                  <a:srgbClr val="3333FF"/>
                </a:solidFill>
                <a:ea typeface="楷体_GB2312" pitchFamily="49" charset="-122"/>
              </a:rPr>
              <a:t>U={1,2,3,4,5,6,7,8,9}</a:t>
            </a:r>
            <a:r>
              <a:rPr lang="zh-CN" altLang="en-US" sz="2800" b="1" dirty="0">
                <a:solidFill>
                  <a:srgbClr val="3333FF"/>
                </a:solidFill>
                <a:ea typeface="楷体_GB2312" pitchFamily="49" charset="-122"/>
              </a:rPr>
              <a:t>上确定</a:t>
            </a:r>
            <a:r>
              <a:rPr lang="en-US" altLang="zh-CN" sz="2800" b="1" dirty="0">
                <a:solidFill>
                  <a:srgbClr val="FF0000"/>
                </a:solidFill>
                <a:ea typeface="楷体_GB2312" pitchFamily="49" charset="-122"/>
              </a:rPr>
              <a:t>A=“</a:t>
            </a:r>
            <a:r>
              <a:rPr lang="zh-CN" altLang="en-US" sz="2800" b="1" dirty="0">
                <a:solidFill>
                  <a:srgbClr val="FF0000"/>
                </a:solidFill>
                <a:ea typeface="楷体_GB2312" pitchFamily="49" charset="-122"/>
              </a:rPr>
              <a:t>靠近</a:t>
            </a:r>
            <a:r>
              <a:rPr lang="en-US" altLang="zh-CN" sz="2800" b="1" dirty="0">
                <a:solidFill>
                  <a:srgbClr val="FF0000"/>
                </a:solidFill>
                <a:ea typeface="楷体_GB2312" pitchFamily="49" charset="-122"/>
              </a:rPr>
              <a:t>5</a:t>
            </a:r>
            <a:r>
              <a:rPr lang="zh-CN" altLang="en-US" sz="2800" b="1" dirty="0">
                <a:solidFill>
                  <a:srgbClr val="FF0000"/>
                </a:solidFill>
                <a:ea typeface="楷体_GB2312" pitchFamily="49" charset="-122"/>
              </a:rPr>
              <a:t>的数”</a:t>
            </a:r>
            <a:r>
              <a:rPr lang="zh-CN" altLang="en-US" sz="2800" b="1" dirty="0">
                <a:solidFill>
                  <a:srgbClr val="3333FF"/>
                </a:solidFill>
                <a:ea typeface="楷体_GB2312" pitchFamily="49" charset="-122"/>
              </a:rPr>
              <a:t>的隶属函数</a:t>
            </a:r>
            <a:r>
              <a:rPr lang="zh-CN" altLang="en-US" sz="2800" b="1" dirty="0">
                <a:ea typeface="楷体_GB2312" pitchFamily="49" charset="-122"/>
              </a:rPr>
              <a:t>，</a:t>
            </a:r>
          </a:p>
          <a:p>
            <a:pPr eaLnBrk="1" hangingPunct="1">
              <a:lnSpc>
                <a:spcPct val="130000"/>
              </a:lnSpc>
            </a:pPr>
            <a:r>
              <a:rPr lang="zh-CN" altLang="en-US" sz="2800" b="1" dirty="0">
                <a:solidFill>
                  <a:srgbClr val="CC00CC"/>
                </a:solidFill>
                <a:ea typeface="楷体_GB2312" pitchFamily="49" charset="-122"/>
              </a:rPr>
              <a:t>解：</a:t>
            </a:r>
            <a:r>
              <a:rPr lang="zh-CN" altLang="en-US" sz="2800" b="1" dirty="0">
                <a:ea typeface="楷体_GB2312" pitchFamily="49" charset="-122"/>
              </a:rPr>
              <a:t>若将隶属函数修改为</a:t>
            </a:r>
          </a:p>
          <a:p>
            <a:pPr eaLnBrk="1" hangingPunct="1">
              <a:lnSpc>
                <a:spcPct val="130000"/>
              </a:lnSpc>
            </a:pPr>
            <a:endParaRPr lang="zh-CN" altLang="en-US" sz="2800" b="1" dirty="0">
              <a:ea typeface="楷体_GB2312" pitchFamily="49" charset="-122"/>
            </a:endParaRPr>
          </a:p>
          <a:p>
            <a:pPr eaLnBrk="1" hangingPunct="1">
              <a:lnSpc>
                <a:spcPct val="130000"/>
              </a:lnSpc>
            </a:pPr>
            <a:endParaRPr lang="zh-CN" altLang="en-US" sz="2800" dirty="0"/>
          </a:p>
          <a:p>
            <a:pPr eaLnBrk="1" hangingPunct="1">
              <a:lnSpc>
                <a:spcPct val="130000"/>
              </a:lnSpc>
            </a:pPr>
            <a:endParaRPr lang="zh-CN" altLang="en-US" sz="2800" dirty="0"/>
          </a:p>
          <a:p>
            <a:pPr eaLnBrk="1" hangingPunct="1">
              <a:lnSpc>
                <a:spcPct val="130000"/>
              </a:lnSpc>
            </a:pPr>
            <a:endParaRPr lang="en-US" altLang="zh-CN" sz="2800" b="1" dirty="0">
              <a:ea typeface="楷体_GB2312" pitchFamily="49" charset="-122"/>
            </a:endParaRPr>
          </a:p>
          <a:p>
            <a:pPr eaLnBrk="1" hangingPunct="1">
              <a:lnSpc>
                <a:spcPct val="130000"/>
              </a:lnSpc>
            </a:pPr>
            <a:r>
              <a:rPr lang="zh-CN" altLang="en-US" sz="2800" b="1" dirty="0">
                <a:ea typeface="楷体_GB2312" pitchFamily="49" charset="-122"/>
              </a:rPr>
              <a:t>这表明修改后的隶属函数有所改善</a:t>
            </a:r>
          </a:p>
        </p:txBody>
      </p:sp>
      <p:graphicFrame>
        <p:nvGraphicFramePr>
          <p:cNvPr id="198660" name="Object 4"/>
          <p:cNvGraphicFramePr>
            <a:graphicFrameLocks noGrp="1" noChangeAspect="1"/>
          </p:cNvGraphicFramePr>
          <p:nvPr>
            <p:ph sz="quarter" idx="2"/>
            <p:extLst>
              <p:ext uri="{D42A27DB-BD31-4B8C-83A1-F6EECF244321}">
                <p14:modId xmlns:p14="http://schemas.microsoft.com/office/powerpoint/2010/main" val="4044094870"/>
              </p:ext>
            </p:extLst>
          </p:nvPr>
        </p:nvGraphicFramePr>
        <p:xfrm>
          <a:off x="6672264" y="3388470"/>
          <a:ext cx="2879725" cy="1336675"/>
        </p:xfrm>
        <a:graphic>
          <a:graphicData uri="http://schemas.openxmlformats.org/presentationml/2006/ole">
            <mc:AlternateContent xmlns:mc="http://schemas.openxmlformats.org/markup-compatibility/2006">
              <mc:Choice xmlns:v="urn:schemas-microsoft-com:vml" Requires="v">
                <p:oleObj name="公式" r:id="rId2" imgW="1256755" imgH="583947" progId="Equation.3">
                  <p:embed/>
                </p:oleObj>
              </mc:Choice>
              <mc:Fallback>
                <p:oleObj name="公式" r:id="rId2" imgW="1256755" imgH="583947" progId="Equation.3">
                  <p:embed/>
                  <p:pic>
                    <p:nvPicPr>
                      <p:cNvPr id="19866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264" y="3388470"/>
                        <a:ext cx="2879725" cy="1336675"/>
                      </a:xfrm>
                      <a:prstGeom prst="rect">
                        <a:avLst/>
                      </a:prstGeom>
                      <a:solidFill>
                        <a:srgbClr val="FFE1FF"/>
                      </a:solidFill>
                    </p:spPr>
                  </p:pic>
                </p:oleObj>
              </mc:Fallback>
            </mc:AlternateContent>
          </a:graphicData>
        </a:graphic>
      </p:graphicFrame>
      <p:graphicFrame>
        <p:nvGraphicFramePr>
          <p:cNvPr id="198661" name="Object 5"/>
          <p:cNvGraphicFramePr>
            <a:graphicFrameLocks noGrp="1" noChangeAspect="1"/>
          </p:cNvGraphicFramePr>
          <p:nvPr>
            <p:ph sz="quarter" idx="3"/>
          </p:nvPr>
        </p:nvGraphicFramePr>
        <p:xfrm>
          <a:off x="2063750" y="4787901"/>
          <a:ext cx="8388350" cy="873125"/>
        </p:xfrm>
        <a:graphic>
          <a:graphicData uri="http://schemas.openxmlformats.org/presentationml/2006/ole">
            <mc:AlternateContent xmlns:mc="http://schemas.openxmlformats.org/markup-compatibility/2006">
              <mc:Choice xmlns:v="urn:schemas-microsoft-com:vml" Requires="v">
                <p:oleObj name="公式" r:id="rId4" imgW="3784600" imgH="393700" progId="Equation.3">
                  <p:embed/>
                </p:oleObj>
              </mc:Choice>
              <mc:Fallback>
                <p:oleObj name="公式" r:id="rId4" imgW="3784600" imgH="393700" progId="Equation.3">
                  <p:embed/>
                  <p:pic>
                    <p:nvPicPr>
                      <p:cNvPr id="198661" name="Object 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750" y="4787901"/>
                        <a:ext cx="8388350"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8662" name="Object 6"/>
          <p:cNvGraphicFramePr>
            <a:graphicFrameLocks noChangeAspect="1"/>
          </p:cNvGraphicFramePr>
          <p:nvPr>
            <p:extLst>
              <p:ext uri="{D42A27DB-BD31-4B8C-83A1-F6EECF244321}">
                <p14:modId xmlns:p14="http://schemas.microsoft.com/office/powerpoint/2010/main" val="2998109651"/>
              </p:ext>
            </p:extLst>
          </p:nvPr>
        </p:nvGraphicFramePr>
        <p:xfrm>
          <a:off x="2782783" y="3470275"/>
          <a:ext cx="2592387" cy="941388"/>
        </p:xfrm>
        <a:graphic>
          <a:graphicData uri="http://schemas.openxmlformats.org/presentationml/2006/ole">
            <mc:AlternateContent xmlns:mc="http://schemas.openxmlformats.org/markup-compatibility/2006">
              <mc:Choice xmlns:v="urn:schemas-microsoft-com:vml" Requires="v">
                <p:oleObj name="公式" r:id="rId6" imgW="1155700" imgH="419100" progId="Equation.3">
                  <p:embed/>
                </p:oleObj>
              </mc:Choice>
              <mc:Fallback>
                <p:oleObj name="公式" r:id="rId6" imgW="1155700" imgH="419100" progId="Equation.3">
                  <p:embed/>
                  <p:pic>
                    <p:nvPicPr>
                      <p:cNvPr id="19866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82783" y="3470275"/>
                        <a:ext cx="2592387" cy="941388"/>
                      </a:xfrm>
                      <a:prstGeom prst="rect">
                        <a:avLst/>
                      </a:prstGeom>
                      <a:solidFill>
                        <a:srgbClr val="CCFF66"/>
                      </a:solidFill>
                    </p:spPr>
                  </p:pic>
                </p:oleObj>
              </mc:Fallback>
            </mc:AlternateContent>
          </a:graphicData>
        </a:graphic>
      </p:graphicFrame>
      <p:sp>
        <p:nvSpPr>
          <p:cNvPr id="198663" name="AutoShape 7"/>
          <p:cNvSpPr>
            <a:spLocks noChangeArrowheads="1"/>
          </p:cNvSpPr>
          <p:nvPr/>
        </p:nvSpPr>
        <p:spPr bwMode="auto">
          <a:xfrm>
            <a:off x="5591176" y="3603625"/>
            <a:ext cx="792163" cy="431800"/>
          </a:xfrm>
          <a:custGeom>
            <a:avLst/>
            <a:gdLst>
              <a:gd name="T0" fmla="*/ 21788957 w 21600"/>
              <a:gd name="T1" fmla="*/ 0 h 21600"/>
              <a:gd name="T2" fmla="*/ 0 w 21600"/>
              <a:gd name="T3" fmla="*/ 4316001 h 21600"/>
              <a:gd name="T4" fmla="*/ 21788957 w 21600"/>
              <a:gd name="T5" fmla="*/ 8632002 h 21600"/>
              <a:gd name="T6" fmla="*/ 29051955 w 21600"/>
              <a:gd name="T7" fmla="*/ 4316001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 name="图片 4" descr="图表, 折线图&#10;&#10;描述已自动生成">
            <a:extLst>
              <a:ext uri="{FF2B5EF4-FFF2-40B4-BE49-F238E27FC236}">
                <a16:creationId xmlns:a16="http://schemas.microsoft.com/office/drawing/2014/main" id="{8C4B3FCC-17F0-B3BB-CACD-18B2C170861F}"/>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b="8484"/>
          <a:stretch/>
        </p:blipFill>
        <p:spPr>
          <a:xfrm>
            <a:off x="9861176" y="2797502"/>
            <a:ext cx="2051386" cy="1877360"/>
          </a:xfrm>
          <a:prstGeom prst="rect">
            <a:avLst/>
          </a:prstGeom>
          <a:effectLst>
            <a:glow rad="127000">
              <a:srgbClr val="FFE1FF"/>
            </a:glow>
          </a:effectLst>
        </p:spPr>
      </p:pic>
      <p:sp>
        <p:nvSpPr>
          <p:cNvPr id="2" name="灯片编号占位符 1">
            <a:extLst>
              <a:ext uri="{FF2B5EF4-FFF2-40B4-BE49-F238E27FC236}">
                <a16:creationId xmlns:a16="http://schemas.microsoft.com/office/drawing/2014/main" id="{BD213BBB-8717-8111-6736-D727A78F16BF}"/>
              </a:ext>
            </a:extLst>
          </p:cNvPr>
          <p:cNvSpPr>
            <a:spLocks noGrp="1"/>
          </p:cNvSpPr>
          <p:nvPr>
            <p:ph type="sldNum" sz="quarter" idx="11"/>
          </p:nvPr>
        </p:nvSpPr>
        <p:spPr/>
        <p:txBody>
          <a:bodyPr/>
          <a:lstStyle/>
          <a:p>
            <a:pPr>
              <a:defRPr/>
            </a:pPr>
            <a:fld id="{6E623E09-9292-430A-945A-636A50DBB6F1}" type="slidenum">
              <a:rPr lang="en-US" altLang="zh-CN" smtClean="0"/>
              <a:pPr>
                <a:defRPr/>
              </a:pPr>
              <a:t>58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8659">
                                            <p:txEl>
                                              <p:pRg st="1" end="1"/>
                                            </p:txEl>
                                          </p:spTgt>
                                        </p:tgtEl>
                                        <p:attrNameLst>
                                          <p:attrName>style.visibility</p:attrName>
                                        </p:attrNameLst>
                                      </p:cBhvr>
                                      <p:to>
                                        <p:strVal val="visible"/>
                                      </p:to>
                                    </p:set>
                                    <p:animEffect transition="in" filter="wipe(left)">
                                      <p:cBhvr>
                                        <p:cTn id="7" dur="500"/>
                                        <p:tgtEl>
                                          <p:spTgt spid="1986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8662"/>
                                        </p:tgtEl>
                                        <p:attrNameLst>
                                          <p:attrName>style.visibility</p:attrName>
                                        </p:attrNameLst>
                                      </p:cBhvr>
                                      <p:to>
                                        <p:strVal val="visible"/>
                                      </p:to>
                                    </p:set>
                                    <p:animEffect transition="in" filter="wipe(left)">
                                      <p:cBhvr>
                                        <p:cTn id="12" dur="500"/>
                                        <p:tgtEl>
                                          <p:spTgt spid="1986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8663"/>
                                        </p:tgtEl>
                                        <p:attrNameLst>
                                          <p:attrName>style.visibility</p:attrName>
                                        </p:attrNameLst>
                                      </p:cBhvr>
                                      <p:to>
                                        <p:strVal val="visible"/>
                                      </p:to>
                                    </p:set>
                                    <p:animEffect transition="in" filter="wipe(left)">
                                      <p:cBhvr>
                                        <p:cTn id="17" dur="500"/>
                                        <p:tgtEl>
                                          <p:spTgt spid="1986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8660"/>
                                        </p:tgtEl>
                                        <p:attrNameLst>
                                          <p:attrName>style.visibility</p:attrName>
                                        </p:attrNameLst>
                                      </p:cBhvr>
                                      <p:to>
                                        <p:strVal val="visible"/>
                                      </p:to>
                                    </p:set>
                                    <p:animEffect transition="in" filter="wipe(left)">
                                      <p:cBhvr>
                                        <p:cTn id="22" dur="500"/>
                                        <p:tgtEl>
                                          <p:spTgt spid="1986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98661"/>
                                        </p:tgtEl>
                                        <p:attrNameLst>
                                          <p:attrName>style.visibility</p:attrName>
                                        </p:attrNameLst>
                                      </p:cBhvr>
                                      <p:to>
                                        <p:strVal val="visible"/>
                                      </p:to>
                                    </p:set>
                                    <p:animEffect transition="in" filter="wipe(left)">
                                      <p:cBhvr>
                                        <p:cTn id="33" dur="500"/>
                                        <p:tgtEl>
                                          <p:spTgt spid="19866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98659">
                                            <p:txEl>
                                              <p:pRg st="6" end="6"/>
                                            </p:txEl>
                                          </p:spTgt>
                                        </p:tgtEl>
                                        <p:attrNameLst>
                                          <p:attrName>style.visibility</p:attrName>
                                        </p:attrNameLst>
                                      </p:cBhvr>
                                      <p:to>
                                        <p:strVal val="visible"/>
                                      </p:to>
                                    </p:set>
                                    <p:animEffect transition="in" filter="wipe(left)">
                                      <p:cBhvr>
                                        <p:cTn id="38" dur="500"/>
                                        <p:tgtEl>
                                          <p:spTgt spid="1986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981200" y="457200"/>
            <a:ext cx="8229600" cy="1100138"/>
          </a:xfrm>
        </p:spPr>
        <p:txBody>
          <a:bodyPr/>
          <a:lstStyle/>
          <a:p>
            <a:pPr algn="ctr" eaLnBrk="1" hangingPunct="1"/>
            <a:r>
              <a:rPr lang="zh-CN" altLang="en-US">
                <a:solidFill>
                  <a:srgbClr val="008000"/>
                </a:solidFill>
                <a:ea typeface="黑体" pitchFamily="49" charset="-122"/>
              </a:rPr>
              <a:t>确定</a:t>
            </a:r>
            <a:r>
              <a:rPr lang="en-US" altLang="zh-CN">
                <a:solidFill>
                  <a:srgbClr val="008000"/>
                </a:solidFill>
                <a:ea typeface="黑体" pitchFamily="49" charset="-122"/>
              </a:rPr>
              <a:t>F</a:t>
            </a:r>
            <a:r>
              <a:rPr lang="zh-CN" altLang="en-US">
                <a:solidFill>
                  <a:srgbClr val="008000"/>
                </a:solidFill>
                <a:ea typeface="黑体" pitchFamily="49" charset="-122"/>
              </a:rPr>
              <a:t>集隶属函数要注意的方面</a:t>
            </a:r>
          </a:p>
        </p:txBody>
      </p:sp>
      <p:sp>
        <p:nvSpPr>
          <p:cNvPr id="199683" name="Rectangle 3"/>
          <p:cNvSpPr>
            <a:spLocks noGrp="1" noChangeArrowheads="1"/>
          </p:cNvSpPr>
          <p:nvPr>
            <p:ph type="body" sz="half" idx="1"/>
          </p:nvPr>
        </p:nvSpPr>
        <p:spPr>
          <a:xfrm>
            <a:off x="839416" y="1556024"/>
            <a:ext cx="10585176" cy="5113337"/>
          </a:xfrm>
        </p:spPr>
        <p:txBody>
          <a:bodyPr/>
          <a:lstStyle/>
          <a:p>
            <a:pPr eaLnBrk="1" hangingPunct="1"/>
            <a:r>
              <a:rPr lang="zh-CN" altLang="en-US" sz="2800" b="1" dirty="0">
                <a:solidFill>
                  <a:srgbClr val="3333FF"/>
                </a:solidFill>
                <a:ea typeface="楷体_GB2312" pitchFamily="49" charset="-122"/>
              </a:rPr>
              <a:t>例：在论域</a:t>
            </a:r>
            <a:r>
              <a:rPr lang="en-US" altLang="zh-CN" sz="2800" b="1" dirty="0">
                <a:solidFill>
                  <a:srgbClr val="3333FF"/>
                </a:solidFill>
                <a:ea typeface="楷体_GB2312" pitchFamily="49" charset="-122"/>
              </a:rPr>
              <a:t>U={1,2,3,4,5,6,7,8,9}</a:t>
            </a:r>
            <a:r>
              <a:rPr lang="zh-CN" altLang="en-US" sz="2800" b="1" dirty="0">
                <a:solidFill>
                  <a:srgbClr val="3333FF"/>
                </a:solidFill>
                <a:ea typeface="楷体_GB2312" pitchFamily="49" charset="-122"/>
              </a:rPr>
              <a:t>上确定</a:t>
            </a:r>
            <a:r>
              <a:rPr lang="en-US" altLang="zh-CN" sz="2800" b="1" dirty="0">
                <a:solidFill>
                  <a:srgbClr val="FF0000"/>
                </a:solidFill>
                <a:ea typeface="楷体_GB2312" pitchFamily="49" charset="-122"/>
              </a:rPr>
              <a:t>A=“</a:t>
            </a:r>
            <a:r>
              <a:rPr lang="zh-CN" altLang="en-US" sz="2800" b="1" dirty="0">
                <a:solidFill>
                  <a:srgbClr val="FF0000"/>
                </a:solidFill>
                <a:ea typeface="楷体_GB2312" pitchFamily="49" charset="-122"/>
              </a:rPr>
              <a:t>靠近</a:t>
            </a:r>
            <a:r>
              <a:rPr lang="en-US" altLang="zh-CN" sz="2800" b="1" dirty="0">
                <a:solidFill>
                  <a:srgbClr val="FF0000"/>
                </a:solidFill>
                <a:ea typeface="楷体_GB2312" pitchFamily="49" charset="-122"/>
              </a:rPr>
              <a:t>5</a:t>
            </a:r>
            <a:r>
              <a:rPr lang="zh-CN" altLang="en-US" sz="2800" b="1" dirty="0">
                <a:solidFill>
                  <a:srgbClr val="FF0000"/>
                </a:solidFill>
                <a:ea typeface="楷体_GB2312" pitchFamily="49" charset="-122"/>
              </a:rPr>
              <a:t>的数”</a:t>
            </a:r>
            <a:r>
              <a:rPr lang="zh-CN" altLang="en-US" sz="2800" b="1" dirty="0">
                <a:solidFill>
                  <a:srgbClr val="3333FF"/>
                </a:solidFill>
                <a:ea typeface="楷体_GB2312" pitchFamily="49" charset="-122"/>
              </a:rPr>
              <a:t>的隶属函数</a:t>
            </a:r>
            <a:r>
              <a:rPr lang="zh-CN" altLang="en-US" sz="2800" b="1" dirty="0">
                <a:ea typeface="楷体_GB2312" pitchFamily="49" charset="-122"/>
              </a:rPr>
              <a:t>，</a:t>
            </a:r>
          </a:p>
          <a:p>
            <a:pPr eaLnBrk="1" hangingPunct="1"/>
            <a:r>
              <a:rPr lang="zh-CN" altLang="en-US" sz="2800" b="1" dirty="0">
                <a:solidFill>
                  <a:srgbClr val="CC00CC"/>
                </a:solidFill>
                <a:ea typeface="楷体_GB2312" pitchFamily="49" charset="-122"/>
              </a:rPr>
              <a:t>解：</a:t>
            </a:r>
            <a:r>
              <a:rPr lang="zh-CN" altLang="en-US" sz="2800" b="1" dirty="0">
                <a:ea typeface="楷体_GB2312" pitchFamily="49" charset="-122"/>
              </a:rPr>
              <a:t>若再次将隶属函数修改为</a:t>
            </a:r>
          </a:p>
          <a:p>
            <a:pPr eaLnBrk="1" hangingPunct="1"/>
            <a:endParaRPr lang="zh-CN" altLang="en-US" sz="2800" b="1" dirty="0">
              <a:ea typeface="楷体_GB2312" pitchFamily="49" charset="-122"/>
            </a:endParaRPr>
          </a:p>
          <a:p>
            <a:pPr eaLnBrk="1" hangingPunct="1"/>
            <a:endParaRPr lang="zh-CN" altLang="en-US" sz="2800" dirty="0"/>
          </a:p>
          <a:p>
            <a:pPr eaLnBrk="1" hangingPunct="1"/>
            <a:endParaRPr lang="zh-CN" altLang="en-US" sz="2800" dirty="0"/>
          </a:p>
          <a:p>
            <a:pPr eaLnBrk="1" hangingPunct="1"/>
            <a:endParaRPr lang="zh-CN" altLang="en-US" sz="2800" dirty="0"/>
          </a:p>
          <a:p>
            <a:pPr eaLnBrk="1" hangingPunct="1"/>
            <a:endParaRPr lang="zh-CN" altLang="en-US" sz="2800" dirty="0"/>
          </a:p>
          <a:p>
            <a:pPr eaLnBrk="1" hangingPunct="1"/>
            <a:r>
              <a:rPr lang="zh-CN" altLang="en-US" sz="2800" b="1" dirty="0">
                <a:ea typeface="楷体_GB2312" pitchFamily="49" charset="-122"/>
              </a:rPr>
              <a:t>这表明再次修改后的隶属函数比较符合实际，因此，</a:t>
            </a:r>
            <a:r>
              <a:rPr lang="en-US" altLang="zh-CN" sz="2800" b="1" dirty="0">
                <a:solidFill>
                  <a:srgbClr val="FF0000"/>
                </a:solidFill>
                <a:ea typeface="楷体_GB2312" pitchFamily="49" charset="-122"/>
              </a:rPr>
              <a:t>A=“</a:t>
            </a:r>
            <a:r>
              <a:rPr lang="zh-CN" altLang="en-US" sz="2800" b="1" dirty="0">
                <a:solidFill>
                  <a:srgbClr val="FF0000"/>
                </a:solidFill>
                <a:ea typeface="楷体_GB2312" pitchFamily="49" charset="-122"/>
              </a:rPr>
              <a:t>靠近</a:t>
            </a:r>
            <a:r>
              <a:rPr lang="en-US" altLang="zh-CN" sz="2800" b="1" dirty="0">
                <a:solidFill>
                  <a:srgbClr val="FF0000"/>
                </a:solidFill>
                <a:ea typeface="楷体_GB2312" pitchFamily="49" charset="-122"/>
              </a:rPr>
              <a:t>5</a:t>
            </a:r>
            <a:r>
              <a:rPr lang="zh-CN" altLang="en-US" sz="2800" b="1" dirty="0">
                <a:solidFill>
                  <a:srgbClr val="FF0000"/>
                </a:solidFill>
                <a:ea typeface="楷体_GB2312" pitchFamily="49" charset="-122"/>
              </a:rPr>
              <a:t>的数”</a:t>
            </a:r>
            <a:r>
              <a:rPr lang="zh-CN" altLang="en-US" sz="2800" b="1" dirty="0">
                <a:solidFill>
                  <a:srgbClr val="3333FF"/>
                </a:solidFill>
                <a:ea typeface="楷体_GB2312" pitchFamily="49" charset="-122"/>
              </a:rPr>
              <a:t>的隶属函数终于确定下来了。</a:t>
            </a:r>
            <a:endParaRPr lang="zh-CN" altLang="en-US" sz="2800" b="1" dirty="0">
              <a:ea typeface="楷体_GB2312" pitchFamily="49" charset="-122"/>
            </a:endParaRPr>
          </a:p>
        </p:txBody>
      </p:sp>
      <p:graphicFrame>
        <p:nvGraphicFramePr>
          <p:cNvPr id="199684" name="Object 4"/>
          <p:cNvGraphicFramePr>
            <a:graphicFrameLocks noGrp="1" noChangeAspect="1"/>
          </p:cNvGraphicFramePr>
          <p:nvPr>
            <p:ph sz="quarter" idx="2"/>
            <p:extLst>
              <p:ext uri="{D42A27DB-BD31-4B8C-83A1-F6EECF244321}">
                <p14:modId xmlns:p14="http://schemas.microsoft.com/office/powerpoint/2010/main" val="2426676083"/>
              </p:ext>
            </p:extLst>
          </p:nvPr>
        </p:nvGraphicFramePr>
        <p:xfrm>
          <a:off x="2640014" y="3052045"/>
          <a:ext cx="2879725" cy="1336675"/>
        </p:xfrm>
        <a:graphic>
          <a:graphicData uri="http://schemas.openxmlformats.org/presentationml/2006/ole">
            <mc:AlternateContent xmlns:mc="http://schemas.openxmlformats.org/markup-compatibility/2006">
              <mc:Choice xmlns:v="urn:schemas-microsoft-com:vml" Requires="v">
                <p:oleObj name="公式" r:id="rId2" imgW="1256755" imgH="583947" progId="Equation.3">
                  <p:embed/>
                </p:oleObj>
              </mc:Choice>
              <mc:Fallback>
                <p:oleObj name="公式" r:id="rId2" imgW="1256755" imgH="583947" progId="Equation.3">
                  <p:embed/>
                  <p:pic>
                    <p:nvPicPr>
                      <p:cNvPr id="199684"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014" y="3052045"/>
                        <a:ext cx="2879725" cy="1336675"/>
                      </a:xfrm>
                      <a:prstGeom prst="rect">
                        <a:avLst/>
                      </a:prstGeom>
                      <a:solidFill>
                        <a:srgbClr val="FFE1FF"/>
                      </a:solidFill>
                    </p:spPr>
                  </p:pic>
                </p:oleObj>
              </mc:Fallback>
            </mc:AlternateContent>
          </a:graphicData>
        </a:graphic>
      </p:graphicFrame>
      <p:graphicFrame>
        <p:nvGraphicFramePr>
          <p:cNvPr id="199685" name="Object 5"/>
          <p:cNvGraphicFramePr>
            <a:graphicFrameLocks noGrp="1" noChangeAspect="1"/>
          </p:cNvGraphicFramePr>
          <p:nvPr>
            <p:ph sz="quarter" idx="3"/>
            <p:extLst>
              <p:ext uri="{D42A27DB-BD31-4B8C-83A1-F6EECF244321}">
                <p14:modId xmlns:p14="http://schemas.microsoft.com/office/powerpoint/2010/main" val="470528444"/>
              </p:ext>
            </p:extLst>
          </p:nvPr>
        </p:nvGraphicFramePr>
        <p:xfrm>
          <a:off x="2117725" y="4500092"/>
          <a:ext cx="8280400" cy="873125"/>
        </p:xfrm>
        <a:graphic>
          <a:graphicData uri="http://schemas.openxmlformats.org/presentationml/2006/ole">
            <mc:AlternateContent xmlns:mc="http://schemas.openxmlformats.org/markup-compatibility/2006">
              <mc:Choice xmlns:v="urn:schemas-microsoft-com:vml" Requires="v">
                <p:oleObj name="公式" r:id="rId4" imgW="3733800" imgH="393700" progId="Equation.3">
                  <p:embed/>
                </p:oleObj>
              </mc:Choice>
              <mc:Fallback>
                <p:oleObj name="公式" r:id="rId4" imgW="3733800" imgH="393700" progId="Equation.3">
                  <p:embed/>
                  <p:pic>
                    <p:nvPicPr>
                      <p:cNvPr id="199685" name="Object 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7725" y="4500092"/>
                        <a:ext cx="8280400"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9686" name="Object 6"/>
          <p:cNvGraphicFramePr>
            <a:graphicFrameLocks noChangeAspect="1"/>
          </p:cNvGraphicFramePr>
          <p:nvPr>
            <p:extLst>
              <p:ext uri="{D42A27DB-BD31-4B8C-83A1-F6EECF244321}">
                <p14:modId xmlns:p14="http://schemas.microsoft.com/office/powerpoint/2010/main" val="463973901"/>
              </p:ext>
            </p:extLst>
          </p:nvPr>
        </p:nvGraphicFramePr>
        <p:xfrm>
          <a:off x="6456363" y="3124250"/>
          <a:ext cx="2990850" cy="1312862"/>
        </p:xfrm>
        <a:graphic>
          <a:graphicData uri="http://schemas.openxmlformats.org/presentationml/2006/ole">
            <mc:AlternateContent xmlns:mc="http://schemas.openxmlformats.org/markup-compatibility/2006">
              <mc:Choice xmlns:v="urn:schemas-microsoft-com:vml" Requires="v">
                <p:oleObj name="公式" r:id="rId6" imgW="1333500" imgH="584200" progId="Equation.3">
                  <p:embed/>
                </p:oleObj>
              </mc:Choice>
              <mc:Fallback>
                <p:oleObj name="公式" r:id="rId6" imgW="1333500" imgH="584200" progId="Equation.3">
                  <p:embed/>
                  <p:pic>
                    <p:nvPicPr>
                      <p:cNvPr id="19968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6363" y="3124250"/>
                        <a:ext cx="2990850" cy="1312862"/>
                      </a:xfrm>
                      <a:prstGeom prst="rect">
                        <a:avLst/>
                      </a:prstGeom>
                      <a:solidFill>
                        <a:srgbClr val="66FFFF"/>
                      </a:solidFill>
                    </p:spPr>
                  </p:pic>
                </p:oleObj>
              </mc:Fallback>
            </mc:AlternateContent>
          </a:graphicData>
        </a:graphic>
      </p:graphicFrame>
      <p:sp>
        <p:nvSpPr>
          <p:cNvPr id="199687" name="AutoShape 7"/>
          <p:cNvSpPr>
            <a:spLocks noChangeArrowheads="1"/>
          </p:cNvSpPr>
          <p:nvPr/>
        </p:nvSpPr>
        <p:spPr bwMode="auto">
          <a:xfrm>
            <a:off x="5591176" y="3483844"/>
            <a:ext cx="792163" cy="431800"/>
          </a:xfrm>
          <a:custGeom>
            <a:avLst/>
            <a:gdLst>
              <a:gd name="T0" fmla="*/ 21788957 w 21600"/>
              <a:gd name="T1" fmla="*/ 0 h 21600"/>
              <a:gd name="T2" fmla="*/ 0 w 21600"/>
              <a:gd name="T3" fmla="*/ 4316001 h 21600"/>
              <a:gd name="T4" fmla="*/ 21788957 w 21600"/>
              <a:gd name="T5" fmla="*/ 8632002 h 21600"/>
              <a:gd name="T6" fmla="*/ 29051955 w 21600"/>
              <a:gd name="T7" fmla="*/ 4316001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 name="图片 4" descr="图表, 折线图&#10;&#10;描述已自动生成">
            <a:extLst>
              <a:ext uri="{FF2B5EF4-FFF2-40B4-BE49-F238E27FC236}">
                <a16:creationId xmlns:a16="http://schemas.microsoft.com/office/drawing/2014/main" id="{02ECFAEE-3DBA-3FA1-405A-A723FB6A398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b="8886"/>
          <a:stretch/>
        </p:blipFill>
        <p:spPr>
          <a:xfrm>
            <a:off x="10042725" y="2605191"/>
            <a:ext cx="1957561" cy="1783624"/>
          </a:xfrm>
          <a:prstGeom prst="rect">
            <a:avLst/>
          </a:prstGeom>
          <a:effectLst>
            <a:glow rad="127000">
              <a:srgbClr val="66FFFF"/>
            </a:glow>
          </a:effectLst>
        </p:spPr>
      </p:pic>
      <p:sp>
        <p:nvSpPr>
          <p:cNvPr id="2" name="灯片编号占位符 1">
            <a:extLst>
              <a:ext uri="{FF2B5EF4-FFF2-40B4-BE49-F238E27FC236}">
                <a16:creationId xmlns:a16="http://schemas.microsoft.com/office/drawing/2014/main" id="{FC7C8125-F3A0-CF74-C99C-5FA89711D66B}"/>
              </a:ext>
            </a:extLst>
          </p:cNvPr>
          <p:cNvSpPr>
            <a:spLocks noGrp="1"/>
          </p:cNvSpPr>
          <p:nvPr>
            <p:ph type="sldNum" sz="quarter" idx="11"/>
          </p:nvPr>
        </p:nvSpPr>
        <p:spPr/>
        <p:txBody>
          <a:bodyPr/>
          <a:lstStyle/>
          <a:p>
            <a:pPr>
              <a:defRPr/>
            </a:pPr>
            <a:fld id="{6E623E09-9292-430A-945A-636A50DBB6F1}" type="slidenum">
              <a:rPr lang="en-US" altLang="zh-CN" smtClean="0"/>
              <a:pPr>
                <a:defRPr/>
              </a:pPr>
              <a:t>59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animEffect transition="in" filter="wipe(left)">
                                      <p:cBhvr>
                                        <p:cTn id="7" dur="500"/>
                                        <p:tgtEl>
                                          <p:spTgt spid="1996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9684"/>
                                        </p:tgtEl>
                                        <p:attrNameLst>
                                          <p:attrName>style.visibility</p:attrName>
                                        </p:attrNameLst>
                                      </p:cBhvr>
                                      <p:to>
                                        <p:strVal val="visible"/>
                                      </p:to>
                                    </p:set>
                                    <p:animEffect transition="in" filter="wipe(left)">
                                      <p:cBhvr>
                                        <p:cTn id="12" dur="500"/>
                                        <p:tgtEl>
                                          <p:spTgt spid="1996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9687"/>
                                        </p:tgtEl>
                                        <p:attrNameLst>
                                          <p:attrName>style.visibility</p:attrName>
                                        </p:attrNameLst>
                                      </p:cBhvr>
                                      <p:to>
                                        <p:strVal val="visible"/>
                                      </p:to>
                                    </p:set>
                                    <p:animEffect transition="in" filter="wipe(left)">
                                      <p:cBhvr>
                                        <p:cTn id="17" dur="500"/>
                                        <p:tgtEl>
                                          <p:spTgt spid="1996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9686"/>
                                        </p:tgtEl>
                                        <p:attrNameLst>
                                          <p:attrName>style.visibility</p:attrName>
                                        </p:attrNameLst>
                                      </p:cBhvr>
                                      <p:to>
                                        <p:strVal val="visible"/>
                                      </p:to>
                                    </p:set>
                                    <p:animEffect transition="in" filter="wipe(left)">
                                      <p:cBhvr>
                                        <p:cTn id="22" dur="500"/>
                                        <p:tgtEl>
                                          <p:spTgt spid="1996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99685"/>
                                        </p:tgtEl>
                                        <p:attrNameLst>
                                          <p:attrName>style.visibility</p:attrName>
                                        </p:attrNameLst>
                                      </p:cBhvr>
                                      <p:to>
                                        <p:strVal val="visible"/>
                                      </p:to>
                                    </p:set>
                                    <p:animEffect transition="in" filter="wipe(left)">
                                      <p:cBhvr>
                                        <p:cTn id="34" dur="500"/>
                                        <p:tgtEl>
                                          <p:spTgt spid="19968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99683">
                                            <p:txEl>
                                              <p:pRg st="7" end="7"/>
                                            </p:txEl>
                                          </p:spTgt>
                                        </p:tgtEl>
                                        <p:attrNameLst>
                                          <p:attrName>style.visibility</p:attrName>
                                        </p:attrNameLst>
                                      </p:cBhvr>
                                      <p:to>
                                        <p:strVal val="visible"/>
                                      </p:to>
                                    </p:set>
                                    <p:animEffect transition="in" filter="wipe(left)">
                                      <p:cBhvr>
                                        <p:cTn id="39" dur="500"/>
                                        <p:tgtEl>
                                          <p:spTgt spid="1996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61CAC-7715-D37A-AFE6-EE924943A627}"/>
            </a:ext>
          </a:extLst>
        </p:cNvPr>
        <p:cNvGrpSpPr/>
        <p:nvPr/>
      </p:nvGrpSpPr>
      <p:grpSpPr>
        <a:xfrm>
          <a:off x="0" y="0"/>
          <a:ext cx="0" cy="0"/>
          <a:chOff x="0" y="0"/>
          <a:chExt cx="0" cy="0"/>
        </a:xfrm>
      </p:grpSpPr>
      <p:sp>
        <p:nvSpPr>
          <p:cNvPr id="64514" name="Rectangle 2">
            <a:extLst>
              <a:ext uri="{FF2B5EF4-FFF2-40B4-BE49-F238E27FC236}">
                <a16:creationId xmlns:a16="http://schemas.microsoft.com/office/drawing/2014/main" id="{4B7D396B-9810-A5D8-B608-205638C594B2}"/>
              </a:ext>
            </a:extLst>
          </p:cNvPr>
          <p:cNvSpPr>
            <a:spLocks noGrp="1" noChangeArrowheads="1"/>
          </p:cNvSpPr>
          <p:nvPr>
            <p:ph type="title"/>
          </p:nvPr>
        </p:nvSpPr>
        <p:spPr>
          <a:xfrm>
            <a:off x="1981200" y="457200"/>
            <a:ext cx="8229600" cy="1100138"/>
          </a:xfrm>
        </p:spPr>
        <p:txBody>
          <a:bodyPr/>
          <a:lstStyle/>
          <a:p>
            <a:pPr algn="ctr" eaLnBrk="1" hangingPunct="1"/>
            <a:r>
              <a:rPr lang="zh-CN" altLang="en-US">
                <a:solidFill>
                  <a:srgbClr val="008000"/>
                </a:solidFill>
                <a:ea typeface="黑体" pitchFamily="49" charset="-122"/>
              </a:rPr>
              <a:t>确定</a:t>
            </a:r>
            <a:r>
              <a:rPr lang="en-US" altLang="zh-CN">
                <a:solidFill>
                  <a:srgbClr val="008000"/>
                </a:solidFill>
                <a:ea typeface="黑体" pitchFamily="49" charset="-122"/>
              </a:rPr>
              <a:t>F</a:t>
            </a:r>
            <a:r>
              <a:rPr lang="zh-CN" altLang="en-US">
                <a:solidFill>
                  <a:srgbClr val="008000"/>
                </a:solidFill>
                <a:ea typeface="黑体" pitchFamily="49" charset="-122"/>
              </a:rPr>
              <a:t>集隶属函数要注意的方面</a:t>
            </a:r>
          </a:p>
        </p:txBody>
      </p:sp>
      <p:sp>
        <p:nvSpPr>
          <p:cNvPr id="199683" name="Rectangle 3">
            <a:extLst>
              <a:ext uri="{FF2B5EF4-FFF2-40B4-BE49-F238E27FC236}">
                <a16:creationId xmlns:a16="http://schemas.microsoft.com/office/drawing/2014/main" id="{55943670-336E-2AD9-4A07-EE4DF7D28B55}"/>
              </a:ext>
            </a:extLst>
          </p:cNvPr>
          <p:cNvSpPr>
            <a:spLocks noGrp="1" noChangeArrowheads="1"/>
          </p:cNvSpPr>
          <p:nvPr>
            <p:ph type="body" sz="half" idx="1"/>
          </p:nvPr>
        </p:nvSpPr>
        <p:spPr>
          <a:xfrm>
            <a:off x="839416" y="1556024"/>
            <a:ext cx="10585176" cy="5113337"/>
          </a:xfrm>
        </p:spPr>
        <p:txBody>
          <a:bodyPr/>
          <a:lstStyle/>
          <a:p>
            <a:pPr eaLnBrk="1" hangingPunct="1"/>
            <a:r>
              <a:rPr lang="zh-CN" altLang="en-US" sz="2800" b="1" dirty="0">
                <a:solidFill>
                  <a:srgbClr val="3333FF"/>
                </a:solidFill>
                <a:ea typeface="楷体_GB2312" pitchFamily="49" charset="-122"/>
              </a:rPr>
              <a:t>例：在论域</a:t>
            </a:r>
            <a:r>
              <a:rPr lang="en-US" altLang="zh-CN" sz="2800" b="1" dirty="0">
                <a:solidFill>
                  <a:srgbClr val="3333FF"/>
                </a:solidFill>
                <a:ea typeface="楷体_GB2312" pitchFamily="49" charset="-122"/>
              </a:rPr>
              <a:t>U={1,2,3,4,5,6,7,8,9}</a:t>
            </a:r>
            <a:r>
              <a:rPr lang="zh-CN" altLang="en-US" sz="2800" b="1" dirty="0">
                <a:solidFill>
                  <a:srgbClr val="3333FF"/>
                </a:solidFill>
                <a:ea typeface="楷体_GB2312" pitchFamily="49" charset="-122"/>
              </a:rPr>
              <a:t>上确定</a:t>
            </a:r>
            <a:r>
              <a:rPr lang="en-US" altLang="zh-CN" sz="2800" b="1" dirty="0">
                <a:solidFill>
                  <a:srgbClr val="FF0000"/>
                </a:solidFill>
                <a:ea typeface="楷体_GB2312" pitchFamily="49" charset="-122"/>
              </a:rPr>
              <a:t>A=“</a:t>
            </a:r>
            <a:r>
              <a:rPr lang="zh-CN" altLang="en-US" sz="2800" b="1" dirty="0">
                <a:solidFill>
                  <a:srgbClr val="FF0000"/>
                </a:solidFill>
                <a:ea typeface="楷体_GB2312" pitchFamily="49" charset="-122"/>
              </a:rPr>
              <a:t>靠近</a:t>
            </a:r>
            <a:r>
              <a:rPr lang="en-US" altLang="zh-CN" sz="2800" b="1" dirty="0">
                <a:solidFill>
                  <a:srgbClr val="FF0000"/>
                </a:solidFill>
                <a:ea typeface="楷体_GB2312" pitchFamily="49" charset="-122"/>
              </a:rPr>
              <a:t>5</a:t>
            </a:r>
            <a:r>
              <a:rPr lang="zh-CN" altLang="en-US" sz="2800" b="1" dirty="0">
                <a:solidFill>
                  <a:srgbClr val="FF0000"/>
                </a:solidFill>
                <a:ea typeface="楷体_GB2312" pitchFamily="49" charset="-122"/>
              </a:rPr>
              <a:t>的数”</a:t>
            </a:r>
            <a:r>
              <a:rPr lang="zh-CN" altLang="en-US" sz="2800" b="1" dirty="0">
                <a:solidFill>
                  <a:srgbClr val="3333FF"/>
                </a:solidFill>
                <a:ea typeface="楷体_GB2312" pitchFamily="49" charset="-122"/>
              </a:rPr>
              <a:t>的隶属函数</a:t>
            </a:r>
            <a:r>
              <a:rPr lang="zh-CN" altLang="en-US" sz="2800" b="1" dirty="0">
                <a:ea typeface="楷体_GB2312" pitchFamily="49" charset="-122"/>
              </a:rPr>
              <a:t>，</a:t>
            </a:r>
          </a:p>
          <a:p>
            <a:pPr eaLnBrk="1" hangingPunct="1"/>
            <a:endParaRPr lang="zh-CN" altLang="en-US" sz="2800" b="1" dirty="0">
              <a:ea typeface="楷体_GB2312" pitchFamily="49" charset="-122"/>
            </a:endParaRPr>
          </a:p>
          <a:p>
            <a:pPr eaLnBrk="1" hangingPunct="1"/>
            <a:endParaRPr lang="zh-CN" altLang="en-US" sz="2800" dirty="0"/>
          </a:p>
          <a:p>
            <a:pPr eaLnBrk="1" hangingPunct="1"/>
            <a:endParaRPr lang="zh-CN" altLang="en-US" sz="2800" dirty="0"/>
          </a:p>
          <a:p>
            <a:pPr eaLnBrk="1" hangingPunct="1"/>
            <a:endParaRPr lang="zh-CN" altLang="en-US" sz="2800" dirty="0"/>
          </a:p>
          <a:p>
            <a:pPr eaLnBrk="1" hangingPunct="1"/>
            <a:endParaRPr lang="zh-CN" altLang="en-US" sz="2800" dirty="0"/>
          </a:p>
        </p:txBody>
      </p:sp>
      <p:graphicFrame>
        <p:nvGraphicFramePr>
          <p:cNvPr id="199684" name="Object 4">
            <a:extLst>
              <a:ext uri="{FF2B5EF4-FFF2-40B4-BE49-F238E27FC236}">
                <a16:creationId xmlns:a16="http://schemas.microsoft.com/office/drawing/2014/main" id="{3A1FB75F-B594-9687-415C-B33F30836EA2}"/>
              </a:ext>
            </a:extLst>
          </p:cNvPr>
          <p:cNvGraphicFramePr>
            <a:graphicFrameLocks noGrp="1" noChangeAspect="1"/>
          </p:cNvGraphicFramePr>
          <p:nvPr>
            <p:ph sz="quarter" idx="2"/>
            <p:extLst>
              <p:ext uri="{D42A27DB-BD31-4B8C-83A1-F6EECF244321}">
                <p14:modId xmlns:p14="http://schemas.microsoft.com/office/powerpoint/2010/main" val="1780079248"/>
              </p:ext>
            </p:extLst>
          </p:nvPr>
        </p:nvGraphicFramePr>
        <p:xfrm>
          <a:off x="4643042" y="2572990"/>
          <a:ext cx="2879725" cy="1336675"/>
        </p:xfrm>
        <a:graphic>
          <a:graphicData uri="http://schemas.openxmlformats.org/presentationml/2006/ole">
            <mc:AlternateContent xmlns:mc="http://schemas.openxmlformats.org/markup-compatibility/2006">
              <mc:Choice xmlns:v="urn:schemas-microsoft-com:vml" Requires="v">
                <p:oleObj name="公式" r:id="rId2" imgW="1256755" imgH="583947" progId="Equation.3">
                  <p:embed/>
                </p:oleObj>
              </mc:Choice>
              <mc:Fallback>
                <p:oleObj name="公式" r:id="rId2" imgW="1256755" imgH="583947" progId="Equation.3">
                  <p:embed/>
                  <p:pic>
                    <p:nvPicPr>
                      <p:cNvPr id="199684"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042" y="2572990"/>
                        <a:ext cx="2879725" cy="1336675"/>
                      </a:xfrm>
                      <a:prstGeom prst="rect">
                        <a:avLst/>
                      </a:prstGeom>
                      <a:solidFill>
                        <a:srgbClr val="FFE1FF"/>
                      </a:solidFill>
                    </p:spPr>
                  </p:pic>
                </p:oleObj>
              </mc:Fallback>
            </mc:AlternateContent>
          </a:graphicData>
        </a:graphic>
      </p:graphicFrame>
      <p:graphicFrame>
        <p:nvGraphicFramePr>
          <p:cNvPr id="199685" name="Object 5">
            <a:extLst>
              <a:ext uri="{FF2B5EF4-FFF2-40B4-BE49-F238E27FC236}">
                <a16:creationId xmlns:a16="http://schemas.microsoft.com/office/drawing/2014/main" id="{3FCF6C8D-2649-1B2C-EA9A-83471E3FAD74}"/>
              </a:ext>
            </a:extLst>
          </p:cNvPr>
          <p:cNvGraphicFramePr>
            <a:graphicFrameLocks noGrp="1" noChangeAspect="1"/>
          </p:cNvGraphicFramePr>
          <p:nvPr>
            <p:ph sz="quarter" idx="3"/>
            <p:extLst>
              <p:ext uri="{D42A27DB-BD31-4B8C-83A1-F6EECF244321}">
                <p14:modId xmlns:p14="http://schemas.microsoft.com/office/powerpoint/2010/main" val="3960954486"/>
              </p:ext>
            </p:extLst>
          </p:nvPr>
        </p:nvGraphicFramePr>
        <p:xfrm>
          <a:off x="3684959" y="5992082"/>
          <a:ext cx="8280400" cy="873125"/>
        </p:xfrm>
        <a:graphic>
          <a:graphicData uri="http://schemas.openxmlformats.org/presentationml/2006/ole">
            <mc:AlternateContent xmlns:mc="http://schemas.openxmlformats.org/markup-compatibility/2006">
              <mc:Choice xmlns:v="urn:schemas-microsoft-com:vml" Requires="v">
                <p:oleObj name="公式" r:id="rId4" imgW="3733800" imgH="393700" progId="Equation.3">
                  <p:embed/>
                </p:oleObj>
              </mc:Choice>
              <mc:Fallback>
                <p:oleObj name="公式" r:id="rId4" imgW="3733800" imgH="393700" progId="Equation.3">
                  <p:embed/>
                  <p:pic>
                    <p:nvPicPr>
                      <p:cNvPr id="199685" name="Object 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4959" y="5992082"/>
                        <a:ext cx="8280400"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9686" name="Object 6">
            <a:extLst>
              <a:ext uri="{FF2B5EF4-FFF2-40B4-BE49-F238E27FC236}">
                <a16:creationId xmlns:a16="http://schemas.microsoft.com/office/drawing/2014/main" id="{5824314C-3DAD-F9AA-D648-6CDAE7610087}"/>
              </a:ext>
            </a:extLst>
          </p:cNvPr>
          <p:cNvGraphicFramePr>
            <a:graphicFrameLocks noChangeAspect="1"/>
          </p:cNvGraphicFramePr>
          <p:nvPr>
            <p:extLst>
              <p:ext uri="{D42A27DB-BD31-4B8C-83A1-F6EECF244321}">
                <p14:modId xmlns:p14="http://schemas.microsoft.com/office/powerpoint/2010/main" val="1571279877"/>
              </p:ext>
            </p:extLst>
          </p:nvPr>
        </p:nvGraphicFramePr>
        <p:xfrm>
          <a:off x="8569081" y="2596803"/>
          <a:ext cx="2990850" cy="1312862"/>
        </p:xfrm>
        <a:graphic>
          <a:graphicData uri="http://schemas.openxmlformats.org/presentationml/2006/ole">
            <mc:AlternateContent xmlns:mc="http://schemas.openxmlformats.org/markup-compatibility/2006">
              <mc:Choice xmlns:v="urn:schemas-microsoft-com:vml" Requires="v">
                <p:oleObj name="公式" r:id="rId6" imgW="1333500" imgH="584200" progId="Equation.3">
                  <p:embed/>
                </p:oleObj>
              </mc:Choice>
              <mc:Fallback>
                <p:oleObj name="公式" r:id="rId6" imgW="1333500" imgH="584200" progId="Equation.3">
                  <p:embed/>
                  <p:pic>
                    <p:nvPicPr>
                      <p:cNvPr id="19968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69081" y="2596803"/>
                        <a:ext cx="2990850" cy="1312862"/>
                      </a:xfrm>
                      <a:prstGeom prst="rect">
                        <a:avLst/>
                      </a:prstGeom>
                      <a:solidFill>
                        <a:srgbClr val="66FFFF"/>
                      </a:solidFill>
                    </p:spPr>
                  </p:pic>
                </p:oleObj>
              </mc:Fallback>
            </mc:AlternateContent>
          </a:graphicData>
        </a:graphic>
      </p:graphicFrame>
      <p:sp>
        <p:nvSpPr>
          <p:cNvPr id="199687" name="AutoShape 7">
            <a:extLst>
              <a:ext uri="{FF2B5EF4-FFF2-40B4-BE49-F238E27FC236}">
                <a16:creationId xmlns:a16="http://schemas.microsoft.com/office/drawing/2014/main" id="{3D1731F3-F3D6-22FF-18EE-D38CD74D6CD0}"/>
              </a:ext>
            </a:extLst>
          </p:cNvPr>
          <p:cNvSpPr>
            <a:spLocks noChangeArrowheads="1"/>
          </p:cNvSpPr>
          <p:nvPr/>
        </p:nvSpPr>
        <p:spPr bwMode="auto">
          <a:xfrm>
            <a:off x="3806797" y="2997200"/>
            <a:ext cx="792163" cy="431800"/>
          </a:xfrm>
          <a:custGeom>
            <a:avLst/>
            <a:gdLst>
              <a:gd name="T0" fmla="*/ 21788957 w 21600"/>
              <a:gd name="T1" fmla="*/ 0 h 21600"/>
              <a:gd name="T2" fmla="*/ 0 w 21600"/>
              <a:gd name="T3" fmla="*/ 4316001 h 21600"/>
              <a:gd name="T4" fmla="*/ 21788957 w 21600"/>
              <a:gd name="T5" fmla="*/ 8632002 h 21600"/>
              <a:gd name="T6" fmla="*/ 29051955 w 21600"/>
              <a:gd name="T7" fmla="*/ 4316001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 name="图片 4" descr="图表, 折线图&#10;&#10;描述已自动生成">
            <a:extLst>
              <a:ext uri="{FF2B5EF4-FFF2-40B4-BE49-F238E27FC236}">
                <a16:creationId xmlns:a16="http://schemas.microsoft.com/office/drawing/2014/main" id="{11A0902B-6BA8-D4F6-0478-64879454487D}"/>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b="8886"/>
          <a:stretch/>
        </p:blipFill>
        <p:spPr>
          <a:xfrm>
            <a:off x="9232019" y="4148595"/>
            <a:ext cx="1957561" cy="1783624"/>
          </a:xfrm>
          <a:prstGeom prst="rect">
            <a:avLst/>
          </a:prstGeom>
          <a:effectLst>
            <a:glow rad="127000">
              <a:srgbClr val="66FFFF"/>
            </a:glow>
          </a:effectLst>
        </p:spPr>
      </p:pic>
      <p:sp>
        <p:nvSpPr>
          <p:cNvPr id="2" name="灯片编号占位符 1">
            <a:extLst>
              <a:ext uri="{FF2B5EF4-FFF2-40B4-BE49-F238E27FC236}">
                <a16:creationId xmlns:a16="http://schemas.microsoft.com/office/drawing/2014/main" id="{6539FFAA-AD40-A9DB-0633-42BBC092A67A}"/>
              </a:ext>
            </a:extLst>
          </p:cNvPr>
          <p:cNvSpPr>
            <a:spLocks noGrp="1"/>
          </p:cNvSpPr>
          <p:nvPr>
            <p:ph type="sldNum" sz="quarter" idx="11"/>
          </p:nvPr>
        </p:nvSpPr>
        <p:spPr>
          <a:xfrm>
            <a:off x="33536" y="6248400"/>
            <a:ext cx="733872" cy="420961"/>
          </a:xfrm>
        </p:spPr>
        <p:txBody>
          <a:bodyPr/>
          <a:lstStyle/>
          <a:p>
            <a:pPr>
              <a:defRPr/>
            </a:pPr>
            <a:fld id="{6E623E09-9292-430A-945A-636A50DBB6F1}" type="slidenum">
              <a:rPr lang="en-US" altLang="zh-CN" smtClean="0"/>
              <a:pPr>
                <a:defRPr/>
              </a:pPr>
              <a:t>60</a:t>
            </a:fld>
            <a:endParaRPr lang="en-US" altLang="zh-CN" dirty="0"/>
          </a:p>
        </p:txBody>
      </p:sp>
      <p:sp>
        <p:nvSpPr>
          <p:cNvPr id="7" name="AutoShape 7">
            <a:extLst>
              <a:ext uri="{FF2B5EF4-FFF2-40B4-BE49-F238E27FC236}">
                <a16:creationId xmlns:a16="http://schemas.microsoft.com/office/drawing/2014/main" id="{B2F64E35-2941-7B14-43CB-EFD53491D4D1}"/>
              </a:ext>
            </a:extLst>
          </p:cNvPr>
          <p:cNvSpPr>
            <a:spLocks noChangeArrowheads="1"/>
          </p:cNvSpPr>
          <p:nvPr/>
        </p:nvSpPr>
        <p:spPr bwMode="auto">
          <a:xfrm>
            <a:off x="7607484" y="3027615"/>
            <a:ext cx="792163" cy="431800"/>
          </a:xfrm>
          <a:custGeom>
            <a:avLst/>
            <a:gdLst>
              <a:gd name="T0" fmla="*/ 21788957 w 21600"/>
              <a:gd name="T1" fmla="*/ 0 h 21600"/>
              <a:gd name="T2" fmla="*/ 0 w 21600"/>
              <a:gd name="T3" fmla="*/ 4316001 h 21600"/>
              <a:gd name="T4" fmla="*/ 21788957 w 21600"/>
              <a:gd name="T5" fmla="*/ 8632002 h 21600"/>
              <a:gd name="T6" fmla="*/ 29051955 w 21600"/>
              <a:gd name="T7" fmla="*/ 4316001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 name="Object 6">
            <a:extLst>
              <a:ext uri="{FF2B5EF4-FFF2-40B4-BE49-F238E27FC236}">
                <a16:creationId xmlns:a16="http://schemas.microsoft.com/office/drawing/2014/main" id="{6AC790EF-EDBC-965B-97C9-F65947863DCA}"/>
              </a:ext>
            </a:extLst>
          </p:cNvPr>
          <p:cNvGraphicFramePr>
            <a:graphicFrameLocks noChangeAspect="1"/>
          </p:cNvGraphicFramePr>
          <p:nvPr>
            <p:extLst>
              <p:ext uri="{D42A27DB-BD31-4B8C-83A1-F6EECF244321}">
                <p14:modId xmlns:p14="http://schemas.microsoft.com/office/powerpoint/2010/main" val="2038804739"/>
              </p:ext>
            </p:extLst>
          </p:nvPr>
        </p:nvGraphicFramePr>
        <p:xfrm>
          <a:off x="1092572" y="2697008"/>
          <a:ext cx="2592387" cy="941388"/>
        </p:xfrm>
        <a:graphic>
          <a:graphicData uri="http://schemas.openxmlformats.org/presentationml/2006/ole">
            <mc:AlternateContent xmlns:mc="http://schemas.openxmlformats.org/markup-compatibility/2006">
              <mc:Choice xmlns:v="urn:schemas-microsoft-com:vml" Requires="v">
                <p:oleObj name="公式" r:id="rId9" imgW="1155700" imgH="419100" progId="Equation.3">
                  <p:embed/>
                </p:oleObj>
              </mc:Choice>
              <mc:Fallback>
                <p:oleObj name="公式" r:id="rId9" imgW="1155700" imgH="419100" progId="Equation.3">
                  <p:embed/>
                  <p:pic>
                    <p:nvPicPr>
                      <p:cNvPr id="198662"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2572" y="2697008"/>
                        <a:ext cx="2592387" cy="941388"/>
                      </a:xfrm>
                      <a:prstGeom prst="rect">
                        <a:avLst/>
                      </a:prstGeom>
                      <a:solidFill>
                        <a:srgbClr val="CCFF66"/>
                      </a:solidFill>
                    </p:spPr>
                  </p:pic>
                </p:oleObj>
              </mc:Fallback>
            </mc:AlternateContent>
          </a:graphicData>
        </a:graphic>
      </p:graphicFrame>
      <p:pic>
        <p:nvPicPr>
          <p:cNvPr id="9" name="图片 8" descr="图表, 折线图&#10;&#10;描述已自动生成">
            <a:extLst>
              <a:ext uri="{FF2B5EF4-FFF2-40B4-BE49-F238E27FC236}">
                <a16:creationId xmlns:a16="http://schemas.microsoft.com/office/drawing/2014/main" id="{AA3EAFD1-90D4-5809-45D6-A562CBFEEB56}"/>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b="8484"/>
          <a:stretch/>
        </p:blipFill>
        <p:spPr>
          <a:xfrm>
            <a:off x="5106311" y="4069809"/>
            <a:ext cx="2051386" cy="1877360"/>
          </a:xfrm>
          <a:prstGeom prst="rect">
            <a:avLst/>
          </a:prstGeom>
          <a:effectLst>
            <a:glow rad="127000">
              <a:srgbClr val="FFE1FF"/>
            </a:glow>
          </a:effectLst>
        </p:spPr>
      </p:pic>
      <p:pic>
        <p:nvPicPr>
          <p:cNvPr id="10" name="图片 9" descr="图表, 折线图&#10;&#10;描述已自动生成">
            <a:extLst>
              <a:ext uri="{FF2B5EF4-FFF2-40B4-BE49-F238E27FC236}">
                <a16:creationId xmlns:a16="http://schemas.microsoft.com/office/drawing/2014/main" id="{CCA9C9F4-D952-0C48-A2F3-CA355A300891}"/>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b="7846"/>
          <a:stretch/>
        </p:blipFill>
        <p:spPr>
          <a:xfrm>
            <a:off x="1392671" y="4090543"/>
            <a:ext cx="1992188" cy="1835891"/>
          </a:xfrm>
          <a:prstGeom prst="rect">
            <a:avLst/>
          </a:prstGeom>
          <a:effectLst>
            <a:glow rad="127000">
              <a:srgbClr val="CCFF66"/>
            </a:glow>
          </a:effectLst>
        </p:spPr>
      </p:pic>
    </p:spTree>
    <p:extLst>
      <p:ext uri="{BB962C8B-B14F-4D97-AF65-F5344CB8AC3E}">
        <p14:creationId xmlns:p14="http://schemas.microsoft.com/office/powerpoint/2010/main" val="3780994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9687"/>
                                        </p:tgtEl>
                                        <p:attrNameLst>
                                          <p:attrName>style.visibility</p:attrName>
                                        </p:attrNameLst>
                                      </p:cBhvr>
                                      <p:to>
                                        <p:strVal val="visible"/>
                                      </p:to>
                                    </p:set>
                                    <p:animEffect transition="in" filter="wipe(left)">
                                      <p:cBhvr>
                                        <p:cTn id="17" dur="500"/>
                                        <p:tgtEl>
                                          <p:spTgt spid="1996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9684"/>
                                        </p:tgtEl>
                                        <p:attrNameLst>
                                          <p:attrName>style.visibility</p:attrName>
                                        </p:attrNameLst>
                                      </p:cBhvr>
                                      <p:to>
                                        <p:strVal val="visible"/>
                                      </p:to>
                                    </p:set>
                                    <p:animEffect transition="in" filter="wipe(left)">
                                      <p:cBhvr>
                                        <p:cTn id="22" dur="500"/>
                                        <p:tgtEl>
                                          <p:spTgt spid="199684"/>
                                        </p:tgtEl>
                                      </p:cBhvr>
                                    </p:animEffect>
                                  </p:childTnLst>
                                </p:cTn>
                              </p:par>
                            </p:childTnLst>
                          </p:cTn>
                        </p:par>
                        <p:par>
                          <p:cTn id="23" fill="hold" nodeType="withGroup">
                            <p:stCondLst>
                              <p:cond delay="500"/>
                            </p:stCondLst>
                            <p:childTnLst>
                              <p:par>
                                <p:cTn id="24" presetID="2" presetClass="entr" presetSubtype="4"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99686"/>
                                        </p:tgtEl>
                                        <p:attrNameLst>
                                          <p:attrName>style.visibility</p:attrName>
                                        </p:attrNameLst>
                                      </p:cBhvr>
                                      <p:to>
                                        <p:strVal val="visible"/>
                                      </p:to>
                                    </p:set>
                                    <p:animEffect transition="in" filter="wipe(left)">
                                      <p:cBhvr>
                                        <p:cTn id="37" dur="500"/>
                                        <p:tgtEl>
                                          <p:spTgt spid="19968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1000"/>
                                        <p:tgtEl>
                                          <p:spTgt spid="5"/>
                                        </p:tgtEl>
                                      </p:cBhvr>
                                    </p:animEffect>
                                    <p:anim calcmode="lin" valueType="num">
                                      <p:cBhvr>
                                        <p:cTn id="43" dur="1000" fill="hold"/>
                                        <p:tgtEl>
                                          <p:spTgt spid="5"/>
                                        </p:tgtEl>
                                        <p:attrNameLst>
                                          <p:attrName>ppt_x</p:attrName>
                                        </p:attrNameLst>
                                      </p:cBhvr>
                                      <p:tavLst>
                                        <p:tav tm="0">
                                          <p:val>
                                            <p:strVal val="#ppt_x"/>
                                          </p:val>
                                        </p:tav>
                                        <p:tav tm="100000">
                                          <p:val>
                                            <p:strVal val="#ppt_x"/>
                                          </p:val>
                                        </p:tav>
                                      </p:tavLst>
                                    </p:anim>
                                    <p:anim calcmode="lin" valueType="num">
                                      <p:cBhvr>
                                        <p:cTn id="4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99685"/>
                                        </p:tgtEl>
                                        <p:attrNameLst>
                                          <p:attrName>style.visibility</p:attrName>
                                        </p:attrNameLst>
                                      </p:cBhvr>
                                      <p:to>
                                        <p:strVal val="visible"/>
                                      </p:to>
                                    </p:set>
                                    <p:animEffect transition="in" filter="wipe(left)">
                                      <p:cBhvr>
                                        <p:cTn id="49" dur="500"/>
                                        <p:tgtEl>
                                          <p:spTgt spid="199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7" grpId="0" animBg="1"/>
      <p:bldP spid="7" grpId="0" animBg="1"/>
    </p:bld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42275</TotalTime>
  <Words>4768</Words>
  <Application>Microsoft Office PowerPoint</Application>
  <PresentationFormat>宽屏</PresentationFormat>
  <Paragraphs>1059</Paragraphs>
  <Slides>60</Slides>
  <Notes>7</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60</vt:i4>
      </vt:variant>
    </vt:vector>
  </HeadingPairs>
  <TitlesOfParts>
    <vt:vector size="75" baseType="lpstr">
      <vt:lpstr>黑体</vt:lpstr>
      <vt:lpstr>华文楷体</vt:lpstr>
      <vt:lpstr>楷体_GB2312</vt:lpstr>
      <vt:lpstr>隶书</vt:lpstr>
      <vt:lpstr>宋体</vt:lpstr>
      <vt:lpstr>Arial</vt:lpstr>
      <vt:lpstr>Arial Black</vt:lpstr>
      <vt:lpstr>Courier New</vt:lpstr>
      <vt:lpstr>Times New Roman</vt:lpstr>
      <vt:lpstr>Verdana</vt:lpstr>
      <vt:lpstr>Wingdings</vt:lpstr>
      <vt:lpstr>Pixel</vt:lpstr>
      <vt:lpstr>Equation</vt:lpstr>
      <vt:lpstr>Visio</vt:lpstr>
      <vt:lpstr>公式</vt:lpstr>
      <vt:lpstr>第 2 章 模糊模式识别</vt:lpstr>
      <vt:lpstr>确定隶属函数的方法</vt:lpstr>
      <vt:lpstr>PowerPoint 演示文稿</vt:lpstr>
      <vt:lpstr>基本原理</vt:lpstr>
      <vt:lpstr>遗传算法的特点</vt:lpstr>
      <vt:lpstr>标准遗传算法的基本流程</vt:lpstr>
      <vt:lpstr>遗传算法的流程</vt:lpstr>
      <vt:lpstr>染色体编码</vt:lpstr>
      <vt:lpstr>群体初始化</vt:lpstr>
      <vt:lpstr>适应值评价</vt:lpstr>
      <vt:lpstr>选择算子</vt:lpstr>
      <vt:lpstr>交叉算子(基因重组)</vt:lpstr>
      <vt:lpstr>变异算子</vt:lpstr>
      <vt:lpstr>未成熟收敛问题</vt:lpstr>
      <vt:lpstr>PowerPoint 演示文稿</vt:lpstr>
      <vt:lpstr>PowerPoint 演示文稿</vt:lpstr>
      <vt:lpstr>PowerPoint 演示文稿</vt:lpstr>
      <vt:lpstr>PowerPoint 演示文稿</vt:lpstr>
      <vt:lpstr>PowerPoint 演示文稿</vt:lpstr>
      <vt:lpstr>PowerPoint 演示文稿</vt:lpstr>
      <vt:lpstr>赌轮选择法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应用举例2</vt:lpstr>
      <vt:lpstr>步骤2: 适应值评价</vt:lpstr>
      <vt:lpstr>步骤3: 选择</vt:lpstr>
      <vt:lpstr>步骤3: 选择</vt:lpstr>
      <vt:lpstr>步骤4: 交配(交叉)</vt:lpstr>
      <vt:lpstr>PowerPoint 演示文稿</vt:lpstr>
      <vt:lpstr>PowerPoint 演示文稿</vt:lpstr>
      <vt:lpstr>步骤6: 重新评价染色体适应值</vt:lpstr>
      <vt:lpstr>步骤7: 判断结束</vt:lpstr>
      <vt:lpstr>参数设置</vt:lpstr>
      <vt:lpstr>参数设置</vt:lpstr>
      <vt:lpstr>参数设置</vt:lpstr>
      <vt:lpstr>遗传算法的实现——</vt:lpstr>
      <vt:lpstr>遗传算法的实现</vt:lpstr>
      <vt:lpstr>遗传算法的实现</vt:lpstr>
      <vt:lpstr>混合遗传算法</vt:lpstr>
      <vt:lpstr>PowerPoint 演示文稿</vt:lpstr>
      <vt:lpstr>用遗传算法求隶属函数</vt:lpstr>
      <vt:lpstr>用遗传算法求隶属函数</vt:lpstr>
      <vt:lpstr>用遗传算法求隶属函数</vt:lpstr>
      <vt:lpstr>用遗传算法求隶属函数</vt:lpstr>
      <vt:lpstr>用遗传算法求隶属函数</vt:lpstr>
      <vt:lpstr>用遗传算法求隶属函数</vt:lpstr>
      <vt:lpstr>用遗传算法求隶属函数</vt:lpstr>
      <vt:lpstr>用遗传算法求隶属函数</vt:lpstr>
      <vt:lpstr>用遗传算法求隶属函数</vt:lpstr>
      <vt:lpstr>确定F集隶属函数要注意的方面</vt:lpstr>
      <vt:lpstr>确定F集隶属函数要注意的方面</vt:lpstr>
      <vt:lpstr>确定F集隶属函数要注意的方面</vt:lpstr>
      <vt:lpstr>确定F集隶属函数要注意的方面</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  模糊模式识别原则</dc:title>
  <dc:creator>凌卫新; 微软用户</dc:creator>
  <cp:lastModifiedBy>wxling66@outlook.com</cp:lastModifiedBy>
  <cp:revision>514</cp:revision>
  <cp:lastPrinted>2015-03-23T16:47:07Z</cp:lastPrinted>
  <dcterms:created xsi:type="dcterms:W3CDTF">2007-03-27T07:40:26Z</dcterms:created>
  <dcterms:modified xsi:type="dcterms:W3CDTF">2026-03-31T11:34:12Z</dcterms:modified>
</cp:coreProperties>
</file>