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7" r:id="rId2"/>
    <p:sldId id="469" r:id="rId3"/>
    <p:sldId id="315" r:id="rId4"/>
    <p:sldId id="481" r:id="rId5"/>
    <p:sldId id="298" r:id="rId6"/>
    <p:sldId id="300" r:id="rId7"/>
    <p:sldId id="278" r:id="rId8"/>
    <p:sldId id="262" r:id="rId9"/>
    <p:sldId id="301" r:id="rId10"/>
    <p:sldId id="268" r:id="rId11"/>
    <p:sldId id="484" r:id="rId12"/>
    <p:sldId id="270" r:id="rId13"/>
    <p:sldId id="263" r:id="rId14"/>
    <p:sldId id="304" r:id="rId15"/>
    <p:sldId id="286" r:id="rId16"/>
    <p:sldId id="468" r:id="rId17"/>
    <p:sldId id="314" r:id="rId18"/>
    <p:sldId id="483" r:id="rId19"/>
    <p:sldId id="271" r:id="rId20"/>
    <p:sldId id="290" r:id="rId21"/>
    <p:sldId id="292" r:id="rId22"/>
    <p:sldId id="281" r:id="rId23"/>
    <p:sldId id="473" r:id="rId24"/>
    <p:sldId id="294" r:id="rId25"/>
    <p:sldId id="264" r:id="rId26"/>
    <p:sldId id="470" r:id="rId27"/>
    <p:sldId id="471" r:id="rId28"/>
    <p:sldId id="472" r:id="rId29"/>
    <p:sldId id="485" r:id="rId30"/>
    <p:sldId id="265" r:id="rId31"/>
    <p:sldId id="273" r:id="rId32"/>
    <p:sldId id="486" r:id="rId33"/>
    <p:sldId id="272" r:id="rId34"/>
    <p:sldId id="285" r:id="rId35"/>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703"/>
  </p:normalViewPr>
  <p:slideViewPr>
    <p:cSldViewPr showGuides="1">
      <p:cViewPr varScale="1">
        <p:scale>
          <a:sx n="81" d="100"/>
          <a:sy n="81" d="100"/>
        </p:scale>
        <p:origin x="68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3F966-DA28-46C8-A775-62EAA8C2A20A}" type="datetimeFigureOut">
              <a:rPr lang="zh-CN" altLang="en-US" smtClean="0"/>
              <a:t>2025/10/10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609E6-F0CE-4D71-A3BF-4DCFCA5848D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6EF5D7E-0B40-49F0-9725-83AB8B64291E}"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8663C-B466-4928-8691-3AC459CF1A5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F341E15D-F4EB-41D7-8742-1512B6B1B65E}"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F5D7E-0B40-49F0-9725-83AB8B64291E}" type="datetimeFigureOut">
              <a:rPr lang="zh-CN" altLang="en-US" smtClean="0"/>
              <a:t>2025/10/10</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F8663C-B466-4928-8691-3AC459CF1A5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google.com.hk/imgres?imgurl=http://news.stanford.edu/news/2006/june7/gifs/dantzig.jpg&amp;imgrefurl=http://news.stanford.edu/news/2006/june7/memldant-060706.html&amp;h=277&amp;w=182&amp;sz=1&amp;tbnid=kI6_yvWq67UwWM:&amp;tbnh=186&amp;tbnw=122&amp;prev=/search?q%3DDantzig%26tbm%3Disch%26tbo%3Du&amp;zoom=1&amp;q=Dantzig&amp;usg=__lfDIpKigJtoxmyNVFGfq04JSRGU=&amp;docid=E_97WUAseqtTIM&amp;itg=1&amp;sa=X&amp;ei=ii84Upy3D4aaiAeN1YCQDw&amp;ved=0CJQBEPwdMAo"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4.png"/><Relationship Id="rId7" Type="http://schemas.openxmlformats.org/officeDocument/2006/relationships/image" Target="../media/image44.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38.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48.png"/><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2" Type="http://schemas.openxmlformats.org/officeDocument/2006/relationships/hyperlink" Target="http://www.google.com.hk/imgres?imgurl=http://news.stanford.edu/news/2006/june7/gifs/dantzig.jpg&amp;imgrefurl=http://news.stanford.edu/news/2006/june7/memldant-060706.html&amp;h=277&amp;w=182&amp;sz=1&amp;tbnid=kI6_yvWq67UwWM:&amp;tbnh=186&amp;tbnw=122&amp;prev=/search?q%3DDantzig%26tbm%3Disch%26tbo%3Du&amp;zoom=1&amp;q=Dantzig&amp;usg=__lfDIpKigJtoxmyNVFGfq04JSRGU=&amp;docid=E_97WUAseqtTIM&amp;itg=1&amp;sa=X&amp;ei=ii84Upy3D4aaiAeN1YCQDw&amp;ved=0CJQBEPwdMAo"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embeddings/oleObject2.bin"/><Relationship Id="rId1" Type="http://schemas.openxmlformats.org/officeDocument/2006/relationships/slideLayout" Target="../slideLayouts/slideLayout12.xml"/><Relationship Id="rId5" Type="http://schemas.openxmlformats.org/officeDocument/2006/relationships/image" Target="../media/image70.png"/><Relationship Id="rId4" Type="http://schemas.openxmlformats.org/officeDocument/2006/relationships/image" Target="../media/image69.png"/></Relationships>
</file>

<file path=ppt/slides/_rels/slide3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package" Target="../embeddings/Microsoft_Word_Document.docx"/><Relationship Id="rId1" Type="http://schemas.openxmlformats.org/officeDocument/2006/relationships/slideLayout" Target="../slideLayouts/slideLayout2.xml"/><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AutoShape 2" descr="data:image/jpeg;base64,/9j/4AAQSkZJRgABAQAAAQABAAD/2wCEAAkGBwgHBgkIBwgKCgkLDRYPDQwMDRsUFRAWIB0iIiAdHx8kKDQsJCYxJx8fLT0tMTU3Ojo6Iys/RD84QzQ5OjcBCgoKDQwNGg8PGjclHyU3Nzc3Nzc3Nzc3Nzc3Nzc3Nzc3Nzc3Nzc3Nzc3Nzc3Nzc3Nzc3Nzc3Nzc3Nzc3Nzc3N//AABEIALoAegMBIgACEQEDEQH/xAAcAAABBQEBAQAAAAAAAAAAAAADAgQFBgcBAAj/xAA/EAABAwIEAwUHAgIIBwAAAAABAgMRAAQFEiExBkFREyJhcZEHFDJCgaGxI8HR8BU0UlNigpLhFhckM3Ky0v/EABQBAQAAAAAAAAAAAAAAAAAAAAD/xAAUEQEAAAAAAAAAAAAAAAAAAAAA/9oADAMBAAIRAxEAPwDKi3XOzijEVyKAWWvZaJXqAeWklNFIpJoB5a4E0QivZaBASK9FLiuxQDy1wposVyKBGWuhNLiupFBxKaVlFdApWWgURXIopFJg0CAK4RRIryUFRASCSdAOtAMAq0AJnaprAOGLzGHk93smTrnXpImNKn+FeFV35b7Zlh5kKlfeOYGNQVCtcwrCbCySnKhIIEAJFBljXsuefgpuyjWCYCtP4+dOf+VbjU538wkwcsZRy+ta8B/doCR5V5SXTzoPnbGeEcSw1ag7aL7pMdn386ZGw66zUG/aOMuFCkkxBzBJ2NfS16wpxP6iEqHRQmoC/wAKw++SUXlu2CJ75SJ18aDAor2WrjxZwkcMLlzZBbtqVTMypHh4jx9aqRTQCilARS8tdCaBIpUUoJpWU0Biik5aOoUnLQACRmGbadaneFMLGJYghrPGsyAFSOflyqIy61pvs3wwNWSrt5sIcSmSqBMHbXqaC3WFqzh9qi3tk5EpERO1P7aE6jNO5nWaaW6FOKKiNDUk0AlO3hrQO0EczGldD6JiRHlUZcPqCoEjxpgt9QUQDrQTry21AyRFRN4lG8zO00xXeqRMq08yKELxpY0UD0EzQIuMOZu0qYUst5zAVGYfUdKynivhu9wK9Uh9uWVE9m6jVKhWqO3aAUqSeetHxxq3xPCC28lKkFOxOx5RQYME13LT3ELUWt0tmdUGIim4TQISmiZaUlNFy0CiKTFFIpBoFWlubm6aYBguLCQYnc1tmHWDeGYHaWrYAzEFZHOB/GsewSE4tauGYQ6lRitkFyHuySCIQKCStEAfTanJSDTW210pyqUpmJoGl0jVICZ325VF3WjmYCNZqZXC8w6AGo+5ZzgKGw0oK7dOnKo8huKg3rtxCyQSNZA5RVhu7cJCidJJmoK+ZSc0KjoaAfvq1oSc+saedSNriyS0GgArnlJ3j6g1XFpU0rLB2mab3dwq1t13OYy2CfttQD4pbSt9NynIouDVSdIPSPrUEE1L377V/hrV5brKkLcJIPIx/vUVFB4DWlxXkil5aDpFJIokUkigPht2LS6bX2bahmElaZgVp+E3zK2e1eeaQTqZUANelZMRWh8NGzW/YotmuycRZBQVJJJJAUqfoRFBbU4szbiVof1OkMLg/WK4vilgJIVY3RBHxBKY+6hUXiV42y6oXTaQsjMS4SUDbXqfKqZjPEjhxL3fDrR5RbTnWVW+URrOgMjwoNEw/HLS9fW20paVZYUhxGVSddP31GlIucXQ1mtkpLr6lEtoHMAak+A0+pHWq5hdyC/aNJCEO3QKQr4lASnYnx/FV/i11/BsbaIxNxbTsph7XKrceW1BKYtjdwVZEONlRGiGUBSh5yTG/QVXL6+vLVxRui42kKMgpQrX6TReHC4+tXvPZK7NJCHFJzJJ5SnnqdzNRuI2+MPPuu4gLXc5CzpM+WlBINXvb26lvuLCUpnRCZB8NtKWuzbdcKyp1TaSQEL0nXmPLlUXa5k2TibllaXeyUAlMKzEiOVTrj6HGVQNIGx1HL1oGjxTYtHDmEpSy8ogg9cpI/FQY1qZxN8PX62y3kUypt0HqBA9IJqIAoOpolIApVAo0k0QikkUAzVs4OdXmt3hEsrLC55IVqn6ZiR5kVVSPCrFwLcJTjJtX0hbVyjIpChIMGYI50Gi3aEvAKU0FqTsoictRN/hzuIFCEtQhJ1jY/Sp1FiMgQzdXTInQBzPH+sGmeJos2Chh166u3nTlCFOmD5pTA+1AywjDgvEkPgBTFqChpcfEsfER4cv8tVP2j4cb5ai2JjXMPlNafZtpS2lCEhCUN5QByFUjjg9gqEwDoPWgonDtwu2WGrtDiViJUEkhRHPTaan7h1m4yo/UUenYq/+f3qvPXDtipp5s5ipyIJ0Aif41bcOuxc24cVAVGxMxQME2xDJSoKCSQQHFTEGdBJ/O3Lp19AQErcBURPnNGvsUDJKSAUzBB5UxddTdWiy2YgmDOoBB/hQFvUW7ts5fpy9sUBpcnUJEkaedV0Cnrtyj3IMNggqILk9R+aaedB0DWlRSRSqAhFIIoiqQaBBo+H3q7C9ZuW9ezWFR16j0oJpJoNlbvO0ZStsylYCkkdKbWDaTfuXzpTmTKEFR+FI3P1/aobgbEEXeGe7LV+pbdwj/B8p/b6VI4hb3Tra7ayeDTueU5vhIJkExvzEeFBy94mNpehCmD7uof8Adz7dDHj0qi8bYxc4i8n3FgvLzBBHRU/z61PpwF1lwrxNT63Ae/7k0Ckp1MhBVm3jaZnzhqqzsGXSq2xF/M531BeGvZgqQY2gHT7UGfITeuKHvRJ55QmAQeY9KnrHES0juiMuhHhQceZvlLa7Jv8AVAShodmEjnOmYnpRsEwl10lFy7neM5tIA1/3oAYkoqWFRGZQjXxr2GvhlpxJIOgTtXL55Dl68pvVlgqQ348poN9b3GHNYZduEC2vy6AI2KSAD+aBZr1ertB6lRXAKXFAtWu1DNSreFrX8S8p8qKcJt0/G4tR9KCDIorVo+98DZjqdBU0li1ZPcbT5nU0hbiliJ05eFAjBVP4RfJuUuTycbT8yek/etFsLhq6Uy+ysKbUAUKHMVmdxq3A0Udqvns8sffeF7h5gw/b3awnooZUmPzQWJ5MKSsJzFOogwRUJi763CVOtqJJ+Y7VOsPpeakDKvmDTPFghxHZ5RMUGeYg29c3rbTCDmmM88ulRuKuLw+6eDRyEN5B61aLVxNhizrlzHYJbUUqVyVOgqhcRYn75eOKbUIzHXrQNFqKuytmRK15QOsmrD7WkosU8OYaggC2t1lSf9IB+xpPs8wg3mKf0i8n/p7VUgn5nOXpVa9o2MDFuLblbaszNuAwgg75dz6k0BsNuu2aCV/ENqfCqnZvrSoKCiOVTdtiSM4bdP8AmoJMClxSUjMgKSQUnn1pelBZVOjnvTdx7f7VxxYnURTBT7SrlCHFwiY350Dmc400SOfWkxoTy5CjqSkmZjwFAdXEgnUcqBu8chkjboa1D2Nx/wAJPGNTeuz4/DH2isqfWVNmJnxrWvY+1k4MQvm7curPrH7UDnHLNy1uFqaTlaclSFjYK5pP11+tVVN/f3a1paS0FpJT31ET9jWkY5eWVjhdxc4mQLZCSVDLJV4JHM9ANapSLK0vEM32GYxhnu7605EPPZFhStMhIJ70kCImaDJuJcQvnrx1u6lvITKRsKb8O4DdY68lwBTVkk958j4vBA5+e1bNf+zfDr95D2IOKcM5lso0QpX+I7keFO7jCbfDrY5QlKGxASNAKCj8RYjb8J8MrTaJS2QnsrdA3Kzz8epNYgkqWsqUSSTJJ51bPaFi7uNYrlbn3S3JQ0P7RnVX8KrLTRB1oDsAyAJpyJQ8jTQivW7BAkkzR1ICFNqX1I18aCYsnyEDw08KfdqjmBUPb5okR1inZSqT3qCexB9LKVagHlUA2TdP6jQHXXc13GbxSnUtoGZRgZRzNP8ADbE2yAp8Dtjrk5JoHjbi0NZVE5gPiPShzmzazPUzS1fESTJOmnKvBOX+d6BtdrAZgg7TJ5VuXs+tPceDsMbiCprtDp/a1/esKvWlXLzFsiQp9xLaT4kgV9C3FuTYjD7ZRaQhoIUtPypAiB40FG4lxO6xDiVAaXGGsNlCJSMqnCe8uT4SPKetZxxEq5w/BHlNF1glYJ7InLm5HTnoPStuxjh62xLh++w5KciXLdSELA1Co0PrXz5xDc3Nvh6UWTrgQ+zL6NoGm46yfvQbrwZxSOIuErPECQbgt9ncAcnU6K8p38jTHjm/ycKvqQ5lW5CAQdp0rPvYfePNJvLFyfdrk9oyTzdSNR9U/wDrSvaJiiy57ghYLSVlyJ6jT0H5oKJflK3QhKYH3pLNqArveleYTJK1TrHpTxhPa5jsOp/FB5LAk7ab+FNsRTFq4rWU6iPA0u5vmmF/qLhQEFMzNMzduX6jb27cBYgrXQS9uhPYpXqcw50fInqr1rrTCWmUNjXKAJjejhGmiU0EXhyvesdYPJK8x+gNWxKQE7bnnVX4VZK7xVydQAYirXIAG1AJacqTIg+FIVA8KKpSSIJ1oZMIidtqBlbrdc4swZthAU4LxtSUEaGFA619HLSEskfMdT4msE9mtqMQ9pbClglNo0p3rrED81vbpnuig5mSzarcWQlKUlSjGwivl3i95TZbdt3IhoJy6juq2UPT719H8W3fuPDd4EwXnmVMspmMy1JIHpv9K+c+OMKuWW23nMgCEJSQlc6a6/b7UEpwbiDdp/RZUcobT2qj5ak1E8Q3ir/Eri6VoXHCsp6SdvpUTw648ta1qP6TDUeZOwozqip07mTqetApEFBgxPOlvOkMpZtye0VuedI+LQRIHWltIIWFqGh0BoI/FbFLbaVt/GkSfGn+BIDqEu+FFSjO5nVBCUyQaHhALF28xMoPfEctdqCXkyIFEyo/vPsaH0jTSiyeYM+VAXBLb3ezSAACdZp+QdKTbf1dvyog+L6UA1wTInzobvdQry1o6udBv9LVZGh11oJ32HW+fiDG74/KhLSfUmtoQmIUd6yH2Cf1fFjz7YVr7mjCiN4NBkvGnEKsR4uFraq/RwtcDeFOfMfUx9Kzf2nYi45iLdkmQlmStUghR2A03AH5NWvEkpHEmIEACVgmBzyis44qJOJEEz3qB3Zte54O0n53/wBQnz2+1CT3iJGv70/xXRxIG0DSmSPiT5igO2mD1owSSAgmNJ8qGNz/AORowA7NenX8UHSUs261rKcoOsnQ0nCGSQ5dOJIcdIgRskbD96bYtqw0DtmR+RU4gDv+VAhWbOPh9K9FKO9LgdKD/9k=">
            <a:hlinkClick r:id="rId2"/>
          </p:cNvPr>
          <p:cNvSpPr>
            <a:spLocks noChangeAspect="1" noChangeArrowheads="1"/>
          </p:cNvSpPr>
          <p:nvPr/>
        </p:nvSpPr>
        <p:spPr bwMode="auto">
          <a:xfrm>
            <a:off x="1524000" y="-868363"/>
            <a:ext cx="1162050" cy="1771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chemeClr val="tx2"/>
              </a:buClr>
              <a:buSzPct val="90000"/>
              <a:buFont typeface="Cambria" panose="02040503050406030204" pitchFamily="18" charset="0"/>
              <a:buChar char="+"/>
              <a:defRPr sz="3200">
                <a:solidFill>
                  <a:schemeClr val="tx1"/>
                </a:solidFill>
                <a:latin typeface="Calibri" panose="020F0502020204030204" pitchFamily="34" charset="0"/>
              </a:defRPr>
            </a:lvl1pPr>
            <a:lvl2pPr marL="742950" indent="-285750" algn="l">
              <a:spcBef>
                <a:spcPct val="20000"/>
              </a:spcBef>
              <a:buClr>
                <a:schemeClr val="tx2"/>
              </a:buClr>
              <a:buSzPct val="100000"/>
              <a:buFont typeface="Cambria" panose="02040503050406030204" pitchFamily="18" charset="0"/>
              <a:buChar char="–"/>
              <a:defRPr sz="2800">
                <a:solidFill>
                  <a:schemeClr val="tx1"/>
                </a:solidFill>
                <a:latin typeface="Calibri" panose="020F0502020204030204" pitchFamily="34" charset="0"/>
              </a:defRPr>
            </a:lvl2pPr>
            <a:lvl3pPr marL="1143000" indent="-228600" algn="l">
              <a:spcBef>
                <a:spcPct val="20000"/>
              </a:spcBef>
              <a:buClr>
                <a:schemeClr val="tx2"/>
              </a:buClr>
              <a:buSzPct val="60000"/>
              <a:buFont typeface="Wingdings 2" panose="05020102010507070707" pitchFamily="18" charset="2"/>
              <a:buChar char="Ï"/>
              <a:defRPr sz="2400">
                <a:solidFill>
                  <a:schemeClr val="tx1"/>
                </a:solidFill>
                <a:latin typeface="Calibri" panose="020F0502020204030204" pitchFamily="34" charset="0"/>
              </a:defRPr>
            </a:lvl3pPr>
            <a:lvl4pPr marL="1600200" indent="-228600" algn="l">
              <a:spcBef>
                <a:spcPct val="20000"/>
              </a:spcBef>
              <a:buClr>
                <a:schemeClr val="tx2"/>
              </a:buClr>
              <a:buSzPct val="90000"/>
              <a:buFont typeface="Calibri" panose="020F0502020204030204" pitchFamily="34" charset="0"/>
              <a:buChar char="÷"/>
              <a:defRPr sz="2000">
                <a:solidFill>
                  <a:schemeClr val="tx1"/>
                </a:solidFill>
                <a:latin typeface="Calibri" panose="020F0502020204030204" pitchFamily="34" charset="0"/>
              </a:defRPr>
            </a:lvl4pPr>
            <a:lvl5pPr marL="2057400" indent="-228600" algn="l">
              <a:spcBef>
                <a:spcPct val="20000"/>
              </a:spcBef>
              <a:buClr>
                <a:schemeClr val="tx2"/>
              </a:buClr>
              <a:buSzPct val="100000"/>
              <a:buFont typeface="Cambria" panose="02040503050406030204" pitchFamily="18"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9pPr>
          </a:lstStyle>
          <a:p>
            <a:pPr algn="ctr">
              <a:spcBef>
                <a:spcPct val="0"/>
              </a:spcBef>
              <a:buClrTx/>
              <a:buSzTx/>
              <a:buFontTx/>
              <a:buNone/>
            </a:pPr>
            <a:endParaRPr lang="zh-CN" altLang="en-US" sz="1600">
              <a:latin typeface="Times New Roman" panose="02020603050405020304" pitchFamily="18" charset="0"/>
            </a:endParaRPr>
          </a:p>
        </p:txBody>
      </p:sp>
      <p:sp>
        <p:nvSpPr>
          <p:cNvPr id="4101" name="AutoShape 4" descr="data:image/jpeg;base64,/9j/4AAQSkZJRgABAQAAAQABAAD/2wCEAAkGBwgHBgkIBwgKCgkLDRYPDQwMDRsUFRAWIB0iIiAdHx8kKDQsJCYxJx8fLT0tMTU3Ojo6Iys/RD84QzQ5OjcBCgoKDQwNGg8PGjclHyU3Nzc3Nzc3Nzc3Nzc3Nzc3Nzc3Nzc3Nzc3Nzc3Nzc3Nzc3Nzc3Nzc3Nzc3Nzc3Nzc3N//AABEIALoAegMBIgACEQEDEQH/xAAcAAABBQEBAQAAAAAAAAAAAAADAgQFBgcBAAj/xAA/EAABAwIEAwUHAgIIBwAAAAABAgMRAAQFEiExBkFREyJhcZEHFDJCgaGxI8HR8BU0UlNigpLhFhckM3Ky0v/EABQBAQAAAAAAAAAAAAAAAAAAAAD/xAAUEQEAAAAAAAAAAAAAAAAAAAAA/9oADAMBAAIRAxEAPwDKi3XOzijEVyKAWWvZaJXqAeWklNFIpJoB5a4E0QivZaBASK9FLiuxQDy1wposVyKBGWuhNLiupFBxKaVlFdApWWgURXIopFJg0CAK4RRIryUFRASCSdAOtAMAq0AJnaprAOGLzGHk93smTrnXpImNKn+FeFV35b7Zlh5kKlfeOYGNQVCtcwrCbCySnKhIIEAJFBljXsuefgpuyjWCYCtP4+dOf+VbjU538wkwcsZRy+ta8B/doCR5V5SXTzoPnbGeEcSw1ag7aL7pMdn386ZGw66zUG/aOMuFCkkxBzBJ2NfS16wpxP6iEqHRQmoC/wAKw++SUXlu2CJ75SJ18aDAor2WrjxZwkcMLlzZBbtqVTMypHh4jx9aqRTQCilARS8tdCaBIpUUoJpWU0Biik5aOoUnLQACRmGbadaneFMLGJYghrPGsyAFSOflyqIy61pvs3wwNWSrt5sIcSmSqBMHbXqaC3WFqzh9qi3tk5EpERO1P7aE6jNO5nWaaW6FOKKiNDUk0AlO3hrQO0EczGldD6JiRHlUZcPqCoEjxpgt9QUQDrQTry21AyRFRN4lG8zO00xXeqRMq08yKELxpY0UD0EzQIuMOZu0qYUst5zAVGYfUdKynivhu9wK9Uh9uWVE9m6jVKhWqO3aAUqSeetHxxq3xPCC28lKkFOxOx5RQYME13LT3ELUWt0tmdUGIim4TQISmiZaUlNFy0CiKTFFIpBoFWlubm6aYBguLCQYnc1tmHWDeGYHaWrYAzEFZHOB/GsewSE4tauGYQ6lRitkFyHuySCIQKCStEAfTanJSDTW210pyqUpmJoGl0jVICZ325VF3WjmYCNZqZXC8w6AGo+5ZzgKGw0oK7dOnKo8huKg3rtxCyQSNZA5RVhu7cJCidJJmoK+ZSc0KjoaAfvq1oSc+saedSNriyS0GgArnlJ3j6g1XFpU0rLB2mab3dwq1t13OYy2CfttQD4pbSt9NynIouDVSdIPSPrUEE1L377V/hrV5brKkLcJIPIx/vUVFB4DWlxXkil5aDpFJIokUkigPht2LS6bX2bahmElaZgVp+E3zK2e1eeaQTqZUANelZMRWh8NGzW/YotmuycRZBQVJJJJAUqfoRFBbU4szbiVof1OkMLg/WK4vilgJIVY3RBHxBKY+6hUXiV42y6oXTaQsjMS4SUDbXqfKqZjPEjhxL3fDrR5RbTnWVW+URrOgMjwoNEw/HLS9fW20paVZYUhxGVSddP31GlIucXQ1mtkpLr6lEtoHMAak+A0+pHWq5hdyC/aNJCEO3QKQr4lASnYnx/FV/i11/BsbaIxNxbTsph7XKrceW1BKYtjdwVZEONlRGiGUBSh5yTG/QVXL6+vLVxRui42kKMgpQrX6TReHC4+tXvPZK7NJCHFJzJJ5SnnqdzNRuI2+MPPuu4gLXc5CzpM+WlBINXvb26lvuLCUpnRCZB8NtKWuzbdcKyp1TaSQEL0nXmPLlUXa5k2TibllaXeyUAlMKzEiOVTrj6HGVQNIGx1HL1oGjxTYtHDmEpSy8ogg9cpI/FQY1qZxN8PX62y3kUypt0HqBA9IJqIAoOpolIApVAo0k0QikkUAzVs4OdXmt3hEsrLC55IVqn6ZiR5kVVSPCrFwLcJTjJtX0hbVyjIpChIMGYI50Gi3aEvAKU0FqTsoictRN/hzuIFCEtQhJ1jY/Sp1FiMgQzdXTInQBzPH+sGmeJos2Chh166u3nTlCFOmD5pTA+1AywjDgvEkPgBTFqChpcfEsfER4cv8tVP2j4cb5ai2JjXMPlNafZtpS2lCEhCUN5QByFUjjg9gqEwDoPWgonDtwu2WGrtDiViJUEkhRHPTaan7h1m4yo/UUenYq/+f3qvPXDtipp5s5ipyIJ0Aif41bcOuxc24cVAVGxMxQME2xDJSoKCSQQHFTEGdBJ/O3Lp19AQErcBURPnNGvsUDJKSAUzBB5UxddTdWiy2YgmDOoBB/hQFvUW7ts5fpy9sUBpcnUJEkaedV0Cnrtyj3IMNggqILk9R+aaedB0DWlRSRSqAhFIIoiqQaBBo+H3q7C9ZuW9ezWFR16j0oJpJoNlbvO0ZStsylYCkkdKbWDaTfuXzpTmTKEFR+FI3P1/aobgbEEXeGe7LV+pbdwj/B8p/b6VI4hb3Tra7ayeDTueU5vhIJkExvzEeFBy94mNpehCmD7uof8Adz7dDHj0qi8bYxc4i8n3FgvLzBBHRU/z61PpwF1lwrxNT63Ae/7k0Ckp1MhBVm3jaZnzhqqzsGXSq2xF/M531BeGvZgqQY2gHT7UGfITeuKHvRJ55QmAQeY9KnrHES0juiMuhHhQceZvlLa7Jv8AVAShodmEjnOmYnpRsEwl10lFy7neM5tIA1/3oAYkoqWFRGZQjXxr2GvhlpxJIOgTtXL55Dl68pvVlgqQ348poN9b3GHNYZduEC2vy6AI2KSAD+aBZr1ertB6lRXAKXFAtWu1DNSreFrX8S8p8qKcJt0/G4tR9KCDIorVo+98DZjqdBU0li1ZPcbT5nU0hbiliJ05eFAjBVP4RfJuUuTycbT8yek/etFsLhq6Uy+ysKbUAUKHMVmdxq3A0Udqvns8sffeF7h5gw/b3awnooZUmPzQWJ5MKSsJzFOogwRUJi763CVOtqJJ+Y7VOsPpeakDKvmDTPFghxHZ5RMUGeYg29c3rbTCDmmM88ulRuKuLw+6eDRyEN5B61aLVxNhizrlzHYJbUUqVyVOgqhcRYn75eOKbUIzHXrQNFqKuytmRK15QOsmrD7WkosU8OYaggC2t1lSf9IB+xpPs8wg3mKf0i8n/p7VUgn5nOXpVa9o2MDFuLblbaszNuAwgg75dz6k0BsNuu2aCV/ENqfCqnZvrSoKCiOVTdtiSM4bdP8AmoJMClxSUjMgKSQUnn1pelBZVOjnvTdx7f7VxxYnURTBT7SrlCHFwiY350Dmc400SOfWkxoTy5CjqSkmZjwFAdXEgnUcqBu8chkjboa1D2Nx/wAJPGNTeuz4/DH2isqfWVNmJnxrWvY+1k4MQvm7curPrH7UDnHLNy1uFqaTlaclSFjYK5pP11+tVVN/f3a1paS0FpJT31ET9jWkY5eWVjhdxc4mQLZCSVDLJV4JHM9ANapSLK0vEM32GYxhnu7605EPPZFhStMhIJ70kCImaDJuJcQvnrx1u6lvITKRsKb8O4DdY68lwBTVkk958j4vBA5+e1bNf+zfDr95D2IOKcM5lso0QpX+I7keFO7jCbfDrY5QlKGxASNAKCj8RYjb8J8MrTaJS2QnsrdA3Kzz8epNYgkqWsqUSSTJJ51bPaFi7uNYrlbn3S3JQ0P7RnVX8KrLTRB1oDsAyAJpyJQ8jTQivW7BAkkzR1ICFNqX1I18aCYsnyEDw08KfdqjmBUPb5okR1inZSqT3qCexB9LKVagHlUA2TdP6jQHXXc13GbxSnUtoGZRgZRzNP8ADbE2yAp8Dtjrk5JoHjbi0NZVE5gPiPShzmzazPUzS1fESTJOmnKvBOX+d6BtdrAZgg7TJ5VuXs+tPceDsMbiCprtDp/a1/esKvWlXLzFsiQp9xLaT4kgV9C3FuTYjD7ZRaQhoIUtPypAiB40FG4lxO6xDiVAaXGGsNlCJSMqnCe8uT4SPKetZxxEq5w/BHlNF1glYJ7InLm5HTnoPStuxjh62xLh++w5KciXLdSELA1Co0PrXz5xDc3Nvh6UWTrgQ+zL6NoGm46yfvQbrwZxSOIuErPECQbgt9ncAcnU6K8p38jTHjm/ycKvqQ5lW5CAQdp0rPvYfePNJvLFyfdrk9oyTzdSNR9U/wDrSvaJiiy57ghYLSVlyJ6jT0H5oKJflK3QhKYH3pLNqArveleYTJK1TrHpTxhPa5jsOp/FB5LAk7ab+FNsRTFq4rWU6iPA0u5vmmF/qLhQEFMzNMzduX6jb27cBYgrXQS9uhPYpXqcw50fInqr1rrTCWmUNjXKAJjejhGmiU0EXhyvesdYPJK8x+gNWxKQE7bnnVX4VZK7xVydQAYirXIAG1AJacqTIg+FIVA8KKpSSIJ1oZMIidtqBlbrdc4swZthAU4LxtSUEaGFA619HLSEskfMdT4msE9mtqMQ9pbClglNo0p3rrED81vbpnuig5mSzarcWQlKUlSjGwivl3i95TZbdt3IhoJy6juq2UPT719H8W3fuPDd4EwXnmVMspmMy1JIHpv9K+c+OMKuWW23nMgCEJSQlc6a6/b7UEpwbiDdp/RZUcobT2qj5ak1E8Q3ir/Eri6VoXHCsp6SdvpUTw648ta1qP6TDUeZOwozqip07mTqetApEFBgxPOlvOkMpZtye0VuedI+LQRIHWltIIWFqGh0BoI/FbFLbaVt/GkSfGn+BIDqEu+FFSjO5nVBCUyQaHhALF28xMoPfEctdqCXkyIFEyo/vPsaH0jTSiyeYM+VAXBLb3ezSAACdZp+QdKTbf1dvyog+L6UA1wTInzobvdQry1o6udBv9LVZGh11oJ32HW+fiDG74/KhLSfUmtoQmIUd6yH2Cf1fFjz7YVr7mjCiN4NBkvGnEKsR4uFraq/RwtcDeFOfMfUx9Kzf2nYi45iLdkmQlmStUghR2A03AH5NWvEkpHEmIEACVgmBzyis44qJOJEEz3qB3Zte54O0n53/wBQnz2+1CT3iJGv70/xXRxIG0DSmSPiT5igO2mD1owSSAgmNJ8qGNz/AORowA7NenX8UHSUs261rKcoOsnQ0nCGSQ5dOJIcdIgRskbD96bYtqw0DtmR+RU4gDv+VAhWbOPh9K9FKO9LgdKD/9k=">
            <a:hlinkClick r:id="rId2"/>
          </p:cNvPr>
          <p:cNvSpPr>
            <a:spLocks noChangeAspect="1" noChangeArrowheads="1"/>
          </p:cNvSpPr>
          <p:nvPr/>
        </p:nvSpPr>
        <p:spPr bwMode="auto">
          <a:xfrm>
            <a:off x="1676400" y="-715963"/>
            <a:ext cx="1162050" cy="1771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chemeClr val="tx2"/>
              </a:buClr>
              <a:buSzPct val="90000"/>
              <a:buFont typeface="Cambria" panose="02040503050406030204" pitchFamily="18" charset="0"/>
              <a:buChar char="+"/>
              <a:defRPr sz="3200">
                <a:solidFill>
                  <a:schemeClr val="tx1"/>
                </a:solidFill>
                <a:latin typeface="Calibri" panose="020F0502020204030204" pitchFamily="34" charset="0"/>
              </a:defRPr>
            </a:lvl1pPr>
            <a:lvl2pPr marL="742950" indent="-285750" algn="l">
              <a:spcBef>
                <a:spcPct val="20000"/>
              </a:spcBef>
              <a:buClr>
                <a:schemeClr val="tx2"/>
              </a:buClr>
              <a:buSzPct val="100000"/>
              <a:buFont typeface="Cambria" panose="02040503050406030204" pitchFamily="18" charset="0"/>
              <a:buChar char="–"/>
              <a:defRPr sz="2800">
                <a:solidFill>
                  <a:schemeClr val="tx1"/>
                </a:solidFill>
                <a:latin typeface="Calibri" panose="020F0502020204030204" pitchFamily="34" charset="0"/>
              </a:defRPr>
            </a:lvl2pPr>
            <a:lvl3pPr marL="1143000" indent="-228600" algn="l">
              <a:spcBef>
                <a:spcPct val="20000"/>
              </a:spcBef>
              <a:buClr>
                <a:schemeClr val="tx2"/>
              </a:buClr>
              <a:buSzPct val="60000"/>
              <a:buFont typeface="Wingdings 2" panose="05020102010507070707" pitchFamily="18" charset="2"/>
              <a:buChar char="Ï"/>
              <a:defRPr sz="2400">
                <a:solidFill>
                  <a:schemeClr val="tx1"/>
                </a:solidFill>
                <a:latin typeface="Calibri" panose="020F0502020204030204" pitchFamily="34" charset="0"/>
              </a:defRPr>
            </a:lvl3pPr>
            <a:lvl4pPr marL="1600200" indent="-228600" algn="l">
              <a:spcBef>
                <a:spcPct val="20000"/>
              </a:spcBef>
              <a:buClr>
                <a:schemeClr val="tx2"/>
              </a:buClr>
              <a:buSzPct val="90000"/>
              <a:buFont typeface="Calibri" panose="020F0502020204030204" pitchFamily="34" charset="0"/>
              <a:buChar char="÷"/>
              <a:defRPr sz="2000">
                <a:solidFill>
                  <a:schemeClr val="tx1"/>
                </a:solidFill>
                <a:latin typeface="Calibri" panose="020F0502020204030204" pitchFamily="34" charset="0"/>
              </a:defRPr>
            </a:lvl4pPr>
            <a:lvl5pPr marL="2057400" indent="-228600" algn="l">
              <a:spcBef>
                <a:spcPct val="20000"/>
              </a:spcBef>
              <a:buClr>
                <a:schemeClr val="tx2"/>
              </a:buClr>
              <a:buSzPct val="100000"/>
              <a:buFont typeface="Cambria" panose="02040503050406030204" pitchFamily="18"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9pPr>
          </a:lstStyle>
          <a:p>
            <a:pPr algn="ctr">
              <a:spcBef>
                <a:spcPct val="0"/>
              </a:spcBef>
              <a:buClrTx/>
              <a:buSzTx/>
              <a:buFontTx/>
              <a:buNone/>
            </a:pPr>
            <a:endParaRPr lang="zh-CN" altLang="en-US" sz="1600">
              <a:latin typeface="Times New Roman" panose="02020603050405020304" pitchFamily="18" charset="0"/>
            </a:endParaRPr>
          </a:p>
        </p:txBody>
      </p:sp>
      <p:sp>
        <p:nvSpPr>
          <p:cNvPr id="4" name="Rectangle 2"/>
          <p:cNvSpPr txBox="1">
            <a:spLocks noChangeArrowheads="1"/>
          </p:cNvSpPr>
          <p:nvPr/>
        </p:nvSpPr>
        <p:spPr>
          <a:xfrm>
            <a:off x="1415480" y="1700808"/>
            <a:ext cx="8534400" cy="119538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a:spcBef>
                <a:spcPct val="0"/>
              </a:spcBef>
              <a:buFontTx/>
              <a:buNone/>
            </a:pPr>
            <a:r>
              <a:rPr lang="zh-CN" altLang="en-US" sz="4400" b="1" dirty="0">
                <a:solidFill>
                  <a:srgbClr val="000000"/>
                </a:solidFill>
                <a:latin typeface="宋体" panose="02010600030101010101" pitchFamily="2" charset="-122"/>
              </a:rPr>
              <a:t>第二章  单纯形法</a:t>
            </a:r>
          </a:p>
          <a:p>
            <a:pPr>
              <a:spcBef>
                <a:spcPct val="0"/>
              </a:spcBef>
              <a:buFontTx/>
              <a:buNone/>
            </a:pPr>
            <a:endParaRPr lang="zh-CN" altLang="en-US" sz="4400" dirty="0">
              <a:latin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9376" y="836712"/>
            <a:ext cx="10801200" cy="1944763"/>
          </a:xfrm>
          <a:prstGeom prst="rect">
            <a:avLst/>
          </a:prstGeom>
          <a:noFill/>
        </p:spPr>
        <p:txBody>
          <a:bodyPr wrap="square">
            <a:spAutoFit/>
          </a:bodyPr>
          <a:lstStyle/>
          <a:p>
            <a:pPr marL="269875" indent="356870" algn="just">
              <a:lnSpc>
                <a:spcPct val="130000"/>
              </a:lnSpc>
              <a:tabLst>
                <a:tab pos="269875" algn="l"/>
                <a:tab pos="266700" algn="l"/>
              </a:tabLst>
            </a:pPr>
            <a:r>
              <a:rPr lang="en-US" altLang="zh-CN" sz="2400" dirty="0">
                <a:effectLst/>
                <a:latin typeface="+mn-ea"/>
              </a:rPr>
              <a:t>  </a:t>
            </a:r>
            <a:r>
              <a:rPr lang="zh-CN" altLang="zh-CN" sz="2400" dirty="0">
                <a:effectLst/>
                <a:latin typeface="+mn-ea"/>
              </a:rPr>
              <a:t>由上节的定理知，若线性规划问题有最优解，则一定存在一个基本可行解是最优解</a:t>
            </a:r>
            <a:r>
              <a:rPr lang="zh-CN" altLang="en-US" sz="2400" dirty="0">
                <a:effectLst/>
                <a:latin typeface="+mn-ea"/>
              </a:rPr>
              <a:t>。</a:t>
            </a:r>
            <a:r>
              <a:rPr lang="zh-CN" altLang="zh-CN" sz="2400" dirty="0">
                <a:effectLst/>
                <a:latin typeface="+mn-ea"/>
              </a:rPr>
              <a:t>因此，一种最直接的想法是，把线性规划问题的所有基本可行解都找出来，然后通过比较目标函数值</a:t>
            </a:r>
            <a:r>
              <a:rPr lang="zh-CN" altLang="en-US" sz="2400" dirty="0">
                <a:effectLst/>
                <a:latin typeface="+mn-ea"/>
              </a:rPr>
              <a:t>的</a:t>
            </a:r>
            <a:r>
              <a:rPr lang="zh-CN" altLang="zh-CN" sz="2400" dirty="0">
                <a:effectLst/>
                <a:latin typeface="+mn-ea"/>
              </a:rPr>
              <a:t>大小来求最优解，但在一般情况下，要通过计算这么多个基本解来找出所有的基本可行解显然是行不通的</a:t>
            </a:r>
            <a:r>
              <a:rPr lang="zh-CN" altLang="en-US" sz="2400" dirty="0">
                <a:effectLst/>
                <a:latin typeface="+mn-ea"/>
              </a:rPr>
              <a:t>。</a:t>
            </a:r>
            <a:endParaRPr lang="zh-CN" altLang="zh-CN" sz="2400" dirty="0">
              <a:effectLst/>
              <a:latin typeface="+mn-ea"/>
            </a:endParaRPr>
          </a:p>
        </p:txBody>
      </p:sp>
      <p:sp>
        <p:nvSpPr>
          <p:cNvPr id="2" name="文本框 1"/>
          <p:cNvSpPr txBox="1"/>
          <p:nvPr/>
        </p:nvSpPr>
        <p:spPr>
          <a:xfrm>
            <a:off x="551384" y="2996952"/>
            <a:ext cx="10657184" cy="1464632"/>
          </a:xfrm>
          <a:prstGeom prst="rect">
            <a:avLst/>
          </a:prstGeom>
          <a:noFill/>
        </p:spPr>
        <p:txBody>
          <a:bodyPr wrap="square">
            <a:spAutoFit/>
          </a:bodyPr>
          <a:lstStyle>
            <a:defPPr>
              <a:defRPr lang="zh-CN"/>
            </a:defPPr>
            <a:lvl1pPr marL="269875" indent="356870" algn="just">
              <a:lnSpc>
                <a:spcPct val="130000"/>
              </a:lnSpc>
              <a:tabLst>
                <a:tab pos="269875" algn="l"/>
                <a:tab pos="266700" algn="l"/>
              </a:tabLst>
              <a:defRPr sz="2400">
                <a:effectLst/>
                <a:latin typeface="+mn-ea"/>
              </a:defRPr>
            </a:lvl1pPr>
          </a:lstStyle>
          <a:p>
            <a:r>
              <a:rPr lang="zh-CN" altLang="en-US" dirty="0"/>
              <a:t> 单纯形法是求解线性规划问题最常用、最有效的算法之一。单纯形法最早由 </a:t>
            </a:r>
            <a:r>
              <a:rPr lang="en-US" altLang="zh-CN" dirty="0"/>
              <a:t>George Dantzig</a:t>
            </a:r>
            <a:r>
              <a:rPr lang="zh-CN" altLang="en-US" dirty="0"/>
              <a:t>于</a:t>
            </a:r>
            <a:r>
              <a:rPr lang="en-US" altLang="zh-CN" dirty="0"/>
              <a:t>1947</a:t>
            </a:r>
            <a:r>
              <a:rPr lang="zh-CN" altLang="en-US" dirty="0"/>
              <a:t>年提出，几十年来，虽有许多变形体已经开发，但却保持着同样的基本观念。</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911424" y="764704"/>
            <a:ext cx="10225136" cy="2245102"/>
          </a:xfrm>
          <a:prstGeom prst="rect">
            <a:avLst/>
          </a:prstGeom>
          <a:noFill/>
        </p:spPr>
        <p:txBody>
          <a:bodyPr wrap="square">
            <a:spAutoFit/>
          </a:bodyPr>
          <a:lstStyle/>
          <a:p>
            <a:pPr algn="just">
              <a:lnSpc>
                <a:spcPct val="150000"/>
              </a:lnSpc>
            </a:pPr>
            <a:r>
              <a:rPr lang="zh-CN" altLang="en-US" sz="2400" dirty="0">
                <a:solidFill>
                  <a:srgbClr val="333333"/>
                </a:solidFill>
                <a:latin typeface="Helvetica Neue"/>
              </a:rPr>
              <a:t>单纯形法的基本思路是：</a:t>
            </a:r>
            <a:endParaRPr lang="en-US" altLang="zh-CN" sz="2400" dirty="0">
              <a:solidFill>
                <a:srgbClr val="333333"/>
              </a:solidFill>
              <a:latin typeface="Helvetica Neue"/>
            </a:endParaRPr>
          </a:p>
          <a:p>
            <a:pPr marL="342900" indent="-342900" algn="just">
              <a:lnSpc>
                <a:spcPct val="150000"/>
              </a:lnSpc>
              <a:buFont typeface="Wingdings" panose="05000000000000000000" pitchFamily="2" charset="2"/>
              <a:buChar char="ü"/>
            </a:pPr>
            <a:r>
              <a:rPr lang="zh-CN" altLang="en-US" sz="2400" dirty="0">
                <a:solidFill>
                  <a:srgbClr val="333333"/>
                </a:solidFill>
                <a:latin typeface="Helvetica Neue"/>
              </a:rPr>
              <a:t>先找出可行域的一个顶点，判断其是否为最优解；</a:t>
            </a:r>
            <a:endParaRPr lang="en-US" altLang="zh-CN" sz="2400" dirty="0">
              <a:solidFill>
                <a:srgbClr val="333333"/>
              </a:solidFill>
              <a:latin typeface="Helvetica Neue"/>
            </a:endParaRPr>
          </a:p>
          <a:p>
            <a:pPr marL="342900" indent="-342900" algn="just">
              <a:lnSpc>
                <a:spcPct val="150000"/>
              </a:lnSpc>
              <a:buFont typeface="Wingdings" panose="05000000000000000000" pitchFamily="2" charset="2"/>
              <a:buChar char="ü"/>
            </a:pPr>
            <a:r>
              <a:rPr lang="zh-CN" altLang="en-US" sz="2400" dirty="0">
                <a:solidFill>
                  <a:srgbClr val="333333"/>
                </a:solidFill>
                <a:latin typeface="Helvetica Neue"/>
              </a:rPr>
              <a:t>若否，则转换到与之</a:t>
            </a:r>
            <a:r>
              <a:rPr lang="zh-CN" altLang="en-US" sz="2400" b="1" dirty="0">
                <a:solidFill>
                  <a:srgbClr val="333333"/>
                </a:solidFill>
                <a:latin typeface="Helvetica Neue"/>
              </a:rPr>
              <a:t>相邻</a:t>
            </a:r>
            <a:r>
              <a:rPr lang="zh-CN" altLang="en-US" sz="2400" dirty="0">
                <a:solidFill>
                  <a:srgbClr val="333333"/>
                </a:solidFill>
                <a:latin typeface="Helvetica Neue"/>
              </a:rPr>
              <a:t>的且</a:t>
            </a:r>
            <a:r>
              <a:rPr lang="zh-CN" altLang="zh-CN" sz="2400" b="1" dirty="0">
                <a:effectLst/>
                <a:latin typeface="+mn-ea"/>
              </a:rPr>
              <a:t>改善了当前目标函数值</a:t>
            </a:r>
            <a:r>
              <a:rPr lang="zh-CN" altLang="zh-CN" sz="2400" dirty="0">
                <a:effectLst/>
                <a:latin typeface="+mn-ea"/>
              </a:rPr>
              <a:t>的</a:t>
            </a:r>
            <a:r>
              <a:rPr lang="zh-CN" altLang="en-US" sz="2400" dirty="0">
                <a:solidFill>
                  <a:srgbClr val="333333"/>
                </a:solidFill>
                <a:latin typeface="Helvetica Neue"/>
              </a:rPr>
              <a:t>另一顶点，直到找到某最优解为止。</a:t>
            </a:r>
            <a:endParaRPr lang="zh-CN"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4294967295"/>
          </p:nvPr>
        </p:nvSpPr>
        <p:spPr>
          <a:xfrm>
            <a:off x="479376" y="400051"/>
            <a:ext cx="8556625" cy="5638800"/>
          </a:xfrm>
        </p:spPr>
        <p:txBody>
          <a:bodyPr/>
          <a:lstStyle/>
          <a:p>
            <a:pPr>
              <a:buFont typeface="Wingdings" panose="05000000000000000000" pitchFamily="2" charset="2"/>
              <a:buNone/>
              <a:defRPr/>
            </a:pPr>
            <a:r>
              <a:rPr lang="zh-CN" altLang="en-US" sz="2800" b="1" dirty="0"/>
              <a:t>单纯形法流程图</a:t>
            </a:r>
            <a:endParaRPr lang="zh-CN" altLang="en-US" sz="2800" b="1" i="1" dirty="0"/>
          </a:p>
        </p:txBody>
      </p:sp>
      <p:sp>
        <p:nvSpPr>
          <p:cNvPr id="5127" name="AutoShape 8"/>
          <p:cNvSpPr>
            <a:spLocks noChangeArrowheads="1"/>
          </p:cNvSpPr>
          <p:nvPr/>
        </p:nvSpPr>
        <p:spPr bwMode="auto">
          <a:xfrm>
            <a:off x="330862" y="3088876"/>
            <a:ext cx="3547511" cy="1344145"/>
          </a:xfrm>
          <a:prstGeom prst="flowChartDecision">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en-US" b="1" i="1" dirty="0">
                <a:solidFill>
                  <a:srgbClr val="FF0000"/>
                </a:solidFill>
                <a:latin typeface="Times New Roman" panose="02020603050405020304" pitchFamily="18" charset="0"/>
                <a:sym typeface="Symbol" panose="05050102010706020507" pitchFamily="18" charset="2"/>
              </a:rPr>
              <a:t>基本可行解是否最优</a:t>
            </a:r>
          </a:p>
        </p:txBody>
      </p:sp>
      <p:sp>
        <p:nvSpPr>
          <p:cNvPr id="5131" name="AutoShape 12"/>
          <p:cNvSpPr>
            <a:spLocks noChangeArrowheads="1"/>
          </p:cNvSpPr>
          <p:nvPr/>
        </p:nvSpPr>
        <p:spPr bwMode="auto">
          <a:xfrm>
            <a:off x="479376" y="1556792"/>
            <a:ext cx="3467968" cy="716888"/>
          </a:xfrm>
          <a:prstGeom prst="flowChartProcess">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en-US" sz="3200" b="1" baseline="30000" dirty="0">
                <a:solidFill>
                  <a:srgbClr val="000000"/>
                </a:solidFill>
                <a:latin typeface="Times New Roman" panose="02020603050405020304" pitchFamily="18" charset="0"/>
              </a:rPr>
              <a:t>求一个初始的基本可行解</a:t>
            </a:r>
            <a:endParaRPr lang="en-US" altLang="zh-CN" sz="3200" b="1" baseline="30000" dirty="0">
              <a:solidFill>
                <a:srgbClr val="000000"/>
              </a:solidFill>
              <a:latin typeface="Times New Roman" panose="02020603050405020304" pitchFamily="18" charset="0"/>
            </a:endParaRPr>
          </a:p>
        </p:txBody>
      </p:sp>
      <p:sp>
        <p:nvSpPr>
          <p:cNvPr id="8202" name="AutoShape 13"/>
          <p:cNvSpPr>
            <a:spLocks noChangeArrowheads="1"/>
          </p:cNvSpPr>
          <p:nvPr/>
        </p:nvSpPr>
        <p:spPr bwMode="auto">
          <a:xfrm>
            <a:off x="1322916" y="4959641"/>
            <a:ext cx="1563402" cy="462307"/>
          </a:xfrm>
          <a:prstGeom prst="flowChartProcess">
            <a:avLst/>
          </a:prstGeom>
          <a:solidFill>
            <a:srgbClr val="CCFFCC"/>
          </a:solidFill>
          <a:ln w="28575" cap="sq">
            <a:solidFill>
              <a:srgbClr val="00FF00"/>
            </a:solidFill>
            <a:miter lim="800000"/>
          </a:ln>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Tx/>
              <a:buNone/>
              <a:defRPr/>
            </a:pPr>
            <a:endParaRPr lang="en-US" altLang="zh-CN" sz="3200" b="1" baseline="30000" dirty="0">
              <a:solidFill>
                <a:srgbClr val="000000"/>
              </a:solidFill>
              <a:latin typeface="Times New Roman" panose="02020603050405020304" pitchFamily="18" charset="0"/>
            </a:endParaRPr>
          </a:p>
          <a:p>
            <a:pPr algn="ctr">
              <a:buFontTx/>
              <a:buNone/>
              <a:defRPr/>
            </a:pPr>
            <a:r>
              <a:rPr lang="zh-CN" altLang="en-US" sz="3200" b="1" baseline="30000" dirty="0">
                <a:solidFill>
                  <a:srgbClr val="000000"/>
                </a:solidFill>
                <a:latin typeface="Times New Roman" panose="02020603050405020304" pitchFamily="18" charset="0"/>
              </a:rPr>
              <a:t>结束</a:t>
            </a:r>
            <a:endParaRPr lang="en-US" altLang="zh-CN" sz="3200" b="1" baseline="30000" dirty="0">
              <a:solidFill>
                <a:srgbClr val="000000"/>
              </a:solidFill>
              <a:latin typeface="Times New Roman" panose="02020603050405020304" pitchFamily="18" charset="0"/>
            </a:endParaRPr>
          </a:p>
        </p:txBody>
      </p:sp>
      <p:sp>
        <p:nvSpPr>
          <p:cNvPr id="5133" name="AutoShape 14"/>
          <p:cNvSpPr>
            <a:spLocks noChangeArrowheads="1"/>
          </p:cNvSpPr>
          <p:nvPr/>
        </p:nvSpPr>
        <p:spPr bwMode="auto">
          <a:xfrm>
            <a:off x="4496457" y="3248181"/>
            <a:ext cx="3669730" cy="1025534"/>
          </a:xfrm>
          <a:prstGeom prst="flowChartProcess">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en-US" sz="3200" b="1" baseline="30000" dirty="0">
                <a:solidFill>
                  <a:srgbClr val="000000"/>
                </a:solidFill>
                <a:latin typeface="Times New Roman" panose="02020603050405020304" pitchFamily="18" charset="0"/>
              </a:rPr>
              <a:t>求使目标函数值得到</a:t>
            </a:r>
            <a:endParaRPr lang="en-US" altLang="zh-CN" sz="3200" b="1" baseline="30000" dirty="0">
              <a:solidFill>
                <a:srgbClr val="000000"/>
              </a:solidFill>
              <a:latin typeface="Times New Roman" panose="02020603050405020304" pitchFamily="18" charset="0"/>
            </a:endParaRPr>
          </a:p>
          <a:p>
            <a:pPr algn="ctr">
              <a:buFontTx/>
              <a:buNone/>
              <a:defRPr/>
            </a:pPr>
            <a:r>
              <a:rPr lang="zh-CN" altLang="en-US" sz="3200" b="1" baseline="30000" dirty="0">
                <a:solidFill>
                  <a:srgbClr val="000000"/>
                </a:solidFill>
                <a:latin typeface="Times New Roman" panose="02020603050405020304" pitchFamily="18" charset="0"/>
              </a:rPr>
              <a:t>改善的基本可行解</a:t>
            </a:r>
            <a:endParaRPr lang="en-US" altLang="zh-CN" sz="3200" b="1" i="1" dirty="0">
              <a:solidFill>
                <a:srgbClr val="000000"/>
              </a:solidFill>
              <a:latin typeface="Times New Roman" panose="02020603050405020304" pitchFamily="18" charset="0"/>
            </a:endParaRPr>
          </a:p>
        </p:txBody>
      </p:sp>
      <p:sp>
        <p:nvSpPr>
          <p:cNvPr id="8208" name="Line 19"/>
          <p:cNvSpPr>
            <a:spLocks noChangeShapeType="1"/>
          </p:cNvSpPr>
          <p:nvPr/>
        </p:nvSpPr>
        <p:spPr bwMode="auto">
          <a:xfrm>
            <a:off x="2106421" y="2273680"/>
            <a:ext cx="0" cy="794939"/>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8209" name="Line 20"/>
          <p:cNvSpPr>
            <a:spLocks noChangeShapeType="1"/>
          </p:cNvSpPr>
          <p:nvPr/>
        </p:nvSpPr>
        <p:spPr bwMode="auto">
          <a:xfrm flipH="1">
            <a:off x="2106421" y="4486560"/>
            <a:ext cx="0" cy="462307"/>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8210" name="Line 21"/>
          <p:cNvSpPr>
            <a:spLocks noChangeShapeType="1"/>
          </p:cNvSpPr>
          <p:nvPr/>
        </p:nvSpPr>
        <p:spPr bwMode="auto">
          <a:xfrm>
            <a:off x="3878372" y="3760948"/>
            <a:ext cx="583153" cy="0"/>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8214" name="Text Box 25"/>
          <p:cNvSpPr txBox="1">
            <a:spLocks noChangeArrowheads="1"/>
          </p:cNvSpPr>
          <p:nvPr/>
        </p:nvSpPr>
        <p:spPr bwMode="auto">
          <a:xfrm>
            <a:off x="3805670" y="3288512"/>
            <a:ext cx="40876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8" rIns="92075" bIns="46038"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b="1" dirty="0">
                <a:latin typeface="Times New Roman" panose="02020603050405020304" pitchFamily="18" charset="0"/>
              </a:rPr>
              <a:t>N</a:t>
            </a:r>
            <a:endParaRPr lang="en-US" altLang="zh-CN" dirty="0">
              <a:latin typeface="Times New Roman" panose="02020603050405020304" pitchFamily="18" charset="0"/>
            </a:endParaRPr>
          </a:p>
        </p:txBody>
      </p:sp>
      <p:sp>
        <p:nvSpPr>
          <p:cNvPr id="8215" name="Text Box 26"/>
          <p:cNvSpPr txBox="1">
            <a:spLocks noChangeArrowheads="1"/>
          </p:cNvSpPr>
          <p:nvPr/>
        </p:nvSpPr>
        <p:spPr bwMode="auto">
          <a:xfrm>
            <a:off x="1581206" y="4423889"/>
            <a:ext cx="40876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2075" tIns="46038" rIns="92075" bIns="46038"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b="1" dirty="0">
                <a:latin typeface="Times New Roman" panose="02020603050405020304" pitchFamily="18" charset="0"/>
              </a:rPr>
              <a:t>Y</a:t>
            </a:r>
            <a:endParaRPr lang="en-US" altLang="zh-CN" dirty="0">
              <a:latin typeface="Times New Roman" panose="02020603050405020304" pitchFamily="18" charset="0"/>
            </a:endParaRPr>
          </a:p>
        </p:txBody>
      </p:sp>
      <p:cxnSp>
        <p:nvCxnSpPr>
          <p:cNvPr id="3" name="连接符: 肘形 2"/>
          <p:cNvCxnSpPr>
            <a:stCxn id="5133" idx="0"/>
          </p:cNvCxnSpPr>
          <p:nvPr/>
        </p:nvCxnSpPr>
        <p:spPr>
          <a:xfrm rot="16200000" flipV="1">
            <a:off x="3908001" y="824859"/>
            <a:ext cx="621742" cy="4224901"/>
          </a:xfrm>
          <a:prstGeom prst="bentConnector2">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cxnSp>
      <p:sp>
        <p:nvSpPr>
          <p:cNvPr id="5122" name="Rectangle 3"/>
          <p:cNvSpPr txBox="1">
            <a:spLocks noChangeArrowheads="1"/>
          </p:cNvSpPr>
          <p:nvPr/>
        </p:nvSpPr>
        <p:spPr>
          <a:xfrm>
            <a:off x="8201118" y="476672"/>
            <a:ext cx="3943551" cy="5649913"/>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50000"/>
              </a:lnSpc>
              <a:buFontTx/>
              <a:buNone/>
            </a:pPr>
            <a:r>
              <a:rPr lang="zh-CN" altLang="en-US" sz="2400" b="1" dirty="0">
                <a:solidFill>
                  <a:srgbClr val="0070C0"/>
                </a:solidFill>
                <a:latin typeface="+mn-ea"/>
              </a:rPr>
              <a:t>单纯形法要解决的三个问题</a:t>
            </a:r>
            <a:endParaRPr lang="en-US" altLang="zh-CN" sz="2400" b="1" dirty="0">
              <a:latin typeface="+mn-ea"/>
            </a:endParaRPr>
          </a:p>
          <a:p>
            <a:pPr algn="just">
              <a:lnSpc>
                <a:spcPct val="150000"/>
              </a:lnSpc>
              <a:buFont typeface="Cambria" panose="02040503050406030204" pitchFamily="18" charset="0"/>
              <a:buNone/>
            </a:pPr>
            <a:r>
              <a:rPr lang="en-US" altLang="zh-CN" sz="2400" dirty="0">
                <a:latin typeface="+mn-ea"/>
              </a:rPr>
              <a:t>1.</a:t>
            </a:r>
            <a:r>
              <a:rPr lang="zh-CN" altLang="en-US" sz="2400" dirty="0">
                <a:latin typeface="+mn-ea"/>
              </a:rPr>
              <a:t>如何得到一个初始的基本可行解；</a:t>
            </a:r>
          </a:p>
          <a:p>
            <a:pPr algn="just">
              <a:lnSpc>
                <a:spcPct val="150000"/>
              </a:lnSpc>
              <a:buFontTx/>
              <a:buNone/>
            </a:pPr>
            <a:r>
              <a:rPr lang="en-US" altLang="zh-CN" sz="2400" dirty="0">
                <a:latin typeface="+mn-ea"/>
              </a:rPr>
              <a:t>2.</a:t>
            </a:r>
            <a:r>
              <a:rPr lang="zh-CN" altLang="en-US" sz="2400" dirty="0">
                <a:latin typeface="+mn-ea"/>
              </a:rPr>
              <a:t>如何判断当前的基本可行解是否已达到了最优解；</a:t>
            </a:r>
          </a:p>
          <a:p>
            <a:pPr algn="just">
              <a:lnSpc>
                <a:spcPct val="150000"/>
              </a:lnSpc>
              <a:buFontTx/>
              <a:buNone/>
            </a:pPr>
            <a:r>
              <a:rPr lang="en-US" altLang="zh-CN" sz="2400" dirty="0">
                <a:latin typeface="+mn-ea"/>
              </a:rPr>
              <a:t>3.</a:t>
            </a:r>
            <a:r>
              <a:rPr lang="zh-CN" altLang="en-US" sz="2400" dirty="0">
                <a:latin typeface="+mn-ea"/>
              </a:rPr>
              <a:t>若当前解不是最优解，如何寻找一个改善了的基本可行解。</a:t>
            </a:r>
          </a:p>
          <a:p>
            <a:pPr algn="just">
              <a:lnSpc>
                <a:spcPct val="150000"/>
              </a:lnSpc>
              <a:buFontTx/>
              <a:buNone/>
            </a:pPr>
            <a:endParaRPr lang="en-US" altLang="zh-CN" sz="2400" dirty="0">
              <a:solidFill>
                <a:srgbClr val="FF3300"/>
              </a:solidFill>
              <a:latin typeface="宋体" panose="02010600030101010101" pitchFamily="2" charset="-122"/>
              <a:ea typeface="宋体" panose="02010600030101010101" pitchFamily="2" charset="-122"/>
            </a:endParaRP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1" name="Rectangle 2"/>
              <p:cNvSpPr txBox="1">
                <a:spLocks noChangeArrowheads="1"/>
              </p:cNvSpPr>
              <p:nvPr/>
            </p:nvSpPr>
            <p:spPr>
              <a:xfrm>
                <a:off x="-240704" y="2068758"/>
                <a:ext cx="8534400" cy="2057400"/>
              </a:xfrm>
              <a:prstGeom prst="rect">
                <a:avLst/>
              </a:prstGeom>
            </p:spPr>
            <p:txBody>
              <a:bodyPr>
                <a:normAutofit fontScale="85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ct val="0"/>
                  </a:spcBef>
                  <a:buFontTx/>
                  <a:buNone/>
                </a:pPr>
                <a:r>
                  <a:rPr lang="zh-CN" altLang="en-US" sz="2000" dirty="0">
                    <a:latin typeface="宋体" panose="02010600030101010101" pitchFamily="2" charset="-122"/>
                  </a:rPr>
                  <a:t>  </a:t>
                </a:r>
                <a:endParaRPr lang="en-US" altLang="zh-CN" sz="2000" dirty="0">
                  <a:latin typeface="宋体" panose="02010600030101010101" pitchFamily="2" charset="-122"/>
                </a:endParaRPr>
              </a:p>
              <a:p>
                <a:pPr>
                  <a:spcBef>
                    <a:spcPct val="0"/>
                  </a:spcBef>
                  <a:buFontTx/>
                  <a:buNone/>
                </a:pPr>
                <a:endParaRPr lang="zh-CN" altLang="en-US" sz="2000" dirty="0">
                  <a:latin typeface="宋体" panose="02010600030101010101" pitchFamily="2" charset="-122"/>
                </a:endParaRPr>
              </a:p>
              <a:p>
                <a:pPr indent="0">
                  <a:lnSpc>
                    <a:spcPct val="110000"/>
                  </a:lnSpc>
                  <a:spcBef>
                    <a:spcPct val="0"/>
                  </a:spcBef>
                  <a:buFont typeface="Arial" panose="020B0604020202020204" pitchFamily="34" charset="0"/>
                  <a:buNone/>
                </a:pPr>
                <a:r>
                  <a:rPr lang="zh-CN" altLang="en-US" sz="2400" b="1" dirty="0">
                    <a:solidFill>
                      <a:srgbClr val="000000"/>
                    </a:solidFill>
                    <a:latin typeface="宋体" panose="02010600030101010101" pitchFamily="2" charset="-122"/>
                  </a:rPr>
                  <a:t>   </a:t>
                </a:r>
                <a:r>
                  <a:rPr lang="zh-CN" altLang="en-US" sz="2600" b="1" dirty="0">
                    <a:solidFill>
                      <a:srgbClr val="000000"/>
                    </a:solidFill>
                    <a:latin typeface="宋体" panose="02010600030101010101" pitchFamily="2" charset="-122"/>
                  </a:rPr>
                  <a:t>例 </a:t>
                </a:r>
                <a14:m>
                  <m:oMath xmlns:m="http://schemas.openxmlformats.org/officeDocument/2006/math">
                    <m:r>
                      <m:rPr>
                        <m:sty m:val="p"/>
                      </m:rPr>
                      <a:rPr lang="en-US" altLang="zh-CN" sz="2600" i="1" dirty="0" smtClean="0">
                        <a:latin typeface="Cambria Math" panose="02040503050406030204" pitchFamily="18" charset="0"/>
                      </a:rPr>
                      <m:t>min</m:t>
                    </m:r>
                    <m:r>
                      <a:rPr lang="en-US" altLang="zh-CN" sz="2600" i="1" dirty="0" smtClean="0">
                        <a:latin typeface="Cambria Math" panose="02040503050406030204" pitchFamily="18" charset="0"/>
                      </a:rPr>
                      <m:t>⁡</m:t>
                    </m:r>
                    <m:r>
                      <a:rPr lang="en-US" altLang="zh-CN" sz="2600" i="1" dirty="0" smtClean="0">
                        <a:latin typeface="Cambria Math" panose="02040503050406030204" pitchFamily="18" charset="0"/>
                      </a:rPr>
                      <m:t>𝑧</m:t>
                    </m:r>
                    <m:r>
                      <a:rPr lang="en-US" altLang="zh-CN" sz="2600" i="1" dirty="0" smtClean="0">
                        <a:latin typeface="Cambria Math" panose="02040503050406030204" pitchFamily="18" charset="0"/>
                      </a:rPr>
                      <m:t> = </m:t>
                    </m:r>
                    <m:r>
                      <a:rPr lang="en-US" altLang="zh-CN" sz="2600" i="1" dirty="0" smtClean="0">
                        <a:latin typeface="Cambria Math" panose="02040503050406030204" pitchFamily="18" charset="0"/>
                      </a:rPr>
                      <m:t>𝑥</m:t>
                    </m:r>
                    <m:r>
                      <a:rPr lang="en-US" altLang="zh-CN" sz="2600" i="1" baseline="-25000" dirty="0">
                        <a:latin typeface="Cambria Math" panose="02040503050406030204" pitchFamily="18" charset="0"/>
                      </a:rPr>
                      <m:t>1</m:t>
                    </m:r>
                    <m:r>
                      <a:rPr lang="en-US" altLang="zh-CN" sz="2600" i="1" dirty="0">
                        <a:latin typeface="Cambria Math" panose="02040503050406030204" pitchFamily="18" charset="0"/>
                      </a:rPr>
                      <m:t> + 3</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2</m:t>
                    </m:r>
                    <m:r>
                      <a:rPr lang="en-US" altLang="zh-CN" sz="2600" i="1" dirty="0">
                        <a:latin typeface="Cambria Math" panose="02040503050406030204" pitchFamily="18" charset="0"/>
                      </a:rPr>
                      <m:t> + 2</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3</m:t>
                    </m:r>
                    <m:r>
                      <a:rPr lang="en-US" altLang="zh-CN" sz="2600" i="1" dirty="0">
                        <a:latin typeface="Cambria Math" panose="02040503050406030204" pitchFamily="18" charset="0"/>
                      </a:rPr>
                      <m:t> + </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4</m:t>
                    </m:r>
                  </m:oMath>
                </a14:m>
                <a:endParaRPr lang="en-US" altLang="zh-CN" sz="2600" i="1" baseline="-25000" dirty="0">
                  <a:latin typeface="Cambria Math" panose="02040503050406030204" pitchFamily="18" charset="0"/>
                </a:endParaRPr>
              </a:p>
              <a:p>
                <a:pPr indent="0">
                  <a:lnSpc>
                    <a:spcPct val="110000"/>
                  </a:lnSpc>
                  <a:spcBef>
                    <a:spcPct val="0"/>
                  </a:spcBef>
                  <a:buFont typeface="Arial" panose="020B0604020202020204" pitchFamily="34" charset="0"/>
                  <a:buNone/>
                </a:pPr>
                <a:endParaRPr lang="en-US" altLang="zh-CN" sz="2600" baseline="-25000" dirty="0">
                  <a:latin typeface="宋体" panose="02010600030101010101" pitchFamily="2" charset="-122"/>
                </a:endParaRPr>
              </a:p>
              <a:p>
                <a:pPr indent="0">
                  <a:lnSpc>
                    <a:spcPct val="110000"/>
                  </a:lnSpc>
                  <a:spcBef>
                    <a:spcPct val="0"/>
                  </a:spcBef>
                  <a:buFontTx/>
                  <a:buNone/>
                </a:pPr>
                <a:r>
                  <a:rPr lang="zh-CN" altLang="en-US" sz="2600" dirty="0"/>
                  <a:t>                   </a:t>
                </a:r>
                <a14:m>
                  <m:oMath xmlns:m="http://schemas.openxmlformats.org/officeDocument/2006/math">
                    <m:r>
                      <m:rPr>
                        <m:sty m:val="p"/>
                      </m:rPr>
                      <a:rPr lang="en-US" altLang="zh-CN" sz="2600" dirty="0">
                        <a:latin typeface="Cambria Math" panose="02040503050406030204" pitchFamily="18" charset="0"/>
                      </a:rPr>
                      <m:t>s</m:t>
                    </m:r>
                    <m:r>
                      <a:rPr lang="en-US" altLang="zh-CN" sz="2600" dirty="0">
                        <a:latin typeface="Cambria Math" panose="02040503050406030204" pitchFamily="18" charset="0"/>
                      </a:rPr>
                      <m:t>.</m:t>
                    </m:r>
                    <m:r>
                      <m:rPr>
                        <m:sty m:val="p"/>
                      </m:rPr>
                      <a:rPr lang="en-US" altLang="zh-CN" sz="2600" dirty="0">
                        <a:latin typeface="Cambria Math" panose="02040503050406030204" pitchFamily="18" charset="0"/>
                      </a:rPr>
                      <m:t>t</m:t>
                    </m:r>
                    <m:r>
                      <a:rPr lang="en-US" altLang="zh-CN" sz="2600" dirty="0">
                        <a:latin typeface="Cambria Math" panose="02040503050406030204" pitchFamily="18" charset="0"/>
                      </a:rPr>
                      <m:t>. </m:t>
                    </m:r>
                    <m:d>
                      <m:dPr>
                        <m:begChr m:val="{"/>
                        <m:endChr m:val=""/>
                        <m:ctrlPr>
                          <a:rPr lang="en-US" altLang="zh-CN" sz="2600" i="1" dirty="0" smtClean="0">
                            <a:latin typeface="Cambria Math" panose="02040503050406030204" pitchFamily="18" charset="0"/>
                          </a:rPr>
                        </m:ctrlPr>
                      </m:dPr>
                      <m:e>
                        <m:eqArr>
                          <m:eqArrPr>
                            <m:ctrlPr>
                              <a:rPr lang="en-US" altLang="zh-CN" sz="2600" i="1" dirty="0" smtClean="0">
                                <a:latin typeface="Cambria Math" panose="02040503050406030204" pitchFamily="18" charset="0"/>
                              </a:rPr>
                            </m:ctrlPr>
                          </m:eqArrPr>
                          <m:e>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1</m:t>
                            </m:r>
                            <m:r>
                              <a:rPr lang="en-US" altLang="zh-CN" sz="2600" i="1" dirty="0">
                                <a:latin typeface="Cambria Math" panose="02040503050406030204" pitchFamily="18" charset="0"/>
                              </a:rPr>
                              <m:t> + 2</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2</m:t>
                            </m:r>
                            <m:r>
                              <a:rPr lang="en-US" altLang="zh-CN" sz="2600" i="1" dirty="0">
                                <a:latin typeface="Cambria Math" panose="02040503050406030204" pitchFamily="18" charset="0"/>
                              </a:rPr>
                              <m:t> + 3</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3</m:t>
                            </m:r>
                            <m:r>
                              <a:rPr lang="en-US" altLang="zh-CN" sz="2600" i="1" dirty="0">
                                <a:latin typeface="Cambria Math" panose="02040503050406030204" pitchFamily="18" charset="0"/>
                              </a:rPr>
                              <m:t>     = 3</m:t>
                            </m:r>
                            <m:r>
                              <m:rPr>
                                <m:nor/>
                              </m:rPr>
                              <a:rPr lang="en-US" altLang="zh-CN" sz="2600" dirty="0">
                                <a:latin typeface="宋体" panose="02010600030101010101" pitchFamily="2" charset="-122"/>
                              </a:rPr>
                              <m:t> </m:t>
                            </m:r>
                          </m:e>
                          <m:e>
                            <m:r>
                              <a:rPr lang="en-US" altLang="zh-CN" sz="2600" i="1" dirty="0">
                                <a:latin typeface="Cambria Math" panose="02040503050406030204" pitchFamily="18" charset="0"/>
                              </a:rPr>
                              <m:t>3</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2</m:t>
                            </m:r>
                            <m:r>
                              <a:rPr lang="en-US" altLang="zh-CN" sz="2600" i="1" dirty="0">
                                <a:latin typeface="Cambria Math" panose="02040503050406030204" pitchFamily="18" charset="0"/>
                              </a:rPr>
                              <m:t> +  </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3</m:t>
                            </m:r>
                            <m:r>
                              <a:rPr lang="en-US" altLang="zh-CN" sz="2600" i="1" dirty="0">
                                <a:latin typeface="Cambria Math" panose="02040503050406030204" pitchFamily="18" charset="0"/>
                              </a:rPr>
                              <m:t> + </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4</m:t>
                            </m:r>
                            <m:r>
                              <a:rPr lang="en-US" altLang="zh-CN" sz="2600" i="1" dirty="0">
                                <a:latin typeface="Cambria Math" panose="02040503050406030204" pitchFamily="18" charset="0"/>
                              </a:rPr>
                              <m:t> = 4</m:t>
                            </m:r>
                            <m:r>
                              <m:rPr>
                                <m:nor/>
                              </m:rPr>
                              <a:rPr lang="en-US" altLang="zh-CN" sz="2600" dirty="0">
                                <a:latin typeface="宋体" panose="02010600030101010101" pitchFamily="2" charset="-122"/>
                              </a:rPr>
                              <m:t> </m:t>
                            </m:r>
                          </m:e>
                          <m:e>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1</m:t>
                            </m:r>
                            <m:r>
                              <a:rPr lang="en-US" altLang="zh-CN" sz="2600" i="1" dirty="0">
                                <a:latin typeface="Cambria Math" panose="02040503050406030204" pitchFamily="18" charset="0"/>
                              </a:rPr>
                              <m:t>,</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2</m:t>
                            </m:r>
                            <m:r>
                              <a:rPr lang="en-US" altLang="zh-CN" sz="2600" i="1" dirty="0">
                                <a:latin typeface="Cambria Math" panose="02040503050406030204" pitchFamily="18" charset="0"/>
                              </a:rPr>
                              <m:t>,</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3</m:t>
                            </m:r>
                            <m:r>
                              <a:rPr lang="en-US" altLang="zh-CN" sz="2600" i="1" dirty="0">
                                <a:latin typeface="Cambria Math" panose="02040503050406030204" pitchFamily="18" charset="0"/>
                              </a:rPr>
                              <m:t>,</m:t>
                            </m:r>
                            <m:r>
                              <a:rPr lang="en-US" altLang="zh-CN" sz="2600" i="1" dirty="0">
                                <a:latin typeface="Cambria Math" panose="02040503050406030204" pitchFamily="18" charset="0"/>
                              </a:rPr>
                              <m:t>𝑥</m:t>
                            </m:r>
                            <m:r>
                              <a:rPr lang="en-US" altLang="zh-CN" sz="2600" i="1" baseline="-25000" dirty="0">
                                <a:latin typeface="Cambria Math" panose="02040503050406030204" pitchFamily="18" charset="0"/>
                              </a:rPr>
                              <m:t>4</m:t>
                            </m:r>
                            <m:r>
                              <a:rPr lang="en-US" altLang="zh-CN" sz="2600" i="1" dirty="0">
                                <a:latin typeface="Cambria Math" panose="02040503050406030204" pitchFamily="18" charset="0"/>
                              </a:rPr>
                              <m:t> </m:t>
                            </m:r>
                            <m:r>
                              <a:rPr lang="zh-CN" altLang="en-US" sz="2600" i="1" dirty="0">
                                <a:latin typeface="Cambria Math" panose="02040503050406030204" pitchFamily="18" charset="0"/>
                              </a:rPr>
                              <m:t>≥ 0</m:t>
                            </m:r>
                          </m:e>
                        </m:eqArr>
                      </m:e>
                    </m:d>
                  </m:oMath>
                </a14:m>
                <a:endParaRPr lang="zh-CN" altLang="en-US" sz="2600" dirty="0">
                  <a:latin typeface="宋体" panose="02010600030101010101" pitchFamily="2" charset="-122"/>
                </a:endParaRPr>
              </a:p>
            </p:txBody>
          </p:sp>
        </mc:Choice>
        <mc:Fallback>
          <p:sp>
            <p:nvSpPr>
              <p:cNvPr id="21" name="Rectangle 2"/>
              <p:cNvSpPr txBox="1">
                <a:spLocks noRot="1" noChangeAspect="1" noMove="1" noResize="1" noEditPoints="1" noAdjustHandles="1" noChangeArrowheads="1" noChangeShapeType="1" noTextEdit="1"/>
              </p:cNvSpPr>
              <p:nvPr/>
            </p:nvSpPr>
            <p:spPr>
              <a:xfrm>
                <a:off x="-240704" y="2068758"/>
                <a:ext cx="8534400" cy="2057400"/>
              </a:xfrm>
              <a:prstGeom prst="rect">
                <a:avLst/>
              </a:prstGeom>
              <a:blipFill>
                <a:blip r:embed="rId2"/>
                <a:stretch>
                  <a:fillRect/>
                </a:stretch>
              </a:blipFill>
            </p:spPr>
            <p:txBody>
              <a:bodyPr/>
              <a:lstStyle/>
              <a:p>
                <a:r>
                  <a:rPr lang="zh-CN" altLang="en-US">
                    <a:noFill/>
                  </a:rPr>
                  <a:t> </a:t>
                </a:r>
              </a:p>
            </p:txBody>
          </p:sp>
        </mc:Fallback>
      </mc:AlternateContent>
      <p:sp>
        <p:nvSpPr>
          <p:cNvPr id="8" name="Rectangle 4"/>
          <p:cNvSpPr>
            <a:spLocks noChangeArrowheads="1"/>
          </p:cNvSpPr>
          <p:nvPr/>
        </p:nvSpPr>
        <p:spPr bwMode="auto">
          <a:xfrm>
            <a:off x="294420" y="107463"/>
            <a:ext cx="11352584" cy="17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35750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57505" algn="just" defTabSz="914400" rtl="0" eaLnBrk="0" fontAlgn="base" latinLnBrk="0" hangingPunct="0">
              <a:lnSpc>
                <a:spcPct val="150000"/>
              </a:lnSpc>
              <a:spcBef>
                <a:spcPct val="0"/>
              </a:spcBef>
              <a:spcAft>
                <a:spcPct val="0"/>
              </a:spcAft>
              <a:buClrTx/>
              <a:buSzTx/>
              <a:buFontTx/>
              <a:buNone/>
            </a:pPr>
            <a:r>
              <a:rPr kumimoji="0" lang="en-US" altLang="zh-CN" sz="2800" b="1" i="0" u="none" strike="noStrike" cap="none" normalizeH="0" baseline="0" dirty="0">
                <a:ln>
                  <a:noFill/>
                </a:ln>
                <a:solidFill>
                  <a:schemeClr val="accent1"/>
                </a:solidFill>
                <a:effectLst/>
                <a:latin typeface="+mn-ea"/>
                <a:cs typeface="Times New Roman" panose="02020603050405020304" pitchFamily="18" charset="0"/>
              </a:rPr>
              <a:t>1  </a:t>
            </a:r>
            <a:r>
              <a:rPr kumimoji="0" lang="zh-CN" altLang="en-US" sz="2800" b="1" i="0" u="none" strike="noStrike" cap="none" normalizeH="0" baseline="0" dirty="0">
                <a:ln>
                  <a:noFill/>
                </a:ln>
                <a:solidFill>
                  <a:schemeClr val="accent1"/>
                </a:solidFill>
                <a:effectLst/>
                <a:latin typeface="+mn-ea"/>
                <a:cs typeface="Times New Roman" panose="02020603050405020304" pitchFamily="18" charset="0"/>
              </a:rPr>
              <a:t>确定初始基本可行解</a:t>
            </a:r>
            <a:endParaRPr kumimoji="0" lang="zh-CN" altLang="en-US" sz="2800" b="1" i="0" u="none" strike="noStrike" cap="none" normalizeH="0" baseline="0" dirty="0">
              <a:ln>
                <a:noFill/>
              </a:ln>
              <a:solidFill>
                <a:schemeClr val="accent1"/>
              </a:solidFill>
              <a:effectLst/>
              <a:latin typeface="+mn-ea"/>
            </a:endParaRPr>
          </a:p>
          <a:p>
            <a:pPr marL="0" marR="0" lvl="0" indent="357505" algn="just" defTabSz="914400" rtl="0" eaLnBrk="0" fontAlgn="base" latinLnBrk="0" hangingPunct="0">
              <a:lnSpc>
                <a:spcPct val="15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mn-ea"/>
                <a:cs typeface="Times New Roman" panose="02020603050405020304" pitchFamily="18" charset="0"/>
              </a:rPr>
              <a:t>对任意线性规划问题，我们总可以在标准化过程中</a:t>
            </a:r>
            <a:r>
              <a:rPr lang="zh-CN" altLang="en-US" sz="2400" b="1" dirty="0">
                <a:latin typeface="+mn-ea"/>
                <a:cs typeface="Times New Roman" panose="02020603050405020304" pitchFamily="18" charset="0"/>
              </a:rPr>
              <a:t>使</a:t>
            </a:r>
            <a:r>
              <a:rPr kumimoji="0" lang="zh-CN" altLang="en-US" sz="2400" b="1" i="0" u="none" strike="noStrike" cap="none" normalizeH="0" baseline="0" dirty="0">
                <a:ln>
                  <a:noFill/>
                </a:ln>
                <a:solidFill>
                  <a:schemeClr val="tx1"/>
                </a:solidFill>
                <a:effectLst/>
                <a:latin typeface="+mn-ea"/>
                <a:cs typeface="Times New Roman" panose="02020603050405020304" pitchFamily="18" charset="0"/>
              </a:rPr>
              <a:t>得到的标准型线性规划的约束系数矩阵中存在一个单位子矩阵。</a:t>
            </a:r>
            <a:endParaRPr kumimoji="0" lang="zh-CN" altLang="en-US" sz="2400" b="0" i="0" u="none" strike="noStrike" cap="none" normalizeH="0" baseline="0" dirty="0">
              <a:ln>
                <a:noFill/>
              </a:ln>
              <a:solidFill>
                <a:schemeClr val="tx1"/>
              </a:solidFill>
              <a:effectLst/>
              <a:latin typeface="+mn-ea"/>
            </a:endParaRPr>
          </a:p>
        </p:txBody>
      </p:sp>
      <mc:AlternateContent xmlns:mc="http://schemas.openxmlformats.org/markup-compatibility/2006" xmlns:a14="http://schemas.microsoft.com/office/drawing/2010/main">
        <mc:Choice Requires="a14">
          <p:sp>
            <p:nvSpPr>
              <p:cNvPr id="3" name="TextBox 2"/>
              <p:cNvSpPr txBox="1"/>
              <p:nvPr/>
            </p:nvSpPr>
            <p:spPr>
              <a:xfrm>
                <a:off x="5519936" y="2348880"/>
                <a:ext cx="8064896" cy="3743461"/>
              </a:xfrm>
              <a:prstGeom prst="rect">
                <a:avLst/>
              </a:prstGeom>
              <a:noFill/>
            </p:spPr>
            <p:txBody>
              <a:bodyPr wrap="square">
                <a:spAutoFit/>
              </a:bodyPr>
              <a:lstStyle/>
              <a:p>
                <a:pPr indent="609600">
                  <a:lnSpc>
                    <a:spcPct val="150000"/>
                  </a:lnSpc>
                </a:pPr>
                <a:r>
                  <a:rPr lang="zh-CN" sz="2400" dirty="0">
                    <a:effectLst/>
                    <a:latin typeface="Times New Roman" panose="02020603050405020304" pitchFamily="18" charset="0"/>
                    <a:ea typeface="宋体" panose="02010600030101010101" pitchFamily="2" charset="-122"/>
                  </a:rPr>
                  <a:t>解：</a:t>
                </a:r>
                <a:r>
                  <a:rPr lang="zh-CN" altLang="en-US" sz="2400" dirty="0">
                    <a:effectLst/>
                    <a:latin typeface="Times New Roman" panose="02020603050405020304" pitchFamily="18" charset="0"/>
                    <a:ea typeface="宋体" panose="02010600030101010101" pitchFamily="2" charset="-122"/>
                  </a:rPr>
                  <a:t>系数矩阵</a:t>
                </a:r>
                <a:endParaRPr lang="en-US" sz="2400" dirty="0">
                  <a:effectLst/>
                  <a:latin typeface="Times New Roman" panose="02020603050405020304" pitchFamily="18" charset="0"/>
                  <a:ea typeface="Times New Roman" panose="02020603050405020304" pitchFamily="18" charset="0"/>
                </a:endParaRPr>
              </a:p>
              <a:p>
                <a:pPr indent="609600">
                  <a:lnSpc>
                    <a:spcPct val="150000"/>
                  </a:lnSpc>
                </a:pPr>
                <a:r>
                  <a:rPr lang="en-US" sz="2400" dirty="0">
                    <a:ea typeface="宋体" panose="02010600030101010101" pitchFamily="2" charset="-122"/>
                  </a:rPr>
                  <a:t> </a:t>
                </a:r>
                <a14:m>
                  <m:oMath xmlns:m="http://schemas.openxmlformats.org/officeDocument/2006/math">
                    <m:r>
                      <a:rPr lang="en-US" sz="2400" i="1">
                        <a:effectLst/>
                        <a:latin typeface="Cambria Math" panose="02040503050406030204" pitchFamily="18" charset="0"/>
                        <a:ea typeface="宋体" panose="02010600030101010101" pitchFamily="2" charset="-122"/>
                      </a:rPr>
                      <m:t>𝐴</m:t>
                    </m:r>
                    <m:r>
                      <a:rPr lang="en-US" sz="2400" i="1">
                        <a:effectLst/>
                        <a:latin typeface="Cambria Math" panose="02040503050406030204" pitchFamily="18" charset="0"/>
                        <a:ea typeface="宋体" panose="02010600030101010101" pitchFamily="2" charset="-122"/>
                      </a:rPr>
                      <m:t>=</m:t>
                    </m:r>
                    <m:d>
                      <m:dPr>
                        <m:ctrlPr>
                          <a:rPr lang="en-US" altLang="zh-CN" sz="2400" i="1" smtClean="0">
                            <a:effectLst/>
                            <a:latin typeface="Cambria Math" panose="02040503050406030204" pitchFamily="18" charset="0"/>
                            <a:ea typeface="宋体" panose="02010600030101010101" pitchFamily="2" charset="-122"/>
                          </a:rPr>
                        </m:ctrlPr>
                      </m:dPr>
                      <m:e>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r>
                                <a:rPr lang="en-US" altLang="zh-CN" sz="2400" i="1">
                                  <a:latin typeface="Cambria Math" panose="02040503050406030204" pitchFamily="18" charset="0"/>
                                  <a:ea typeface="宋体" panose="02010600030101010101" pitchFamily="2" charset="-122"/>
                                </a:rPr>
                                <m:t>1</m:t>
                              </m:r>
                            </m:e>
                            <m:e>
                              <m:r>
                                <a:rPr lang="en-US" altLang="zh-CN" sz="2400" i="1">
                                  <a:latin typeface="Cambria Math" panose="02040503050406030204" pitchFamily="18" charset="0"/>
                                  <a:ea typeface="宋体" panose="02010600030101010101" pitchFamily="2" charset="-122"/>
                                </a:rPr>
                                <m:t>2</m:t>
                              </m:r>
                            </m:e>
                          </m:mr>
                          <m:mr>
                            <m:e>
                              <m:r>
                                <a:rPr lang="en-US" altLang="zh-CN" sz="2400" i="1">
                                  <a:latin typeface="Cambria Math" panose="02040503050406030204" pitchFamily="18" charset="0"/>
                                  <a:ea typeface="宋体" panose="02010600030101010101" pitchFamily="2" charset="-122"/>
                                </a:rPr>
                                <m:t>0</m:t>
                              </m:r>
                            </m:e>
                            <m:e>
                              <m:r>
                                <a:rPr lang="en-US" altLang="zh-CN" sz="2400" i="1">
                                  <a:latin typeface="Cambria Math" panose="02040503050406030204" pitchFamily="18" charset="0"/>
                                  <a:ea typeface="宋体" panose="02010600030101010101" pitchFamily="2" charset="-122"/>
                                </a:rPr>
                                <m:t>3</m:t>
                              </m:r>
                            </m:e>
                          </m:mr>
                        </m:m>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r>
                                <a:rPr lang="en-US" altLang="zh-CN" sz="2400" i="1">
                                  <a:latin typeface="Cambria Math" panose="02040503050406030204" pitchFamily="18" charset="0"/>
                                  <a:ea typeface="宋体" panose="02010600030101010101" pitchFamily="2" charset="-122"/>
                                </a:rPr>
                                <m:t>    3</m:t>
                              </m:r>
                            </m:e>
                            <m:e>
                              <m:r>
                                <a:rPr lang="en-US" altLang="zh-CN" sz="2400" i="1">
                                  <a:latin typeface="Cambria Math" panose="02040503050406030204" pitchFamily="18" charset="0"/>
                                  <a:ea typeface="宋体" panose="02010600030101010101" pitchFamily="2" charset="-122"/>
                                </a:rPr>
                                <m:t>0</m:t>
                              </m:r>
                            </m:e>
                          </m:mr>
                          <m:mr>
                            <m:e>
                              <m:r>
                                <a:rPr lang="en-US" altLang="zh-CN" sz="2400" i="1">
                                  <a:latin typeface="Cambria Math" panose="02040503050406030204" pitchFamily="18" charset="0"/>
                                  <a:ea typeface="宋体" panose="02010600030101010101" pitchFamily="2" charset="-122"/>
                                </a:rPr>
                                <m:t>    1</m:t>
                              </m:r>
                            </m:e>
                            <m:e>
                              <m:r>
                                <a:rPr lang="en-US" altLang="zh-CN" sz="2400" i="1">
                                  <a:latin typeface="Cambria Math" panose="02040503050406030204" pitchFamily="18" charset="0"/>
                                  <a:ea typeface="宋体" panose="02010600030101010101" pitchFamily="2" charset="-122"/>
                                </a:rPr>
                                <m:t>1</m:t>
                              </m:r>
                            </m:e>
                          </m:mr>
                        </m:m>
                      </m:e>
                    </m:d>
                    <m:r>
                      <a:rPr lang="en-US" sz="2400" i="1">
                        <a:effectLst/>
                        <a:latin typeface="Cambria Math" panose="02040503050406030204" pitchFamily="18" charset="0"/>
                        <a:ea typeface="宋体" panose="02010600030101010101" pitchFamily="2" charset="-122"/>
                      </a:rPr>
                      <m:t>=</m:t>
                    </m:r>
                    <m:d>
                      <m:dPr>
                        <m:ctrlPr>
                          <a:rPr lang="en-US" altLang="zh-CN" sz="2400" i="1" smtClean="0">
                            <a:effectLst/>
                            <a:latin typeface="Cambria Math" panose="02040503050406030204" pitchFamily="18" charset="0"/>
                            <a:ea typeface="宋体" panose="02010600030101010101" pitchFamily="2" charset="-122"/>
                          </a:rPr>
                        </m:ctrlPr>
                      </m:dPr>
                      <m:e>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1</m:t>
                                  </m:r>
                                </m:sub>
                              </m:sSub>
                            </m:e>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2</m:t>
                                  </m:r>
                                </m:sub>
                              </m:sSub>
                              <m:r>
                                <a:rPr lang="en-US" altLang="zh-CN" sz="2400" i="1">
                                  <a:latin typeface="Cambria Math" panose="02040503050406030204" pitchFamily="18" charset="0"/>
                                  <a:ea typeface="宋体" panose="02010600030101010101" pitchFamily="2" charset="-122"/>
                                </a:rPr>
                                <m:t>    </m:t>
                              </m:r>
                            </m:e>
                          </m:mr>
                        </m:m>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3</m:t>
                                  </m:r>
                                </m:sub>
                              </m:sSub>
                            </m:e>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4</m:t>
                                  </m:r>
                                </m:sub>
                              </m:sSub>
                            </m:e>
                          </m:mr>
                        </m:m>
                      </m:e>
                    </m:d>
                  </m:oMath>
                </a14:m>
                <a:endParaRPr lang="en-US" altLang="zh-CN" sz="2400" dirty="0">
                  <a:effectLst/>
                  <a:latin typeface="Times New Roman" panose="02020603050405020304" pitchFamily="18" charset="0"/>
                  <a:ea typeface="Times New Roman" panose="02020603050405020304" pitchFamily="18" charset="0"/>
                </a:endParaRPr>
              </a:p>
              <a:p>
                <a:pPr indent="609600">
                  <a:lnSpc>
                    <a:spcPct val="150000"/>
                  </a:lnSpc>
                </a:pPr>
                <a:r>
                  <a:rPr lang="zh-CN" altLang="en-US" sz="2400" dirty="0">
                    <a:effectLst/>
                    <a:latin typeface="+mn-ea"/>
                  </a:rPr>
                  <a:t>基矩阵</a:t>
                </a:r>
                <a14:m>
                  <m:oMath xmlns:m="http://schemas.openxmlformats.org/officeDocument/2006/math">
                    <m:r>
                      <a:rPr lang="en-US" sz="2400" i="1">
                        <a:effectLst/>
                        <a:latin typeface="Cambria Math" panose="02040503050406030204" pitchFamily="18" charset="0"/>
                        <a:ea typeface="宋体" panose="02010600030101010101" pitchFamily="2" charset="-122"/>
                      </a:rPr>
                      <m:t>𝐵</m:t>
                    </m:r>
                    <m:r>
                      <a:rPr lang="en-US" sz="2400" i="1">
                        <a:effectLst/>
                        <a:latin typeface="Cambria Math" panose="02040503050406030204" pitchFamily="18" charset="0"/>
                        <a:ea typeface="宋体" panose="02010600030101010101" pitchFamily="2" charset="-122"/>
                      </a:rPr>
                      <m:t>=</m:t>
                    </m:r>
                    <m:d>
                      <m:dPr>
                        <m:ctrlPr>
                          <a:rPr lang="en-US" altLang="zh-CN" sz="2400" i="1" smtClean="0">
                            <a:effectLst/>
                            <a:latin typeface="Cambria Math" panose="02040503050406030204" pitchFamily="18" charset="0"/>
                            <a:ea typeface="宋体" panose="02010600030101010101" pitchFamily="2" charset="-122"/>
                          </a:rPr>
                        </m:ctrlPr>
                      </m:dPr>
                      <m:e>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1</m:t>
                                  </m:r>
                                </m:sub>
                              </m:sSub>
                            </m:e>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4</m:t>
                                  </m:r>
                                </m:sub>
                              </m:sSub>
                            </m:e>
                          </m:mr>
                        </m:m>
                      </m:e>
                    </m:d>
                  </m:oMath>
                </a14:m>
                <a:endParaRPr lang="en-US" sz="2400" dirty="0">
                  <a:effectLst/>
                  <a:latin typeface="Times New Roman" panose="02020603050405020304" pitchFamily="18" charset="0"/>
                  <a:ea typeface="Times New Roman" panose="02020603050405020304" pitchFamily="18" charset="0"/>
                </a:endParaRPr>
              </a:p>
              <a:p>
                <a:pPr indent="609600">
                  <a:lnSpc>
                    <a:spcPct val="150000"/>
                  </a:lnSpc>
                </a:pPr>
                <a:r>
                  <a:rPr lang="zh-CN" altLang="en-US" sz="2400" dirty="0">
                    <a:effectLst/>
                    <a:ea typeface="宋体" panose="02010600030101010101" pitchFamily="2" charset="-122"/>
                  </a:rPr>
                  <a:t>基变量</a:t>
                </a:r>
                <a14:m>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b="0" i="1" smtClean="0">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𝐵</m:t>
                        </m:r>
                      </m:sub>
                    </m:sSub>
                    <m:r>
                      <a:rPr lang="en-US" sz="2400" i="1">
                        <a:effectLst/>
                        <a:latin typeface="Cambria Math" panose="02040503050406030204" pitchFamily="18" charset="0"/>
                        <a:ea typeface="宋体" panose="02010600030101010101" pitchFamily="2" charset="-122"/>
                      </a:rPr>
                      <m:t>=</m:t>
                    </m:r>
                    <m:sSup>
                      <m:sSupPr>
                        <m:ctrlPr>
                          <a:rPr lang="en-US" sz="2400" i="1">
                            <a:effectLst/>
                            <a:latin typeface="Cambria Math" panose="02040503050406030204" pitchFamily="18" charset="0"/>
                            <a:ea typeface="宋体" panose="02010600030101010101" pitchFamily="2" charset="-122"/>
                          </a:rPr>
                        </m:ctrlPr>
                      </m:sSupPr>
                      <m:e>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 </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 </m:t>
                            </m:r>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4</m:t>
                            </m:r>
                          </m:sub>
                        </m:sSub>
                        <m:r>
                          <a:rPr lang="en-US" sz="2400" i="1">
                            <a:effectLst/>
                            <a:latin typeface="Cambria Math" panose="02040503050406030204" pitchFamily="18" charset="0"/>
                            <a:ea typeface="宋体" panose="02010600030101010101" pitchFamily="2" charset="-122"/>
                          </a:rPr>
                          <m:t>)</m:t>
                        </m:r>
                      </m:e>
                      <m:sup>
                        <m:r>
                          <a:rPr lang="en-US" sz="2400" i="1">
                            <a:effectLst/>
                            <a:latin typeface="Cambria Math" panose="02040503050406030204" pitchFamily="18" charset="0"/>
                            <a:ea typeface="宋体" panose="02010600030101010101" pitchFamily="2" charset="-122"/>
                          </a:rPr>
                          <m:t>𝑇</m:t>
                        </m:r>
                      </m:sup>
                    </m:sSup>
                  </m:oMath>
                </a14:m>
                <a:r>
                  <a:rPr lang="en-US" sz="2400" dirty="0">
                    <a:effectLst/>
                    <a:latin typeface="宋体" panose="02010600030101010101" pitchFamily="2" charset="-122"/>
                    <a:ea typeface="Times New Roman" panose="02020603050405020304" pitchFamily="18" charset="0"/>
                  </a:rPr>
                  <a:t>,</a:t>
                </a:r>
                <a:r>
                  <a:rPr lang="zh-CN" sz="2400" dirty="0">
                    <a:effectLst/>
                    <a:latin typeface="Times New Roman" panose="02020603050405020304" pitchFamily="18" charset="0"/>
                    <a:ea typeface="宋体" panose="02010600030101010101" pitchFamily="2" charset="-122"/>
                  </a:rPr>
                  <a:t>令</a:t>
                </a:r>
                <a14:m>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r>
                      <a:rPr lang="en-US" sz="2400" i="1">
                        <a:effectLst/>
                        <a:latin typeface="Cambria Math" panose="02040503050406030204" pitchFamily="18" charset="0"/>
                        <a:ea typeface="宋体" panose="02010600030101010101" pitchFamily="2" charset="-122"/>
                      </a:rPr>
                      <m:t>= </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3</m:t>
                        </m:r>
                      </m:sub>
                    </m:sSub>
                    <m:r>
                      <a:rPr lang="en-US" sz="2400" i="1">
                        <a:effectLst/>
                        <a:latin typeface="Cambria Math" panose="02040503050406030204" pitchFamily="18" charset="0"/>
                        <a:ea typeface="宋体" panose="02010600030101010101" pitchFamily="2" charset="-122"/>
                      </a:rPr>
                      <m:t>=0</m:t>
                    </m:r>
                  </m:oMath>
                </a14:m>
                <a:endParaRPr lang="en-US" sz="2400" dirty="0">
                  <a:effectLst/>
                  <a:latin typeface="Times New Roman" panose="02020603050405020304" pitchFamily="18" charset="0"/>
                  <a:ea typeface="Times New Roman" panose="02020603050405020304" pitchFamily="18" charset="0"/>
                </a:endParaRPr>
              </a:p>
              <a:p>
                <a:pPr indent="609600">
                  <a:lnSpc>
                    <a:spcPct val="150000"/>
                  </a:lnSpc>
                </a:pPr>
                <a:r>
                  <a:rPr lang="zh-CN" sz="2400" dirty="0">
                    <a:effectLst/>
                    <a:latin typeface="Times New Roman" panose="02020603050405020304" pitchFamily="18" charset="0"/>
                    <a:ea typeface="宋体" panose="02010600030101010101" pitchFamily="2" charset="-122"/>
                  </a:rPr>
                  <a:t>则初始基本可行解：</a:t>
                </a:r>
                <a:endParaRPr lang="en-US" sz="2400" dirty="0">
                  <a:effectLst/>
                  <a:latin typeface="Times New Roman" panose="02020603050405020304" pitchFamily="18" charset="0"/>
                  <a:ea typeface="Times New Roman" panose="02020603050405020304" pitchFamily="18" charset="0"/>
                </a:endParaRPr>
              </a:p>
              <a:p>
                <a:pPr>
                  <a:lnSpc>
                    <a:spcPct val="150000"/>
                  </a:lnSpc>
                </a:pPr>
                <a14:m>
                  <m:oMath xmlns:m="http://schemas.openxmlformats.org/officeDocument/2006/math">
                    <m:sSup>
                      <m:sSupPr>
                        <m:ctrlPr>
                          <a:rPr lang="en-US" sz="2400" i="1">
                            <a:effectLst/>
                            <a:latin typeface="Cambria Math" panose="02040503050406030204" pitchFamily="18" charset="0"/>
                            <a:ea typeface="宋体" panose="02010600030101010101" pitchFamily="2" charset="-122"/>
                          </a:rPr>
                        </m:ctrlPr>
                      </m:sSupPr>
                      <m:e>
                        <m:r>
                          <a:rPr lang="en-US" sz="2400" b="0" i="1" smtClean="0">
                            <a:effectLst/>
                            <a:latin typeface="Cambria Math" panose="02040503050406030204" pitchFamily="18" charset="0"/>
                            <a:ea typeface="宋体" panose="02010600030101010101" pitchFamily="2" charset="-122"/>
                          </a:rPr>
                          <m:t>          </m:t>
                        </m:r>
                        <m:r>
                          <a:rPr lang="en-US" sz="2400" b="0" i="1" smtClean="0">
                            <a:effectLst/>
                            <a:latin typeface="Cambria Math" panose="02040503050406030204" pitchFamily="18" charset="0"/>
                            <a:ea typeface="宋体" panose="02010600030101010101" pitchFamily="2" charset="-122"/>
                          </a:rPr>
                          <m:t>𝑥</m:t>
                        </m:r>
                      </m:e>
                      <m:sup>
                        <m:r>
                          <a:rPr lang="en-US" sz="2400" i="1">
                            <a:effectLst/>
                            <a:latin typeface="Cambria Math" panose="02040503050406030204" pitchFamily="18" charset="0"/>
                            <a:ea typeface="宋体" panose="02010600030101010101" pitchFamily="2" charset="-122"/>
                            <a:cs typeface="Times New Roman" panose="02020603050405020304" pitchFamily="18" charset="0"/>
                          </a:rPr>
                          <m:t>(0)</m:t>
                        </m:r>
                      </m:sup>
                    </m:sSup>
                    <m:r>
                      <a:rPr lang="en-US" sz="2400"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en-US" sz="2400" i="1">
                            <a:effectLst/>
                            <a:latin typeface="Cambria Math" panose="02040503050406030204" pitchFamily="18" charset="0"/>
                            <a:ea typeface="宋体" panose="02010600030101010101" pitchFamily="2" charset="-122"/>
                          </a:rPr>
                        </m:ctrlPr>
                      </m:sSupPr>
                      <m:e>
                        <m:r>
                          <a:rPr lang="en-US" sz="2400" i="1">
                            <a:effectLst/>
                            <a:latin typeface="Cambria Math" panose="02040503050406030204" pitchFamily="18" charset="0"/>
                            <a:ea typeface="宋体" panose="02010600030101010101" pitchFamily="2" charset="-122"/>
                            <a:cs typeface="Times New Roman" panose="02020603050405020304" pitchFamily="18" charset="0"/>
                          </a:rPr>
                          <m:t>(3  0  0  4)</m:t>
                        </m:r>
                      </m:e>
                      <m:sup>
                        <m:r>
                          <a:rPr lang="en-US" sz="2400" i="1">
                            <a:effectLst/>
                            <a:latin typeface="Cambria Math" panose="02040503050406030204" pitchFamily="18" charset="0"/>
                            <a:ea typeface="宋体" panose="02010600030101010101" pitchFamily="2" charset="-122"/>
                            <a:cs typeface="Times New Roman" panose="02020603050405020304" pitchFamily="18" charset="0"/>
                          </a:rPr>
                          <m:t>𝑇</m:t>
                        </m:r>
                      </m:sup>
                    </m:sSup>
                  </m:oMath>
                </a14:m>
                <a:r>
                  <a:rPr lang="en-US" sz="2400" dirty="0">
                    <a:effectLst/>
                  </a:rPr>
                  <a:t> </a:t>
                </a:r>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5519936" y="2348880"/>
                <a:ext cx="8064896" cy="3743461"/>
              </a:xfrm>
              <a:prstGeom prst="rect">
                <a:avLst/>
              </a:prstGeom>
              <a:blipFill rotWithShape="1">
                <a:blip r:embed="rId3"/>
                <a:stretch>
                  <a:fillRect l="-6" r="3" b="-72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777503" y="2095003"/>
            <a:ext cx="44958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chemeClr val="tx2"/>
              </a:buClr>
              <a:buSzPct val="90000"/>
              <a:buFont typeface="Cambria" panose="02040503050406030204" pitchFamily="18" charset="0"/>
              <a:buChar char="+"/>
              <a:defRPr sz="3200">
                <a:solidFill>
                  <a:schemeClr val="tx1"/>
                </a:solidFill>
                <a:latin typeface="Calibri" panose="020F0502020204030204" pitchFamily="34" charset="0"/>
              </a:defRPr>
            </a:lvl1pPr>
            <a:lvl2pPr marL="742950" indent="-285750" algn="l">
              <a:spcBef>
                <a:spcPct val="20000"/>
              </a:spcBef>
              <a:buClr>
                <a:schemeClr val="tx2"/>
              </a:buClr>
              <a:buSzPct val="100000"/>
              <a:buFont typeface="Cambria" panose="02040503050406030204" pitchFamily="18" charset="0"/>
              <a:buChar char="–"/>
              <a:defRPr sz="2800">
                <a:solidFill>
                  <a:schemeClr val="tx1"/>
                </a:solidFill>
                <a:latin typeface="Calibri" panose="020F0502020204030204" pitchFamily="34" charset="0"/>
              </a:defRPr>
            </a:lvl2pPr>
            <a:lvl3pPr marL="1143000" indent="-228600" algn="l">
              <a:spcBef>
                <a:spcPct val="20000"/>
              </a:spcBef>
              <a:buClr>
                <a:schemeClr val="tx2"/>
              </a:buClr>
              <a:buSzPct val="60000"/>
              <a:buFont typeface="Wingdings 2" panose="05020102010507070707" pitchFamily="18" charset="2"/>
              <a:buChar char="Ï"/>
              <a:defRPr sz="2400">
                <a:solidFill>
                  <a:schemeClr val="tx1"/>
                </a:solidFill>
                <a:latin typeface="Calibri" panose="020F0502020204030204" pitchFamily="34" charset="0"/>
              </a:defRPr>
            </a:lvl3pPr>
            <a:lvl4pPr marL="1600200" indent="-228600" algn="l">
              <a:spcBef>
                <a:spcPct val="20000"/>
              </a:spcBef>
              <a:buClr>
                <a:schemeClr val="tx2"/>
              </a:buClr>
              <a:buSzPct val="90000"/>
              <a:buFont typeface="Calibri" panose="020F0502020204030204" pitchFamily="34" charset="0"/>
              <a:buChar char="÷"/>
              <a:defRPr sz="2000">
                <a:solidFill>
                  <a:schemeClr val="tx1"/>
                </a:solidFill>
                <a:latin typeface="Calibri" panose="020F0502020204030204" pitchFamily="34" charset="0"/>
              </a:defRPr>
            </a:lvl4pPr>
            <a:lvl5pPr marL="2057400" indent="-228600" algn="l">
              <a:spcBef>
                <a:spcPct val="20000"/>
              </a:spcBef>
              <a:buClr>
                <a:schemeClr val="tx2"/>
              </a:buClr>
              <a:buSzPct val="100000"/>
              <a:buFont typeface="Cambria" panose="02040503050406030204" pitchFamily="18"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9pPr>
          </a:lstStyle>
          <a:p>
            <a:pPr eaLnBrk="1" hangingPunct="1">
              <a:spcBef>
                <a:spcPct val="0"/>
              </a:spcBef>
              <a:buClrTx/>
              <a:buFontTx/>
              <a:buNone/>
            </a:pPr>
            <a:endParaRPr kumimoji="1" lang="en-US" altLang="zh-CN" sz="2000" dirty="0">
              <a:latin typeface="宋体" panose="02010600030101010101" pitchFamily="2" charset="-122"/>
            </a:endParaRPr>
          </a:p>
          <a:p>
            <a:pPr eaLnBrk="1" hangingPunct="1">
              <a:spcBef>
                <a:spcPct val="0"/>
              </a:spcBef>
              <a:buClrTx/>
              <a:buFontTx/>
              <a:buNone/>
            </a:pPr>
            <a:endParaRPr kumimoji="1" lang="en-US" altLang="zh-CN" sz="2000" dirty="0">
              <a:latin typeface="宋体" panose="02010600030101010101" pitchFamily="2" charset="-122"/>
            </a:endParaRPr>
          </a:p>
          <a:p>
            <a:pPr>
              <a:spcBef>
                <a:spcPct val="0"/>
              </a:spcBef>
              <a:buClrTx/>
              <a:buNone/>
            </a:pPr>
            <a:r>
              <a:rPr lang="zh-CN" altLang="en-US" sz="2400" b="1" dirty="0">
                <a:solidFill>
                  <a:srgbClr val="000000"/>
                </a:solidFill>
                <a:latin typeface="宋体" panose="02010600030101010101" pitchFamily="2" charset="-122"/>
              </a:rPr>
              <a:t>   例</a:t>
            </a:r>
            <a:endParaRPr kumimoji="1" lang="zh-CN" altLang="en-US" sz="2400" dirty="0">
              <a:latin typeface="Times New Roman" panose="02020603050405020304" pitchFamily="18" charset="0"/>
            </a:endParaRPr>
          </a:p>
        </p:txBody>
      </p:sp>
      <p:grpSp>
        <p:nvGrpSpPr>
          <p:cNvPr id="17" name="Group 11"/>
          <p:cNvGrpSpPr/>
          <p:nvPr/>
        </p:nvGrpSpPr>
        <p:grpSpPr bwMode="auto">
          <a:xfrm>
            <a:off x="5146303" y="3576464"/>
            <a:ext cx="1219200" cy="381000"/>
            <a:chOff x="2448" y="1920"/>
            <a:chExt cx="768" cy="240"/>
          </a:xfrm>
        </p:grpSpPr>
        <p:sp>
          <p:nvSpPr>
            <p:cNvPr id="18" name="Line 9"/>
            <p:cNvSpPr>
              <a:spLocks noChangeShapeType="1"/>
            </p:cNvSpPr>
            <p:nvPr/>
          </p:nvSpPr>
          <p:spPr bwMode="auto">
            <a:xfrm>
              <a:off x="2448" y="2160"/>
              <a:ext cx="768" cy="0"/>
            </a:xfrm>
            <a:prstGeom prst="line">
              <a:avLst/>
            </a:prstGeom>
            <a:noFill/>
            <a:ln w="19050">
              <a:solidFill>
                <a:schemeClr val="tx1"/>
              </a:solidFill>
              <a:miter lim="800000"/>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Rectangle 10"/>
            <p:cNvSpPr>
              <a:spLocks noChangeArrowheads="1"/>
            </p:cNvSpPr>
            <p:nvPr/>
          </p:nvSpPr>
          <p:spPr bwMode="auto">
            <a:xfrm>
              <a:off x="2496" y="1920"/>
              <a:ext cx="62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a:spcBef>
                  <a:spcPct val="20000"/>
                </a:spcBef>
                <a:buClr>
                  <a:schemeClr val="tx2"/>
                </a:buClr>
                <a:buSzPct val="90000"/>
                <a:buFont typeface="Cambria" panose="02040503050406030204" pitchFamily="18" charset="0"/>
                <a:buChar char="+"/>
                <a:defRPr sz="3200">
                  <a:solidFill>
                    <a:schemeClr val="tx1"/>
                  </a:solidFill>
                  <a:latin typeface="Calibri" panose="020F0502020204030204" pitchFamily="34" charset="0"/>
                </a:defRPr>
              </a:lvl1pPr>
              <a:lvl2pPr marL="742950" indent="-285750" algn="l">
                <a:spcBef>
                  <a:spcPct val="20000"/>
                </a:spcBef>
                <a:buClr>
                  <a:schemeClr val="tx2"/>
                </a:buClr>
                <a:buSzPct val="100000"/>
                <a:buFont typeface="Cambria" panose="02040503050406030204" pitchFamily="18" charset="0"/>
                <a:buChar char="–"/>
                <a:defRPr sz="2800">
                  <a:solidFill>
                    <a:schemeClr val="tx1"/>
                  </a:solidFill>
                  <a:latin typeface="Calibri" panose="020F0502020204030204" pitchFamily="34" charset="0"/>
                </a:defRPr>
              </a:lvl2pPr>
              <a:lvl3pPr marL="1143000" indent="-228600" algn="l">
                <a:spcBef>
                  <a:spcPct val="20000"/>
                </a:spcBef>
                <a:buClr>
                  <a:schemeClr val="tx2"/>
                </a:buClr>
                <a:buSzPct val="60000"/>
                <a:buFont typeface="Wingdings 2" panose="05020102010507070707" pitchFamily="18" charset="2"/>
                <a:buChar char="Ï"/>
                <a:defRPr sz="2400">
                  <a:solidFill>
                    <a:schemeClr val="tx1"/>
                  </a:solidFill>
                  <a:latin typeface="Calibri" panose="020F0502020204030204" pitchFamily="34" charset="0"/>
                </a:defRPr>
              </a:lvl3pPr>
              <a:lvl4pPr marL="1600200" indent="-228600" algn="l">
                <a:spcBef>
                  <a:spcPct val="20000"/>
                </a:spcBef>
                <a:buClr>
                  <a:schemeClr val="tx2"/>
                </a:buClr>
                <a:buSzPct val="90000"/>
                <a:buFont typeface="Calibri" panose="020F0502020204030204" pitchFamily="34" charset="0"/>
                <a:buChar char="÷"/>
                <a:defRPr sz="2000">
                  <a:solidFill>
                    <a:schemeClr val="tx1"/>
                  </a:solidFill>
                  <a:latin typeface="Calibri" panose="020F0502020204030204" pitchFamily="34" charset="0"/>
                </a:defRPr>
              </a:lvl4pPr>
              <a:lvl5pPr marL="2057400" indent="-228600" algn="l">
                <a:spcBef>
                  <a:spcPct val="20000"/>
                </a:spcBef>
                <a:buClr>
                  <a:schemeClr val="tx2"/>
                </a:buClr>
                <a:buSzPct val="100000"/>
                <a:buFont typeface="Cambria" panose="02040503050406030204" pitchFamily="18"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9pPr>
            </a:lstStyle>
            <a:p>
              <a:pPr algn="ctr" eaLnBrk="1" hangingPunct="1">
                <a:spcBef>
                  <a:spcPct val="0"/>
                </a:spcBef>
                <a:buClrTx/>
                <a:buSzTx/>
                <a:buFontTx/>
                <a:buNone/>
              </a:pPr>
              <a:r>
                <a:rPr kumimoji="1" lang="zh-CN" altLang="en-US" sz="2400" dirty="0">
                  <a:latin typeface="Times New Roman" panose="02020603050405020304" pitchFamily="18" charset="0"/>
                </a:rPr>
                <a:t>化标准型</a:t>
              </a:r>
            </a:p>
          </p:txBody>
        </p:sp>
      </p:grpSp>
      <mc:AlternateContent xmlns:mc="http://schemas.openxmlformats.org/markup-compatibility/2006" xmlns:a14="http://schemas.microsoft.com/office/drawing/2010/main">
        <mc:Choice Requires="a14">
          <p:sp>
            <p:nvSpPr>
              <p:cNvPr id="6" name="文本框 5"/>
              <p:cNvSpPr txBox="1"/>
              <p:nvPr/>
            </p:nvSpPr>
            <p:spPr>
              <a:xfrm>
                <a:off x="479376" y="434446"/>
                <a:ext cx="11017224" cy="1961243"/>
              </a:xfrm>
              <a:prstGeom prst="rect">
                <a:avLst/>
              </a:prstGeom>
              <a:noFill/>
            </p:spPr>
            <p:txBody>
              <a:bodyPr wrap="square">
                <a:spAutoFit/>
              </a:bodyPr>
              <a:lstStyle/>
              <a:p>
                <a:pPr indent="356870" algn="just">
                  <a:lnSpc>
                    <a:spcPct val="130000"/>
                  </a:lnSpc>
                </a:pPr>
                <a:r>
                  <a:rPr lang="zh-CN" altLang="zh-CN" sz="2400" b="1" dirty="0">
                    <a:effectLst/>
                    <a:latin typeface="Times New Roman" panose="02020603050405020304" pitchFamily="18" charset="0"/>
                    <a:ea typeface="宋体" panose="02010600030101010101" pitchFamily="2" charset="-122"/>
                  </a:rPr>
                  <a:t>若线性规划的</a:t>
                </a:r>
                <a14:m>
                  <m:oMath xmlns:m="http://schemas.openxmlformats.org/officeDocument/2006/math">
                    <m:r>
                      <a:rPr lang="en-US" altLang="zh-CN" sz="2400" b="1" i="1">
                        <a:effectLst/>
                        <a:latin typeface="Cambria Math" panose="02040503050406030204" pitchFamily="18" charset="0"/>
                        <a:ea typeface="宋体" panose="02010600030101010101" pitchFamily="2" charset="-122"/>
                      </a:rPr>
                      <m:t>𝒎</m:t>
                    </m:r>
                  </m:oMath>
                </a14:m>
                <a:r>
                  <a:rPr lang="zh-CN" altLang="zh-CN" sz="2400" b="1" dirty="0">
                    <a:effectLst/>
                    <a:latin typeface="Times New Roman" panose="02020603050405020304" pitchFamily="18" charset="0"/>
                    <a:ea typeface="宋体" panose="02010600030101010101" pitchFamily="2" charset="-122"/>
                  </a:rPr>
                  <a:t>个约束条件都是“</a:t>
                </a:r>
                <a14:m>
                  <m:oMath xmlns:m="http://schemas.openxmlformats.org/officeDocument/2006/math">
                    <m:r>
                      <a:rPr lang="en-US" altLang="zh-CN" sz="2400" b="1" i="1">
                        <a:effectLst/>
                        <a:latin typeface="Cambria Math" panose="02040503050406030204" pitchFamily="18" charset="0"/>
                        <a:ea typeface="宋体" panose="02010600030101010101" pitchFamily="2" charset="-122"/>
                      </a:rPr>
                      <m:t>≤</m:t>
                    </m:r>
                  </m:oMath>
                </a14:m>
                <a:r>
                  <a:rPr lang="zh-CN" altLang="zh-CN" sz="2400" b="1" dirty="0">
                    <a:effectLst/>
                    <a:latin typeface="Times New Roman" panose="02020603050405020304" pitchFamily="18" charset="0"/>
                    <a:ea typeface="宋体" panose="02010600030101010101" pitchFamily="2" charset="-122"/>
                  </a:rPr>
                  <a:t>”的形式且右端项都为非负，则在标准化时，每一个约束条件的左边都加上一个松弛变量</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𝒙</m:t>
                        </m:r>
                      </m:e>
                      <m:sub>
                        <m:r>
                          <a:rPr lang="en-US" altLang="zh-CN" sz="2400" b="1" i="1">
                            <a:effectLst/>
                            <a:latin typeface="Cambria Math" panose="02040503050406030204" pitchFamily="18" charset="0"/>
                            <a:ea typeface="宋体" panose="02010600030101010101" pitchFamily="2" charset="-122"/>
                          </a:rPr>
                          <m:t>𝒏</m:t>
                        </m:r>
                        <m:r>
                          <a:rPr lang="en-US" altLang="zh-CN" sz="2400" b="1" i="1">
                            <a:effectLst/>
                            <a:latin typeface="Cambria Math" panose="02040503050406030204" pitchFamily="18" charset="0"/>
                            <a:ea typeface="宋体" panose="02010600030101010101" pitchFamily="2" charset="-122"/>
                          </a:rPr>
                          <m:t>+</m:t>
                        </m:r>
                        <m:r>
                          <a:rPr lang="en-US" altLang="zh-CN" sz="2400" b="1" i="1">
                            <a:effectLst/>
                            <a:latin typeface="Cambria Math" panose="02040503050406030204" pitchFamily="18" charset="0"/>
                            <a:ea typeface="宋体" panose="02010600030101010101" pitchFamily="2" charset="-122"/>
                          </a:rPr>
                          <m:t>𝒊</m:t>
                        </m:r>
                      </m:sub>
                    </m:sSub>
                  </m:oMath>
                </a14:m>
                <a:r>
                  <a:rPr lang="zh-CN" altLang="zh-CN" sz="2400" b="1" dirty="0">
                    <a:effectLst/>
                    <a:latin typeface="Times New Roman" panose="02020603050405020304" pitchFamily="18" charset="0"/>
                    <a:ea typeface="宋体" panose="02010600030101010101" pitchFamily="2" charset="-122"/>
                  </a:rPr>
                  <a:t>，该松弛变量所对应的系数列向量是</a:t>
                </a:r>
                <a14:m>
                  <m:oMath xmlns:m="http://schemas.openxmlformats.org/officeDocument/2006/math">
                    <m:r>
                      <a:rPr lang="en-US" altLang="zh-CN" sz="2400" b="1" i="1">
                        <a:effectLst/>
                        <a:latin typeface="Cambria Math" panose="02040503050406030204" pitchFamily="18" charset="0"/>
                        <a:ea typeface="宋体" panose="02010600030101010101" pitchFamily="2" charset="-122"/>
                      </a:rPr>
                      <m:t>𝒎</m:t>
                    </m:r>
                  </m:oMath>
                </a14:m>
                <a:r>
                  <a:rPr lang="zh-CN" altLang="zh-CN" sz="2400" b="1" dirty="0">
                    <a:effectLst/>
                    <a:latin typeface="Times New Roman" panose="02020603050405020304" pitchFamily="18" charset="0"/>
                    <a:ea typeface="宋体" panose="02010600030101010101" pitchFamily="2" charset="-122"/>
                  </a:rPr>
                  <a:t>维单位向量</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𝒆</m:t>
                        </m:r>
                      </m:e>
                      <m:sub>
                        <m:r>
                          <a:rPr lang="en-US" altLang="zh-CN" sz="2400" b="1" i="1">
                            <a:effectLst/>
                            <a:latin typeface="Cambria Math" panose="02040503050406030204" pitchFamily="18" charset="0"/>
                            <a:ea typeface="宋体" panose="02010600030101010101" pitchFamily="2" charset="-122"/>
                          </a:rPr>
                          <m:t>𝒊</m:t>
                        </m:r>
                      </m:sub>
                    </m:sSub>
                  </m:oMath>
                </a14:m>
                <a:r>
                  <a:rPr lang="zh-CN" altLang="zh-CN" sz="2400" b="1" dirty="0">
                    <a:effectLst/>
                    <a:latin typeface="Times New Roman" panose="02020603050405020304" pitchFamily="18" charset="0"/>
                    <a:ea typeface="宋体" panose="02010600030101010101" pitchFamily="2" charset="-122"/>
                  </a:rPr>
                  <a:t>．因此，</a:t>
                </a:r>
                <a14:m>
                  <m:oMath xmlns:m="http://schemas.openxmlformats.org/officeDocument/2006/math">
                    <m:r>
                      <a:rPr lang="en-US" altLang="zh-CN" sz="2400" b="1" i="1">
                        <a:effectLst/>
                        <a:latin typeface="Cambria Math" panose="02040503050406030204" pitchFamily="18" charset="0"/>
                        <a:ea typeface="宋体" panose="02010600030101010101" pitchFamily="2" charset="-122"/>
                      </a:rPr>
                      <m:t>𝒎</m:t>
                    </m:r>
                  </m:oMath>
                </a14:m>
                <a:r>
                  <a:rPr lang="zh-CN" altLang="zh-CN" sz="2400" b="1" dirty="0">
                    <a:effectLst/>
                    <a:latin typeface="Times New Roman" panose="02020603050405020304" pitchFamily="18" charset="0"/>
                    <a:ea typeface="宋体" panose="02010600030101010101" pitchFamily="2" charset="-122"/>
                  </a:rPr>
                  <a:t>个松弛变量</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𝒙</m:t>
                        </m:r>
                      </m:e>
                      <m:sub>
                        <m:r>
                          <a:rPr lang="en-US" altLang="zh-CN" sz="2400" b="1" i="1">
                            <a:effectLst/>
                            <a:latin typeface="Cambria Math" panose="02040503050406030204" pitchFamily="18" charset="0"/>
                            <a:ea typeface="宋体" panose="02010600030101010101" pitchFamily="2" charset="-122"/>
                          </a:rPr>
                          <m:t>𝒏</m:t>
                        </m:r>
                        <m:r>
                          <a:rPr lang="en-US" altLang="zh-CN" sz="2400" b="1" i="1">
                            <a:effectLst/>
                            <a:latin typeface="Cambria Math" panose="02040503050406030204" pitchFamily="18" charset="0"/>
                            <a:ea typeface="宋体" panose="02010600030101010101" pitchFamily="2" charset="-122"/>
                          </a:rPr>
                          <m:t>+</m:t>
                        </m:r>
                        <m:r>
                          <a:rPr lang="en-US" altLang="zh-CN" sz="2400" b="1" i="1">
                            <a:effectLst/>
                            <a:latin typeface="Cambria Math" panose="02040503050406030204" pitchFamily="18" charset="0"/>
                            <a:ea typeface="宋体" panose="02010600030101010101" pitchFamily="2" charset="-122"/>
                          </a:rPr>
                          <m:t>𝟏</m:t>
                        </m:r>
                      </m:sub>
                    </m:sSub>
                    <m:r>
                      <a:rPr lang="en-US" altLang="zh-CN" sz="2400" b="1" i="1">
                        <a:effectLst/>
                        <a:latin typeface="Cambria Math" panose="02040503050406030204" pitchFamily="18" charset="0"/>
                        <a:ea typeface="宋体" panose="02010600030101010101" pitchFamily="2" charset="-122"/>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𝒙</m:t>
                        </m:r>
                      </m:e>
                      <m:sub>
                        <m:r>
                          <a:rPr lang="en-US" altLang="zh-CN" sz="2400" b="1" i="1">
                            <a:effectLst/>
                            <a:latin typeface="Cambria Math" panose="02040503050406030204" pitchFamily="18" charset="0"/>
                            <a:ea typeface="宋体" panose="02010600030101010101" pitchFamily="2" charset="-122"/>
                          </a:rPr>
                          <m:t>𝒏</m:t>
                        </m:r>
                        <m:r>
                          <a:rPr lang="en-US" altLang="zh-CN" sz="2400" b="1" i="1">
                            <a:effectLst/>
                            <a:latin typeface="Cambria Math" panose="02040503050406030204" pitchFamily="18" charset="0"/>
                            <a:ea typeface="宋体" panose="02010600030101010101" pitchFamily="2" charset="-122"/>
                          </a:rPr>
                          <m:t>+</m:t>
                        </m:r>
                        <m:r>
                          <a:rPr lang="en-US" altLang="zh-CN" sz="2400" b="1" i="1">
                            <a:effectLst/>
                            <a:latin typeface="Cambria Math" panose="02040503050406030204" pitchFamily="18" charset="0"/>
                            <a:ea typeface="宋体" panose="02010600030101010101" pitchFamily="2" charset="-122"/>
                          </a:rPr>
                          <m:t>𝟐</m:t>
                        </m:r>
                      </m:sub>
                    </m:sSub>
                    <m:r>
                      <a:rPr lang="en-US" altLang="zh-CN" sz="2400" b="1" i="1">
                        <a:effectLst/>
                        <a:latin typeface="Cambria Math" panose="02040503050406030204" pitchFamily="18" charset="0"/>
                        <a:ea typeface="宋体" panose="02010600030101010101" pitchFamily="2" charset="-122"/>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𝒙</m:t>
                        </m:r>
                      </m:e>
                      <m:sub>
                        <m:r>
                          <a:rPr lang="en-US" altLang="zh-CN" sz="2400" b="1" i="1">
                            <a:effectLst/>
                            <a:latin typeface="Cambria Math" panose="02040503050406030204" pitchFamily="18" charset="0"/>
                            <a:ea typeface="宋体" panose="02010600030101010101" pitchFamily="2" charset="-122"/>
                          </a:rPr>
                          <m:t>𝒏</m:t>
                        </m:r>
                        <m:r>
                          <a:rPr lang="en-US" altLang="zh-CN" sz="2400" b="1" i="1">
                            <a:effectLst/>
                            <a:latin typeface="Cambria Math" panose="02040503050406030204" pitchFamily="18" charset="0"/>
                            <a:ea typeface="宋体" panose="02010600030101010101" pitchFamily="2" charset="-122"/>
                          </a:rPr>
                          <m:t>+</m:t>
                        </m:r>
                        <m:r>
                          <a:rPr lang="en-US" altLang="zh-CN" sz="2400" b="1" i="1">
                            <a:effectLst/>
                            <a:latin typeface="Cambria Math" panose="02040503050406030204" pitchFamily="18" charset="0"/>
                            <a:ea typeface="宋体" panose="02010600030101010101" pitchFamily="2" charset="-122"/>
                          </a:rPr>
                          <m:t>𝒎</m:t>
                        </m:r>
                      </m:sub>
                    </m:sSub>
                  </m:oMath>
                </a14:m>
                <a:r>
                  <a:rPr lang="zh-CN" altLang="zh-CN" sz="2400" b="1" dirty="0">
                    <a:effectLst/>
                    <a:latin typeface="Times New Roman" panose="02020603050405020304" pitchFamily="18" charset="0"/>
                    <a:ea typeface="宋体" panose="02010600030101010101" pitchFamily="2" charset="-122"/>
                  </a:rPr>
                  <a:t>所对应的系数向量组成的矩阵就为</a:t>
                </a:r>
                <a14:m>
                  <m:oMath xmlns:m="http://schemas.openxmlformats.org/officeDocument/2006/math">
                    <m:r>
                      <a:rPr lang="en-US" altLang="zh-CN" sz="2400" b="1" i="1">
                        <a:effectLst/>
                        <a:latin typeface="Cambria Math" panose="02040503050406030204" pitchFamily="18" charset="0"/>
                        <a:ea typeface="宋体" panose="02010600030101010101" pitchFamily="2" charset="-122"/>
                      </a:rPr>
                      <m:t>𝒎</m:t>
                    </m:r>
                  </m:oMath>
                </a14:m>
                <a:r>
                  <a:rPr lang="zh-CN" altLang="zh-CN" sz="2400" b="1" dirty="0">
                    <a:effectLst/>
                    <a:latin typeface="Times New Roman" panose="02020603050405020304" pitchFamily="18" charset="0"/>
                    <a:ea typeface="宋体" panose="02010600030101010101" pitchFamily="2" charset="-122"/>
                  </a:rPr>
                  <a:t>阶单位阵．</a:t>
                </a:r>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479376" y="434446"/>
                <a:ext cx="11017224" cy="1961243"/>
              </a:xfrm>
              <a:prstGeom prst="rect">
                <a:avLst/>
              </a:prstGeom>
              <a:blipFill rotWithShape="1">
                <a:blip r:embed="rId2"/>
                <a:stretch>
                  <a:fillRect l="-5" t="-5" r="5" b="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69503" y="2656121"/>
                <a:ext cx="6096000" cy="1859915"/>
              </a:xfrm>
              <a:prstGeom prst="rect">
                <a:avLst/>
              </a:prstGeom>
              <a:noFill/>
            </p:spPr>
            <p:txBody>
              <a:bodyPr wrap="squar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宋体" panose="02010600030101010101" pitchFamily="2" charset="-122"/>
                        </a:rPr>
                        <m:t>𝑚𝑖𝑛</m:t>
                      </m:r>
                      <m:r>
                        <a:rPr lang="en-US" sz="2400" i="1">
                          <a:latin typeface="Cambria Math" panose="02040503050406030204" pitchFamily="18" charset="0"/>
                          <a:ea typeface="宋体" panose="02010600030101010101" pitchFamily="2" charset="-122"/>
                        </a:rPr>
                        <m:t> </m:t>
                      </m:r>
                      <m:r>
                        <a:rPr lang="en-US" sz="2400" i="1">
                          <a:latin typeface="Cambria Math" panose="02040503050406030204" pitchFamily="18" charset="0"/>
                          <a:ea typeface="宋体" panose="02010600030101010101" pitchFamily="2" charset="-122"/>
                        </a:rPr>
                        <m:t>𝑧</m:t>
                      </m:r>
                      <m:r>
                        <a:rPr lang="en-US" sz="2400" i="1">
                          <a:latin typeface="Cambria Math" panose="02040503050406030204" pitchFamily="18" charset="0"/>
                          <a:ea typeface="宋体" panose="02010600030101010101" pitchFamily="2" charset="-122"/>
                        </a:rPr>
                        <m:t>=</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1</m:t>
                          </m:r>
                        </m:sub>
                      </m:sSub>
                      <m:r>
                        <a:rPr lang="en-US" sz="2400" i="1">
                          <a:latin typeface="Cambria Math" panose="02040503050406030204" pitchFamily="18" charset="0"/>
                          <a:ea typeface="宋体" panose="02010600030101010101" pitchFamily="2" charset="-122"/>
                          <a:cs typeface="Cambria Math" panose="02040503050406030204" pitchFamily="18" charset="0"/>
                        </a:rPr>
                        <m:t>+3</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2</m:t>
                          </m:r>
                        </m:sub>
                      </m:sSub>
                    </m:oMath>
                    <m:oMath xmlns:m="http://schemas.openxmlformats.org/officeDocument/2006/math">
                      <m:r>
                        <a:rPr lang="en-US" sz="2400" i="1">
                          <a:latin typeface="Cambria Math" panose="02040503050406030204" pitchFamily="18" charset="0"/>
                          <a:ea typeface="宋体" panose="02010600030101010101" pitchFamily="2" charset="-122"/>
                        </a:rPr>
                        <m:t>𝑠</m:t>
                      </m:r>
                      <m:r>
                        <a:rPr lang="en-US" sz="2400" i="1">
                          <a:latin typeface="Cambria Math" panose="02040503050406030204" pitchFamily="18" charset="0"/>
                          <a:ea typeface="宋体" panose="02010600030101010101" pitchFamily="2" charset="-122"/>
                        </a:rPr>
                        <m:t>.</m:t>
                      </m:r>
                      <m:r>
                        <a:rPr lang="en-US" sz="2400" i="1">
                          <a:latin typeface="Cambria Math" panose="02040503050406030204" pitchFamily="18" charset="0"/>
                          <a:ea typeface="宋体" panose="02010600030101010101" pitchFamily="2" charset="-122"/>
                        </a:rPr>
                        <m:t>𝑡</m:t>
                      </m:r>
                      <m:r>
                        <a:rPr lang="en-US" sz="2400" i="1">
                          <a:latin typeface="Cambria Math" panose="02040503050406030204" pitchFamily="18" charset="0"/>
                          <a:ea typeface="宋体" panose="02010600030101010101" pitchFamily="2" charset="-122"/>
                        </a:rPr>
                        <m:t>.</m:t>
                      </m:r>
                      <m:d>
                        <m:dPr>
                          <m:begChr m:val="{"/>
                          <m:endChr m:val=""/>
                          <m:ctrlPr>
                            <a:rPr lang="en-US" sz="2400" i="1">
                              <a:latin typeface="Cambria Math" panose="02040503050406030204" pitchFamily="18" charset="0"/>
                              <a:ea typeface="宋体" panose="02010600030101010101" pitchFamily="2" charset="-122"/>
                            </a:rPr>
                          </m:ctrlPr>
                        </m:dPr>
                        <m:e>
                          <m:eqArr>
                            <m:eqArrPr>
                              <m:ctrlPr>
                                <a:rPr lang="en-US" sz="2400" i="1">
                                  <a:latin typeface="Cambria Math" panose="02040503050406030204" pitchFamily="18" charset="0"/>
                                  <a:ea typeface="宋体" panose="02010600030101010101" pitchFamily="2" charset="-122"/>
                                </a:rPr>
                              </m:ctrlPr>
                            </m:eqArrPr>
                            <m:e>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1</m:t>
                                  </m:r>
                                </m:sub>
                              </m:sSub>
                              <m:r>
                                <a:rPr lang="en-US" sz="2400" i="1">
                                  <a:latin typeface="Cambria Math" panose="02040503050406030204" pitchFamily="18" charset="0"/>
                                  <a:ea typeface="宋体" panose="02010600030101010101" pitchFamily="2" charset="-122"/>
                                  <a:cs typeface="Cambria Math" panose="02040503050406030204" pitchFamily="18" charset="0"/>
                                </a:rPr>
                                <m:t>+2</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2</m:t>
                                  </m:r>
                                </m:sub>
                              </m:sSub>
                              <m:r>
                                <a:rPr lang="en-US" sz="2400" i="1">
                                  <a:latin typeface="Cambria Math" panose="02040503050406030204" pitchFamily="18" charset="0"/>
                                  <a:ea typeface="宋体" panose="02010600030101010101" pitchFamily="2" charset="-122"/>
                                  <a:cs typeface="Cambria Math" panose="02040503050406030204" pitchFamily="18" charset="0"/>
                                </a:rPr>
                                <m:t>≤3</m:t>
                              </m:r>
                            </m:e>
                            <m:e>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2</m:t>
                                  </m:r>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1</m:t>
                                  </m:r>
                                </m:sub>
                              </m:sSub>
                              <m:r>
                                <a:rPr lang="en-US" sz="2400" i="1">
                                  <a:latin typeface="Cambria Math" panose="02040503050406030204" pitchFamily="18" charset="0"/>
                                  <a:ea typeface="宋体" panose="02010600030101010101" pitchFamily="2" charset="-122"/>
                                  <a:cs typeface="Cambria Math" panose="02040503050406030204" pitchFamily="18" charset="0"/>
                                </a:rPr>
                                <m:t>+3</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2</m:t>
                                  </m:r>
                                </m:sub>
                              </m:sSub>
                              <m:r>
                                <a:rPr lang="en-US" sz="2400" i="1">
                                  <a:latin typeface="Cambria Math" panose="02040503050406030204" pitchFamily="18" charset="0"/>
                                  <a:ea typeface="宋体" panose="02010600030101010101" pitchFamily="2" charset="-122"/>
                                  <a:cs typeface="Cambria Math" panose="02040503050406030204" pitchFamily="18" charset="0"/>
                                </a:rPr>
                                <m:t>≤4</m:t>
                              </m:r>
                            </m:e>
                            <m:e>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1</m:t>
                                  </m:r>
                                </m:sub>
                              </m:sSub>
                              <m:r>
                                <a:rPr lang="en-US"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2</m:t>
                                  </m:r>
                                </m:sub>
                              </m:sSub>
                              <m:r>
                                <a:rPr lang="en-US" sz="2400" i="1">
                                  <a:latin typeface="Cambria Math" panose="02040503050406030204" pitchFamily="18" charset="0"/>
                                  <a:ea typeface="宋体" panose="02010600030101010101" pitchFamily="2" charset="-122"/>
                                  <a:cs typeface="Cambria Math" panose="02040503050406030204" pitchFamily="18" charset="0"/>
                                </a:rPr>
                                <m:t>≥0</m:t>
                              </m:r>
                            </m:e>
                          </m:eqArr>
                        </m:e>
                      </m:d>
                    </m:oMath>
                  </m:oMathPara>
                </a14:m>
                <a:endParaRPr lang="en-US" sz="2400" dirty="0">
                  <a:latin typeface="Times New Roman" panose="02020603050405020304" pitchFamily="18" charset="0"/>
                  <a:ea typeface="Times New Roman" panose="02020603050405020304" pitchFamily="18" charset="0"/>
                </a:endParaRPr>
              </a:p>
              <a:p>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69503" y="2656121"/>
                <a:ext cx="6096000" cy="1859915"/>
              </a:xfrm>
              <a:prstGeom prst="rect">
                <a:avLst/>
              </a:prstGeom>
              <a:blipFill rotWithShape="1">
                <a:blip r:embed="rId3"/>
                <a:stretch>
                  <a:fillRect l="-4" t="-30" r="4" b="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823728" y="2784913"/>
                <a:ext cx="6096000" cy="1862455"/>
              </a:xfrm>
              <a:prstGeom prst="rect">
                <a:avLst/>
              </a:prstGeom>
              <a:noFill/>
            </p:spPr>
            <p:txBody>
              <a:bodyPr wrap="square">
                <a:spAutoFit/>
              </a:bodyPr>
              <a:lstStyle/>
              <a:p>
                <a:pPr>
                  <a:spcBef>
                    <a:spcPts val="600"/>
                  </a:spcBef>
                  <a:spcAft>
                    <a:spcPts val="600"/>
                  </a:spcAft>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宋体" panose="02010600030101010101" pitchFamily="2" charset="-122"/>
                        </a:rPr>
                        <m:t>𝑚𝑖𝑛</m:t>
                      </m:r>
                      <m:r>
                        <a:rPr lang="en-US" sz="2400" i="1">
                          <a:latin typeface="Cambria Math" panose="02040503050406030204" pitchFamily="18" charset="0"/>
                          <a:ea typeface="宋体" panose="02010600030101010101" pitchFamily="2" charset="-122"/>
                        </a:rPr>
                        <m:t> </m:t>
                      </m:r>
                      <m:r>
                        <a:rPr lang="en-US" sz="2400" i="1">
                          <a:latin typeface="Cambria Math" panose="02040503050406030204" pitchFamily="18" charset="0"/>
                          <a:ea typeface="宋体" panose="02010600030101010101" pitchFamily="2" charset="-122"/>
                        </a:rPr>
                        <m:t>𝑧</m:t>
                      </m:r>
                      <m:r>
                        <a:rPr lang="en-US" sz="2400" i="1">
                          <a:latin typeface="Cambria Math" panose="02040503050406030204" pitchFamily="18" charset="0"/>
                          <a:ea typeface="宋体" panose="02010600030101010101" pitchFamily="2" charset="-122"/>
                        </a:rPr>
                        <m:t>=</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1</m:t>
                          </m:r>
                        </m:sub>
                      </m:sSub>
                      <m:r>
                        <a:rPr lang="en-US" sz="2400" i="1">
                          <a:latin typeface="Cambria Math" panose="02040503050406030204" pitchFamily="18" charset="0"/>
                          <a:ea typeface="宋体" panose="02010600030101010101" pitchFamily="2" charset="-122"/>
                          <a:cs typeface="Cambria Math" panose="02040503050406030204" pitchFamily="18" charset="0"/>
                        </a:rPr>
                        <m:t>+3</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2</m:t>
                          </m:r>
                        </m:sub>
                      </m:sSub>
                      <m:r>
                        <a:rPr lang="en-US" sz="2400" i="1">
                          <a:latin typeface="Cambria Math" panose="02040503050406030204" pitchFamily="18" charset="0"/>
                          <a:ea typeface="宋体" panose="02010600030101010101" pitchFamily="2" charset="-122"/>
                          <a:cs typeface="Cambria Math" panose="02040503050406030204" pitchFamily="18" charset="0"/>
                        </a:rPr>
                        <m:t>+0</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3</m:t>
                          </m:r>
                        </m:sub>
                      </m:sSub>
                      <m:r>
                        <a:rPr lang="en-US" sz="2400" i="1">
                          <a:latin typeface="Cambria Math" panose="02040503050406030204" pitchFamily="18" charset="0"/>
                          <a:ea typeface="宋体" panose="02010600030101010101" pitchFamily="2" charset="-122"/>
                        </a:rPr>
                        <m:t>+0</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4</m:t>
                          </m:r>
                        </m:sub>
                      </m:sSub>
                    </m:oMath>
                    <m:oMath xmlns:m="http://schemas.openxmlformats.org/officeDocument/2006/math">
                      <m:r>
                        <a:rPr lang="en-US" sz="2400" i="1">
                          <a:latin typeface="Cambria Math" panose="02040503050406030204" pitchFamily="18" charset="0"/>
                          <a:ea typeface="宋体" panose="02010600030101010101" pitchFamily="2" charset="-122"/>
                        </a:rPr>
                        <m:t>𝑠</m:t>
                      </m:r>
                      <m:r>
                        <a:rPr lang="en-US" sz="2400" i="1">
                          <a:latin typeface="Cambria Math" panose="02040503050406030204" pitchFamily="18" charset="0"/>
                          <a:ea typeface="宋体" panose="02010600030101010101" pitchFamily="2" charset="-122"/>
                        </a:rPr>
                        <m:t>.</m:t>
                      </m:r>
                      <m:r>
                        <a:rPr lang="en-US" sz="2400" i="1">
                          <a:latin typeface="Cambria Math" panose="02040503050406030204" pitchFamily="18" charset="0"/>
                          <a:ea typeface="宋体" panose="02010600030101010101" pitchFamily="2" charset="-122"/>
                        </a:rPr>
                        <m:t>𝑡</m:t>
                      </m:r>
                      <m:r>
                        <a:rPr lang="en-US" sz="2400" i="1">
                          <a:latin typeface="Cambria Math" panose="02040503050406030204" pitchFamily="18" charset="0"/>
                          <a:ea typeface="宋体" panose="02010600030101010101" pitchFamily="2" charset="-122"/>
                        </a:rPr>
                        <m:t>.</m:t>
                      </m:r>
                      <m:d>
                        <m:dPr>
                          <m:begChr m:val="{"/>
                          <m:endChr m:val=""/>
                          <m:ctrlPr>
                            <a:rPr lang="en-US" sz="2400" i="1">
                              <a:latin typeface="Cambria Math" panose="02040503050406030204" pitchFamily="18" charset="0"/>
                              <a:ea typeface="宋体" panose="02010600030101010101" pitchFamily="2" charset="-122"/>
                            </a:rPr>
                          </m:ctrlPr>
                        </m:dPr>
                        <m:e>
                          <m:eqArr>
                            <m:eqArrPr>
                              <m:ctrlPr>
                                <a:rPr lang="en-US" sz="2400" i="1">
                                  <a:latin typeface="Cambria Math" panose="02040503050406030204" pitchFamily="18" charset="0"/>
                                  <a:ea typeface="宋体" panose="02010600030101010101" pitchFamily="2" charset="-122"/>
                                </a:rPr>
                              </m:ctrlPr>
                            </m:eqArrPr>
                            <m:e>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1</m:t>
                                  </m:r>
                                </m:sub>
                              </m:sSub>
                              <m:r>
                                <a:rPr lang="en-US" sz="2400" i="1">
                                  <a:latin typeface="Cambria Math" panose="02040503050406030204" pitchFamily="18" charset="0"/>
                                  <a:ea typeface="宋体" panose="02010600030101010101" pitchFamily="2" charset="-122"/>
                                  <a:cs typeface="Cambria Math" panose="02040503050406030204" pitchFamily="18" charset="0"/>
                                </a:rPr>
                                <m:t>+2</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2</m:t>
                                  </m:r>
                                </m:sub>
                              </m:sSub>
                              <m:r>
                                <a:rPr lang="en-US"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3</m:t>
                                  </m:r>
                                </m:sub>
                              </m:sSub>
                              <m:r>
                                <a:rPr lang="en-US" sz="2400" i="1">
                                  <a:latin typeface="Cambria Math" panose="02040503050406030204" pitchFamily="18" charset="0"/>
                                  <a:ea typeface="宋体" panose="02010600030101010101" pitchFamily="2" charset="-122"/>
                                  <a:cs typeface="Cambria Math" panose="02040503050406030204" pitchFamily="18" charset="0"/>
                                </a:rPr>
                                <m:t>=3</m:t>
                              </m:r>
                            </m:e>
                            <m:e>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2</m:t>
                                  </m:r>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1</m:t>
                                  </m:r>
                                </m:sub>
                              </m:sSub>
                              <m:r>
                                <a:rPr lang="en-US" sz="2400" i="1">
                                  <a:latin typeface="Cambria Math" panose="02040503050406030204" pitchFamily="18" charset="0"/>
                                  <a:ea typeface="宋体" panose="02010600030101010101" pitchFamily="2" charset="-122"/>
                                  <a:cs typeface="Cambria Math" panose="02040503050406030204" pitchFamily="18" charset="0"/>
                                </a:rPr>
                                <m:t>+3</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2</m:t>
                                  </m:r>
                                </m:sub>
                              </m:sSub>
                              <m:r>
                                <a:rPr lang="en-US"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4</m:t>
                                  </m:r>
                                </m:sub>
                              </m:sSub>
                              <m:r>
                                <a:rPr lang="en-US" sz="2400" i="1">
                                  <a:latin typeface="Cambria Math" panose="02040503050406030204" pitchFamily="18" charset="0"/>
                                  <a:ea typeface="宋体" panose="02010600030101010101" pitchFamily="2" charset="-122"/>
                                  <a:cs typeface="Cambria Math" panose="02040503050406030204" pitchFamily="18" charset="0"/>
                                </a:rPr>
                                <m:t>=4</m:t>
                              </m:r>
                            </m:e>
                            <m:e>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1</m:t>
                                  </m:r>
                                </m:sub>
                              </m:sSub>
                              <m:r>
                                <a:rPr lang="en-US"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2</m:t>
                                  </m:r>
                                </m:sub>
                              </m:sSub>
                              <m:r>
                                <a:rPr lang="en-US"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3</m:t>
                                  </m:r>
                                </m:sub>
                              </m:sSub>
                              <m:r>
                                <a:rPr lang="en-US"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latin typeface="Cambria Math" panose="02040503050406030204" pitchFamily="18" charset="0"/>
                                      <a:ea typeface="宋体" panose="02010600030101010101" pitchFamily="2" charset="-122"/>
                                      <a:cs typeface="Cambria Math" panose="02040503050406030204" pitchFamily="18" charset="0"/>
                                    </a:rPr>
                                  </m:ctrlPr>
                                </m:sSubPr>
                                <m:e>
                                  <m:r>
                                    <a:rPr lang="en-US" sz="2400" i="1">
                                      <a:latin typeface="Cambria Math" panose="02040503050406030204" pitchFamily="18" charset="0"/>
                                      <a:ea typeface="宋体" panose="02010600030101010101" pitchFamily="2" charset="-122"/>
                                      <a:cs typeface="Cambria Math" panose="02040503050406030204" pitchFamily="18" charset="0"/>
                                    </a:rPr>
                                    <m:t>𝑥</m:t>
                                  </m:r>
                                </m:e>
                                <m:sub>
                                  <m:r>
                                    <a:rPr lang="en-US" sz="2400" i="1">
                                      <a:latin typeface="Cambria Math" panose="02040503050406030204" pitchFamily="18" charset="0"/>
                                      <a:ea typeface="宋体" panose="02010600030101010101" pitchFamily="2" charset="-122"/>
                                      <a:cs typeface="Cambria Math" panose="02040503050406030204" pitchFamily="18" charset="0"/>
                                    </a:rPr>
                                    <m:t>4</m:t>
                                  </m:r>
                                </m:sub>
                              </m:sSub>
                              <m:r>
                                <a:rPr lang="en-US" sz="2400" i="1">
                                  <a:latin typeface="Cambria Math" panose="02040503050406030204" pitchFamily="18" charset="0"/>
                                  <a:ea typeface="宋体" panose="02010600030101010101" pitchFamily="2" charset="-122"/>
                                  <a:cs typeface="Cambria Math" panose="02040503050406030204" pitchFamily="18" charset="0"/>
                                </a:rPr>
                                <m:t>≥0</m:t>
                              </m:r>
                            </m:e>
                          </m:eqArr>
                        </m:e>
                      </m:d>
                    </m:oMath>
                  </m:oMathPara>
                </a14:m>
                <a:endParaRPr lang="en-US" sz="2400" dirty="0">
                  <a:latin typeface="Times New Roman" panose="02020603050405020304" pitchFamily="18" charset="0"/>
                  <a:ea typeface="Times New Roman" panose="02020603050405020304" pitchFamily="18" charset="0"/>
                </a:endParaRPr>
              </a:p>
              <a:p>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5823728" y="2784913"/>
                <a:ext cx="6096000" cy="1862455"/>
              </a:xfrm>
              <a:prstGeom prst="rect">
                <a:avLst/>
              </a:prstGeom>
              <a:blipFill rotWithShape="1">
                <a:blip r:embed="rId4"/>
                <a:stretch>
                  <a:fillRect l="-2" t="-24" r="2" b="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60728" y="4392317"/>
                <a:ext cx="11017224" cy="2381870"/>
              </a:xfrm>
              <a:prstGeom prst="rect">
                <a:avLst/>
              </a:prstGeom>
              <a:noFill/>
            </p:spPr>
            <p:txBody>
              <a:bodyPr wrap="square">
                <a:spAutoFit/>
              </a:bodyPr>
              <a:lstStyle/>
              <a:p>
                <a:pPr>
                  <a:lnSpc>
                    <a:spcPct val="150000"/>
                  </a:lnSpc>
                  <a:spcBef>
                    <a:spcPts val="600"/>
                  </a:spcBef>
                  <a:spcAft>
                    <a:spcPts val="600"/>
                  </a:spcAft>
                </a:pPr>
                <a:r>
                  <a:rPr lang="zh-CN" sz="2400" dirty="0">
                    <a:effectLst/>
                    <a:latin typeface="Times New Roman" panose="02020603050405020304" pitchFamily="18" charset="0"/>
                    <a:ea typeface="宋体" panose="02010600030101010101" pitchFamily="2" charset="-122"/>
                  </a:rPr>
                  <a:t>系数矩阵：</a:t>
                </a:r>
                <a14:m>
                  <m:oMath xmlns:m="http://schemas.openxmlformats.org/officeDocument/2006/math">
                    <m:r>
                      <a:rPr lang="en-US" sz="2400" i="1">
                        <a:effectLst/>
                        <a:latin typeface="Cambria Math" panose="02040503050406030204" pitchFamily="18" charset="0"/>
                        <a:ea typeface="宋体" panose="02010600030101010101" pitchFamily="2" charset="-122"/>
                      </a:rPr>
                      <m:t>𝐴</m:t>
                    </m:r>
                    <m:r>
                      <a:rPr lang="en-US" sz="2400" b="0" i="1" smtClean="0">
                        <a:effectLst/>
                        <a:latin typeface="Cambria Math" panose="02040503050406030204" pitchFamily="18" charset="0"/>
                        <a:ea typeface="宋体" panose="02010600030101010101" pitchFamily="2" charset="-122"/>
                      </a:rPr>
                      <m:t>=</m:t>
                    </m:r>
                    <m:d>
                      <m:dPr>
                        <m:ctrlPr>
                          <a:rPr lang="en-US" altLang="zh-CN" sz="2400" b="0" i="1" smtClean="0">
                            <a:effectLst/>
                            <a:latin typeface="Cambria Math" panose="02040503050406030204" pitchFamily="18" charset="0"/>
                            <a:ea typeface="宋体" panose="02010600030101010101" pitchFamily="2" charset="-122"/>
                          </a:rPr>
                        </m:ctrlPr>
                      </m:dPr>
                      <m:e>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r>
                                <a:rPr lang="en-US" altLang="zh-CN" sz="2400" i="1">
                                  <a:latin typeface="Cambria Math" panose="02040503050406030204" pitchFamily="18" charset="0"/>
                                  <a:ea typeface="宋体" panose="02010600030101010101" pitchFamily="2" charset="-122"/>
                                </a:rPr>
                                <m:t>1</m:t>
                              </m:r>
                            </m:e>
                            <m:e>
                              <m:r>
                                <a:rPr lang="en-US" altLang="zh-CN" sz="2400" i="1">
                                  <a:latin typeface="Cambria Math" panose="02040503050406030204" pitchFamily="18" charset="0"/>
                                  <a:ea typeface="宋体" panose="02010600030101010101" pitchFamily="2" charset="-122"/>
                                </a:rPr>
                                <m:t>2</m:t>
                              </m:r>
                            </m:e>
                          </m:mr>
                          <m:mr>
                            <m:e>
                              <m:r>
                                <a:rPr lang="en-US" altLang="zh-CN" sz="2400" i="1">
                                  <a:latin typeface="Cambria Math" panose="02040503050406030204" pitchFamily="18" charset="0"/>
                                  <a:ea typeface="宋体" panose="02010600030101010101" pitchFamily="2" charset="-122"/>
                                </a:rPr>
                                <m:t>2</m:t>
                              </m:r>
                            </m:e>
                            <m:e>
                              <m:r>
                                <a:rPr lang="en-US" altLang="zh-CN" sz="2400" i="1">
                                  <a:latin typeface="Cambria Math" panose="02040503050406030204" pitchFamily="18" charset="0"/>
                                  <a:ea typeface="宋体" panose="02010600030101010101" pitchFamily="2" charset="-122"/>
                                </a:rPr>
                                <m:t>3</m:t>
                              </m:r>
                            </m:e>
                          </m:mr>
                        </m:m>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r>
                                <a:rPr lang="en-US" altLang="zh-CN" sz="2400" i="1">
                                  <a:latin typeface="Cambria Math" panose="02040503050406030204" pitchFamily="18" charset="0"/>
                                  <a:ea typeface="宋体" panose="02010600030101010101" pitchFamily="2" charset="-122"/>
                                </a:rPr>
                                <m:t>    1</m:t>
                              </m:r>
                            </m:e>
                            <m:e>
                              <m:r>
                                <a:rPr lang="en-US" altLang="zh-CN" sz="2400" i="1">
                                  <a:latin typeface="Cambria Math" panose="02040503050406030204" pitchFamily="18" charset="0"/>
                                  <a:ea typeface="宋体" panose="02010600030101010101" pitchFamily="2" charset="-122"/>
                                </a:rPr>
                                <m:t>0</m:t>
                              </m:r>
                            </m:e>
                          </m:mr>
                          <m:mr>
                            <m:e>
                              <m:r>
                                <a:rPr lang="en-US" altLang="zh-CN" sz="2400" i="1">
                                  <a:latin typeface="Cambria Math" panose="02040503050406030204" pitchFamily="18" charset="0"/>
                                  <a:ea typeface="宋体" panose="02010600030101010101" pitchFamily="2" charset="-122"/>
                                </a:rPr>
                                <m:t>    0</m:t>
                              </m:r>
                            </m:e>
                            <m:e>
                              <m:r>
                                <a:rPr lang="en-US" altLang="zh-CN" sz="2400" i="1">
                                  <a:latin typeface="Cambria Math" panose="02040503050406030204" pitchFamily="18" charset="0"/>
                                  <a:ea typeface="宋体" panose="02010600030101010101" pitchFamily="2" charset="-122"/>
                                </a:rPr>
                                <m:t>1</m:t>
                              </m:r>
                            </m:e>
                          </m:mr>
                        </m:m>
                      </m:e>
                    </m:d>
                    <m:r>
                      <a:rPr lang="en-US" sz="2400" i="1">
                        <a:effectLst/>
                        <a:latin typeface="Cambria Math" panose="02040503050406030204" pitchFamily="18" charset="0"/>
                        <a:ea typeface="宋体" panose="02010600030101010101" pitchFamily="2" charset="-122"/>
                      </a:rPr>
                      <m:t>=</m:t>
                    </m:r>
                    <m:d>
                      <m:dPr>
                        <m:ctrlPr>
                          <a:rPr lang="en-US" altLang="zh-CN" sz="2400" i="1">
                            <a:latin typeface="Cambria Math" panose="02040503050406030204" pitchFamily="18" charset="0"/>
                            <a:ea typeface="宋体" panose="02010600030101010101" pitchFamily="2" charset="-122"/>
                          </a:rPr>
                        </m:ctrlPr>
                      </m:dPr>
                      <m:e>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1</m:t>
                                  </m:r>
                                </m:sub>
                              </m:sSub>
                            </m:e>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2</m:t>
                                  </m:r>
                                </m:sub>
                              </m:sSub>
                              <m:r>
                                <a:rPr lang="en-US" altLang="zh-CN" sz="2400" i="1">
                                  <a:latin typeface="Cambria Math" panose="02040503050406030204" pitchFamily="18" charset="0"/>
                                  <a:ea typeface="宋体" panose="02010600030101010101" pitchFamily="2" charset="-122"/>
                                </a:rPr>
                                <m:t>    </m:t>
                              </m:r>
                            </m:e>
                          </m:mr>
                        </m:m>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3</m:t>
                                  </m:r>
                                </m:sub>
                              </m:sSub>
                            </m:e>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4</m:t>
                                  </m:r>
                                </m:sub>
                              </m:sSub>
                            </m:e>
                          </m:mr>
                        </m:m>
                      </m:e>
                    </m:d>
                    <m:r>
                      <a:rPr lang="zh-CN" altLang="en-US" sz="2400" b="0" i="0" smtClean="0">
                        <a:effectLst/>
                        <a:latin typeface="Cambria Math" panose="02040503050406030204" pitchFamily="18" charset="0"/>
                        <a:ea typeface="宋体" panose="02010600030101010101" pitchFamily="2" charset="-122"/>
                      </a:rPr>
                      <m:t>，</m:t>
                    </m:r>
                  </m:oMath>
                </a14:m>
                <a:r>
                  <a:rPr lang="zh-CN" sz="2400" dirty="0">
                    <a:effectLst/>
                    <a:latin typeface="Times New Roman" panose="02020603050405020304" pitchFamily="18" charset="0"/>
                    <a:ea typeface="宋体" panose="02010600030101010101" pitchFamily="2" charset="-122"/>
                  </a:rPr>
                  <a:t>则</a:t>
                </a:r>
                <a:r>
                  <a:rPr lang="zh-CN" altLang="en-US" sz="2400" dirty="0">
                    <a:effectLst/>
                    <a:latin typeface="Times New Roman" panose="02020603050405020304" pitchFamily="18" charset="0"/>
                    <a:ea typeface="宋体" panose="02010600030101010101" pitchFamily="2" charset="-122"/>
                  </a:rPr>
                  <a:t>基矩阵</a:t>
                </a:r>
                <a14:m>
                  <m:oMath xmlns:m="http://schemas.openxmlformats.org/officeDocument/2006/math">
                    <m:r>
                      <a:rPr lang="en-US" sz="2400" i="1">
                        <a:effectLst/>
                        <a:latin typeface="Cambria Math" panose="02040503050406030204" pitchFamily="18" charset="0"/>
                        <a:ea typeface="宋体" panose="02010600030101010101" pitchFamily="2" charset="-122"/>
                      </a:rPr>
                      <m:t>𝐵</m:t>
                    </m:r>
                    <m:r>
                      <a:rPr lang="en-US" sz="2400" i="1">
                        <a:effectLst/>
                        <a:latin typeface="Cambria Math" panose="02040503050406030204" pitchFamily="18" charset="0"/>
                        <a:ea typeface="宋体" panose="02010600030101010101" pitchFamily="2" charset="-122"/>
                      </a:rPr>
                      <m:t>=</m:t>
                    </m:r>
                    <m:d>
                      <m:dPr>
                        <m:ctrlPr>
                          <a:rPr lang="en-US" altLang="zh-CN" sz="2400" i="1">
                            <a:latin typeface="Cambria Math" panose="02040503050406030204" pitchFamily="18" charset="0"/>
                            <a:ea typeface="宋体" panose="02010600030101010101" pitchFamily="2" charset="-122"/>
                          </a:rPr>
                        </m:ctrlPr>
                      </m:dPr>
                      <m:e>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b="0" i="1" smtClean="0">
                                      <a:latin typeface="Cambria Math" panose="02040503050406030204" pitchFamily="18" charset="0"/>
                                      <a:ea typeface="宋体" panose="02010600030101010101" pitchFamily="2" charset="-122"/>
                                    </a:rPr>
                                    <m:t>3</m:t>
                                  </m:r>
                                </m:sub>
                              </m:sSub>
                            </m:e>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4</m:t>
                                  </m:r>
                                </m:sub>
                              </m:sSub>
                            </m:e>
                          </m:mr>
                        </m:m>
                      </m:e>
                    </m:d>
                  </m:oMath>
                </a14:m>
                <a:endParaRPr lang="en-US" sz="2400" dirty="0">
                  <a:effectLst/>
                  <a:latin typeface="Times New Roman" panose="02020603050405020304" pitchFamily="18" charset="0"/>
                  <a:ea typeface="Times New Roman" panose="02020603050405020304" pitchFamily="18" charset="0"/>
                </a:endParaRPr>
              </a:p>
              <a:p>
                <a:pPr>
                  <a:lnSpc>
                    <a:spcPct val="150000"/>
                  </a:lnSpc>
                  <a:spcBef>
                    <a:spcPts val="600"/>
                  </a:spcBef>
                  <a:spcAft>
                    <a:spcPts val="600"/>
                  </a:spcAft>
                </a:pPr>
                <a:r>
                  <a:rPr lang="zh-CN" sz="2400" dirty="0">
                    <a:effectLst/>
                    <a:latin typeface="Times New Roman" panose="02020603050405020304" pitchFamily="18" charset="0"/>
                    <a:ea typeface="宋体" panose="02010600030101010101" pitchFamily="2" charset="-122"/>
                  </a:rPr>
                  <a:t>取</a:t>
                </a:r>
                <a14:m>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3</m:t>
                        </m:r>
                      </m:sub>
                    </m:sSub>
                    <m:r>
                      <a:rPr lang="zh-CN"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4</m:t>
                        </m:r>
                      </m:sub>
                    </m:sSub>
                  </m:oMath>
                </a14:m>
                <a:r>
                  <a:rPr lang="zh-CN" sz="2400" dirty="0">
                    <a:effectLst/>
                    <a:latin typeface="Times New Roman" panose="02020603050405020304" pitchFamily="18" charset="0"/>
                    <a:ea typeface="宋体" panose="02010600030101010101" pitchFamily="2" charset="-122"/>
                  </a:rPr>
                  <a:t>为基变量</a:t>
                </a:r>
                <a:r>
                  <a:rPr lang="en-US" sz="2400" dirty="0">
                    <a:effectLst/>
                    <a:latin typeface="宋体" panose="02010600030101010101" pitchFamily="2" charset="-122"/>
                    <a:ea typeface="Times New Roman" panose="02020603050405020304" pitchFamily="18" charset="0"/>
                  </a:rPr>
                  <a:t>,</a:t>
                </a:r>
                <a:r>
                  <a:rPr lang="zh-CN" sz="2400" dirty="0">
                    <a:effectLst/>
                    <a:latin typeface="+mn-ea"/>
                  </a:rPr>
                  <a:t>令非基变量</a:t>
                </a:r>
                <a14:m>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r>
                      <a:rPr lang="en-US" sz="2400" i="1">
                        <a:effectLst/>
                        <a:latin typeface="Cambria Math" panose="02040503050406030204" pitchFamily="18" charset="0"/>
                        <a:ea typeface="宋体" panose="02010600030101010101" pitchFamily="2" charset="-122"/>
                      </a:rPr>
                      <m:t>=0</m:t>
                    </m:r>
                  </m:oMath>
                </a14:m>
                <a:endParaRPr lang="en-US" sz="2400" dirty="0">
                  <a:effectLst/>
                  <a:latin typeface="Times New Roman" panose="02020603050405020304" pitchFamily="18" charset="0"/>
                  <a:ea typeface="Times New Roman" panose="02020603050405020304" pitchFamily="18" charset="0"/>
                </a:endParaRPr>
              </a:p>
              <a:p>
                <a:pPr>
                  <a:lnSpc>
                    <a:spcPct val="150000"/>
                  </a:lnSpc>
                  <a:spcBef>
                    <a:spcPts val="600"/>
                  </a:spcBef>
                  <a:spcAft>
                    <a:spcPts val="600"/>
                  </a:spcAft>
                </a:pPr>
                <a:r>
                  <a:rPr lang="zh-CN" sz="2400" dirty="0">
                    <a:effectLst/>
                    <a:latin typeface="宋体" panose="02010600030101010101" pitchFamily="2" charset="-122"/>
                    <a:ea typeface="Times New Roman" panose="02020603050405020304" pitchFamily="18" charset="0"/>
                  </a:rPr>
                  <a:t>故初始基本可行解：</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rPr>
                        </m:ctrlPr>
                      </m:sSupPr>
                      <m:e>
                        <m:r>
                          <a:rPr lang="en-US" altLang="zh-CN" sz="2400" i="1">
                            <a:latin typeface="Cambria Math" panose="02040503050406030204" pitchFamily="18" charset="0"/>
                            <a:ea typeface="宋体" panose="02010600030101010101" pitchFamily="2" charset="-122"/>
                          </a:rPr>
                          <m:t> </m:t>
                        </m:r>
                        <m:r>
                          <a:rPr lang="en-US" altLang="zh-CN" sz="2400" i="1">
                            <a:latin typeface="Cambria Math" panose="02040503050406030204" pitchFamily="18" charset="0"/>
                            <a:ea typeface="宋体" panose="02010600030101010101" pitchFamily="2" charset="-122"/>
                          </a:rPr>
                          <m:t>𝑥</m:t>
                        </m:r>
                      </m:e>
                      <m:sup>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sup>
                    </m:sSup>
                    <m:r>
                      <a:rPr lang="en-US" sz="2400" i="1">
                        <a:effectLst/>
                        <a:latin typeface="Cambria Math" panose="02040503050406030204" pitchFamily="18" charset="0"/>
                        <a:ea typeface="宋体" panose="02010600030101010101" pitchFamily="2" charset="-122"/>
                      </a:rPr>
                      <m:t>= </m:t>
                    </m:r>
                    <m:sSup>
                      <m:sSupPr>
                        <m:ctrlPr>
                          <a:rPr lang="en-US" sz="2400" i="1">
                            <a:effectLst/>
                            <a:latin typeface="Cambria Math" panose="02040503050406030204" pitchFamily="18" charset="0"/>
                            <a:ea typeface="宋体" panose="02010600030101010101" pitchFamily="2" charset="-122"/>
                          </a:rPr>
                        </m:ctrlPr>
                      </m:sSupPr>
                      <m:e>
                        <m:r>
                          <a:rPr lang="en-US" sz="2400" i="1">
                            <a:effectLst/>
                            <a:latin typeface="Cambria Math" panose="02040503050406030204" pitchFamily="18" charset="0"/>
                            <a:ea typeface="宋体" panose="02010600030101010101" pitchFamily="2" charset="-122"/>
                          </a:rPr>
                          <m:t>(0  0  3  4)</m:t>
                        </m:r>
                      </m:e>
                      <m:sup>
                        <m:r>
                          <a:rPr lang="en-US" sz="2400" i="1" baseline="30000">
                            <a:effectLst/>
                            <a:latin typeface="Cambria Math" panose="02040503050406030204" pitchFamily="18" charset="0"/>
                            <a:ea typeface="宋体" panose="02010600030101010101" pitchFamily="2" charset="-122"/>
                          </a:rPr>
                          <m:t>𝑇</m:t>
                        </m:r>
                      </m:sup>
                    </m:sSup>
                  </m:oMath>
                </a14:m>
                <a:endParaRPr lang="en-US" sz="2400" dirty="0">
                  <a:effectLst/>
                  <a:latin typeface="Times New Roman" panose="02020603050405020304" pitchFamily="18" charset="0"/>
                  <a:ea typeface="Times New Roman" panose="020206030504050203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60728" y="4392317"/>
                <a:ext cx="11017224" cy="2381870"/>
              </a:xfrm>
              <a:prstGeom prst="rect">
                <a:avLst/>
              </a:prstGeom>
              <a:blipFill rotWithShape="1">
                <a:blip r:embed="rId5"/>
                <a:stretch>
                  <a:fillRect t="-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767408" y="548680"/>
                <a:ext cx="10801200" cy="1961243"/>
              </a:xfrm>
              <a:prstGeom prst="rect">
                <a:avLst/>
              </a:prstGeom>
              <a:noFill/>
            </p:spPr>
            <p:txBody>
              <a:bodyPr wrap="square">
                <a:spAutoFit/>
              </a:bodyPr>
              <a:lstStyle/>
              <a:p>
                <a:pPr marL="635" indent="356870" algn="just">
                  <a:lnSpc>
                    <a:spcPct val="130000"/>
                  </a:lnSpc>
                </a:pPr>
                <a:r>
                  <a:rPr lang="zh-CN" altLang="zh-CN" sz="2400" b="1" dirty="0">
                    <a:effectLst/>
                    <a:latin typeface="Times New Roman" panose="02020603050405020304" pitchFamily="18" charset="0"/>
                    <a:ea typeface="宋体" panose="02010600030101010101" pitchFamily="2" charset="-122"/>
                  </a:rPr>
                  <a:t>若线性规划的某个约束条件为“</a:t>
                </a:r>
                <a14:m>
                  <m:oMath xmlns:m="http://schemas.openxmlformats.org/officeDocument/2006/math">
                    <m:r>
                      <a:rPr lang="en-US" altLang="zh-CN" sz="2400" b="1" i="1">
                        <a:effectLst/>
                        <a:latin typeface="Cambria Math" panose="02040503050406030204" pitchFamily="18" charset="0"/>
                        <a:ea typeface="宋体" panose="02010600030101010101" pitchFamily="2" charset="-122"/>
                      </a:rPr>
                      <m:t>≥</m:t>
                    </m:r>
                  </m:oMath>
                </a14:m>
                <a:r>
                  <a:rPr lang="zh-CN" altLang="zh-CN" sz="2400" b="1" dirty="0">
                    <a:effectLst/>
                    <a:latin typeface="Times New Roman" panose="02020603050405020304" pitchFamily="18" charset="0"/>
                    <a:ea typeface="宋体" panose="02010600030101010101" pitchFamily="2" charset="-122"/>
                  </a:rPr>
                  <a:t>”的形式且右端项非负，则在该约束条件左端减去剩余变量化成标准形式后，再加上一个非负的新变量，称为</a:t>
                </a:r>
                <a:r>
                  <a:rPr lang="zh-CN" altLang="zh-CN" sz="2400" b="1" dirty="0">
                    <a:effectLst/>
                    <a:latin typeface="Times New Roman" panose="02020603050405020304" pitchFamily="18" charset="0"/>
                    <a:ea typeface="黑体" panose="02010609060101010101" pitchFamily="49" charset="-122"/>
                  </a:rPr>
                  <a:t>人工变量。</a:t>
                </a:r>
                <a:r>
                  <a:rPr lang="zh-CN" altLang="zh-CN" sz="2400" b="1" dirty="0">
                    <a:effectLst/>
                    <a:latin typeface="Times New Roman" panose="02020603050405020304" pitchFamily="18" charset="0"/>
                    <a:ea typeface="宋体" panose="02010600030101010101" pitchFamily="2" charset="-122"/>
                  </a:rPr>
                  <a:t>若线性规划的某个约束条件为等式且右端项非负，则直接在该等式左端添加人工变量。</a:t>
                </a:r>
                <a:endParaRPr lang="zh-CN" altLang="zh-CN" sz="2400" dirty="0">
                  <a:effectLst/>
                  <a:latin typeface="Times New Roman" panose="02020603050405020304" pitchFamily="18" charset="0"/>
                  <a:ea typeface="宋体" panose="02010600030101010101" pitchFamily="2"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767408" y="548680"/>
                <a:ext cx="10801200" cy="1961243"/>
              </a:xfrm>
              <a:prstGeom prst="rect">
                <a:avLst/>
              </a:prstGeom>
              <a:blipFill rotWithShape="1">
                <a:blip r:embed="rId2"/>
                <a:stretch>
                  <a:fillRect l="-3" t="-2" r="-28" b="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94" name="Rectangle 2"/>
              <p:cNvSpPr txBox="1">
                <a:spLocks noChangeArrowheads="1"/>
              </p:cNvSpPr>
              <p:nvPr/>
            </p:nvSpPr>
            <p:spPr>
              <a:xfrm>
                <a:off x="423672" y="2708920"/>
                <a:ext cx="4554537" cy="1981200"/>
              </a:xfrm>
              <a:prstGeom prst="rect">
                <a:avLst/>
              </a:prstGeom>
            </p:spPr>
            <p:txBody>
              <a:bodyP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ct val="0"/>
                  </a:spcBef>
                  <a:buFontTx/>
                  <a:buNone/>
                </a:pPr>
                <a:endParaRPr lang="zh-CN" altLang="en-US" sz="2400" dirty="0">
                  <a:latin typeface="宋体" panose="02010600030101010101" pitchFamily="2" charset="-122"/>
                </a:endParaRPr>
              </a:p>
              <a:p>
                <a:pPr indent="0">
                  <a:spcBef>
                    <a:spcPts val="600"/>
                  </a:spcBef>
                  <a:spcAft>
                    <a:spcPts val="600"/>
                  </a:spcAft>
                  <a:buNone/>
                </a:pPr>
                <a:r>
                  <a:rPr lang="zh-CN" altLang="en-US" sz="2400" b="1" dirty="0">
                    <a:solidFill>
                      <a:srgbClr val="000000"/>
                    </a:solidFill>
                    <a:latin typeface="宋体" panose="02010600030101010101" pitchFamily="2" charset="-122"/>
                  </a:rPr>
                  <a:t> 例 </a:t>
                </a:r>
                <a14:m>
                  <m:oMath xmlns:m="http://schemas.openxmlformats.org/officeDocument/2006/math">
                    <m:r>
                      <a:rPr lang="en-US" sz="2400" i="1" smtClean="0">
                        <a:effectLst/>
                        <a:latin typeface="Cambria Math" panose="02040503050406030204" pitchFamily="18" charset="0"/>
                        <a:ea typeface="宋体" panose="02010600030101010101" pitchFamily="2" charset="-122"/>
                      </a:rPr>
                      <m:t>𝑚𝑖𝑛𝑧</m:t>
                    </m:r>
                    <m:r>
                      <a:rPr lang="en-US" sz="2400" i="1" smtClean="0">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1</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ub>
                    </m:sSub>
                  </m:oMath>
                </a14:m>
                <a:br>
                  <a:rPr lang="en-US" sz="2400" i="1" dirty="0">
                    <a:effectLst/>
                    <a:latin typeface="Cambria Math" panose="02040503050406030204" pitchFamily="18" charset="0"/>
                    <a:ea typeface="宋体" panose="02010600030101010101" pitchFamily="2" charset="-122"/>
                    <a:cs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宋体" panose="02010600030101010101" pitchFamily="2" charset="-122"/>
                        </a:rPr>
                        <m:t>𝑠</m:t>
                      </m:r>
                      <m:r>
                        <a:rPr lang="en-US" sz="2400" i="1">
                          <a:effectLst/>
                          <a:latin typeface="Cambria Math" panose="02040503050406030204" pitchFamily="18" charset="0"/>
                          <a:ea typeface="宋体" panose="02010600030101010101" pitchFamily="2" charset="-122"/>
                        </a:rPr>
                        <m:t>.</m:t>
                      </m:r>
                      <m:r>
                        <a:rPr lang="en-US" sz="2400" i="1">
                          <a:effectLst/>
                          <a:latin typeface="Cambria Math" panose="02040503050406030204" pitchFamily="18" charset="0"/>
                          <a:ea typeface="宋体" panose="02010600030101010101" pitchFamily="2" charset="-122"/>
                        </a:rPr>
                        <m:t>𝑡</m:t>
                      </m:r>
                      <m:r>
                        <a:rPr lang="en-US" sz="2400" i="1">
                          <a:effectLst/>
                          <a:latin typeface="Cambria Math" panose="02040503050406030204" pitchFamily="18" charset="0"/>
                          <a:ea typeface="宋体" panose="02010600030101010101" pitchFamily="2" charset="-122"/>
                        </a:rPr>
                        <m:t>.</m:t>
                      </m:r>
                      <m:d>
                        <m:dPr>
                          <m:begChr m:val="{"/>
                          <m:endChr m:val=""/>
                          <m:ctrlPr>
                            <a:rPr lang="en-US" sz="2400" i="1">
                              <a:effectLst/>
                              <a:latin typeface="Cambria Math" panose="02040503050406030204" pitchFamily="18" charset="0"/>
                              <a:ea typeface="宋体" panose="02010600030101010101" pitchFamily="2" charset="-122"/>
                            </a:rPr>
                          </m:ctrlPr>
                        </m:dPr>
                        <m:e>
                          <m:eqArr>
                            <m:eqArrPr>
                              <m:ctrlPr>
                                <a:rPr lang="en-US" sz="2400" i="1">
                                  <a:effectLst/>
                                  <a:latin typeface="Cambria Math" panose="02040503050406030204" pitchFamily="18" charset="0"/>
                                  <a:ea typeface="宋体" panose="02010600030101010101" pitchFamily="2" charset="-122"/>
                                </a:rPr>
                              </m:ctrlPr>
                            </m:eqArrPr>
                            <m:e>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1</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e>
                            <m:e>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2</m:t>
                                  </m:r>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1</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=4</m:t>
                              </m:r>
                            </m:e>
                            <m:e>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1</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≥0</m:t>
                              </m:r>
                            </m:e>
                          </m:eqArr>
                        </m:e>
                      </m:d>
                    </m:oMath>
                  </m:oMathPara>
                </a14:m>
                <a:endParaRPr lang="en-US" sz="2400" dirty="0">
                  <a:effectLst/>
                  <a:latin typeface="Times New Roman" panose="02020603050405020304" pitchFamily="18" charset="0"/>
                  <a:ea typeface="Times New Roman" panose="02020603050405020304" pitchFamily="18" charset="0"/>
                </a:endParaRPr>
              </a:p>
            </p:txBody>
          </p:sp>
        </mc:Choice>
        <mc:Fallback xmlns="">
          <p:sp>
            <p:nvSpPr>
              <p:cNvPr id="8194" name="Rectangle 2"/>
              <p:cNvSpPr txBox="1">
                <a:spLocks noRot="1" noChangeAspect="1" noMove="1" noResize="1" noEditPoints="1" noAdjustHandles="1" noChangeArrowheads="1" noChangeShapeType="1" noTextEdit="1"/>
              </p:cNvSpPr>
              <p:nvPr/>
            </p:nvSpPr>
            <p:spPr>
              <a:xfrm>
                <a:off x="423672" y="2708920"/>
                <a:ext cx="4554537" cy="1981200"/>
              </a:xfrm>
              <a:prstGeom prst="rect">
                <a:avLst/>
              </a:prstGeom>
              <a:blipFill rotWithShape="1">
                <a:blip r:embed="rId3"/>
                <a:stretch>
                  <a:fillRect l="-3" t="-1" r="10" b="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799856" y="2924944"/>
                <a:ext cx="7632848" cy="3197350"/>
              </a:xfrm>
              <a:prstGeom prst="rect">
                <a:avLst/>
              </a:prstGeom>
              <a:noFill/>
            </p:spPr>
            <p:txBody>
              <a:bodyPr wrap="square">
                <a:spAutoFit/>
              </a:bodyPr>
              <a:lstStyle/>
              <a:p>
                <a:pPr indent="609600">
                  <a:spcBef>
                    <a:spcPts val="600"/>
                  </a:spcBef>
                  <a:spcAft>
                    <a:spcPts val="600"/>
                  </a:spcAft>
                </a:pPr>
                <a:r>
                  <a:rPr lang="zh-CN" sz="2400" dirty="0">
                    <a:effectLst/>
                    <a:latin typeface="Times New Roman" panose="02020603050405020304" pitchFamily="18" charset="0"/>
                    <a:ea typeface="宋体" panose="02010600030101010101" pitchFamily="2" charset="-122"/>
                  </a:rPr>
                  <a:t>解：</a:t>
                </a:r>
                <a14:m>
                  <m:oMath xmlns:m="http://schemas.openxmlformats.org/officeDocument/2006/math">
                    <m:r>
                      <a:rPr lang="zh-CN" altLang="en-US" sz="2400" b="0" i="0" smtClean="0">
                        <a:effectLst/>
                        <a:latin typeface="Cambria Math" panose="02040503050406030204" pitchFamily="18" charset="0"/>
                        <a:ea typeface="宋体" panose="02010600030101010101" pitchFamily="2" charset="-122"/>
                      </a:rPr>
                      <m:t> </m:t>
                    </m:r>
                    <m:r>
                      <a:rPr lang="en-US" sz="2400">
                        <a:effectLst/>
                        <a:latin typeface="Cambria Math" panose="02040503050406030204" pitchFamily="18" charset="0"/>
                        <a:ea typeface="宋体" panose="02010600030101010101" pitchFamily="2" charset="-122"/>
                      </a:rPr>
                      <m:t>∵</m:t>
                    </m:r>
                    <m:r>
                      <a:rPr lang="zh-CN" sz="2400">
                        <a:effectLst/>
                        <a:latin typeface="Cambria Math" panose="02040503050406030204" pitchFamily="18" charset="0"/>
                        <a:ea typeface="宋体" panose="02010600030101010101" pitchFamily="2" charset="-122"/>
                      </a:rPr>
                      <m:t>找不到单位矩阵基</m:t>
                    </m:r>
                  </m:oMath>
                </a14:m>
                <a:endParaRPr lang="en-US" altLang="zh-CN" sz="2400" dirty="0">
                  <a:effectLst/>
                  <a:latin typeface="Cambria Math" panose="02040503050406030204" pitchFamily="18" charset="0"/>
                  <a:ea typeface="宋体" panose="02010600030101010101" pitchFamily="2" charset="-122"/>
                </a:endParaRPr>
              </a:p>
              <a:p>
                <a:pPr indent="609600">
                  <a:spcBef>
                    <a:spcPts val="600"/>
                  </a:spcBef>
                  <a:spcAft>
                    <a:spcPts val="60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ea typeface="宋体" panose="02010600030101010101" pitchFamily="2" charset="-122"/>
                        </a:rPr>
                        <m:t>∴</m:t>
                      </m:r>
                      <m:r>
                        <a:rPr lang="zh-CN" sz="2400">
                          <a:effectLst/>
                          <a:latin typeface="Cambria Math" panose="02040503050406030204" pitchFamily="18" charset="0"/>
                          <a:ea typeface="宋体" panose="02010600030101010101" pitchFamily="2" charset="-122"/>
                        </a:rPr>
                        <m:t>引入人工变量化为</m:t>
                      </m:r>
                    </m:oMath>
                    <m:oMath xmlns:m="http://schemas.openxmlformats.org/officeDocument/2006/math">
                      <m:func>
                        <m:funcPr>
                          <m:ctrlPr>
                            <a:rPr lang="en-US" sz="2400" b="0" i="1" smtClean="0">
                              <a:effectLst/>
                              <a:latin typeface="Cambria Math" panose="02040503050406030204" pitchFamily="18" charset="0"/>
                              <a:ea typeface="宋体" panose="02010600030101010101" pitchFamily="2" charset="-122"/>
                            </a:rPr>
                          </m:ctrlPr>
                        </m:funcPr>
                        <m:fName>
                          <m:r>
                            <m:rPr>
                              <m:sty m:val="p"/>
                            </m:rPr>
                            <a:rPr lang="en-US" sz="2400" i="0">
                              <a:effectLst/>
                              <a:latin typeface="Cambria Math" panose="02040503050406030204" pitchFamily="18" charset="0"/>
                              <a:ea typeface="宋体" panose="02010600030101010101" pitchFamily="2" charset="-122"/>
                            </a:rPr>
                            <m:t>min</m:t>
                          </m:r>
                        </m:fName>
                        <m:e>
                          <m:r>
                            <a:rPr lang="en-US" altLang="zh-CN" sz="2400" i="1">
                              <a:latin typeface="Cambria Math" panose="02040503050406030204" pitchFamily="18" charset="0"/>
                              <a:ea typeface="宋体" panose="02010600030101010101" pitchFamily="2" charset="-122"/>
                            </a:rPr>
                            <m:t>𝑧</m:t>
                          </m:r>
                          <m:r>
                            <a:rPr lang="en-US" altLang="zh-CN" sz="2400" i="1">
                              <a:latin typeface="Cambria Math" panose="02040503050406030204" pitchFamily="18" charset="0"/>
                              <a:ea typeface="宋体" panose="02010600030101010101" pitchFamily="2" charset="-122"/>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+2</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+3</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3</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𝑀</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4</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𝑀</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5</m:t>
                              </m:r>
                            </m:sub>
                          </m:sSub>
                        </m:e>
                      </m:func>
                    </m:oMath>
                    <m:oMath xmlns:m="http://schemas.openxmlformats.org/officeDocument/2006/math">
                      <m:r>
                        <a:rPr lang="en-US" sz="2400" i="1">
                          <a:effectLst/>
                          <a:latin typeface="Cambria Math" panose="02040503050406030204" pitchFamily="18" charset="0"/>
                          <a:ea typeface="宋体" panose="02010600030101010101" pitchFamily="2" charset="-122"/>
                        </a:rPr>
                        <m:t>𝑠</m:t>
                      </m:r>
                      <m:r>
                        <a:rPr lang="en-US" sz="2400" i="1">
                          <a:effectLst/>
                          <a:latin typeface="Cambria Math" panose="02040503050406030204" pitchFamily="18" charset="0"/>
                          <a:ea typeface="宋体" panose="02010600030101010101" pitchFamily="2" charset="-122"/>
                        </a:rPr>
                        <m:t>.</m:t>
                      </m:r>
                      <m:r>
                        <a:rPr lang="en-US" sz="2400" i="1">
                          <a:effectLst/>
                          <a:latin typeface="Cambria Math" panose="02040503050406030204" pitchFamily="18" charset="0"/>
                          <a:ea typeface="宋体" panose="02010600030101010101" pitchFamily="2" charset="-122"/>
                        </a:rPr>
                        <m:t>𝑡</m:t>
                      </m:r>
                      <m:r>
                        <a:rPr lang="en-US" sz="2400" i="1">
                          <a:effectLst/>
                          <a:latin typeface="Cambria Math" panose="02040503050406030204" pitchFamily="18" charset="0"/>
                          <a:ea typeface="宋体" panose="02010600030101010101" pitchFamily="2" charset="-122"/>
                        </a:rPr>
                        <m:t>.</m:t>
                      </m:r>
                      <m:d>
                        <m:dPr>
                          <m:begChr m:val="{"/>
                          <m:endChr m:val=""/>
                          <m:ctrlPr>
                            <a:rPr lang="en-US" sz="2400" i="1">
                              <a:effectLst/>
                              <a:latin typeface="Cambria Math" panose="02040503050406030204" pitchFamily="18" charset="0"/>
                              <a:ea typeface="宋体" panose="02010600030101010101" pitchFamily="2" charset="-122"/>
                            </a:rPr>
                          </m:ctrlPr>
                        </m:dPr>
                        <m:e>
                          <m:eqArr>
                            <m:eqArrPr>
                              <m:ctrlPr>
                                <a:rPr lang="en-US" sz="2400" i="1">
                                  <a:effectLst/>
                                  <a:latin typeface="Cambria Math" panose="02040503050406030204" pitchFamily="18" charset="0"/>
                                  <a:ea typeface="宋体" panose="02010600030101010101" pitchFamily="2" charset="-122"/>
                                </a:rPr>
                              </m:ctrlPr>
                            </m:eqArrPr>
                            <m:e>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1</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4</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e>
                            <m:e>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2</m:t>
                                  </m:r>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1</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5</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=4</m:t>
                              </m:r>
                            </m:e>
                            <m:e>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1</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2</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3</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4</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m:t>
                              </m:r>
                              <m:sSub>
                                <m:sSubPr>
                                  <m:ctrlPr>
                                    <a:rPr lang="en-US" sz="2400" i="1">
                                      <a:effectLst/>
                                      <a:latin typeface="Cambria Math" panose="02040503050406030204" pitchFamily="18" charset="0"/>
                                      <a:ea typeface="宋体" panose="02010600030101010101" pitchFamily="2" charset="-122"/>
                                      <a:cs typeface="Cambria Math" panose="02040503050406030204" pitchFamily="18" charset="0"/>
                                    </a:rPr>
                                  </m:ctrlPr>
                                </m:sSubPr>
                                <m:e>
                                  <m:r>
                                    <a:rPr lang="en-US" sz="2400" i="1">
                                      <a:effectLst/>
                                      <a:latin typeface="Cambria Math" panose="02040503050406030204" pitchFamily="18" charset="0"/>
                                      <a:ea typeface="宋体" panose="02010600030101010101" pitchFamily="2" charset="-122"/>
                                      <a:cs typeface="Cambria Math" panose="02040503050406030204" pitchFamily="18" charset="0"/>
                                    </a:rPr>
                                    <m:t>𝑥</m:t>
                                  </m:r>
                                </m:e>
                                <m:sub>
                                  <m:r>
                                    <a:rPr lang="en-US" sz="2400" i="1">
                                      <a:effectLst/>
                                      <a:latin typeface="Cambria Math" panose="02040503050406030204" pitchFamily="18" charset="0"/>
                                      <a:ea typeface="宋体" panose="02010600030101010101" pitchFamily="2" charset="-122"/>
                                      <a:cs typeface="Cambria Math" panose="02040503050406030204" pitchFamily="18" charset="0"/>
                                    </a:rPr>
                                    <m:t>5</m:t>
                                  </m:r>
                                </m:sub>
                              </m:sSub>
                              <m:r>
                                <a:rPr lang="en-US" sz="2400" i="1">
                                  <a:effectLst/>
                                  <a:latin typeface="Cambria Math" panose="02040503050406030204" pitchFamily="18" charset="0"/>
                                  <a:ea typeface="宋体" panose="02010600030101010101" pitchFamily="2" charset="-122"/>
                                  <a:cs typeface="Cambria Math" panose="02040503050406030204" pitchFamily="18" charset="0"/>
                                </a:rPr>
                                <m:t>≥0</m:t>
                              </m:r>
                            </m:e>
                          </m:eqArr>
                        </m:e>
                      </m:d>
                    </m:oMath>
                  </m:oMathPara>
                </a14:m>
                <a:endParaRPr lang="en-US"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r>
                  <a:rPr lang="zh-CN" sz="2400" dirty="0">
                    <a:effectLst/>
                    <a:latin typeface="Times New Roman" panose="02020603050405020304" pitchFamily="18" charset="0"/>
                    <a:ea typeface="宋体" panose="02010600030101010101" pitchFamily="2" charset="-122"/>
                  </a:rPr>
                  <a:t>则初始基本可行解：</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rPr>
                        </m:ctrlPr>
                      </m:sSupPr>
                      <m:e>
                        <m:r>
                          <a:rPr lang="en-US" altLang="zh-CN" sz="2400" i="1">
                            <a:latin typeface="Cambria Math" panose="02040503050406030204" pitchFamily="18" charset="0"/>
                            <a:ea typeface="宋体" panose="02010600030101010101" pitchFamily="2" charset="-122"/>
                          </a:rPr>
                          <m:t> </m:t>
                        </m:r>
                        <m:r>
                          <a:rPr lang="en-US" altLang="zh-CN" sz="2400" i="1">
                            <a:latin typeface="Cambria Math" panose="02040503050406030204" pitchFamily="18" charset="0"/>
                            <a:ea typeface="宋体" panose="02010600030101010101" pitchFamily="2" charset="-122"/>
                          </a:rPr>
                          <m:t>𝑥</m:t>
                        </m:r>
                      </m:e>
                      <m:sup>
                        <m:r>
                          <a:rPr lang="en-US" altLang="zh-CN" sz="2400" i="1">
                            <a:latin typeface="Cambria Math" panose="02040503050406030204" pitchFamily="18" charset="0"/>
                            <a:ea typeface="宋体" panose="02010600030101010101" pitchFamily="2" charset="-122"/>
                            <a:cs typeface="Times New Roman" panose="02020603050405020304" pitchFamily="18" charset="0"/>
                          </a:rPr>
                          <m:t>(0)</m:t>
                        </m:r>
                      </m:sup>
                    </m:sSup>
                    <m:r>
                      <a:rPr lang="en-US" sz="2400" i="1">
                        <a:effectLst/>
                        <a:latin typeface="Cambria Math" panose="02040503050406030204" pitchFamily="18" charset="0"/>
                        <a:ea typeface="宋体" panose="02010600030101010101" pitchFamily="2" charset="-122"/>
                      </a:rPr>
                      <m:t>=</m:t>
                    </m:r>
                    <m:sSup>
                      <m:sSupPr>
                        <m:ctrlPr>
                          <a:rPr lang="en-US" sz="2400" i="1">
                            <a:effectLst/>
                            <a:latin typeface="Cambria Math" panose="02040503050406030204" pitchFamily="18" charset="0"/>
                            <a:ea typeface="宋体" panose="02010600030101010101" pitchFamily="2" charset="-122"/>
                          </a:rPr>
                        </m:ctrlPr>
                      </m:sSupPr>
                      <m:e>
                        <m:r>
                          <a:rPr lang="en-US" sz="2400" i="1">
                            <a:effectLst/>
                            <a:latin typeface="Cambria Math" panose="02040503050406030204" pitchFamily="18" charset="0"/>
                            <a:ea typeface="宋体" panose="02010600030101010101" pitchFamily="2" charset="-122"/>
                          </a:rPr>
                          <m:t> (0  0  0  3  4)</m:t>
                        </m:r>
                      </m:e>
                      <m:sup>
                        <m:r>
                          <a:rPr lang="en-US" sz="2400" i="1" baseline="30000">
                            <a:effectLst/>
                            <a:latin typeface="Cambria Math" panose="02040503050406030204" pitchFamily="18" charset="0"/>
                            <a:ea typeface="宋体" panose="02010600030101010101" pitchFamily="2" charset="-122"/>
                          </a:rPr>
                          <m:t>𝑇</m:t>
                        </m:r>
                      </m:sup>
                    </m:sSup>
                  </m:oMath>
                </a14:m>
                <a:endParaRPr lang="en-US" sz="2400" dirty="0">
                  <a:effectLst/>
                  <a:latin typeface="Times New Roman" panose="02020603050405020304" pitchFamily="18" charset="0"/>
                  <a:ea typeface="Times New Roman" panose="020206030504050203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799856" y="2924944"/>
                <a:ext cx="7632848" cy="3197350"/>
              </a:xfrm>
              <a:prstGeom prst="rect">
                <a:avLst/>
              </a:prstGeom>
              <a:blipFill rotWithShape="1">
                <a:blip r:embed="rId4"/>
                <a:stretch>
                  <a:fillRect l="-7" t="-4" r="1" b="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884731" y="4804417"/>
                <a:ext cx="4868128" cy="461665"/>
              </a:xfrm>
              <a:prstGeom prst="rect">
                <a:avLst/>
              </a:prstGeom>
            </p:spPr>
            <p:style>
              <a:lnRef idx="3">
                <a:schemeClr val="lt1"/>
              </a:lnRef>
              <a:fillRef idx="1">
                <a:schemeClr val="accent4"/>
              </a:fillRef>
              <a:effectRef idx="1">
                <a:schemeClr val="accent4"/>
              </a:effectRef>
              <a:fontRef idx="minor">
                <a:schemeClr val="lt1"/>
              </a:fontRef>
            </p:style>
            <p:txBody>
              <a:bodyPr wrap="none">
                <a:spAutoFit/>
              </a:bodyPr>
              <a:lstStyle/>
              <a:p>
                <a:r>
                  <a:rPr lang="zh-CN" altLang="en-US" sz="2400" dirty="0"/>
                  <a:t> 假设当前的基本可行解为</a:t>
                </a:r>
                <a14:m>
                  <m:oMath xmlns:m="http://schemas.openxmlformats.org/officeDocument/2006/math">
                    <m:d>
                      <m:dPr>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𝑏</m:t>
                        </m:r>
                        <m:r>
                          <a:rPr lang="en-US" altLang="zh-CN" sz="2400" i="1">
                            <a:latin typeface="Cambria Math" panose="02040503050406030204"/>
                          </a:rPr>
                          <m:t>,0</m:t>
                        </m:r>
                      </m:e>
                    </m:d>
                  </m:oMath>
                </a14:m>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884731" y="4804417"/>
                <a:ext cx="4868128" cy="461665"/>
              </a:xfrm>
              <a:prstGeom prst="rect">
                <a:avLst/>
              </a:prstGeom>
              <a:blipFill rotWithShape="1">
                <a:blip r:embed="rId2"/>
                <a:stretch>
                  <a:fillRect l="-1086" t="-7154" r="-1075" b="-15674"/>
                </a:stretch>
              </a:blipFill>
            </p:spPr>
            <p:style>
              <a:lnRef idx="3">
                <a:schemeClr val="lt1"/>
              </a:lnRef>
              <a:fillRef idx="1">
                <a:schemeClr val="accent4"/>
              </a:fillRef>
              <a:effectRef idx="1">
                <a:schemeClr val="accent4"/>
              </a:effectRef>
              <a:fontRef idx="minor">
                <a:schemeClr val="lt1"/>
              </a:fontRef>
            </p:style>
            <p:txBody>
              <a:bodyPr/>
              <a:lstStyle/>
              <a:p>
                <a:r>
                  <a:rPr lang="zh-CN" altLang="en-US">
                    <a:noFill/>
                  </a:rPr>
                  <a:t> </a:t>
                </a:r>
              </a:p>
            </p:txBody>
          </p:sp>
        </mc:Fallback>
      </mc:AlternateContent>
      <p:sp>
        <p:nvSpPr>
          <p:cNvPr id="5" name="矩形 4"/>
          <p:cNvSpPr/>
          <p:nvPr/>
        </p:nvSpPr>
        <p:spPr>
          <a:xfrm>
            <a:off x="469975" y="267838"/>
            <a:ext cx="4695516" cy="523220"/>
          </a:xfrm>
          <a:prstGeom prst="rect">
            <a:avLst/>
          </a:prstGeom>
        </p:spPr>
        <p:txBody>
          <a:bodyPr wrap="none">
            <a:spAutoFit/>
          </a:bodyPr>
          <a:lstStyle/>
          <a:p>
            <a:r>
              <a:rPr lang="en-US" altLang="zh-CN" sz="2800" b="1" dirty="0">
                <a:solidFill>
                  <a:schemeClr val="accent1"/>
                </a:solidFill>
                <a:latin typeface="宋体" panose="02010600030101010101" pitchFamily="2" charset="-122"/>
              </a:rPr>
              <a:t>2</a:t>
            </a:r>
            <a:r>
              <a:rPr lang="zh-CN" altLang="en-US" sz="2800" b="1" dirty="0">
                <a:solidFill>
                  <a:schemeClr val="accent1"/>
                </a:solidFill>
                <a:latin typeface="宋体" panose="02010600030101010101" pitchFamily="2" charset="-122"/>
              </a:rPr>
              <a:t>  最优性的检验与解的判别</a:t>
            </a:r>
            <a:endParaRPr lang="en-US" altLang="zh-CN" sz="2800" b="1" dirty="0">
              <a:solidFill>
                <a:schemeClr val="accent1"/>
              </a:solidFill>
              <a:latin typeface="宋体" panose="02010600030101010101" pitchFamily="2" charset="-122"/>
            </a:endParaRPr>
          </a:p>
        </p:txBody>
      </p:sp>
      <mc:AlternateContent xmlns:mc="http://schemas.openxmlformats.org/markup-compatibility/2006" xmlns:a14="http://schemas.microsoft.com/office/drawing/2010/main">
        <mc:Choice Requires="a14">
          <p:sp>
            <p:nvSpPr>
              <p:cNvPr id="12" name="文本框 11"/>
              <p:cNvSpPr txBox="1"/>
              <p:nvPr/>
            </p:nvSpPr>
            <p:spPr>
              <a:xfrm>
                <a:off x="1372661" y="1183507"/>
                <a:ext cx="4572000" cy="1099019"/>
              </a:xfrm>
              <a:prstGeom prst="rect">
                <a:avLst/>
              </a:prstGeom>
              <a:noFill/>
              <a:ln w="31750">
                <a:solidFill>
                  <a:schemeClr val="accent1"/>
                </a:solidFill>
              </a:ln>
            </p:spPr>
            <p:txBody>
              <a:bodyPr wrap="square">
                <a:spAutoFit/>
              </a:bodyPr>
              <a:lstStyle/>
              <a:p>
                <a:r>
                  <a:rPr lang="zh-CN" altLang="en-US" sz="2400" b="1" dirty="0"/>
                  <a:t>标准型</a:t>
                </a:r>
                <a:r>
                  <a:rPr lang="en-US" altLang="zh-CN" sz="2400" dirty="0"/>
                  <a:t>                 </a:t>
                </a:r>
                <a14:m>
                  <m:oMath xmlns:m="http://schemas.openxmlformats.org/officeDocument/2006/math">
                    <m:r>
                      <m:rPr>
                        <m:sty m:val="p"/>
                      </m:rPr>
                      <a:rPr lang="en-US" altLang="zh-CN" sz="2400">
                        <a:latin typeface="Cambria Math" panose="02040503050406030204"/>
                      </a:rPr>
                      <m:t>min</m:t>
                    </m:r>
                    <m:r>
                      <a:rPr lang="en-US" altLang="zh-CN" sz="2400">
                        <a:latin typeface="Cambria Math" panose="02040503050406030204"/>
                      </a:rPr>
                      <m:t>     </m:t>
                    </m:r>
                    <m:r>
                      <m:rPr>
                        <m:sty m:val="p"/>
                      </m:rPr>
                      <a:rPr lang="en-US" altLang="zh-CN" sz="2400">
                        <a:latin typeface="Cambria Math" panose="02040503050406030204"/>
                      </a:rPr>
                      <m:t>z</m:t>
                    </m:r>
                    <m:r>
                      <a:rPr lang="en-US" altLang="zh-CN" sz="2400">
                        <a:latin typeface="Cambria Math" panose="02040503050406030204"/>
                      </a:rPr>
                      <m:t>=</m:t>
                    </m:r>
                    <m:sSup>
                      <m:sSupPr>
                        <m:ctrlPr>
                          <a:rPr lang="en-US" altLang="zh-CN" sz="2400" i="1">
                            <a:latin typeface="Cambria Math" panose="02040503050406030204" pitchFamily="18" charset="0"/>
                          </a:rPr>
                        </m:ctrlPr>
                      </m:sSupPr>
                      <m:e>
                        <m:r>
                          <a:rPr lang="en-US" altLang="zh-CN" sz="2400" i="1">
                            <a:latin typeface="Cambria Math" panose="02040503050406030204"/>
                          </a:rPr>
                          <m:t>𝑐</m:t>
                        </m:r>
                      </m:e>
                      <m:sup>
                        <m:r>
                          <a:rPr lang="en-US" altLang="zh-CN" sz="2400" i="1">
                            <a:latin typeface="Cambria Math" panose="02040503050406030204"/>
                          </a:rPr>
                          <m:t>𝑇</m:t>
                        </m:r>
                      </m:sup>
                    </m:sSup>
                    <m:r>
                      <a:rPr lang="en-US" altLang="zh-CN" sz="2400" i="1">
                        <a:latin typeface="Cambria Math" panose="02040503050406030204"/>
                      </a:rPr>
                      <m:t>𝑥</m:t>
                    </m:r>
                  </m:oMath>
                </a14:m>
                <a:endParaRPr lang="en-US" altLang="zh-CN" sz="2400" dirty="0"/>
              </a:p>
              <a:p>
                <a:pPr algn="just"/>
                <a:r>
                  <a:rPr lang="en-US" altLang="zh-CN" sz="2400" dirty="0"/>
                  <a:t> </a:t>
                </a:r>
                <a14:m>
                  <m:oMath xmlns:m="http://schemas.openxmlformats.org/officeDocument/2006/math">
                    <m:r>
                      <a:rPr lang="en-US" altLang="zh-CN" sz="2400">
                        <a:latin typeface="Cambria Math" panose="02040503050406030204"/>
                      </a:rPr>
                      <m:t>                                 </m:t>
                    </m:r>
                    <m:m>
                      <m:mPr>
                        <m:mcs>
                          <m:mc>
                            <m:mcPr>
                              <m:count m:val="1"/>
                              <m:mcJc m:val="center"/>
                            </m:mcPr>
                          </m:mc>
                        </m:mcs>
                        <m:ctrlPr>
                          <a:rPr lang="en-US" altLang="zh-CN" sz="2400" i="1">
                            <a:latin typeface="Cambria Math" panose="02040503050406030204" pitchFamily="18" charset="0"/>
                          </a:rPr>
                        </m:ctrlPr>
                      </m:mPr>
                      <m:mr>
                        <m:e>
                          <m:r>
                            <m:rPr>
                              <m:sty m:val="p"/>
                            </m:rPr>
                            <a:rPr lang="en-US" altLang="zh-CN" sz="2400">
                              <a:latin typeface="Cambria Math" panose="02040503050406030204"/>
                            </a:rPr>
                            <m:t>s</m:t>
                          </m:r>
                          <m:r>
                            <a:rPr lang="en-US" altLang="zh-CN" sz="2400">
                              <a:latin typeface="Cambria Math" panose="02040503050406030204"/>
                            </a:rPr>
                            <m:t>.</m:t>
                          </m:r>
                          <m:r>
                            <m:rPr>
                              <m:sty m:val="p"/>
                            </m:rPr>
                            <a:rPr lang="en-US" altLang="zh-CN" sz="2400">
                              <a:latin typeface="Cambria Math" panose="02040503050406030204"/>
                            </a:rPr>
                            <m:t>t</m:t>
                          </m:r>
                          <m:r>
                            <a:rPr lang="en-US" altLang="zh-CN" sz="2400">
                              <a:latin typeface="Cambria Math" panose="02040503050406030204"/>
                            </a:rPr>
                            <m:t>. </m:t>
                          </m:r>
                          <m:r>
                            <a:rPr lang="en-US" altLang="zh-CN" sz="2400" i="1">
                              <a:latin typeface="Cambria Math" panose="02040503050406030204"/>
                            </a:rPr>
                            <m:t>    </m:t>
                          </m:r>
                          <m:r>
                            <a:rPr lang="en-US" altLang="zh-CN" sz="2400" i="1">
                              <a:latin typeface="Cambria Math" panose="02040503050406030204"/>
                            </a:rPr>
                            <m:t>𝐴𝑥</m:t>
                          </m:r>
                          <m:r>
                            <a:rPr lang="en-US" altLang="zh-CN" sz="2400" i="1">
                              <a:latin typeface="Cambria Math" panose="02040503050406030204"/>
                            </a:rPr>
                            <m:t>=</m:t>
                          </m:r>
                          <m:r>
                            <a:rPr lang="en-US" altLang="zh-CN" sz="2400" i="1">
                              <a:latin typeface="Cambria Math" panose="02040503050406030204"/>
                            </a:rPr>
                            <m:t>𝑏</m:t>
                          </m:r>
                        </m:e>
                      </m:mr>
                      <m:mr>
                        <m:e>
                          <m:r>
                            <a:rPr lang="en-US" altLang="zh-CN" sz="2400" i="1">
                              <a:latin typeface="Cambria Math" panose="02040503050406030204"/>
                            </a:rPr>
                            <m:t>         </m:t>
                          </m:r>
                          <m:r>
                            <a:rPr lang="en-US" altLang="zh-CN" sz="2400" i="1">
                              <a:latin typeface="Cambria Math" panose="02040503050406030204"/>
                            </a:rPr>
                            <m:t>𝑥</m:t>
                          </m:r>
                          <m:r>
                            <a:rPr lang="en-US" altLang="zh-CN" sz="2400" i="1">
                              <a:latin typeface="Cambria Math" panose="02040503050406030204"/>
                              <a:ea typeface="Cambria Math" panose="02040503050406030204"/>
                            </a:rPr>
                            <m:t>≥0</m:t>
                          </m:r>
                        </m:e>
                      </m:mr>
                    </m:m>
                  </m:oMath>
                </a14:m>
                <a:endParaRPr lang="en-US" altLang="zh-CN" sz="24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372661" y="1183507"/>
                <a:ext cx="4572000" cy="1099019"/>
              </a:xfrm>
              <a:prstGeom prst="rect">
                <a:avLst/>
              </a:prstGeom>
              <a:blipFill rotWithShape="1">
                <a:blip r:embed="rId3"/>
                <a:stretch>
                  <a:fillRect l="-357" t="-1490" r="-338" b="-1414"/>
                </a:stretch>
              </a:blipFill>
              <a:ln w="31750">
                <a:solidFill>
                  <a:schemeClr val="accent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1435365" y="2560766"/>
                <a:ext cx="4622800" cy="461665"/>
              </a:xfrm>
              <a:prstGeom prst="rect">
                <a:avLst/>
              </a:prstGeom>
              <a:noFill/>
            </p:spPr>
            <p:txBody>
              <a:bodyPr wrap="square">
                <a:spAutoFit/>
              </a:bodyPr>
              <a:lstStyle/>
              <a:p>
                <a:r>
                  <a:rPr lang="zh-CN" altLang="en-US" sz="2400" dirty="0">
                    <a:latin typeface="宋体" panose="02010600030101010101" pitchFamily="2" charset="-122"/>
                  </a:rPr>
                  <a:t>记 </a:t>
                </a:r>
                <a14:m>
                  <m:oMath xmlns:m="http://schemas.openxmlformats.org/officeDocument/2006/math">
                    <m:r>
                      <a:rPr lang="en-US" altLang="zh-CN" sz="2400" i="1">
                        <a:latin typeface="Cambria Math" panose="02040503050406030204"/>
                      </a:rPr>
                      <m:t>𝐴</m:t>
                    </m:r>
                    <m:r>
                      <a:rPr lang="en-US" altLang="zh-CN" sz="2400" i="1">
                        <a:latin typeface="Cambria Math" panose="02040503050406030204"/>
                      </a:rPr>
                      <m:t>=</m:t>
                    </m:r>
                    <m:d>
                      <m:dPr>
                        <m:begChr m:val="["/>
                        <m:endChr m:val="]"/>
                        <m:ctrlPr>
                          <a:rPr lang="en-US" altLang="zh-CN" sz="2400" i="1">
                            <a:latin typeface="Cambria Math" panose="02040503050406030204" pitchFamily="18" charset="0"/>
                          </a:rPr>
                        </m:ctrlPr>
                      </m:dPr>
                      <m:e>
                        <m:r>
                          <a:rPr lang="en-US" altLang="zh-CN" sz="2400" i="1">
                            <a:latin typeface="Cambria Math" panose="02040503050406030204"/>
                          </a:rPr>
                          <m:t>𝐵</m:t>
                        </m:r>
                        <m:r>
                          <a:rPr lang="en-US" altLang="zh-CN" sz="2400" i="1">
                            <a:latin typeface="Cambria Math" panose="02040503050406030204"/>
                          </a:rPr>
                          <m:t>,</m:t>
                        </m:r>
                        <m:r>
                          <a:rPr lang="en-US" altLang="zh-CN" sz="2400" i="1">
                            <a:latin typeface="Cambria Math" panose="02040503050406030204"/>
                          </a:rPr>
                          <m:t>𝑁</m:t>
                        </m:r>
                      </m:e>
                    </m:d>
                  </m:oMath>
                </a14:m>
                <a:endParaRPr lang="zh-CN" altLang="en-US" sz="240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435365" y="2560766"/>
                <a:ext cx="4622800" cy="461665"/>
              </a:xfrm>
              <a:prstGeom prst="rect">
                <a:avLst/>
              </a:prstGeom>
              <a:blipFill rotWithShape="1">
                <a:blip r:embed="rId4"/>
                <a:stretch>
                  <a:fillRect l="-6" t="-97" r="6" b="1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506333" y="4093819"/>
                <a:ext cx="46228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𝑐</m:t>
                          </m:r>
                        </m:e>
                        <m:sup>
                          <m:r>
                            <a:rPr lang="en-US" altLang="zh-CN" sz="2400" i="1">
                              <a:latin typeface="Cambria Math" panose="02040503050406030204" pitchFamily="18" charset="0"/>
                            </a:rPr>
                            <m:t>𝑇</m:t>
                          </m:r>
                        </m:sup>
                      </m:sSup>
                      <m:r>
                        <a:rPr lang="en-US" altLang="zh-CN" sz="2400" i="1">
                          <a:latin typeface="Cambria Math" panose="02040503050406030204"/>
                        </a:rPr>
                        <m:t>=</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𝑁</m:t>
                              </m:r>
                            </m:sub>
                          </m:sSub>
                        </m:e>
                      </m:d>
                    </m:oMath>
                  </m:oMathPara>
                </a14:m>
                <a:endParaRPr lang="zh-CN" altLang="en-US" sz="2400" dirty="0"/>
              </a:p>
            </p:txBody>
          </p:sp>
        </mc:Choice>
        <mc:Fallback xmlns="">
          <p:sp>
            <p:nvSpPr>
              <p:cNvPr id="15" name="文本框 14"/>
              <p:cNvSpPr txBox="1">
                <a:spLocks noRot="1" noChangeAspect="1" noMove="1" noResize="1" noEditPoints="1" noAdjustHandles="1" noChangeArrowheads="1" noChangeShapeType="1" noTextEdit="1"/>
              </p:cNvSpPr>
              <p:nvPr/>
            </p:nvSpPr>
            <p:spPr>
              <a:xfrm>
                <a:off x="506333" y="4093819"/>
                <a:ext cx="4622800" cy="461665"/>
              </a:xfrm>
              <a:prstGeom prst="rect">
                <a:avLst/>
              </a:prstGeom>
              <a:blipFill rotWithShape="1">
                <a:blip r:embed="rId5"/>
                <a:stretch>
                  <a:fillRect l="-5" t="-132" r="5" b="1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119336" y="3144222"/>
                <a:ext cx="4913744" cy="7072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a:rPr>
                        <m:t>𝑥</m:t>
                      </m:r>
                      <m:r>
                        <a:rPr lang="en-US" altLang="zh-CN" sz="2400" i="1">
                          <a:latin typeface="Cambria Math" panose="02040503050406030204"/>
                        </a:rPr>
                        <m:t>=</m:t>
                      </m:r>
                      <m:d>
                        <m:dPr>
                          <m:ctrlPr>
                            <a:rPr lang="en-US" altLang="zh-CN"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e>
                            </m:mr>
                            <m:mr>
                              <m:e>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e>
                            </m:mr>
                          </m:m>
                        </m:e>
                      </m:d>
                    </m:oMath>
                  </m:oMathPara>
                </a14:m>
                <a:endParaRPr lang="zh-CN" altLang="en-US" sz="2400" dirty="0"/>
              </a:p>
            </p:txBody>
          </p:sp>
        </mc:Choice>
        <mc:Fallback xmlns="">
          <p:sp>
            <p:nvSpPr>
              <p:cNvPr id="16" name="文本框 15"/>
              <p:cNvSpPr txBox="1">
                <a:spLocks noRot="1" noChangeAspect="1" noMove="1" noResize="1" noEditPoints="1" noAdjustHandles="1" noChangeArrowheads="1" noChangeShapeType="1" noTextEdit="1"/>
              </p:cNvSpPr>
              <p:nvPr/>
            </p:nvSpPr>
            <p:spPr>
              <a:xfrm>
                <a:off x="119336" y="3144222"/>
                <a:ext cx="4913744" cy="707245"/>
              </a:xfrm>
              <a:prstGeom prst="rect">
                <a:avLst/>
              </a:prstGeom>
              <a:blipFill rotWithShape="1">
                <a:blip r:embed="rId6"/>
                <a:stretch>
                  <a:fillRect l="-12" t="-48" r="1" b="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884731" y="5717796"/>
                <a:ext cx="3672408" cy="461665"/>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defPPr>
                  <a:defRPr lang="zh-CN"/>
                </a:defPPr>
                <a:lvl1pPr>
                  <a:defRPr sz="28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400" dirty="0"/>
                  <a:t>当前的目标函数值</a:t>
                </a:r>
                <a14:m>
                  <m:oMath xmlns:m="http://schemas.openxmlformats.org/officeDocument/2006/math">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𝑐</m:t>
                        </m:r>
                      </m:e>
                      <m:sub>
                        <m:r>
                          <a:rPr lang="en-US" altLang="zh-CN" sz="2400">
                            <a:latin typeface="Cambria Math" panose="02040503050406030204" pitchFamily="18" charset="0"/>
                          </a:rPr>
                          <m:t>𝐵</m:t>
                        </m:r>
                      </m:sub>
                    </m:sSub>
                    <m:sSup>
                      <m:sSupPr>
                        <m:ctrlPr>
                          <a:rPr lang="en-US" altLang="zh-CN" sz="2400" i="1">
                            <a:latin typeface="Cambria Math" panose="02040503050406030204" pitchFamily="18" charset="0"/>
                          </a:rPr>
                        </m:ctrlPr>
                      </m:sSupPr>
                      <m:e>
                        <m:r>
                          <a:rPr lang="en-US" altLang="zh-CN" sz="2400">
                            <a:latin typeface="Cambria Math" panose="02040503050406030204" pitchFamily="18" charset="0"/>
                          </a:rPr>
                          <m:t>𝐵</m:t>
                        </m:r>
                      </m:e>
                      <m:sup>
                        <m:r>
                          <a:rPr lang="en-US" altLang="zh-CN" sz="2400">
                            <a:latin typeface="Cambria Math" panose="02040503050406030204" pitchFamily="18" charset="0"/>
                          </a:rPr>
                          <m:t>−1</m:t>
                        </m:r>
                      </m:sup>
                    </m:sSup>
                    <m:r>
                      <a:rPr lang="en-US" altLang="zh-CN" sz="2400">
                        <a:latin typeface="Cambria Math" panose="02040503050406030204" pitchFamily="18" charset="0"/>
                      </a:rPr>
                      <m:t>𝑏</m:t>
                    </m:r>
                  </m:oMath>
                </a14:m>
                <a:endParaRPr lang="zh-CN" altLang="en-US" sz="2400" dirty="0"/>
              </a:p>
            </p:txBody>
          </p:sp>
        </mc:Choice>
        <mc:Fallback xmlns="">
          <p:sp>
            <p:nvSpPr>
              <p:cNvPr id="3" name="文本框 2"/>
              <p:cNvSpPr txBox="1">
                <a:spLocks noRot="1" noChangeAspect="1" noMove="1" noResize="1" noEditPoints="1" noAdjustHandles="1" noChangeArrowheads="1" noChangeShapeType="1" noTextEdit="1"/>
              </p:cNvSpPr>
              <p:nvPr/>
            </p:nvSpPr>
            <p:spPr>
              <a:xfrm>
                <a:off x="884731" y="5717796"/>
                <a:ext cx="3672408" cy="461665"/>
              </a:xfrm>
              <a:prstGeom prst="rect">
                <a:avLst/>
              </a:prstGeom>
              <a:blipFill rotWithShape="1">
                <a:blip r:embed="rId7"/>
                <a:stretch>
                  <a:fillRect l="-1440" t="-7208" r="-1425" b="-15758"/>
                </a:stretch>
              </a:blipFill>
            </p:spPr>
            <p:style>
              <a:lnRef idx="3">
                <a:schemeClr val="lt1"/>
              </a:lnRef>
              <a:fillRef idx="1">
                <a:schemeClr val="accent4"/>
              </a:fillRef>
              <a:effectRef idx="1">
                <a:schemeClr val="accent4"/>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Box 8"/>
              <p:cNvSpPr txBox="1"/>
              <p:nvPr/>
            </p:nvSpPr>
            <p:spPr>
              <a:xfrm>
                <a:off x="6551842" y="2204416"/>
                <a:ext cx="5618928" cy="830997"/>
              </a:xfrm>
              <a:prstGeom prst="rect">
                <a:avLst/>
              </a:prstGeom>
              <a:noFill/>
            </p:spPr>
            <p:txBody>
              <a:bodyPr wrap="square" rtlCol="0">
                <a:spAutoFit/>
              </a:bodyPr>
              <a:lstStyle/>
              <a:p>
                <a14:m>
                  <m:oMath xmlns:m="http://schemas.openxmlformats.org/officeDocument/2006/math">
                    <m:r>
                      <a:rPr lang="zh-CN" altLang="en-US" sz="2400" i="1">
                        <a:latin typeface="Cambria Math" panose="02040503050406030204" pitchFamily="18" charset="0"/>
                      </a:rPr>
                      <m:t>由可行性</m:t>
                    </m:r>
                    <m:r>
                      <a:rPr lang="en-US" altLang="zh-CN" sz="2400" i="1">
                        <a:latin typeface="Cambria Math" panose="02040503050406030204"/>
                      </a:rPr>
                      <m:t>  </m:t>
                    </m:r>
                    <m:r>
                      <a:rPr lang="en-US" altLang="zh-CN" sz="2400" i="1">
                        <a:latin typeface="Cambria Math" panose="02040503050406030204"/>
                      </a:rPr>
                      <m:t>𝑏</m:t>
                    </m:r>
                    <m:r>
                      <a:rPr lang="en-US" altLang="zh-CN" sz="2400" i="1">
                        <a:latin typeface="Cambria Math" panose="02040503050406030204"/>
                      </a:rPr>
                      <m:t>=</m:t>
                    </m:r>
                    <m:r>
                      <a:rPr lang="en-US" altLang="zh-CN" sz="2400" i="1">
                        <a:latin typeface="Cambria Math" panose="02040503050406030204"/>
                      </a:rPr>
                      <m:t>𝐴𝑥</m:t>
                    </m:r>
                    <m:r>
                      <a:rPr lang="en-US" altLang="zh-CN" sz="2400" i="1">
                        <a:latin typeface="Cambria Math" panose="02040503050406030204"/>
                      </a:rPr>
                      <m:t>=</m:t>
                    </m:r>
                    <m:r>
                      <a:rPr lang="en-US" altLang="zh-CN" sz="2400" i="1">
                        <a:latin typeface="Cambria Math" panose="02040503050406030204"/>
                      </a:rPr>
                      <m:t>𝐵</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r>
                      <a:rPr lang="en-US" altLang="zh-CN" sz="2400" i="1">
                        <a:latin typeface="Cambria Math" panose="02040503050406030204"/>
                      </a:rPr>
                      <m:t>+</m:t>
                    </m:r>
                    <m:r>
                      <a:rPr lang="en-US" altLang="zh-CN" sz="2400" i="1">
                        <a:latin typeface="Cambria Math" panose="02040503050406030204"/>
                      </a:rPr>
                      <m:t>𝑁</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oMath>
                </a14:m>
                <a:r>
                  <a:rPr lang="zh-CN" altLang="en-US" sz="2400" dirty="0"/>
                  <a:t>解出基变量代入上式，得</a:t>
                </a:r>
                <a:endParaRPr lang="en-US" altLang="zh-CN" sz="2400" dirty="0"/>
              </a:p>
            </p:txBody>
          </p:sp>
        </mc:Choice>
        <mc:Fallback xmlns="">
          <p:sp>
            <p:nvSpPr>
              <p:cNvPr id="4" name="TextBox 8"/>
              <p:cNvSpPr txBox="1">
                <a:spLocks noRot="1" noChangeAspect="1" noMove="1" noResize="1" noEditPoints="1" noAdjustHandles="1" noChangeArrowheads="1" noChangeShapeType="1" noTextEdit="1"/>
              </p:cNvSpPr>
              <p:nvPr/>
            </p:nvSpPr>
            <p:spPr>
              <a:xfrm>
                <a:off x="6551842" y="2204416"/>
                <a:ext cx="5618928" cy="830997"/>
              </a:xfrm>
              <a:prstGeom prst="rect">
                <a:avLst/>
              </a:prstGeom>
              <a:blipFill rotWithShape="1">
                <a:blip r:embed="rId8"/>
                <a:stretch>
                  <a:fillRect l="-10" t="-40" r="6" b="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9"/>
              <p:cNvSpPr txBox="1"/>
              <p:nvPr/>
            </p:nvSpPr>
            <p:spPr>
              <a:xfrm>
                <a:off x="5668827" y="3398869"/>
                <a:ext cx="637855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a:rPr>
                        <m:t> </m:t>
                      </m:r>
                      <m:r>
                        <a:rPr lang="en-US" altLang="zh-CN" sz="2400" i="1" smtClean="0">
                          <a:latin typeface="Cambria Math" panose="02040503050406030204"/>
                        </a:rPr>
                        <m:t>𝑧</m:t>
                      </m:r>
                      <m:r>
                        <a:rPr lang="en-US" altLang="zh-CN" sz="2400" i="1" smtClean="0">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𝑏</m:t>
                      </m:r>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𝑁</m:t>
                          </m:r>
                        </m:sub>
                      </m:sSub>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𝑁</m:t>
                      </m:r>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oMath>
                  </m:oMathPara>
                </a14:m>
                <a:endParaRPr lang="zh-CN" altLang="en-US" sz="2400" dirty="0"/>
              </a:p>
            </p:txBody>
          </p:sp>
        </mc:Choice>
        <mc:Fallback xmlns="">
          <p:sp>
            <p:nvSpPr>
              <p:cNvPr id="6" name="TextBox 9"/>
              <p:cNvSpPr txBox="1">
                <a:spLocks noRot="1" noChangeAspect="1" noMove="1" noResize="1" noEditPoints="1" noAdjustHandles="1" noChangeArrowheads="1" noChangeShapeType="1" noTextEdit="1"/>
              </p:cNvSpPr>
              <p:nvPr/>
            </p:nvSpPr>
            <p:spPr>
              <a:xfrm>
                <a:off x="5668827" y="3398869"/>
                <a:ext cx="6378550" cy="461665"/>
              </a:xfrm>
              <a:prstGeom prst="rect">
                <a:avLst/>
              </a:prstGeom>
              <a:blipFill rotWithShape="1">
                <a:blip r:embed="rId9"/>
                <a:stretch>
                  <a:fillRect l="-3" t="-76" r="2" b="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6528048" y="267838"/>
                <a:ext cx="6336704" cy="1568122"/>
              </a:xfrm>
              <a:prstGeom prst="rect">
                <a:avLst/>
              </a:prstGeom>
              <a:noFill/>
            </p:spPr>
            <p:txBody>
              <a:bodyPr wrap="square">
                <a:spAutoFit/>
              </a:bodyPr>
              <a:lstStyle/>
              <a:p>
                <a:pPr>
                  <a:lnSpc>
                    <a:spcPct val="120000"/>
                  </a:lnSpc>
                </a:pPr>
                <a:r>
                  <a:rPr lang="zh-CN" altLang="en-US" sz="2400" b="1" dirty="0"/>
                  <a:t>任给</a:t>
                </a:r>
                <a14:m>
                  <m:oMath xmlns:m="http://schemas.openxmlformats.org/officeDocument/2006/math">
                    <m:r>
                      <a:rPr lang="zh-CN" altLang="en-US" sz="2400" i="1">
                        <a:latin typeface="Cambria Math" panose="02040503050406030204" pitchFamily="18" charset="0"/>
                      </a:rPr>
                      <m:t>可行点</m:t>
                    </m:r>
                    <m:r>
                      <a:rPr lang="en-US" altLang="zh-CN" sz="2400" i="1">
                        <a:latin typeface="Cambria Math" panose="02040503050406030204"/>
                      </a:rPr>
                      <m:t>𝑥</m:t>
                    </m:r>
                    <m:r>
                      <a:rPr lang="en-US" altLang="zh-CN" sz="2400" i="1">
                        <a:latin typeface="Cambria Math" panose="02040503050406030204"/>
                      </a:rPr>
                      <m:t>=</m:t>
                    </m:r>
                    <m:d>
                      <m:dPr>
                        <m:ctrlPr>
                          <a:rPr lang="en-US" altLang="zh-CN"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e>
                          </m:mr>
                          <m:mr>
                            <m:e>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e>
                          </m:mr>
                        </m:m>
                      </m:e>
                    </m:d>
                  </m:oMath>
                </a14:m>
                <a:r>
                  <a:rPr lang="zh-CN" altLang="en-US" sz="2400" dirty="0"/>
                  <a:t>，其</a:t>
                </a:r>
                <a14:m>
                  <m:oMath xmlns:m="http://schemas.openxmlformats.org/officeDocument/2006/math">
                    <m:r>
                      <a:rPr lang="zh-CN" altLang="en-US" sz="2400" i="1">
                        <a:latin typeface="Cambria Math" panose="02040503050406030204" pitchFamily="18" charset="0"/>
                      </a:rPr>
                      <m:t>目标函数值</m:t>
                    </m:r>
                    <m:r>
                      <a:rPr lang="en-US" altLang="zh-CN" sz="2400" i="1">
                        <a:latin typeface="Cambria Math" panose="02040503050406030204" pitchFamily="18" charset="0"/>
                      </a:rPr>
                      <m:t> </m:t>
                    </m:r>
                  </m:oMath>
                </a14:m>
                <a:endParaRPr lang="en-US" altLang="zh-CN" sz="2400" i="1" dirty="0">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a:rPr>
                        <m:t>𝑧</m:t>
                      </m:r>
                      <m:r>
                        <a:rPr lang="en-US" altLang="zh-CN" sz="2400" i="1">
                          <a:latin typeface="Cambria Math" panose="02040503050406030204"/>
                        </a:rPr>
                        <m:t>=</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𝑁</m:t>
                              </m:r>
                            </m:sub>
                          </m:sSub>
                        </m:e>
                      </m:d>
                      <m:d>
                        <m:dPr>
                          <m:ctrlPr>
                            <a:rPr lang="en-US" altLang="zh-CN"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e>
                            </m:mr>
                            <m:mr>
                              <m:e>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e>
                            </m:mr>
                          </m:m>
                        </m:e>
                      </m:d>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𝑁</m:t>
                          </m:r>
                        </m:sub>
                      </m:sSub>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oMath>
                  </m:oMathPara>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6528048" y="267838"/>
                <a:ext cx="6336704" cy="1568122"/>
              </a:xfrm>
              <a:prstGeom prst="rect">
                <a:avLst/>
              </a:prstGeom>
              <a:blipFill rotWithShape="1">
                <a:blip r:embed="rId10"/>
                <a:stretch>
                  <a:fillRect l="-4" t="-32" r="5" b="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978082" y="4293220"/>
                <a:ext cx="6192688" cy="2245102"/>
              </a:xfrm>
              <a:prstGeom prst="rect">
                <a:avLst/>
              </a:prstGeom>
              <a:noFill/>
              <a:ln w="57150">
                <a:solidFill>
                  <a:schemeClr val="accent2"/>
                </a:solidFill>
              </a:ln>
            </p:spPr>
            <p:txBody>
              <a:bodyPr wrap="square">
                <a:spAutoFit/>
              </a:bodyPr>
              <a:lstStyle/>
              <a:p>
                <a:pPr algn="just">
                  <a:lnSpc>
                    <a:spcPct val="150000"/>
                  </a:lnSpc>
                </a:pPr>
                <a:r>
                  <a:rPr lang="zh-CN" altLang="en-US" sz="2400" dirty="0"/>
                  <a:t>注意</a:t>
                </a:r>
                <a14:m>
                  <m:oMath xmlns:m="http://schemas.openxmlformats.org/officeDocument/2006/math">
                    <m:r>
                      <a:rPr lang="zh-CN" altLang="en-US" sz="2400" i="1">
                        <a:latin typeface="Cambria Math" panose="02040503050406030204" pitchFamily="18" charset="0"/>
                      </a:rPr>
                      <m:t>到</m:t>
                    </m:r>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𝑏</m:t>
                    </m:r>
                  </m:oMath>
                </a14:m>
                <a:r>
                  <a:rPr lang="zh-CN" altLang="en-US" sz="2400" dirty="0"/>
                  <a:t>是当前基本可行解</a:t>
                </a:r>
                <a14:m>
                  <m:oMath xmlns:m="http://schemas.openxmlformats.org/officeDocument/2006/math">
                    <m:d>
                      <m:dPr>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𝑏</m:t>
                        </m:r>
                        <m:r>
                          <a:rPr lang="en-US" altLang="zh-CN" sz="2400" i="1">
                            <a:latin typeface="Cambria Math" panose="02040503050406030204"/>
                          </a:rPr>
                          <m:t>,0</m:t>
                        </m:r>
                      </m:e>
                    </m:d>
                  </m:oMath>
                </a14:m>
                <a:r>
                  <a:rPr lang="zh-CN" altLang="en-US" sz="2400" dirty="0"/>
                  <a:t>的目标函数值，若</a:t>
                </a:r>
                <a14:m>
                  <m:oMath xmlns:m="http://schemas.openxmlformats.org/officeDocument/2006/math">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𝑁</m:t>
                        </m:r>
                      </m:sub>
                    </m:sSub>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𝑁</m:t>
                    </m:r>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oMath>
                </a14:m>
                <a:r>
                  <a:rPr lang="zh-CN" altLang="en-US" sz="2400" dirty="0"/>
                  <a:t>为非负值，则找到最优解；若</a:t>
                </a:r>
                <a14:m>
                  <m:oMath xmlns:m="http://schemas.openxmlformats.org/officeDocument/2006/math">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𝑁</m:t>
                        </m:r>
                      </m:sub>
                    </m:sSub>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𝑁</m:t>
                    </m:r>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oMath>
                </a14:m>
                <a:r>
                  <a:rPr lang="zh-CN" altLang="en-US" sz="2400" dirty="0"/>
                  <a:t>为负值，则当前基本可行解不是最优解。</a:t>
                </a:r>
              </a:p>
            </p:txBody>
          </p:sp>
        </mc:Choice>
        <mc:Fallback xmlns="">
          <p:sp>
            <p:nvSpPr>
              <p:cNvPr id="9" name="文本框 8"/>
              <p:cNvSpPr txBox="1">
                <a:spLocks noRot="1" noChangeAspect="1" noMove="1" noResize="1" noEditPoints="1" noAdjustHandles="1" noChangeArrowheads="1" noChangeShapeType="1" noTextEdit="1"/>
              </p:cNvSpPr>
              <p:nvPr/>
            </p:nvSpPr>
            <p:spPr>
              <a:xfrm>
                <a:off x="5978082" y="4293220"/>
                <a:ext cx="6192688" cy="2245102"/>
              </a:xfrm>
              <a:prstGeom prst="rect">
                <a:avLst/>
              </a:prstGeom>
              <a:blipFill rotWithShape="1">
                <a:blip r:embed="rId11"/>
                <a:stretch>
                  <a:fillRect l="-465" t="-1300" r="-456" b="-3321"/>
                </a:stretch>
              </a:blipFill>
              <a:ln w="57150">
                <a:solidFill>
                  <a:schemeClr val="accent2"/>
                </a:solid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333118" y="2334798"/>
            <a:ext cx="6094428" cy="461665"/>
          </a:xfrm>
          <a:prstGeom prst="rect">
            <a:avLst/>
          </a:prstGeom>
          <a:noFill/>
        </p:spPr>
        <p:txBody>
          <a:bodyPr wrap="square">
            <a:spAutoFit/>
          </a:bodyPr>
          <a:lstStyle/>
          <a:p>
            <a:r>
              <a:rPr lang="zh-CN" altLang="zh-CN" sz="2400" b="1" dirty="0">
                <a:effectLst/>
                <a:ea typeface="宋体" panose="02010600030101010101" pitchFamily="2" charset="-122"/>
                <a:cs typeface="Times New Roman" panose="02020603050405020304" pitchFamily="18" charset="0"/>
              </a:rPr>
              <a:t>这样，引进如下记号</a:t>
            </a:r>
            <a:endParaRPr lang="zh-CN" altLang="en-US" sz="2400" dirty="0"/>
          </a:p>
        </p:txBody>
      </p:sp>
      <mc:AlternateContent xmlns:mc="http://schemas.openxmlformats.org/markup-compatibility/2006" xmlns:a14="http://schemas.microsoft.com/office/drawing/2010/main">
        <mc:Choice Requires="a14">
          <p:sp>
            <p:nvSpPr>
              <p:cNvPr id="4" name="TextBox 3"/>
              <p:cNvSpPr txBox="1"/>
              <p:nvPr/>
            </p:nvSpPr>
            <p:spPr>
              <a:xfrm>
                <a:off x="983432" y="3068960"/>
                <a:ext cx="6096000" cy="11005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836967"/>
                              </a:solidFill>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𝑗</m:t>
                          </m:r>
                        </m:sub>
                      </m:sSub>
                      <m:r>
                        <a:rPr lang="en-US" sz="2400" i="0">
                          <a:latin typeface="Cambria Math" panose="02040503050406030204" pitchFamily="18" charset="0"/>
                        </a:rPr>
                        <m:t>≔</m:t>
                      </m:r>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𝑐</m:t>
                          </m:r>
                        </m:e>
                        <m:sub>
                          <m:r>
                            <a:rPr lang="en-US" sz="2400" i="1">
                              <a:latin typeface="Cambria Math" panose="02040503050406030204" pitchFamily="18" charset="0"/>
                            </a:rPr>
                            <m:t>𝑗</m:t>
                          </m:r>
                        </m:sub>
                      </m:sSub>
                      <m:r>
                        <a:rPr lang="en-US" sz="2400" i="0">
                          <a:latin typeface="Cambria Math" panose="02040503050406030204" pitchFamily="18" charset="0"/>
                        </a:rPr>
                        <m:t>−</m:t>
                      </m:r>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0">
                              <a:latin typeface="Cambria Math" panose="02040503050406030204" pitchFamily="18" charset="0"/>
                            </a:rPr>
                            <m:t>=1</m:t>
                          </m:r>
                        </m:sub>
                        <m:sup>
                          <m:r>
                            <a:rPr lang="en-US" sz="2400" i="1">
                              <a:latin typeface="Cambria Math" panose="02040503050406030204" pitchFamily="18" charset="0"/>
                            </a:rPr>
                            <m:t>𝑚</m:t>
                          </m:r>
                        </m:sup>
                        <m:e>
                          <m:sSub>
                            <m:sSubPr>
                              <m:ctrlPr>
                                <a:rPr lang="en-US" sz="2400" i="1">
                                  <a:solidFill>
                                    <a:srgbClr val="836967"/>
                                  </a:solidFill>
                                  <a:latin typeface="Cambria Math" panose="02040503050406030204" pitchFamily="18" charset="0"/>
                                </a:rPr>
                              </m:ctrlPr>
                            </m:sSubPr>
                            <m:e>
                              <m:r>
                                <a:rPr lang="en-US" sz="2400" i="1">
                                  <a:latin typeface="Cambria Math" panose="02040503050406030204" pitchFamily="18" charset="0"/>
                                </a:rPr>
                                <m:t>𝑐</m:t>
                              </m:r>
                            </m:e>
                            <m:sub>
                              <m:r>
                                <a:rPr lang="en-US" sz="2400" i="1">
                                  <a:latin typeface="Cambria Math" panose="02040503050406030204" pitchFamily="18" charset="0"/>
                                </a:rPr>
                                <m:t>𝑖</m:t>
                              </m:r>
                            </m:sub>
                          </m:sSub>
                          <m:sSub>
                            <m:sSubPr>
                              <m:ctrlPr>
                                <a:rPr lang="en-US" sz="2400" i="1">
                                  <a:solidFill>
                                    <a:srgbClr val="836967"/>
                                  </a:solidFill>
                                  <a:latin typeface="Cambria Math" panose="02040503050406030204" pitchFamily="18" charset="0"/>
                                </a:rPr>
                              </m:ctrlPr>
                            </m:sSubPr>
                            <m:e>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𝑎</m:t>
                                  </m:r>
                                </m:e>
                              </m:acc>
                            </m:e>
                            <m:sub>
                              <m:r>
                                <a:rPr lang="en-US" sz="2400" i="1">
                                  <a:latin typeface="Cambria Math" panose="02040503050406030204" pitchFamily="18" charset="0"/>
                                </a:rPr>
                                <m:t>𝑖𝑗</m:t>
                              </m:r>
                            </m:sub>
                          </m:sSub>
                        </m:e>
                      </m:nary>
                      <m:r>
                        <a:rPr lang="en-US" sz="2400" b="0" i="1" smtClean="0">
                          <a:latin typeface="Cambria Math" panose="02040503050406030204" pitchFamily="18" charset="0"/>
                        </a:rPr>
                        <m:t>,</m:t>
                      </m:r>
                      <m:r>
                        <a:rPr lang="en-US" sz="2400" b="0" i="1" smtClean="0">
                          <a:latin typeface="Cambria Math" panose="02040503050406030204" pitchFamily="18" charset="0"/>
                        </a:rPr>
                        <m:t>𝑗</m:t>
                      </m:r>
                      <m:r>
                        <a:rPr lang="en-US" sz="2400" b="0" i="1" smtClean="0">
                          <a:latin typeface="Cambria Math" panose="02040503050406030204" pitchFamily="18" charset="0"/>
                        </a:rPr>
                        <m:t>=1,2,…,</m:t>
                      </m:r>
                      <m:r>
                        <a:rPr lang="en-US" sz="2400" b="0" i="1" smtClean="0">
                          <a:latin typeface="Cambria Math" panose="02040503050406030204" pitchFamily="18" charset="0"/>
                        </a:rPr>
                        <m:t>𝑛</m:t>
                      </m:r>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983432" y="3068960"/>
                <a:ext cx="6096000" cy="1100558"/>
              </a:xfrm>
              <a:prstGeom prst="rect">
                <a:avLst/>
              </a:prstGeom>
              <a:blipFill rotWithShape="1">
                <a:blip r:embed="rId2"/>
                <a:stretch>
                  <a:fillRect l="-7" r="7" b="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67408" y="4465958"/>
                <a:ext cx="6096000" cy="497700"/>
              </a:xfrm>
              <a:prstGeom prst="rect">
                <a:avLst/>
              </a:prstGeom>
              <a:noFill/>
            </p:spPr>
            <p:txBody>
              <a:bodyPr wrap="square">
                <a:spAutoFit/>
              </a:bodyPr>
              <a:lstStyle/>
              <a:p>
                <a:pPr indent="609600">
                  <a:spcBef>
                    <a:spcPts val="600"/>
                  </a:spcBef>
                  <a:spcAft>
                    <a:spcPts val="600"/>
                  </a:spcAft>
                </a:pPr>
                <a:r>
                  <a:rPr lang="zh-CN" sz="2400" dirty="0">
                    <a:solidFill>
                      <a:schemeClr val="tx1"/>
                    </a:solidFill>
                    <a:effectLst/>
                    <a:latin typeface="Times New Roman" panose="02020603050405020304" pitchFamily="18" charset="0"/>
                    <a:ea typeface="宋体" panose="02010600030101010101" pitchFamily="2" charset="-122"/>
                  </a:rPr>
                  <a:t>称</a:t>
                </a:r>
                <a14:m>
                  <m:oMath xmlns:m="http://schemas.openxmlformats.org/officeDocument/2006/math">
                    <m:sSub>
                      <m:sSubPr>
                        <m:ctrlPr>
                          <a:rPr lang="en-US" sz="2400" i="1">
                            <a:solidFill>
                              <a:schemeClr val="tx1"/>
                            </a:solidFill>
                            <a:effectLst/>
                            <a:latin typeface="Cambria Math" panose="02040503050406030204" pitchFamily="18" charset="0"/>
                            <a:ea typeface="宋体" panose="02010600030101010101" pitchFamily="2" charset="-122"/>
                          </a:rPr>
                        </m:ctrlPr>
                      </m:sSubPr>
                      <m:e>
                        <m:r>
                          <a:rPr lang="en-US" sz="2400" i="1">
                            <a:solidFill>
                              <a:schemeClr val="tx1"/>
                            </a:solidFill>
                            <a:effectLst/>
                            <a:latin typeface="Cambria Math" panose="02040503050406030204" pitchFamily="18" charset="0"/>
                            <a:ea typeface="宋体" panose="02010600030101010101" pitchFamily="2" charset="-122"/>
                          </a:rPr>
                          <m:t>𝜎</m:t>
                        </m:r>
                      </m:e>
                      <m:sub>
                        <m:r>
                          <a:rPr lang="en-US" sz="2400" i="1">
                            <a:solidFill>
                              <a:schemeClr val="tx1"/>
                            </a:solidFill>
                            <a:effectLst/>
                            <a:latin typeface="Cambria Math" panose="02040503050406030204" pitchFamily="18" charset="0"/>
                            <a:ea typeface="宋体" panose="02010600030101010101" pitchFamily="2" charset="-122"/>
                          </a:rPr>
                          <m:t>𝑗</m:t>
                        </m:r>
                      </m:sub>
                    </m:sSub>
                    <m:r>
                      <a:rPr lang="zh-CN" sz="2400">
                        <a:solidFill>
                          <a:schemeClr val="tx1"/>
                        </a:solidFill>
                        <a:effectLst/>
                        <a:latin typeface="Cambria Math" panose="02040503050406030204" pitchFamily="18" charset="0"/>
                        <a:ea typeface="宋体" panose="02010600030101010101" pitchFamily="2" charset="-122"/>
                      </a:rPr>
                      <m:t>为</m:t>
                    </m:r>
                    <m:sSub>
                      <m:sSubPr>
                        <m:ctrlPr>
                          <a:rPr lang="en-US" sz="2400" i="1">
                            <a:solidFill>
                              <a:schemeClr val="tx1"/>
                            </a:solidFill>
                            <a:effectLst/>
                            <a:latin typeface="Cambria Math" panose="02040503050406030204" pitchFamily="18" charset="0"/>
                            <a:ea typeface="宋体" panose="02010600030101010101" pitchFamily="2" charset="-122"/>
                          </a:rPr>
                        </m:ctrlPr>
                      </m:sSubPr>
                      <m:e>
                        <m:r>
                          <a:rPr lang="en-US" sz="2400" i="1">
                            <a:solidFill>
                              <a:schemeClr val="tx1"/>
                            </a:solidFill>
                            <a:effectLst/>
                            <a:latin typeface="Cambria Math" panose="02040503050406030204" pitchFamily="18" charset="0"/>
                            <a:ea typeface="宋体" panose="02010600030101010101" pitchFamily="2" charset="-122"/>
                          </a:rPr>
                          <m:t>𝑥</m:t>
                        </m:r>
                      </m:e>
                      <m:sub>
                        <m:r>
                          <a:rPr lang="en-US" sz="2400" i="1">
                            <a:solidFill>
                              <a:schemeClr val="tx1"/>
                            </a:solidFill>
                            <a:effectLst/>
                            <a:latin typeface="Cambria Math" panose="02040503050406030204" pitchFamily="18" charset="0"/>
                            <a:ea typeface="宋体" panose="02010600030101010101" pitchFamily="2" charset="-122"/>
                          </a:rPr>
                          <m:t>𝑗</m:t>
                        </m:r>
                      </m:sub>
                    </m:sSub>
                    <m:r>
                      <a:rPr lang="zh-CN" sz="2400">
                        <a:solidFill>
                          <a:schemeClr val="tx1"/>
                        </a:solidFill>
                        <a:effectLst/>
                        <a:latin typeface="Cambria Math" panose="02040503050406030204" pitchFamily="18" charset="0"/>
                        <a:ea typeface="宋体" panose="02010600030101010101" pitchFamily="2" charset="-122"/>
                      </a:rPr>
                      <m:t>的检验数</m:t>
                    </m:r>
                  </m:oMath>
                </a14:m>
                <a:endParaRPr lang="en-US" sz="24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767408" y="4465958"/>
                <a:ext cx="6096000" cy="497700"/>
              </a:xfrm>
              <a:prstGeom prst="rect">
                <a:avLst/>
              </a:prstGeom>
              <a:blipFill rotWithShape="1">
                <a:blip r:embed="rId3"/>
                <a:stretch>
                  <a:fillRect l="-5" t="-1" r="5" b="1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524870" y="213584"/>
                <a:ext cx="11017224" cy="1691104"/>
              </a:xfrm>
              <a:prstGeom prst="rect">
                <a:avLst/>
              </a:prstGeom>
              <a:noFill/>
              <a:ln w="57150">
                <a:solidFill>
                  <a:schemeClr val="accent2"/>
                </a:solidFill>
              </a:ln>
            </p:spPr>
            <p:txBody>
              <a:bodyPr wrap="square">
                <a:spAutoFit/>
              </a:bodyPr>
              <a:lstStyle/>
              <a:p>
                <a:pPr algn="just">
                  <a:lnSpc>
                    <a:spcPct val="150000"/>
                  </a:lnSpc>
                </a:pPr>
                <a:r>
                  <a:rPr lang="zh-CN" altLang="en-US" sz="2400" dirty="0"/>
                  <a:t>注意</a:t>
                </a:r>
                <a14:m>
                  <m:oMath xmlns:m="http://schemas.openxmlformats.org/officeDocument/2006/math">
                    <m:r>
                      <a:rPr lang="zh-CN" altLang="en-US" sz="2400" i="1">
                        <a:latin typeface="Cambria Math" panose="02040503050406030204" pitchFamily="18" charset="0"/>
                      </a:rPr>
                      <m:t>到</m:t>
                    </m:r>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𝑏</m:t>
                    </m:r>
                  </m:oMath>
                </a14:m>
                <a:r>
                  <a:rPr lang="zh-CN" altLang="en-US" sz="2400" dirty="0"/>
                  <a:t>是当前基本可行解</a:t>
                </a:r>
                <a14:m>
                  <m:oMath xmlns:m="http://schemas.openxmlformats.org/officeDocument/2006/math">
                    <m:d>
                      <m:dPr>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𝑏</m:t>
                        </m:r>
                        <m:r>
                          <a:rPr lang="en-US" altLang="zh-CN" sz="2400" i="1">
                            <a:latin typeface="Cambria Math" panose="02040503050406030204"/>
                          </a:rPr>
                          <m:t>,0</m:t>
                        </m:r>
                      </m:e>
                    </m:d>
                  </m:oMath>
                </a14:m>
                <a:r>
                  <a:rPr lang="zh-CN" altLang="en-US" sz="2400" dirty="0"/>
                  <a:t>的目标函数值，若</a:t>
                </a:r>
                <a14:m>
                  <m:oMath xmlns:m="http://schemas.openxmlformats.org/officeDocument/2006/math">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𝑁</m:t>
                        </m:r>
                      </m:sub>
                    </m:sSub>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𝑁</m:t>
                    </m:r>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oMath>
                </a14:m>
                <a:r>
                  <a:rPr lang="zh-CN" altLang="en-US" sz="2400" dirty="0"/>
                  <a:t>为非负值，则找到最优解；若</a:t>
                </a:r>
                <a14:m>
                  <m:oMath xmlns:m="http://schemas.openxmlformats.org/officeDocument/2006/math">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𝑁</m:t>
                        </m:r>
                      </m:sub>
                    </m:sSub>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𝑐</m:t>
                        </m:r>
                      </m:e>
                      <m:sub>
                        <m:r>
                          <a:rPr lang="en-US" altLang="zh-CN" sz="2400" i="1">
                            <a:latin typeface="Cambria Math" panose="02040503050406030204"/>
                          </a:rPr>
                          <m:t>𝐵</m:t>
                        </m:r>
                      </m:sub>
                    </m:sSub>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𝑁</m:t>
                    </m:r>
                    <m:r>
                      <a:rPr lang="en-US" altLang="zh-CN" sz="2400" i="1">
                        <a:latin typeface="Cambria Math" panose="02040503050406030204"/>
                      </a:rPr>
                      <m:t>)</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oMath>
                </a14:m>
                <a:r>
                  <a:rPr lang="zh-CN" altLang="en-US" sz="2400" dirty="0"/>
                  <a:t>为负值，则当前基本可行解不是最优解。</a:t>
                </a:r>
              </a:p>
            </p:txBody>
          </p:sp>
        </mc:Choice>
        <mc:Fallback xmlns="">
          <p:sp>
            <p:nvSpPr>
              <p:cNvPr id="2" name="文本框 1"/>
              <p:cNvSpPr txBox="1">
                <a:spLocks noRot="1" noChangeAspect="1" noMove="1" noResize="1" noEditPoints="1" noAdjustHandles="1" noChangeArrowheads="1" noChangeShapeType="1" noTextEdit="1"/>
              </p:cNvSpPr>
              <p:nvPr/>
            </p:nvSpPr>
            <p:spPr>
              <a:xfrm>
                <a:off x="524870" y="213584"/>
                <a:ext cx="11017224" cy="1691104"/>
              </a:xfrm>
              <a:prstGeom prst="rect">
                <a:avLst/>
              </a:prstGeom>
              <a:blipFill rotWithShape="1">
                <a:blip r:embed="rId4"/>
                <a:stretch>
                  <a:fillRect l="-263" t="-1703" r="-256" b="-3398"/>
                </a:stretch>
              </a:blipFill>
              <a:ln w="57150">
                <a:solidFill>
                  <a:schemeClr val="accent2"/>
                </a:solidFill>
              </a:ln>
            </p:spPr>
            <p:txBody>
              <a:bodyPr/>
              <a:lstStyle/>
              <a:p>
                <a:r>
                  <a:rPr lang="zh-CN" altLang="en-US">
                    <a:noFill/>
                  </a:rPr>
                  <a:t> </a:t>
                </a:r>
              </a:p>
            </p:txBody>
          </p:sp>
        </mc:Fallback>
      </mc:AlternateContent>
      <p:sp>
        <p:nvSpPr>
          <p:cNvPr id="3" name="文本框 2"/>
          <p:cNvSpPr txBox="1"/>
          <p:nvPr/>
        </p:nvSpPr>
        <p:spPr>
          <a:xfrm>
            <a:off x="6960096" y="3356992"/>
            <a:ext cx="5040560" cy="461665"/>
          </a:xfrm>
          <a:prstGeom prst="rect">
            <a:avLst/>
          </a:prstGeom>
          <a:noFill/>
        </p:spPr>
        <p:txBody>
          <a:bodyPr wrap="square" rtlCol="0">
            <a:spAutoFit/>
          </a:bodyPr>
          <a:lstStyle/>
          <a:p>
            <a:r>
              <a:rPr lang="zh-CN" altLang="en-US" sz="2400" b="1" dirty="0">
                <a:solidFill>
                  <a:srgbClr val="0070C0"/>
                </a:solidFill>
              </a:rPr>
              <a:t>基变量对应的检验数是多少呢？</a:t>
            </a:r>
          </a:p>
        </p:txBody>
      </p:sp>
      <mc:AlternateContent xmlns:mc="http://schemas.openxmlformats.org/markup-compatibility/2006" xmlns:a14="http://schemas.microsoft.com/office/drawing/2010/main">
        <mc:Choice Requires="a14">
          <p:sp>
            <p:nvSpPr>
              <p:cNvPr id="12" name="TextBox 11"/>
              <p:cNvSpPr txBox="1"/>
              <p:nvPr/>
            </p:nvSpPr>
            <p:spPr>
              <a:xfrm>
                <a:off x="920914" y="5277924"/>
                <a:ext cx="10225136" cy="1174873"/>
              </a:xfrm>
              <a:prstGeom prst="rect">
                <a:avLst/>
              </a:prstGeom>
              <a:noFill/>
            </p:spPr>
            <p:txBody>
              <a:bodyPr wrap="square">
                <a:spAutoFit/>
              </a:bodyPr>
              <a:lstStyle/>
              <a:p>
                <a:pPr indent="609600">
                  <a:lnSpc>
                    <a:spcPct val="150000"/>
                  </a:lnSpc>
                  <a:spcBef>
                    <a:spcPts val="600"/>
                  </a:spcBef>
                  <a:spcAft>
                    <a:spcPts val="600"/>
                  </a:spcAft>
                </a:pPr>
                <a:r>
                  <a:rPr lang="zh-CN" altLang="en-US" sz="2400" b="1" dirty="0">
                    <a:latin typeface="Times New Roman" panose="02020603050405020304" pitchFamily="18" charset="0"/>
                    <a:ea typeface="宋体" panose="02010600030101010101" pitchFamily="2" charset="-122"/>
                  </a:rPr>
                  <a:t>定理</a:t>
                </a:r>
                <a:r>
                  <a:rPr lang="en-US" altLang="zh-CN" sz="2400" b="1" dirty="0">
                    <a:latin typeface="Times New Roman" panose="02020603050405020304" pitchFamily="18" charset="0"/>
                    <a:ea typeface="宋体" panose="02010600030101010101" pitchFamily="2" charset="-122"/>
                  </a:rPr>
                  <a:t>2-</a:t>
                </a:r>
                <a:r>
                  <a:rPr lang="en-US" sz="2400" b="1" dirty="0">
                    <a:latin typeface="宋体" panose="02010600030101010101" pitchFamily="2" charset="-122"/>
                    <a:ea typeface="Times New Roman" panose="02020603050405020304" pitchFamily="18" charset="0"/>
                  </a:rPr>
                  <a:t>1</a:t>
                </a:r>
                <a:r>
                  <a:rPr lang="zh-CN" altLang="en-US" sz="2400" dirty="0">
                    <a:latin typeface="宋体" panose="02010600030101010101" pitchFamily="2" charset="-122"/>
                    <a:ea typeface="Times New Roman" panose="02020603050405020304" pitchFamily="18" charset="0"/>
                  </a:rPr>
                  <a:t>：若当前基本可行解</a:t>
                </a:r>
                <a14:m>
                  <m:oMath xmlns:m="http://schemas.openxmlformats.org/officeDocument/2006/math">
                    <m:acc>
                      <m:accPr>
                        <m:chr m:val="̅"/>
                        <m:ctrlPr>
                          <a:rPr lang="en-US" sz="2400" i="1">
                            <a:latin typeface="Cambria Math" panose="02040503050406030204" pitchFamily="18" charset="0"/>
                            <a:ea typeface="宋体" panose="02010600030101010101" pitchFamily="2" charset="-122"/>
                          </a:rPr>
                        </m:ctrlPr>
                      </m:accPr>
                      <m:e>
                        <m:r>
                          <a:rPr lang="en-US" sz="2400" i="1">
                            <a:latin typeface="Cambria Math" panose="02040503050406030204" pitchFamily="18" charset="0"/>
                            <a:ea typeface="宋体" panose="02010600030101010101" pitchFamily="2" charset="-122"/>
                          </a:rPr>
                          <m:t>𝑥</m:t>
                        </m:r>
                      </m:e>
                    </m:acc>
                  </m:oMath>
                </a14:m>
                <a:r>
                  <a:rPr lang="zh-CN" altLang="en-US" sz="2400" dirty="0">
                    <a:latin typeface="Times New Roman" panose="02020603050405020304" pitchFamily="18" charset="0"/>
                    <a:ea typeface="宋体" panose="02010600030101010101" pitchFamily="2" charset="-122"/>
                  </a:rPr>
                  <a:t>的所有非基变量的检验数</a:t>
                </a:r>
                <a14:m>
                  <m:oMath xmlns:m="http://schemas.openxmlformats.org/officeDocument/2006/math">
                    <m:sSub>
                      <m:sSubPr>
                        <m:ctrlPr>
                          <a:rPr lang="en-US" sz="2400" i="1">
                            <a:latin typeface="Cambria Math" panose="02040503050406030204" pitchFamily="18" charset="0"/>
                            <a:ea typeface="宋体" panose="02010600030101010101" pitchFamily="2" charset="-122"/>
                          </a:rPr>
                        </m:ctrlPr>
                      </m:sSubPr>
                      <m:e>
                        <m:r>
                          <a:rPr lang="en-US" sz="2400" i="1">
                            <a:latin typeface="Cambria Math" panose="02040503050406030204" pitchFamily="18" charset="0"/>
                            <a:ea typeface="宋体" panose="02010600030101010101" pitchFamily="2" charset="-122"/>
                          </a:rPr>
                          <m:t>𝜎</m:t>
                        </m:r>
                      </m:e>
                      <m:sub>
                        <m:r>
                          <a:rPr lang="en-US" sz="2400" i="1">
                            <a:latin typeface="Cambria Math" panose="02040503050406030204" pitchFamily="18" charset="0"/>
                            <a:ea typeface="宋体" panose="02010600030101010101" pitchFamily="2" charset="-122"/>
                          </a:rPr>
                          <m:t>𝑗</m:t>
                        </m:r>
                      </m:sub>
                    </m:sSub>
                    <m:r>
                      <a:rPr lang="en-US" sz="2400" i="1">
                        <a:latin typeface="Cambria Math" panose="02040503050406030204" pitchFamily="18" charset="0"/>
                        <a:ea typeface="宋体" panose="02010600030101010101" pitchFamily="2" charset="-122"/>
                      </a:rPr>
                      <m:t>≥0,</m:t>
                    </m:r>
                    <m:r>
                      <a:rPr lang="en-US" sz="2400" i="1">
                        <a:latin typeface="Cambria Math" panose="02040503050406030204" pitchFamily="18" charset="0"/>
                        <a:ea typeface="宋体" panose="02010600030101010101" pitchFamily="2" charset="-122"/>
                      </a:rPr>
                      <m:t>𝑗</m:t>
                    </m:r>
                    <m:r>
                      <a:rPr lang="en-US" sz="2400" i="1">
                        <a:latin typeface="Cambria Math" panose="02040503050406030204" pitchFamily="18" charset="0"/>
                        <a:ea typeface="宋体" panose="02010600030101010101" pitchFamily="2" charset="-122"/>
                      </a:rPr>
                      <m:t>∈</m:t>
                    </m:r>
                    <m:sSub>
                      <m:sSubPr>
                        <m:ctrlPr>
                          <a:rPr lang="en-US" sz="2400" i="1">
                            <a:latin typeface="Cambria Math" panose="02040503050406030204" pitchFamily="18" charset="0"/>
                            <a:ea typeface="宋体" panose="02010600030101010101" pitchFamily="2" charset="-122"/>
                          </a:rPr>
                        </m:ctrlPr>
                      </m:sSubPr>
                      <m:e>
                        <m:r>
                          <a:rPr lang="en-US" sz="2400" i="1">
                            <a:latin typeface="Cambria Math" panose="02040503050406030204" pitchFamily="18" charset="0"/>
                            <a:ea typeface="宋体" panose="02010600030101010101" pitchFamily="2" charset="-122"/>
                          </a:rPr>
                          <m:t>𝐽</m:t>
                        </m:r>
                      </m:e>
                      <m:sub>
                        <m:r>
                          <a:rPr lang="en-US" sz="2400" i="1">
                            <a:latin typeface="Cambria Math" panose="02040503050406030204" pitchFamily="18" charset="0"/>
                            <a:ea typeface="宋体" panose="02010600030101010101" pitchFamily="2" charset="-122"/>
                          </a:rPr>
                          <m:t>𝑁</m:t>
                        </m:r>
                      </m:sub>
                    </m:sSub>
                  </m:oMath>
                </a14:m>
                <a:r>
                  <a:rPr lang="zh-CN" altLang="en-US" sz="2400" dirty="0">
                    <a:latin typeface="Times New Roman" panose="02020603050405020304" pitchFamily="18" charset="0"/>
                    <a:ea typeface="宋体" panose="02010600030101010101" pitchFamily="2" charset="-122"/>
                  </a:rPr>
                  <a:t>，则基本可行解</a:t>
                </a:r>
                <a14:m>
                  <m:oMath xmlns:m="http://schemas.openxmlformats.org/officeDocument/2006/math">
                    <m:acc>
                      <m:accPr>
                        <m:chr m:val="̅"/>
                        <m:ctrlPr>
                          <a:rPr lang="en-US" sz="2400" i="1">
                            <a:latin typeface="Cambria Math" panose="02040503050406030204" pitchFamily="18" charset="0"/>
                            <a:ea typeface="宋体" panose="02010600030101010101" pitchFamily="2" charset="-122"/>
                          </a:rPr>
                        </m:ctrlPr>
                      </m:accPr>
                      <m:e>
                        <m:r>
                          <a:rPr lang="en-US" sz="2400" i="1">
                            <a:latin typeface="Cambria Math" panose="02040503050406030204" pitchFamily="18" charset="0"/>
                            <a:ea typeface="宋体" panose="02010600030101010101" pitchFamily="2" charset="-122"/>
                          </a:rPr>
                          <m:t>𝑥</m:t>
                        </m:r>
                      </m:e>
                    </m:acc>
                  </m:oMath>
                </a14:m>
                <a:r>
                  <a:rPr lang="zh-CN" altLang="en-US" sz="2400" dirty="0">
                    <a:latin typeface="Times New Roman" panose="02020603050405020304" pitchFamily="18" charset="0"/>
                    <a:ea typeface="宋体" panose="02010600030101010101" pitchFamily="2" charset="-122"/>
                  </a:rPr>
                  <a:t>为线性规划</a:t>
                </a:r>
                <a:r>
                  <a:rPr lang="en-US" sz="2400" dirty="0">
                    <a:latin typeface="宋体" panose="02010600030101010101" pitchFamily="2" charset="-122"/>
                    <a:ea typeface="Times New Roman" panose="02020603050405020304" pitchFamily="18" charset="0"/>
                  </a:rPr>
                  <a:t>(LP)</a:t>
                </a:r>
                <a:r>
                  <a:rPr lang="zh-CN" altLang="en-US" sz="2400" dirty="0">
                    <a:latin typeface="Times New Roman" panose="02020603050405020304" pitchFamily="18" charset="0"/>
                    <a:ea typeface="宋体" panose="02010600030101010101" pitchFamily="2" charset="-122"/>
                  </a:rPr>
                  <a:t>的最优解。</a:t>
                </a:r>
                <a:endParaRPr lang="en-US" sz="1200" dirty="0">
                  <a:latin typeface="Times New Roman" panose="02020603050405020304" pitchFamily="18" charset="0"/>
                  <a:ea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920914" y="5277924"/>
                <a:ext cx="10225136" cy="1174873"/>
              </a:xfrm>
              <a:prstGeom prst="rect">
                <a:avLst/>
              </a:prstGeom>
              <a:blipFill rotWithShape="1">
                <a:blip r:embed="rId5"/>
                <a:stretch>
                  <a:fillRect l="-2" t="-37" r="5" b="4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nvSpPr>
            <p:spPr>
              <a:xfrm>
                <a:off x="1271464" y="804426"/>
                <a:ext cx="8102600" cy="2009589"/>
              </a:xfrm>
              <a:prstGeom prst="rect">
                <a:avLst/>
              </a:prstGeom>
              <a:solidFill>
                <a:schemeClr val="accent5">
                  <a:lumMod val="40000"/>
                  <a:lumOff val="60000"/>
                </a:schemeClr>
              </a:solidFill>
            </p:spPr>
            <p:txBody>
              <a:bodyPr wrap="square">
                <a:spAutoFit/>
              </a:bodyPr>
              <a:lstStyle/>
              <a:p>
                <a:pPr>
                  <a:lnSpc>
                    <a:spcPct val="150000"/>
                  </a:lnSpc>
                  <a:defRPr/>
                </a:pPr>
                <a:r>
                  <a:rPr lang="zh-CN" altLang="en-US" sz="2800" dirty="0"/>
                  <a:t>解的判别：</a:t>
                </a:r>
              </a:p>
              <a:p>
                <a:pPr>
                  <a:lnSpc>
                    <a:spcPct val="150000"/>
                  </a:lnSpc>
                  <a:defRPr/>
                </a:pPr>
                <a:r>
                  <a:rPr lang="zh-CN" altLang="en-US" sz="2800" dirty="0"/>
                  <a:t>      若</a:t>
                </a:r>
                <a14:m>
                  <m:oMath xmlns:m="http://schemas.openxmlformats.org/officeDocument/2006/math">
                    <m:sSub>
                      <m:sSubPr>
                        <m:ctrlPr>
                          <a:rPr lang="en-US" altLang="zh-CN" sz="2800" i="1">
                            <a:latin typeface="Cambria Math" panose="02040503050406030204" pitchFamily="18" charset="0"/>
                          </a:rPr>
                        </m:ctrlPr>
                      </m:sSubPr>
                      <m:e>
                        <m:r>
                          <a:rPr lang="zh-CN" altLang="en-US" sz="2800" i="1">
                            <a:latin typeface="Cambria Math" panose="02040503050406030204" pitchFamily="18" charset="0"/>
                          </a:rPr>
                          <m:t>𝜎</m:t>
                        </m:r>
                      </m:e>
                      <m:sub>
                        <m:r>
                          <a:rPr lang="en-US" altLang="zh-CN" sz="2800" i="1">
                            <a:latin typeface="Cambria Math" panose="02040503050406030204" pitchFamily="18" charset="0"/>
                          </a:rPr>
                          <m:t>𝑗</m:t>
                        </m:r>
                      </m:sub>
                    </m:sSub>
                    <m:r>
                      <a:rPr lang="en-US" altLang="zh-CN" sz="2800" i="1">
                        <a:latin typeface="Cambria Math" panose="02040503050406030204" pitchFamily="18" charset="0"/>
                        <a:ea typeface="Cambria Math" panose="02040503050406030204" pitchFamily="18" charset="0"/>
                      </a:rPr>
                      <m:t>≥0, </m:t>
                    </m:r>
                    <m:r>
                      <a:rPr lang="en-US" altLang="zh-CN" sz="2800" i="1">
                        <a:latin typeface="Cambria Math" panose="02040503050406030204" pitchFamily="18" charset="0"/>
                        <a:ea typeface="Cambria Math" panose="02040503050406030204" pitchFamily="18" charset="0"/>
                      </a:rPr>
                      <m:t>𝑗</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𝐽</m:t>
                        </m:r>
                      </m:e>
                      <m:sub>
                        <m:r>
                          <a:rPr lang="en-US" altLang="zh-CN" sz="2800" i="1">
                            <a:latin typeface="Cambria Math" panose="02040503050406030204" pitchFamily="18" charset="0"/>
                            <a:ea typeface="Cambria Math" panose="02040503050406030204" pitchFamily="18" charset="0"/>
                          </a:rPr>
                          <m:t>𝑁</m:t>
                        </m:r>
                      </m:sub>
                    </m:sSub>
                  </m:oMath>
                </a14:m>
                <a:r>
                  <a:rPr lang="zh-CN" altLang="en-US" sz="2800" dirty="0"/>
                  <a:t> ，则此时的基本可行解为最优解。否则，转下一步。</a:t>
                </a:r>
                <a:endParaRPr lang="en-US" altLang="zh-CN" sz="2800" dirty="0"/>
              </a:p>
            </p:txBody>
          </p:sp>
        </mc:Choice>
        <mc:Fallback xmlns="">
          <p:sp>
            <p:nvSpPr>
              <p:cNvPr id="5" name="文本框 4"/>
              <p:cNvSpPr txBox="1">
                <a:spLocks noRot="1" noChangeAspect="1" noMove="1" noResize="1" noEditPoints="1" noAdjustHandles="1" noChangeArrowheads="1" noChangeShapeType="1" noTextEdit="1"/>
              </p:cNvSpPr>
              <p:nvPr/>
            </p:nvSpPr>
            <p:spPr>
              <a:xfrm>
                <a:off x="1271464" y="804426"/>
                <a:ext cx="8102600" cy="2009589"/>
              </a:xfrm>
              <a:prstGeom prst="rect">
                <a:avLst/>
              </a:prstGeom>
              <a:blipFill rotWithShape="1">
                <a:blip r:embed="rId2"/>
                <a:stretch>
                  <a:fillRect l="-2" t="-26" r="2" b="16"/>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nvSpPr>
            <p:spPr>
              <a:xfrm>
                <a:off x="1176330" y="1133236"/>
                <a:ext cx="9577064" cy="708143"/>
              </a:xfrm>
              <a:prstGeom prst="rect">
                <a:avLst/>
              </a:prstGeom>
              <a:noFill/>
            </p:spPr>
            <p:txBody>
              <a:bodyPr wrap="square">
                <a:spAutoFit/>
              </a:bodyPr>
              <a:lstStyle/>
              <a:p>
                <a14:m>
                  <m:oMath xmlns:m="http://schemas.openxmlformats.org/officeDocument/2006/math">
                    <m:d>
                      <m:dPr>
                        <m:ctrlPr>
                          <a:rPr lang="en-US" altLang="zh-CN" sz="2400" b="0" i="1" smtClean="0">
                            <a:effectLst/>
                            <a:latin typeface="Cambria Math" panose="02040503050406030204" pitchFamily="18" charset="0"/>
                            <a:ea typeface="宋体" panose="02010600030101010101" pitchFamily="2" charset="-122"/>
                          </a:rPr>
                        </m:ctrlPr>
                      </m:dPr>
                      <m:e>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r>
                                <a:rPr lang="en-US" altLang="zh-CN" sz="2400" i="1">
                                  <a:latin typeface="Cambria Math" panose="02040503050406030204" pitchFamily="18" charset="0"/>
                                  <a:ea typeface="宋体" panose="02010600030101010101" pitchFamily="2" charset="-122"/>
                                </a:rPr>
                                <m:t>1</m:t>
                              </m:r>
                            </m:e>
                            <m:e>
                              <m:r>
                                <a:rPr lang="en-US" altLang="zh-CN" sz="2400" i="1">
                                  <a:latin typeface="Cambria Math" panose="02040503050406030204" pitchFamily="18" charset="0"/>
                                  <a:ea typeface="宋体" panose="02010600030101010101" pitchFamily="2" charset="-122"/>
                                </a:rPr>
                                <m:t>2</m:t>
                              </m:r>
                            </m:e>
                          </m:mr>
                          <m:mr>
                            <m:e>
                              <m:r>
                                <a:rPr lang="en-US" altLang="zh-CN" sz="2400" i="1">
                                  <a:latin typeface="Cambria Math" panose="02040503050406030204" pitchFamily="18" charset="0"/>
                                  <a:ea typeface="宋体" panose="02010600030101010101" pitchFamily="2" charset="-122"/>
                                </a:rPr>
                                <m:t>2</m:t>
                              </m:r>
                            </m:e>
                            <m:e>
                              <m:r>
                                <a:rPr lang="en-US" altLang="zh-CN" sz="2400" i="1">
                                  <a:latin typeface="Cambria Math" panose="02040503050406030204" pitchFamily="18" charset="0"/>
                                  <a:ea typeface="宋体" panose="02010600030101010101" pitchFamily="2" charset="-122"/>
                                </a:rPr>
                                <m:t>3</m:t>
                              </m:r>
                            </m:e>
                          </m:mr>
                        </m:m>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r>
                                <a:rPr lang="en-US" altLang="zh-CN" sz="2400" i="1">
                                  <a:latin typeface="Cambria Math" panose="02040503050406030204" pitchFamily="18" charset="0"/>
                                  <a:ea typeface="宋体" panose="02010600030101010101" pitchFamily="2" charset="-122"/>
                                </a:rPr>
                                <m:t>    1</m:t>
                              </m:r>
                            </m:e>
                            <m:e>
                              <m:r>
                                <a:rPr lang="en-US" altLang="zh-CN" sz="2400" i="1">
                                  <a:latin typeface="Cambria Math" panose="02040503050406030204" pitchFamily="18" charset="0"/>
                                  <a:ea typeface="宋体" panose="02010600030101010101" pitchFamily="2" charset="-122"/>
                                </a:rPr>
                                <m:t>0</m:t>
                              </m:r>
                            </m:e>
                          </m:mr>
                          <m:mr>
                            <m:e>
                              <m:r>
                                <a:rPr lang="en-US" altLang="zh-CN" sz="2400" i="1">
                                  <a:latin typeface="Cambria Math" panose="02040503050406030204" pitchFamily="18" charset="0"/>
                                  <a:ea typeface="宋体" panose="02010600030101010101" pitchFamily="2" charset="-122"/>
                                </a:rPr>
                                <m:t>    0</m:t>
                              </m:r>
                            </m:e>
                            <m:e>
                              <m:r>
                                <a:rPr lang="en-US" altLang="zh-CN" sz="2400" i="1">
                                  <a:latin typeface="Cambria Math" panose="02040503050406030204" pitchFamily="18" charset="0"/>
                                  <a:ea typeface="宋体" panose="02010600030101010101" pitchFamily="2" charset="-122"/>
                                </a:rPr>
                                <m:t>1</m:t>
                              </m:r>
                            </m:e>
                          </m:mr>
                        </m:m>
                      </m:e>
                    </m:d>
                    <m:r>
                      <a:rPr lang="en-US" altLang="zh-CN" sz="2400" b="0" i="1" smtClean="0">
                        <a:latin typeface="Cambria Math" panose="02040503050406030204" pitchFamily="18" charset="0"/>
                        <a:ea typeface="宋体" panose="02010600030101010101" pitchFamily="2" charset="-122"/>
                      </a:rPr>
                      <m:t>𝑥</m:t>
                    </m:r>
                    <m:r>
                      <a:rPr lang="en-US" altLang="zh-CN" sz="2400" b="0" i="1" smtClean="0">
                        <a:latin typeface="Cambria Math" panose="02040503050406030204" pitchFamily="18" charset="0"/>
                        <a:ea typeface="宋体" panose="02010600030101010101" pitchFamily="2" charset="-122"/>
                      </a:rPr>
                      <m:t>=</m:t>
                    </m:r>
                    <m:d>
                      <m:dPr>
                        <m:ctrlPr>
                          <a:rPr lang="en-US" altLang="zh-CN" sz="2400" b="0" i="1" smtClean="0">
                            <a:latin typeface="Cambria Math" panose="02040503050406030204" pitchFamily="18" charset="0"/>
                            <a:ea typeface="宋体" panose="02010600030101010101" pitchFamily="2" charset="-122"/>
                          </a:rPr>
                        </m:ctrlPr>
                      </m:dPr>
                      <m:e>
                        <m:m>
                          <m:mPr>
                            <m:mcs>
                              <m:mc>
                                <m:mcPr>
                                  <m:count m:val="1"/>
                                  <m:mcJc m:val="center"/>
                                </m:mcPr>
                              </m:mc>
                            </m:mcs>
                            <m:ctrlPr>
                              <a:rPr lang="en-US" altLang="zh-CN" sz="2400" b="0" i="1" smtClean="0">
                                <a:latin typeface="Cambria Math" panose="02040503050406030204" pitchFamily="18" charset="0"/>
                                <a:ea typeface="宋体" panose="02010600030101010101" pitchFamily="2" charset="-122"/>
                              </a:rPr>
                            </m:ctrlPr>
                          </m:mPr>
                          <m:mr>
                            <m:e>
                              <m:r>
                                <m:rPr>
                                  <m:brk m:alnAt="7"/>
                                </m:rPr>
                                <a:rPr lang="en-US" altLang="zh-CN" sz="2400" b="0" i="1" smtClean="0">
                                  <a:latin typeface="Cambria Math" panose="02040503050406030204" pitchFamily="18" charset="0"/>
                                  <a:ea typeface="宋体" panose="02010600030101010101" pitchFamily="2" charset="-122"/>
                                </a:rPr>
                                <m:t>3</m:t>
                              </m:r>
                            </m:e>
                          </m:mr>
                          <m:mr>
                            <m:e>
                              <m:r>
                                <a:rPr lang="en-US" altLang="zh-CN" sz="2400" b="0" i="1" smtClean="0">
                                  <a:latin typeface="Cambria Math" panose="02040503050406030204" pitchFamily="18" charset="0"/>
                                  <a:ea typeface="宋体" panose="02010600030101010101" pitchFamily="2" charset="-122"/>
                                </a:rPr>
                                <m:t>4</m:t>
                              </m:r>
                            </m:e>
                          </m:mr>
                        </m:m>
                      </m:e>
                    </m:d>
                  </m:oMath>
                </a14:m>
                <a:r>
                  <a:rPr lang="zh-CN" altLang="en-US" sz="2400" dirty="0"/>
                  <a:t>                          </a:t>
                </a:r>
                <a14:m>
                  <m:oMath xmlns:m="http://schemas.openxmlformats.org/officeDocument/2006/math">
                    <m:d>
                      <m:dPr>
                        <m:ctrlPr>
                          <a:rPr lang="en-US" altLang="zh-CN" sz="2400" i="1">
                            <a:latin typeface="Cambria Math" panose="02040503050406030204" pitchFamily="18" charset="0"/>
                            <a:ea typeface="宋体" panose="02010600030101010101" pitchFamily="2" charset="-122"/>
                          </a:rPr>
                        </m:ctrlPr>
                      </m:dPr>
                      <m:e>
                        <m:m>
                          <m:mPr>
                            <m:mcs>
                              <m:mc>
                                <m:mcPr>
                                  <m:count m:val="3"/>
                                  <m:mcJc m:val="center"/>
                                </m:mcPr>
                              </m:mc>
                            </m:mcs>
                            <m:ctrlPr>
                              <a:rPr lang="en-US" altLang="zh-CN" sz="2400" i="1" smtClean="0">
                                <a:latin typeface="Cambria Math" panose="02040503050406030204" pitchFamily="18" charset="0"/>
                                <a:ea typeface="宋体" panose="02010600030101010101" pitchFamily="2" charset="-122"/>
                              </a:rPr>
                            </m:ctrlPr>
                          </m:mPr>
                          <m:mr>
                            <m:e>
                              <m:r>
                                <m:rPr>
                                  <m:brk m:alnAt="7"/>
                                </m:rPr>
                                <a:rPr lang="en-US" altLang="zh-CN" sz="2400" b="0" i="1" smtClean="0">
                                  <a:latin typeface="Cambria Math" panose="02040503050406030204" pitchFamily="18" charset="0"/>
                                  <a:ea typeface="宋体" panose="02010600030101010101" pitchFamily="2" charset="-122"/>
                                </a:rPr>
                                <m:t>1</m:t>
                              </m:r>
                            </m:e>
                            <m:e>
                              <m:r>
                                <a:rPr lang="en-US" altLang="zh-CN" sz="2400" b="0" i="1" smtClean="0">
                                  <a:latin typeface="Cambria Math" panose="02040503050406030204" pitchFamily="18" charset="0"/>
                                  <a:ea typeface="宋体" panose="02010600030101010101" pitchFamily="2" charset="-122"/>
                                </a:rPr>
                                <m:t>2</m:t>
                              </m:r>
                            </m:e>
                            <m:e>
                              <m:r>
                                <a:rPr lang="en-US" altLang="zh-CN" sz="2400" b="0" i="1" smtClean="0">
                                  <a:solidFill>
                                    <a:srgbClr val="FF0000"/>
                                  </a:solidFill>
                                  <a:latin typeface="Cambria Math" panose="02040503050406030204" pitchFamily="18" charset="0"/>
                                  <a:ea typeface="宋体" panose="02010600030101010101" pitchFamily="2" charset="-122"/>
                                </a:rPr>
                                <m:t>1</m:t>
                              </m:r>
                              <m:r>
                                <a:rPr lang="en-US" altLang="zh-CN" sz="2400" b="0" i="1" smtClean="0">
                                  <a:latin typeface="Cambria Math" panose="02040503050406030204" pitchFamily="18" charset="0"/>
                                  <a:ea typeface="宋体" panose="02010600030101010101" pitchFamily="2" charset="-122"/>
                                </a:rPr>
                                <m:t>   </m:t>
                              </m:r>
                            </m:e>
                          </m:mr>
                          <m:mr>
                            <m:e>
                              <m:r>
                                <a:rPr lang="en-US" altLang="zh-CN" sz="2400" b="0" i="1" smtClean="0">
                                  <a:latin typeface="Cambria Math" panose="02040503050406030204" pitchFamily="18" charset="0"/>
                                  <a:ea typeface="宋体" panose="02010600030101010101" pitchFamily="2" charset="-122"/>
                                </a:rPr>
                                <m:t>2</m:t>
                              </m:r>
                            </m:e>
                            <m:e>
                              <m:r>
                                <a:rPr lang="en-US" altLang="zh-CN" sz="2400" b="0" i="1" smtClean="0">
                                  <a:latin typeface="Cambria Math" panose="02040503050406030204" pitchFamily="18" charset="0"/>
                                  <a:ea typeface="宋体" panose="02010600030101010101" pitchFamily="2" charset="-122"/>
                                </a:rPr>
                                <m:t>3</m:t>
                              </m:r>
                            </m:e>
                            <m:e>
                              <m:r>
                                <a:rPr lang="en-US" altLang="zh-CN" sz="2400" b="0" i="1" smtClean="0">
                                  <a:solidFill>
                                    <a:srgbClr val="FF0000"/>
                                  </a:solidFill>
                                  <a:latin typeface="Cambria Math" panose="02040503050406030204" pitchFamily="18" charset="0"/>
                                  <a:ea typeface="宋体" panose="02010600030101010101" pitchFamily="2" charset="-122"/>
                                </a:rPr>
                                <m:t>0</m:t>
                              </m:r>
                              <m:r>
                                <a:rPr lang="en-US" altLang="zh-CN" sz="2400" b="0" i="1" smtClean="0">
                                  <a:latin typeface="Cambria Math" panose="02040503050406030204" pitchFamily="18" charset="0"/>
                                  <a:ea typeface="宋体" panose="02010600030101010101" pitchFamily="2" charset="-122"/>
                                </a:rPr>
                                <m:t>   </m:t>
                              </m:r>
                            </m:e>
                          </m:mr>
                        </m:m>
                        <m:m>
                          <m:mPr>
                            <m:mcs>
                              <m:mc>
                                <m:mcPr>
                                  <m:count m:val="2"/>
                                  <m:mcJc m:val="center"/>
                                </m:mcPr>
                              </m:mc>
                            </m:mcs>
                            <m:ctrlPr>
                              <a:rPr lang="en-US" altLang="zh-CN" sz="2400" i="1" smtClean="0">
                                <a:latin typeface="Cambria Math" panose="02040503050406030204" pitchFamily="18" charset="0"/>
                                <a:ea typeface="宋体" panose="02010600030101010101" pitchFamily="2" charset="-122"/>
                              </a:rPr>
                            </m:ctrlPr>
                          </m:mPr>
                          <m:mr>
                            <m:e>
                              <m:r>
                                <m:rPr>
                                  <m:brk m:alnAt="7"/>
                                </m:rPr>
                                <a:rPr lang="en-US" altLang="zh-CN" sz="2400" b="0" i="1" smtClean="0">
                                  <a:solidFill>
                                    <a:srgbClr val="FF0000"/>
                                  </a:solidFill>
                                  <a:latin typeface="Cambria Math" panose="02040503050406030204" pitchFamily="18" charset="0"/>
                                  <a:ea typeface="宋体" panose="02010600030101010101" pitchFamily="2" charset="-122"/>
                                </a:rPr>
                                <m:t>0</m:t>
                              </m:r>
                            </m:e>
                            <m:e>
                              <m:r>
                                <a:rPr lang="en-US" altLang="zh-CN" sz="2400" b="0" i="1" smtClean="0">
                                  <a:latin typeface="Cambria Math" panose="02040503050406030204" pitchFamily="18" charset="0"/>
                                  <a:ea typeface="宋体" panose="02010600030101010101" pitchFamily="2" charset="-122"/>
                                </a:rPr>
                                <m:t>3</m:t>
                              </m:r>
                            </m:e>
                          </m:mr>
                          <m:mr>
                            <m:e>
                              <m:r>
                                <a:rPr lang="en-US" altLang="zh-CN" sz="2400" b="0" i="1" smtClean="0">
                                  <a:solidFill>
                                    <a:srgbClr val="FF0000"/>
                                  </a:solidFill>
                                  <a:latin typeface="Cambria Math" panose="02040503050406030204" pitchFamily="18" charset="0"/>
                                  <a:ea typeface="宋体" panose="02010600030101010101" pitchFamily="2" charset="-122"/>
                                </a:rPr>
                                <m:t>1</m:t>
                              </m:r>
                            </m:e>
                            <m:e>
                              <m:r>
                                <a:rPr lang="en-US" altLang="zh-CN" sz="2400" b="0" i="1" smtClean="0">
                                  <a:latin typeface="Cambria Math" panose="02040503050406030204" pitchFamily="18" charset="0"/>
                                  <a:ea typeface="宋体" panose="02010600030101010101" pitchFamily="2" charset="-122"/>
                                </a:rPr>
                                <m:t>4</m:t>
                              </m:r>
                            </m:e>
                          </m:mr>
                        </m:m>
                      </m:e>
                    </m:d>
                  </m:oMath>
                </a14:m>
                <a:r>
                  <a:rPr lang="zh-CN" altLang="en-US" sz="2400" dirty="0"/>
                  <a:t>         </a:t>
                </a:r>
              </a:p>
            </p:txBody>
          </p:sp>
        </mc:Choice>
        <mc:Fallback xmlns="">
          <p:sp>
            <p:nvSpPr>
              <p:cNvPr id="5" name="文本框 4"/>
              <p:cNvSpPr txBox="1">
                <a:spLocks noRot="1" noChangeAspect="1" noMove="1" noResize="1" noEditPoints="1" noAdjustHandles="1" noChangeArrowheads="1" noChangeShapeType="1" noTextEdit="1"/>
              </p:cNvSpPr>
              <p:nvPr/>
            </p:nvSpPr>
            <p:spPr>
              <a:xfrm>
                <a:off x="1176330" y="1133236"/>
                <a:ext cx="9577064" cy="708143"/>
              </a:xfrm>
              <a:prstGeom prst="rect">
                <a:avLst/>
              </a:prstGeom>
              <a:blipFill rotWithShape="1">
                <a:blip r:embed="rId2"/>
                <a:stretch>
                  <a:fillRect l="-3" t="-56" r="3" b="73"/>
                </a:stretch>
              </a:blipFill>
            </p:spPr>
            <p:txBody>
              <a:bodyPr/>
              <a:lstStyle/>
              <a:p>
                <a:r>
                  <a:rPr lang="zh-CN" altLang="en-US">
                    <a:noFill/>
                  </a:rPr>
                  <a:t> </a:t>
                </a:r>
              </a:p>
            </p:txBody>
          </p:sp>
        </mc:Fallback>
      </mc:AlternateContent>
      <p:sp>
        <p:nvSpPr>
          <p:cNvPr id="7" name="文本框 6"/>
          <p:cNvSpPr txBox="1"/>
          <p:nvPr/>
        </p:nvSpPr>
        <p:spPr>
          <a:xfrm>
            <a:off x="10177330" y="2461466"/>
            <a:ext cx="1152128" cy="830997"/>
          </a:xfrm>
          <a:prstGeom prst="rect">
            <a:avLst/>
          </a:prstGeom>
          <a:noFill/>
        </p:spPr>
        <p:txBody>
          <a:bodyPr wrap="square" rtlCol="0">
            <a:spAutoFit/>
          </a:bodyPr>
          <a:lstStyle/>
          <a:p>
            <a:r>
              <a:rPr lang="zh-CN" altLang="en-US" sz="2400" dirty="0">
                <a:solidFill>
                  <a:srgbClr val="FF0000"/>
                </a:solidFill>
              </a:rPr>
              <a:t>同</a:t>
            </a:r>
            <a:endParaRPr lang="en-US" altLang="zh-CN" sz="2400" dirty="0">
              <a:solidFill>
                <a:srgbClr val="FF0000"/>
              </a:solidFill>
            </a:endParaRPr>
          </a:p>
          <a:p>
            <a:r>
              <a:rPr lang="zh-CN" altLang="en-US" sz="2400" dirty="0">
                <a:solidFill>
                  <a:srgbClr val="FF0000"/>
                </a:solidFill>
              </a:rPr>
              <a:t>解</a:t>
            </a:r>
          </a:p>
        </p:txBody>
      </p:sp>
      <mc:AlternateContent xmlns:mc="http://schemas.openxmlformats.org/markup-compatibility/2006" xmlns:a14="http://schemas.microsoft.com/office/drawing/2010/main">
        <mc:Choice Requires="a14">
          <p:sp>
            <p:nvSpPr>
              <p:cNvPr id="10" name="文本框 9"/>
              <p:cNvSpPr txBox="1"/>
              <p:nvPr/>
            </p:nvSpPr>
            <p:spPr>
              <a:xfrm>
                <a:off x="4320546" y="3726997"/>
                <a:ext cx="6288832" cy="708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400" i="1" smtClean="0">
                              <a:latin typeface="Cambria Math" panose="02040503050406030204" pitchFamily="18" charset="0"/>
                              <a:ea typeface="宋体" panose="02010600030101010101" pitchFamily="2" charset="-122"/>
                            </a:rPr>
                          </m:ctrlPr>
                        </m:dPr>
                        <m:e>
                          <m:m>
                            <m:mPr>
                              <m:mcs>
                                <m:mc>
                                  <m:mcPr>
                                    <m:count m:val="3"/>
                                    <m:mcJc m:val="center"/>
                                  </m:mcPr>
                                </m:mc>
                              </m:mcs>
                              <m:ctrlPr>
                                <a:rPr lang="en-US" altLang="zh-CN" sz="2400" i="1" smtClean="0">
                                  <a:latin typeface="Cambria Math" panose="02040503050406030204" pitchFamily="18" charset="0"/>
                                  <a:ea typeface="宋体" panose="02010600030101010101" pitchFamily="2" charset="-122"/>
                                </a:rPr>
                              </m:ctrlPr>
                            </m:mPr>
                            <m:mr>
                              <m:e>
                                <m:r>
                                  <m:rPr>
                                    <m:brk m:alnAt="7"/>
                                  </m:rPr>
                                  <a:rPr lang="en-US" altLang="zh-CN" sz="2400" b="0" i="1" smtClean="0">
                                    <a:solidFill>
                                      <a:srgbClr val="FF0000"/>
                                    </a:solidFill>
                                    <a:latin typeface="Cambria Math" panose="02040503050406030204" pitchFamily="18" charset="0"/>
                                    <a:ea typeface="宋体" panose="02010600030101010101" pitchFamily="2" charset="-122"/>
                                  </a:rPr>
                                  <m:t>1</m:t>
                                </m:r>
                              </m:e>
                              <m:e>
                                <m:r>
                                  <a:rPr lang="en-US" altLang="zh-CN" sz="2400" b="0" i="1" smtClean="0">
                                    <a:latin typeface="Cambria Math" panose="02040503050406030204" pitchFamily="18" charset="0"/>
                                    <a:ea typeface="宋体" panose="02010600030101010101" pitchFamily="2" charset="-122"/>
                                  </a:rPr>
                                  <m:t>2</m:t>
                                </m:r>
                              </m:e>
                              <m:e>
                                <m:r>
                                  <a:rPr lang="en-US" altLang="zh-CN" sz="2400" b="0" i="1" smtClean="0">
                                    <a:latin typeface="Cambria Math" panose="02040503050406030204" pitchFamily="18" charset="0"/>
                                    <a:ea typeface="宋体" panose="02010600030101010101" pitchFamily="2" charset="-122"/>
                                  </a:rPr>
                                  <m:t>1   </m:t>
                                </m:r>
                              </m:e>
                            </m:mr>
                            <m:mr>
                              <m:e>
                                <m:r>
                                  <a:rPr lang="en-US" altLang="zh-CN" sz="2400" b="0" i="1" smtClean="0">
                                    <a:solidFill>
                                      <a:srgbClr val="FF0000"/>
                                    </a:solidFill>
                                    <a:latin typeface="Cambria Math" panose="02040503050406030204" pitchFamily="18" charset="0"/>
                                    <a:ea typeface="宋体" panose="02010600030101010101" pitchFamily="2" charset="-122"/>
                                  </a:rPr>
                                  <m:t>0</m:t>
                                </m:r>
                              </m:e>
                              <m:e>
                                <m:r>
                                  <a:rPr lang="en-US" altLang="zh-CN" sz="2400" b="0" i="1" smtClean="0">
                                    <a:latin typeface="Cambria Math" panose="02040503050406030204" pitchFamily="18" charset="0"/>
                                    <a:ea typeface="宋体" panose="02010600030101010101" pitchFamily="2" charset="-122"/>
                                  </a:rPr>
                                  <m:t>−1</m:t>
                                </m:r>
                              </m:e>
                              <m:e>
                                <m:r>
                                  <a:rPr lang="en-US" altLang="zh-CN" sz="2400" b="0" i="1" smtClean="0">
                                    <a:latin typeface="Cambria Math" panose="02040503050406030204" pitchFamily="18" charset="0"/>
                                    <a:ea typeface="宋体" panose="02010600030101010101" pitchFamily="2" charset="-122"/>
                                  </a:rPr>
                                  <m:t>−2   </m:t>
                                </m:r>
                              </m:e>
                            </m:mr>
                          </m:m>
                          <m:m>
                            <m:mPr>
                              <m:mcs>
                                <m:mc>
                                  <m:mcPr>
                                    <m:count m:val="2"/>
                                    <m:mcJc m:val="center"/>
                                  </m:mcPr>
                                </m:mc>
                              </m:mcs>
                              <m:ctrlPr>
                                <a:rPr lang="en-US" altLang="zh-CN" sz="2400" i="1" smtClean="0">
                                  <a:latin typeface="Cambria Math" panose="02040503050406030204" pitchFamily="18" charset="0"/>
                                  <a:ea typeface="宋体" panose="02010600030101010101" pitchFamily="2" charset="-122"/>
                                </a:rPr>
                              </m:ctrlPr>
                            </m:mPr>
                            <m:mr>
                              <m:e>
                                <m:r>
                                  <m:rPr>
                                    <m:brk m:alnAt="7"/>
                                  </m:rPr>
                                  <a:rPr lang="en-US" altLang="zh-CN" sz="2400" b="0" i="1" smtClean="0">
                                    <a:solidFill>
                                      <a:srgbClr val="FF0000"/>
                                    </a:solidFill>
                                    <a:latin typeface="Cambria Math" panose="02040503050406030204" pitchFamily="18" charset="0"/>
                                    <a:ea typeface="宋体" panose="02010600030101010101" pitchFamily="2" charset="-122"/>
                                  </a:rPr>
                                  <m:t>0</m:t>
                                </m:r>
                              </m:e>
                              <m:e>
                                <m:r>
                                  <a:rPr lang="en-US" altLang="zh-CN" sz="2400" b="0" i="1" smtClean="0">
                                    <a:latin typeface="Cambria Math" panose="02040503050406030204" pitchFamily="18" charset="0"/>
                                    <a:ea typeface="宋体" panose="02010600030101010101" pitchFamily="2" charset="-122"/>
                                  </a:rPr>
                                  <m:t>3</m:t>
                                </m:r>
                              </m:e>
                            </m:mr>
                            <m:mr>
                              <m:e>
                                <m:r>
                                  <a:rPr lang="en-US" altLang="zh-CN" sz="2400" b="0" i="1" smtClean="0">
                                    <a:solidFill>
                                      <a:srgbClr val="FF0000"/>
                                    </a:solidFill>
                                    <a:latin typeface="Cambria Math" panose="02040503050406030204" pitchFamily="18" charset="0"/>
                                    <a:ea typeface="宋体" panose="02010600030101010101" pitchFamily="2" charset="-122"/>
                                  </a:rPr>
                                  <m:t>1</m:t>
                                </m:r>
                              </m:e>
                              <m:e>
                                <m:r>
                                  <a:rPr lang="en-US" altLang="zh-CN" sz="2400" b="0" i="1" smtClean="0">
                                    <a:latin typeface="Cambria Math" panose="02040503050406030204" pitchFamily="18" charset="0"/>
                                    <a:ea typeface="宋体" panose="02010600030101010101" pitchFamily="2" charset="-122"/>
                                  </a:rPr>
                                  <m:t>−2</m:t>
                                </m:r>
                              </m:e>
                            </m:mr>
                          </m:m>
                        </m:e>
                      </m:d>
                    </m:oMath>
                  </m:oMathPara>
                </a14:m>
                <a:endParaRPr lang="zh-CN" altLang="en-US" sz="24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4320546" y="3726997"/>
                <a:ext cx="6288832" cy="708143"/>
              </a:xfrm>
              <a:prstGeom prst="rect">
                <a:avLst/>
              </a:prstGeom>
              <a:blipFill rotWithShape="1">
                <a:blip r:embed="rId3"/>
                <a:stretch>
                  <a:fillRect t="-26" r="7" b="42"/>
                </a:stretch>
              </a:blipFill>
            </p:spPr>
            <p:txBody>
              <a:bodyPr/>
              <a:lstStyle/>
              <a:p>
                <a:r>
                  <a:rPr lang="zh-CN" altLang="en-US">
                    <a:noFill/>
                  </a:rPr>
                  <a:t> </a:t>
                </a:r>
              </a:p>
            </p:txBody>
          </p:sp>
        </mc:Fallback>
      </mc:AlternateContent>
      <p:sp>
        <p:nvSpPr>
          <p:cNvPr id="11" name="文本框 10"/>
          <p:cNvSpPr txBox="1"/>
          <p:nvPr/>
        </p:nvSpPr>
        <p:spPr>
          <a:xfrm>
            <a:off x="8581591" y="1192287"/>
            <a:ext cx="2543406" cy="461665"/>
          </a:xfrm>
          <a:prstGeom prst="rect">
            <a:avLst/>
          </a:prstGeom>
          <a:noFill/>
        </p:spPr>
        <p:txBody>
          <a:bodyPr wrap="square" rtlCol="0">
            <a:spAutoFit/>
          </a:bodyPr>
          <a:lstStyle/>
          <a:p>
            <a:r>
              <a:rPr lang="zh-CN" altLang="en-US" sz="2400" dirty="0"/>
              <a:t>增广矩阵</a:t>
            </a:r>
          </a:p>
        </p:txBody>
      </p:sp>
      <mc:AlternateContent xmlns:mc="http://schemas.openxmlformats.org/markup-compatibility/2006" xmlns:a14="http://schemas.microsoft.com/office/drawing/2010/main">
        <mc:Choice Requires="a14">
          <p:sp>
            <p:nvSpPr>
              <p:cNvPr id="13" name="文本框 12"/>
              <p:cNvSpPr txBox="1"/>
              <p:nvPr/>
            </p:nvSpPr>
            <p:spPr>
              <a:xfrm>
                <a:off x="4511824" y="2430124"/>
                <a:ext cx="6097554" cy="7948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altLang="zh-CN" sz="2400" i="1" smtClean="0">
                              <a:latin typeface="Cambria Math" panose="02040503050406030204" pitchFamily="18" charset="0"/>
                              <a:ea typeface="宋体" panose="02010600030101010101" pitchFamily="2" charset="-122"/>
                            </a:rPr>
                          </m:ctrlPr>
                        </m:dPr>
                        <m:e>
                          <m:m>
                            <m:mPr>
                              <m:mcs>
                                <m:mc>
                                  <m:mcPr>
                                    <m:count m:val="3"/>
                                    <m:mcJc m:val="center"/>
                                  </m:mcPr>
                                </m:mc>
                              </m:mcs>
                              <m:ctrlPr>
                                <a:rPr lang="en-US" altLang="zh-CN" sz="2400" i="1" smtClean="0">
                                  <a:latin typeface="Cambria Math" panose="02040503050406030204" pitchFamily="18" charset="0"/>
                                  <a:ea typeface="宋体" panose="02010600030101010101" pitchFamily="2" charset="-122"/>
                                </a:rPr>
                              </m:ctrlPr>
                            </m:mPr>
                            <m:mr>
                              <m:e>
                                <m:r>
                                  <m:rPr>
                                    <m:brk m:alnAt="7"/>
                                  </m:rPr>
                                  <a:rPr lang="en-US" altLang="zh-CN" sz="2400" b="0" i="1" smtClean="0">
                                    <a:solidFill>
                                      <a:srgbClr val="FF0000"/>
                                    </a:solidFill>
                                    <a:latin typeface="Cambria Math" panose="02040503050406030204" pitchFamily="18" charset="0"/>
                                    <a:ea typeface="宋体" panose="02010600030101010101" pitchFamily="2" charset="-122"/>
                                  </a:rPr>
                                  <m:t>0</m:t>
                                </m:r>
                              </m:e>
                              <m:e>
                                <m:r>
                                  <a:rPr lang="en-US" altLang="zh-CN" sz="2400" b="0" i="1" smtClean="0">
                                    <a:latin typeface="Cambria Math" panose="02040503050406030204" pitchFamily="18" charset="0"/>
                                    <a:ea typeface="宋体" panose="02010600030101010101" pitchFamily="2" charset="-122"/>
                                  </a:rPr>
                                  <m:t>1/2</m:t>
                                </m:r>
                              </m:e>
                              <m:e>
                                <m:r>
                                  <a:rPr lang="en-US" altLang="zh-CN" sz="2400" b="0" i="1" smtClean="0">
                                    <a:solidFill>
                                      <a:srgbClr val="FF0000"/>
                                    </a:solidFill>
                                    <a:latin typeface="Cambria Math" panose="02040503050406030204" pitchFamily="18" charset="0"/>
                                    <a:ea typeface="宋体" panose="02010600030101010101" pitchFamily="2" charset="-122"/>
                                  </a:rPr>
                                  <m:t>1</m:t>
                                </m:r>
                                <m:r>
                                  <a:rPr lang="en-US" altLang="zh-CN" sz="2400" b="0" i="1" smtClean="0">
                                    <a:latin typeface="Cambria Math" panose="02040503050406030204" pitchFamily="18" charset="0"/>
                                    <a:ea typeface="宋体" panose="02010600030101010101" pitchFamily="2" charset="-122"/>
                                  </a:rPr>
                                  <m:t>   </m:t>
                                </m:r>
                              </m:e>
                            </m:mr>
                            <m:mr>
                              <m:e>
                                <m:r>
                                  <a:rPr lang="en-US" altLang="zh-CN" sz="2400" b="0" i="1" smtClean="0">
                                    <a:solidFill>
                                      <a:srgbClr val="FF0000"/>
                                    </a:solidFill>
                                    <a:latin typeface="Cambria Math" panose="02040503050406030204" pitchFamily="18" charset="0"/>
                                    <a:ea typeface="宋体" panose="02010600030101010101" pitchFamily="2" charset="-122"/>
                                  </a:rPr>
                                  <m:t>1</m:t>
                                </m:r>
                              </m:e>
                              <m:e>
                                <m:r>
                                  <a:rPr lang="en-US" altLang="zh-CN" sz="2400" b="0" i="1" smtClean="0">
                                    <a:latin typeface="Cambria Math" panose="02040503050406030204" pitchFamily="18" charset="0"/>
                                    <a:ea typeface="宋体" panose="02010600030101010101" pitchFamily="2" charset="-122"/>
                                  </a:rPr>
                                  <m:t>3/2</m:t>
                                </m:r>
                              </m:e>
                              <m:e>
                                <m:r>
                                  <a:rPr lang="en-US" altLang="zh-CN" sz="2400" b="0" i="1" smtClean="0">
                                    <a:solidFill>
                                      <a:srgbClr val="FF0000"/>
                                    </a:solidFill>
                                    <a:latin typeface="Cambria Math" panose="02040503050406030204" pitchFamily="18" charset="0"/>
                                    <a:ea typeface="宋体" panose="02010600030101010101" pitchFamily="2" charset="-122"/>
                                  </a:rPr>
                                  <m:t>0</m:t>
                                </m:r>
                                <m:r>
                                  <a:rPr lang="en-US" altLang="zh-CN" sz="2400" b="0" i="1" smtClean="0">
                                    <a:latin typeface="Cambria Math" panose="02040503050406030204" pitchFamily="18" charset="0"/>
                                    <a:ea typeface="宋体" panose="02010600030101010101" pitchFamily="2" charset="-122"/>
                                  </a:rPr>
                                  <m:t>   </m:t>
                                </m:r>
                              </m:e>
                            </m:mr>
                          </m:m>
                          <m:m>
                            <m:mPr>
                              <m:mcs>
                                <m:mc>
                                  <m:mcPr>
                                    <m:count m:val="2"/>
                                    <m:mcJc m:val="center"/>
                                  </m:mcPr>
                                </m:mc>
                              </m:mcs>
                              <m:ctrlPr>
                                <a:rPr lang="en-US" altLang="zh-CN" sz="2400" i="1" smtClean="0">
                                  <a:latin typeface="Cambria Math" panose="02040503050406030204" pitchFamily="18" charset="0"/>
                                  <a:ea typeface="宋体" panose="02010600030101010101" pitchFamily="2" charset="-122"/>
                                </a:rPr>
                              </m:ctrlPr>
                            </m:mPr>
                            <m:mr>
                              <m:e>
                                <m:r>
                                  <m:rPr>
                                    <m:brk m:alnAt="7"/>
                                  </m:rPr>
                                  <a:rPr lang="en-US" altLang="zh-CN" sz="2400" b="0" i="1" smtClean="0">
                                    <a:latin typeface="Cambria Math" panose="02040503050406030204" pitchFamily="18" charset="0"/>
                                    <a:ea typeface="宋体" panose="02010600030101010101" pitchFamily="2" charset="-122"/>
                                  </a:rPr>
                                  <m:t>−</m:t>
                                </m:r>
                                <m:r>
                                  <a:rPr lang="en-US" altLang="zh-CN" sz="2400" b="0" i="1" smtClean="0">
                                    <a:latin typeface="Cambria Math" panose="02040503050406030204" pitchFamily="18" charset="0"/>
                                    <a:ea typeface="宋体" panose="02010600030101010101" pitchFamily="2" charset="-122"/>
                                  </a:rPr>
                                  <m:t>1/2</m:t>
                                </m:r>
                              </m:e>
                              <m:e>
                                <m:r>
                                  <a:rPr lang="en-US" altLang="zh-CN" sz="2400" b="0" i="1" smtClean="0">
                                    <a:latin typeface="Cambria Math" panose="02040503050406030204" pitchFamily="18" charset="0"/>
                                    <a:ea typeface="宋体" panose="02010600030101010101" pitchFamily="2" charset="-122"/>
                                  </a:rPr>
                                  <m:t>1</m:t>
                                </m:r>
                              </m:e>
                            </m:mr>
                            <m:mr>
                              <m:e>
                                <m:r>
                                  <a:rPr lang="en-US" altLang="zh-CN" sz="2400" b="0" i="1" smtClean="0">
                                    <a:latin typeface="Cambria Math" panose="02040503050406030204" pitchFamily="18" charset="0"/>
                                    <a:ea typeface="宋体" panose="02010600030101010101" pitchFamily="2" charset="-122"/>
                                  </a:rPr>
                                  <m:t>1/2</m:t>
                                </m:r>
                              </m:e>
                              <m:e>
                                <m:r>
                                  <a:rPr lang="en-US" altLang="zh-CN" sz="2400" b="0" i="1" smtClean="0">
                                    <a:latin typeface="Cambria Math" panose="02040503050406030204" pitchFamily="18" charset="0"/>
                                    <a:ea typeface="宋体" panose="02010600030101010101" pitchFamily="2" charset="-122"/>
                                  </a:rPr>
                                  <m:t>2</m:t>
                                </m:r>
                              </m:e>
                            </m:mr>
                          </m:m>
                        </m:e>
                      </m:d>
                    </m:oMath>
                  </m:oMathPara>
                </a14:m>
                <a:endParaRPr lang="zh-CN" altLang="en-US" sz="24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4511824" y="2430124"/>
                <a:ext cx="6097554" cy="794898"/>
              </a:xfrm>
              <a:prstGeom prst="rect">
                <a:avLst/>
              </a:prstGeom>
              <a:blipFill rotWithShape="1">
                <a:blip r:embed="rId4"/>
                <a:stretch>
                  <a:fillRect l="-2" t="-77" r="7" b="62"/>
                </a:stretch>
              </a:blipFill>
            </p:spPr>
            <p:txBody>
              <a:bodyPr/>
              <a:lstStyle/>
              <a:p>
                <a:r>
                  <a:rPr lang="zh-CN" altLang="en-US">
                    <a:noFill/>
                  </a:rPr>
                  <a:t> </a:t>
                </a:r>
              </a:p>
            </p:txBody>
          </p:sp>
        </mc:Fallback>
      </mc:AlternateContent>
      <p:sp>
        <p:nvSpPr>
          <p:cNvPr id="14" name="文本框 13"/>
          <p:cNvSpPr txBox="1"/>
          <p:nvPr/>
        </p:nvSpPr>
        <p:spPr>
          <a:xfrm>
            <a:off x="335360" y="209906"/>
            <a:ext cx="5976664" cy="461665"/>
          </a:xfrm>
          <a:prstGeom prst="rect">
            <a:avLst/>
          </a:prstGeom>
          <a:noFill/>
        </p:spPr>
        <p:txBody>
          <a:bodyPr wrap="square" rtlCol="0">
            <a:spAutoFit/>
          </a:bodyPr>
          <a:lstStyle/>
          <a:p>
            <a:r>
              <a:rPr lang="zh-CN" altLang="en-US" sz="2400" dirty="0">
                <a:solidFill>
                  <a:srgbClr val="FF0000"/>
                </a:solidFill>
              </a:rPr>
              <a:t>举例说明基本可行解之间的变换</a:t>
            </a:r>
          </a:p>
        </p:txBody>
      </p:sp>
      <p:sp>
        <p:nvSpPr>
          <p:cNvPr id="15" name="文本框 14"/>
          <p:cNvSpPr txBox="1"/>
          <p:nvPr/>
        </p:nvSpPr>
        <p:spPr>
          <a:xfrm>
            <a:off x="3397426" y="2596740"/>
            <a:ext cx="2052228" cy="461665"/>
          </a:xfrm>
          <a:prstGeom prst="rect">
            <a:avLst/>
          </a:prstGeom>
          <a:noFill/>
        </p:spPr>
        <p:txBody>
          <a:bodyPr wrap="square" rtlCol="0">
            <a:spAutoFit/>
          </a:bodyPr>
          <a:lstStyle/>
          <a:p>
            <a:r>
              <a:rPr lang="zh-CN" altLang="en-US" sz="2400" dirty="0"/>
              <a:t>初等行变换</a:t>
            </a:r>
          </a:p>
        </p:txBody>
      </p:sp>
      <p:cxnSp>
        <p:nvCxnSpPr>
          <p:cNvPr id="17" name="直接箭头连接符 16"/>
          <p:cNvCxnSpPr/>
          <p:nvPr/>
        </p:nvCxnSpPr>
        <p:spPr>
          <a:xfrm>
            <a:off x="3348438" y="3058405"/>
            <a:ext cx="19442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文本框 17"/>
          <p:cNvSpPr txBox="1"/>
          <p:nvPr/>
        </p:nvSpPr>
        <p:spPr>
          <a:xfrm>
            <a:off x="3425994" y="3765315"/>
            <a:ext cx="2052228" cy="461665"/>
          </a:xfrm>
          <a:prstGeom prst="rect">
            <a:avLst/>
          </a:prstGeom>
          <a:noFill/>
        </p:spPr>
        <p:txBody>
          <a:bodyPr wrap="square" rtlCol="0">
            <a:spAutoFit/>
          </a:bodyPr>
          <a:lstStyle/>
          <a:p>
            <a:r>
              <a:rPr lang="zh-CN" altLang="en-US" sz="2400" dirty="0"/>
              <a:t>初等行变换</a:t>
            </a:r>
          </a:p>
        </p:txBody>
      </p:sp>
      <p:cxnSp>
        <p:nvCxnSpPr>
          <p:cNvPr id="19" name="直接箭头连接符 18"/>
          <p:cNvCxnSpPr/>
          <p:nvPr/>
        </p:nvCxnSpPr>
        <p:spPr>
          <a:xfrm>
            <a:off x="3377006" y="4226980"/>
            <a:ext cx="19442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文本框 19"/>
          <p:cNvSpPr txBox="1"/>
          <p:nvPr/>
        </p:nvSpPr>
        <p:spPr>
          <a:xfrm>
            <a:off x="10177330" y="3665569"/>
            <a:ext cx="1152128" cy="830997"/>
          </a:xfrm>
          <a:prstGeom prst="rect">
            <a:avLst/>
          </a:prstGeom>
          <a:noFill/>
        </p:spPr>
        <p:txBody>
          <a:bodyPr wrap="square" rtlCol="0">
            <a:spAutoFit/>
          </a:bodyPr>
          <a:lstStyle/>
          <a:p>
            <a:r>
              <a:rPr lang="zh-CN" altLang="en-US" sz="2400" dirty="0">
                <a:solidFill>
                  <a:srgbClr val="FF0000"/>
                </a:solidFill>
              </a:rPr>
              <a:t>同</a:t>
            </a:r>
            <a:endParaRPr lang="en-US" altLang="zh-CN" sz="2400" dirty="0">
              <a:solidFill>
                <a:srgbClr val="FF0000"/>
              </a:solidFill>
            </a:endParaRPr>
          </a:p>
          <a:p>
            <a:r>
              <a:rPr lang="zh-CN" altLang="en-US" sz="2400" dirty="0">
                <a:solidFill>
                  <a:srgbClr val="FF0000"/>
                </a:solidFill>
              </a:rPr>
              <a:t>解</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698" name="Rectangle 3"/>
              <p:cNvSpPr>
                <a:spLocks noGrp="1" noChangeArrowheads="1"/>
              </p:cNvSpPr>
              <p:nvPr>
                <p:ph type="body" idx="1"/>
              </p:nvPr>
            </p:nvSpPr>
            <p:spPr>
              <a:xfrm>
                <a:off x="507765" y="332656"/>
                <a:ext cx="11479773" cy="5697538"/>
              </a:xfrm>
            </p:spPr>
            <p:txBody>
              <a:bodyPr>
                <a:normAutofit/>
              </a:bodyPr>
              <a:lstStyle/>
              <a:p>
                <a:pPr marL="0" indent="0">
                  <a:lnSpc>
                    <a:spcPct val="150000"/>
                  </a:lnSpc>
                  <a:buNone/>
                </a:pPr>
                <a:r>
                  <a:rPr lang="en-US" altLang="zh-CN" sz="2800" b="1" dirty="0">
                    <a:solidFill>
                      <a:schemeClr val="accent1"/>
                    </a:solidFill>
                    <a:ea typeface="黑体" panose="02010609060101010101" pitchFamily="49" charset="-122"/>
                  </a:rPr>
                  <a:t>3  </a:t>
                </a:r>
                <a:r>
                  <a:rPr lang="zh-CN" altLang="en-US" sz="2800" b="1" dirty="0">
                    <a:solidFill>
                      <a:schemeClr val="accent1"/>
                    </a:solidFill>
                    <a:ea typeface="黑体" panose="02010609060101010101" pitchFamily="49" charset="-122"/>
                  </a:rPr>
                  <a:t>从一个基本可行解转换为相邻且改善了的基本可行解</a:t>
                </a:r>
                <a:endParaRPr lang="en-US" altLang="zh-CN" sz="2800" b="1" dirty="0">
                  <a:solidFill>
                    <a:schemeClr val="accent1"/>
                  </a:solidFill>
                  <a:ea typeface="黑体" panose="02010609060101010101" pitchFamily="49" charset="-122"/>
                </a:endParaRPr>
              </a:p>
              <a:p>
                <a:pPr marL="0" indent="0" eaLnBrk="1" hangingPunct="1">
                  <a:lnSpc>
                    <a:spcPct val="150000"/>
                  </a:lnSpc>
                  <a:buNone/>
                </a:pPr>
                <a:r>
                  <a:rPr lang="zh-CN" altLang="en-US" sz="2400" b="1" dirty="0"/>
                  <a:t>      定义</a:t>
                </a:r>
                <a:r>
                  <a:rPr lang="en-US" altLang="zh-CN" sz="2400" b="1" dirty="0"/>
                  <a:t>2-1</a:t>
                </a:r>
                <a:r>
                  <a:rPr lang="zh-CN" altLang="en-US" sz="2400" b="1" dirty="0"/>
                  <a:t> </a:t>
                </a:r>
                <a:r>
                  <a:rPr lang="zh-CN" altLang="en-US" sz="2400" dirty="0"/>
                  <a:t>两个基本可行解之间变换</a:t>
                </a:r>
                <a:r>
                  <a:rPr lang="zh-CN" altLang="en-US" sz="2400" b="1" dirty="0"/>
                  <a:t>且仅</a:t>
                </a:r>
                <a:r>
                  <a:rPr lang="zh-CN" altLang="en-US" sz="2400" dirty="0"/>
                  <a:t>变换了一个基变量，则称它们是互为</a:t>
                </a:r>
                <a:r>
                  <a:rPr lang="zh-CN" altLang="en-US" sz="2400" b="1" dirty="0"/>
                  <a:t>相邻</a:t>
                </a:r>
                <a:r>
                  <a:rPr lang="zh-CN" altLang="en-US" sz="2400" dirty="0"/>
                  <a:t>的</a:t>
                </a:r>
                <a:endParaRPr lang="en-US" altLang="zh-CN" sz="2400" dirty="0"/>
              </a:p>
              <a:p>
                <a:pPr marL="0" indent="0">
                  <a:lnSpc>
                    <a:spcPct val="150000"/>
                  </a:lnSpc>
                  <a:buNone/>
                </a:pPr>
                <a:r>
                  <a:rPr lang="zh-CN" altLang="en-US" sz="2400" b="1" dirty="0"/>
                  <a:t>      定义</a:t>
                </a:r>
                <a:r>
                  <a:rPr lang="en-US" altLang="zh-CN" sz="2400" b="1" dirty="0"/>
                  <a:t>1-4  </a:t>
                </a:r>
                <a:r>
                  <a:rPr lang="zh-CN" altLang="zh-CN" sz="2400" kern="100" dirty="0">
                    <a:latin typeface="等线" panose="02010600030101010101" charset="-122"/>
                    <a:ea typeface="等线" panose="02010600030101010101" charset="-122"/>
                    <a:cs typeface="Times New Roman" panose="02020603050405020304" pitchFamily="18" charset="0"/>
                  </a:rPr>
                  <a:t>若基本可行解</a:t>
                </a:r>
                <a14:m>
                  <m:oMath xmlns:m="http://schemas.openxmlformats.org/officeDocument/2006/math">
                    <m:r>
                      <a:rPr lang="en-US" altLang="zh-CN" sz="2400" i="1" kern="100">
                        <a:latin typeface="Cambria Math" panose="02040503050406030204" pitchFamily="18" charset="0"/>
                        <a:ea typeface="等线" panose="02010600030101010101" charset="-122"/>
                        <a:cs typeface="Times New Roman" panose="02020603050405020304" pitchFamily="18" charset="0"/>
                      </a:rPr>
                      <m:t>𝑥</m:t>
                    </m:r>
                  </m:oMath>
                </a14:m>
                <a:r>
                  <a:rPr lang="zh-CN" altLang="zh-CN" sz="2400" kern="100" dirty="0">
                    <a:latin typeface="等线" panose="02010600030101010101" charset="-122"/>
                    <a:ea typeface="等线" panose="02010600030101010101" charset="-122"/>
                    <a:cs typeface="Times New Roman" panose="02020603050405020304" pitchFamily="18" charset="0"/>
                  </a:rPr>
                  <a:t>中所有基变量的值都严格大于零，则称</a:t>
                </a:r>
                <a14:m>
                  <m:oMath xmlns:m="http://schemas.openxmlformats.org/officeDocument/2006/math">
                    <m:r>
                      <a:rPr lang="en-US" altLang="zh-CN" sz="2400" i="1" kern="100">
                        <a:latin typeface="Cambria Math" panose="02040503050406030204" pitchFamily="18" charset="0"/>
                        <a:ea typeface="等线" panose="02010600030101010101" charset="-122"/>
                        <a:cs typeface="Times New Roman" panose="02020603050405020304" pitchFamily="18" charset="0"/>
                      </a:rPr>
                      <m:t>𝑥</m:t>
                    </m:r>
                  </m:oMath>
                </a14:m>
                <a:r>
                  <a:rPr lang="zh-CN" altLang="zh-CN" sz="2400" kern="100" dirty="0">
                    <a:latin typeface="等线" panose="02010600030101010101" charset="-122"/>
                    <a:ea typeface="等线" panose="02010600030101010101" charset="-122"/>
                    <a:cs typeface="Times New Roman" panose="02020603050405020304" pitchFamily="18" charset="0"/>
                  </a:rPr>
                  <a:t>为</a:t>
                </a:r>
                <a:r>
                  <a:rPr lang="en-US" altLang="zh-CN" sz="2400" kern="100" dirty="0">
                    <a:latin typeface="等线" panose="02010600030101010101" charset="-122"/>
                    <a:ea typeface="等线" panose="02010600030101010101" charset="-122"/>
                    <a:cs typeface="Times New Roman" panose="02020603050405020304" pitchFamily="18" charset="0"/>
                  </a:rPr>
                  <a:t>(LP)</a:t>
                </a:r>
                <a:r>
                  <a:rPr lang="zh-CN" altLang="zh-CN" sz="2400" kern="100" dirty="0">
                    <a:latin typeface="等线" panose="02010600030101010101" charset="-122"/>
                    <a:ea typeface="等线" panose="02010600030101010101" charset="-122"/>
                    <a:cs typeface="Times New Roman" panose="02020603050405020304" pitchFamily="18" charset="0"/>
                  </a:rPr>
                  <a:t>的一个</a:t>
                </a:r>
                <a:r>
                  <a:rPr lang="zh-CN" altLang="zh-CN" sz="2400" b="1" kern="100" dirty="0">
                    <a:latin typeface="等线" panose="02010600030101010101" charset="-122"/>
                    <a:ea typeface="等线" panose="02010600030101010101" charset="-122"/>
                    <a:cs typeface="Times New Roman" panose="02020603050405020304" pitchFamily="18" charset="0"/>
                  </a:rPr>
                  <a:t>非退化</a:t>
                </a:r>
                <a:r>
                  <a:rPr lang="zh-CN" altLang="zh-CN" sz="2400" kern="100" dirty="0">
                    <a:latin typeface="等线" panose="02010600030101010101" charset="-122"/>
                    <a:ea typeface="等线" panose="02010600030101010101" charset="-122"/>
                    <a:cs typeface="Times New Roman" panose="02020603050405020304" pitchFamily="18" charset="0"/>
                  </a:rPr>
                  <a:t>基本可行解。</a:t>
                </a:r>
              </a:p>
              <a:p>
                <a:pPr marL="0" indent="0" eaLnBrk="1" hangingPunct="1">
                  <a:lnSpc>
                    <a:spcPct val="150000"/>
                  </a:lnSpc>
                  <a:buNone/>
                </a:pPr>
                <a:endParaRPr lang="zh-CN" altLang="en-US" sz="2400" b="1" dirty="0"/>
              </a:p>
            </p:txBody>
          </p:sp>
        </mc:Choice>
        <mc:Fallback xmlns="">
          <p:sp>
            <p:nvSpPr>
              <p:cNvPr id="29698" name="Rectangle 3"/>
              <p:cNvSpPr>
                <a:spLocks noRot="1" noChangeAspect="1" noMove="1" noResize="1" noEditPoints="1" noAdjustHandles="1" noChangeArrowheads="1" noChangeShapeType="1" noTextEdit="1"/>
              </p:cNvSpPr>
              <p:nvPr>
                <p:ph type="body" idx="1"/>
              </p:nvPr>
            </p:nvSpPr>
            <p:spPr>
              <a:xfrm>
                <a:off x="507765" y="332656"/>
                <a:ext cx="11479773" cy="5697538"/>
              </a:xfrm>
              <a:blipFill rotWithShape="1">
                <a:blip r:embed="rId2"/>
                <a:stretch>
                  <a:fillRect l="-3" t="-10" b="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2892660" y="4454865"/>
                <a:ext cx="6096000" cy="199208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zh-CN" altLang="zh-CN" sz="2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1</m:t>
                          </m:r>
                        </m:sub>
                      </m:sSub>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  </m:t>
                          </m:r>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2</m:t>
                          </m:r>
                        </m:sub>
                      </m:s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 </m:t>
                      </m:r>
                      <m:r>
                        <a:rPr lang="en-US" sz="2400" i="0">
                          <a:latin typeface="Cambria Math" panose="02040503050406030204" pitchFamily="18" charset="0"/>
                        </a:rPr>
                        <m:t>⋯</m:t>
                      </m:r>
                      <m:r>
                        <a:rPr lang="en-US" sz="2400" b="0" i="1" smtClean="0">
                          <a:latin typeface="Cambria Math" panose="020405030504060302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𝑚</m:t>
                          </m:r>
                        </m:sub>
                      </m:s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𝑚</m:t>
                          </m:r>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+1</m:t>
                          </m:r>
                        </m:sub>
                      </m:sSub>
                      <m:r>
                        <a:rPr lang="en-US" altLang="zh-CN" sz="2400" b="0" i="0" kern="100" smtClean="0">
                          <a:latin typeface="Cambria Math" panose="02040503050406030204" pitchFamily="18" charset="0"/>
                          <a:ea typeface="等线" panose="02010600030101010101" charset="-122"/>
                          <a:cs typeface="Times New Roman" panose="02020603050405020304" pitchFamily="18" charset="0"/>
                        </a:rPr>
                        <m:t>   </m:t>
                      </m:r>
                      <m:r>
                        <a:rPr lang="en-US" sz="2400" i="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 </m:t>
                          </m:r>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𝑘</m:t>
                          </m:r>
                        </m:sub>
                      </m:sSub>
                      <m:r>
                        <a:rPr lang="en-US" altLang="zh-CN" sz="2400" b="0" i="0" kern="100" smtClean="0">
                          <a:latin typeface="Cambria Math" panose="02040503050406030204" pitchFamily="18" charset="0"/>
                          <a:ea typeface="等线" panose="02010600030101010101" charset="-122"/>
                          <a:cs typeface="Times New Roman" panose="02020603050405020304" pitchFamily="18" charset="0"/>
                        </a:rPr>
                        <m:t>  </m:t>
                      </m:r>
                      <m:r>
                        <a:rPr lang="en-US" sz="2400" i="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𝑛</m:t>
                          </m:r>
                        </m:sub>
                      </m:s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       </m:t>
                      </m:r>
                      <m:acc>
                        <m:accPr>
                          <m:chr m:val="̅"/>
                          <m:ctrlPr>
                            <a:rPr lang="en-US" sz="2400" i="1">
                              <a:solidFill>
                                <a:srgbClr val="836967"/>
                              </a:solidFill>
                              <a:latin typeface="Cambria Math" panose="02040503050406030204" pitchFamily="18" charset="0"/>
                            </a:rPr>
                          </m:ctrlPr>
                        </m:accPr>
                        <m:e>
                          <m:r>
                            <a:rPr lang="en-US" sz="2400" i="1">
                              <a:latin typeface="Cambria Math" panose="02040503050406030204" pitchFamily="18" charset="0"/>
                            </a:rPr>
                            <m:t>𝑏</m:t>
                          </m:r>
                        </m:e>
                      </m:acc>
                    </m:oMath>
                  </m:oMathPara>
                </a14:m>
                <a:endParaRPr lang="en-US"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836967"/>
                              </a:solidFill>
                              <a:latin typeface="Cambria Math" panose="02040503050406030204" pitchFamily="18" charset="0"/>
                            </a:rPr>
                          </m:ctrlPr>
                        </m:dPr>
                        <m:e>
                          <m:eqArr>
                            <m:eqArrPr>
                              <m:ctrlPr>
                                <a:rPr lang="en-US" sz="2400" i="1">
                                  <a:solidFill>
                                    <a:srgbClr val="836967"/>
                                  </a:solidFill>
                                  <a:latin typeface="Cambria Math" panose="02040503050406030204" pitchFamily="18" charset="0"/>
                                </a:rPr>
                              </m:ctrlPr>
                            </m:eqArrPr>
                            <m:e>
                              <m:r>
                                <a:rPr lang="en-US" sz="2400" i="0">
                                  <a:latin typeface="Cambria Math" panose="02040503050406030204" pitchFamily="18" charset="0"/>
                                </a:rPr>
                                <m:t>&amp;</m:t>
                              </m:r>
                              <m:m>
                                <m:mPr>
                                  <m:plcHide m:val="on"/>
                                  <m:mcs>
                                    <m:mc>
                                      <m:mcPr>
                                        <m:count m:val="1"/>
                                        <m:mcJc m:val="center"/>
                                      </m:mcPr>
                                    </m:mc>
                                  </m:mcs>
                                  <m:ctrlPr>
                                    <a:rPr lang="en-US" sz="2400" i="1">
                                      <a:solidFill>
                                        <a:srgbClr val="836967"/>
                                      </a:solidFill>
                                      <a:latin typeface="Cambria Math" panose="02040503050406030204" pitchFamily="18" charset="0"/>
                                    </a:rPr>
                                  </m:ctrlPr>
                                </m:mPr>
                                <m:mr>
                                  <m:e>
                                    <m:r>
                                      <a:rPr lang="en-US" sz="2400" i="0">
                                        <a:latin typeface="Cambria Math" panose="02040503050406030204" pitchFamily="18" charset="0"/>
                                      </a:rPr>
                                      <m:t>1</m:t>
                                    </m:r>
                                  </m:e>
                                </m:mr>
                                <m:mr>
                                  <m:e>
                                    <m:r>
                                      <a:rPr lang="en-US" sz="2400" i="0">
                                        <a:latin typeface="Cambria Math" panose="02040503050406030204" pitchFamily="18" charset="0"/>
                                      </a:rPr>
                                      <m:t>0</m:t>
                                    </m:r>
                                  </m:e>
                                </m:mr>
                                <m:mr>
                                  <m:e>
                                    <m:r>
                                      <a:rPr lang="en-US" sz="2400" i="0">
                                        <a:latin typeface="Cambria Math" panose="02040503050406030204" pitchFamily="18" charset="0"/>
                                      </a:rPr>
                                      <m:t>⋮</m:t>
                                    </m:r>
                                  </m:e>
                                </m:mr>
                              </m:m>
                            </m:e>
                            <m:e>
                              <m:r>
                                <a:rPr lang="en-US" sz="2400" i="0">
                                  <a:latin typeface="Cambria Math" panose="02040503050406030204" pitchFamily="18" charset="0"/>
                                </a:rPr>
                                <m:t>&amp;0</m:t>
                              </m:r>
                            </m:e>
                          </m:eqArr>
                          <m:eqArr>
                            <m:eqArrPr>
                              <m:ctrlPr>
                                <a:rPr lang="en-US" sz="2400" i="1">
                                  <a:solidFill>
                                    <a:srgbClr val="836967"/>
                                  </a:solidFill>
                                  <a:latin typeface="Cambria Math" panose="02040503050406030204" pitchFamily="18" charset="0"/>
                                </a:rPr>
                              </m:ctrlPr>
                            </m:eqArrPr>
                            <m:e>
                              <m:r>
                                <a:rPr lang="en-US" sz="2400" i="0">
                                  <a:latin typeface="Cambria Math" panose="02040503050406030204" pitchFamily="18" charset="0"/>
                                </a:rPr>
                                <m:t>&amp;</m:t>
                              </m:r>
                              <m:m>
                                <m:mPr>
                                  <m:plcHide m:val="on"/>
                                  <m:mcs>
                                    <m:mc>
                                      <m:mcPr>
                                        <m:count m:val="1"/>
                                        <m:mcJc m:val="center"/>
                                      </m:mcPr>
                                    </m:mc>
                                  </m:mcs>
                                  <m:ctrlPr>
                                    <a:rPr lang="en-US" sz="2400" i="1">
                                      <a:solidFill>
                                        <a:srgbClr val="836967"/>
                                      </a:solidFill>
                                      <a:latin typeface="Cambria Math" panose="02040503050406030204" pitchFamily="18" charset="0"/>
                                    </a:rPr>
                                  </m:ctrlPr>
                                </m:mPr>
                                <m:mr>
                                  <m:e>
                                    <m:r>
                                      <a:rPr lang="en-US" sz="2400" i="0">
                                        <a:latin typeface="Cambria Math" panose="02040503050406030204" pitchFamily="18" charset="0"/>
                                      </a:rPr>
                                      <m:t>     0</m:t>
                                    </m:r>
                                  </m:e>
                                </m:mr>
                                <m:mr>
                                  <m:e>
                                    <m:r>
                                      <a:rPr lang="en-US" sz="2400" i="0">
                                        <a:latin typeface="Cambria Math" panose="02040503050406030204" pitchFamily="18" charset="0"/>
                                      </a:rPr>
                                      <m:t>     1</m:t>
                                    </m:r>
                                  </m:e>
                                </m:mr>
                                <m:mr>
                                  <m:e>
                                    <m:r>
                                      <a:rPr lang="en-US" sz="2400" i="0">
                                        <a:latin typeface="Cambria Math" panose="02040503050406030204" pitchFamily="18" charset="0"/>
                                      </a:rPr>
                                      <m:t>     ⋮</m:t>
                                    </m:r>
                                  </m:e>
                                </m:mr>
                              </m:m>
                            </m:e>
                            <m:e>
                              <m:r>
                                <a:rPr lang="en-US" sz="2400" i="0">
                                  <a:latin typeface="Cambria Math" panose="02040503050406030204" pitchFamily="18" charset="0"/>
                                </a:rPr>
                                <m:t>&amp;     0</m:t>
                              </m:r>
                            </m:e>
                          </m:eqArr>
                          <m:eqArr>
                            <m:eqArrPr>
                              <m:ctrlPr>
                                <a:rPr lang="en-US" sz="2400" i="1">
                                  <a:solidFill>
                                    <a:srgbClr val="836967"/>
                                  </a:solidFill>
                                  <a:latin typeface="Cambria Math" panose="02040503050406030204" pitchFamily="18" charset="0"/>
                                </a:rPr>
                              </m:ctrlPr>
                            </m:eqArrPr>
                            <m:e>
                              <m:r>
                                <a:rPr lang="en-US" sz="2400" i="0">
                                  <a:latin typeface="Cambria Math" panose="02040503050406030204" pitchFamily="18" charset="0"/>
                                </a:rPr>
                                <m:t>&amp;</m:t>
                              </m:r>
                              <m:m>
                                <m:mPr>
                                  <m:plcHide m:val="on"/>
                                  <m:mcs>
                                    <m:mc>
                                      <m:mcPr>
                                        <m:count m:val="1"/>
                                        <m:mcJc m:val="center"/>
                                      </m:mcPr>
                                    </m:mc>
                                  </m:mcs>
                                  <m:ctrlPr>
                                    <a:rPr lang="en-US" sz="2400" i="1">
                                      <a:solidFill>
                                        <a:srgbClr val="836967"/>
                                      </a:solidFill>
                                      <a:latin typeface="Cambria Math" panose="02040503050406030204" pitchFamily="18" charset="0"/>
                                    </a:rPr>
                                  </m:ctrlPr>
                                </m:mPr>
                                <m:mr>
                                  <m:e>
                                    <m:r>
                                      <a:rPr lang="en-US" sz="2400" i="0">
                                        <a:latin typeface="Cambria Math" panose="02040503050406030204" pitchFamily="18" charset="0"/>
                                      </a:rPr>
                                      <m:t>   ⋯   0</m:t>
                                    </m:r>
                                  </m:e>
                                </m:mr>
                                <m:mr>
                                  <m:e>
                                    <m:r>
                                      <a:rPr lang="en-US" sz="2400" i="0">
                                        <a:latin typeface="Cambria Math" panose="02040503050406030204" pitchFamily="18" charset="0"/>
                                      </a:rPr>
                                      <m:t>   ⋯   0</m:t>
                                    </m:r>
                                  </m:e>
                                </m:mr>
                                <m:mr>
                                  <m:e>
                                    <m:r>
                                      <a:rPr lang="en-US" sz="2400" i="0">
                                        <a:latin typeface="Cambria Math" panose="02040503050406030204" pitchFamily="18" charset="0"/>
                                      </a:rPr>
                                      <m:t>          </m:t>
                                    </m:r>
                                    <m:r>
                                      <a:rPr lang="zh-CN" altLang="en-US" sz="2400" b="0" i="0" smtClean="0">
                                        <a:latin typeface="Cambria Math" panose="02040503050406030204" pitchFamily="18" charset="0"/>
                                      </a:rPr>
                                      <m:t> </m:t>
                                    </m:r>
                                    <m:r>
                                      <a:rPr lang="en-US" sz="2400" i="0">
                                        <a:latin typeface="Cambria Math" panose="02040503050406030204" pitchFamily="18" charset="0"/>
                                      </a:rPr>
                                      <m:t>⋮</m:t>
                                    </m:r>
                                  </m:e>
                                </m:mr>
                              </m:m>
                            </m:e>
                            <m:e>
                              <m:r>
                                <a:rPr lang="en-US" sz="2400" i="0">
                                  <a:latin typeface="Cambria Math" panose="02040503050406030204" pitchFamily="18" charset="0"/>
                                </a:rPr>
                                <m:t>&amp;  </m:t>
                              </m:r>
                              <m:r>
                                <a:rPr lang="zh-CN" altLang="en-US" sz="2400" b="0" i="0" smtClean="0">
                                  <a:latin typeface="Cambria Math" panose="02040503050406030204" pitchFamily="18" charset="0"/>
                                </a:rPr>
                                <m:t> </m:t>
                              </m:r>
                              <m:r>
                                <a:rPr lang="en-US" sz="2400" i="0">
                                  <a:latin typeface="Cambria Math" panose="02040503050406030204" pitchFamily="18" charset="0"/>
                                </a:rPr>
                                <m:t>⋯   1</m:t>
                              </m:r>
                            </m:e>
                          </m:eqArr>
                          <m:eqArr>
                            <m:eqArrPr>
                              <m:ctrlPr>
                                <a:rPr lang="en-US" sz="2400" i="1">
                                  <a:solidFill>
                                    <a:srgbClr val="836967"/>
                                  </a:solidFill>
                                  <a:latin typeface="Cambria Math" panose="02040503050406030204" pitchFamily="18" charset="0"/>
                                </a:rPr>
                              </m:ctrlPr>
                            </m:eqArrPr>
                            <m:e>
                              <m:r>
                                <a:rPr lang="en-US" sz="2400" i="0">
                                  <a:latin typeface="Cambria Math" panose="02040503050406030204" pitchFamily="18" charset="0"/>
                                </a:rPr>
                                <m:t>&amp;</m:t>
                              </m:r>
                              <m:m>
                                <m:mPr>
                                  <m:plcHide m:val="on"/>
                                  <m:mcs>
                                    <m:mc>
                                      <m:mcPr>
                                        <m:count m:val="1"/>
                                        <m:mcJc m:val="center"/>
                                      </m:mcPr>
                                    </m:mc>
                                  </m:mcs>
                                  <m:ctrlPr>
                                    <a:rPr lang="en-US" sz="2400" i="1">
                                      <a:solidFill>
                                        <a:srgbClr val="836967"/>
                                      </a:solidFill>
                                      <a:latin typeface="Cambria Math" panose="02040503050406030204" pitchFamily="18" charset="0"/>
                                    </a:rPr>
                                  </m:ctrlPr>
                                </m:mPr>
                                <m:mr>
                                  <m:e>
                                    <m:r>
                                      <a:rPr lang="en-US" sz="2400" b="0" i="1" smtClean="0">
                                        <a:solidFill>
                                          <a:srgbClr val="836967"/>
                                        </a:solidFill>
                                        <a:latin typeface="Cambria Math" panose="020405030504060302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1</m:t>
                                        </m:r>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m:t>
                                        </m:r>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𝑚</m:t>
                                        </m:r>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+1</m:t>
                                        </m:r>
                                      </m:sub>
                                    </m:sSub>
                                  </m:e>
                                </m:mr>
                                <m:mr>
                                  <m:e>
                                    <m:r>
                                      <a:rPr lang="en-US" sz="2400" b="0" i="1" smtClean="0">
                                        <a:latin typeface="Cambria Math" panose="020405030504060302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2</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𝑚</m:t>
                                        </m:r>
                                        <m:r>
                                          <a:rPr lang="en-US" altLang="zh-CN" sz="2400" i="1" kern="100">
                                            <a:latin typeface="Cambria Math" panose="02040503050406030204" pitchFamily="18" charset="0"/>
                                            <a:ea typeface="等线" panose="02010600030101010101" charset="-122"/>
                                            <a:cs typeface="Times New Roman" panose="02020603050405020304" pitchFamily="18" charset="0"/>
                                          </a:rPr>
                                          <m:t>+1</m:t>
                                        </m:r>
                                      </m:sub>
                                    </m:sSub>
                                  </m:e>
                                </m:mr>
                                <m:mr>
                                  <m:e>
                                    <m:r>
                                      <a:rPr lang="en-US" sz="2400" i="0">
                                        <a:latin typeface="Cambria Math" panose="02040503050406030204" pitchFamily="18" charset="0"/>
                                      </a:rPr>
                                      <m:t>        ⋮</m:t>
                                    </m:r>
                                  </m:e>
                                </m:mr>
                              </m:m>
                            </m:e>
                            <m:e>
                              <m:r>
                                <a:rPr lang="en-US" sz="2400" i="0">
                                  <a:latin typeface="Cambria Math" panose="02040503050406030204" pitchFamily="18" charset="0"/>
                                </a:rPr>
                                <m:t>&amp;</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     </m:t>
                                  </m:r>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𝑚</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𝑚</m:t>
                                  </m:r>
                                  <m:r>
                                    <a:rPr lang="en-US" altLang="zh-CN" sz="2400" i="1" kern="100">
                                      <a:latin typeface="Cambria Math" panose="02040503050406030204" pitchFamily="18" charset="0"/>
                                      <a:ea typeface="等线" panose="02010600030101010101" charset="-122"/>
                                      <a:cs typeface="Times New Roman" panose="02020603050405020304" pitchFamily="18" charset="0"/>
                                    </a:rPr>
                                    <m:t>+1</m:t>
                                  </m:r>
                                </m:sub>
                              </m:sSub>
                            </m:e>
                          </m:eqArr>
                          <m:eqArr>
                            <m:eqArrPr>
                              <m:ctrlPr>
                                <a:rPr lang="en-US" sz="2400" i="1">
                                  <a:solidFill>
                                    <a:srgbClr val="836967"/>
                                  </a:solidFill>
                                  <a:latin typeface="Cambria Math" panose="02040503050406030204" pitchFamily="18" charset="0"/>
                                </a:rPr>
                              </m:ctrlPr>
                            </m:eqArrPr>
                            <m:e>
                              <m:r>
                                <a:rPr lang="en-US" sz="2400" i="0">
                                  <a:latin typeface="Cambria Math" panose="02040503050406030204" pitchFamily="18" charset="0"/>
                                </a:rPr>
                                <m:t>&amp;</m:t>
                              </m:r>
                              <m:m>
                                <m:mPr>
                                  <m:plcHide m:val="on"/>
                                  <m:mcs>
                                    <m:mc>
                                      <m:mcPr>
                                        <m:count m:val="1"/>
                                        <m:mcJc m:val="center"/>
                                      </m:mcPr>
                                    </m:mc>
                                  </m:mcs>
                                  <m:ctrlPr>
                                    <a:rPr lang="en-US" sz="2400" i="1">
                                      <a:solidFill>
                                        <a:srgbClr val="836967"/>
                                      </a:solidFill>
                                      <a:latin typeface="Cambria Math" panose="02040503050406030204" pitchFamily="18" charset="0"/>
                                    </a:rPr>
                                  </m:ctrlPr>
                                </m:mPr>
                                <m:mr>
                                  <m:e>
                                    <m:r>
                                      <a:rPr lang="en-US" sz="2400" i="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1</m:t>
                                        </m:r>
                                        <m:r>
                                          <a:rPr lang="en-US" altLang="zh-CN" sz="2400" i="1" kern="100">
                                            <a:latin typeface="Cambria Math" panose="02040503050406030204" pitchFamily="18" charset="0"/>
                                            <a:ea typeface="等线" panose="02010600030101010101" charset="-122"/>
                                            <a:cs typeface="Times New Roman" panose="02020603050405020304" pitchFamily="18" charset="0"/>
                                          </a:rPr>
                                          <m:t>𝑘</m:t>
                                        </m:r>
                                      </m:sub>
                                    </m:sSub>
                                  </m:e>
                                </m:mr>
                                <m:mr>
                                  <m:e>
                                    <m:r>
                                      <a:rPr lang="en-US" sz="2400" i="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2</m:t>
                                        </m:r>
                                        <m:r>
                                          <a:rPr lang="en-US" altLang="zh-CN" sz="2400" i="1" kern="100">
                                            <a:latin typeface="Cambria Math" panose="02040503050406030204" pitchFamily="18" charset="0"/>
                                            <a:ea typeface="等线" panose="02010600030101010101" charset="-122"/>
                                            <a:cs typeface="Times New Roman" panose="02020603050405020304" pitchFamily="18" charset="0"/>
                                          </a:rPr>
                                          <m:t>𝑘</m:t>
                                        </m:r>
                                      </m:sub>
                                    </m:sSub>
                                  </m:e>
                                </m:mr>
                                <m:mr>
                                  <m:e>
                                    <m:r>
                                      <a:rPr lang="en-US" sz="2400" i="0">
                                        <a:latin typeface="Cambria Math" panose="02040503050406030204" pitchFamily="18" charset="0"/>
                                      </a:rPr>
                                      <m:t>     ⋮</m:t>
                                    </m:r>
                                  </m:e>
                                </m:mr>
                              </m:m>
                            </m:e>
                            <m:e>
                              <m:r>
                                <a:rPr lang="en-US" sz="2400" i="0">
                                  <a:latin typeface="Cambria Math" panose="02040503050406030204" pitchFamily="18" charset="0"/>
                                </a:rPr>
                                <m:t>&amp;⋯</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𝑚</m:t>
                                  </m:r>
                                  <m:r>
                                    <a:rPr lang="en-US" altLang="zh-CN" sz="2400" i="1" kern="100">
                                      <a:latin typeface="Cambria Math" panose="02040503050406030204" pitchFamily="18" charset="0"/>
                                      <a:ea typeface="等线" panose="02010600030101010101" charset="-122"/>
                                      <a:cs typeface="Times New Roman" panose="02020603050405020304" pitchFamily="18" charset="0"/>
                                    </a:rPr>
                                    <m:t>𝑘</m:t>
                                  </m:r>
                                </m:sub>
                              </m:sSub>
                            </m:e>
                          </m:eqArr>
                          <m:eqArr>
                            <m:eqArrPr>
                              <m:ctrlPr>
                                <a:rPr lang="en-US" sz="2400" i="1">
                                  <a:solidFill>
                                    <a:srgbClr val="836967"/>
                                  </a:solidFill>
                                  <a:latin typeface="Cambria Math" panose="02040503050406030204" pitchFamily="18" charset="0"/>
                                </a:rPr>
                              </m:ctrlPr>
                            </m:eqArrPr>
                            <m:e>
                              <m:r>
                                <a:rPr lang="en-US" sz="2400" i="0">
                                  <a:latin typeface="Cambria Math" panose="02040503050406030204" pitchFamily="18" charset="0"/>
                                </a:rPr>
                                <m:t>&amp;</m:t>
                              </m:r>
                              <m:m>
                                <m:mPr>
                                  <m:plcHide m:val="on"/>
                                  <m:mcs>
                                    <m:mc>
                                      <m:mcPr>
                                        <m:count m:val="1"/>
                                        <m:mcJc m:val="center"/>
                                      </m:mcPr>
                                    </m:mc>
                                  </m:mcs>
                                  <m:ctrlPr>
                                    <a:rPr lang="en-US" sz="2400" i="1">
                                      <a:solidFill>
                                        <a:srgbClr val="836967"/>
                                      </a:solidFill>
                                      <a:latin typeface="Cambria Math" panose="02040503050406030204" pitchFamily="18" charset="0"/>
                                    </a:rPr>
                                  </m:ctrlPr>
                                </m:mPr>
                                <m:mr>
                                  <m:e>
                                    <m:r>
                                      <a:rPr lang="en-US" sz="2400" i="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1</m:t>
                                        </m:r>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𝑛</m:t>
                                        </m:r>
                                      </m:sub>
                                    </m:sSub>
                                  </m:e>
                                </m:mr>
                                <m:mr>
                                  <m:e>
                                    <m:r>
                                      <a:rPr lang="en-US" sz="2400" i="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2</m:t>
                                        </m:r>
                                        <m:r>
                                          <a:rPr lang="en-US" altLang="zh-CN" sz="2400" i="1" kern="100">
                                            <a:latin typeface="Cambria Math" panose="02040503050406030204" pitchFamily="18" charset="0"/>
                                            <a:ea typeface="等线" panose="02010600030101010101" charset="-122"/>
                                            <a:cs typeface="Times New Roman" panose="02020603050405020304" pitchFamily="18" charset="0"/>
                                          </a:rPr>
                                          <m:t>𝑛</m:t>
                                        </m:r>
                                      </m:sub>
                                    </m:sSub>
                                  </m:e>
                                </m:mr>
                                <m:mr>
                                  <m:e>
                                    <m:r>
                                      <a:rPr lang="en-US" sz="2400" i="0">
                                        <a:latin typeface="Cambria Math" panose="02040503050406030204" pitchFamily="18" charset="0"/>
                                      </a:rPr>
                                      <m:t>    ⋮</m:t>
                                    </m:r>
                                  </m:e>
                                </m:mr>
                              </m:m>
                            </m:e>
                            <m:e>
                              <m:r>
                                <a:rPr lang="en-US" sz="2400" i="0">
                                  <a:latin typeface="Cambria Math" panose="02040503050406030204" pitchFamily="18" charset="0"/>
                                </a:rPr>
                                <m:t>&amp;⋯</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𝑚</m:t>
                                  </m:r>
                                  <m:r>
                                    <a:rPr lang="en-US" altLang="zh-CN" sz="2400" i="1" kern="100">
                                      <a:latin typeface="Cambria Math" panose="02040503050406030204" pitchFamily="18" charset="0"/>
                                      <a:ea typeface="等线" panose="02010600030101010101" charset="-122"/>
                                      <a:cs typeface="Times New Roman" panose="02020603050405020304" pitchFamily="18" charset="0"/>
                                    </a:rPr>
                                    <m:t>𝑛</m:t>
                                  </m:r>
                                </m:sub>
                              </m:sSub>
                            </m:e>
                          </m:eqArr>
                          <m:eqArr>
                            <m:eqArrPr>
                              <m:ctrlPr>
                                <a:rPr lang="en-US" sz="2400" i="1">
                                  <a:solidFill>
                                    <a:srgbClr val="836967"/>
                                  </a:solidFill>
                                  <a:latin typeface="Cambria Math" panose="02040503050406030204" pitchFamily="18" charset="0"/>
                                </a:rPr>
                              </m:ctrlPr>
                            </m:eqArrPr>
                            <m:e>
                              <m:r>
                                <a:rPr lang="en-US" sz="2400" i="0">
                                  <a:latin typeface="Cambria Math" panose="02040503050406030204" pitchFamily="18" charset="0"/>
                                </a:rPr>
                                <m:t>&amp;</m:t>
                              </m:r>
                              <m:m>
                                <m:mPr>
                                  <m:plcHide m:val="on"/>
                                  <m:mcs>
                                    <m:mc>
                                      <m:mcPr>
                                        <m:count m:val="1"/>
                                        <m:mcJc m:val="center"/>
                                      </m:mcPr>
                                    </m:mc>
                                  </m:mcs>
                                  <m:ctrlPr>
                                    <a:rPr lang="en-US" sz="2400" i="1">
                                      <a:solidFill>
                                        <a:srgbClr val="836967"/>
                                      </a:solidFill>
                                      <a:latin typeface="Cambria Math" panose="02040503050406030204" pitchFamily="18" charset="0"/>
                                    </a:rPr>
                                  </m:ctrlPr>
                                </m:mPr>
                                <m:mr>
                                  <m:e>
                                    <m:r>
                                      <a:rPr lang="en-US" sz="2400" i="0">
                                        <a:latin typeface="Cambria Math" panose="02040503050406030204" pitchFamily="18" charset="0"/>
                                      </a:rPr>
                                      <m:t>    </m:t>
                                    </m:r>
                                    <m:sSub>
                                      <m:sSubPr>
                                        <m:ctrlPr>
                                          <a:rPr lang="en-US" altLang="zh-CN" sz="2400" i="1" smtClean="0">
                                            <a:latin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𝑏</m:t>
                                            </m:r>
                                          </m:e>
                                        </m:acc>
                                      </m:e>
                                      <m:sub>
                                        <m:r>
                                          <a:rPr lang="en-US" altLang="zh-CN" sz="2400" b="0" i="1" smtClean="0">
                                            <a:latin typeface="Cambria Math" panose="02040503050406030204" pitchFamily="18" charset="0"/>
                                          </a:rPr>
                                          <m:t>1</m:t>
                                        </m:r>
                                      </m:sub>
                                    </m:sSub>
                                  </m:e>
                                </m:mr>
                                <m:mr>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𝑏</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2</m:t>
                                        </m:r>
                                      </m:sub>
                                    </m:sSub>
                                  </m:e>
                                </m:mr>
                                <m:mr>
                                  <m:e>
                                    <m:r>
                                      <a:rPr lang="en-US" sz="2400" i="0">
                                        <a:latin typeface="Cambria Math" panose="02040503050406030204" pitchFamily="18" charset="0"/>
                                      </a:rPr>
                                      <m:t>    ⋮</m:t>
                                    </m:r>
                                  </m:e>
                                </m:mr>
                              </m:m>
                            </m:e>
                            <m:e>
                              <m:r>
                                <a:rPr lang="en-US" sz="2400" i="0">
                                  <a:latin typeface="Cambria Math" panose="02040503050406030204" pitchFamily="18" charset="0"/>
                                </a:rPr>
                                <m:t>&amp;</m:t>
                              </m:r>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    </m:t>
                                  </m:r>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𝑏</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𝑚</m:t>
                                  </m:r>
                                </m:sub>
                              </m:sSub>
                            </m:e>
                          </m:eqArr>
                        </m:e>
                      </m:d>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2892660" y="4454865"/>
                <a:ext cx="6096000" cy="1992084"/>
              </a:xfrm>
              <a:prstGeom prst="rect">
                <a:avLst/>
              </a:prstGeom>
              <a:blipFill rotWithShape="1">
                <a:blip r:embed="rId3"/>
                <a:stretch>
                  <a:fillRect l="-4" t="-17" r="4" b="22"/>
                </a:stretch>
              </a:blipFill>
            </p:spPr>
            <p:txBody>
              <a:bodyPr/>
              <a:lstStyle/>
              <a:p>
                <a:r>
                  <a:rPr lang="zh-CN" altLang="en-US">
                    <a:noFill/>
                  </a:rPr>
                  <a:t> </a:t>
                </a:r>
              </a:p>
            </p:txBody>
          </p:sp>
        </mc:Fallback>
      </mc:AlternateContent>
      <p:grpSp>
        <p:nvGrpSpPr>
          <p:cNvPr id="4" name="组合 3"/>
          <p:cNvGrpSpPr/>
          <p:nvPr/>
        </p:nvGrpSpPr>
        <p:grpSpPr>
          <a:xfrm>
            <a:off x="504790" y="2969389"/>
            <a:ext cx="11455435" cy="1441450"/>
            <a:chOff x="504790" y="2969389"/>
            <a:chExt cx="11455435" cy="1441450"/>
          </a:xfrm>
        </p:grpSpPr>
        <mc:AlternateContent xmlns:mc="http://schemas.openxmlformats.org/markup-compatibility/2006" xmlns:a14="http://schemas.microsoft.com/office/drawing/2010/main">
          <mc:Choice Requires="a14">
            <p:sp>
              <p:nvSpPr>
                <p:cNvPr id="8" name="文本框 7"/>
                <p:cNvSpPr txBox="1"/>
                <p:nvPr/>
              </p:nvSpPr>
              <p:spPr>
                <a:xfrm>
                  <a:off x="504790" y="2969389"/>
                  <a:ext cx="11407766" cy="1441450"/>
                </a:xfrm>
                <a:prstGeom prst="rect">
                  <a:avLst/>
                </a:prstGeom>
                <a:noFill/>
              </p:spPr>
              <p:txBody>
                <a:bodyPr wrap="square">
                  <a:spAutoFit/>
                </a:bodyPr>
                <a:lstStyle/>
                <a:p>
                  <a:pPr algn="just">
                    <a:lnSpc>
                      <a:spcPct val="120000"/>
                    </a:lnSpc>
                  </a:pPr>
                  <a:r>
                    <a:rPr lang="en-US" altLang="zh-CN" sz="2400" kern="100" dirty="0">
                      <a:latin typeface="等线" panose="02010600030101010101" charset="-122"/>
                      <a:ea typeface="等线" panose="02010600030101010101" charset="-122"/>
                      <a:cs typeface="Times New Roman" panose="02020603050405020304" pitchFamily="18" charset="0"/>
                    </a:rPr>
                    <a:t>     </a:t>
                  </a:r>
                  <a:r>
                    <a:rPr lang="zh-CN" altLang="zh-CN" sz="2400" kern="100" dirty="0">
                      <a:latin typeface="等线" panose="02010600030101010101" charset="-122"/>
                      <a:ea typeface="等线" panose="02010600030101010101" charset="-122"/>
                      <a:cs typeface="Times New Roman" panose="02020603050405020304" pitchFamily="18" charset="0"/>
                    </a:rPr>
                    <a:t>假设当前基本可行解</a:t>
                  </a:r>
                  <a14:m>
                    <m:oMath xmlns:m="http://schemas.openxmlformats.org/officeDocument/2006/math">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𝑥</m:t>
                          </m:r>
                        </m:e>
                      </m:acc>
                    </m:oMath>
                  </a14:m>
                  <a:r>
                    <a:rPr lang="zh-CN" altLang="zh-CN" sz="2400" kern="100" dirty="0">
                      <a:latin typeface="等线" panose="02010600030101010101" charset="-122"/>
                      <a:ea typeface="等线" panose="02010600030101010101" charset="-122"/>
                      <a:cs typeface="Times New Roman" panose="02020603050405020304" pitchFamily="18" charset="0"/>
                    </a:rPr>
                    <a:t>非退化且不是最优解，</a:t>
                  </a:r>
                  <a:endParaRPr lang="en-US" altLang="zh-CN" sz="2400" kern="100" dirty="0">
                    <a:latin typeface="等线" panose="02010600030101010101" charset="-122"/>
                    <a:ea typeface="等线" panose="02010600030101010101" charset="-122"/>
                    <a:cs typeface="Times New Roman" panose="02020603050405020304" pitchFamily="18" charset="0"/>
                  </a:endParaRPr>
                </a:p>
                <a:p>
                  <a:pPr algn="just">
                    <a:lnSpc>
                      <a:spcPct val="120000"/>
                    </a:lnSpc>
                  </a:pPr>
                  <a:endParaRPr lang="en-US" altLang="zh-CN" sz="2400" kern="100" dirty="0">
                    <a:latin typeface="等线" panose="02010600030101010101" charset="-122"/>
                    <a:ea typeface="等线" panose="02010600030101010101" charset="-122"/>
                    <a:cs typeface="Times New Roman" panose="02020603050405020304" pitchFamily="18" charset="0"/>
                  </a:endParaRPr>
                </a:p>
                <a:p>
                  <a:pPr algn="just">
                    <a:lnSpc>
                      <a:spcPct val="120000"/>
                    </a:lnSpc>
                  </a:pPr>
                  <a:r>
                    <a:rPr lang="zh-CN" altLang="zh-CN" sz="2400" kern="100" dirty="0">
                      <a:latin typeface="等线" panose="02010600030101010101" charset="-122"/>
                      <a:ea typeface="等线" panose="02010600030101010101" charset="-122"/>
                      <a:cs typeface="Times New Roman" panose="02020603050405020304" pitchFamily="18" charset="0"/>
                    </a:rPr>
                    <a:t>此时由可行性</a:t>
                  </a:r>
                  <a14:m>
                    <m:oMath xmlns:m="http://schemas.openxmlformats.org/officeDocument/2006/math">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𝑥</m:t>
                          </m:r>
                        </m:e>
                      </m:acc>
                      <m:r>
                        <a:rPr lang="en-US" altLang="zh-CN" sz="2400" i="1" kern="100">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𝑏</m:t>
                          </m:r>
                        </m:e>
                      </m:acc>
                    </m:oMath>
                  </a14:m>
                  <a:r>
                    <a:rPr lang="zh-CN" altLang="en-US" sz="2400" kern="100" dirty="0">
                      <a:latin typeface="等线" panose="02010600030101010101" charset="-122"/>
                      <a:ea typeface="等线" panose="02010600030101010101" charset="-122"/>
                      <a:cs typeface="Times New Roman" panose="02020603050405020304" pitchFamily="18" charset="0"/>
                    </a:rPr>
                    <a:t>，这里</a:t>
                  </a:r>
                  <a:endParaRPr lang="en-US" altLang="zh-CN" sz="2400"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504790" y="2969389"/>
                  <a:ext cx="11407766" cy="144145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graphicFrame>
              <p:nvGraphicFramePr>
                <p:cNvPr id="3" name="Object 5"/>
                <p:cNvGraphicFramePr>
                  <a:graphicFrameLocks noChangeAspect="1"/>
                </p:cNvGraphicFramePr>
                <p:nvPr/>
              </p:nvGraphicFramePr>
              <p:xfrm>
                <a:off x="6859588" y="2990850"/>
                <a:ext cx="5100637" cy="650875"/>
              </p:xfrm>
              <a:graphic>
                <a:graphicData uri="http://schemas.openxmlformats.org/presentationml/2006/ole">
                  <mc:AlternateContent>
                    <mc:Choice xmlns:v="urn:schemas-microsoft-com:vml" Requires="v">
                      <p:oleObj name="Equation" r:id="rId5" imgW="59740800" imgH="7620000" progId="Equation.DSMT4">
                        <p:embed/>
                      </p:oleObj>
                    </mc:Choice>
                    <mc:Fallback>
                      <p:oleObj name="Equation" r:id="rId5" imgW="59740800" imgH="7620000" progId="Equation.DSMT4">
                        <p:embed/>
                        <p:pic>
                          <p:nvPicPr>
                            <p:cNvPr id="0" name="Object 5"/>
                            <p:cNvPicPr>
                              <a:picLocks noChangeAspect="1" noChangeArrowheads="1"/>
                            </p:cNvPicPr>
                            <p:nvPr/>
                          </p:nvPicPr>
                          <p:blipFill>
                            <a:blip r:embed="rId6"/>
                            <a:srcRect/>
                            <a:stretch>
                              <a:fillRect/>
                            </a:stretch>
                          </p:blipFill>
                          <p:spPr bwMode="auto">
                            <a:xfrm>
                              <a:off x="6859588" y="2990850"/>
                              <a:ext cx="5100637" cy="650875"/>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p:graphicFrame>
              <p:nvGraphicFramePr>
                <p:cNvPr id="3" name="Object 5"/>
                <p:cNvGraphicFramePr>
                  <a:graphicFrameLocks noChangeAspect="1"/>
                </p:cNvGraphicFramePr>
                <p:nvPr/>
              </p:nvGraphicFramePr>
              <p:xfrm>
                <a:off x="6859588" y="2990850"/>
                <a:ext cx="5100637" cy="650875"/>
              </p:xfrm>
              <a:graphic>
                <a:graphicData uri="http://schemas.openxmlformats.org/presentationml/2006/ole">
                  <mc:AlternateContent>
                    <mc:Choice xmlns:v="urn:schemas-microsoft-com:vml" Requires="v">
                      <p:oleObj name="Equation" r:id="rId5" imgW="59740800" imgH="7620000" progId="Equation.DSMT4">
                        <p:embed/>
                      </p:oleObj>
                    </mc:Choice>
                    <mc:Fallback>
                      <p:oleObj name="Equation" r:id="rId5" imgW="59740800" imgH="7620000" progId="Equation.DSMT4">
                        <p:embed/>
                        <p:pic>
                          <p:nvPicPr>
                            <p:cNvPr id="0" name="Object 5"/>
                            <p:cNvPicPr>
                              <a:picLocks noChangeAspect="1" noChangeArrowheads="1"/>
                            </p:cNvPicPr>
                            <p:nvPr/>
                          </p:nvPicPr>
                          <p:blipFill>
                            <a:blip r:embed="rId6"/>
                            <a:srcRect/>
                            <a:stretch>
                              <a:fillRect/>
                            </a:stretch>
                          </p:blipFill>
                          <p:spPr bwMode="auto">
                            <a:xfrm>
                              <a:off x="6859588" y="2990850"/>
                              <a:ext cx="5100637" cy="65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grpSp>
      <mc:AlternateContent xmlns:mc="http://schemas.openxmlformats.org/markup-compatibility/2006" xmlns:a14="http://schemas.microsoft.com/office/drawing/2010/main">
        <mc:Choice Requires="a14">
          <p:sp>
            <p:nvSpPr>
              <p:cNvPr id="6" name="文本框 5"/>
              <p:cNvSpPr txBox="1"/>
              <p:nvPr/>
            </p:nvSpPr>
            <p:spPr>
              <a:xfrm>
                <a:off x="-312712" y="5196318"/>
                <a:ext cx="6097554"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2400" i="1" kern="100" smtClean="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 </m:t>
                          </m:r>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𝑏</m:t>
                              </m:r>
                            </m:e>
                          </m:acc>
                        </m:e>
                      </m:d>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m:t>
                      </m:r>
                    </m:oMath>
                  </m:oMathPara>
                </a14:m>
                <a:endParaRPr lang="zh-CN" altLang="en-US"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312712" y="5196318"/>
                <a:ext cx="6097554" cy="509178"/>
              </a:xfrm>
              <a:prstGeom prst="rect">
                <a:avLst/>
              </a:prstGeom>
              <a:blipFill rotWithShape="1">
                <a:blip r:embed="rId7"/>
                <a:stretch>
                  <a:fillRect l="5" t="-22" r="10" b="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文本框 8"/>
              <p:cNvSpPr txBox="1"/>
              <p:nvPr/>
            </p:nvSpPr>
            <p:spPr>
              <a:xfrm>
                <a:off x="3143672" y="1531507"/>
                <a:ext cx="6696744" cy="472245"/>
              </a:xfrm>
              <a:prstGeom prst="rect">
                <a:avLst/>
              </a:prstGeom>
              <a:noFill/>
            </p:spPr>
            <p:txBody>
              <a:bodyPr wrap="square">
                <a:spAutoFit/>
              </a:bodyPr>
              <a:lstStyle/>
              <a:p>
                <a:pPr algn="ct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𝑘</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nary>
                      <m:naryPr>
                        <m:chr m:val="∑"/>
                        <m:limLoc m:val="undOv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i="1" kern="100">
                            <a:latin typeface="Cambria Math" panose="02040503050406030204" pitchFamily="18" charset="0"/>
                            <a:ea typeface="等线" panose="02010600030101010101" charset="-122"/>
                            <a:cs typeface="Times New Roman" panose="02020603050405020304" pitchFamily="18" charset="0"/>
                          </a:rPr>
                          <m:t>𝑖</m:t>
                        </m:r>
                        <m:r>
                          <a:rPr lang="en-US" altLang="zh-CN" sz="2400" i="1" kern="100">
                            <a:latin typeface="Cambria Math" panose="02040503050406030204" pitchFamily="18" charset="0"/>
                            <a:ea typeface="等线" panose="02010600030101010101" charset="-122"/>
                            <a:cs typeface="Times New Roman" panose="02020603050405020304" pitchFamily="18" charset="0"/>
                          </a:rPr>
                          <m:t>=1</m:t>
                        </m:r>
                      </m:sub>
                      <m:sup>
                        <m:r>
                          <a:rPr lang="en-US" altLang="zh-CN" sz="2400" i="1" kern="100">
                            <a:latin typeface="Cambria Math" panose="02040503050406030204" pitchFamily="18" charset="0"/>
                            <a:ea typeface="等线" panose="02010600030101010101" charset="-122"/>
                            <a:cs typeface="Times New Roman" panose="02020603050405020304" pitchFamily="18" charset="0"/>
                          </a:rPr>
                          <m:t>𝑚</m:t>
                        </m:r>
                      </m:sup>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𝑖𝑘</m:t>
                            </m:r>
                          </m:sub>
                        </m:sSub>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m:t>
                            </m:r>
                          </m:sub>
                        </m:sSub>
                      </m:e>
                    </m:nary>
                  </m:oMath>
                </a14:m>
                <a:r>
                  <a:rPr lang="en-US" altLang="zh-CN" sz="2400" kern="100" dirty="0">
                    <a:latin typeface="等线" panose="02010600030101010101" charset="-122"/>
                    <a:ea typeface="等线" panose="02010600030101010101" charset="-122"/>
                    <a:cs typeface="Times New Roman" panose="02020603050405020304" pitchFamily="18" charset="0"/>
                  </a:rPr>
                  <a:t>    (2)</a:t>
                </a:r>
                <a:endParaRPr lang="zh-CN" altLang="zh-CN" sz="2400"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143672" y="1531507"/>
                <a:ext cx="6696744" cy="472245"/>
              </a:xfrm>
              <a:prstGeom prst="rect">
                <a:avLst/>
              </a:prstGeom>
              <a:blipFill rotWithShape="1">
                <a:blip r:embed="rId2"/>
                <a:stretch>
                  <a:fillRect l="-6" t="-111" r="7" b="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911424" y="116632"/>
                <a:ext cx="11407766" cy="1444242"/>
              </a:xfrm>
              <a:prstGeom prst="rect">
                <a:avLst/>
              </a:prstGeom>
              <a:noFill/>
            </p:spPr>
            <p:txBody>
              <a:bodyPr wrap="square">
                <a:spAutoFit/>
              </a:bodyPr>
              <a:lstStyle/>
              <a:p>
                <a:pPr algn="just">
                  <a:lnSpc>
                    <a:spcPct val="120000"/>
                  </a:lnSpc>
                </a:pPr>
                <a14:m>
                  <m:oMath xmlns:m="http://schemas.openxmlformats.org/officeDocument/2006/math">
                    <m:acc>
                      <m:accPr>
                        <m:chr m:val="̅"/>
                        <m:ctrlPr>
                          <a:rPr lang="zh-CN" altLang="zh-CN" sz="2400" i="1" kern="100" smtClean="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𝑥</m:t>
                        </m:r>
                      </m:e>
                    </m:acc>
                  </m:oMath>
                </a14:m>
                <a:r>
                  <a:rPr lang="zh-CN" altLang="zh-CN" sz="2400" kern="100" dirty="0">
                    <a:latin typeface="等线" panose="02010600030101010101" charset="-122"/>
                    <a:ea typeface="等线" panose="02010600030101010101" charset="-122"/>
                    <a:cs typeface="Times New Roman" panose="02020603050405020304" pitchFamily="18" charset="0"/>
                  </a:rPr>
                  <a:t>非退化</a:t>
                </a:r>
                <a:r>
                  <a:rPr lang="zh-CN" altLang="en-US" sz="2400" kern="100" dirty="0">
                    <a:latin typeface="等线" panose="02010600030101010101" charset="-122"/>
                    <a:ea typeface="等线" panose="02010600030101010101" charset="-122"/>
                    <a:cs typeface="Times New Roman" panose="02020603050405020304" pitchFamily="18" charset="0"/>
                  </a:rPr>
                  <a:t>，</a:t>
                </a:r>
                <a:r>
                  <a:rPr lang="zh-CN" altLang="zh-CN" sz="2400" kern="100" dirty="0">
                    <a:latin typeface="等线" panose="02010600030101010101" charset="-122"/>
                    <a:ea typeface="等线" panose="02010600030101010101" charset="-122"/>
                    <a:cs typeface="Times New Roman" panose="02020603050405020304" pitchFamily="18" charset="0"/>
                  </a:rPr>
                  <a:t>有</a:t>
                </a:r>
              </a:p>
              <a:p>
                <a:pPr algn="ctr">
                  <a:lnSpc>
                    <a:spcPct val="120000"/>
                  </a:lnSpc>
                </a:pPr>
                <a14:m>
                  <m:oMath xmlns:m="http://schemas.openxmlformats.org/officeDocument/2006/math">
                    <m:nary>
                      <m:naryPr>
                        <m:chr m:val="∑"/>
                        <m:limLoc m:val="undOv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i="1" kern="100">
                            <a:latin typeface="Cambria Math" panose="02040503050406030204" pitchFamily="18" charset="0"/>
                            <a:ea typeface="等线" panose="02010600030101010101" charset="-122"/>
                            <a:cs typeface="Times New Roman" panose="02020603050405020304" pitchFamily="18" charset="0"/>
                          </a:rPr>
                          <m:t>𝑖</m:t>
                        </m:r>
                        <m:r>
                          <a:rPr lang="en-US" altLang="zh-CN" sz="2400" i="1" kern="100">
                            <a:latin typeface="Cambria Math" panose="02040503050406030204" pitchFamily="18" charset="0"/>
                            <a:ea typeface="等线" panose="02010600030101010101" charset="-122"/>
                            <a:cs typeface="Times New Roman" panose="02020603050405020304" pitchFamily="18" charset="0"/>
                          </a:rPr>
                          <m:t>=1</m:t>
                        </m:r>
                      </m:sub>
                      <m:sup>
                        <m:r>
                          <a:rPr lang="en-US" altLang="zh-CN" sz="2400" i="1" kern="100">
                            <a:latin typeface="Cambria Math" panose="02040503050406030204" pitchFamily="18" charset="0"/>
                            <a:ea typeface="等线" panose="02010600030101010101" charset="-122"/>
                            <a:cs typeface="Times New Roman" panose="02020603050405020304" pitchFamily="18" charset="0"/>
                          </a:rPr>
                          <m:t>𝑚</m:t>
                        </m:r>
                      </m:sup>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𝑥</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m:t>
                            </m:r>
                          </m:sub>
                        </m:sSub>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m:t>
                            </m:r>
                          </m:sub>
                        </m:sSub>
                      </m:e>
                    </m:nary>
                    <m:r>
                      <a:rPr lang="en-US" altLang="zh-CN" sz="2400" i="1" kern="100">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𝑏</m:t>
                        </m:r>
                      </m:e>
                    </m:acc>
                  </m:oMath>
                </a14:m>
                <a:r>
                  <a:rPr lang="en-US" altLang="zh-CN" sz="2400" kern="100" dirty="0">
                    <a:latin typeface="等线" panose="02010600030101010101" charset="-122"/>
                    <a:ea typeface="等线" panose="02010600030101010101" charset="-122"/>
                    <a:cs typeface="Times New Roman" panose="02020603050405020304" pitchFamily="18" charset="0"/>
                  </a:rPr>
                  <a:t>    (1)</a:t>
                </a:r>
                <a:endParaRPr lang="zh-CN" altLang="zh-CN" sz="2400" kern="100" dirty="0">
                  <a:latin typeface="等线" panose="02010600030101010101" charset="-122"/>
                  <a:ea typeface="等线" panose="02010600030101010101" charset="-122"/>
                  <a:cs typeface="Times New Roman" panose="02020603050405020304" pitchFamily="18" charset="0"/>
                </a:endParaRPr>
              </a:p>
              <a:p>
                <a:pPr algn="just">
                  <a:lnSpc>
                    <a:spcPct val="120000"/>
                  </a:lnSpc>
                </a:pPr>
                <a:r>
                  <a:rPr lang="zh-CN" altLang="zh-CN" sz="2400" kern="100" dirty="0">
                    <a:latin typeface="等线" panose="02010600030101010101" charset="-122"/>
                    <a:ea typeface="等线" panose="02010600030101010101" charset="-122"/>
                    <a:cs typeface="Times New Roman" panose="02020603050405020304" pitchFamily="18" charset="0"/>
                  </a:rPr>
                  <a:t>注意到</a:t>
                </a:r>
              </a:p>
            </p:txBody>
          </p:sp>
        </mc:Choice>
        <mc:Fallback xmlns="">
          <p:sp>
            <p:nvSpPr>
              <p:cNvPr id="2" name="文本框 1"/>
              <p:cNvSpPr txBox="1">
                <a:spLocks noRot="1" noChangeAspect="1" noMove="1" noResize="1" noEditPoints="1" noAdjustHandles="1" noChangeArrowheads="1" noChangeShapeType="1" noTextEdit="1"/>
              </p:cNvSpPr>
              <p:nvPr/>
            </p:nvSpPr>
            <p:spPr>
              <a:xfrm>
                <a:off x="911424" y="116632"/>
                <a:ext cx="11407766" cy="1444242"/>
              </a:xfrm>
              <a:prstGeom prst="rect">
                <a:avLst/>
              </a:prstGeom>
              <a:blipFill rotWithShape="1">
                <a:blip r:embed="rId3"/>
                <a:stretch>
                  <a:fillRect l="-2" t="-30" r="2"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623392" y="2420888"/>
                <a:ext cx="9721080" cy="2955361"/>
              </a:xfrm>
              <a:prstGeom prst="rect">
                <a:avLst/>
              </a:prstGeom>
              <a:noFill/>
            </p:spPr>
            <p:txBody>
              <a:bodyPr wrap="square">
                <a:spAutoFit/>
              </a:bodyPr>
              <a:lstStyle/>
              <a:p>
                <a:pPr algn="just">
                  <a:lnSpc>
                    <a:spcPct val="120000"/>
                  </a:lnSpc>
                </a:pPr>
                <a:r>
                  <a:rPr lang="en-US" altLang="zh-CN" sz="2400" kern="100" dirty="0">
                    <a:latin typeface="等线" panose="02010600030101010101" charset="-122"/>
                    <a:ea typeface="等线" panose="02010600030101010101" charset="-122"/>
                    <a:cs typeface="Times New Roman" panose="02020603050405020304" pitchFamily="18" charset="0"/>
                  </a:rPr>
                  <a:t>     </a:t>
                </a:r>
                <a:r>
                  <a:rPr lang="zh-CN" altLang="zh-CN" sz="2400" kern="100" dirty="0">
                    <a:latin typeface="等线" panose="02010600030101010101" charset="-122"/>
                    <a:ea typeface="等线" panose="02010600030101010101" charset="-122"/>
                    <a:cs typeface="Times New Roman" panose="02020603050405020304" pitchFamily="18" charset="0"/>
                  </a:rPr>
                  <a:t>令</a:t>
                </a:r>
                <a14:m>
                  <m:oMath xmlns:m="http://schemas.openxmlformats.org/officeDocument/2006/math">
                    <m:r>
                      <a:rPr lang="en-US" altLang="zh-CN" sz="2400" i="1" kern="100">
                        <a:latin typeface="Cambria Math" panose="02040503050406030204" pitchFamily="18" charset="0"/>
                        <a:ea typeface="等线" panose="02010600030101010101" charset="-122"/>
                        <a:cs typeface="Times New Roman" panose="02020603050405020304" pitchFamily="18" charset="0"/>
                      </a:rPr>
                      <m:t>𝜃</m:t>
                    </m:r>
                    <m:r>
                      <a:rPr lang="en-US" altLang="zh-CN" sz="2400" i="1" kern="100">
                        <a:latin typeface="Cambria Math" panose="02040503050406030204" pitchFamily="18" charset="0"/>
                        <a:ea typeface="等线" panose="02010600030101010101" charset="-122"/>
                        <a:cs typeface="Times New Roman" panose="02020603050405020304" pitchFamily="18" charset="0"/>
                      </a:rPr>
                      <m:t>&gt;0</m:t>
                    </m:r>
                  </m:oMath>
                </a14:m>
                <a:r>
                  <a:rPr lang="zh-CN" altLang="zh-CN" sz="2400" kern="100" dirty="0">
                    <a:latin typeface="等线" panose="02010600030101010101" charset="-122"/>
                    <a:ea typeface="等线" panose="02010600030101010101" charset="-122"/>
                    <a:cs typeface="Times New Roman" panose="02020603050405020304" pitchFamily="18" charset="0"/>
                  </a:rPr>
                  <a:t>，由</a:t>
                </a:r>
                <a:r>
                  <a:rPr lang="en-US" altLang="zh-CN" sz="2400" kern="100" dirty="0">
                    <a:latin typeface="等线" panose="02010600030101010101" charset="-122"/>
                    <a:ea typeface="等线" panose="02010600030101010101" charset="-122"/>
                    <a:cs typeface="Times New Roman" panose="02020603050405020304" pitchFamily="18" charset="0"/>
                  </a:rPr>
                  <a:t>(2)</a:t>
                </a:r>
                <a14:m>
                  <m:oMath xmlns:m="http://schemas.openxmlformats.org/officeDocument/2006/math">
                    <m:r>
                      <a:rPr lang="en-US" altLang="zh-CN" sz="2400" i="1" kern="100">
                        <a:latin typeface="Cambria Math" panose="02040503050406030204" pitchFamily="18" charset="0"/>
                        <a:ea typeface="等线" panose="02010600030101010101" charset="-122"/>
                        <a:cs typeface="Times New Roman" panose="02020603050405020304" pitchFamily="18" charset="0"/>
                      </a:rPr>
                      <m:t> ×</m:t>
                    </m:r>
                    <m:r>
                      <a:rPr lang="en-US" altLang="zh-CN" sz="2400" i="1" kern="100">
                        <a:latin typeface="Cambria Math" panose="02040503050406030204" pitchFamily="18" charset="0"/>
                        <a:ea typeface="等线" panose="02010600030101010101" charset="-122"/>
                        <a:cs typeface="Times New Roman" panose="02020603050405020304" pitchFamily="18" charset="0"/>
                      </a:rPr>
                      <m:t>𝜃</m:t>
                    </m:r>
                  </m:oMath>
                </a14:m>
                <a:r>
                  <a:rPr lang="en-US" altLang="zh-CN" sz="2400" kern="100" dirty="0">
                    <a:latin typeface="等线" panose="02010600030101010101" charset="-122"/>
                    <a:ea typeface="等线" panose="02010600030101010101" charset="-122"/>
                    <a:cs typeface="Times New Roman" panose="02020603050405020304" pitchFamily="18" charset="0"/>
                  </a:rPr>
                  <a:t>+(1)</a:t>
                </a:r>
                <a:r>
                  <a:rPr lang="zh-CN" altLang="zh-CN" sz="2400" kern="100" dirty="0">
                    <a:latin typeface="等线" panose="02010600030101010101" charset="-122"/>
                    <a:ea typeface="等线" panose="02010600030101010101" charset="-122"/>
                    <a:cs typeface="Times New Roman" panose="02020603050405020304" pitchFamily="18" charset="0"/>
                  </a:rPr>
                  <a:t>可得</a:t>
                </a:r>
              </a:p>
              <a:p>
                <a:pPr algn="just">
                  <a:lnSpc>
                    <a:spcPct val="12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等线" panose="02010600030101010101" charset="-122"/>
                          <a:cs typeface="Times New Roman" panose="02020603050405020304" pitchFamily="18" charset="0"/>
                        </a:rPr>
                        <m:t>𝜃</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𝑘</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nary>
                        <m:naryPr>
                          <m:chr m:val="∑"/>
                          <m:limLoc m:val="undOv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i="1" kern="100">
                              <a:latin typeface="Cambria Math" panose="02040503050406030204" pitchFamily="18" charset="0"/>
                              <a:ea typeface="等线" panose="02010600030101010101" charset="-122"/>
                              <a:cs typeface="Times New Roman" panose="02020603050405020304" pitchFamily="18" charset="0"/>
                            </a:rPr>
                            <m:t>𝑖</m:t>
                          </m:r>
                          <m:r>
                            <a:rPr lang="en-US" altLang="zh-CN" sz="2400" i="1" kern="100">
                              <a:latin typeface="Cambria Math" panose="02040503050406030204" pitchFamily="18" charset="0"/>
                              <a:ea typeface="等线" panose="02010600030101010101" charset="-122"/>
                              <a:cs typeface="Times New Roman" panose="02020603050405020304" pitchFamily="18" charset="0"/>
                            </a:rPr>
                            <m:t>=1</m:t>
                          </m:r>
                        </m:sub>
                        <m:sup>
                          <m:r>
                            <a:rPr lang="en-US" altLang="zh-CN" sz="2400" i="1" kern="100">
                              <a:latin typeface="Cambria Math" panose="02040503050406030204" pitchFamily="18" charset="0"/>
                              <a:ea typeface="等线" panose="02010600030101010101" charset="-122"/>
                              <a:cs typeface="Times New Roman" panose="02020603050405020304" pitchFamily="18" charset="0"/>
                            </a:rPr>
                            <m:t>𝑚</m:t>
                          </m:r>
                        </m:sup>
                        <m:e>
                          <m:r>
                            <a:rPr lang="en-US" altLang="zh-CN" sz="24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𝑥</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𝜃</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𝑖𝑘</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𝐴</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m:t>
                              </m:r>
                            </m:sub>
                          </m:sSub>
                        </m:e>
                      </m:nary>
                      <m:r>
                        <a:rPr lang="en-US" altLang="zh-CN" sz="2400" i="1" kern="100">
                          <a:latin typeface="Cambria Math" panose="02040503050406030204" pitchFamily="18" charset="0"/>
                          <a:ea typeface="等线" panose="02010600030101010101" charset="-122"/>
                          <a:cs typeface="Times New Roman" panose="02020603050405020304" pitchFamily="18" charset="0"/>
                        </a:rPr>
                        <m:t>=</m:t>
                      </m:r>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𝑏</m:t>
                          </m:r>
                        </m:e>
                      </m:acc>
                    </m:oMath>
                  </m:oMathPara>
                </a14:m>
                <a:endParaRPr lang="zh-CN" altLang="zh-CN" sz="2400" kern="100" dirty="0">
                  <a:latin typeface="等线" panose="02010600030101010101" charset="-122"/>
                  <a:ea typeface="等线" panose="02010600030101010101" charset="-122"/>
                  <a:cs typeface="Times New Roman" panose="02020603050405020304" pitchFamily="18" charset="0"/>
                </a:endParaRPr>
              </a:p>
              <a:p>
                <a:pPr algn="just">
                  <a:lnSpc>
                    <a:spcPct val="120000"/>
                  </a:lnSpc>
                </a:pPr>
                <a:r>
                  <a:rPr lang="en-US" altLang="zh-CN" sz="2400" kern="100" dirty="0">
                    <a:latin typeface="等线" panose="02010600030101010101" charset="-122"/>
                    <a:ea typeface="等线" panose="02010600030101010101" charset="-122"/>
                    <a:cs typeface="Times New Roman" panose="02020603050405020304" pitchFamily="18" charset="0"/>
                  </a:rPr>
                  <a:t>     </a:t>
                </a:r>
                <a:r>
                  <a:rPr lang="zh-CN" altLang="zh-CN" sz="2400" kern="100" dirty="0">
                    <a:latin typeface="等线" panose="02010600030101010101" charset="-122"/>
                    <a:ea typeface="等线" panose="02010600030101010101" charset="-122"/>
                    <a:cs typeface="Times New Roman" panose="02020603050405020304" pitchFamily="18" charset="0"/>
                  </a:rPr>
                  <a:t>构造</a:t>
                </a:r>
              </a:p>
              <a:p>
                <a:pPr algn="just">
                  <a:lnSpc>
                    <a:spcPct val="120000"/>
                  </a:lnSpc>
                </a:pPr>
                <a14:m>
                  <m:oMathPara xmlns:m="http://schemas.openxmlformats.org/officeDocument/2006/math">
                    <m:oMathParaPr>
                      <m:jc m:val="centerGroup"/>
                    </m:oMathParaPr>
                    <m:oMath xmlns:m="http://schemas.openxmlformats.org/officeDocument/2006/math">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𝑥</m:t>
                          </m:r>
                        </m:e>
                      </m:acc>
                      <m:r>
                        <a:rPr lang="en-US" altLang="zh-CN" sz="24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𝑥</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𝜃</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1</m:t>
                              </m:r>
                              <m:r>
                                <a:rPr lang="en-US" altLang="zh-CN" sz="2400" i="1" kern="100">
                                  <a:latin typeface="Cambria Math" panose="02040503050406030204" pitchFamily="18" charset="0"/>
                                  <a:ea typeface="等线" panose="02010600030101010101" charset="-122"/>
                                  <a:cs typeface="Times New Roman" panose="02020603050405020304" pitchFamily="18" charset="0"/>
                                </a:rPr>
                                <m:t>𝑘</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𝑥</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𝑚</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𝜃</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𝑚𝑘</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,0,⋯,</m:t>
                          </m:r>
                          <m:limLow>
                            <m:limLow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2400" i="1" kern="100">
                                      <a:latin typeface="Cambria Math" panose="02040503050406030204" pitchFamily="18" charset="0"/>
                                      <a:ea typeface="等线" panose="02010600030101010101" charset="-122"/>
                                      <a:cs typeface="Times New Roman" panose="02020603050405020304" pitchFamily="18" charset="0"/>
                                    </a:rPr>
                                    <m:t>𝜃</m:t>
                                  </m:r>
                                </m:e>
                              </m:groupChr>
                            </m:e>
                            <m:lim>
                              <m:r>
                                <a:rPr lang="en-US" altLang="zh-CN" sz="2400" i="1" kern="100">
                                  <a:latin typeface="Cambria Math" panose="02040503050406030204" pitchFamily="18" charset="0"/>
                                  <a:ea typeface="等线" panose="02010600030101010101" charset="-122"/>
                                  <a:cs typeface="Times New Roman" panose="02020603050405020304" pitchFamily="18" charset="0"/>
                                </a:rPr>
                                <m:t>𝑘</m:t>
                              </m:r>
                            </m:lim>
                          </m:limLow>
                          <m:r>
                            <a:rPr lang="en-US" altLang="zh-CN" sz="2400" i="1" kern="100">
                              <a:latin typeface="Cambria Math" panose="02040503050406030204" pitchFamily="18" charset="0"/>
                              <a:ea typeface="等线" panose="02010600030101010101" charset="-122"/>
                              <a:cs typeface="Times New Roman" panose="02020603050405020304" pitchFamily="18" charset="0"/>
                            </a:rPr>
                            <m:t>,⋯,0)</m:t>
                          </m:r>
                        </m:e>
                        <m:sup>
                          <m:r>
                            <a:rPr lang="en-US" altLang="zh-CN" sz="2400" i="1" kern="100">
                              <a:latin typeface="Cambria Math" panose="02040503050406030204" pitchFamily="18" charset="0"/>
                              <a:ea typeface="等线" panose="02010600030101010101" charset="-122"/>
                              <a:cs typeface="Times New Roman" panose="02020603050405020304" pitchFamily="18" charset="0"/>
                            </a:rPr>
                            <m:t>𝑇</m:t>
                          </m:r>
                        </m:sup>
                      </m:sSup>
                    </m:oMath>
                  </m:oMathPara>
                </a14:m>
                <a:endParaRPr lang="zh-CN" altLang="zh-CN" sz="2400"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623392" y="2420888"/>
                <a:ext cx="9721080" cy="2955361"/>
              </a:xfrm>
              <a:prstGeom prst="rect">
                <a:avLst/>
              </a:prstGeom>
              <a:blipFill rotWithShape="1">
                <a:blip r:embed="rId4"/>
                <a:stretch>
                  <a:fillRect l="-5" t="-9" r="3" b="11"/>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335360" y="116632"/>
                <a:ext cx="9649072" cy="1696875"/>
              </a:xfrm>
              <a:prstGeom prst="rect">
                <a:avLst/>
              </a:prstGeom>
              <a:noFill/>
            </p:spPr>
            <p:txBody>
              <a:bodyPr wrap="square">
                <a:spAutoFit/>
              </a:bodyPr>
              <a:lstStyle/>
              <a:p>
                <a:pPr algn="just">
                  <a:lnSpc>
                    <a:spcPct val="150000"/>
                  </a:lnSpc>
                </a:pPr>
                <a:r>
                  <a:rPr lang="zh-CN" altLang="en-US" sz="2400" b="1" kern="100" dirty="0">
                    <a:solidFill>
                      <a:srgbClr val="C00000"/>
                    </a:solidFill>
                    <a:latin typeface="等线" panose="02010600030101010101" charset="-122"/>
                    <a:ea typeface="等线" panose="02010600030101010101" charset="-122"/>
                    <a:cs typeface="Times New Roman" panose="02020603050405020304" pitchFamily="18" charset="0"/>
                  </a:rPr>
                  <a:t>问题：</a:t>
                </a:r>
                <a:r>
                  <a:rPr lang="zh-CN" altLang="zh-CN" sz="2400" b="1" kern="100" dirty="0">
                    <a:solidFill>
                      <a:srgbClr val="C00000"/>
                    </a:solidFill>
                    <a:latin typeface="等线" panose="02010600030101010101" charset="-122"/>
                    <a:ea typeface="等线" panose="02010600030101010101" charset="-122"/>
                    <a:cs typeface="Times New Roman" panose="02020603050405020304" pitchFamily="18" charset="0"/>
                  </a:rPr>
                  <a:t>要使</a:t>
                </a:r>
                <a14:m>
                  <m:oMath xmlns:m="http://schemas.openxmlformats.org/officeDocument/2006/math">
                    <m:acc>
                      <m:accPr>
                        <m:chr m:val="̃"/>
                        <m:ctrlPr>
                          <a:rPr lang="zh-CN" altLang="zh-CN" sz="2400" b="1" i="1" kern="100">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b="1" i="1" kern="100">
                            <a:solidFill>
                              <a:srgbClr val="C00000"/>
                            </a:solidFill>
                            <a:latin typeface="Cambria Math" panose="02040503050406030204" pitchFamily="18" charset="0"/>
                            <a:ea typeface="等线" panose="02010600030101010101" charset="-122"/>
                            <a:cs typeface="Times New Roman" panose="02020603050405020304" pitchFamily="18" charset="0"/>
                          </a:rPr>
                          <m:t>𝒙</m:t>
                        </m:r>
                      </m:e>
                    </m:acc>
                  </m:oMath>
                </a14:m>
                <a:r>
                  <a:rPr lang="zh-CN" altLang="zh-CN" sz="2400" b="1" kern="100" dirty="0">
                    <a:solidFill>
                      <a:srgbClr val="C00000"/>
                    </a:solidFill>
                    <a:latin typeface="等线" panose="02010600030101010101" charset="-122"/>
                    <a:ea typeface="等线" panose="02010600030101010101" charset="-122"/>
                    <a:cs typeface="Times New Roman" panose="02020603050405020304" pitchFamily="18" charset="0"/>
                  </a:rPr>
                  <a:t>为基本可行解需要什么条件？</a:t>
                </a:r>
              </a:p>
              <a:p>
                <a:pPr algn="just">
                  <a:lnSpc>
                    <a:spcPct val="150000"/>
                  </a:lnSpc>
                </a:pPr>
                <a:r>
                  <a:rPr lang="zh-CN" altLang="en-US" sz="2400" b="1" kern="100" dirty="0">
                    <a:latin typeface="等线" panose="02010600030101010101" charset="-122"/>
                    <a:ea typeface="等线" panose="02010600030101010101" charset="-122"/>
                    <a:cs typeface="Times New Roman" panose="02020603050405020304" pitchFamily="18" charset="0"/>
                  </a:rPr>
                  <a:t>回答</a:t>
                </a:r>
                <a:r>
                  <a:rPr lang="zh-CN" altLang="en-US" sz="2400" kern="100" dirty="0">
                    <a:latin typeface="等线" panose="02010600030101010101" charset="-122"/>
                    <a:ea typeface="等线" panose="02010600030101010101" charset="-122"/>
                    <a:cs typeface="Times New Roman" panose="02020603050405020304" pitchFamily="18" charset="0"/>
                  </a:rPr>
                  <a:t>：</a:t>
                </a:r>
                <a:r>
                  <a:rPr lang="zh-CN" altLang="zh-CN" sz="2400" kern="100" dirty="0">
                    <a:latin typeface="等线" panose="02010600030101010101" charset="-122"/>
                    <a:ea typeface="等线" panose="02010600030101010101" charset="-122"/>
                    <a:cs typeface="Times New Roman" panose="02020603050405020304" pitchFamily="18" charset="0"/>
                  </a:rPr>
                  <a:t>若所有</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𝑖𝑘</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≤0</m:t>
                    </m:r>
                  </m:oMath>
                </a14:m>
                <a:r>
                  <a:rPr lang="zh-CN" altLang="zh-CN" sz="2400" kern="100" dirty="0">
                    <a:latin typeface="等线" panose="02010600030101010101" charset="-122"/>
                    <a:ea typeface="等线" panose="02010600030101010101" charset="-122"/>
                    <a:cs typeface="Times New Roman" panose="02020603050405020304" pitchFamily="18" charset="0"/>
                  </a:rPr>
                  <a:t>，由定理</a:t>
                </a:r>
                <a:r>
                  <a:rPr lang="en-US" altLang="zh-CN" sz="2400" kern="100" dirty="0">
                    <a:latin typeface="等线" panose="02010600030101010101" charset="-122"/>
                    <a:ea typeface="等线" panose="02010600030101010101" charset="-122"/>
                    <a:cs typeface="Times New Roman" panose="02020603050405020304" pitchFamily="18" charset="0"/>
                  </a:rPr>
                  <a:t>2-3</a:t>
                </a:r>
                <a:r>
                  <a:rPr lang="zh-CN" altLang="zh-CN" sz="2400" kern="100" dirty="0">
                    <a:latin typeface="等线" panose="02010600030101010101" charset="-122"/>
                    <a:ea typeface="等线" panose="02010600030101010101" charset="-122"/>
                    <a:cs typeface="Times New Roman" panose="02020603050405020304" pitchFamily="18" charset="0"/>
                  </a:rPr>
                  <a:t>知</a:t>
                </a:r>
                <a:r>
                  <a:rPr lang="zh-CN" altLang="en-US" sz="2400" kern="100" dirty="0">
                    <a:latin typeface="等线" panose="02010600030101010101" charset="-122"/>
                    <a:ea typeface="等线" panose="02010600030101010101" charset="-122"/>
                    <a:cs typeface="Times New Roman" panose="02020603050405020304" pitchFamily="18" charset="0"/>
                  </a:rPr>
                  <a:t>有无界解</a:t>
                </a:r>
                <a:r>
                  <a:rPr lang="zh-CN" altLang="zh-CN" sz="2400" kern="100" dirty="0">
                    <a:latin typeface="等线" panose="02010600030101010101" charset="-122"/>
                    <a:ea typeface="等线" panose="02010600030101010101" charset="-122"/>
                    <a:cs typeface="Times New Roman" panose="02020603050405020304" pitchFamily="18" charset="0"/>
                  </a:rPr>
                  <a:t>。</a:t>
                </a:r>
                <a:r>
                  <a:rPr lang="en-US" altLang="zh-CN" sz="2400" kern="100" dirty="0">
                    <a:latin typeface="等线" panose="02010600030101010101" charset="-122"/>
                    <a:ea typeface="等线" panose="02010600030101010101" charset="-122"/>
                    <a:cs typeface="Times New Roman" panose="02020603050405020304" pitchFamily="18" charset="0"/>
                  </a:rPr>
                  <a:t>       </a:t>
                </a:r>
              </a:p>
              <a:p>
                <a:pPr algn="just">
                  <a:lnSpc>
                    <a:spcPct val="150000"/>
                  </a:lnSpc>
                </a:pPr>
                <a:r>
                  <a:rPr lang="en-US" altLang="zh-CN" sz="2400" kern="100" dirty="0">
                    <a:latin typeface="等线" panose="02010600030101010101" charset="-122"/>
                    <a:ea typeface="等线" panose="02010600030101010101" charset="-122"/>
                    <a:cs typeface="Times New Roman" panose="02020603050405020304" pitchFamily="18" charset="0"/>
                  </a:rPr>
                  <a:t>           </a:t>
                </a:r>
                <a:r>
                  <a:rPr lang="zh-CN" altLang="zh-CN" sz="2400" kern="100" dirty="0">
                    <a:latin typeface="等线" panose="02010600030101010101" charset="-122"/>
                    <a:ea typeface="等线" panose="02010600030101010101" charset="-122"/>
                    <a:cs typeface="Times New Roman" panose="02020603050405020304" pitchFamily="18" charset="0"/>
                  </a:rPr>
                  <a:t>若存在</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b="0" i="1" kern="100" smtClean="0">
                            <a:latin typeface="Cambria Math" panose="02040503050406030204" pitchFamily="18" charset="0"/>
                            <a:ea typeface="等线" panose="02010600030101010101" charset="-122"/>
                            <a:cs typeface="Times New Roman" panose="02020603050405020304" pitchFamily="18" charset="0"/>
                          </a:rPr>
                          <m:t>𝑙</m:t>
                        </m:r>
                        <m:r>
                          <a:rPr lang="en-US" altLang="zh-CN" sz="2400" i="1" kern="100">
                            <a:latin typeface="Cambria Math" panose="02040503050406030204" pitchFamily="18" charset="0"/>
                            <a:ea typeface="等线" panose="02010600030101010101" charset="-122"/>
                            <a:cs typeface="Times New Roman" panose="02020603050405020304" pitchFamily="18" charset="0"/>
                          </a:rPr>
                          <m:t>𝑘</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&gt;0</m:t>
                    </m:r>
                  </m:oMath>
                </a14:m>
                <a:r>
                  <a:rPr lang="zh-CN" altLang="zh-CN" sz="2400" kern="100" dirty="0">
                    <a:latin typeface="等线" panose="02010600030101010101" charset="-122"/>
                    <a:ea typeface="等线" panose="02010600030101010101" charset="-122"/>
                    <a:cs typeface="Times New Roman" panose="02020603050405020304" pitchFamily="18" charset="0"/>
                  </a:rPr>
                  <a:t>，</a:t>
                </a:r>
              </a:p>
            </p:txBody>
          </p:sp>
        </mc:Choice>
        <mc:Fallback xmlns="">
          <p:sp>
            <p:nvSpPr>
              <p:cNvPr id="3" name="文本框 2"/>
              <p:cNvSpPr txBox="1">
                <a:spLocks noRot="1" noChangeAspect="1" noMove="1" noResize="1" noEditPoints="1" noAdjustHandles="1" noChangeArrowheads="1" noChangeShapeType="1" noTextEdit="1"/>
              </p:cNvSpPr>
              <p:nvPr/>
            </p:nvSpPr>
            <p:spPr>
              <a:xfrm>
                <a:off x="335360" y="116632"/>
                <a:ext cx="9649072" cy="1696875"/>
              </a:xfrm>
              <a:prstGeom prst="rect">
                <a:avLst/>
              </a:prstGeom>
              <a:blipFill rotWithShape="1">
                <a:blip r:embed="rId2"/>
                <a:stretch>
                  <a:fillRect l="-1" t="-25" r="3" b="34"/>
                </a:stretch>
              </a:blipFill>
            </p:spPr>
            <p:txBody>
              <a:bodyPr/>
              <a:lstStyle/>
              <a:p>
                <a:r>
                  <a:rPr lang="zh-CN" altLang="en-US">
                    <a:noFill/>
                  </a:rPr>
                  <a:t> </a:t>
                </a:r>
              </a:p>
            </p:txBody>
          </p:sp>
        </mc:Fallback>
      </mc:AlternateContent>
      <p:cxnSp>
        <p:nvCxnSpPr>
          <p:cNvPr id="13" name="直接箭头连接符 12"/>
          <p:cNvCxnSpPr/>
          <p:nvPr/>
        </p:nvCxnSpPr>
        <p:spPr>
          <a:xfrm>
            <a:off x="4943872" y="3429000"/>
            <a:ext cx="576064"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14" name="文本框 13"/>
              <p:cNvSpPr txBox="1"/>
              <p:nvPr/>
            </p:nvSpPr>
            <p:spPr>
              <a:xfrm>
                <a:off x="623392" y="5227299"/>
                <a:ext cx="9649072" cy="1514069"/>
              </a:xfrm>
              <a:prstGeom prst="rect">
                <a:avLst/>
              </a:prstGeom>
              <a:noFill/>
            </p:spPr>
            <p:txBody>
              <a:bodyPr wrap="square">
                <a:spAutoFit/>
              </a:bodyPr>
              <a:lstStyle/>
              <a:p>
                <a:pPr algn="just">
                  <a:lnSpc>
                    <a:spcPct val="150000"/>
                  </a:lnSpc>
                </a:pPr>
                <a:r>
                  <a:rPr lang="zh-CN" altLang="zh-CN" sz="2400" kern="100" dirty="0">
                    <a:latin typeface="等线" panose="02010600030101010101" charset="-122"/>
                    <a:ea typeface="等线" panose="02010600030101010101" charset="-122"/>
                    <a:cs typeface="Times New Roman" panose="02020603050405020304" pitchFamily="18" charset="0"/>
                  </a:rPr>
                  <a:t>取</a:t>
                </a:r>
                <a14:m>
                  <m:oMath xmlns:m="http://schemas.openxmlformats.org/officeDocument/2006/math">
                    <m:r>
                      <a:rPr lang="en-US" altLang="zh-CN" sz="2400" i="1" kern="100">
                        <a:latin typeface="Cambria Math" panose="02040503050406030204" pitchFamily="18" charset="0"/>
                        <a:ea typeface="等线" panose="02010600030101010101" charset="-122"/>
                        <a:cs typeface="Times New Roman" panose="02020603050405020304" pitchFamily="18" charset="0"/>
                      </a:rPr>
                      <m:t>𝜃</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func>
                      <m:func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2400" kern="100">
                                <a:latin typeface="Cambria Math" panose="02040503050406030204" pitchFamily="18" charset="0"/>
                                <a:ea typeface="等线" panose="02010600030101010101" charset="-122"/>
                                <a:cs typeface="Times New Roman" panose="02020603050405020304" pitchFamily="18" charset="0"/>
                              </a:rPr>
                              <m:t>min</m:t>
                            </m:r>
                          </m:e>
                          <m:lim>
                            <m:r>
                              <a:rPr lang="en-US" altLang="zh-CN" sz="2400" i="1" kern="100">
                                <a:latin typeface="Cambria Math" panose="02040503050406030204" pitchFamily="18" charset="0"/>
                                <a:ea typeface="等线" panose="02010600030101010101" charset="-122"/>
                                <a:cs typeface="Times New Roman" panose="02020603050405020304" pitchFamily="18" charset="0"/>
                              </a:rPr>
                              <m:t>1≤</m:t>
                            </m:r>
                            <m:r>
                              <a:rPr lang="en-US" altLang="zh-CN" sz="2400" i="1" kern="100">
                                <a:latin typeface="Cambria Math" panose="02040503050406030204" pitchFamily="18" charset="0"/>
                                <a:ea typeface="等线" panose="02010600030101010101" charset="-122"/>
                                <a:cs typeface="Times New Roman" panose="02020603050405020304" pitchFamily="18" charset="0"/>
                              </a:rPr>
                              <m:t>𝑖</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𝑚</m:t>
                            </m:r>
                          </m:lim>
                        </m:limLow>
                      </m:fName>
                      <m:e>
                        <m:r>
                          <a:rPr lang="en-US" altLang="zh-CN" sz="24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𝑏</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m:t>
                                </m:r>
                              </m:sub>
                            </m:sSub>
                          </m:num>
                          <m:den>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𝑖𝑘</m:t>
                                </m:r>
                              </m:sub>
                            </m:sSub>
                          </m:den>
                        </m:f>
                        <m:r>
                          <a:rPr lang="en-US" altLang="zh-CN" sz="24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𝑖𝑘</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&gt;0}</m:t>
                        </m:r>
                      </m:e>
                    </m:func>
                    <m:r>
                      <a:rPr lang="en-US" altLang="zh-CN" sz="24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𝑏</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𝑙</m:t>
                            </m:r>
                          </m:sub>
                        </m:sSub>
                      </m:num>
                      <m:den>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2400" i="1" kern="100">
                                    <a:latin typeface="Cambria Math" panose="02040503050406030204" pitchFamily="18" charset="0"/>
                                    <a:ea typeface="等线" panose="02010600030101010101" charset="-122"/>
                                    <a:cs typeface="Times New Roman" panose="02020603050405020304" pitchFamily="18" charset="0"/>
                                  </a:rPr>
                                  <m:t>𝑎</m:t>
                                </m:r>
                              </m:e>
                            </m:acc>
                          </m:e>
                          <m:sub>
                            <m:r>
                              <a:rPr lang="en-US" altLang="zh-CN" sz="2400" i="1" kern="100">
                                <a:latin typeface="Cambria Math" panose="02040503050406030204" pitchFamily="18" charset="0"/>
                                <a:ea typeface="等线" panose="02010600030101010101" charset="-122"/>
                                <a:cs typeface="Times New Roman" panose="02020603050405020304" pitchFamily="18" charset="0"/>
                              </a:rPr>
                              <m:t>𝑙𝑘</m:t>
                            </m:r>
                          </m:sub>
                        </m:sSub>
                      </m:den>
                    </m:f>
                  </m:oMath>
                </a14:m>
                <a:r>
                  <a:rPr lang="zh-CN" altLang="en-US" sz="2400" kern="100" dirty="0">
                    <a:latin typeface="等线" panose="02010600030101010101" charset="-122"/>
                    <a:ea typeface="等线" panose="02010600030101010101" charset="-122"/>
                    <a:cs typeface="Times New Roman" panose="02020603050405020304" pitchFamily="18" charset="0"/>
                  </a:rPr>
                  <a:t>，</a:t>
                </a:r>
                <a:r>
                  <a:rPr lang="zh-CN" altLang="zh-CN" sz="2400" kern="100" dirty="0">
                    <a:latin typeface="等线" panose="02010600030101010101" charset="-122"/>
                    <a:ea typeface="等线" panose="02010600030101010101" charset="-122"/>
                    <a:cs typeface="Times New Roman" panose="02020603050405020304" pitchFamily="18" charset="0"/>
                  </a:rPr>
                  <a:t>则变量</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sz="2400" i="1" kern="100">
                            <a:latin typeface="Cambria Math" panose="02040503050406030204" pitchFamily="18" charset="0"/>
                            <a:ea typeface="等线" panose="02010600030101010101" charset="-122"/>
                            <a:cs typeface="Times New Roman" panose="02020603050405020304" pitchFamily="18" charset="0"/>
                          </a:rPr>
                          <m:t>𝑙</m:t>
                        </m:r>
                      </m:sub>
                    </m:sSub>
                  </m:oMath>
                </a14:m>
                <a:r>
                  <a:rPr lang="zh-CN" altLang="zh-CN" sz="2400" kern="100" dirty="0">
                    <a:latin typeface="等线" panose="02010600030101010101" charset="-122"/>
                    <a:ea typeface="等线" panose="02010600030101010101" charset="-122"/>
                    <a:cs typeface="Times New Roman" panose="02020603050405020304" pitchFamily="18" charset="0"/>
                  </a:rPr>
                  <a:t>为出基变量。</a:t>
                </a:r>
              </a:p>
              <a:p>
                <a:pPr algn="just">
                  <a:lnSpc>
                    <a:spcPct val="150000"/>
                  </a:lnSpc>
                </a:pPr>
                <a:r>
                  <a:rPr lang="en-US" altLang="zh-CN" sz="2400" kern="100" dirty="0">
                    <a:latin typeface="等线" panose="02010600030101010101" charset="-122"/>
                    <a:ea typeface="等线" panose="02010600030101010101" charset="-122"/>
                    <a:cs typeface="Times New Roman" panose="02020603050405020304" pitchFamily="18" charset="0"/>
                  </a:rPr>
                  <a:t>       </a:t>
                </a:r>
                <a:endParaRPr lang="zh-CN" altLang="zh-CN" sz="2400"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623392" y="5227299"/>
                <a:ext cx="9649072" cy="1514069"/>
              </a:xfrm>
              <a:prstGeom prst="rect">
                <a:avLst/>
              </a:prstGeom>
              <a:blipFill rotWithShape="1">
                <a:blip r:embed="rId3"/>
                <a:stretch>
                  <a:fillRect l="-5" t="-41" r="1" b="14"/>
                </a:stretch>
              </a:blipFill>
            </p:spPr>
            <p:txBody>
              <a:bodyPr/>
              <a:lstStyle/>
              <a:p>
                <a:r>
                  <a:rPr lang="zh-CN" altLang="en-US">
                    <a:noFill/>
                  </a:rPr>
                  <a:t> </a:t>
                </a:r>
              </a:p>
            </p:txBody>
          </p:sp>
        </mc:Fallback>
      </mc:AlternateContent>
      <p:pic>
        <p:nvPicPr>
          <p:cNvPr id="7" name="图片 6"/>
          <p:cNvPicPr>
            <a:picLocks noChangeAspect="1"/>
          </p:cNvPicPr>
          <p:nvPr/>
        </p:nvPicPr>
        <p:blipFill>
          <a:blip r:embed="rId4"/>
          <a:stretch>
            <a:fillRect/>
          </a:stretch>
        </p:blipFill>
        <p:spPr>
          <a:xfrm>
            <a:off x="335360" y="2584874"/>
            <a:ext cx="4582009" cy="1780223"/>
          </a:xfrm>
          <a:prstGeom prst="rect">
            <a:avLst/>
          </a:prstGeom>
        </p:spPr>
      </p:pic>
      <p:pic>
        <p:nvPicPr>
          <p:cNvPr id="9" name="图片 8"/>
          <p:cNvPicPr>
            <a:picLocks noChangeAspect="1"/>
          </p:cNvPicPr>
          <p:nvPr/>
        </p:nvPicPr>
        <p:blipFill>
          <a:blip r:embed="rId5"/>
          <a:stretch>
            <a:fillRect/>
          </a:stretch>
        </p:blipFill>
        <p:spPr>
          <a:xfrm>
            <a:off x="5735960" y="1894205"/>
            <a:ext cx="5705822" cy="3161559"/>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6672064" y="260648"/>
                <a:ext cx="6097554" cy="5715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zh-CN" sz="1800"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𝑥</m:t>
                          </m:r>
                        </m:e>
                      </m:acc>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m:t>
                      </m:r>
                      <m:sSup>
                        <m:sSupPr>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𝑥</m:t>
                                  </m:r>
                                </m:e>
                              </m:acc>
                            </m:e>
                            <m:sub>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1</m:t>
                              </m:r>
                            </m:sub>
                          </m:sSub>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m:t>
                          </m:r>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𝜃</m:t>
                          </m:r>
                          <m:sSub>
                            <m:sSubPr>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𝑎</m:t>
                                  </m:r>
                                </m:e>
                              </m:acc>
                            </m:e>
                            <m:sub>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1</m:t>
                              </m:r>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𝑘</m:t>
                              </m:r>
                            </m:sub>
                          </m:sSub>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m:t>
                          </m:r>
                          <m:sSub>
                            <m:sSubPr>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𝑥</m:t>
                                  </m:r>
                                </m:e>
                              </m:acc>
                            </m:e>
                            <m:sub>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𝑚</m:t>
                              </m:r>
                            </m:sub>
                          </m:sSub>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m:t>
                          </m:r>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𝜃</m:t>
                          </m:r>
                          <m:sSub>
                            <m:sSubPr>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𝑎</m:t>
                                  </m:r>
                                </m:e>
                              </m:acc>
                            </m:e>
                            <m:sub>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𝑚𝑘</m:t>
                              </m:r>
                            </m:sub>
                          </m:sSub>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,0,⋯,</m:t>
                          </m:r>
                          <m:limLow>
                            <m:limLowPr>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8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𝜃</m:t>
                                  </m:r>
                                </m:e>
                              </m:groupChr>
                            </m:e>
                            <m:lim>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𝑘</m:t>
                              </m:r>
                            </m:lim>
                          </m:limLow>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,⋯,0)</m:t>
                          </m:r>
                        </m:e>
                        <m:sup>
                          <m:r>
                            <a:rPr lang="en-US" altLang="zh-CN" sz="1800" i="1" kern="100">
                              <a:solidFill>
                                <a:srgbClr val="FF0000"/>
                              </a:solidFill>
                              <a:latin typeface="Cambria Math" panose="02040503050406030204" pitchFamily="18" charset="0"/>
                              <a:ea typeface="等线" panose="02010600030101010101" charset="-122"/>
                              <a:cs typeface="Times New Roman" panose="02020603050405020304" pitchFamily="18" charset="0"/>
                            </a:rPr>
                            <m:t>𝑇</m:t>
                          </m:r>
                        </m:sup>
                      </m:sSup>
                    </m:oMath>
                  </m:oMathPara>
                </a14:m>
                <a:endParaRPr lang="zh-CN" altLang="en-US" dirty="0">
                  <a:solidFill>
                    <a:srgbClr val="FF0000"/>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6672064" y="260648"/>
                <a:ext cx="6097554" cy="571503"/>
              </a:xfrm>
              <a:prstGeom prst="rect">
                <a:avLst/>
              </a:prstGeom>
              <a:blipFill rotWithShape="1">
                <a:blip r:embed="rId6"/>
                <a:stretch>
                  <a:fillRect l="-2" t="-52" r="7" b="5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1428750" y="19050"/>
            <a:ext cx="9334500" cy="6819900"/>
          </a:xfrm>
          <a:prstGeom prst="rect">
            <a:avLst/>
          </a:prstGeom>
        </p:spPr>
      </p:pic>
    </p:spTree>
    <p:extLst>
      <p:ext uri="{BB962C8B-B14F-4D97-AF65-F5344CB8AC3E}">
        <p14:creationId xmlns:p14="http://schemas.microsoft.com/office/powerpoint/2010/main" val="2201809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9376" y="510273"/>
            <a:ext cx="6872140" cy="584775"/>
          </a:xfrm>
          <a:prstGeom prst="rect">
            <a:avLst/>
          </a:prstGeom>
          <a:noFill/>
        </p:spPr>
        <p:txBody>
          <a:bodyPr wrap="square">
            <a:spAutoFit/>
          </a:bodyPr>
          <a:lstStyle/>
          <a:p>
            <a:pPr algn="just">
              <a:spcBef>
                <a:spcPts val="600"/>
              </a:spcBef>
              <a:spcAft>
                <a:spcPts val="600"/>
              </a:spcAft>
            </a:pPr>
            <a:r>
              <a:rPr lang="zh-CN" altLang="en-US" sz="3200" kern="100" dirty="0">
                <a:latin typeface="Times New Roman" panose="02020603050405020304" pitchFamily="18" charset="0"/>
                <a:ea typeface="黑体" panose="02010609060101010101" pitchFamily="49" charset="-122"/>
              </a:rPr>
              <a:t>单纯形法出基入基</a:t>
            </a:r>
            <a:endParaRPr lang="zh-CN" altLang="zh-CN" sz="32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p:cNvSpPr txBox="1"/>
              <p:nvPr/>
            </p:nvSpPr>
            <p:spPr>
              <a:xfrm>
                <a:off x="2291667" y="1823599"/>
                <a:ext cx="4622800" cy="461665"/>
              </a:xfrm>
              <a:prstGeom prst="rect">
                <a:avLst/>
              </a:prstGeom>
              <a:noFill/>
            </p:spPr>
            <p:txBody>
              <a:bodyPr wrap="square">
                <a:spAutoFit/>
              </a:bodyPr>
              <a:lstStyle/>
              <a:p>
                <a:r>
                  <a:rPr lang="zh-CN" altLang="en-US" sz="2400" dirty="0">
                    <a:latin typeface="宋体" panose="02010600030101010101" pitchFamily="2" charset="-122"/>
                  </a:rPr>
                  <a:t>记 </a:t>
                </a:r>
                <a14:m>
                  <m:oMath xmlns:m="http://schemas.openxmlformats.org/officeDocument/2006/math">
                    <m:r>
                      <a:rPr lang="en-US" altLang="zh-CN" sz="2400" i="1">
                        <a:latin typeface="Cambria Math" panose="02040503050406030204"/>
                      </a:rPr>
                      <m:t>𝐴</m:t>
                    </m:r>
                    <m:r>
                      <a:rPr lang="en-US" altLang="zh-CN" sz="2400" i="1">
                        <a:latin typeface="Cambria Math" panose="02040503050406030204"/>
                      </a:rPr>
                      <m:t>=</m:t>
                    </m:r>
                    <m:d>
                      <m:dPr>
                        <m:begChr m:val="["/>
                        <m:endChr m:val="]"/>
                        <m:ctrlPr>
                          <a:rPr lang="en-US" altLang="zh-CN" sz="2400" i="1">
                            <a:latin typeface="Cambria Math" panose="02040503050406030204" pitchFamily="18" charset="0"/>
                          </a:rPr>
                        </m:ctrlPr>
                      </m:dPr>
                      <m:e>
                        <m:r>
                          <a:rPr lang="en-US" altLang="zh-CN" sz="2400" i="1">
                            <a:latin typeface="Cambria Math" panose="02040503050406030204"/>
                          </a:rPr>
                          <m:t>𝐵</m:t>
                        </m:r>
                        <m:r>
                          <a:rPr lang="en-US" altLang="zh-CN" sz="2400" i="1">
                            <a:latin typeface="Cambria Math" panose="02040503050406030204"/>
                          </a:rPr>
                          <m:t>,</m:t>
                        </m:r>
                        <m:r>
                          <a:rPr lang="en-US" altLang="zh-CN" sz="2400" i="1">
                            <a:latin typeface="Cambria Math" panose="02040503050406030204"/>
                          </a:rPr>
                          <m:t>𝑁</m:t>
                        </m:r>
                      </m:e>
                    </m:d>
                  </m:oMath>
                </a14:m>
                <a:endParaRPr lang="zh-CN" altLang="en-US"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2291667" y="1823599"/>
                <a:ext cx="4622800" cy="461665"/>
              </a:xfrm>
              <a:prstGeom prst="rect">
                <a:avLst/>
              </a:prstGeom>
              <a:blipFill rotWithShape="1">
                <a:blip r:embed="rId2"/>
                <a:stretch>
                  <a:fillRect l="-13" t="-111" r="13" b="1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2783632" y="1700808"/>
                <a:ext cx="4913744" cy="7072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a:rPr>
                        <m:t>𝑥</m:t>
                      </m:r>
                      <m:r>
                        <a:rPr lang="en-US" altLang="zh-CN" sz="2400" i="1">
                          <a:latin typeface="Cambria Math" panose="02040503050406030204"/>
                        </a:rPr>
                        <m:t>=</m:t>
                      </m:r>
                      <m:d>
                        <m:dPr>
                          <m:ctrlPr>
                            <a:rPr lang="en-US" altLang="zh-CN" sz="2400" i="1">
                              <a:latin typeface="Cambria Math" panose="02040503050406030204" pitchFamily="18" charset="0"/>
                            </a:rPr>
                          </m:ctrlPr>
                        </m:dPr>
                        <m:e>
                          <m:m>
                            <m:mPr>
                              <m:mcs>
                                <m:mc>
                                  <m:mcPr>
                                    <m:count m:val="1"/>
                                    <m:mcJc m:val="center"/>
                                  </m:mcPr>
                                </m:mc>
                              </m:mcs>
                              <m:ctrlPr>
                                <a:rPr lang="en-US" altLang="zh-CN" sz="2400" i="1">
                                  <a:latin typeface="Cambria Math" panose="02040503050406030204" pitchFamily="18" charset="0"/>
                                </a:rPr>
                              </m:ctrlPr>
                            </m:mPr>
                            <m:mr>
                              <m:e>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e>
                            </m:mr>
                            <m:mr>
                              <m:e>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e>
                            </m:mr>
                          </m:m>
                        </m:e>
                      </m:d>
                    </m:oMath>
                  </m:oMathPara>
                </a14:m>
                <a:endParaRPr lang="zh-CN" altLang="en-US" sz="2400" dirty="0"/>
              </a:p>
            </p:txBody>
          </p:sp>
        </mc:Choice>
        <mc:Fallback xmlns="">
          <p:sp>
            <p:nvSpPr>
              <p:cNvPr id="2" name="文本框 1"/>
              <p:cNvSpPr txBox="1">
                <a:spLocks noRot="1" noChangeAspect="1" noMove="1" noResize="1" noEditPoints="1" noAdjustHandles="1" noChangeArrowheads="1" noChangeShapeType="1" noTextEdit="1"/>
              </p:cNvSpPr>
              <p:nvPr/>
            </p:nvSpPr>
            <p:spPr>
              <a:xfrm>
                <a:off x="2783632" y="1700808"/>
                <a:ext cx="4913744" cy="707245"/>
              </a:xfrm>
              <a:prstGeom prst="rect">
                <a:avLst/>
              </a:prstGeom>
              <a:blipFill rotWithShape="1">
                <a:blip r:embed="rId3"/>
                <a:stretch>
                  <a:fillRect l="-9" t="-39" r="11" b="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823219" y="2923198"/>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a:rPr>
                        <m:t>𝐴𝑥</m:t>
                      </m:r>
                      <m:r>
                        <a:rPr lang="en-US" altLang="zh-CN" sz="2400" i="1">
                          <a:latin typeface="Cambria Math" panose="02040503050406030204"/>
                        </a:rPr>
                        <m:t>=</m:t>
                      </m:r>
                      <m:r>
                        <a:rPr lang="en-US" altLang="zh-CN" sz="2400" i="1">
                          <a:latin typeface="Cambria Math" panose="02040503050406030204"/>
                        </a:rPr>
                        <m:t>𝑏</m:t>
                      </m:r>
                      <m:r>
                        <a:rPr lang="en-US" altLang="zh-CN" sz="2400" i="1">
                          <a:latin typeface="Cambria Math" panose="02040503050406030204" pitchFamily="18" charset="0"/>
                        </a:rPr>
                        <m:t> </m:t>
                      </m:r>
                    </m:oMath>
                  </m:oMathPara>
                </a14:m>
                <a:endParaRPr lang="zh-CN" altLang="en-US" sz="2400" dirty="0"/>
              </a:p>
            </p:txBody>
          </p:sp>
        </mc:Choice>
        <mc:Fallback xmlns="">
          <p:sp>
            <p:nvSpPr>
              <p:cNvPr id="9" name="文本框 8"/>
              <p:cNvSpPr txBox="1">
                <a:spLocks noRot="1" noChangeAspect="1" noMove="1" noResize="1" noEditPoints="1" noAdjustHandles="1" noChangeArrowheads="1" noChangeShapeType="1" noTextEdit="1"/>
              </p:cNvSpPr>
              <p:nvPr/>
            </p:nvSpPr>
            <p:spPr>
              <a:xfrm>
                <a:off x="823219" y="2923198"/>
                <a:ext cx="4572000" cy="461665"/>
              </a:xfrm>
              <a:prstGeom prst="rect">
                <a:avLst/>
              </a:prstGeom>
              <a:blipFill rotWithShape="1">
                <a:blip r:embed="rId4"/>
                <a:stretch>
                  <a:fillRect l="-6" t="-63" r="6" b="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3125376" y="2923198"/>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a:rPr>
                        <m:t>𝐵</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r>
                        <a:rPr lang="en-US" altLang="zh-CN" sz="2400" i="1">
                          <a:latin typeface="Cambria Math" panose="02040503050406030204"/>
                        </a:rPr>
                        <m:t>+</m:t>
                      </m:r>
                      <m:r>
                        <a:rPr lang="en-US" altLang="zh-CN" sz="2400" i="1">
                          <a:latin typeface="Cambria Math" panose="02040503050406030204"/>
                        </a:rPr>
                        <m:t>𝑁</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r>
                        <a:rPr lang="en-US" altLang="zh-CN" sz="2400">
                          <a:latin typeface="Cambria Math" panose="02040503050406030204" pitchFamily="18" charset="0"/>
                        </a:rPr>
                        <m:t>=</m:t>
                      </m:r>
                      <m:r>
                        <a:rPr lang="en-US" altLang="zh-CN" sz="2400" i="1">
                          <a:latin typeface="Cambria Math" panose="02040503050406030204" pitchFamily="18" charset="0"/>
                        </a:rPr>
                        <m:t>𝑏</m:t>
                      </m:r>
                    </m:oMath>
                  </m:oMathPara>
                </a14:m>
                <a:endParaRPr lang="zh-CN" altLang="en-US" sz="24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3125376" y="2923198"/>
                <a:ext cx="4572000" cy="461665"/>
              </a:xfrm>
              <a:prstGeom prst="rect">
                <a:avLst/>
              </a:prstGeom>
              <a:blipFill rotWithShape="1">
                <a:blip r:embed="rId5"/>
                <a:stretch>
                  <a:fillRect l="-12" t="-63" r="12" b="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6528048" y="2923198"/>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r>
                        <a:rPr lang="en-US" altLang="zh-CN" sz="2400" i="1">
                          <a:latin typeface="Cambria Math" panose="02040503050406030204"/>
                        </a:rPr>
                        <m:t>+</m:t>
                      </m:r>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𝑁</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pitchFamily="18" charset="0"/>
                        </a:rPr>
                        <m:t>𝑏</m:t>
                      </m:r>
                    </m:oMath>
                  </m:oMathPara>
                </a14:m>
                <a:endParaRPr lang="zh-CN" altLang="en-US" sz="24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6528048" y="2923198"/>
                <a:ext cx="4572000" cy="461665"/>
              </a:xfrm>
              <a:prstGeom prst="rect">
                <a:avLst/>
              </a:prstGeom>
              <a:blipFill rotWithShape="1">
                <a:blip r:embed="rId6"/>
                <a:stretch>
                  <a:fillRect l="-5" t="-63" r="5" b="68"/>
                </a:stretch>
              </a:blipFill>
            </p:spPr>
            <p:txBody>
              <a:bodyPr/>
              <a:lstStyle/>
              <a:p>
                <a:r>
                  <a:rPr lang="zh-CN" altLang="en-US">
                    <a:noFill/>
                  </a:rPr>
                  <a:t> </a:t>
                </a:r>
              </a:p>
            </p:txBody>
          </p:sp>
        </mc:Fallback>
      </mc:AlternateContent>
      <p:sp>
        <p:nvSpPr>
          <p:cNvPr id="13" name="箭头: 左右 12"/>
          <p:cNvSpPr/>
          <p:nvPr/>
        </p:nvSpPr>
        <p:spPr>
          <a:xfrm>
            <a:off x="3719736" y="3108311"/>
            <a:ext cx="576064" cy="13163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左右 13"/>
          <p:cNvSpPr/>
          <p:nvPr/>
        </p:nvSpPr>
        <p:spPr>
          <a:xfrm>
            <a:off x="6597957" y="3131615"/>
            <a:ext cx="576064" cy="10832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647729" y="2593166"/>
            <a:ext cx="1152128" cy="461665"/>
          </a:xfrm>
          <a:prstGeom prst="rect">
            <a:avLst/>
          </a:prstGeom>
          <a:noFill/>
        </p:spPr>
        <p:txBody>
          <a:bodyPr wrap="square" rtlCol="0">
            <a:spAutoFit/>
          </a:bodyPr>
          <a:lstStyle/>
          <a:p>
            <a:r>
              <a:rPr lang="zh-CN" altLang="en-US" sz="2400" dirty="0">
                <a:solidFill>
                  <a:srgbClr val="FF0000"/>
                </a:solidFill>
              </a:rPr>
              <a:t>同解</a:t>
            </a:r>
          </a:p>
        </p:txBody>
      </p:sp>
      <p:sp>
        <p:nvSpPr>
          <p:cNvPr id="16" name="文本框 15"/>
          <p:cNvSpPr txBox="1"/>
          <p:nvPr/>
        </p:nvSpPr>
        <p:spPr>
          <a:xfrm>
            <a:off x="6526999" y="2629125"/>
            <a:ext cx="1152128" cy="461665"/>
          </a:xfrm>
          <a:prstGeom prst="rect">
            <a:avLst/>
          </a:prstGeom>
          <a:noFill/>
        </p:spPr>
        <p:txBody>
          <a:bodyPr wrap="square" rtlCol="0">
            <a:spAutoFit/>
          </a:bodyPr>
          <a:lstStyle/>
          <a:p>
            <a:r>
              <a:rPr lang="zh-CN" altLang="en-US" sz="2400" dirty="0">
                <a:solidFill>
                  <a:srgbClr val="FF0000"/>
                </a:solidFill>
              </a:rPr>
              <a:t>同解</a:t>
            </a:r>
          </a:p>
        </p:txBody>
      </p:sp>
      <mc:AlternateContent xmlns:mc="http://schemas.openxmlformats.org/markup-compatibility/2006" xmlns:a14="http://schemas.microsoft.com/office/drawing/2010/main">
        <mc:Choice Requires="a14">
          <p:sp>
            <p:nvSpPr>
              <p:cNvPr id="18" name="文本框 17"/>
              <p:cNvSpPr txBox="1"/>
              <p:nvPr/>
            </p:nvSpPr>
            <p:spPr>
              <a:xfrm>
                <a:off x="695400" y="4284537"/>
                <a:ext cx="5137608" cy="10990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a:rPr>
                        <m:t>min</m:t>
                      </m:r>
                      <m:r>
                        <a:rPr lang="en-US" altLang="zh-CN" sz="2400">
                          <a:latin typeface="Cambria Math" panose="02040503050406030204"/>
                        </a:rPr>
                        <m:t>     </m:t>
                      </m:r>
                      <m:r>
                        <m:rPr>
                          <m:sty m:val="p"/>
                        </m:rPr>
                        <a:rPr lang="en-US" altLang="zh-CN" sz="2400">
                          <a:latin typeface="Cambria Math" panose="02040503050406030204"/>
                        </a:rPr>
                        <m:t>z</m:t>
                      </m:r>
                      <m:r>
                        <a:rPr lang="en-US" altLang="zh-CN" sz="2400">
                          <a:latin typeface="Cambria Math" panose="02040503050406030204"/>
                        </a:rPr>
                        <m:t>=</m:t>
                      </m:r>
                      <m:sSup>
                        <m:sSupPr>
                          <m:ctrlPr>
                            <a:rPr lang="en-US" altLang="zh-CN" sz="2400" i="1">
                              <a:latin typeface="Cambria Math" panose="02040503050406030204" pitchFamily="18" charset="0"/>
                            </a:rPr>
                          </m:ctrlPr>
                        </m:sSupPr>
                        <m:e>
                          <m:r>
                            <a:rPr lang="en-US" altLang="zh-CN" sz="2400" i="1">
                              <a:latin typeface="Cambria Math" panose="02040503050406030204"/>
                            </a:rPr>
                            <m:t>𝑐</m:t>
                          </m:r>
                        </m:e>
                        <m:sup>
                          <m:r>
                            <a:rPr lang="en-US" altLang="zh-CN" sz="2400" i="1">
                              <a:latin typeface="Cambria Math" panose="02040503050406030204"/>
                            </a:rPr>
                            <m:t>𝑇</m:t>
                          </m:r>
                        </m:sup>
                      </m:sSup>
                      <m:r>
                        <a:rPr lang="en-US" altLang="zh-CN" sz="2400" i="1">
                          <a:latin typeface="Cambria Math" panose="02040503050406030204"/>
                        </a:rPr>
                        <m:t>𝑥</m:t>
                      </m:r>
                    </m:oMath>
                  </m:oMathPara>
                </a14:m>
                <a:endParaRPr lang="en-US" altLang="zh-CN" sz="2400" dirty="0"/>
              </a:p>
              <a:p>
                <a:pPr algn="just"/>
                <a:r>
                  <a:rPr lang="en-US" altLang="zh-CN" sz="2400" dirty="0"/>
                  <a:t> </a:t>
                </a:r>
                <a14:m>
                  <m:oMath xmlns:m="http://schemas.openxmlformats.org/officeDocument/2006/math">
                    <m:r>
                      <a:rPr lang="en-US" altLang="zh-CN" sz="2400">
                        <a:latin typeface="Cambria Math" panose="02040503050406030204"/>
                      </a:rPr>
                      <m:t>                       </m:t>
                    </m:r>
                    <m:m>
                      <m:mPr>
                        <m:mcs>
                          <m:mc>
                            <m:mcPr>
                              <m:count m:val="1"/>
                              <m:mcJc m:val="center"/>
                            </m:mcPr>
                          </m:mc>
                        </m:mcs>
                        <m:ctrlPr>
                          <a:rPr lang="en-US" altLang="zh-CN" sz="2400" i="1">
                            <a:latin typeface="Cambria Math" panose="02040503050406030204" pitchFamily="18" charset="0"/>
                          </a:rPr>
                        </m:ctrlPr>
                      </m:mPr>
                      <m:mr>
                        <m:e>
                          <m:r>
                            <m:rPr>
                              <m:sty m:val="p"/>
                            </m:rPr>
                            <a:rPr lang="en-US" altLang="zh-CN" sz="2400">
                              <a:latin typeface="Cambria Math" panose="02040503050406030204"/>
                            </a:rPr>
                            <m:t>s</m:t>
                          </m:r>
                          <m:r>
                            <a:rPr lang="en-US" altLang="zh-CN" sz="2400">
                              <a:latin typeface="Cambria Math" panose="02040503050406030204"/>
                            </a:rPr>
                            <m:t>.</m:t>
                          </m:r>
                          <m:r>
                            <m:rPr>
                              <m:sty m:val="p"/>
                            </m:rPr>
                            <a:rPr lang="en-US" altLang="zh-CN" sz="2400">
                              <a:latin typeface="Cambria Math" panose="02040503050406030204"/>
                            </a:rPr>
                            <m:t>t</m:t>
                          </m:r>
                          <m:r>
                            <a:rPr lang="en-US" altLang="zh-CN" sz="2400">
                              <a:latin typeface="Cambria Math" panose="02040503050406030204"/>
                            </a:rPr>
                            <m:t>. </m:t>
                          </m:r>
                          <m:r>
                            <a:rPr lang="en-US" altLang="zh-CN" sz="2400" i="1">
                              <a:latin typeface="Cambria Math" panose="02040503050406030204"/>
                            </a:rPr>
                            <m:t>    </m:t>
                          </m:r>
                          <m:r>
                            <a:rPr lang="en-US" altLang="zh-CN" sz="2400" i="1">
                              <a:latin typeface="Cambria Math" panose="02040503050406030204"/>
                            </a:rPr>
                            <m:t>𝐴𝑥</m:t>
                          </m:r>
                          <m:r>
                            <a:rPr lang="en-US" altLang="zh-CN" sz="2400" i="1">
                              <a:latin typeface="Cambria Math" panose="02040503050406030204"/>
                            </a:rPr>
                            <m:t>=</m:t>
                          </m:r>
                          <m:r>
                            <a:rPr lang="en-US" altLang="zh-CN" sz="2400" i="1">
                              <a:latin typeface="Cambria Math" panose="02040503050406030204"/>
                            </a:rPr>
                            <m:t>𝑏</m:t>
                          </m:r>
                        </m:e>
                      </m:mr>
                      <m:mr>
                        <m:e>
                          <m:r>
                            <a:rPr lang="en-US" altLang="zh-CN" sz="2400" i="1">
                              <a:latin typeface="Cambria Math" panose="02040503050406030204"/>
                            </a:rPr>
                            <m:t>         </m:t>
                          </m:r>
                          <m:r>
                            <a:rPr lang="en-US" altLang="zh-CN" sz="2400" i="1">
                              <a:latin typeface="Cambria Math" panose="02040503050406030204"/>
                            </a:rPr>
                            <m:t>𝑥</m:t>
                          </m:r>
                          <m:r>
                            <a:rPr lang="en-US" altLang="zh-CN" sz="2400" i="1">
                              <a:latin typeface="Cambria Math" panose="02040503050406030204"/>
                              <a:ea typeface="Cambria Math" panose="02040503050406030204"/>
                            </a:rPr>
                            <m:t>≥0</m:t>
                          </m:r>
                        </m:e>
                      </m:mr>
                    </m:m>
                  </m:oMath>
                </a14:m>
                <a:endParaRPr lang="zh-CN" altLang="en-US" sz="2400" dirty="0"/>
              </a:p>
            </p:txBody>
          </p:sp>
        </mc:Choice>
        <mc:Fallback xmlns="">
          <p:sp>
            <p:nvSpPr>
              <p:cNvPr id="18" name="文本框 17"/>
              <p:cNvSpPr txBox="1">
                <a:spLocks noRot="1" noChangeAspect="1" noMove="1" noResize="1" noEditPoints="1" noAdjustHandles="1" noChangeArrowheads="1" noChangeShapeType="1" noTextEdit="1"/>
              </p:cNvSpPr>
              <p:nvPr/>
            </p:nvSpPr>
            <p:spPr>
              <a:xfrm>
                <a:off x="695400" y="4284537"/>
                <a:ext cx="5137608" cy="1099019"/>
              </a:xfrm>
              <a:prstGeom prst="rect">
                <a:avLst/>
              </a:prstGeom>
              <a:blipFill rotWithShape="1">
                <a:blip r:embed="rId7"/>
                <a:stretch>
                  <a:fillRect l="-1" t="-17" r="10" b="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4439817" y="4237729"/>
                <a:ext cx="5769685" cy="1145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a:rPr>
                        <m:t>min</m:t>
                      </m:r>
                      <m:r>
                        <a:rPr lang="en-US" altLang="zh-CN" sz="2400">
                          <a:latin typeface="Cambria Math" panose="02040503050406030204"/>
                        </a:rPr>
                        <m:t>     </m:t>
                      </m:r>
                      <m:r>
                        <m:rPr>
                          <m:sty m:val="p"/>
                        </m:rPr>
                        <a:rPr lang="en-US" altLang="zh-CN" sz="2400">
                          <a:latin typeface="Cambria Math" panose="02040503050406030204"/>
                        </a:rPr>
                        <m:t>z</m:t>
                      </m:r>
                      <m:r>
                        <a:rPr lang="en-US" altLang="zh-CN" sz="2400">
                          <a:latin typeface="Cambria Math" panose="02040503050406030204"/>
                        </a:rPr>
                        <m:t>=</m:t>
                      </m:r>
                      <m:sSup>
                        <m:sSupPr>
                          <m:ctrlPr>
                            <a:rPr lang="en-US" altLang="zh-CN" sz="2400" i="1">
                              <a:latin typeface="Cambria Math" panose="02040503050406030204" pitchFamily="18" charset="0"/>
                            </a:rPr>
                          </m:ctrlPr>
                        </m:sSupPr>
                        <m:e>
                          <m:r>
                            <a:rPr lang="en-US" altLang="zh-CN" sz="2400" i="1">
                              <a:latin typeface="Cambria Math" panose="02040503050406030204"/>
                            </a:rPr>
                            <m:t>𝑐</m:t>
                          </m:r>
                        </m:e>
                        <m:sup>
                          <m:r>
                            <a:rPr lang="en-US" altLang="zh-CN" sz="2400" i="1">
                              <a:latin typeface="Cambria Math" panose="02040503050406030204"/>
                            </a:rPr>
                            <m:t>𝑇</m:t>
                          </m:r>
                        </m:sup>
                      </m:sSup>
                      <m:r>
                        <a:rPr lang="en-US" altLang="zh-CN" sz="2400" i="1">
                          <a:latin typeface="Cambria Math" panose="02040503050406030204"/>
                        </a:rPr>
                        <m:t>𝑥</m:t>
                      </m:r>
                    </m:oMath>
                  </m:oMathPara>
                </a14:m>
                <a:endParaRPr lang="en-US" altLang="zh-CN" sz="2400" dirty="0"/>
              </a:p>
              <a:p>
                <a:pPr algn="just"/>
                <a14:m>
                  <m:oMathPara xmlns:m="http://schemas.openxmlformats.org/officeDocument/2006/math">
                    <m:oMathParaPr>
                      <m:jc m:val="centerGroup"/>
                    </m:oMathParaPr>
                    <m:oMath xmlns:m="http://schemas.openxmlformats.org/officeDocument/2006/math">
                      <m:r>
                        <a:rPr lang="en-US" altLang="zh-CN" sz="2400">
                          <a:latin typeface="Cambria Math" panose="02040503050406030204"/>
                        </a:rPr>
                        <m:t>                           </m:t>
                      </m:r>
                      <m:m>
                        <m:mPr>
                          <m:mcs>
                            <m:mc>
                              <m:mcPr>
                                <m:count m:val="1"/>
                                <m:mcJc m:val="center"/>
                              </m:mcPr>
                            </m:mc>
                          </m:mcs>
                          <m:ctrlPr>
                            <a:rPr lang="en-US" altLang="zh-CN" sz="2400" i="1">
                              <a:latin typeface="Cambria Math" panose="02040503050406030204" pitchFamily="18" charset="0"/>
                            </a:rPr>
                          </m:ctrlPr>
                        </m:mPr>
                        <m:mr>
                          <m:e>
                            <m:r>
                              <m:rPr>
                                <m:sty m:val="p"/>
                              </m:rPr>
                              <a:rPr lang="en-US" altLang="zh-CN" sz="2400">
                                <a:latin typeface="Cambria Math" panose="02040503050406030204"/>
                              </a:rPr>
                              <m:t>s</m:t>
                            </m:r>
                            <m:r>
                              <a:rPr lang="en-US" altLang="zh-CN" sz="2400">
                                <a:latin typeface="Cambria Math" panose="02040503050406030204"/>
                              </a:rPr>
                              <m:t>.</m:t>
                            </m:r>
                            <m:r>
                              <m:rPr>
                                <m:sty m:val="p"/>
                              </m:rPr>
                              <a:rPr lang="en-US" altLang="zh-CN" sz="2400">
                                <a:latin typeface="Cambria Math" panose="02040503050406030204"/>
                              </a:rPr>
                              <m:t>t</m:t>
                            </m:r>
                            <m:r>
                              <a:rPr lang="en-US" altLang="zh-CN" sz="2400">
                                <a:latin typeface="Cambria Math" panose="02040503050406030204"/>
                              </a:rPr>
                              <m:t>.    </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r>
                              <a:rPr lang="en-US" altLang="zh-CN" sz="2400" i="1">
                                <a:latin typeface="Cambria Math" panose="02040503050406030204"/>
                              </a:rPr>
                              <m:t>+</m:t>
                            </m:r>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𝑁</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pitchFamily="18" charset="0"/>
                              </a:rPr>
                              <m:t>𝑏</m:t>
                            </m:r>
                          </m:e>
                        </m:mr>
                        <m:mr>
                          <m:e>
                            <m:r>
                              <a:rPr lang="en-US" altLang="zh-CN" sz="2400" i="1">
                                <a:latin typeface="Cambria Math" panose="02040503050406030204"/>
                              </a:rPr>
                              <m:t>         </m:t>
                            </m:r>
                            <m:r>
                              <a:rPr lang="en-US" altLang="zh-CN" sz="2400" i="1">
                                <a:latin typeface="Cambria Math" panose="02040503050406030204"/>
                              </a:rPr>
                              <m:t>𝑥</m:t>
                            </m:r>
                            <m:r>
                              <a:rPr lang="en-US" altLang="zh-CN" sz="2400" i="1">
                                <a:latin typeface="Cambria Math" panose="02040503050406030204"/>
                                <a:ea typeface="Cambria Math" panose="02040503050406030204"/>
                              </a:rPr>
                              <m:t>≥0</m:t>
                            </m:r>
                          </m:e>
                        </m:mr>
                      </m:m>
                    </m:oMath>
                  </m:oMathPara>
                </a14:m>
                <a:endParaRPr lang="zh-CN" altLang="en-US" sz="2400" dirty="0"/>
              </a:p>
            </p:txBody>
          </p:sp>
        </mc:Choice>
        <mc:Fallback xmlns="">
          <p:sp>
            <p:nvSpPr>
              <p:cNvPr id="20" name="文本框 19"/>
              <p:cNvSpPr txBox="1">
                <a:spLocks noRot="1" noChangeAspect="1" noMove="1" noResize="1" noEditPoints="1" noAdjustHandles="1" noChangeArrowheads="1" noChangeShapeType="1" noTextEdit="1"/>
              </p:cNvSpPr>
              <p:nvPr/>
            </p:nvSpPr>
            <p:spPr>
              <a:xfrm>
                <a:off x="4439817" y="4237729"/>
                <a:ext cx="5769685" cy="1145826"/>
              </a:xfrm>
              <a:prstGeom prst="rect">
                <a:avLst/>
              </a:prstGeom>
              <a:blipFill rotWithShape="1">
                <a:blip r:embed="rId8"/>
                <a:stretch>
                  <a:fillRect l="-9" t="-33" r="11" b="2"/>
                </a:stretch>
              </a:blipFill>
            </p:spPr>
            <p:txBody>
              <a:bodyPr/>
              <a:lstStyle/>
              <a:p>
                <a:r>
                  <a:rPr lang="zh-CN" altLang="en-US">
                    <a:noFill/>
                  </a:rPr>
                  <a:t> </a:t>
                </a:r>
              </a:p>
            </p:txBody>
          </p:sp>
        </mc:Fallback>
      </mc:AlternateContent>
      <p:sp>
        <p:nvSpPr>
          <p:cNvPr id="21" name="箭头: 左右 20"/>
          <p:cNvSpPr/>
          <p:nvPr/>
        </p:nvSpPr>
        <p:spPr>
          <a:xfrm flipV="1">
            <a:off x="4603068" y="4697528"/>
            <a:ext cx="1440159" cy="14667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835312" y="4158176"/>
            <a:ext cx="1152128" cy="461665"/>
          </a:xfrm>
          <a:prstGeom prst="rect">
            <a:avLst/>
          </a:prstGeom>
          <a:noFill/>
        </p:spPr>
        <p:txBody>
          <a:bodyPr wrap="square" rtlCol="0">
            <a:spAutoFit/>
          </a:bodyPr>
          <a:lstStyle/>
          <a:p>
            <a:r>
              <a:rPr lang="zh-CN" altLang="en-US" sz="2400" dirty="0">
                <a:solidFill>
                  <a:srgbClr val="FF0000"/>
                </a:solidFill>
              </a:rPr>
              <a:t>同解</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1421723" y="572759"/>
                <a:ext cx="5769685" cy="1145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smtClean="0">
                          <a:latin typeface="Cambria Math" panose="02040503050406030204"/>
                        </a:rPr>
                        <m:t>min</m:t>
                      </m:r>
                      <m:r>
                        <a:rPr lang="en-US" altLang="zh-CN" sz="2400" smtClean="0">
                          <a:latin typeface="Cambria Math" panose="02040503050406030204"/>
                        </a:rPr>
                        <m:t>     </m:t>
                      </m:r>
                      <m:r>
                        <m:rPr>
                          <m:sty m:val="p"/>
                        </m:rPr>
                        <a:rPr lang="en-US" altLang="zh-CN" sz="2400" smtClean="0">
                          <a:latin typeface="Cambria Math" panose="02040503050406030204"/>
                        </a:rPr>
                        <m:t>z</m:t>
                      </m:r>
                      <m:r>
                        <a:rPr lang="en-US" altLang="zh-CN" sz="2400" smtClean="0">
                          <a:latin typeface="Cambria Math" panose="02040503050406030204"/>
                        </a:rPr>
                        <m:t>=</m:t>
                      </m:r>
                      <m:sSup>
                        <m:sSupPr>
                          <m:ctrlPr>
                            <a:rPr lang="en-US" altLang="zh-CN" sz="2400" i="1">
                              <a:latin typeface="Cambria Math" panose="02040503050406030204" pitchFamily="18" charset="0"/>
                            </a:rPr>
                          </m:ctrlPr>
                        </m:sSupPr>
                        <m:e>
                          <m:r>
                            <a:rPr lang="en-US" altLang="zh-CN" sz="2400" i="1">
                              <a:latin typeface="Cambria Math" panose="02040503050406030204"/>
                            </a:rPr>
                            <m:t>𝑐</m:t>
                          </m:r>
                        </m:e>
                        <m:sup>
                          <m:r>
                            <a:rPr lang="en-US" altLang="zh-CN" sz="2400" i="1">
                              <a:latin typeface="Cambria Math" panose="02040503050406030204"/>
                            </a:rPr>
                            <m:t>𝑇</m:t>
                          </m:r>
                        </m:sup>
                      </m:sSup>
                      <m:r>
                        <a:rPr lang="en-US" altLang="zh-CN" sz="2400" i="1">
                          <a:latin typeface="Cambria Math" panose="02040503050406030204"/>
                        </a:rPr>
                        <m:t>𝑥</m:t>
                      </m:r>
                    </m:oMath>
                  </m:oMathPara>
                </a14:m>
                <a:endParaRPr lang="en-US" altLang="zh-CN" sz="2400" dirty="0"/>
              </a:p>
              <a:p>
                <a:pPr algn="just"/>
                <a14:m>
                  <m:oMathPara xmlns:m="http://schemas.openxmlformats.org/officeDocument/2006/math">
                    <m:oMathParaPr>
                      <m:jc m:val="centerGroup"/>
                    </m:oMathParaPr>
                    <m:oMath xmlns:m="http://schemas.openxmlformats.org/officeDocument/2006/math">
                      <m:r>
                        <a:rPr lang="en-US" altLang="zh-CN" sz="2400">
                          <a:latin typeface="Cambria Math" panose="02040503050406030204"/>
                        </a:rPr>
                        <m:t>                           </m:t>
                      </m:r>
                      <m:m>
                        <m:mPr>
                          <m:mcs>
                            <m:mc>
                              <m:mcPr>
                                <m:count m:val="1"/>
                                <m:mcJc m:val="center"/>
                              </m:mcPr>
                            </m:mc>
                          </m:mcs>
                          <m:ctrlPr>
                            <a:rPr lang="en-US" altLang="zh-CN" sz="2400" i="1">
                              <a:latin typeface="Cambria Math" panose="02040503050406030204" pitchFamily="18" charset="0"/>
                            </a:rPr>
                          </m:ctrlPr>
                        </m:mPr>
                        <m:mr>
                          <m:e>
                            <m:r>
                              <m:rPr>
                                <m:sty m:val="p"/>
                              </m:rPr>
                              <a:rPr lang="en-US" altLang="zh-CN" sz="2400">
                                <a:latin typeface="Cambria Math" panose="02040503050406030204"/>
                              </a:rPr>
                              <m:t>s</m:t>
                            </m:r>
                            <m:r>
                              <a:rPr lang="en-US" altLang="zh-CN" sz="2400">
                                <a:latin typeface="Cambria Math" panose="02040503050406030204"/>
                              </a:rPr>
                              <m:t>.</m:t>
                            </m:r>
                            <m:r>
                              <m:rPr>
                                <m:sty m:val="p"/>
                              </m:rPr>
                              <a:rPr lang="en-US" altLang="zh-CN" sz="2400">
                                <a:latin typeface="Cambria Math" panose="02040503050406030204"/>
                              </a:rPr>
                              <m:t>t</m:t>
                            </m:r>
                            <m:r>
                              <a:rPr lang="en-US" altLang="zh-CN" sz="2400">
                                <a:latin typeface="Cambria Math" panose="02040503050406030204"/>
                              </a:rPr>
                              <m:t>.    </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𝐵</m:t>
                                </m:r>
                              </m:sub>
                            </m:sSub>
                            <m:r>
                              <a:rPr lang="en-US" altLang="zh-CN" sz="2400" i="1">
                                <a:latin typeface="Cambria Math" panose="02040503050406030204"/>
                              </a:rPr>
                              <m:t>+</m:t>
                            </m:r>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a:rPr>
                              <m:t>𝑁</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r>
                                  <a:rPr lang="en-US" altLang="zh-CN" sz="2400" i="1">
                                    <a:latin typeface="Cambria Math" panose="02040503050406030204"/>
                                  </a:rPr>
                                  <m:t>𝑁</m:t>
                                </m:r>
                              </m:sub>
                            </m:sSub>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a:rPr>
                                  <m:t>𝐵</m:t>
                                </m:r>
                              </m:e>
                              <m:sup>
                                <m:r>
                                  <a:rPr lang="en-US" altLang="zh-CN" sz="2400" i="1">
                                    <a:latin typeface="Cambria Math" panose="02040503050406030204"/>
                                  </a:rPr>
                                  <m:t>−1</m:t>
                                </m:r>
                              </m:sup>
                            </m:sSup>
                            <m:r>
                              <a:rPr lang="en-US" altLang="zh-CN" sz="2400" i="1">
                                <a:latin typeface="Cambria Math" panose="02040503050406030204" pitchFamily="18" charset="0"/>
                              </a:rPr>
                              <m:t>𝑏</m:t>
                            </m:r>
                          </m:e>
                        </m:mr>
                        <m:mr>
                          <m:e>
                            <m:r>
                              <a:rPr lang="en-US" altLang="zh-CN" sz="2400" i="1">
                                <a:latin typeface="Cambria Math" panose="02040503050406030204"/>
                              </a:rPr>
                              <m:t>         </m:t>
                            </m:r>
                            <m:r>
                              <a:rPr lang="en-US" altLang="zh-CN" sz="2400" i="1">
                                <a:latin typeface="Cambria Math" panose="02040503050406030204"/>
                              </a:rPr>
                              <m:t>𝑥</m:t>
                            </m:r>
                            <m:r>
                              <a:rPr lang="en-US" altLang="zh-CN" sz="2400" i="1">
                                <a:latin typeface="Cambria Math" panose="02040503050406030204"/>
                                <a:ea typeface="Cambria Math" panose="02040503050406030204"/>
                              </a:rPr>
                              <m:t>≥0</m:t>
                            </m:r>
                          </m:e>
                        </m:mr>
                      </m:m>
                    </m:oMath>
                  </m:oMathPara>
                </a14:m>
                <a:endParaRPr lang="zh-CN" altLang="en-US" sz="2400" dirty="0"/>
              </a:p>
            </p:txBody>
          </p:sp>
        </mc:Choice>
        <mc:Fallback xmlns="">
          <p:sp>
            <p:nvSpPr>
              <p:cNvPr id="8" name="文本框 7"/>
              <p:cNvSpPr txBox="1">
                <a:spLocks noRot="1" noChangeAspect="1" noMove="1" noResize="1" noEditPoints="1" noAdjustHandles="1" noChangeArrowheads="1" noChangeShapeType="1" noTextEdit="1"/>
              </p:cNvSpPr>
              <p:nvPr/>
            </p:nvSpPr>
            <p:spPr>
              <a:xfrm>
                <a:off x="-1421723" y="572759"/>
                <a:ext cx="5769685" cy="1145826"/>
              </a:xfrm>
              <a:prstGeom prst="rect">
                <a:avLst/>
              </a:prstGeom>
              <a:blipFill rotWithShape="1">
                <a:blip r:embed="rId2"/>
                <a:stretch>
                  <a:fillRect l="10" t="-54" r="2" b="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421723" y="2796414"/>
                <a:ext cx="5769685" cy="1187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a:rPr>
                        <m:t>min</m:t>
                      </m:r>
                      <m:r>
                        <a:rPr lang="en-US" altLang="zh-CN" sz="2400">
                          <a:latin typeface="Cambria Math" panose="02040503050406030204"/>
                        </a:rPr>
                        <m:t>     </m:t>
                      </m:r>
                      <m:r>
                        <m:rPr>
                          <m:sty m:val="p"/>
                        </m:rPr>
                        <a:rPr lang="en-US" altLang="zh-CN" sz="2400">
                          <a:latin typeface="Cambria Math" panose="02040503050406030204"/>
                        </a:rPr>
                        <m:t>z</m:t>
                      </m:r>
                      <m:r>
                        <a:rPr lang="en-US" altLang="zh-CN" sz="2400">
                          <a:latin typeface="Cambria Math" panose="02040503050406030204"/>
                        </a:rPr>
                        <m:t>=</m:t>
                      </m:r>
                      <m:sSup>
                        <m:sSupPr>
                          <m:ctrlPr>
                            <a:rPr lang="en-US" altLang="zh-CN" sz="2400" i="1">
                              <a:latin typeface="Cambria Math" panose="02040503050406030204" pitchFamily="18" charset="0"/>
                            </a:rPr>
                          </m:ctrlPr>
                        </m:sSupPr>
                        <m:e>
                          <m:r>
                            <a:rPr lang="en-US" altLang="zh-CN" sz="2400" i="1">
                              <a:latin typeface="Cambria Math" panose="02040503050406030204"/>
                            </a:rPr>
                            <m:t>𝑐</m:t>
                          </m:r>
                        </m:e>
                        <m:sup>
                          <m:r>
                            <a:rPr lang="en-US" altLang="zh-CN" sz="2400" i="1">
                              <a:latin typeface="Cambria Math" panose="02040503050406030204"/>
                            </a:rPr>
                            <m:t>𝑇</m:t>
                          </m:r>
                        </m:sup>
                      </m:sSup>
                      <m:r>
                        <a:rPr lang="en-US" altLang="zh-CN" sz="2400" i="1">
                          <a:latin typeface="Cambria Math" panose="02040503050406030204"/>
                        </a:rPr>
                        <m:t>𝑥</m:t>
                      </m:r>
                    </m:oMath>
                  </m:oMathPara>
                </a14:m>
                <a:endParaRPr lang="en-US" altLang="zh-CN" sz="2400" dirty="0"/>
              </a:p>
              <a:p>
                <a:pPr algn="just"/>
                <a14:m>
                  <m:oMathPara xmlns:m="http://schemas.openxmlformats.org/officeDocument/2006/math">
                    <m:oMathParaPr>
                      <m:jc m:val="centerGroup"/>
                    </m:oMathParaPr>
                    <m:oMath xmlns:m="http://schemas.openxmlformats.org/officeDocument/2006/math">
                      <m:r>
                        <a:rPr lang="en-US" altLang="zh-CN" sz="2400">
                          <a:latin typeface="Cambria Math" panose="02040503050406030204"/>
                        </a:rPr>
                        <m:t>                           </m:t>
                      </m:r>
                      <m:m>
                        <m:mPr>
                          <m:mcs>
                            <m:mc>
                              <m:mcPr>
                                <m:count m:val="1"/>
                                <m:mcJc m:val="center"/>
                              </m:mcPr>
                            </m:mc>
                          </m:mcs>
                          <m:ctrlPr>
                            <a:rPr lang="en-US" altLang="zh-CN" sz="2400" i="1">
                              <a:latin typeface="Cambria Math" panose="02040503050406030204" pitchFamily="18" charset="0"/>
                            </a:rPr>
                          </m:ctrlPr>
                        </m:mPr>
                        <m:mr>
                          <m:e>
                            <m:r>
                              <m:rPr>
                                <m:sty m:val="p"/>
                              </m:rPr>
                              <a:rPr lang="en-US" altLang="zh-CN" sz="2400">
                                <a:latin typeface="Cambria Math" panose="02040503050406030204"/>
                              </a:rPr>
                              <m:t>s</m:t>
                            </m:r>
                            <m:r>
                              <a:rPr lang="en-US" altLang="zh-CN" sz="2400">
                                <a:latin typeface="Cambria Math" panose="02040503050406030204"/>
                              </a:rPr>
                              <m:t>.</m:t>
                            </m:r>
                            <m:r>
                              <m:rPr>
                                <m:sty m:val="p"/>
                              </m:rPr>
                              <a:rPr lang="en-US" altLang="zh-CN" sz="2400">
                                <a:latin typeface="Cambria Math" panose="02040503050406030204"/>
                              </a:rPr>
                              <m:t>t</m:t>
                            </m:r>
                            <m:r>
                              <a:rPr lang="en-US" altLang="zh-CN" sz="2400">
                                <a:latin typeface="Cambria Math" panose="02040503050406030204"/>
                              </a:rPr>
                              <m:t>.    </m:t>
                            </m:r>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𝐵</m:t>
                                    </m:r>
                                  </m:e>
                                </m:acc>
                              </m:sub>
                            </m:sSub>
                            <m:r>
                              <a:rPr lang="en-US" altLang="zh-CN" sz="2400" i="1">
                                <a:latin typeface="Cambria Math" panose="02040503050406030204"/>
                              </a:rPr>
                              <m:t>+</m:t>
                            </m:r>
                            <m:sSup>
                              <m:sSupPr>
                                <m:ctrlPr>
                                  <a:rPr lang="en-US" altLang="zh-CN" sz="2400" i="1">
                                    <a:latin typeface="Cambria Math" panose="02040503050406030204" pitchFamily="18" charset="0"/>
                                  </a:rPr>
                                </m:ctrlPr>
                              </m:sSupPr>
                              <m:e>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𝐵</m:t>
                                    </m:r>
                                  </m:e>
                                </m:acc>
                              </m:e>
                              <m:sup>
                                <m:r>
                                  <a:rPr lang="en-US" altLang="zh-CN" sz="2400" i="1">
                                    <a:latin typeface="Cambria Math" panose="02040503050406030204"/>
                                  </a:rPr>
                                  <m:t>−1</m:t>
                                </m:r>
                              </m:sup>
                            </m:sSup>
                            <m:acc>
                              <m:accPr>
                                <m:chr m:val="̃"/>
                                <m:ctrlPr>
                                  <a:rPr lang="en-US" altLang="zh-CN" sz="2400" i="1">
                                    <a:solidFill>
                                      <a:schemeClr val="accent1"/>
                                    </a:solidFill>
                                    <a:latin typeface="Cambria Math" panose="02040503050406030204" pitchFamily="18" charset="0"/>
                                  </a:rPr>
                                </m:ctrlPr>
                              </m:accPr>
                              <m:e>
                                <m:r>
                                  <a:rPr lang="en-US" altLang="zh-CN" sz="2400" i="1">
                                    <a:solidFill>
                                      <a:schemeClr val="accent1"/>
                                    </a:solidFill>
                                    <a:latin typeface="Cambria Math" panose="02040503050406030204" pitchFamily="18" charset="0"/>
                                  </a:rPr>
                                  <m:t>𝑁</m:t>
                                </m:r>
                              </m:e>
                            </m:acc>
                            <m:sSub>
                              <m:sSubPr>
                                <m:ctrlPr>
                                  <a:rPr lang="en-US" altLang="zh-CN" sz="2400" i="1">
                                    <a:latin typeface="Cambria Math" panose="02040503050406030204" pitchFamily="18" charset="0"/>
                                  </a:rPr>
                                </m:ctrlPr>
                              </m:sSubPr>
                              <m:e>
                                <m:r>
                                  <a:rPr lang="en-US" altLang="zh-CN" sz="2400" i="1">
                                    <a:latin typeface="Cambria Math" panose="02040503050406030204"/>
                                  </a:rPr>
                                  <m:t>𝑥</m:t>
                                </m:r>
                              </m:e>
                              <m:sub>
                                <m:acc>
                                  <m:accPr>
                                    <m:chr m:val="̃"/>
                                    <m:ctrlPr>
                                      <a:rPr lang="en-US" altLang="zh-CN" sz="2400" i="1">
                                        <a:solidFill>
                                          <a:schemeClr val="accent1"/>
                                        </a:solidFill>
                                        <a:latin typeface="Cambria Math" panose="02040503050406030204" pitchFamily="18" charset="0"/>
                                      </a:rPr>
                                    </m:ctrlPr>
                                  </m:accPr>
                                  <m:e>
                                    <m:r>
                                      <a:rPr lang="en-US" altLang="zh-CN" sz="2400" i="1">
                                        <a:solidFill>
                                          <a:schemeClr val="accent1"/>
                                        </a:solidFill>
                                        <a:latin typeface="Cambria Math" panose="02040503050406030204" pitchFamily="18" charset="0"/>
                                      </a:rPr>
                                      <m:t>𝑁</m:t>
                                    </m:r>
                                  </m:e>
                                </m:acc>
                              </m:sub>
                            </m:sSub>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acc>
                                  <m:accPr>
                                    <m:chr m:val="̃"/>
                                    <m:ctrlPr>
                                      <a:rPr lang="en-US" altLang="zh-CN" sz="2400" i="1">
                                        <a:solidFill>
                                          <a:srgbClr val="FF0000"/>
                                        </a:solidFill>
                                        <a:latin typeface="Cambria Math" panose="02040503050406030204" pitchFamily="18" charset="0"/>
                                      </a:rPr>
                                    </m:ctrlPr>
                                  </m:accPr>
                                  <m:e>
                                    <m:r>
                                      <a:rPr lang="en-US" altLang="zh-CN" sz="2400" i="1">
                                        <a:solidFill>
                                          <a:srgbClr val="FF0000"/>
                                        </a:solidFill>
                                        <a:latin typeface="Cambria Math" panose="02040503050406030204" pitchFamily="18" charset="0"/>
                                      </a:rPr>
                                      <m:t>𝐵</m:t>
                                    </m:r>
                                  </m:e>
                                </m:acc>
                              </m:e>
                              <m:sup>
                                <m:r>
                                  <a:rPr lang="en-US" altLang="zh-CN" sz="2400" i="1">
                                    <a:latin typeface="Cambria Math" panose="02040503050406030204"/>
                                  </a:rPr>
                                  <m:t>−1</m:t>
                                </m:r>
                              </m:sup>
                            </m:sSup>
                            <m:r>
                              <a:rPr lang="en-US" altLang="zh-CN" sz="2400" i="1">
                                <a:latin typeface="Cambria Math" panose="02040503050406030204" pitchFamily="18" charset="0"/>
                              </a:rPr>
                              <m:t>𝑏</m:t>
                            </m:r>
                          </m:e>
                        </m:mr>
                        <m:mr>
                          <m:e>
                            <m:r>
                              <a:rPr lang="en-US" altLang="zh-CN" sz="2400" i="1">
                                <a:latin typeface="Cambria Math" panose="02040503050406030204"/>
                              </a:rPr>
                              <m:t>         </m:t>
                            </m:r>
                            <m:r>
                              <a:rPr lang="en-US" altLang="zh-CN" sz="2400" i="1">
                                <a:latin typeface="Cambria Math" panose="02040503050406030204"/>
                              </a:rPr>
                              <m:t>𝑥</m:t>
                            </m:r>
                            <m:r>
                              <a:rPr lang="en-US" altLang="zh-CN" sz="2400" i="1">
                                <a:latin typeface="Cambria Math" panose="02040503050406030204"/>
                                <a:ea typeface="Cambria Math" panose="02040503050406030204"/>
                              </a:rPr>
                              <m:t>≥0</m:t>
                            </m:r>
                          </m:e>
                        </m:mr>
                      </m:m>
                    </m:oMath>
                  </m:oMathPara>
                </a14:m>
                <a:endParaRPr lang="zh-CN" altLang="en-US" sz="24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1421723" y="2796414"/>
                <a:ext cx="5769685" cy="1187505"/>
              </a:xfrm>
              <a:prstGeom prst="rect">
                <a:avLst/>
              </a:prstGeom>
              <a:blipFill rotWithShape="1">
                <a:blip r:embed="rId3"/>
                <a:stretch>
                  <a:fillRect l="10" t="-43" r="2" b="47"/>
                </a:stretch>
              </a:blipFill>
            </p:spPr>
            <p:txBody>
              <a:bodyPr/>
              <a:lstStyle/>
              <a:p>
                <a:r>
                  <a:rPr lang="zh-CN" altLang="en-US">
                    <a:noFill/>
                  </a:rPr>
                  <a:t> </a:t>
                </a:r>
              </a:p>
            </p:txBody>
          </p:sp>
        </mc:Fallback>
      </mc:AlternateContent>
      <p:sp>
        <p:nvSpPr>
          <p:cNvPr id="11" name="文本框 10"/>
          <p:cNvSpPr txBox="1"/>
          <p:nvPr/>
        </p:nvSpPr>
        <p:spPr>
          <a:xfrm>
            <a:off x="8760296" y="2638747"/>
            <a:ext cx="288032" cy="1200329"/>
          </a:xfrm>
          <a:prstGeom prst="rect">
            <a:avLst/>
          </a:prstGeom>
          <a:noFill/>
        </p:spPr>
        <p:txBody>
          <a:bodyPr wrap="square" rtlCol="0">
            <a:spAutoFit/>
          </a:bodyPr>
          <a:lstStyle/>
          <a:p>
            <a:r>
              <a:rPr lang="zh-CN" altLang="en-US" dirty="0">
                <a:solidFill>
                  <a:srgbClr val="FF0000"/>
                </a:solidFill>
              </a:rPr>
              <a:t>入基变量</a:t>
            </a:r>
          </a:p>
        </p:txBody>
      </p:sp>
      <p:sp>
        <p:nvSpPr>
          <p:cNvPr id="12" name="文本框 11"/>
          <p:cNvSpPr txBox="1"/>
          <p:nvPr/>
        </p:nvSpPr>
        <p:spPr>
          <a:xfrm>
            <a:off x="5951984" y="2638747"/>
            <a:ext cx="288032" cy="1200329"/>
          </a:xfrm>
          <a:prstGeom prst="rect">
            <a:avLst/>
          </a:prstGeom>
          <a:noFill/>
        </p:spPr>
        <p:txBody>
          <a:bodyPr wrap="square" rtlCol="0">
            <a:spAutoFit/>
          </a:bodyPr>
          <a:lstStyle/>
          <a:p>
            <a:r>
              <a:rPr lang="zh-CN" altLang="en-US" dirty="0">
                <a:solidFill>
                  <a:srgbClr val="FF0000"/>
                </a:solidFill>
              </a:rPr>
              <a:t>出基变量</a:t>
            </a:r>
          </a:p>
        </p:txBody>
      </p:sp>
      <mc:AlternateContent xmlns:mc="http://schemas.openxmlformats.org/markup-compatibility/2006" xmlns:a14="http://schemas.microsoft.com/office/drawing/2010/main">
        <mc:Choice Requires="a14">
          <p:sp>
            <p:nvSpPr>
              <p:cNvPr id="13" name="TextBox 12"/>
              <p:cNvSpPr txBox="1"/>
              <p:nvPr/>
            </p:nvSpPr>
            <p:spPr>
              <a:xfrm>
                <a:off x="3071664" y="2031346"/>
                <a:ext cx="6231834" cy="701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𝜃</m:t>
                      </m:r>
                      <m:r>
                        <a:rPr lang="en-US" i="0">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solidFill>
                                    <a:srgbClr val="836967"/>
                                  </a:solidFill>
                                  <a:latin typeface="Cambria Math" panose="02040503050406030204" pitchFamily="18" charset="0"/>
                                </a:rPr>
                              </m:ctrlPr>
                            </m:limLowPr>
                            <m:e>
                              <m:r>
                                <m:rPr>
                                  <m:sty m:val="p"/>
                                </m:rPr>
                                <a:rPr lang="en-US" i="0">
                                  <a:latin typeface="Cambria Math" panose="02040503050406030204" pitchFamily="18" charset="0"/>
                                </a:rPr>
                                <m:t>min</m:t>
                              </m:r>
                            </m:e>
                            <m:lim>
                              <m:r>
                                <a:rPr lang="en-US" i="0">
                                  <a:latin typeface="Cambria Math" panose="02040503050406030204" pitchFamily="18" charset="0"/>
                                </a:rPr>
                                <m:t>1≤</m:t>
                              </m:r>
                              <m:r>
                                <a:rPr lang="en-US" i="1">
                                  <a:latin typeface="Cambria Math" panose="02040503050406030204" pitchFamily="18" charset="0"/>
                                </a:rPr>
                                <m:t>𝑖</m:t>
                              </m:r>
                              <m:r>
                                <a:rPr lang="en-US" i="0">
                                  <a:latin typeface="Cambria Math" panose="02040503050406030204" pitchFamily="18" charset="0"/>
                                </a:rPr>
                                <m:t>≤</m:t>
                              </m:r>
                              <m:r>
                                <a:rPr lang="en-US" i="1">
                                  <a:latin typeface="Cambria Math" panose="02040503050406030204" pitchFamily="18" charset="0"/>
                                </a:rPr>
                                <m:t>𝑚</m:t>
                              </m:r>
                            </m:lim>
                          </m:limLow>
                        </m:fName>
                        <m:e>
                          <m:d>
                            <m:dPr>
                              <m:begChr m:val="{"/>
                              <m:endChr m:val="}"/>
                              <m:ctrlPr>
                                <a:rPr lang="en-US" i="1">
                                  <a:latin typeface="Cambria Math" panose="02040503050406030204" pitchFamily="18" charset="0"/>
                                </a:rPr>
                              </m:ctrlPr>
                            </m:dPr>
                            <m:e>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𝑖</m:t>
                                      </m:r>
                                    </m:sub>
                                  </m:sSub>
                                </m:num>
                                <m:den>
                                  <m:sSub>
                                    <m:sSubPr>
                                      <m:ctrlPr>
                                        <a:rPr lang="en-US" i="1">
                                          <a:solidFill>
                                            <a:srgbClr val="836967"/>
                                          </a:solidFill>
                                          <a:latin typeface="Cambria Math" panose="02040503050406030204" pitchFamily="18" charset="0"/>
                                        </a:rPr>
                                      </m:ctrlPr>
                                    </m:sSub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𝑎</m:t>
                                          </m:r>
                                        </m:e>
                                      </m:acc>
                                    </m:e>
                                    <m:sub>
                                      <m:r>
                                        <a:rPr lang="en-US" i="1">
                                          <a:latin typeface="Cambria Math" panose="02040503050406030204" pitchFamily="18" charset="0"/>
                                        </a:rPr>
                                        <m:t>𝑖𝑘</m:t>
                                      </m:r>
                                    </m:sub>
                                  </m:sSub>
                                </m:den>
                              </m:f>
                            </m:e>
                            <m:e>
                              <m:sSub>
                                <m:sSubPr>
                                  <m:ctrlPr>
                                    <a:rPr lang="en-US" i="1">
                                      <a:solidFill>
                                        <a:srgbClr val="836967"/>
                                      </a:solidFill>
                                      <a:latin typeface="Cambria Math" panose="02040503050406030204" pitchFamily="18" charset="0"/>
                                    </a:rPr>
                                  </m:ctrlPr>
                                </m:sSub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𝑎</m:t>
                                      </m:r>
                                    </m:e>
                                  </m:acc>
                                </m:e>
                                <m:sub>
                                  <m:r>
                                    <a:rPr lang="en-US" i="1">
                                      <a:latin typeface="Cambria Math" panose="02040503050406030204" pitchFamily="18" charset="0"/>
                                    </a:rPr>
                                    <m:t>𝑖𝑘</m:t>
                                  </m:r>
                                </m:sub>
                              </m:sSub>
                              <m:r>
                                <a:rPr lang="en-US" i="0">
                                  <a:latin typeface="Cambria Math" panose="02040503050406030204" pitchFamily="18" charset="0"/>
                                </a:rPr>
                                <m:t>&gt;0</m:t>
                              </m:r>
                            </m:e>
                          </m:d>
                        </m:e>
                      </m:func>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𝑏</m:t>
                                  </m:r>
                                </m:e>
                              </m:acc>
                            </m:e>
                            <m:sub>
                              <m:r>
                                <a:rPr lang="en-US" i="1">
                                  <a:latin typeface="Cambria Math" panose="02040503050406030204" pitchFamily="18" charset="0"/>
                                </a:rPr>
                                <m:t>𝑙</m:t>
                              </m:r>
                            </m:sub>
                          </m:sSub>
                        </m:num>
                        <m:den>
                          <m:sSub>
                            <m:sSubPr>
                              <m:ctrlPr>
                                <a:rPr lang="en-US" i="1">
                                  <a:solidFill>
                                    <a:srgbClr val="836967"/>
                                  </a:solidFill>
                                  <a:latin typeface="Cambria Math" panose="02040503050406030204" pitchFamily="18" charset="0"/>
                                </a:rPr>
                              </m:ctrlPr>
                            </m:sSub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𝑎</m:t>
                                  </m:r>
                                </m:e>
                              </m:acc>
                            </m:e>
                            <m:sub>
                              <m:r>
                                <a:rPr lang="en-US" i="1">
                                  <a:latin typeface="Cambria Math" panose="02040503050406030204" pitchFamily="18" charset="0"/>
                                </a:rPr>
                                <m:t>𝑙𝑘</m:t>
                              </m:r>
                            </m:sub>
                          </m:sSub>
                        </m:den>
                      </m:f>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3071664" y="2031346"/>
                <a:ext cx="6231834" cy="701859"/>
              </a:xfrm>
              <a:prstGeom prst="rect">
                <a:avLst/>
              </a:prstGeom>
              <a:blipFill rotWithShape="1">
                <a:blip r:embed="rId4"/>
                <a:stretch>
                  <a:fillRect l="-3" t="-88" r="2" b="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745005" y="2135339"/>
                <a:ext cx="6808304" cy="5034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i="1" smtClean="0">
                              <a:solidFill>
                                <a:srgbClr val="836967"/>
                              </a:solidFill>
                              <a:latin typeface="Cambria Math" panose="02040503050406030204" pitchFamily="18" charset="0"/>
                            </a:rPr>
                          </m:ctrlPr>
                        </m:funcPr>
                        <m:fName>
                          <m:limLow>
                            <m:limLowPr>
                              <m:ctrlPr>
                                <a:rPr lang="en-US" i="1">
                                  <a:solidFill>
                                    <a:srgbClr val="836967"/>
                                  </a:solidFill>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𝑗</m:t>
                              </m:r>
                            </m:lim>
                          </m:limLow>
                        </m:fName>
                        <m:e>
                          <m:d>
                            <m:dPr>
                              <m:begChr m:val="{"/>
                              <m:endChr m:val="}"/>
                              <m:ctrlPr>
                                <a:rPr lang="en-US" i="1">
                                  <a:solidFill>
                                    <a:srgbClr val="836967"/>
                                  </a:solidFill>
                                  <a:latin typeface="Cambria Math" panose="02040503050406030204" pitchFamily="18" charset="0"/>
                                </a:rPr>
                              </m:ctrlPr>
                            </m:dPr>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𝑗</m:t>
                                  </m:r>
                                </m:sub>
                              </m:sSub>
                            </m:e>
                          </m:d>
                          <m:r>
                            <a:rPr lang="en-US" i="0">
                              <a:latin typeface="Cambria Math" panose="02040503050406030204" pitchFamily="18" charset="0"/>
                            </a:rPr>
                            <m:t>=</m:t>
                          </m:r>
                        </m:e>
                      </m:func>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𝑘</m:t>
                          </m:r>
                        </m:sub>
                      </m:sSub>
                      <m:r>
                        <a:rPr lang="en-US" i="0">
                          <a:latin typeface="Cambria Math" panose="02040503050406030204" pitchFamily="18" charset="0"/>
                        </a:rPr>
                        <m:t>&lt;0</m:t>
                      </m:r>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5745005" y="2135339"/>
                <a:ext cx="6808304" cy="503408"/>
              </a:xfrm>
              <a:prstGeom prst="rect">
                <a:avLst/>
              </a:prstGeom>
              <a:blipFill rotWithShape="1">
                <a:blip r:embed="rId5"/>
                <a:stretch>
                  <a:fillRect l="-2" t="-93" r="9" b="64"/>
                </a:stretch>
              </a:blipFill>
            </p:spPr>
            <p:txBody>
              <a:bodyPr/>
              <a:lstStyle/>
              <a:p>
                <a:r>
                  <a:rPr lang="zh-CN" altLang="en-US">
                    <a:noFill/>
                  </a:rPr>
                  <a:t> </a:t>
                </a:r>
              </a:p>
            </p:txBody>
          </p:sp>
        </mc:Fallback>
      </mc:AlternateContent>
      <p:pic>
        <p:nvPicPr>
          <p:cNvPr id="2" name="图片 1"/>
          <p:cNvPicPr>
            <a:picLocks noChangeAspect="1"/>
          </p:cNvPicPr>
          <p:nvPr/>
        </p:nvPicPr>
        <p:blipFill>
          <a:blip r:embed="rId6"/>
          <a:stretch>
            <a:fillRect/>
          </a:stretch>
        </p:blipFill>
        <p:spPr>
          <a:xfrm>
            <a:off x="5231904" y="187914"/>
            <a:ext cx="4582009" cy="1780223"/>
          </a:xfrm>
          <a:prstGeom prst="rect">
            <a:avLst/>
          </a:prstGeom>
        </p:spPr>
      </p:pic>
      <p:pic>
        <p:nvPicPr>
          <p:cNvPr id="3" name="图片 2"/>
          <p:cNvPicPr>
            <a:picLocks noChangeAspect="1"/>
          </p:cNvPicPr>
          <p:nvPr/>
        </p:nvPicPr>
        <p:blipFill>
          <a:blip r:embed="rId7"/>
          <a:stretch>
            <a:fillRect/>
          </a:stretch>
        </p:blipFill>
        <p:spPr>
          <a:xfrm>
            <a:off x="5257935" y="3859244"/>
            <a:ext cx="5672857" cy="2797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idx="1"/>
          </p:nvPr>
        </p:nvSpPr>
        <p:spPr>
          <a:xfrm>
            <a:off x="1529784" y="1412777"/>
            <a:ext cx="8534400" cy="1195387"/>
          </a:xfrm>
        </p:spPr>
        <p:txBody>
          <a:bodyPr>
            <a:normAutofit/>
          </a:bodyPr>
          <a:lstStyle/>
          <a:p>
            <a:pPr algn="ctr" eaLnBrk="1" hangingPunct="1">
              <a:spcBef>
                <a:spcPct val="0"/>
              </a:spcBef>
              <a:buFontTx/>
              <a:buNone/>
            </a:pPr>
            <a:r>
              <a:rPr lang="zh-CN" altLang="en-US" sz="4400" b="1" dirty="0">
                <a:solidFill>
                  <a:srgbClr val="000000"/>
                </a:solidFill>
                <a:latin typeface="宋体" panose="02010600030101010101" pitchFamily="2" charset="-122"/>
              </a:rPr>
              <a:t>单纯形法举例</a:t>
            </a:r>
          </a:p>
        </p:txBody>
      </p:sp>
      <p:sp>
        <p:nvSpPr>
          <p:cNvPr id="4100" name="AutoShape 2" descr="data:image/jpeg;base64,/9j/4AAQSkZJRgABAQAAAQABAAD/2wCEAAkGBwgHBgkIBwgKCgkLDRYPDQwMDRsUFRAWIB0iIiAdHx8kKDQsJCYxJx8fLT0tMTU3Ojo6Iys/RD84QzQ5OjcBCgoKDQwNGg8PGjclHyU3Nzc3Nzc3Nzc3Nzc3Nzc3Nzc3Nzc3Nzc3Nzc3Nzc3Nzc3Nzc3Nzc3Nzc3Nzc3Nzc3N//AABEIALoAegMBIgACEQEDEQH/xAAcAAABBQEBAQAAAAAAAAAAAAADAgQFBgcBAAj/xAA/EAABAwIEAwUHAgIIBwAAAAABAgMRAAQFEiExBkFREyJhcZEHFDJCgaGxI8HR8BU0UlNigpLhFhckM3Ky0v/EABQBAQAAAAAAAAAAAAAAAAAAAAD/xAAUEQEAAAAAAAAAAAAAAAAAAAAA/9oADAMBAAIRAxEAPwDKi3XOzijEVyKAWWvZaJXqAeWklNFIpJoB5a4E0QivZaBASK9FLiuxQDy1wposVyKBGWuhNLiupFBxKaVlFdApWWgURXIopFJg0CAK4RRIryUFRASCSdAOtAMAq0AJnaprAOGLzGHk93smTrnXpImNKn+FeFV35b7Zlh5kKlfeOYGNQVCtcwrCbCySnKhIIEAJFBljXsuefgpuyjWCYCtP4+dOf+VbjU538wkwcsZRy+ta8B/doCR5V5SXTzoPnbGeEcSw1ag7aL7pMdn386ZGw66zUG/aOMuFCkkxBzBJ2NfS16wpxP6iEqHRQmoC/wAKw++SUXlu2CJ75SJ18aDAor2WrjxZwkcMLlzZBbtqVTMypHh4jx9aqRTQCilARS8tdCaBIpUUoJpWU0Biik5aOoUnLQACRmGbadaneFMLGJYghrPGsyAFSOflyqIy61pvs3wwNWSrt5sIcSmSqBMHbXqaC3WFqzh9qi3tk5EpERO1P7aE6jNO5nWaaW6FOKKiNDUk0AlO3hrQO0EczGldD6JiRHlUZcPqCoEjxpgt9QUQDrQTry21AyRFRN4lG8zO00xXeqRMq08yKELxpY0UD0EzQIuMOZu0qYUst5zAVGYfUdKynivhu9wK9Uh9uWVE9m6jVKhWqO3aAUqSeetHxxq3xPCC28lKkFOxOx5RQYME13LT3ELUWt0tmdUGIim4TQISmiZaUlNFy0CiKTFFIpBoFWlubm6aYBguLCQYnc1tmHWDeGYHaWrYAzEFZHOB/GsewSE4tauGYQ6lRitkFyHuySCIQKCStEAfTanJSDTW210pyqUpmJoGl0jVICZ325VF3WjmYCNZqZXC8w6AGo+5ZzgKGw0oK7dOnKo8huKg3rtxCyQSNZA5RVhu7cJCidJJmoK+ZSc0KjoaAfvq1oSc+saedSNriyS0GgArnlJ3j6g1XFpU0rLB2mab3dwq1t13OYy2CfttQD4pbSt9NynIouDVSdIPSPrUEE1L377V/hrV5brKkLcJIPIx/vUVFB4DWlxXkil5aDpFJIokUkigPht2LS6bX2bahmElaZgVp+E3zK2e1eeaQTqZUANelZMRWh8NGzW/YotmuycRZBQVJJJJAUqfoRFBbU4szbiVof1OkMLg/WK4vilgJIVY3RBHxBKY+6hUXiV42y6oXTaQsjMS4SUDbXqfKqZjPEjhxL3fDrR5RbTnWVW+URrOgMjwoNEw/HLS9fW20paVZYUhxGVSddP31GlIucXQ1mtkpLr6lEtoHMAak+A0+pHWq5hdyC/aNJCEO3QKQr4lASnYnx/FV/i11/BsbaIxNxbTsph7XKrceW1BKYtjdwVZEONlRGiGUBSh5yTG/QVXL6+vLVxRui42kKMgpQrX6TReHC4+tXvPZK7NJCHFJzJJ5SnnqdzNRuI2+MPPuu4gLXc5CzpM+WlBINXvb26lvuLCUpnRCZB8NtKWuzbdcKyp1TaSQEL0nXmPLlUXa5k2TibllaXeyUAlMKzEiOVTrj6HGVQNIGx1HL1oGjxTYtHDmEpSy8ogg9cpI/FQY1qZxN8PX62y3kUypt0HqBA9IJqIAoOpolIApVAo0k0QikkUAzVs4OdXmt3hEsrLC55IVqn6ZiR5kVVSPCrFwLcJTjJtX0hbVyjIpChIMGYI50Gi3aEvAKU0FqTsoictRN/hzuIFCEtQhJ1jY/Sp1FiMgQzdXTInQBzPH+sGmeJos2Chh166u3nTlCFOmD5pTA+1AywjDgvEkPgBTFqChpcfEsfER4cv8tVP2j4cb5ai2JjXMPlNafZtpS2lCEhCUN5QByFUjjg9gqEwDoPWgonDtwu2WGrtDiViJUEkhRHPTaan7h1m4yo/UUenYq/+f3qvPXDtipp5s5ipyIJ0Aif41bcOuxc24cVAVGxMxQME2xDJSoKCSQQHFTEGdBJ/O3Lp19AQErcBURPnNGvsUDJKSAUzBB5UxddTdWiy2YgmDOoBB/hQFvUW7ts5fpy9sUBpcnUJEkaedV0Cnrtyj3IMNggqILk9R+aaedB0DWlRSRSqAhFIIoiqQaBBo+H3q7C9ZuW9ezWFR16j0oJpJoNlbvO0ZStsylYCkkdKbWDaTfuXzpTmTKEFR+FI3P1/aobgbEEXeGe7LV+pbdwj/B8p/b6VI4hb3Tra7ayeDTueU5vhIJkExvzEeFBy94mNpehCmD7uof8Adz7dDHj0qi8bYxc4i8n3FgvLzBBHRU/z61PpwF1lwrxNT63Ae/7k0Ckp1MhBVm3jaZnzhqqzsGXSq2xF/M531BeGvZgqQY2gHT7UGfITeuKHvRJ55QmAQeY9KnrHES0juiMuhHhQceZvlLa7Jv8AVAShodmEjnOmYnpRsEwl10lFy7neM5tIA1/3oAYkoqWFRGZQjXxr2GvhlpxJIOgTtXL55Dl68pvVlgqQ348poN9b3GHNYZduEC2vy6AI2KSAD+aBZr1ertB6lRXAKXFAtWu1DNSreFrX8S8p8qKcJt0/G4tR9KCDIorVo+98DZjqdBU0li1ZPcbT5nU0hbiliJ05eFAjBVP4RfJuUuTycbT8yek/etFsLhq6Uy+ysKbUAUKHMVmdxq3A0Udqvns8sffeF7h5gw/b3awnooZUmPzQWJ5MKSsJzFOogwRUJi763CVOtqJJ+Y7VOsPpeakDKvmDTPFghxHZ5RMUGeYg29c3rbTCDmmM88ulRuKuLw+6eDRyEN5B61aLVxNhizrlzHYJbUUqVyVOgqhcRYn75eOKbUIzHXrQNFqKuytmRK15QOsmrD7WkosU8OYaggC2t1lSf9IB+xpPs8wg3mKf0i8n/p7VUgn5nOXpVa9o2MDFuLblbaszNuAwgg75dz6k0BsNuu2aCV/ENqfCqnZvrSoKCiOVTdtiSM4bdP8AmoJMClxSUjMgKSQUnn1pelBZVOjnvTdx7f7VxxYnURTBT7SrlCHFwiY350Dmc400SOfWkxoTy5CjqSkmZjwFAdXEgnUcqBu8chkjboa1D2Nx/wAJPGNTeuz4/DH2isqfWVNmJnxrWvY+1k4MQvm7curPrH7UDnHLNy1uFqaTlaclSFjYK5pP11+tVVN/f3a1paS0FpJT31ET9jWkY5eWVjhdxc4mQLZCSVDLJV4JHM9ANapSLK0vEM32GYxhnu7605EPPZFhStMhIJ70kCImaDJuJcQvnrx1u6lvITKRsKb8O4DdY68lwBTVkk958j4vBA5+e1bNf+zfDr95D2IOKcM5lso0QpX+I7keFO7jCbfDrY5QlKGxASNAKCj8RYjb8J8MrTaJS2QnsrdA3Kzz8epNYgkqWsqUSSTJJ51bPaFi7uNYrlbn3S3JQ0P7RnVX8KrLTRB1oDsAyAJpyJQ8jTQivW7BAkkzR1ICFNqX1I18aCYsnyEDw08KfdqjmBUPb5okR1inZSqT3qCexB9LKVagHlUA2TdP6jQHXXc13GbxSnUtoGZRgZRzNP8ADbE2yAp8Dtjrk5JoHjbi0NZVE5gPiPShzmzazPUzS1fESTJOmnKvBOX+d6BtdrAZgg7TJ5VuXs+tPceDsMbiCprtDp/a1/esKvWlXLzFsiQp9xLaT4kgV9C3FuTYjD7ZRaQhoIUtPypAiB40FG4lxO6xDiVAaXGGsNlCJSMqnCe8uT4SPKetZxxEq5w/BHlNF1glYJ7InLm5HTnoPStuxjh62xLh++w5KciXLdSELA1Co0PrXz5xDc3Nvh6UWTrgQ+zL6NoGm46yfvQbrwZxSOIuErPECQbgt9ncAcnU6K8p38jTHjm/ycKvqQ5lW5CAQdp0rPvYfePNJvLFyfdrk9oyTzdSNR9U/wDrSvaJiiy57ghYLSVlyJ6jT0H5oKJflK3QhKYH3pLNqArveleYTJK1TrHpTxhPa5jsOp/FB5LAk7ab+FNsRTFq4rWU6iPA0u5vmmF/qLhQEFMzNMzduX6jb27cBYgrXQS9uhPYpXqcw50fInqr1rrTCWmUNjXKAJjejhGmiU0EXhyvesdYPJK8x+gNWxKQE7bnnVX4VZK7xVydQAYirXIAG1AJacqTIg+FIVA8KKpSSIJ1oZMIidtqBlbrdc4swZthAU4LxtSUEaGFA619HLSEskfMdT4msE9mtqMQ9pbClglNo0p3rrED81vbpnuig5mSzarcWQlKUlSjGwivl3i95TZbdt3IhoJy6juq2UPT719H8W3fuPDd4EwXnmVMspmMy1JIHpv9K+c+OMKuWW23nMgCEJSQlc6a6/b7UEpwbiDdp/RZUcobT2qj5ak1E8Q3ir/Eri6VoXHCsp6SdvpUTw648ta1qP6TDUeZOwozqip07mTqetApEFBgxPOlvOkMpZtye0VuedI+LQRIHWltIIWFqGh0BoI/FbFLbaVt/GkSfGn+BIDqEu+FFSjO5nVBCUyQaHhALF28xMoPfEctdqCXkyIFEyo/vPsaH0jTSiyeYM+VAXBLb3ezSAACdZp+QdKTbf1dvyog+L6UA1wTInzobvdQry1o6udBv9LVZGh11oJ32HW+fiDG74/KhLSfUmtoQmIUd6yH2Cf1fFjz7YVr7mjCiN4NBkvGnEKsR4uFraq/RwtcDeFOfMfUx9Kzf2nYi45iLdkmQlmStUghR2A03AH5NWvEkpHEmIEACVgmBzyis44qJOJEEz3qB3Zte54O0n53/wBQnz2+1CT3iJGv70/xXRxIG0DSmSPiT5igO2mD1owSSAgmNJ8qGNz/AORowA7NenX8UHSUs261rKcoOsnQ0nCGSQ5dOJIcdIgRskbD96bYtqw0DtmR+RU4gDv+VAhWbOPh9K9FKO9LgdKD/9k=">
            <a:hlinkClick r:id="rId2"/>
          </p:cNvPr>
          <p:cNvSpPr>
            <a:spLocks noChangeAspect="1" noChangeArrowheads="1"/>
          </p:cNvSpPr>
          <p:nvPr/>
        </p:nvSpPr>
        <p:spPr bwMode="auto">
          <a:xfrm>
            <a:off x="1524000" y="-868363"/>
            <a:ext cx="1162050" cy="1771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chemeClr val="tx2"/>
              </a:buClr>
              <a:buSzPct val="90000"/>
              <a:buFont typeface="Cambria" panose="02040503050406030204" pitchFamily="18" charset="0"/>
              <a:buChar char="+"/>
              <a:defRPr sz="3200">
                <a:solidFill>
                  <a:schemeClr val="tx1"/>
                </a:solidFill>
                <a:latin typeface="Calibri" panose="020F0502020204030204" pitchFamily="34" charset="0"/>
              </a:defRPr>
            </a:lvl1pPr>
            <a:lvl2pPr marL="742950" indent="-285750" algn="l">
              <a:spcBef>
                <a:spcPct val="20000"/>
              </a:spcBef>
              <a:buClr>
                <a:schemeClr val="tx2"/>
              </a:buClr>
              <a:buSzPct val="100000"/>
              <a:buFont typeface="Cambria" panose="02040503050406030204" pitchFamily="18" charset="0"/>
              <a:buChar char="–"/>
              <a:defRPr sz="2800">
                <a:solidFill>
                  <a:schemeClr val="tx1"/>
                </a:solidFill>
                <a:latin typeface="Calibri" panose="020F0502020204030204" pitchFamily="34" charset="0"/>
              </a:defRPr>
            </a:lvl2pPr>
            <a:lvl3pPr marL="1143000" indent="-228600" algn="l">
              <a:spcBef>
                <a:spcPct val="20000"/>
              </a:spcBef>
              <a:buClr>
                <a:schemeClr val="tx2"/>
              </a:buClr>
              <a:buSzPct val="60000"/>
              <a:buFont typeface="Wingdings 2" panose="05020102010507070707" pitchFamily="18" charset="2"/>
              <a:buChar char="Ï"/>
              <a:defRPr sz="2400">
                <a:solidFill>
                  <a:schemeClr val="tx1"/>
                </a:solidFill>
                <a:latin typeface="Calibri" panose="020F0502020204030204" pitchFamily="34" charset="0"/>
              </a:defRPr>
            </a:lvl3pPr>
            <a:lvl4pPr marL="1600200" indent="-228600" algn="l">
              <a:spcBef>
                <a:spcPct val="20000"/>
              </a:spcBef>
              <a:buClr>
                <a:schemeClr val="tx2"/>
              </a:buClr>
              <a:buSzPct val="90000"/>
              <a:buFont typeface="Calibri" panose="020F0502020204030204" pitchFamily="34" charset="0"/>
              <a:buChar char="÷"/>
              <a:defRPr sz="2000">
                <a:solidFill>
                  <a:schemeClr val="tx1"/>
                </a:solidFill>
                <a:latin typeface="Calibri" panose="020F0502020204030204" pitchFamily="34" charset="0"/>
              </a:defRPr>
            </a:lvl4pPr>
            <a:lvl5pPr marL="2057400" indent="-228600" algn="l">
              <a:spcBef>
                <a:spcPct val="20000"/>
              </a:spcBef>
              <a:buClr>
                <a:schemeClr val="tx2"/>
              </a:buClr>
              <a:buSzPct val="100000"/>
              <a:buFont typeface="Cambria" panose="02040503050406030204" pitchFamily="18"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9pPr>
          </a:lstStyle>
          <a:p>
            <a:pPr algn="ctr">
              <a:spcBef>
                <a:spcPct val="0"/>
              </a:spcBef>
              <a:buClrTx/>
              <a:buSzTx/>
              <a:buFontTx/>
              <a:buNone/>
            </a:pPr>
            <a:endParaRPr lang="zh-CN" altLang="en-US" sz="1600">
              <a:latin typeface="Times New Roman" panose="02020603050405020304" pitchFamily="18" charset="0"/>
            </a:endParaRPr>
          </a:p>
        </p:txBody>
      </p:sp>
      <p:sp>
        <p:nvSpPr>
          <p:cNvPr id="4101" name="AutoShape 4" descr="data:image/jpeg;base64,/9j/4AAQSkZJRgABAQAAAQABAAD/2wCEAAkGBwgHBgkIBwgKCgkLDRYPDQwMDRsUFRAWIB0iIiAdHx8kKDQsJCYxJx8fLT0tMTU3Ojo6Iys/RD84QzQ5OjcBCgoKDQwNGg8PGjclHyU3Nzc3Nzc3Nzc3Nzc3Nzc3Nzc3Nzc3Nzc3Nzc3Nzc3Nzc3Nzc3Nzc3Nzc3Nzc3Nzc3N//AABEIALoAegMBIgACEQEDEQH/xAAcAAABBQEBAQAAAAAAAAAAAAADAgQFBgcBAAj/xAA/EAABAwIEAwUHAgIIBwAAAAABAgMRAAQFEiExBkFREyJhcZEHFDJCgaGxI8HR8BU0UlNigpLhFhckM3Ky0v/EABQBAQAAAAAAAAAAAAAAAAAAAAD/xAAUEQEAAAAAAAAAAAAAAAAAAAAA/9oADAMBAAIRAxEAPwDKi3XOzijEVyKAWWvZaJXqAeWklNFIpJoB5a4E0QivZaBASK9FLiuxQDy1wposVyKBGWuhNLiupFBxKaVlFdApWWgURXIopFJg0CAK4RRIryUFRASCSdAOtAMAq0AJnaprAOGLzGHk93smTrnXpImNKn+FeFV35b7Zlh5kKlfeOYGNQVCtcwrCbCySnKhIIEAJFBljXsuefgpuyjWCYCtP4+dOf+VbjU538wkwcsZRy+ta8B/doCR5V5SXTzoPnbGeEcSw1ag7aL7pMdn386ZGw66zUG/aOMuFCkkxBzBJ2NfS16wpxP6iEqHRQmoC/wAKw++SUXlu2CJ75SJ18aDAor2WrjxZwkcMLlzZBbtqVTMypHh4jx9aqRTQCilARS8tdCaBIpUUoJpWU0Biik5aOoUnLQACRmGbadaneFMLGJYghrPGsyAFSOflyqIy61pvs3wwNWSrt5sIcSmSqBMHbXqaC3WFqzh9qi3tk5EpERO1P7aE6jNO5nWaaW6FOKKiNDUk0AlO3hrQO0EczGldD6JiRHlUZcPqCoEjxpgt9QUQDrQTry21AyRFRN4lG8zO00xXeqRMq08yKELxpY0UD0EzQIuMOZu0qYUst5zAVGYfUdKynivhu9wK9Uh9uWVE9m6jVKhWqO3aAUqSeetHxxq3xPCC28lKkFOxOx5RQYME13LT3ELUWt0tmdUGIim4TQISmiZaUlNFy0CiKTFFIpBoFWlubm6aYBguLCQYnc1tmHWDeGYHaWrYAzEFZHOB/GsewSE4tauGYQ6lRitkFyHuySCIQKCStEAfTanJSDTW210pyqUpmJoGl0jVICZ325VF3WjmYCNZqZXC8w6AGo+5ZzgKGw0oK7dOnKo8huKg3rtxCyQSNZA5RVhu7cJCidJJmoK+ZSc0KjoaAfvq1oSc+saedSNriyS0GgArnlJ3j6g1XFpU0rLB2mab3dwq1t13OYy2CfttQD4pbSt9NynIouDVSdIPSPrUEE1L377V/hrV5brKkLcJIPIx/vUVFB4DWlxXkil5aDpFJIokUkigPht2LS6bX2bahmElaZgVp+E3zK2e1eeaQTqZUANelZMRWh8NGzW/YotmuycRZBQVJJJJAUqfoRFBbU4szbiVof1OkMLg/WK4vilgJIVY3RBHxBKY+6hUXiV42y6oXTaQsjMS4SUDbXqfKqZjPEjhxL3fDrR5RbTnWVW+URrOgMjwoNEw/HLS9fW20paVZYUhxGVSddP31GlIucXQ1mtkpLr6lEtoHMAak+A0+pHWq5hdyC/aNJCEO3QKQr4lASnYnx/FV/i11/BsbaIxNxbTsph7XKrceW1BKYtjdwVZEONlRGiGUBSh5yTG/QVXL6+vLVxRui42kKMgpQrX6TReHC4+tXvPZK7NJCHFJzJJ5SnnqdzNRuI2+MPPuu4gLXc5CzpM+WlBINXvb26lvuLCUpnRCZB8NtKWuzbdcKyp1TaSQEL0nXmPLlUXa5k2TibllaXeyUAlMKzEiOVTrj6HGVQNIGx1HL1oGjxTYtHDmEpSy8ogg9cpI/FQY1qZxN8PX62y3kUypt0HqBA9IJqIAoOpolIApVAo0k0QikkUAzVs4OdXmt3hEsrLC55IVqn6ZiR5kVVSPCrFwLcJTjJtX0hbVyjIpChIMGYI50Gi3aEvAKU0FqTsoictRN/hzuIFCEtQhJ1jY/Sp1FiMgQzdXTInQBzPH+sGmeJos2Chh166u3nTlCFOmD5pTA+1AywjDgvEkPgBTFqChpcfEsfER4cv8tVP2j4cb5ai2JjXMPlNafZtpS2lCEhCUN5QByFUjjg9gqEwDoPWgonDtwu2WGrtDiViJUEkhRHPTaan7h1m4yo/UUenYq/+f3qvPXDtipp5s5ipyIJ0Aif41bcOuxc24cVAVGxMxQME2xDJSoKCSQQHFTEGdBJ/O3Lp19AQErcBURPnNGvsUDJKSAUzBB5UxddTdWiy2YgmDOoBB/hQFvUW7ts5fpy9sUBpcnUJEkaedV0Cnrtyj3IMNggqILk9R+aaedB0DWlRSRSqAhFIIoiqQaBBo+H3q7C9ZuW9ezWFR16j0oJpJoNlbvO0ZStsylYCkkdKbWDaTfuXzpTmTKEFR+FI3P1/aobgbEEXeGe7LV+pbdwj/B8p/b6VI4hb3Tra7ayeDTueU5vhIJkExvzEeFBy94mNpehCmD7uof8Adz7dDHj0qi8bYxc4i8n3FgvLzBBHRU/z61PpwF1lwrxNT63Ae/7k0Ckp1MhBVm3jaZnzhqqzsGXSq2xF/M531BeGvZgqQY2gHT7UGfITeuKHvRJ55QmAQeY9KnrHES0juiMuhHhQceZvlLa7Jv8AVAShodmEjnOmYnpRsEwl10lFy7neM5tIA1/3oAYkoqWFRGZQjXxr2GvhlpxJIOgTtXL55Dl68pvVlgqQ348poN9b3GHNYZduEC2vy6AI2KSAD+aBZr1ertB6lRXAKXFAtWu1DNSreFrX8S8p8qKcJt0/G4tR9KCDIorVo+98DZjqdBU0li1ZPcbT5nU0hbiliJ05eFAjBVP4RfJuUuTycbT8yek/etFsLhq6Uy+ysKbUAUKHMVmdxq3A0Udqvns8sffeF7h5gw/b3awnooZUmPzQWJ5MKSsJzFOogwRUJi763CVOtqJJ+Y7VOsPpeakDKvmDTPFghxHZ5RMUGeYg29c3rbTCDmmM88ulRuKuLw+6eDRyEN5B61aLVxNhizrlzHYJbUUqVyVOgqhcRYn75eOKbUIzHXrQNFqKuytmRK15QOsmrD7WkosU8OYaggC2t1lSf9IB+xpPs8wg3mKf0i8n/p7VUgn5nOXpVa9o2MDFuLblbaszNuAwgg75dz6k0BsNuu2aCV/ENqfCqnZvrSoKCiOVTdtiSM4bdP8AmoJMClxSUjMgKSQUnn1pelBZVOjnvTdx7f7VxxYnURTBT7SrlCHFwiY350Dmc400SOfWkxoTy5CjqSkmZjwFAdXEgnUcqBu8chkjboa1D2Nx/wAJPGNTeuz4/DH2isqfWVNmJnxrWvY+1k4MQvm7curPrH7UDnHLNy1uFqaTlaclSFjYK5pP11+tVVN/f3a1paS0FpJT31ET9jWkY5eWVjhdxc4mQLZCSVDLJV4JHM9ANapSLK0vEM32GYxhnu7605EPPZFhStMhIJ70kCImaDJuJcQvnrx1u6lvITKRsKb8O4DdY68lwBTVkk958j4vBA5+e1bNf+zfDr95D2IOKcM5lso0QpX+I7keFO7jCbfDrY5QlKGxASNAKCj8RYjb8J8MrTaJS2QnsrdA3Kzz8epNYgkqWsqUSSTJJ51bPaFi7uNYrlbn3S3JQ0P7RnVX8KrLTRB1oDsAyAJpyJQ8jTQivW7BAkkzR1ICFNqX1I18aCYsnyEDw08KfdqjmBUPb5okR1inZSqT3qCexB9LKVagHlUA2TdP6jQHXXc13GbxSnUtoGZRgZRzNP8ADbE2yAp8Dtjrk5JoHjbi0NZVE5gPiPShzmzazPUzS1fESTJOmnKvBOX+d6BtdrAZgg7TJ5VuXs+tPceDsMbiCprtDp/a1/esKvWlXLzFsiQp9xLaT4kgV9C3FuTYjD7ZRaQhoIUtPypAiB40FG4lxO6xDiVAaXGGsNlCJSMqnCe8uT4SPKetZxxEq5w/BHlNF1glYJ7InLm5HTnoPStuxjh62xLh++w5KciXLdSELA1Co0PrXz5xDc3Nvh6UWTrgQ+zL6NoGm46yfvQbrwZxSOIuErPECQbgt9ncAcnU6K8p38jTHjm/ycKvqQ5lW5CAQdp0rPvYfePNJvLFyfdrk9oyTzdSNR9U/wDrSvaJiiy57ghYLSVlyJ6jT0H5oKJflK3QhKYH3pLNqArveleYTJK1TrHpTxhPa5jsOp/FB5LAk7ab+FNsRTFq4rWU6iPA0u5vmmF/qLhQEFMzNMzduX6jb27cBYgrXQS9uhPYpXqcw50fInqr1rrTCWmUNjXKAJjejhGmiU0EXhyvesdYPJK8x+gNWxKQE7bnnVX4VZK7xVydQAYirXIAG1AJacqTIg+FIVA8KKpSSIJ1oZMIidtqBlbrdc4swZthAU4LxtSUEaGFA619HLSEskfMdT4msE9mtqMQ9pbClglNo0p3rrED81vbpnuig5mSzarcWQlKUlSjGwivl3i95TZbdt3IhoJy6juq2UPT719H8W3fuPDd4EwXnmVMspmMy1JIHpv9K+c+OMKuWW23nMgCEJSQlc6a6/b7UEpwbiDdp/RZUcobT2qj5ak1E8Q3ir/Eri6VoXHCsp6SdvpUTw648ta1qP6TDUeZOwozqip07mTqetApEFBgxPOlvOkMpZtye0VuedI+LQRIHWltIIWFqGh0BoI/FbFLbaVt/GkSfGn+BIDqEu+FFSjO5nVBCUyQaHhALF28xMoPfEctdqCXkyIFEyo/vPsaH0jTSiyeYM+VAXBLb3ezSAACdZp+QdKTbf1dvyog+L6UA1wTInzobvdQry1o6udBv9LVZGh11oJ32HW+fiDG74/KhLSfUmtoQmIUd6yH2Cf1fFjz7YVr7mjCiN4NBkvGnEKsR4uFraq/RwtcDeFOfMfUx9Kzf2nYi45iLdkmQlmStUghR2A03AH5NWvEkpHEmIEACVgmBzyis44qJOJEEz3qB3Zte54O0n53/wBQnz2+1CT3iJGv70/xXRxIG0DSmSPiT5igO2mD1owSSAgmNJ8qGNz/AORowA7NenX8UHSUs261rKcoOsnQ0nCGSQ5dOJIcdIgRskbD96bYtqw0DtmR+RU4gDv+VAhWbOPh9K9FKO9LgdKD/9k=">
            <a:hlinkClick r:id="rId2"/>
          </p:cNvPr>
          <p:cNvSpPr>
            <a:spLocks noChangeAspect="1" noChangeArrowheads="1"/>
          </p:cNvSpPr>
          <p:nvPr/>
        </p:nvSpPr>
        <p:spPr bwMode="auto">
          <a:xfrm>
            <a:off x="1676400" y="-715963"/>
            <a:ext cx="1162050" cy="1771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20000"/>
              </a:spcBef>
              <a:buClr>
                <a:schemeClr val="tx2"/>
              </a:buClr>
              <a:buSzPct val="90000"/>
              <a:buFont typeface="Cambria" panose="02040503050406030204" pitchFamily="18" charset="0"/>
              <a:buChar char="+"/>
              <a:defRPr sz="3200">
                <a:solidFill>
                  <a:schemeClr val="tx1"/>
                </a:solidFill>
                <a:latin typeface="Calibri" panose="020F0502020204030204" pitchFamily="34" charset="0"/>
              </a:defRPr>
            </a:lvl1pPr>
            <a:lvl2pPr marL="742950" indent="-285750" algn="l">
              <a:spcBef>
                <a:spcPct val="20000"/>
              </a:spcBef>
              <a:buClr>
                <a:schemeClr val="tx2"/>
              </a:buClr>
              <a:buSzPct val="100000"/>
              <a:buFont typeface="Cambria" panose="02040503050406030204" pitchFamily="18" charset="0"/>
              <a:buChar char="–"/>
              <a:defRPr sz="2800">
                <a:solidFill>
                  <a:schemeClr val="tx1"/>
                </a:solidFill>
                <a:latin typeface="Calibri" panose="020F0502020204030204" pitchFamily="34" charset="0"/>
              </a:defRPr>
            </a:lvl2pPr>
            <a:lvl3pPr marL="1143000" indent="-228600" algn="l">
              <a:spcBef>
                <a:spcPct val="20000"/>
              </a:spcBef>
              <a:buClr>
                <a:schemeClr val="tx2"/>
              </a:buClr>
              <a:buSzPct val="60000"/>
              <a:buFont typeface="Wingdings 2" panose="05020102010507070707" pitchFamily="18" charset="2"/>
              <a:buChar char="Ï"/>
              <a:defRPr sz="2400">
                <a:solidFill>
                  <a:schemeClr val="tx1"/>
                </a:solidFill>
                <a:latin typeface="Calibri" panose="020F0502020204030204" pitchFamily="34" charset="0"/>
              </a:defRPr>
            </a:lvl3pPr>
            <a:lvl4pPr marL="1600200" indent="-228600" algn="l">
              <a:spcBef>
                <a:spcPct val="20000"/>
              </a:spcBef>
              <a:buClr>
                <a:schemeClr val="tx2"/>
              </a:buClr>
              <a:buSzPct val="90000"/>
              <a:buFont typeface="Calibri" panose="020F0502020204030204" pitchFamily="34" charset="0"/>
              <a:buChar char="÷"/>
              <a:defRPr sz="2000">
                <a:solidFill>
                  <a:schemeClr val="tx1"/>
                </a:solidFill>
                <a:latin typeface="Calibri" panose="020F0502020204030204" pitchFamily="34" charset="0"/>
              </a:defRPr>
            </a:lvl4pPr>
            <a:lvl5pPr marL="2057400" indent="-228600" algn="l">
              <a:spcBef>
                <a:spcPct val="20000"/>
              </a:spcBef>
              <a:buClr>
                <a:schemeClr val="tx2"/>
              </a:buClr>
              <a:buSzPct val="100000"/>
              <a:buFont typeface="Cambria" panose="02040503050406030204" pitchFamily="18"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SzPct val="100000"/>
              <a:buFont typeface="Cambria" panose="02040503050406030204" pitchFamily="18" charset="0"/>
              <a:buChar char="="/>
              <a:defRPr sz="2000">
                <a:solidFill>
                  <a:schemeClr val="tx1"/>
                </a:solidFill>
                <a:latin typeface="Calibri" panose="020F0502020204030204" pitchFamily="34" charset="0"/>
              </a:defRPr>
            </a:lvl9pPr>
          </a:lstStyle>
          <a:p>
            <a:pPr algn="ctr">
              <a:spcBef>
                <a:spcPct val="0"/>
              </a:spcBef>
              <a:buClrTx/>
              <a:buSzTx/>
              <a:buFontTx/>
              <a:buNone/>
            </a:pPr>
            <a:endParaRPr lang="zh-CN" altLang="en-US" sz="160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9376" y="510273"/>
            <a:ext cx="6872140" cy="584775"/>
          </a:xfrm>
          <a:prstGeom prst="rect">
            <a:avLst/>
          </a:prstGeom>
          <a:noFill/>
        </p:spPr>
        <p:txBody>
          <a:bodyPr wrap="square">
            <a:spAutoFit/>
          </a:bodyPr>
          <a:lstStyle/>
          <a:p>
            <a:pPr algn="just">
              <a:spcBef>
                <a:spcPts val="600"/>
              </a:spcBef>
              <a:spcAft>
                <a:spcPts val="600"/>
              </a:spcAft>
            </a:pPr>
            <a:r>
              <a:rPr lang="zh-CN" altLang="en-US" sz="3200" kern="100" dirty="0">
                <a:latin typeface="Times New Roman" panose="02020603050405020304" pitchFamily="18" charset="0"/>
                <a:ea typeface="黑体" panose="02010609060101010101" pitchFamily="49" charset="-122"/>
              </a:rPr>
              <a:t>初始单纯形表</a:t>
            </a:r>
            <a:endParaRPr lang="zh-CN" altLang="zh-CN" sz="32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1811525" y="1623913"/>
              <a:ext cx="8568950" cy="4708398"/>
            </p:xfrm>
            <a:graphic>
              <a:graphicData uri="http://schemas.openxmlformats.org/drawingml/2006/table">
                <a:tbl>
                  <a:tblPr firstRow="1" firstCol="1" bandRow="1"/>
                  <a:tblGrid>
                    <a:gridCol w="608640">
                      <a:extLst>
                        <a:ext uri="{9D8B030D-6E8A-4147-A177-3AD203B41FA5}">
                          <a16:colId xmlns:a16="http://schemas.microsoft.com/office/drawing/2014/main" val="20000"/>
                        </a:ext>
                      </a:extLst>
                    </a:gridCol>
                    <a:gridCol w="715199">
                      <a:extLst>
                        <a:ext uri="{9D8B030D-6E8A-4147-A177-3AD203B41FA5}">
                          <a16:colId xmlns:a16="http://schemas.microsoft.com/office/drawing/2014/main" val="20001"/>
                        </a:ext>
                      </a:extLst>
                    </a:gridCol>
                    <a:gridCol w="709439">
                      <a:extLst>
                        <a:ext uri="{9D8B030D-6E8A-4147-A177-3AD203B41FA5}">
                          <a16:colId xmlns:a16="http://schemas.microsoft.com/office/drawing/2014/main" val="20002"/>
                        </a:ext>
                      </a:extLst>
                    </a:gridCol>
                    <a:gridCol w="597119">
                      <a:extLst>
                        <a:ext uri="{9D8B030D-6E8A-4147-A177-3AD203B41FA5}">
                          <a16:colId xmlns:a16="http://schemas.microsoft.com/office/drawing/2014/main" val="20003"/>
                        </a:ext>
                      </a:extLst>
                    </a:gridCol>
                    <a:gridCol w="553919">
                      <a:extLst>
                        <a:ext uri="{9D8B030D-6E8A-4147-A177-3AD203B41FA5}">
                          <a16:colId xmlns:a16="http://schemas.microsoft.com/office/drawing/2014/main" val="20004"/>
                        </a:ext>
                      </a:extLst>
                    </a:gridCol>
                    <a:gridCol w="715199">
                      <a:extLst>
                        <a:ext uri="{9D8B030D-6E8A-4147-A177-3AD203B41FA5}">
                          <a16:colId xmlns:a16="http://schemas.microsoft.com/office/drawing/2014/main" val="20005"/>
                        </a:ext>
                      </a:extLst>
                    </a:gridCol>
                    <a:gridCol w="553919">
                      <a:extLst>
                        <a:ext uri="{9D8B030D-6E8A-4147-A177-3AD203B41FA5}">
                          <a16:colId xmlns:a16="http://schemas.microsoft.com/office/drawing/2014/main" val="20006"/>
                        </a:ext>
                      </a:extLst>
                    </a:gridCol>
                    <a:gridCol w="2181118">
                      <a:extLst>
                        <a:ext uri="{9D8B030D-6E8A-4147-A177-3AD203B41FA5}">
                          <a16:colId xmlns:a16="http://schemas.microsoft.com/office/drawing/2014/main" val="20007"/>
                        </a:ext>
                      </a:extLst>
                    </a:gridCol>
                    <a:gridCol w="356160">
                      <a:extLst>
                        <a:ext uri="{9D8B030D-6E8A-4147-A177-3AD203B41FA5}">
                          <a16:colId xmlns:a16="http://schemas.microsoft.com/office/drawing/2014/main" val="20008"/>
                        </a:ext>
                      </a:extLst>
                    </a:gridCol>
                    <a:gridCol w="1578238">
                      <a:extLst>
                        <a:ext uri="{9D8B030D-6E8A-4147-A177-3AD203B41FA5}">
                          <a16:colId xmlns:a16="http://schemas.microsoft.com/office/drawing/2014/main" val="20009"/>
                        </a:ext>
                      </a:extLst>
                    </a:gridCol>
                  </a:tblGrid>
                  <a:tr h="556291">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𝑗</m:t>
                                    </m:r>
                                  </m:sub>
                                </m:sSub>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1</m:t>
                                    </m:r>
                                  </m:sub>
                                </m:sSub>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𝑚</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𝑗</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𝑛</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556291">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𝐵</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2000" dirty="0">
                              <a:effectLst/>
                              <a:latin typeface="Times New Roman" panose="02020603050405020304" pitchFamily="18" charset="0"/>
                              <a:ea typeface="宋体" panose="02010600030101010101" pitchFamily="2" charset="-122"/>
                            </a:rPr>
                            <a:t>基</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宋体" panose="02010600030101010101" pitchFamily="2" charset="-122"/>
                                      </a:rPr>
                                    </m:ctrlPr>
                                  </m:accPr>
                                  <m:e>
                                    <m:r>
                                      <a:rPr lang="en-US" sz="2000" i="1">
                                        <a:effectLst/>
                                        <a:latin typeface="Cambria Math" panose="02040503050406030204" pitchFamily="18" charset="0"/>
                                        <a:ea typeface="宋体" panose="02010600030101010101" pitchFamily="2" charset="-122"/>
                                      </a:rPr>
                                      <m:t>𝑏</m:t>
                                    </m:r>
                                  </m:e>
                                </m:acc>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𝑥</m:t>
                                    </m:r>
                                  </m:e>
                                  <m:sub>
                                    <m:r>
                                      <a:rPr lang="en-US" sz="2000" i="1">
                                        <a:effectLst/>
                                        <a:latin typeface="Cambria Math" panose="02040503050406030204" pitchFamily="18" charset="0"/>
                                        <a:ea typeface="宋体" panose="02010600030101010101" pitchFamily="2" charset="-122"/>
                                      </a:rPr>
                                      <m:t>1</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𝑥</m:t>
                                    </m:r>
                                  </m:e>
                                  <m:sub>
                                    <m:r>
                                      <a:rPr lang="en-US" sz="2000" i="1">
                                        <a:effectLst/>
                                        <a:latin typeface="Cambria Math" panose="02040503050406030204" pitchFamily="18" charset="0"/>
                                        <a:ea typeface="宋体" panose="02010600030101010101" pitchFamily="2" charset="-122"/>
                                      </a:rPr>
                                      <m:t>𝑚</m:t>
                                    </m:r>
                                  </m:sub>
                                </m:sSub>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𝑥</m:t>
                                    </m:r>
                                  </m:e>
                                  <m:sub>
                                    <m:r>
                                      <a:rPr lang="en-US" sz="2000" i="1">
                                        <a:effectLst/>
                                        <a:latin typeface="Cambria Math" panose="02040503050406030204" pitchFamily="18" charset="0"/>
                                        <a:ea typeface="宋体" panose="02010600030101010101" pitchFamily="2" charset="-122"/>
                                      </a:rPr>
                                      <m:t>𝑗</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𝑥</m:t>
                                    </m:r>
                                  </m:e>
                                  <m:sub>
                                    <m:r>
                                      <a:rPr lang="en-US" sz="2000" i="1">
                                        <a:effectLst/>
                                        <a:latin typeface="Cambria Math" panose="02040503050406030204" pitchFamily="18" charset="0"/>
                                        <a:ea typeface="宋体" panose="02010600030101010101" pitchFamily="2" charset="-122"/>
                                      </a:rPr>
                                      <m:t>𝑛</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556291">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1</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𝑥</m:t>
                                    </m:r>
                                  </m:e>
                                  <m:sub>
                                    <m:r>
                                      <a:rPr lang="en-US" sz="2000" i="1">
                                        <a:effectLst/>
                                        <a:latin typeface="Cambria Math" panose="02040503050406030204" pitchFamily="18" charset="0"/>
                                        <a:ea typeface="宋体" panose="02010600030101010101" pitchFamily="2" charset="-122"/>
                                      </a:rPr>
                                      <m:t>1</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𝑏</m:t>
                                    </m:r>
                                  </m:e>
                                  <m:sub>
                                    <m:r>
                                      <a:rPr lang="en-US" sz="2000" i="1">
                                        <a:effectLst/>
                                        <a:latin typeface="Cambria Math" panose="02040503050406030204" pitchFamily="18" charset="0"/>
                                        <a:ea typeface="宋体" panose="02010600030101010101" pitchFamily="2" charset="-122"/>
                                      </a:rPr>
                                      <m:t>1</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000" dirty="0">
                              <a:effectLst/>
                              <a:latin typeface="宋体" panose="02010600030101010101" pitchFamily="2" charset="-122"/>
                              <a:ea typeface="Times New Roman" panose="02020603050405020304" pitchFamily="18" charset="0"/>
                            </a:rPr>
                            <a:t>1</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𝑎</m:t>
                                    </m:r>
                                  </m:e>
                                  <m:sub>
                                    <m:r>
                                      <a:rPr lang="en-US" sz="2000" i="1">
                                        <a:effectLst/>
                                        <a:latin typeface="Cambria Math" panose="02040503050406030204" pitchFamily="18" charset="0"/>
                                        <a:ea typeface="宋体" panose="02010600030101010101" pitchFamily="2" charset="-122"/>
                                      </a:rPr>
                                      <m:t>1</m:t>
                                    </m:r>
                                    <m:r>
                                      <a:rPr lang="en-US" sz="2000" i="1">
                                        <a:effectLst/>
                                        <a:latin typeface="Cambria Math" panose="02040503050406030204" pitchFamily="18" charset="0"/>
                                        <a:ea typeface="宋体" panose="02010600030101010101" pitchFamily="2" charset="-122"/>
                                      </a:rPr>
                                      <m:t>𝑗</m:t>
                                    </m:r>
                                  </m:sub>
                                </m:sSub>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𝑎</m:t>
                                    </m:r>
                                  </m:e>
                                  <m:sub>
                                    <m:r>
                                      <a:rPr lang="en-US" sz="2000" i="1">
                                        <a:effectLst/>
                                        <a:latin typeface="Cambria Math" panose="02040503050406030204" pitchFamily="18" charset="0"/>
                                        <a:ea typeface="宋体" panose="02010600030101010101" pitchFamily="2" charset="-122"/>
                                      </a:rPr>
                                      <m:t>1</m:t>
                                    </m:r>
                                    <m:r>
                                      <a:rPr lang="en-US" sz="2000" i="1">
                                        <a:effectLst/>
                                        <a:latin typeface="Cambria Math" panose="02040503050406030204" pitchFamily="18" charset="0"/>
                                        <a:ea typeface="宋体" panose="02010600030101010101" pitchFamily="2" charset="-122"/>
                                      </a:rPr>
                                      <m:t>𝑛</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556291">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smtClean="0">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b="0" i="1" smtClean="0">
                                        <a:effectLst/>
                                        <a:latin typeface="Cambria Math" panose="02040503050406030204" pitchFamily="18" charset="0"/>
                                        <a:ea typeface="宋体" panose="02010600030101010101" pitchFamily="2" charset="-122"/>
                                      </a:rPr>
                                      <m:t>2</m:t>
                                    </m:r>
                                  </m:sub>
                                </m:sSub>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𝑥</m:t>
                                    </m:r>
                                  </m:e>
                                  <m:sub>
                                    <m:r>
                                      <a:rPr lang="en-US" sz="2000" i="1">
                                        <a:effectLst/>
                                        <a:latin typeface="Cambria Math" panose="02040503050406030204" pitchFamily="18" charset="0"/>
                                        <a:ea typeface="宋体" panose="02010600030101010101" pitchFamily="2" charset="-122"/>
                                      </a:rPr>
                                      <m:t>2</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𝑏</m:t>
                                    </m:r>
                                  </m:e>
                                  <m:sub>
                                    <m:r>
                                      <a:rPr lang="en-US" sz="2000" i="1">
                                        <a:effectLst/>
                                        <a:latin typeface="Cambria Math" panose="02040503050406030204" pitchFamily="18" charset="0"/>
                                        <a:ea typeface="宋体" panose="02010600030101010101" pitchFamily="2" charset="-122"/>
                                      </a:rPr>
                                      <m:t>2</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𝑎</m:t>
                                    </m:r>
                                  </m:e>
                                  <m:sub>
                                    <m:r>
                                      <a:rPr lang="en-US" sz="2000" i="1">
                                        <a:effectLst/>
                                        <a:latin typeface="Cambria Math" panose="02040503050406030204" pitchFamily="18" charset="0"/>
                                        <a:ea typeface="宋体" panose="02010600030101010101" pitchFamily="2" charset="-122"/>
                                      </a:rPr>
                                      <m:t>2</m:t>
                                    </m:r>
                                    <m:r>
                                      <a:rPr lang="en-US" sz="2000" i="1">
                                        <a:effectLst/>
                                        <a:latin typeface="Cambria Math" panose="02040503050406030204" pitchFamily="18" charset="0"/>
                                        <a:ea typeface="宋体" panose="02010600030101010101" pitchFamily="2" charset="-122"/>
                                      </a:rPr>
                                      <m:t>𝑗</m:t>
                                    </m:r>
                                  </m:sub>
                                </m:sSub>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𝑎</m:t>
                                    </m:r>
                                  </m:e>
                                  <m:sub>
                                    <m:r>
                                      <a:rPr lang="en-US" sz="2000" i="1">
                                        <a:effectLst/>
                                        <a:latin typeface="Cambria Math" panose="02040503050406030204" pitchFamily="18" charset="0"/>
                                        <a:ea typeface="宋体" panose="02010600030101010101" pitchFamily="2" charset="-122"/>
                                      </a:rPr>
                                      <m:t>2</m:t>
                                    </m:r>
                                    <m:r>
                                      <a:rPr lang="en-US" sz="2000" i="1">
                                        <a:effectLst/>
                                        <a:latin typeface="Cambria Math" panose="02040503050406030204" pitchFamily="18" charset="0"/>
                                        <a:ea typeface="宋体" panose="02010600030101010101" pitchFamily="2" charset="-122"/>
                                      </a:rPr>
                                      <m:t>𝑛</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523301">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556291">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smtClean="0">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b="0" i="1" smtClean="0">
                                        <a:effectLst/>
                                        <a:latin typeface="Cambria Math" panose="02040503050406030204" pitchFamily="18" charset="0"/>
                                        <a:ea typeface="宋体" panose="02010600030101010101" pitchFamily="2" charset="-122"/>
                                      </a:rPr>
                                      <m:t>𝑚</m:t>
                                    </m:r>
                                  </m:sub>
                                </m:sSub>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𝑥</m:t>
                                    </m:r>
                                  </m:e>
                                  <m:sub>
                                    <m:r>
                                      <a:rPr lang="en-US" sz="2000" i="1">
                                        <a:effectLst/>
                                        <a:latin typeface="Cambria Math" panose="02040503050406030204" pitchFamily="18" charset="0"/>
                                        <a:ea typeface="宋体" panose="02010600030101010101" pitchFamily="2" charset="-122"/>
                                      </a:rPr>
                                      <m:t>𝑚</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𝑏</m:t>
                                    </m:r>
                                  </m:e>
                                  <m:sub>
                                    <m:r>
                                      <a:rPr lang="en-US" sz="2000" i="1">
                                        <a:effectLst/>
                                        <a:latin typeface="Cambria Math" panose="02040503050406030204" pitchFamily="18" charset="0"/>
                                        <a:ea typeface="宋体" panose="02010600030101010101" pitchFamily="2" charset="-122"/>
                                      </a:rPr>
                                      <m:t>𝑚</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1</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𝑎</m:t>
                                    </m:r>
                                  </m:e>
                                  <m:sub>
                                    <m:r>
                                      <a:rPr lang="en-US" sz="2000" i="1">
                                        <a:effectLst/>
                                        <a:latin typeface="Cambria Math" panose="02040503050406030204" pitchFamily="18" charset="0"/>
                                        <a:ea typeface="宋体" panose="02010600030101010101" pitchFamily="2" charset="-122"/>
                                      </a:rPr>
                                      <m:t>𝑚𝑗</m:t>
                                    </m:r>
                                  </m:sub>
                                </m:sSub>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𝑎</m:t>
                                    </m:r>
                                  </m:e>
                                  <m:sub>
                                    <m:r>
                                      <a:rPr lang="en-US" sz="2000" i="1">
                                        <a:effectLst/>
                                        <a:latin typeface="Cambria Math" panose="02040503050406030204" pitchFamily="18" charset="0"/>
                                        <a:ea typeface="宋体" panose="02010600030101010101" pitchFamily="2" charset="-122"/>
                                      </a:rPr>
                                      <m:t>𝑚𝑛</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1231748">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𝜎</m:t>
                                    </m:r>
                                  </m:e>
                                  <m:sub>
                                    <m:r>
                                      <a:rPr lang="en-US" sz="2000" i="1">
                                        <a:effectLst/>
                                        <a:latin typeface="Cambria Math" panose="02040503050406030204" pitchFamily="18" charset="0"/>
                                        <a:ea typeface="宋体" panose="02010600030101010101" pitchFamily="2" charset="-122"/>
                                      </a:rPr>
                                      <m:t>𝑗</m:t>
                                    </m:r>
                                  </m:sub>
                                </m:sSub>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𝑗</m:t>
                                    </m:r>
                                  </m:sub>
                                </m:sSub>
                                <m:r>
                                  <a:rPr lang="en-US" sz="2000" i="1">
                                    <a:effectLst/>
                                    <a:latin typeface="Cambria Math" panose="02040503050406030204" pitchFamily="18" charset="0"/>
                                    <a:ea typeface="宋体" panose="02010600030101010101" pitchFamily="2" charset="-122"/>
                                  </a:rPr>
                                  <m:t>−</m:t>
                                </m:r>
                                <m:nary>
                                  <m:naryPr>
                                    <m:chr m:val="∑"/>
                                    <m:limLoc m:val="undOvr"/>
                                    <m:ctrlPr>
                                      <a:rPr lang="en-US" sz="2000" i="1">
                                        <a:effectLst/>
                                        <a:latin typeface="Cambria Math" panose="02040503050406030204" pitchFamily="18" charset="0"/>
                                        <a:ea typeface="宋体" panose="02010600030101010101" pitchFamily="2" charset="-122"/>
                                      </a:rPr>
                                    </m:ctrlPr>
                                  </m:naryPr>
                                  <m:sub>
                                    <m:r>
                                      <a:rPr lang="en-US" sz="2000" i="1">
                                        <a:effectLst/>
                                        <a:latin typeface="Cambria Math" panose="02040503050406030204" pitchFamily="18" charset="0"/>
                                        <a:ea typeface="宋体" panose="02010600030101010101" pitchFamily="2" charset="-122"/>
                                      </a:rPr>
                                      <m:t>𝑖</m:t>
                                    </m:r>
                                    <m:r>
                                      <a:rPr lang="en-US" sz="2000" i="1">
                                        <a:effectLst/>
                                        <a:latin typeface="Cambria Math" panose="02040503050406030204" pitchFamily="18" charset="0"/>
                                        <a:ea typeface="宋体" panose="02010600030101010101" pitchFamily="2" charset="-122"/>
                                      </a:rPr>
                                      <m:t>=1</m:t>
                                    </m:r>
                                  </m:sub>
                                  <m:sup>
                                    <m:r>
                                      <a:rPr lang="en-US" sz="2000" i="1">
                                        <a:effectLst/>
                                        <a:latin typeface="Cambria Math" panose="02040503050406030204" pitchFamily="18" charset="0"/>
                                        <a:ea typeface="宋体" panose="02010600030101010101" pitchFamily="2" charset="-122"/>
                                      </a:rPr>
                                      <m:t>𝑚</m:t>
                                    </m:r>
                                  </m:sup>
                                  <m:e>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𝑖</m:t>
                                        </m:r>
                                      </m:sub>
                                    </m:sSub>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𝑎</m:t>
                                        </m:r>
                                      </m:e>
                                      <m:sub>
                                        <m:r>
                                          <a:rPr lang="en-US" sz="2000" i="1">
                                            <a:effectLst/>
                                            <a:latin typeface="Cambria Math" panose="02040503050406030204" pitchFamily="18" charset="0"/>
                                            <a:ea typeface="宋体" panose="02010600030101010101" pitchFamily="2" charset="-122"/>
                                          </a:rPr>
                                          <m:t>𝑖𝑗</m:t>
                                        </m:r>
                                      </m:sub>
                                    </m:sSub>
                                  </m:e>
                                </m:nary>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宋体" panose="02010600030101010101" pitchFamily="2" charset="-122"/>
                                  </a:rPr>
                                  <m:t>⋯</m:t>
                                </m:r>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𝑛</m:t>
                                    </m:r>
                                  </m:sub>
                                </m:sSub>
                                <m:r>
                                  <a:rPr lang="en-US" sz="2000" i="1">
                                    <a:effectLst/>
                                    <a:latin typeface="Cambria Math" panose="02040503050406030204" pitchFamily="18" charset="0"/>
                                    <a:ea typeface="宋体" panose="02010600030101010101" pitchFamily="2" charset="-122"/>
                                  </a:rPr>
                                  <m:t>−</m:t>
                                </m:r>
                                <m:nary>
                                  <m:naryPr>
                                    <m:chr m:val="∑"/>
                                    <m:limLoc m:val="undOvr"/>
                                    <m:ctrlPr>
                                      <a:rPr lang="en-US" sz="2000" i="1">
                                        <a:effectLst/>
                                        <a:latin typeface="Cambria Math" panose="02040503050406030204" pitchFamily="18" charset="0"/>
                                        <a:ea typeface="宋体" panose="02010600030101010101" pitchFamily="2" charset="-122"/>
                                      </a:rPr>
                                    </m:ctrlPr>
                                  </m:naryPr>
                                  <m:sub>
                                    <m:r>
                                      <a:rPr lang="en-US" sz="2000" i="1">
                                        <a:effectLst/>
                                        <a:latin typeface="Cambria Math" panose="02040503050406030204" pitchFamily="18" charset="0"/>
                                        <a:ea typeface="宋体" panose="02010600030101010101" pitchFamily="2" charset="-122"/>
                                      </a:rPr>
                                      <m:t>𝑖</m:t>
                                    </m:r>
                                    <m:r>
                                      <a:rPr lang="en-US" sz="2000" i="1">
                                        <a:effectLst/>
                                        <a:latin typeface="Cambria Math" panose="02040503050406030204" pitchFamily="18" charset="0"/>
                                        <a:ea typeface="宋体" panose="02010600030101010101" pitchFamily="2" charset="-122"/>
                                      </a:rPr>
                                      <m:t>=1</m:t>
                                    </m:r>
                                  </m:sub>
                                  <m:sup>
                                    <m:r>
                                      <a:rPr lang="en-US" sz="2000" i="1">
                                        <a:effectLst/>
                                        <a:latin typeface="Cambria Math" panose="02040503050406030204" pitchFamily="18" charset="0"/>
                                        <a:ea typeface="宋体" panose="02010600030101010101" pitchFamily="2" charset="-122"/>
                                      </a:rPr>
                                      <m:t>𝑚</m:t>
                                    </m:r>
                                  </m:sup>
                                  <m:e>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𝑐</m:t>
                                        </m:r>
                                      </m:e>
                                      <m:sub>
                                        <m:r>
                                          <a:rPr lang="en-US" sz="2000" i="1">
                                            <a:effectLst/>
                                            <a:latin typeface="Cambria Math" panose="02040503050406030204" pitchFamily="18" charset="0"/>
                                            <a:ea typeface="宋体" panose="02010600030101010101" pitchFamily="2" charset="-122"/>
                                          </a:rPr>
                                          <m:t>𝑖</m:t>
                                        </m:r>
                                      </m:sub>
                                    </m:sSub>
                                    <m:sSub>
                                      <m:sSubPr>
                                        <m:ctrlPr>
                                          <a:rPr lang="en-US" sz="2000" i="1">
                                            <a:effectLst/>
                                            <a:latin typeface="Cambria Math" panose="02040503050406030204" pitchFamily="18" charset="0"/>
                                            <a:ea typeface="宋体" panose="02010600030101010101" pitchFamily="2" charset="-122"/>
                                          </a:rPr>
                                        </m:ctrlPr>
                                      </m:sSubPr>
                                      <m:e>
                                        <m:r>
                                          <a:rPr lang="en-US" sz="2000" i="1">
                                            <a:effectLst/>
                                            <a:latin typeface="Cambria Math" panose="02040503050406030204" pitchFamily="18" charset="0"/>
                                            <a:ea typeface="宋体" panose="02010600030101010101" pitchFamily="2" charset="-122"/>
                                          </a:rPr>
                                          <m:t>𝑎</m:t>
                                        </m:r>
                                      </m:e>
                                      <m:sub>
                                        <m:r>
                                          <a:rPr lang="en-US" sz="2000" i="1">
                                            <a:effectLst/>
                                            <a:latin typeface="Cambria Math" panose="02040503050406030204" pitchFamily="18" charset="0"/>
                                            <a:ea typeface="宋体" panose="02010600030101010101" pitchFamily="2" charset="-122"/>
                                          </a:rPr>
                                          <m:t>𝑖𝑗</m:t>
                                        </m:r>
                                      </m:sub>
                                    </m:sSub>
                                  </m:e>
                                </m:nary>
                              </m:oMath>
                            </m:oMathPara>
                          </a14:m>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mc:Choice>
        <mc:Fallback xmlns="">
          <p:graphicFrame>
            <p:nvGraphicFramePr>
              <p:cNvPr id="6" name="Table 5"/>
              <p:cNvGraphicFramePr>
                <a:graphicFrameLocks noGrp="1"/>
              </p:cNvGraphicFramePr>
              <p:nvPr/>
            </p:nvGraphicFramePr>
            <p:xfrm>
              <a:off x="1811525" y="1623913"/>
              <a:ext cx="8568950" cy="4708398"/>
            </p:xfrm>
            <a:graphic>
              <a:graphicData uri="http://schemas.openxmlformats.org/drawingml/2006/table">
                <a:tbl>
                  <a:tblPr firstRow="1" firstCol="1" bandRow="1"/>
                  <a:tblGrid>
                    <a:gridCol w="608640"/>
                    <a:gridCol w="715199"/>
                    <a:gridCol w="709439"/>
                    <a:gridCol w="597119"/>
                    <a:gridCol w="553919"/>
                    <a:gridCol w="715199"/>
                    <a:gridCol w="553919"/>
                    <a:gridCol w="2181118"/>
                    <a:gridCol w="356160"/>
                    <a:gridCol w="1578238"/>
                  </a:tblGrid>
                  <a:tr h="55626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hMerge="1">
                      <a:tcPr/>
                    </a:tc>
                    <a:tc hMerge="1">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5626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zh-CN" sz="2000" dirty="0">
                              <a:effectLst/>
                              <a:latin typeface="Times New Roman" panose="02020603050405020304" pitchFamily="18" charset="0"/>
                              <a:ea typeface="宋体" panose="02010600030101010101" pitchFamily="2" charset="-122"/>
                            </a:rPr>
                            <a:t>基</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5626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000" dirty="0">
                              <a:effectLst/>
                              <a:latin typeface="宋体" panose="02010600030101010101" pitchFamily="2" charset="-122"/>
                              <a:ea typeface="Times New Roman" panose="02020603050405020304" pitchFamily="18" charset="0"/>
                            </a:rPr>
                            <a:t>1</a:t>
                          </a:r>
                          <a:endParaRPr lang="en-US"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5626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2324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5626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1</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124587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hMerge="1">
                      <a:tcPr/>
                    </a:tc>
                    <a:tc hMerge="1">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000">
                              <a:effectLst/>
                              <a:latin typeface="宋体" panose="02010600030101010101" pitchFamily="2" charset="-122"/>
                              <a:ea typeface="Times New Roman" panose="02020603050405020304" pitchFamily="18" charset="0"/>
                            </a:rPr>
                            <a:t>0</a:t>
                          </a:r>
                          <a:endParaRPr lang="en-US"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bl>
              </a:graphicData>
            </a:graphic>
          </p:graphicFram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9376" y="510273"/>
            <a:ext cx="6872140" cy="584775"/>
          </a:xfrm>
          <a:prstGeom prst="rect">
            <a:avLst/>
          </a:prstGeom>
          <a:noFill/>
        </p:spPr>
        <p:txBody>
          <a:bodyPr wrap="square">
            <a:spAutoFit/>
          </a:bodyPr>
          <a:lstStyle/>
          <a:p>
            <a:pPr algn="just">
              <a:spcBef>
                <a:spcPts val="600"/>
              </a:spcBef>
              <a:spcAft>
                <a:spcPts val="600"/>
              </a:spcAft>
            </a:pPr>
            <a:r>
              <a:rPr lang="zh-CN" altLang="en-US" sz="3200" kern="100" dirty="0">
                <a:latin typeface="Times New Roman" panose="02020603050405020304" pitchFamily="18" charset="0"/>
                <a:ea typeface="黑体" panose="02010609060101010101" pitchFamily="49" charset="-122"/>
              </a:rPr>
              <a:t>单纯形法</a:t>
            </a:r>
            <a:endParaRPr lang="zh-CN" altLang="zh-CN" sz="32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4" name="TextBox 3"/>
              <p:cNvSpPr txBox="1"/>
              <p:nvPr/>
            </p:nvSpPr>
            <p:spPr>
              <a:xfrm>
                <a:off x="609600" y="1298192"/>
                <a:ext cx="10670976" cy="3989490"/>
              </a:xfrm>
              <a:prstGeom prst="rect">
                <a:avLst/>
              </a:prstGeom>
              <a:noFill/>
            </p:spPr>
            <p:txBody>
              <a:bodyPr wrap="square">
                <a:spAutoFit/>
              </a:bodyPr>
              <a:lstStyle/>
              <a:p>
                <a:pPr indent="609600" algn="just">
                  <a:lnSpc>
                    <a:spcPct val="150000"/>
                  </a:lnSpc>
                </a:pPr>
                <a:r>
                  <a:rPr lang="zh-CN" sz="2400" dirty="0">
                    <a:effectLst/>
                    <a:latin typeface="+mn-ea"/>
                  </a:rPr>
                  <a:t>第</a:t>
                </a:r>
                <a:r>
                  <a:rPr lang="en-US" sz="2400" dirty="0">
                    <a:effectLst/>
                    <a:latin typeface="+mn-ea"/>
                  </a:rPr>
                  <a:t>1</a:t>
                </a:r>
                <a:r>
                  <a:rPr lang="zh-CN" sz="2400" dirty="0">
                    <a:effectLst/>
                    <a:latin typeface="+mn-ea"/>
                  </a:rPr>
                  <a:t>步：求初始基本可行解，列出初始单纯形表。对非标准型线性规划问题首先要化成标准形式。</a:t>
                </a:r>
                <a:r>
                  <a:rPr lang="zh-CN" sz="2400" dirty="0">
                    <a:solidFill>
                      <a:srgbClr val="FF0000"/>
                    </a:solidFill>
                    <a:effectLst/>
                    <a:latin typeface="+mn-ea"/>
                  </a:rPr>
                  <a:t>由于总可以设法使（</a:t>
                </a:r>
                <a:r>
                  <a:rPr lang="en-US" sz="2400" dirty="0">
                    <a:solidFill>
                      <a:srgbClr val="FF0000"/>
                    </a:solidFill>
                    <a:effectLst/>
                    <a:latin typeface="+mn-ea"/>
                  </a:rPr>
                  <a:t>LP</a:t>
                </a:r>
                <a:r>
                  <a:rPr lang="zh-CN" sz="2400" dirty="0">
                    <a:solidFill>
                      <a:srgbClr val="FF0000"/>
                    </a:solidFill>
                    <a:effectLst/>
                    <a:latin typeface="+mn-ea"/>
                  </a:rPr>
                  <a:t>）的约束条件系数矩阵中包含一个单位阵，故可以此单位阵作为基求出初始基本可行解。</a:t>
                </a:r>
                <a:endParaRPr lang="en-US" sz="2400" dirty="0">
                  <a:effectLst/>
                  <a:latin typeface="+mn-ea"/>
                </a:endParaRPr>
              </a:p>
              <a:p>
                <a:pPr indent="609600" algn="just">
                  <a:lnSpc>
                    <a:spcPct val="150000"/>
                  </a:lnSpc>
                </a:pPr>
                <a:r>
                  <a:rPr lang="zh-CN" sz="2400" dirty="0">
                    <a:effectLst/>
                    <a:latin typeface="+mn-ea"/>
                  </a:rPr>
                  <a:t>第</a:t>
                </a:r>
                <a:r>
                  <a:rPr lang="en-US" sz="2400" dirty="0">
                    <a:effectLst/>
                    <a:latin typeface="+mn-ea"/>
                  </a:rPr>
                  <a:t>2</a:t>
                </a:r>
                <a:r>
                  <a:rPr lang="zh-CN" sz="2400" dirty="0">
                    <a:effectLst/>
                    <a:latin typeface="+mn-ea"/>
                  </a:rPr>
                  <a:t>步：最优性检验。如果表中所有非基变量的检验数</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𝜎</m:t>
                        </m:r>
                      </m:e>
                      <m:sub>
                        <m:r>
                          <a:rPr lang="en-US" sz="2400" i="1">
                            <a:effectLst/>
                            <a:latin typeface="Cambria Math" panose="02040503050406030204" pitchFamily="18" charset="0"/>
                          </a:rPr>
                          <m:t>𝑗</m:t>
                        </m:r>
                      </m:sub>
                    </m:sSub>
                    <m:r>
                      <a:rPr lang="en-US" sz="2400" i="1" smtClean="0">
                        <a:solidFill>
                          <a:srgbClr val="FF0000"/>
                        </a:solidFill>
                        <a:effectLst/>
                        <a:latin typeface="Cambria Math" panose="02040503050406030204" pitchFamily="18" charset="0"/>
                        <a:ea typeface="Cambria Math" panose="02040503050406030204" pitchFamily="18" charset="0"/>
                      </a:rPr>
                      <m:t>≥</m:t>
                    </m:r>
                    <m:r>
                      <a:rPr lang="en-US" sz="2400" i="1">
                        <a:effectLst/>
                        <a:latin typeface="Cambria Math" panose="02040503050406030204" pitchFamily="18" charset="0"/>
                      </a:rPr>
                      <m:t>0,</m:t>
                    </m:r>
                    <m:r>
                      <a:rPr lang="en-US" sz="2400" i="1">
                        <a:effectLst/>
                        <a:latin typeface="Cambria Math" panose="02040503050406030204" pitchFamily="18" charset="0"/>
                      </a:rPr>
                      <m:t>𝑗</m:t>
                    </m:r>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𝐽</m:t>
                        </m:r>
                      </m:e>
                      <m:sub>
                        <m:r>
                          <a:rPr lang="en-US" sz="2400" i="1">
                            <a:effectLst/>
                            <a:latin typeface="Cambria Math" panose="02040503050406030204" pitchFamily="18" charset="0"/>
                          </a:rPr>
                          <m:t>𝑁</m:t>
                        </m:r>
                      </m:sub>
                    </m:sSub>
                  </m:oMath>
                </a14:m>
                <a:r>
                  <a:rPr lang="zh-CN" sz="2400" dirty="0">
                    <a:effectLst/>
                    <a:latin typeface="+mn-ea"/>
                  </a:rPr>
                  <a:t>，且基变量中不含有人工变量，则表中的基本可行解即为最优解，计算结束</a:t>
                </a:r>
                <a:r>
                  <a:rPr lang="zh-CN" altLang="en-US" sz="2400" dirty="0">
                    <a:effectLst/>
                    <a:latin typeface="+mn-ea"/>
                  </a:rPr>
                  <a:t>。</a:t>
                </a:r>
                <a:r>
                  <a:rPr lang="zh-CN" sz="2400" dirty="0">
                    <a:effectLst/>
                    <a:latin typeface="+mn-ea"/>
                  </a:rPr>
                  <a:t>这里不考虑基变量中含人工变量的情形</a:t>
                </a:r>
                <a:r>
                  <a:rPr lang="zh-CN" altLang="en-US" sz="2400" dirty="0">
                    <a:effectLst/>
                    <a:latin typeface="+mn-ea"/>
                  </a:rPr>
                  <a:t>。</a:t>
                </a:r>
                <a:r>
                  <a:rPr lang="zh-CN" sz="2400" dirty="0">
                    <a:effectLst/>
                    <a:latin typeface="+mn-ea"/>
                  </a:rPr>
                  <a:t>当表中存在某个</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𝜎</m:t>
                        </m:r>
                      </m:e>
                      <m:sub>
                        <m:r>
                          <a:rPr lang="en-US" sz="2400" i="1">
                            <a:effectLst/>
                            <a:latin typeface="Cambria Math" panose="02040503050406030204" pitchFamily="18" charset="0"/>
                          </a:rPr>
                          <m:t>𝑗</m:t>
                        </m:r>
                      </m:sub>
                    </m:sSub>
                    <m:r>
                      <a:rPr lang="en-US" sz="2400" i="1" smtClean="0">
                        <a:effectLst/>
                        <a:latin typeface="Cambria Math" panose="02040503050406030204" pitchFamily="18" charset="0"/>
                        <a:ea typeface="Cambria Math" panose="02040503050406030204" pitchFamily="18" charset="0"/>
                      </a:rPr>
                      <m:t>&lt;</m:t>
                    </m:r>
                    <m:r>
                      <a:rPr lang="en-US" sz="2400" i="1">
                        <a:effectLst/>
                        <a:latin typeface="Cambria Math" panose="02040503050406030204" pitchFamily="18" charset="0"/>
                      </a:rPr>
                      <m:t>0</m:t>
                    </m:r>
                  </m:oMath>
                </a14:m>
                <a:r>
                  <a:rPr lang="zh-CN" sz="2400" dirty="0">
                    <a:effectLst/>
                    <a:latin typeface="+mn-ea"/>
                  </a:rPr>
                  <a:t>，而</a:t>
                </a:r>
                <a14:m>
                  <m:oMath xmlns:m="http://schemas.openxmlformats.org/officeDocument/2006/math">
                    <m:sSub>
                      <m:sSubPr>
                        <m:ctrlPr>
                          <a:rPr lang="en-US" sz="2400" i="1">
                            <a:solidFill>
                              <a:srgbClr val="000000"/>
                            </a:solidFill>
                            <a:effectLst/>
                            <a:latin typeface="Cambria Math" panose="02040503050406030204" pitchFamily="18" charset="0"/>
                          </a:rPr>
                        </m:ctrlPr>
                      </m:sSubPr>
                      <m:e>
                        <m:r>
                          <m:rPr>
                            <m:sty m:val="p"/>
                          </m:rPr>
                          <a:rPr lang="en-US" sz="2400" i="1">
                            <a:solidFill>
                              <a:srgbClr val="000000"/>
                            </a:solidFill>
                            <a:latin typeface="Cambria Math" panose="02040503050406030204" pitchFamily="18" charset="0"/>
                          </a:rPr>
                          <m:t>A</m:t>
                        </m:r>
                      </m:e>
                      <m:sub>
                        <m:r>
                          <a:rPr lang="en-US" sz="2400" i="1">
                            <a:solidFill>
                              <a:srgbClr val="000000"/>
                            </a:solidFill>
                            <a:effectLst/>
                            <a:latin typeface="Cambria Math" panose="02040503050406030204" pitchFamily="18" charset="0"/>
                          </a:rPr>
                          <m:t>𝑗</m:t>
                        </m:r>
                      </m:sub>
                    </m:sSub>
                    <m:r>
                      <a:rPr lang="en-US" sz="2400" i="1">
                        <a:effectLst/>
                        <a:latin typeface="Cambria Math" panose="02040503050406030204" pitchFamily="18" charset="0"/>
                      </a:rPr>
                      <m:t>≤0</m:t>
                    </m:r>
                  </m:oMath>
                </a14:m>
                <a:r>
                  <a:rPr lang="zh-CN" sz="2400" dirty="0">
                    <a:effectLst/>
                    <a:latin typeface="+mn-ea"/>
                  </a:rPr>
                  <a:t>，则问题为无界解，计算结束；否则转下一步。</a:t>
                </a:r>
                <a:endParaRPr lang="en-US" sz="2400" dirty="0">
                  <a:effectLst/>
                  <a:latin typeface="+mn-ea"/>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09600" y="1298192"/>
                <a:ext cx="10670976" cy="3989490"/>
              </a:xfrm>
              <a:prstGeom prst="rect">
                <a:avLst/>
              </a:prstGeom>
              <a:blipFill rotWithShape="1">
                <a:blip r:embed="rId2"/>
                <a:stretch>
                  <a:fillRect t="-6" r="4" b="1"/>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p:txBody>
          <a:bodyPr/>
          <a:lstStyle/>
          <a:p>
            <a:pPr>
              <a:buFontTx/>
              <a:buNone/>
            </a:pPr>
            <a:r>
              <a:rPr lang="en-US" altLang="zh-CN"/>
              <a:t> </a:t>
            </a:r>
            <a:endParaRPr lang="zh-CN" altLang="en-US"/>
          </a:p>
        </p:txBody>
      </p:sp>
      <mc:AlternateContent xmlns:mc="http://schemas.openxmlformats.org/markup-compatibility/2006" xmlns:a14="http://schemas.microsoft.com/office/drawing/2010/main">
        <mc:Choice Requires="a14">
          <p:sp>
            <p:nvSpPr>
              <p:cNvPr id="3" name="TextBox 2"/>
              <p:cNvSpPr txBox="1"/>
              <p:nvPr/>
            </p:nvSpPr>
            <p:spPr>
              <a:xfrm>
                <a:off x="263352" y="133995"/>
                <a:ext cx="11665296" cy="6677021"/>
              </a:xfrm>
              <a:prstGeom prst="rect">
                <a:avLst/>
              </a:prstGeom>
              <a:noFill/>
            </p:spPr>
            <p:txBody>
              <a:bodyPr wrap="square">
                <a:spAutoFit/>
              </a:bodyPr>
              <a:lstStyle/>
              <a:p>
                <a:pPr indent="609600" algn="just">
                  <a:lnSpc>
                    <a:spcPct val="150000"/>
                  </a:lnSpc>
                  <a:spcBef>
                    <a:spcPts val="600"/>
                  </a:spcBef>
                  <a:spcAft>
                    <a:spcPts val="600"/>
                  </a:spcAft>
                </a:pPr>
                <a:r>
                  <a:rPr lang="zh-CN" sz="2400" dirty="0">
                    <a:effectLst/>
                    <a:latin typeface="+mn-ea"/>
                  </a:rPr>
                  <a:t>第</a:t>
                </a:r>
                <a:r>
                  <a:rPr lang="en-US" sz="2400" dirty="0">
                    <a:effectLst/>
                    <a:latin typeface="+mn-ea"/>
                  </a:rPr>
                  <a:t>3</a:t>
                </a:r>
                <a:r>
                  <a:rPr lang="zh-CN" sz="2400" dirty="0">
                    <a:effectLst/>
                    <a:latin typeface="+mn-ea"/>
                  </a:rPr>
                  <a:t>步：从一个基本可行解转换到相邻的目标函数值更小的基本可行解，列出新的单纯形表。</a:t>
                </a:r>
                <a:endParaRPr lang="en-US" sz="2400" dirty="0">
                  <a:effectLst/>
                  <a:latin typeface="+mn-ea"/>
                </a:endParaRPr>
              </a:p>
              <a:p>
                <a:pPr indent="609600" algn="just">
                  <a:lnSpc>
                    <a:spcPct val="150000"/>
                  </a:lnSpc>
                  <a:spcBef>
                    <a:spcPts val="600"/>
                  </a:spcBef>
                  <a:spcAft>
                    <a:spcPts val="600"/>
                  </a:spcAft>
                </a:pPr>
                <a:r>
                  <a:rPr lang="zh-CN" sz="2400" dirty="0">
                    <a:effectLst/>
                    <a:latin typeface="+mn-ea"/>
                  </a:rPr>
                  <a:t>（</a:t>
                </a:r>
                <a:r>
                  <a:rPr lang="en-US" sz="2400" dirty="0">
                    <a:effectLst/>
                    <a:latin typeface="+mn-ea"/>
                  </a:rPr>
                  <a:t>1</a:t>
                </a:r>
                <a:r>
                  <a:rPr lang="zh-CN" sz="2400" dirty="0">
                    <a:effectLst/>
                    <a:latin typeface="+mn-ea"/>
                  </a:rPr>
                  <a:t>）确定换入基的变量</a:t>
                </a:r>
                <a:r>
                  <a:rPr lang="zh-CN" altLang="en-US" sz="2400" dirty="0">
                    <a:latin typeface="+mn-ea"/>
                  </a:rPr>
                  <a:t>。</a:t>
                </a:r>
                <a:r>
                  <a:rPr lang="zh-CN" sz="2400" dirty="0">
                    <a:effectLst/>
                    <a:latin typeface="+mn-ea"/>
                  </a:rPr>
                  <a:t>只要有检验数</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𝜎</m:t>
                        </m:r>
                      </m:e>
                      <m:sub>
                        <m:r>
                          <a:rPr lang="en-US" sz="2400" i="1">
                            <a:effectLst/>
                            <a:latin typeface="Cambria Math" panose="02040503050406030204" pitchFamily="18" charset="0"/>
                          </a:rPr>
                          <m:t>𝑗</m:t>
                        </m:r>
                      </m:sub>
                    </m:sSub>
                    <m:r>
                      <a:rPr lang="en-US" sz="2400" i="1">
                        <a:effectLst/>
                        <a:latin typeface="Cambria Math" panose="02040503050406030204" pitchFamily="18" charset="0"/>
                      </a:rPr>
                      <m:t>&lt;0</m:t>
                    </m:r>
                  </m:oMath>
                </a14:m>
                <a:r>
                  <a:rPr lang="zh-CN" sz="2400" dirty="0">
                    <a:effectLst/>
                    <a:latin typeface="+mn-ea"/>
                  </a:rPr>
                  <a:t>，对应的变量</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𝑥</m:t>
                        </m:r>
                      </m:e>
                      <m:sub>
                        <m:r>
                          <a:rPr lang="en-US" sz="2400" i="1">
                            <a:effectLst/>
                            <a:latin typeface="Cambria Math" panose="02040503050406030204" pitchFamily="18" charset="0"/>
                          </a:rPr>
                          <m:t>𝑗</m:t>
                        </m:r>
                      </m:sub>
                    </m:sSub>
                  </m:oMath>
                </a14:m>
                <a:r>
                  <a:rPr lang="zh-CN" sz="2400" dirty="0">
                    <a:effectLst/>
                    <a:latin typeface="+mn-ea"/>
                  </a:rPr>
                  <a:t>就可作为换入基的变量．当有一个以上变量的检验数小于零时，一般从中找出最小的</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𝜎</m:t>
                        </m:r>
                      </m:e>
                      <m:sub>
                        <m:r>
                          <a:rPr lang="en-US" sz="2400" i="1">
                            <a:effectLst/>
                            <a:latin typeface="Cambria Math" panose="02040503050406030204" pitchFamily="18" charset="0"/>
                          </a:rPr>
                          <m:t>𝑗</m:t>
                        </m:r>
                      </m:sub>
                    </m:sSub>
                  </m:oMath>
                </a14:m>
                <a:r>
                  <a:rPr lang="zh-CN" sz="2400" dirty="0">
                    <a:effectLst/>
                    <a:latin typeface="+mn-ea"/>
                  </a:rPr>
                  <a:t>：</a:t>
                </a:r>
                <a:endParaRPr lang="en-US" sz="2400" dirty="0">
                  <a:effectLst/>
                  <a:latin typeface="+mn-ea"/>
                </a:endParaRPr>
              </a:p>
              <a:p>
                <a:pPr indent="609600" algn="just">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𝜎</m:t>
                          </m:r>
                        </m:e>
                        <m:sub>
                          <m:r>
                            <a:rPr lang="en-US" sz="2400" i="1">
                              <a:effectLst/>
                              <a:latin typeface="Cambria Math" panose="02040503050406030204" pitchFamily="18" charset="0"/>
                            </a:rPr>
                            <m:t>𝑗</m:t>
                          </m:r>
                        </m:sub>
                      </m:sSub>
                      <m:r>
                        <a:rPr lang="en-US" sz="2400" i="1">
                          <a:effectLst/>
                          <a:latin typeface="Cambria Math" panose="02040503050406030204" pitchFamily="18" charset="0"/>
                        </a:rPr>
                        <m:t>=</m:t>
                      </m:r>
                      <m:func>
                        <m:funcPr>
                          <m:ctrlPr>
                            <a:rPr lang="en-US" sz="2400" i="1">
                              <a:effectLst/>
                              <a:latin typeface="Cambria Math" panose="02040503050406030204" pitchFamily="18" charset="0"/>
                            </a:rPr>
                          </m:ctrlPr>
                        </m:funcPr>
                        <m:fName>
                          <m:limLow>
                            <m:limLowPr>
                              <m:ctrlPr>
                                <a:rPr lang="en-US" sz="2400" i="1">
                                  <a:effectLst/>
                                  <a:latin typeface="Cambria Math" panose="02040503050406030204" pitchFamily="18" charset="0"/>
                                </a:rPr>
                              </m:ctrlPr>
                            </m:limLowPr>
                            <m:e>
                              <m:r>
                                <m:rPr>
                                  <m:sty m:val="p"/>
                                </m:rPr>
                                <a:rPr lang="en-US" sz="2400">
                                  <a:effectLst/>
                                  <a:latin typeface="Cambria Math" panose="02040503050406030204" pitchFamily="18" charset="0"/>
                                </a:rPr>
                                <m:t>min</m:t>
                              </m:r>
                            </m:e>
                            <m:lim>
                              <m:r>
                                <a:rPr lang="en-US" sz="2400" b="0" i="1" smtClean="0">
                                  <a:effectLst/>
                                  <a:latin typeface="Cambria Math" panose="02040503050406030204" pitchFamily="18" charset="0"/>
                                </a:rPr>
                                <m:t>𝑘</m:t>
                              </m:r>
                            </m:lim>
                          </m:limLow>
                        </m:fName>
                        <m:e>
                          <m:r>
                            <a:rPr lang="en-US" sz="2400" i="1">
                              <a:effectLst/>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b="0" i="1" smtClean="0">
                                  <a:latin typeface="Cambria Math" panose="02040503050406030204" pitchFamily="18" charset="0"/>
                                </a:rPr>
                                <m:t>𝑘</m:t>
                              </m:r>
                            </m:sub>
                          </m:sSub>
                          <m:r>
                            <a:rPr lang="en-US" sz="2400" i="1">
                              <a:effectLst/>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b="0" i="1" smtClean="0">
                                  <a:latin typeface="Cambria Math" panose="02040503050406030204" pitchFamily="18" charset="0"/>
                                </a:rPr>
                                <m:t>𝑘</m:t>
                              </m:r>
                            </m:sub>
                          </m:sSub>
                          <m:r>
                            <a:rPr lang="en-US" sz="2400" i="1" smtClean="0">
                              <a:latin typeface="Cambria Math" panose="02040503050406030204" pitchFamily="18" charset="0"/>
                            </a:rPr>
                            <m:t>&lt;</m:t>
                          </m:r>
                          <m:r>
                            <a:rPr lang="en-US" sz="2400" i="1">
                              <a:effectLst/>
                              <a:latin typeface="Cambria Math" panose="02040503050406030204" pitchFamily="18" charset="0"/>
                            </a:rPr>
                            <m:t>0}</m:t>
                          </m:r>
                        </m:e>
                      </m:func>
                    </m:oMath>
                  </m:oMathPara>
                </a14:m>
                <a:endParaRPr lang="en-US" sz="2400" dirty="0">
                  <a:effectLst/>
                  <a:latin typeface="+mn-ea"/>
                </a:endParaRPr>
              </a:p>
              <a:p>
                <a:pPr indent="609600" algn="just">
                  <a:lnSpc>
                    <a:spcPct val="150000"/>
                  </a:lnSpc>
                  <a:spcBef>
                    <a:spcPts val="600"/>
                  </a:spcBef>
                  <a:spcAft>
                    <a:spcPts val="600"/>
                  </a:spcAft>
                </a:pPr>
                <a:r>
                  <a:rPr lang="zh-CN" sz="2400" dirty="0">
                    <a:effectLst/>
                    <a:latin typeface="+mn-ea"/>
                  </a:rPr>
                  <a:t>（</a:t>
                </a:r>
                <a:r>
                  <a:rPr lang="en-US" sz="2400" dirty="0">
                    <a:effectLst/>
                    <a:latin typeface="+mn-ea"/>
                  </a:rPr>
                  <a:t>2</a:t>
                </a:r>
                <a:r>
                  <a:rPr lang="zh-CN" sz="2400" dirty="0">
                    <a:effectLst/>
                    <a:latin typeface="+mn-ea"/>
                  </a:rPr>
                  <a:t>）确定换出基的变量</a:t>
                </a:r>
                <a:r>
                  <a:rPr lang="zh-CN" altLang="en-US" sz="2400" dirty="0">
                    <a:effectLst/>
                    <a:latin typeface="+mn-ea"/>
                  </a:rPr>
                  <a:t>。</a:t>
                </a:r>
                <a:r>
                  <a:rPr lang="zh-CN" sz="2400" dirty="0">
                    <a:effectLst/>
                    <a:latin typeface="+mn-ea"/>
                  </a:rPr>
                  <a:t>根据前一节确定</a:t>
                </a:r>
                <a14:m>
                  <m:oMath xmlns:m="http://schemas.openxmlformats.org/officeDocument/2006/math">
                    <m:r>
                      <a:rPr lang="en-US" sz="2400" i="1">
                        <a:effectLst/>
                        <a:latin typeface="Cambria Math" panose="02040503050406030204" pitchFamily="18" charset="0"/>
                      </a:rPr>
                      <m:t>𝜃</m:t>
                    </m:r>
                  </m:oMath>
                </a14:m>
                <a:r>
                  <a:rPr lang="zh-CN" sz="2400" dirty="0">
                    <a:effectLst/>
                    <a:latin typeface="+mn-ea"/>
                  </a:rPr>
                  <a:t>的规则</a:t>
                </a:r>
                <a:r>
                  <a:rPr lang="zh-CN" altLang="en-US" sz="2400" dirty="0">
                    <a:latin typeface="+mn-ea"/>
                  </a:rPr>
                  <a:t>，取</a:t>
                </a:r>
                <a:endParaRPr lang="en-US" sz="2400" dirty="0">
                  <a:effectLst/>
                  <a:latin typeface="+mn-ea"/>
                </a:endParaRPr>
              </a:p>
              <a:p>
                <a:pPr indent="609600" algn="just">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rPr>
                        <m:t>𝜃</m:t>
                      </m:r>
                      <m:r>
                        <a:rPr lang="en-US" sz="2400" i="1">
                          <a:effectLst/>
                          <a:latin typeface="Cambria Math" panose="02040503050406030204" pitchFamily="18" charset="0"/>
                        </a:rPr>
                        <m:t>=</m:t>
                      </m:r>
                      <m:func>
                        <m:funcPr>
                          <m:ctrlPr>
                            <a:rPr lang="en-US" sz="2400" i="1">
                              <a:effectLst/>
                              <a:latin typeface="Cambria Math" panose="02040503050406030204" pitchFamily="18" charset="0"/>
                            </a:rPr>
                          </m:ctrlPr>
                        </m:funcPr>
                        <m:fName>
                          <m:limLow>
                            <m:limLowPr>
                              <m:ctrlPr>
                                <a:rPr lang="en-US" sz="2400" i="1">
                                  <a:effectLst/>
                                  <a:latin typeface="Cambria Math" panose="02040503050406030204" pitchFamily="18" charset="0"/>
                                </a:rPr>
                              </m:ctrlPr>
                            </m:limLowPr>
                            <m:e>
                              <m:r>
                                <m:rPr>
                                  <m:sty m:val="p"/>
                                </m:rPr>
                                <a:rPr lang="en-US" sz="2400">
                                  <a:effectLst/>
                                  <a:latin typeface="Cambria Math" panose="02040503050406030204" pitchFamily="18" charset="0"/>
                                </a:rPr>
                                <m:t>min</m:t>
                              </m:r>
                            </m:e>
                            <m:lim>
                              <m:r>
                                <a:rPr lang="en-US" sz="2400" i="1">
                                  <a:effectLst/>
                                  <a:latin typeface="Cambria Math" panose="02040503050406030204" pitchFamily="18" charset="0"/>
                                </a:rPr>
                                <m:t>1≤</m:t>
                              </m:r>
                              <m:r>
                                <a:rPr lang="en-US" sz="2400" i="1">
                                  <a:effectLst/>
                                  <a:latin typeface="Cambria Math" panose="02040503050406030204" pitchFamily="18" charset="0"/>
                                </a:rPr>
                                <m:t>𝑖</m:t>
                              </m:r>
                              <m:r>
                                <a:rPr lang="en-US" sz="2400" i="1">
                                  <a:effectLst/>
                                  <a:latin typeface="Cambria Math" panose="02040503050406030204" pitchFamily="18" charset="0"/>
                                </a:rPr>
                                <m:t>≤</m:t>
                              </m:r>
                              <m:r>
                                <a:rPr lang="en-US" sz="2400" i="1">
                                  <a:effectLst/>
                                  <a:latin typeface="Cambria Math" panose="02040503050406030204" pitchFamily="18" charset="0"/>
                                </a:rPr>
                                <m:t>𝑚</m:t>
                              </m:r>
                            </m:lim>
                          </m:limLow>
                        </m:fName>
                        <m:e>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b="0" i="1" smtClean="0">
                                      <a:effectLst/>
                                      <a:latin typeface="Cambria Math" panose="02040503050406030204" pitchFamily="18" charset="0"/>
                                    </a:rPr>
                                    <m:t>𝑏</m:t>
                                  </m:r>
                                </m:e>
                                <m:sub>
                                  <m:r>
                                    <a:rPr lang="en-US" sz="2400" i="1">
                                      <a:effectLst/>
                                      <a:latin typeface="Cambria Math" panose="02040503050406030204" pitchFamily="18" charset="0"/>
                                    </a:rPr>
                                    <m:t>𝑖</m:t>
                                  </m:r>
                                </m:sub>
                              </m:sSub>
                            </m:num>
                            <m:den>
                              <m:sSub>
                                <m:sSubPr>
                                  <m:ctrlPr>
                                    <a:rPr lang="en-US" sz="2400" i="1">
                                      <a:effectLst/>
                                      <a:latin typeface="Cambria Math" panose="02040503050406030204" pitchFamily="18" charset="0"/>
                                    </a:rPr>
                                  </m:ctrlPr>
                                </m:sSubPr>
                                <m:e>
                                  <m:r>
                                    <a:rPr lang="en-US" sz="2400" b="0" i="1" smtClean="0">
                                      <a:effectLst/>
                                      <a:latin typeface="Cambria Math" panose="02040503050406030204" pitchFamily="18" charset="0"/>
                                    </a:rPr>
                                    <m:t>𝑎</m:t>
                                  </m:r>
                                </m:e>
                                <m:sub>
                                  <m:r>
                                    <a:rPr lang="en-US" sz="2400" i="1">
                                      <a:effectLst/>
                                      <a:latin typeface="Cambria Math" panose="02040503050406030204" pitchFamily="18" charset="0"/>
                                    </a:rPr>
                                    <m:t>𝑖𝑘</m:t>
                                  </m:r>
                                </m:sub>
                              </m:sSub>
                            </m:den>
                          </m:f>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b="0" i="1" smtClean="0">
                                  <a:effectLst/>
                                  <a:latin typeface="Cambria Math" panose="02040503050406030204" pitchFamily="18" charset="0"/>
                                </a:rPr>
                                <m:t>𝑎</m:t>
                              </m:r>
                            </m:e>
                            <m:sub>
                              <m:r>
                                <a:rPr lang="en-US" sz="2400" i="1">
                                  <a:effectLst/>
                                  <a:latin typeface="Cambria Math" panose="02040503050406030204" pitchFamily="18" charset="0"/>
                                </a:rPr>
                                <m:t>𝑖𝑘</m:t>
                              </m:r>
                            </m:sub>
                          </m:sSub>
                          <m:r>
                            <a:rPr lang="en-US" sz="2400" i="1">
                              <a:effectLst/>
                              <a:latin typeface="Cambria Math" panose="02040503050406030204" pitchFamily="18" charset="0"/>
                            </a:rPr>
                            <m:t>&gt;0}</m:t>
                          </m:r>
                        </m:e>
                      </m:func>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b="0" i="1" smtClean="0">
                                  <a:effectLst/>
                                  <a:latin typeface="Cambria Math" panose="02040503050406030204" pitchFamily="18" charset="0"/>
                                </a:rPr>
                                <m:t>𝑏</m:t>
                              </m:r>
                            </m:e>
                            <m:sub>
                              <m:r>
                                <a:rPr lang="en-US" sz="2400" i="1">
                                  <a:effectLst/>
                                  <a:latin typeface="Cambria Math" panose="02040503050406030204" pitchFamily="18" charset="0"/>
                                </a:rPr>
                                <m:t>𝑙</m:t>
                              </m:r>
                            </m:sub>
                          </m:sSub>
                        </m:num>
                        <m:den>
                          <m:sSub>
                            <m:sSubPr>
                              <m:ctrlPr>
                                <a:rPr lang="en-US" sz="2400" i="1">
                                  <a:effectLst/>
                                  <a:latin typeface="Cambria Math" panose="02040503050406030204" pitchFamily="18" charset="0"/>
                                </a:rPr>
                              </m:ctrlPr>
                            </m:sSubPr>
                            <m:e>
                              <m:r>
                                <a:rPr lang="en-US" sz="2400" b="0" i="1" smtClean="0">
                                  <a:effectLst/>
                                  <a:latin typeface="Cambria Math" panose="02040503050406030204" pitchFamily="18" charset="0"/>
                                </a:rPr>
                                <m:t>𝑎</m:t>
                              </m:r>
                            </m:e>
                            <m:sub>
                              <m:r>
                                <a:rPr lang="en-US" sz="2400" i="1">
                                  <a:effectLst/>
                                  <a:latin typeface="Cambria Math" panose="02040503050406030204" pitchFamily="18" charset="0"/>
                                </a:rPr>
                                <m:t>𝑙𝑘</m:t>
                              </m:r>
                            </m:sub>
                          </m:sSub>
                        </m:den>
                      </m:f>
                    </m:oMath>
                  </m:oMathPara>
                </a14:m>
                <a:endParaRPr lang="en-US" sz="2400" dirty="0">
                  <a:effectLst/>
                  <a:latin typeface="+mn-ea"/>
                </a:endParaRPr>
              </a:p>
              <a:p>
                <a:pPr indent="609600" algn="just">
                  <a:lnSpc>
                    <a:spcPct val="150000"/>
                  </a:lnSpc>
                  <a:spcBef>
                    <a:spcPts val="600"/>
                  </a:spcBef>
                  <a:spcAft>
                    <a:spcPts val="600"/>
                  </a:spcAft>
                </a:pPr>
                <a:r>
                  <a:rPr lang="zh-CN" sz="2400" dirty="0">
                    <a:effectLst/>
                    <a:latin typeface="+mn-ea"/>
                  </a:rPr>
                  <a:t>由此确定换出基的变量</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𝑥</m:t>
                        </m:r>
                      </m:e>
                      <m:sub>
                        <m:r>
                          <a:rPr lang="en-US" sz="2400" i="1">
                            <a:effectLst/>
                            <a:latin typeface="Cambria Math" panose="02040503050406030204" pitchFamily="18" charset="0"/>
                          </a:rPr>
                          <m:t>𝑙</m:t>
                        </m:r>
                      </m:sub>
                    </m:sSub>
                  </m:oMath>
                </a14:m>
                <a:r>
                  <a:rPr lang="en-US" sz="2400" dirty="0">
                    <a:effectLst/>
                    <a:latin typeface="+mn-ea"/>
                  </a:rPr>
                  <a:t> (</a:t>
                </a:r>
                <a:r>
                  <a:rPr lang="zh-CN" sz="2400" dirty="0">
                    <a:effectLst/>
                    <a:latin typeface="+mn-ea"/>
                  </a:rPr>
                  <a:t>简称</a:t>
                </a:r>
                <a:r>
                  <a:rPr lang="zh-CN" sz="2400" dirty="0">
                    <a:solidFill>
                      <a:srgbClr val="FF0000"/>
                    </a:solidFill>
                    <a:effectLst/>
                    <a:latin typeface="+mn-ea"/>
                  </a:rPr>
                  <a:t>离基变量或换出变量</a:t>
                </a:r>
                <a:r>
                  <a:rPr lang="en-US" sz="2400" dirty="0">
                    <a:effectLst/>
                    <a:latin typeface="+mn-ea"/>
                  </a:rPr>
                  <a:t>)</a:t>
                </a:r>
                <a:r>
                  <a:rPr lang="zh-CN" sz="2400" dirty="0">
                    <a:effectLst/>
                    <a:latin typeface="+mn-ea"/>
                  </a:rPr>
                  <a:t>。元素</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𝑙𝑗</m:t>
                        </m:r>
                      </m:sub>
                    </m:sSub>
                  </m:oMath>
                </a14:m>
                <a:r>
                  <a:rPr lang="zh-CN" sz="2400" dirty="0">
                    <a:effectLst/>
                    <a:latin typeface="+mn-ea"/>
                  </a:rPr>
                  <a:t>决定了从一个基本可行解到相邻基本可行解的转移去向，取名</a:t>
                </a:r>
                <a:r>
                  <a:rPr lang="zh-CN" sz="2400" b="1" dirty="0">
                    <a:effectLst/>
                    <a:latin typeface="+mn-ea"/>
                  </a:rPr>
                  <a:t>主元素</a:t>
                </a:r>
                <a:r>
                  <a:rPr lang="zh-CN" sz="2400" dirty="0">
                    <a:effectLst/>
                    <a:latin typeface="+mn-ea"/>
                  </a:rPr>
                  <a:t>。</a:t>
                </a:r>
                <a:endParaRPr lang="en-US" sz="2400" dirty="0">
                  <a:effectLst/>
                  <a:latin typeface="+mn-ea"/>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63352" y="133995"/>
                <a:ext cx="11665296" cy="6677021"/>
              </a:xfrm>
              <a:prstGeom prst="rect">
                <a:avLst/>
              </a:prstGeom>
              <a:blipFill rotWithShape="1">
                <a:blip r:embed="rId2"/>
                <a:stretch>
                  <a:fillRect l="-4" r="1"/>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内容占位符 2"/>
          <p:cNvSpPr>
            <a:spLocks noGrp="1"/>
          </p:cNvSpPr>
          <p:nvPr>
            <p:ph idx="1"/>
          </p:nvPr>
        </p:nvSpPr>
        <p:spPr>
          <a:xfrm>
            <a:off x="1919537" y="723106"/>
            <a:ext cx="8258175" cy="5411788"/>
          </a:xfrm>
        </p:spPr>
        <p:txBody>
          <a:bodyPr/>
          <a:lstStyle/>
          <a:p>
            <a:pPr>
              <a:buFontTx/>
              <a:buNone/>
            </a:pPr>
            <a:r>
              <a:rPr lang="en-US" altLang="zh-CN"/>
              <a:t> </a:t>
            </a:r>
            <a:endParaRPr lang="zh-CN" altLang="en-US"/>
          </a:p>
        </p:txBody>
      </p:sp>
      <mc:AlternateContent xmlns:mc="http://schemas.openxmlformats.org/markup-compatibility/2006" xmlns:a14="http://schemas.microsoft.com/office/drawing/2010/main">
        <mc:Choice Requires="a14">
          <p:sp>
            <p:nvSpPr>
              <p:cNvPr id="3" name="TextBox 2"/>
              <p:cNvSpPr txBox="1"/>
              <p:nvPr/>
            </p:nvSpPr>
            <p:spPr>
              <a:xfrm>
                <a:off x="155936" y="260648"/>
                <a:ext cx="11785375" cy="7049109"/>
              </a:xfrm>
              <a:prstGeom prst="rect">
                <a:avLst/>
              </a:prstGeom>
              <a:noFill/>
            </p:spPr>
            <p:txBody>
              <a:bodyPr wrap="square">
                <a:spAutoFit/>
              </a:bodyPr>
              <a:lstStyle/>
              <a:p>
                <a:pPr indent="609600" algn="just">
                  <a:lnSpc>
                    <a:spcPct val="150000"/>
                  </a:lnSpc>
                  <a:spcBef>
                    <a:spcPts val="600"/>
                  </a:spcBef>
                  <a:spcAft>
                    <a:spcPts val="600"/>
                  </a:spcAft>
                </a:pPr>
                <a:r>
                  <a:rPr lang="zh-CN" sz="2400" dirty="0">
                    <a:effectLst/>
                    <a:latin typeface="+mn-ea"/>
                  </a:rPr>
                  <a:t>（</a:t>
                </a:r>
                <a:r>
                  <a:rPr lang="en-US" sz="2400" dirty="0">
                    <a:effectLst/>
                    <a:latin typeface="+mn-ea"/>
                  </a:rPr>
                  <a:t>3</a:t>
                </a:r>
                <a:r>
                  <a:rPr lang="zh-CN" sz="2400" dirty="0">
                    <a:effectLst/>
                    <a:latin typeface="+mn-ea"/>
                  </a:rPr>
                  <a:t>）用进基变量</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𝑥</m:t>
                        </m:r>
                      </m:e>
                      <m:sub>
                        <m:r>
                          <a:rPr lang="en-US" sz="2400" i="1">
                            <a:effectLst/>
                            <a:latin typeface="Cambria Math" panose="02040503050406030204" pitchFamily="18" charset="0"/>
                          </a:rPr>
                          <m:t>𝑘</m:t>
                        </m:r>
                      </m:sub>
                    </m:sSub>
                  </m:oMath>
                </a14:m>
                <a:r>
                  <a:rPr lang="zh-CN" sz="2400" dirty="0">
                    <a:effectLst/>
                    <a:latin typeface="+mn-ea"/>
                  </a:rPr>
                  <a:t>替换基变量中的离基变量</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𝑥</m:t>
                        </m:r>
                      </m:e>
                      <m:sub>
                        <m:r>
                          <a:rPr lang="en-US" sz="2400" i="1">
                            <a:effectLst/>
                            <a:latin typeface="Cambria Math" panose="02040503050406030204" pitchFamily="18" charset="0"/>
                          </a:rPr>
                          <m:t>𝑙</m:t>
                        </m:r>
                      </m:sub>
                    </m:sSub>
                  </m:oMath>
                </a14:m>
                <a:r>
                  <a:rPr lang="zh-CN" sz="2400" dirty="0">
                    <a:effectLst/>
                    <a:latin typeface="+mn-ea"/>
                  </a:rPr>
                  <a:t>，得到一个新基</a:t>
                </a:r>
                <a14:m>
                  <m:oMath xmlns:m="http://schemas.openxmlformats.org/officeDocument/2006/math">
                    <m:d>
                      <m:dPr>
                        <m:ctrlPr>
                          <a:rPr lang="en-US" sz="2400" i="1">
                            <a:effectLst/>
                            <a:latin typeface="Cambria Math" panose="02040503050406030204" pitchFamily="18" charset="0"/>
                          </a:rPr>
                        </m:ctrlPr>
                      </m:dPr>
                      <m:e>
                        <m:m>
                          <m:mPr>
                            <m:mcs>
                              <m:mc>
                                <m:mcPr>
                                  <m:count m:val="2"/>
                                  <m:mcJc m:val="center"/>
                                </m:mcPr>
                              </m:mc>
                            </m:mcs>
                            <m:ctrlPr>
                              <a:rPr lang="en-US" sz="2400" i="1">
                                <a:effectLst/>
                                <a:latin typeface="Cambria Math" panose="02040503050406030204" pitchFamily="18" charset="0"/>
                              </a:rPr>
                            </m:ctrlPr>
                          </m:mPr>
                          <m:mr>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𝐴</m:t>
                                  </m:r>
                                </m:e>
                                <m:sub>
                                  <m:r>
                                    <a:rPr lang="en-US" sz="2400" i="1">
                                      <a:effectLst/>
                                      <a:latin typeface="Cambria Math" panose="02040503050406030204" pitchFamily="18" charset="0"/>
                                    </a:rPr>
                                    <m:t>1</m:t>
                                  </m:r>
                                </m:sub>
                              </m:sSub>
                            </m:e>
                            <m:e>
                              <m:m>
                                <m:mPr>
                                  <m:mcs>
                                    <m:mc>
                                      <m:mcPr>
                                        <m:count m:val="2"/>
                                        <m:mcJc m:val="center"/>
                                      </m:mcPr>
                                    </m:mc>
                                  </m:mcs>
                                  <m:ctrlPr>
                                    <a:rPr lang="en-US" sz="2400" i="1">
                                      <a:effectLst/>
                                      <a:latin typeface="Cambria Math" panose="02040503050406030204" pitchFamily="18" charset="0"/>
                                    </a:rPr>
                                  </m:ctrlPr>
                                </m:mPr>
                                <m:mr>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𝐴</m:t>
                                        </m:r>
                                      </m:e>
                                      <m:sub>
                                        <m:r>
                                          <a:rPr lang="en-US" sz="2400" i="1">
                                            <a:effectLst/>
                                            <a:latin typeface="Cambria Math" panose="02040503050406030204" pitchFamily="18" charset="0"/>
                                          </a:rPr>
                                          <m:t>2</m:t>
                                        </m:r>
                                      </m:sub>
                                    </m:sSub>
                                  </m:e>
                                  <m:e>
                                    <m:m>
                                      <m:mPr>
                                        <m:mcs>
                                          <m:mc>
                                            <m:mcPr>
                                              <m:count m:val="2"/>
                                              <m:mcJc m:val="center"/>
                                            </m:mcPr>
                                          </m:mc>
                                        </m:mcs>
                                        <m:ctrlPr>
                                          <a:rPr lang="en-US" sz="2400" i="1">
                                            <a:effectLst/>
                                            <a:latin typeface="Cambria Math" panose="02040503050406030204" pitchFamily="18" charset="0"/>
                                          </a:rPr>
                                        </m:ctrlPr>
                                      </m:mPr>
                                      <m:mr>
                                        <m:e>
                                          <m:r>
                                            <a:rPr lang="en-US" sz="2400" i="1">
                                              <a:effectLst/>
                                              <a:latin typeface="Cambria Math" panose="02040503050406030204" pitchFamily="18" charset="0"/>
                                            </a:rPr>
                                            <m:t>⋯</m:t>
                                          </m:r>
                                        </m:e>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𝐴</m:t>
                                              </m:r>
                                            </m:e>
                                            <m:sub>
                                              <m:r>
                                                <a:rPr lang="en-US" sz="2400" i="1">
                                                  <a:effectLst/>
                                                  <a:latin typeface="Cambria Math" panose="02040503050406030204" pitchFamily="18" charset="0"/>
                                                </a:rPr>
                                                <m:t>𝑚</m:t>
                                              </m:r>
                                            </m:sub>
                                          </m:sSub>
                                        </m:e>
                                      </m:mr>
                                    </m:m>
                                  </m:e>
                                </m:mr>
                              </m:m>
                            </m:e>
                          </m:mr>
                        </m:m>
                      </m:e>
                    </m:d>
                  </m:oMath>
                </a14:m>
                <a:r>
                  <a:rPr lang="zh-CN" sz="2400" dirty="0">
                    <a:effectLst/>
                    <a:latin typeface="+mn-ea"/>
                  </a:rPr>
                  <a:t>，对应此基可以找出一个新的基本可行解，并相应地画出一张新单纯形表。在这个新表中的基仍应是单位矩阵，即</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𝐴</m:t>
                        </m:r>
                      </m:e>
                      <m:sub>
                        <m:r>
                          <a:rPr lang="en-US" sz="2400" i="1">
                            <a:effectLst/>
                            <a:latin typeface="Cambria Math" panose="02040503050406030204" pitchFamily="18" charset="0"/>
                          </a:rPr>
                          <m:t>𝑘</m:t>
                        </m:r>
                      </m:sub>
                    </m:sSub>
                  </m:oMath>
                </a14:m>
                <a:r>
                  <a:rPr lang="zh-CN" sz="2400" dirty="0">
                    <a:effectLst/>
                    <a:latin typeface="+mn-ea"/>
                  </a:rPr>
                  <a:t>应变换成单位向量。为此，在</a:t>
                </a:r>
                <a:r>
                  <a:rPr lang="zh-CN" altLang="en-US" sz="2400" dirty="0">
                    <a:effectLst/>
                    <a:latin typeface="+mn-ea"/>
                  </a:rPr>
                  <a:t>旧表</a:t>
                </a:r>
                <a:r>
                  <a:rPr lang="zh-CN" sz="2400" dirty="0">
                    <a:effectLst/>
                    <a:latin typeface="+mn-ea"/>
                  </a:rPr>
                  <a:t>中进行初等行变换，并将运算结果填入</a:t>
                </a:r>
                <a:r>
                  <a:rPr lang="zh-CN" altLang="en-US" sz="2400" dirty="0">
                    <a:effectLst/>
                    <a:latin typeface="+mn-ea"/>
                  </a:rPr>
                  <a:t>新表</a:t>
                </a:r>
                <a:r>
                  <a:rPr lang="zh-CN" sz="2400" dirty="0">
                    <a:effectLst/>
                    <a:latin typeface="+mn-ea"/>
                  </a:rPr>
                  <a:t>的相应位置中。</a:t>
                </a:r>
                <a:endParaRPr lang="en-US" sz="2400" dirty="0">
                  <a:effectLst/>
                  <a:latin typeface="+mn-ea"/>
                </a:endParaRPr>
              </a:p>
              <a:p>
                <a:pPr indent="609600" algn="just">
                  <a:lnSpc>
                    <a:spcPct val="150000"/>
                  </a:lnSpc>
                  <a:spcBef>
                    <a:spcPts val="600"/>
                  </a:spcBef>
                  <a:spcAft>
                    <a:spcPts val="600"/>
                  </a:spcAft>
                </a:pPr>
                <a:r>
                  <a:rPr lang="zh-CN" sz="2400" dirty="0">
                    <a:effectLst/>
                    <a:latin typeface="+mn-ea"/>
                  </a:rPr>
                  <a:t>（</a:t>
                </a:r>
                <a:r>
                  <a:rPr lang="en-US" sz="2400" dirty="0">
                    <a:effectLst/>
                    <a:latin typeface="+mn-ea"/>
                  </a:rPr>
                  <a:t>a</a:t>
                </a:r>
                <a:r>
                  <a:rPr lang="zh-CN" sz="2400" dirty="0">
                    <a:effectLst/>
                    <a:latin typeface="+mn-ea"/>
                  </a:rPr>
                  <a:t>）将主元素所在行</a:t>
                </a:r>
                <a14:m>
                  <m:oMath xmlns:m="http://schemas.openxmlformats.org/officeDocument/2006/math">
                    <m:r>
                      <a:rPr lang="en-US" sz="2400" i="1">
                        <a:effectLst/>
                        <a:latin typeface="Cambria Math" panose="02040503050406030204" pitchFamily="18" charset="0"/>
                      </a:rPr>
                      <m:t>𝑙</m:t>
                    </m:r>
                  </m:oMath>
                </a14:m>
                <a:r>
                  <a:rPr lang="zh-CN" sz="2400" dirty="0">
                    <a:effectLst/>
                    <a:latin typeface="+mn-ea"/>
                  </a:rPr>
                  <a:t>除以主元素</a:t>
                </a:r>
                <a14:m>
                  <m:oMath xmlns:m="http://schemas.openxmlformats.org/officeDocument/2006/math">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oMath>
                </a14:m>
                <a:r>
                  <a:rPr lang="zh-CN" sz="2400" dirty="0">
                    <a:effectLst/>
                    <a:latin typeface="+mn-ea"/>
                  </a:rPr>
                  <a:t>，即有</a:t>
                </a:r>
                <a:endParaRPr lang="en-US" sz="2400" dirty="0">
                  <a:effectLst/>
                  <a:latin typeface="+mn-ea"/>
                </a:endParaRPr>
              </a:p>
              <a:p>
                <a:pPr indent="609600" algn="just">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𝑏</m:t>
                              </m:r>
                            </m:e>
                          </m:acc>
                        </m:e>
                        <m:sub>
                          <m:r>
                            <a:rPr lang="en-US" altLang="zh-CN" sz="2400" b="0" i="1" smtClean="0">
                              <a:latin typeface="Cambria Math" panose="02040503050406030204" pitchFamily="18" charset="0"/>
                            </a:rPr>
                            <m:t>𝑙</m:t>
                          </m:r>
                        </m:sub>
                      </m:sSub>
                      <m:r>
                        <a:rPr lang="en-US" sz="2400" i="1">
                          <a:effectLst/>
                          <a:latin typeface="Cambria Math" panose="02040503050406030204" pitchFamily="18" charset="0"/>
                        </a:rPr>
                        <m:t>=</m:t>
                      </m:r>
                      <m:f>
                        <m:fPr>
                          <m:type m:val="skw"/>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𝑏</m:t>
                              </m:r>
                            </m:e>
                            <m:sub>
                              <m:r>
                                <a:rPr lang="en-US" sz="2400" i="1">
                                  <a:effectLst/>
                                  <a:latin typeface="Cambria Math" panose="02040503050406030204" pitchFamily="18" charset="0"/>
                                </a:rPr>
                                <m:t>𝑙</m:t>
                              </m:r>
                            </m:sub>
                          </m:sSub>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acc>
                            <m:accPr>
                              <m:chr m:val="̅"/>
                              <m:ctrlPr>
                                <a:rPr lang="en-US" sz="2400" i="1">
                                  <a:effectLst/>
                                  <a:latin typeface="Cambria Math" panose="02040503050406030204" pitchFamily="18" charset="0"/>
                                </a:rPr>
                              </m:ctrlPr>
                            </m:accPr>
                            <m:e>
                              <m:r>
                                <a:rPr lang="en-US" sz="2400" i="1">
                                  <a:effectLst/>
                                  <a:latin typeface="Cambria Math" panose="02040503050406030204" pitchFamily="18" charset="0"/>
                                </a:rPr>
                                <m:t>𝑎</m:t>
                              </m:r>
                            </m:e>
                          </m:acc>
                        </m:e>
                        <m:sub>
                          <m:r>
                            <a:rPr lang="en-US" sz="2400" i="1">
                              <a:effectLst/>
                              <a:latin typeface="Cambria Math" panose="02040503050406030204" pitchFamily="18" charset="0"/>
                            </a:rPr>
                            <m:t>𝑙𝑗</m:t>
                          </m:r>
                        </m:sub>
                      </m:sSub>
                      <m:r>
                        <a:rPr lang="en-US" sz="2400" i="1">
                          <a:effectLst/>
                          <a:latin typeface="Cambria Math" panose="02040503050406030204" pitchFamily="18" charset="0"/>
                        </a:rPr>
                        <m:t>=</m:t>
                      </m:r>
                      <m:f>
                        <m:fPr>
                          <m:type m:val="skw"/>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𝑙𝑗</m:t>
                              </m:r>
                            </m:sub>
                          </m:sSub>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oMath>
                  </m:oMathPara>
                </a14:m>
                <a:endParaRPr lang="en-US" sz="2400" dirty="0">
                  <a:effectLst/>
                  <a:latin typeface="+mn-ea"/>
                </a:endParaRPr>
              </a:p>
              <a:p>
                <a:pPr indent="609600" algn="just">
                  <a:lnSpc>
                    <a:spcPct val="150000"/>
                  </a:lnSpc>
                  <a:spcBef>
                    <a:spcPts val="600"/>
                  </a:spcBef>
                  <a:spcAft>
                    <a:spcPts val="600"/>
                  </a:spcAft>
                </a:pPr>
                <a:r>
                  <a:rPr lang="zh-CN" sz="2400" dirty="0">
                    <a:effectLst/>
                    <a:latin typeface="+mn-ea"/>
                  </a:rPr>
                  <a:t>（</a:t>
                </a:r>
                <a:r>
                  <a:rPr lang="en-US" sz="2400" dirty="0">
                    <a:effectLst/>
                    <a:latin typeface="+mn-ea"/>
                  </a:rPr>
                  <a:t>b</a:t>
                </a:r>
                <a:r>
                  <a:rPr lang="zh-CN" sz="2400" dirty="0">
                    <a:effectLst/>
                    <a:latin typeface="+mn-ea"/>
                  </a:rPr>
                  <a:t>）将</a:t>
                </a:r>
                <a:r>
                  <a:rPr lang="zh-CN" altLang="en-US" sz="2400" dirty="0">
                    <a:effectLst/>
                    <a:latin typeface="+mn-ea"/>
                  </a:rPr>
                  <a:t>新表</a:t>
                </a:r>
                <a:r>
                  <a:rPr lang="zh-CN" sz="2400" dirty="0">
                    <a:effectLst/>
                    <a:latin typeface="+mn-ea"/>
                  </a:rPr>
                  <a:t>中刚计算得到的第</a:t>
                </a:r>
                <a14:m>
                  <m:oMath xmlns:m="http://schemas.openxmlformats.org/officeDocument/2006/math">
                    <m:r>
                      <a:rPr lang="en-US" sz="2400" i="1">
                        <a:effectLst/>
                        <a:latin typeface="Cambria Math" panose="02040503050406030204" pitchFamily="18" charset="0"/>
                      </a:rPr>
                      <m:t>𝑙</m:t>
                    </m:r>
                  </m:oMath>
                </a14:m>
                <a:r>
                  <a:rPr lang="zh-CN" sz="2400" dirty="0">
                    <a:effectLst/>
                    <a:latin typeface="+mn-ea"/>
                  </a:rPr>
                  <a:t>行数字乘上</a:t>
                </a:r>
                <a14:m>
                  <m:oMath xmlns:m="http://schemas.openxmlformats.org/officeDocument/2006/math">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𝑖𝑘</m:t>
                        </m:r>
                      </m:sub>
                    </m:sSub>
                    <m:r>
                      <a:rPr lang="en-US" sz="2400" i="1">
                        <a:effectLst/>
                        <a:latin typeface="Cambria Math" panose="02040503050406030204" pitchFamily="18" charset="0"/>
                      </a:rPr>
                      <m:t>)</m:t>
                    </m:r>
                  </m:oMath>
                </a14:m>
                <a:r>
                  <a:rPr lang="zh-CN" sz="2400" dirty="0">
                    <a:effectLst/>
                    <a:latin typeface="+mn-ea"/>
                  </a:rPr>
                  <a:t>加到</a:t>
                </a:r>
                <a:r>
                  <a:rPr lang="zh-CN" altLang="en-US" sz="2400" dirty="0">
                    <a:effectLst/>
                    <a:latin typeface="+mn-ea"/>
                  </a:rPr>
                  <a:t>旧表</a:t>
                </a:r>
                <a:r>
                  <a:rPr lang="zh-CN" sz="2400" dirty="0">
                    <a:effectLst/>
                    <a:latin typeface="+mn-ea"/>
                  </a:rPr>
                  <a:t>的第</a:t>
                </a:r>
                <a14:m>
                  <m:oMath xmlns:m="http://schemas.openxmlformats.org/officeDocument/2006/math">
                    <m:r>
                      <a:rPr lang="en-US" sz="2400" i="1">
                        <a:effectLst/>
                        <a:latin typeface="Cambria Math" panose="02040503050406030204" pitchFamily="18" charset="0"/>
                      </a:rPr>
                      <m:t>𝑖</m:t>
                    </m:r>
                  </m:oMath>
                </a14:m>
                <a:r>
                  <a:rPr lang="zh-CN" sz="2400" dirty="0">
                    <a:effectLst/>
                    <a:latin typeface="+mn-ea"/>
                  </a:rPr>
                  <a:t>行数字上，并将所得到的结果记入</a:t>
                </a:r>
                <a:r>
                  <a:rPr lang="zh-CN" altLang="en-US" sz="2400" dirty="0">
                    <a:effectLst/>
                    <a:latin typeface="+mn-ea"/>
                  </a:rPr>
                  <a:t>新表</a:t>
                </a:r>
                <a:r>
                  <a:rPr lang="zh-CN" sz="2400" dirty="0">
                    <a:effectLst/>
                    <a:latin typeface="+mn-ea"/>
                  </a:rPr>
                  <a:t>的相应行，即有</a:t>
                </a:r>
                <a:endParaRPr lang="en-US" sz="2400" dirty="0">
                  <a:effectLst/>
                  <a:latin typeface="+mn-ea"/>
                </a:endParaRPr>
              </a:p>
              <a:p>
                <a:pPr indent="609600" algn="just">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acc>
                            <m:accPr>
                              <m:chr m:val="̅"/>
                              <m:ctrlPr>
                                <a:rPr lang="en-US" sz="2400" i="1">
                                  <a:effectLst/>
                                  <a:latin typeface="Cambria Math" panose="02040503050406030204" pitchFamily="18" charset="0"/>
                                </a:rPr>
                              </m:ctrlPr>
                            </m:accPr>
                            <m:e>
                              <m:r>
                                <a:rPr lang="en-US" sz="2400" i="1">
                                  <a:effectLst/>
                                  <a:latin typeface="Cambria Math" panose="02040503050406030204" pitchFamily="18" charset="0"/>
                                </a:rPr>
                                <m:t>𝑏</m:t>
                              </m:r>
                            </m:e>
                          </m:acc>
                        </m:e>
                        <m:sub>
                          <m:r>
                            <a:rPr lang="en-US" sz="2400" i="1">
                              <a:effectLst/>
                              <a:latin typeface="Cambria Math" panose="02040503050406030204" pitchFamily="18" charset="0"/>
                            </a:rPr>
                            <m:t>𝑖</m:t>
                          </m:r>
                        </m:sub>
                      </m:sSub>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𝑏</m:t>
                          </m:r>
                        </m:e>
                        <m:sub>
                          <m:r>
                            <a:rPr lang="en-US" sz="2400" i="1">
                              <a:effectLst/>
                              <a:latin typeface="Cambria Math" panose="02040503050406030204" pitchFamily="18" charset="0"/>
                            </a:rPr>
                            <m:t>𝑖</m:t>
                          </m:r>
                        </m:sub>
                      </m:sSub>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𝑏</m:t>
                              </m:r>
                            </m:e>
                            <m:sub>
                              <m:r>
                                <a:rPr lang="en-US" sz="2400" i="1">
                                  <a:effectLst/>
                                  <a:latin typeface="Cambria Math" panose="02040503050406030204" pitchFamily="18" charset="0"/>
                                </a:rPr>
                                <m:t>𝑙</m:t>
                              </m:r>
                            </m:sub>
                          </m:sSub>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𝑖𝑘</m:t>
                          </m:r>
                        </m:sub>
                      </m:sSub>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acc>
                            <m:accPr>
                              <m:chr m:val="̅"/>
                              <m:ctrlPr>
                                <a:rPr lang="en-US" sz="2400" i="1">
                                  <a:effectLst/>
                                  <a:latin typeface="Cambria Math" panose="02040503050406030204" pitchFamily="18" charset="0"/>
                                </a:rPr>
                              </m:ctrlPr>
                            </m:accPr>
                            <m:e>
                              <m:r>
                                <a:rPr lang="en-US" sz="2400" i="1">
                                  <a:effectLst/>
                                  <a:latin typeface="Cambria Math" panose="02040503050406030204" pitchFamily="18" charset="0"/>
                                </a:rPr>
                                <m:t>𝑎</m:t>
                              </m:r>
                            </m:e>
                          </m:acc>
                        </m:e>
                        <m:sub>
                          <m:r>
                            <a:rPr lang="en-US" sz="2400" i="1">
                              <a:effectLst/>
                              <a:latin typeface="Cambria Math" panose="02040503050406030204" pitchFamily="18" charset="0"/>
                            </a:rPr>
                            <m:t>𝑖𝑗</m:t>
                          </m:r>
                        </m:sub>
                      </m:sSub>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𝑖𝑗</m:t>
                          </m:r>
                        </m:sub>
                      </m:sSub>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𝑙𝑗</m:t>
                              </m:r>
                            </m:sub>
                          </m:sSub>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𝑖𝑘</m:t>
                          </m:r>
                        </m:sub>
                      </m:sSub>
                      <m:r>
                        <a:rPr lang="en-US" sz="2400" i="1">
                          <a:effectLst/>
                          <a:latin typeface="Cambria Math" panose="02040503050406030204" pitchFamily="18" charset="0"/>
                        </a:rPr>
                        <m:t>(</m:t>
                      </m:r>
                      <m:r>
                        <a:rPr lang="en-US" sz="2400" i="1">
                          <a:effectLst/>
                          <a:latin typeface="Cambria Math" panose="02040503050406030204" pitchFamily="18" charset="0"/>
                        </a:rPr>
                        <m:t>𝑖</m:t>
                      </m:r>
                      <m:r>
                        <a:rPr lang="en-US" sz="2400" i="1">
                          <a:effectLst/>
                          <a:latin typeface="Cambria Math" panose="02040503050406030204" pitchFamily="18" charset="0"/>
                        </a:rPr>
                        <m:t>≠</m:t>
                      </m:r>
                      <m:r>
                        <a:rPr lang="en-US" sz="2400" i="1">
                          <a:effectLst/>
                          <a:latin typeface="Cambria Math" panose="02040503050406030204" pitchFamily="18" charset="0"/>
                        </a:rPr>
                        <m:t>𝑙</m:t>
                      </m:r>
                      <m:r>
                        <a:rPr lang="en-US" sz="2400" i="1">
                          <a:effectLst/>
                          <a:latin typeface="Cambria Math" panose="02040503050406030204" pitchFamily="18" charset="0"/>
                        </a:rPr>
                        <m:t>)</m:t>
                      </m:r>
                    </m:oMath>
                  </m:oMathPara>
                </a14:m>
                <a:endParaRPr lang="en-US" sz="2400" dirty="0">
                  <a:effectLst/>
                  <a:latin typeface="+mn-ea"/>
                </a:endParaRPr>
              </a:p>
              <a:p>
                <a:pPr indent="609600" algn="just">
                  <a:lnSpc>
                    <a:spcPct val="150000"/>
                  </a:lnSpc>
                  <a:spcBef>
                    <a:spcPts val="600"/>
                  </a:spcBef>
                  <a:spcAft>
                    <a:spcPts val="600"/>
                  </a:spcAft>
                </a:pPr>
                <a:r>
                  <a:rPr lang="en-US" sz="2400" dirty="0">
                    <a:effectLst/>
                    <a:latin typeface="+mn-ea"/>
                  </a:rPr>
                  <a:t> </a:t>
                </a:r>
              </a:p>
            </p:txBody>
          </p:sp>
        </mc:Choice>
        <mc:Fallback xmlns="">
          <p:sp>
            <p:nvSpPr>
              <p:cNvPr id="3" name="TextBox 2"/>
              <p:cNvSpPr txBox="1">
                <a:spLocks noRot="1" noChangeAspect="1" noMove="1" noResize="1" noEditPoints="1" noAdjustHandles="1" noChangeArrowheads="1" noChangeShapeType="1" noTextEdit="1"/>
              </p:cNvSpPr>
              <p:nvPr/>
            </p:nvSpPr>
            <p:spPr>
              <a:xfrm>
                <a:off x="155936" y="260648"/>
                <a:ext cx="11785375" cy="7049109"/>
              </a:xfrm>
              <a:prstGeom prst="rect">
                <a:avLst/>
              </a:prstGeom>
              <a:blipFill rotWithShape="1">
                <a:blip r:embed="rId2"/>
                <a:stretch>
                  <a:fillRect l="-3" t="-4" r="-672" b="4"/>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263352" y="-40604"/>
                <a:ext cx="11665296" cy="6939207"/>
              </a:xfrm>
              <a:prstGeom prst="rect">
                <a:avLst/>
              </a:prstGeom>
              <a:noFill/>
            </p:spPr>
            <p:txBody>
              <a:bodyPr wrap="square">
                <a:spAutoFit/>
              </a:bodyPr>
              <a:lstStyle/>
              <a:p>
                <a:pPr indent="609600">
                  <a:lnSpc>
                    <a:spcPct val="150000"/>
                  </a:lnSpc>
                  <a:spcBef>
                    <a:spcPts val="600"/>
                  </a:spcBef>
                  <a:spcAft>
                    <a:spcPts val="600"/>
                  </a:spcAft>
                </a:pPr>
                <a:r>
                  <a:rPr lang="zh-CN" sz="2400" dirty="0">
                    <a:effectLst/>
                    <a:latin typeface="+mn-ea"/>
                  </a:rPr>
                  <a:t>（</a:t>
                </a:r>
                <a:r>
                  <a:rPr lang="en-US" sz="2400" dirty="0">
                    <a:effectLst/>
                    <a:latin typeface="+mn-ea"/>
                  </a:rPr>
                  <a:t>c</a:t>
                </a:r>
                <a:r>
                  <a:rPr lang="zh-CN" sz="2400" dirty="0">
                    <a:effectLst/>
                    <a:latin typeface="+mn-ea"/>
                  </a:rPr>
                  <a:t>）</a:t>
                </a:r>
                <a:r>
                  <a:rPr lang="zh-CN" altLang="en-US" sz="2400" dirty="0">
                    <a:effectLst/>
                    <a:latin typeface="+mn-ea"/>
                  </a:rPr>
                  <a:t>新表</a:t>
                </a:r>
                <a:r>
                  <a:rPr lang="zh-CN" sz="2400" dirty="0">
                    <a:effectLst/>
                    <a:latin typeface="+mn-ea"/>
                  </a:rPr>
                  <a:t>中检验数行的各元素的求法</a:t>
                </a:r>
                <a:endParaRPr lang="en-US" sz="2400" dirty="0">
                  <a:effectLst/>
                  <a:latin typeface="+mn-ea"/>
                </a:endParaRPr>
              </a:p>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rPr>
                          </m:ctrlPr>
                        </m:sSubPr>
                        <m:e>
                          <m:acc>
                            <m:accPr>
                              <m:chr m:val="̅"/>
                              <m:ctrlPr>
                                <a:rPr lang="en-US" sz="2400" i="1">
                                  <a:effectLst/>
                                  <a:latin typeface="Cambria Math" panose="02040503050406030204" pitchFamily="18" charset="0"/>
                                </a:rPr>
                              </m:ctrlPr>
                            </m:accPr>
                            <m:e>
                              <m:r>
                                <a:rPr lang="en-US" sz="2400" i="1">
                                  <a:effectLst/>
                                  <a:latin typeface="Cambria Math" panose="02040503050406030204" pitchFamily="18" charset="0"/>
                                </a:rPr>
                                <m:t>𝜎</m:t>
                              </m:r>
                            </m:e>
                          </m:acc>
                        </m:e>
                        <m:sub>
                          <m:r>
                            <a:rPr lang="en-US" sz="2400" i="1">
                              <a:effectLst/>
                              <a:latin typeface="Cambria Math" panose="02040503050406030204" pitchFamily="18" charset="0"/>
                            </a:rPr>
                            <m:t>𝑙</m:t>
                          </m:r>
                        </m:sub>
                      </m:sSub>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𝑙</m:t>
                          </m:r>
                        </m:sub>
                      </m:sSub>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r>
                            <a:rPr lang="en-US" sz="2400" i="1">
                              <a:effectLst/>
                              <a:latin typeface="Cambria Math" panose="02040503050406030204" pitchFamily="18" charset="0"/>
                            </a:rPr>
                            <m:t>1</m:t>
                          </m:r>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d>
                        <m:dPr>
                          <m:begChr m:val="["/>
                          <m:endChr m:val="]"/>
                          <m:ctrlPr>
                            <a:rPr lang="en-US" sz="2400" i="1">
                              <a:effectLst/>
                              <a:latin typeface="Cambria Math" panose="02040503050406030204" pitchFamily="18" charset="0"/>
                            </a:rPr>
                          </m:ctrlPr>
                        </m:dPr>
                        <m:e>
                          <m:r>
                            <a:rPr lang="en-US" sz="2400" i="1">
                              <a:effectLst/>
                              <a:latin typeface="Cambria Math" panose="02040503050406030204" pitchFamily="18" charset="0"/>
                            </a:rPr>
                            <m:t>−</m:t>
                          </m:r>
                          <m:nary>
                            <m:naryPr>
                              <m:chr m:val="∑"/>
                              <m:limLoc m:val="undOvr"/>
                              <m:ctrlPr>
                                <a:rPr lang="en-US" sz="2400" i="1">
                                  <a:effectLst/>
                                  <a:latin typeface="Cambria Math" panose="02040503050406030204" pitchFamily="18" charset="0"/>
                                </a:rPr>
                              </m:ctrlPr>
                            </m:naryPr>
                            <m:sub>
                              <m:r>
                                <a:rPr lang="en-US" sz="2400" i="1">
                                  <a:effectLst/>
                                  <a:latin typeface="Cambria Math" panose="02040503050406030204" pitchFamily="18" charset="0"/>
                                </a:rPr>
                                <m:t>𝑖</m:t>
                              </m:r>
                              <m:r>
                                <a:rPr lang="en-US" sz="2400" i="1">
                                  <a:effectLst/>
                                  <a:latin typeface="Cambria Math" panose="02040503050406030204" pitchFamily="18" charset="0"/>
                                </a:rPr>
                                <m:t>=1</m:t>
                              </m:r>
                            </m:sub>
                            <m:sup>
                              <m:r>
                                <a:rPr lang="en-US" sz="2400" i="1">
                                  <a:effectLst/>
                                  <a:latin typeface="Cambria Math" panose="02040503050406030204" pitchFamily="18" charset="0"/>
                                </a:rPr>
                                <m:t>𝑙</m:t>
                              </m:r>
                              <m:r>
                                <a:rPr lang="en-US" sz="2400" i="1">
                                  <a:effectLst/>
                                  <a:latin typeface="Cambria Math" panose="02040503050406030204" pitchFamily="18" charset="0"/>
                                </a:rPr>
                                <m:t>−1</m:t>
                              </m:r>
                            </m:sup>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𝑖</m:t>
                                  </m:r>
                                </m:sub>
                              </m:sSub>
                            </m:e>
                          </m:nary>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𝑖𝑘</m:t>
                              </m:r>
                            </m:sub>
                          </m:sSub>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𝑘</m:t>
                              </m:r>
                            </m:sub>
                          </m:sSub>
                          <m:r>
                            <a:rPr lang="en-US" sz="2400" i="1">
                              <a:effectLst/>
                              <a:latin typeface="Cambria Math" panose="02040503050406030204" pitchFamily="18" charset="0"/>
                            </a:rPr>
                            <m:t>−</m:t>
                          </m:r>
                          <m:nary>
                            <m:naryPr>
                              <m:chr m:val="∑"/>
                              <m:limLoc m:val="undOvr"/>
                              <m:ctrlPr>
                                <a:rPr lang="en-US" sz="2400" i="1">
                                  <a:effectLst/>
                                  <a:latin typeface="Cambria Math" panose="02040503050406030204" pitchFamily="18" charset="0"/>
                                </a:rPr>
                              </m:ctrlPr>
                            </m:naryPr>
                            <m:sub>
                              <m:r>
                                <a:rPr lang="en-US" sz="2400" i="1">
                                  <a:effectLst/>
                                  <a:latin typeface="Cambria Math" panose="02040503050406030204" pitchFamily="18" charset="0"/>
                                </a:rPr>
                                <m:t>𝑖</m:t>
                              </m:r>
                              <m:r>
                                <a:rPr lang="en-US" sz="2400" i="1">
                                  <a:effectLst/>
                                  <a:latin typeface="Cambria Math" panose="02040503050406030204" pitchFamily="18" charset="0"/>
                                </a:rPr>
                                <m:t>=</m:t>
                              </m:r>
                              <m:r>
                                <a:rPr lang="en-US" sz="2400" i="1">
                                  <a:effectLst/>
                                  <a:latin typeface="Cambria Math" panose="02040503050406030204" pitchFamily="18" charset="0"/>
                                </a:rPr>
                                <m:t>𝑙</m:t>
                              </m:r>
                              <m:r>
                                <a:rPr lang="en-US" sz="2400" i="1">
                                  <a:effectLst/>
                                  <a:latin typeface="Cambria Math" panose="02040503050406030204" pitchFamily="18" charset="0"/>
                                </a:rPr>
                                <m:t>+1</m:t>
                              </m:r>
                            </m:sub>
                            <m:sup>
                              <m:r>
                                <a:rPr lang="en-US" sz="2400" i="1">
                                  <a:effectLst/>
                                  <a:latin typeface="Cambria Math" panose="02040503050406030204" pitchFamily="18" charset="0"/>
                                </a:rPr>
                                <m:t>𝑚</m:t>
                              </m:r>
                            </m:sup>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𝑖</m:t>
                                  </m:r>
                                </m:sub>
                              </m:sSub>
                            </m:e>
                          </m:nary>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𝑖𝑘</m:t>
                              </m:r>
                            </m:sub>
                          </m:sSub>
                        </m:e>
                      </m:d>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𝑘</m:t>
                              </m:r>
                            </m:sub>
                          </m:sSub>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r>
                            <a:rPr lang="en-US" sz="2400" i="1">
                              <a:effectLst/>
                              <a:latin typeface="Cambria Math" panose="02040503050406030204" pitchFamily="18" charset="0"/>
                            </a:rPr>
                            <m:t>1</m:t>
                          </m:r>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nary>
                        <m:naryPr>
                          <m:chr m:val="∑"/>
                          <m:limLoc m:val="undOvr"/>
                          <m:ctrlPr>
                            <a:rPr lang="en-US" sz="2400" i="1">
                              <a:effectLst/>
                              <a:latin typeface="Cambria Math" panose="02040503050406030204" pitchFamily="18" charset="0"/>
                            </a:rPr>
                          </m:ctrlPr>
                        </m:naryPr>
                        <m:sub>
                          <m:r>
                            <a:rPr lang="en-US" sz="2400" i="1">
                              <a:effectLst/>
                              <a:latin typeface="Cambria Math" panose="02040503050406030204" pitchFamily="18" charset="0"/>
                            </a:rPr>
                            <m:t>𝑖</m:t>
                          </m:r>
                          <m:r>
                            <a:rPr lang="en-US" sz="2400" i="1">
                              <a:effectLst/>
                              <a:latin typeface="Cambria Math" panose="02040503050406030204" pitchFamily="18" charset="0"/>
                            </a:rPr>
                            <m:t>=1</m:t>
                          </m:r>
                        </m:sub>
                        <m:sup>
                          <m:r>
                            <a:rPr lang="en-US" sz="2400" i="1">
                              <a:effectLst/>
                              <a:latin typeface="Cambria Math" panose="02040503050406030204" pitchFamily="18" charset="0"/>
                            </a:rPr>
                            <m:t>𝑚</m:t>
                          </m:r>
                        </m:sup>
                        <m:e>
                          <m:sSub>
                            <m:sSubPr>
                              <m:ctrlPr>
                                <a:rPr lang="en-US" sz="2400" i="1">
                                  <a:effectLst/>
                                  <a:latin typeface="Cambria Math" panose="02040503050406030204" pitchFamily="18" charset="0"/>
                                </a:rPr>
                              </m:ctrlPr>
                            </m:sSubPr>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𝑖</m:t>
                                  </m:r>
                                </m:sub>
                              </m:sSub>
                              <m:r>
                                <a:rPr lang="en-US" sz="2400" i="1">
                                  <a:effectLst/>
                                  <a:latin typeface="Cambria Math" panose="02040503050406030204" pitchFamily="18" charset="0"/>
                                </a:rPr>
                                <m:t>𝑎</m:t>
                              </m:r>
                            </m:e>
                            <m:sub>
                              <m:r>
                                <a:rPr lang="en-US" sz="2400" i="1">
                                  <a:effectLst/>
                                  <a:latin typeface="Cambria Math" panose="02040503050406030204" pitchFamily="18" charset="0"/>
                                </a:rPr>
                                <m:t>𝑖𝑘</m:t>
                              </m:r>
                            </m:sub>
                          </m:sSub>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𝜎</m:t>
                                  </m:r>
                                </m:e>
                                <m:sub>
                                  <m:r>
                                    <a:rPr lang="en-US" sz="2400" i="1">
                                      <a:effectLst/>
                                      <a:latin typeface="Cambria Math" panose="02040503050406030204" pitchFamily="18" charset="0"/>
                                    </a:rPr>
                                    <m:t>𝑘</m:t>
                                  </m:r>
                                </m:sub>
                              </m:sSub>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e>
                      </m:nary>
                    </m:oMath>
                    <m:oMath xmlns:m="http://schemas.openxmlformats.org/officeDocument/2006/math">
                      <m:sSub>
                        <m:sSubPr>
                          <m:ctrlPr>
                            <a:rPr lang="en-US" sz="2400" i="1">
                              <a:effectLst/>
                              <a:latin typeface="Cambria Math" panose="02040503050406030204" pitchFamily="18" charset="0"/>
                            </a:rPr>
                          </m:ctrlPr>
                        </m:sSubPr>
                        <m:e>
                          <m:acc>
                            <m:accPr>
                              <m:chr m:val="̅"/>
                              <m:ctrlPr>
                                <a:rPr lang="en-US" sz="2400" i="1">
                                  <a:effectLst/>
                                  <a:latin typeface="Cambria Math" panose="02040503050406030204" pitchFamily="18" charset="0"/>
                                </a:rPr>
                              </m:ctrlPr>
                            </m:accPr>
                            <m:e>
                              <m:r>
                                <a:rPr lang="en-US" sz="2400" i="1">
                                  <a:effectLst/>
                                  <a:latin typeface="Cambria Math" panose="02040503050406030204" pitchFamily="18" charset="0"/>
                                </a:rPr>
                                <m:t>𝜎</m:t>
                              </m:r>
                            </m:e>
                          </m:acc>
                        </m:e>
                        <m:sub>
                          <m:r>
                            <a:rPr lang="en-US" sz="2400" i="1">
                              <a:effectLst/>
                              <a:latin typeface="Cambria Math" panose="02040503050406030204" pitchFamily="18" charset="0"/>
                            </a:rPr>
                            <m:t>𝑗</m:t>
                          </m:r>
                        </m:sub>
                      </m:sSub>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𝑗</m:t>
                          </m:r>
                        </m:sub>
                      </m:sSub>
                      <m:r>
                        <a:rPr lang="en-US" sz="2400" i="1">
                          <a:effectLst/>
                          <a:latin typeface="Cambria Math" panose="02040503050406030204" pitchFamily="18" charset="0"/>
                        </a:rPr>
                        <m:t>−</m:t>
                      </m:r>
                      <m:d>
                        <m:dPr>
                          <m:begChr m:val="["/>
                          <m:endChr m:val="]"/>
                          <m:ctrlPr>
                            <a:rPr lang="en-US" sz="2400" i="1">
                              <a:effectLst/>
                              <a:latin typeface="Cambria Math" panose="02040503050406030204" pitchFamily="18" charset="0"/>
                            </a:rPr>
                          </m:ctrlPr>
                        </m:dPr>
                        <m:e>
                          <m:nary>
                            <m:naryPr>
                              <m:chr m:val="∑"/>
                              <m:limLoc m:val="undOvr"/>
                              <m:ctrlPr>
                                <a:rPr lang="en-US" sz="2400" i="1">
                                  <a:effectLst/>
                                  <a:latin typeface="Cambria Math" panose="02040503050406030204" pitchFamily="18" charset="0"/>
                                </a:rPr>
                              </m:ctrlPr>
                            </m:naryPr>
                            <m:sub>
                              <m:r>
                                <a:rPr lang="en-US" sz="2400" i="1">
                                  <a:effectLst/>
                                  <a:latin typeface="Cambria Math" panose="02040503050406030204" pitchFamily="18" charset="0"/>
                                </a:rPr>
                                <m:t>𝑖</m:t>
                              </m:r>
                              <m:r>
                                <a:rPr lang="en-US" sz="2400" i="1">
                                  <a:effectLst/>
                                  <a:latin typeface="Cambria Math" panose="02040503050406030204" pitchFamily="18" charset="0"/>
                                </a:rPr>
                                <m:t>=1</m:t>
                              </m:r>
                            </m:sub>
                            <m:sup>
                              <m:r>
                                <a:rPr lang="en-US" sz="2400" i="1">
                                  <a:effectLst/>
                                  <a:latin typeface="Cambria Math" panose="02040503050406030204" pitchFamily="18" charset="0"/>
                                </a:rPr>
                                <m:t>𝑙</m:t>
                              </m:r>
                              <m:r>
                                <a:rPr lang="en-US" sz="2400" i="1">
                                  <a:effectLst/>
                                  <a:latin typeface="Cambria Math" panose="02040503050406030204" pitchFamily="18" charset="0"/>
                                </a:rPr>
                                <m:t>−1</m:t>
                              </m:r>
                            </m:sup>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𝑖</m:t>
                                  </m:r>
                                </m:sub>
                              </m:sSub>
                            </m:e>
                          </m:nary>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𝑖𝑗</m:t>
                              </m:r>
                            </m:sub>
                          </m:sSub>
                          <m:r>
                            <a:rPr lang="en-US" sz="2400" i="1">
                              <a:effectLst/>
                              <a:latin typeface="Cambria Math" panose="02040503050406030204" pitchFamily="18" charset="0"/>
                            </a:rPr>
                            <m:t>+</m:t>
                          </m:r>
                          <m:nary>
                            <m:naryPr>
                              <m:chr m:val="∑"/>
                              <m:limLoc m:val="undOvr"/>
                              <m:ctrlPr>
                                <a:rPr lang="en-US" sz="2400" i="1">
                                  <a:effectLst/>
                                  <a:latin typeface="Cambria Math" panose="02040503050406030204" pitchFamily="18" charset="0"/>
                                </a:rPr>
                              </m:ctrlPr>
                            </m:naryPr>
                            <m:sub>
                              <m:r>
                                <a:rPr lang="en-US" sz="2400" i="1">
                                  <a:effectLst/>
                                  <a:latin typeface="Cambria Math" panose="02040503050406030204" pitchFamily="18" charset="0"/>
                                </a:rPr>
                                <m:t>𝑖</m:t>
                              </m:r>
                              <m:r>
                                <a:rPr lang="en-US" sz="2400" i="1">
                                  <a:effectLst/>
                                  <a:latin typeface="Cambria Math" panose="02040503050406030204" pitchFamily="18" charset="0"/>
                                </a:rPr>
                                <m:t>=</m:t>
                              </m:r>
                              <m:r>
                                <a:rPr lang="en-US" sz="2400" i="1">
                                  <a:effectLst/>
                                  <a:latin typeface="Cambria Math" panose="02040503050406030204" pitchFamily="18" charset="0"/>
                                </a:rPr>
                                <m:t>𝑙</m:t>
                              </m:r>
                              <m:r>
                                <a:rPr lang="en-US" sz="2400" i="1">
                                  <a:effectLst/>
                                  <a:latin typeface="Cambria Math" panose="02040503050406030204" pitchFamily="18" charset="0"/>
                                </a:rPr>
                                <m:t>+1</m:t>
                              </m:r>
                            </m:sub>
                            <m:sup>
                              <m:r>
                                <a:rPr lang="en-US" sz="2400" i="1">
                                  <a:effectLst/>
                                  <a:latin typeface="Cambria Math" panose="02040503050406030204" pitchFamily="18" charset="0"/>
                                </a:rPr>
                                <m:t>𝑚</m:t>
                              </m:r>
                            </m:sup>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𝑖</m:t>
                                  </m:r>
                                </m:sub>
                              </m:sSub>
                            </m:e>
                          </m:nary>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𝑖𝑗</m:t>
                              </m:r>
                            </m:sub>
                          </m:sSub>
                        </m:e>
                      </m:d>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𝑙𝑗</m:t>
                              </m:r>
                            </m:sub>
                          </m:sSub>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d>
                        <m:dPr>
                          <m:begChr m:val="["/>
                          <m:endChr m:val="]"/>
                          <m:ctrlPr>
                            <a:rPr lang="en-US" sz="2400" i="1">
                              <a:effectLst/>
                              <a:latin typeface="Cambria Math" panose="02040503050406030204" pitchFamily="18" charset="0"/>
                            </a:rPr>
                          </m:ctrlPr>
                        </m:dPr>
                        <m:e>
                          <m:r>
                            <a:rPr lang="en-US" sz="2400" i="1">
                              <a:effectLst/>
                              <a:latin typeface="Cambria Math" panose="02040503050406030204" pitchFamily="18" charset="0"/>
                            </a:rPr>
                            <m:t>−</m:t>
                          </m:r>
                          <m:nary>
                            <m:naryPr>
                              <m:chr m:val="∑"/>
                              <m:limLoc m:val="undOvr"/>
                              <m:ctrlPr>
                                <a:rPr lang="en-US" sz="2400" i="1">
                                  <a:effectLst/>
                                  <a:latin typeface="Cambria Math" panose="02040503050406030204" pitchFamily="18" charset="0"/>
                                </a:rPr>
                              </m:ctrlPr>
                            </m:naryPr>
                            <m:sub>
                              <m:r>
                                <a:rPr lang="en-US" sz="2400" i="1">
                                  <a:effectLst/>
                                  <a:latin typeface="Cambria Math" panose="02040503050406030204" pitchFamily="18" charset="0"/>
                                </a:rPr>
                                <m:t>𝑖</m:t>
                              </m:r>
                              <m:r>
                                <a:rPr lang="en-US" sz="2400" i="1">
                                  <a:effectLst/>
                                  <a:latin typeface="Cambria Math" panose="02040503050406030204" pitchFamily="18" charset="0"/>
                                </a:rPr>
                                <m:t>=1</m:t>
                              </m:r>
                            </m:sub>
                            <m:sup>
                              <m:r>
                                <a:rPr lang="en-US" sz="2400" i="1">
                                  <a:effectLst/>
                                  <a:latin typeface="Cambria Math" panose="02040503050406030204" pitchFamily="18" charset="0"/>
                                </a:rPr>
                                <m:t>𝑙</m:t>
                              </m:r>
                              <m:r>
                                <a:rPr lang="en-US" sz="2400" i="1">
                                  <a:effectLst/>
                                  <a:latin typeface="Cambria Math" panose="02040503050406030204" pitchFamily="18" charset="0"/>
                                </a:rPr>
                                <m:t>−1</m:t>
                              </m:r>
                            </m:sup>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𝑖</m:t>
                                  </m:r>
                                </m:sub>
                              </m:sSub>
                            </m:e>
                          </m:nary>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𝑖𝑘</m:t>
                              </m:r>
                            </m:sub>
                          </m:sSub>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𝑘</m:t>
                              </m:r>
                            </m:sub>
                          </m:sSub>
                          <m:r>
                            <a:rPr lang="en-US" sz="2400" i="1">
                              <a:effectLst/>
                              <a:latin typeface="Cambria Math" panose="02040503050406030204" pitchFamily="18" charset="0"/>
                            </a:rPr>
                            <m:t>−</m:t>
                          </m:r>
                          <m:nary>
                            <m:naryPr>
                              <m:chr m:val="∑"/>
                              <m:limLoc m:val="undOvr"/>
                              <m:ctrlPr>
                                <a:rPr lang="en-US" sz="2400" i="1">
                                  <a:effectLst/>
                                  <a:latin typeface="Cambria Math" panose="02040503050406030204" pitchFamily="18" charset="0"/>
                                </a:rPr>
                              </m:ctrlPr>
                            </m:naryPr>
                            <m:sub>
                              <m:r>
                                <a:rPr lang="en-US" sz="2400" i="1">
                                  <a:effectLst/>
                                  <a:latin typeface="Cambria Math" panose="02040503050406030204" pitchFamily="18" charset="0"/>
                                </a:rPr>
                                <m:t>𝑖</m:t>
                              </m:r>
                              <m:r>
                                <a:rPr lang="en-US" sz="2400" i="1">
                                  <a:effectLst/>
                                  <a:latin typeface="Cambria Math" panose="02040503050406030204" pitchFamily="18" charset="0"/>
                                </a:rPr>
                                <m:t>=</m:t>
                              </m:r>
                              <m:r>
                                <a:rPr lang="en-US" sz="2400" i="1">
                                  <a:effectLst/>
                                  <a:latin typeface="Cambria Math" panose="02040503050406030204" pitchFamily="18" charset="0"/>
                                </a:rPr>
                                <m:t>𝑙</m:t>
                              </m:r>
                              <m:r>
                                <a:rPr lang="en-US" sz="2400" i="1">
                                  <a:effectLst/>
                                  <a:latin typeface="Cambria Math" panose="02040503050406030204" pitchFamily="18" charset="0"/>
                                </a:rPr>
                                <m:t>+1</m:t>
                              </m:r>
                            </m:sub>
                            <m:sup>
                              <m:r>
                                <a:rPr lang="en-US" sz="2400" i="1">
                                  <a:effectLst/>
                                  <a:latin typeface="Cambria Math" panose="02040503050406030204" pitchFamily="18" charset="0"/>
                                </a:rPr>
                                <m:t>𝑚</m:t>
                              </m:r>
                            </m:sup>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𝑖</m:t>
                                  </m:r>
                                </m:sub>
                              </m:sSub>
                            </m:e>
                          </m:nary>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𝑖𝑘</m:t>
                              </m:r>
                            </m:sub>
                          </m:sSub>
                        </m:e>
                      </m:d>
                    </m:oMath>
                  </m:oMathPara>
                </a14:m>
                <a:endParaRPr lang="en-US" sz="2400" dirty="0">
                  <a:effectLst/>
                  <a:latin typeface="+mn-ea"/>
                </a:endParaRPr>
              </a:p>
              <a:p>
                <a:pPr indent="609600">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rPr>
                        <m:t>=</m:t>
                      </m:r>
                      <m:d>
                        <m:dPr>
                          <m:ctrlPr>
                            <a:rPr lang="en-US" sz="2400" i="1">
                              <a:effectLst/>
                              <a:latin typeface="Cambria Math" panose="02040503050406030204" pitchFamily="18" charset="0"/>
                            </a:rPr>
                          </m:ctrlPr>
                        </m:dPr>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𝑗</m:t>
                              </m:r>
                            </m:sub>
                          </m:sSub>
                          <m:r>
                            <a:rPr lang="en-US" sz="2400" i="1">
                              <a:effectLst/>
                              <a:latin typeface="Cambria Math" panose="02040503050406030204" pitchFamily="18" charset="0"/>
                            </a:rPr>
                            <m:t>−</m:t>
                          </m:r>
                          <m:nary>
                            <m:naryPr>
                              <m:chr m:val="∑"/>
                              <m:limLoc m:val="undOvr"/>
                              <m:ctrlPr>
                                <a:rPr lang="en-US" sz="2400" i="1">
                                  <a:effectLst/>
                                  <a:latin typeface="Cambria Math" panose="02040503050406030204" pitchFamily="18" charset="0"/>
                                </a:rPr>
                              </m:ctrlPr>
                            </m:naryPr>
                            <m:sub>
                              <m:r>
                                <a:rPr lang="en-US" sz="2400" i="1">
                                  <a:effectLst/>
                                  <a:latin typeface="Cambria Math" panose="02040503050406030204" pitchFamily="18" charset="0"/>
                                </a:rPr>
                                <m:t>𝑖</m:t>
                              </m:r>
                              <m:r>
                                <a:rPr lang="en-US" sz="2400" i="1">
                                  <a:effectLst/>
                                  <a:latin typeface="Cambria Math" panose="02040503050406030204" pitchFamily="18" charset="0"/>
                                </a:rPr>
                                <m:t>=1</m:t>
                              </m:r>
                            </m:sub>
                            <m:sup>
                              <m:r>
                                <a:rPr lang="en-US" sz="2400" i="1">
                                  <a:effectLst/>
                                  <a:latin typeface="Cambria Math" panose="02040503050406030204" pitchFamily="18" charset="0"/>
                                </a:rPr>
                                <m:t>𝑚</m:t>
                              </m:r>
                            </m:sup>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𝑖</m:t>
                                  </m:r>
                                </m:sub>
                              </m:sSub>
                            </m:e>
                          </m:nary>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𝑖𝑗</m:t>
                              </m:r>
                            </m:sub>
                          </m:sSub>
                        </m:e>
                      </m:d>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𝑙𝑗</m:t>
                              </m:r>
                            </m:sub>
                          </m:sSub>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d>
                        <m:dPr>
                          <m:ctrlPr>
                            <a:rPr lang="en-US" sz="2400" i="1">
                              <a:effectLst/>
                              <a:latin typeface="Cambria Math" panose="02040503050406030204" pitchFamily="18" charset="0"/>
                            </a:rPr>
                          </m:ctrlPr>
                        </m:dPr>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𝑘</m:t>
                              </m:r>
                            </m:sub>
                          </m:sSub>
                          <m:r>
                            <a:rPr lang="en-US" sz="2400" i="1">
                              <a:effectLst/>
                              <a:latin typeface="Cambria Math" panose="02040503050406030204" pitchFamily="18" charset="0"/>
                            </a:rPr>
                            <m:t>−</m:t>
                          </m:r>
                          <m:nary>
                            <m:naryPr>
                              <m:chr m:val="∑"/>
                              <m:limLoc m:val="undOvr"/>
                              <m:ctrlPr>
                                <a:rPr lang="en-US" sz="2400" i="1">
                                  <a:effectLst/>
                                  <a:latin typeface="Cambria Math" panose="02040503050406030204" pitchFamily="18" charset="0"/>
                                </a:rPr>
                              </m:ctrlPr>
                            </m:naryPr>
                            <m:sub>
                              <m:r>
                                <a:rPr lang="en-US" sz="2400" i="1">
                                  <a:effectLst/>
                                  <a:latin typeface="Cambria Math" panose="02040503050406030204" pitchFamily="18" charset="0"/>
                                </a:rPr>
                                <m:t>𝑖</m:t>
                              </m:r>
                              <m:r>
                                <a:rPr lang="en-US" sz="2400" i="1">
                                  <a:effectLst/>
                                  <a:latin typeface="Cambria Math" panose="02040503050406030204" pitchFamily="18" charset="0"/>
                                </a:rPr>
                                <m:t>=1</m:t>
                              </m:r>
                            </m:sub>
                            <m:sup>
                              <m:r>
                                <a:rPr lang="en-US" sz="2400" i="1">
                                  <a:effectLst/>
                                  <a:latin typeface="Cambria Math" panose="02040503050406030204" pitchFamily="18" charset="0"/>
                                </a:rPr>
                                <m:t>𝑚</m:t>
                              </m:r>
                            </m:sup>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𝑐</m:t>
                                  </m:r>
                                </m:e>
                                <m:sub>
                                  <m:r>
                                    <a:rPr lang="en-US" sz="2400" i="1">
                                      <a:effectLst/>
                                      <a:latin typeface="Cambria Math" panose="02040503050406030204" pitchFamily="18" charset="0"/>
                                    </a:rPr>
                                    <m:t>𝑖</m:t>
                                  </m:r>
                                </m:sub>
                              </m:sSub>
                            </m:e>
                          </m:nary>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𝑖𝑘</m:t>
                              </m:r>
                            </m:sub>
                          </m:sSub>
                        </m:e>
                      </m:d>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𝜎</m:t>
                          </m:r>
                        </m:e>
                        <m:sub>
                          <m:r>
                            <a:rPr lang="en-US" sz="2400" i="1">
                              <a:effectLst/>
                              <a:latin typeface="Cambria Math" panose="02040503050406030204" pitchFamily="18" charset="0"/>
                            </a:rPr>
                            <m:t>𝑗</m:t>
                          </m:r>
                        </m:sub>
                      </m:sSub>
                      <m:r>
                        <a:rPr lang="en-US" sz="2400" i="1">
                          <a:effectLst/>
                          <a:latin typeface="Cambria Math" panose="02040503050406030204" pitchFamily="18" charset="0"/>
                        </a:rPr>
                        <m:t>−</m:t>
                      </m:r>
                      <m:f>
                        <m:fPr>
                          <m:ctrlPr>
                            <a:rPr lang="en-US" sz="2400" i="1">
                              <a:effectLst/>
                              <a:latin typeface="Cambria Math" panose="02040503050406030204" pitchFamily="18" charset="0"/>
                            </a:rPr>
                          </m:ctrlPr>
                        </m:fPr>
                        <m:num>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𝑙𝑗</m:t>
                              </m:r>
                            </m:sub>
                          </m:sSub>
                        </m:num>
                        <m:den>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𝑎</m:t>
                              </m:r>
                            </m:e>
                            <m:sub>
                              <m:r>
                                <a:rPr lang="en-US" sz="2400" i="1">
                                  <a:effectLst/>
                                  <a:latin typeface="Cambria Math" panose="02040503050406030204" pitchFamily="18" charset="0"/>
                                </a:rPr>
                                <m:t>𝑙𝑘</m:t>
                              </m:r>
                            </m:sub>
                          </m:sSub>
                        </m:den>
                      </m:f>
                      <m:r>
                        <a:rPr lang="en-US" sz="2400" i="1">
                          <a:effectLst/>
                          <a:latin typeface="Cambria Math" panose="020405030504060302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rPr>
                            <m:t>𝜎</m:t>
                          </m:r>
                        </m:e>
                        <m:sub>
                          <m:r>
                            <a:rPr lang="en-US" sz="2400" i="1">
                              <a:effectLst/>
                              <a:latin typeface="Cambria Math" panose="02040503050406030204" pitchFamily="18" charset="0"/>
                            </a:rPr>
                            <m:t>𝑘</m:t>
                          </m:r>
                        </m:sub>
                      </m:sSub>
                    </m:oMath>
                  </m:oMathPara>
                </a14:m>
                <a:endParaRPr lang="en-US" sz="2400" dirty="0">
                  <a:effectLst/>
                  <a:latin typeface="+mn-ea"/>
                </a:endParaRPr>
              </a:p>
              <a:p>
                <a:pPr>
                  <a:lnSpc>
                    <a:spcPct val="150000"/>
                  </a:lnSpc>
                </a:pPr>
                <a:r>
                  <a:rPr lang="zh-CN" sz="2400" dirty="0">
                    <a:effectLst/>
                    <a:latin typeface="+mn-ea"/>
                    <a:cs typeface="Times New Roman" panose="02020603050405020304" pitchFamily="18" charset="0"/>
                  </a:rPr>
                  <a:t>由上述两式可以看到，</a:t>
                </a:r>
                <a:r>
                  <a:rPr lang="zh-CN" altLang="en-US" sz="2400" dirty="0">
                    <a:solidFill>
                      <a:srgbClr val="FF0000"/>
                    </a:solidFill>
                    <a:effectLst/>
                    <a:latin typeface="+mn-ea"/>
                    <a:cs typeface="Times New Roman" panose="02020603050405020304" pitchFamily="18" charset="0"/>
                  </a:rPr>
                  <a:t>新表</a:t>
                </a:r>
                <a:r>
                  <a:rPr lang="zh-CN" sz="2400" dirty="0">
                    <a:solidFill>
                      <a:srgbClr val="FF0000"/>
                    </a:solidFill>
                    <a:effectLst/>
                    <a:latin typeface="+mn-ea"/>
                    <a:cs typeface="Times New Roman" panose="02020603050405020304" pitchFamily="18" charset="0"/>
                  </a:rPr>
                  <a:t>中的检验数行实际是将</a:t>
                </a:r>
                <a:r>
                  <a:rPr lang="zh-CN" altLang="en-US" sz="2400" dirty="0">
                    <a:solidFill>
                      <a:srgbClr val="FF0000"/>
                    </a:solidFill>
                    <a:effectLst/>
                    <a:latin typeface="+mn-ea"/>
                    <a:cs typeface="Times New Roman" panose="02020603050405020304" pitchFamily="18" charset="0"/>
                  </a:rPr>
                  <a:t>新表</a:t>
                </a:r>
                <a:r>
                  <a:rPr lang="zh-CN" sz="2400" dirty="0">
                    <a:solidFill>
                      <a:srgbClr val="FF0000"/>
                    </a:solidFill>
                    <a:effectLst/>
                    <a:latin typeface="+mn-ea"/>
                    <a:cs typeface="Times New Roman" panose="02020603050405020304" pitchFamily="18" charset="0"/>
                  </a:rPr>
                  <a:t>中刚计算得到的第</a:t>
                </a:r>
                <a14:m>
                  <m:oMath xmlns:m="http://schemas.openxmlformats.org/officeDocument/2006/math">
                    <m:r>
                      <a:rPr lang="zh-CN" altLang="en-US" i="1">
                        <a:latin typeface="Cambria Math" panose="02040503050406030204" pitchFamily="18" charset="0"/>
                      </a:rPr>
                      <m:t>𝑙</m:t>
                    </m:r>
                  </m:oMath>
                </a14:m>
                <a:r>
                  <a:rPr lang="zh-CN" sz="2400" dirty="0">
                    <a:solidFill>
                      <a:srgbClr val="FF0000"/>
                    </a:solidFill>
                    <a:effectLst/>
                    <a:latin typeface="+mn-ea"/>
                    <a:cs typeface="Times New Roman" panose="02020603050405020304" pitchFamily="18" charset="0"/>
                  </a:rPr>
                  <a:t>行数字乘上</a:t>
                </a:r>
                <a14:m>
                  <m:oMath xmlns:m="http://schemas.openxmlformats.org/officeDocument/2006/math">
                    <m:r>
                      <a:rPr lang="en-US" sz="2400" i="0">
                        <a:solidFill>
                          <a:srgbClr val="FF0000"/>
                        </a:solidFill>
                        <a:effectLst/>
                        <a:latin typeface="Cambria Math" panose="02040503050406030204" pitchFamily="18" charset="0"/>
                        <a:cs typeface="Times New Roman" panose="02020603050405020304" pitchFamily="18" charset="0"/>
                      </a:rPr>
                      <m:t>(−</m:t>
                    </m:r>
                    <m:sSub>
                      <m:sSubPr>
                        <m:ctrlPr>
                          <a:rPr lang="en-US" sz="2400" i="1">
                            <a:solidFill>
                              <a:srgbClr val="FF0000"/>
                            </a:solidFill>
                            <a:effectLst/>
                            <a:latin typeface="Cambria Math" panose="02040503050406030204" pitchFamily="18" charset="0"/>
                          </a:rPr>
                        </m:ctrlPr>
                      </m:sSubPr>
                      <m:e>
                        <m:r>
                          <a:rPr lang="en-US" sz="2400" i="1">
                            <a:solidFill>
                              <a:srgbClr val="FF0000"/>
                            </a:solidFill>
                            <a:effectLst/>
                            <a:latin typeface="Cambria Math" panose="02040503050406030204" pitchFamily="18" charset="0"/>
                            <a:cs typeface="Times New Roman" panose="02020603050405020304" pitchFamily="18" charset="0"/>
                          </a:rPr>
                          <m:t>𝜎</m:t>
                        </m:r>
                      </m:e>
                      <m:sub>
                        <m:r>
                          <a:rPr lang="en-US" sz="2400" i="1">
                            <a:solidFill>
                              <a:srgbClr val="FF0000"/>
                            </a:solidFill>
                            <a:effectLst/>
                            <a:latin typeface="Cambria Math" panose="02040503050406030204" pitchFamily="18" charset="0"/>
                            <a:cs typeface="Times New Roman" panose="02020603050405020304" pitchFamily="18" charset="0"/>
                          </a:rPr>
                          <m:t>𝑘</m:t>
                        </m:r>
                      </m:sub>
                    </m:sSub>
                    <m:r>
                      <a:rPr lang="en-US" sz="2400" i="0">
                        <a:solidFill>
                          <a:srgbClr val="FF0000"/>
                        </a:solidFill>
                        <a:effectLst/>
                        <a:latin typeface="Cambria Math" panose="02040503050406030204" pitchFamily="18" charset="0"/>
                        <a:cs typeface="Times New Roman" panose="02020603050405020304" pitchFamily="18" charset="0"/>
                      </a:rPr>
                      <m:t>)</m:t>
                    </m:r>
                  </m:oMath>
                </a14:m>
                <a:r>
                  <a:rPr lang="zh-CN" sz="2400" dirty="0">
                    <a:solidFill>
                      <a:srgbClr val="FF0000"/>
                    </a:solidFill>
                    <a:effectLst/>
                    <a:latin typeface="+mn-ea"/>
                    <a:cs typeface="Times New Roman" panose="02020603050405020304" pitchFamily="18" charset="0"/>
                  </a:rPr>
                  <a:t>加到</a:t>
                </a:r>
                <a:r>
                  <a:rPr lang="zh-CN" altLang="en-US" sz="2400" dirty="0">
                    <a:solidFill>
                      <a:srgbClr val="FF0000"/>
                    </a:solidFill>
                    <a:effectLst/>
                    <a:latin typeface="+mn-ea"/>
                    <a:cs typeface="Times New Roman" panose="02020603050405020304" pitchFamily="18" charset="0"/>
                  </a:rPr>
                  <a:t>旧表</a:t>
                </a:r>
                <a:r>
                  <a:rPr lang="zh-CN" sz="2400" dirty="0">
                    <a:solidFill>
                      <a:srgbClr val="FF0000"/>
                    </a:solidFill>
                    <a:effectLst/>
                    <a:latin typeface="+mn-ea"/>
                    <a:cs typeface="Times New Roman" panose="02020603050405020304" pitchFamily="18" charset="0"/>
                  </a:rPr>
                  <a:t>的检验数行而得到的。</a:t>
                </a:r>
                <a:r>
                  <a:rPr lang="en-US" sz="2400" dirty="0">
                    <a:effectLst/>
                    <a:latin typeface="+mn-ea"/>
                  </a:rPr>
                  <a:t> </a:t>
                </a:r>
                <a:endParaRPr lang="en-US" sz="2400" dirty="0">
                  <a:latin typeface="+mn-ea"/>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63352" y="-40604"/>
                <a:ext cx="11665296" cy="6939207"/>
              </a:xfrm>
              <a:prstGeom prst="rect">
                <a:avLst/>
              </a:prstGeom>
              <a:blipFill rotWithShape="1">
                <a:blip r:embed="rId2"/>
                <a:stretch>
                  <a:fillRect l="-4" t="9" r="1" b="9"/>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
          <p:cNvSpPr>
            <a:spLocks noGrp="1"/>
          </p:cNvSpPr>
          <p:nvPr>
            <p:ph idx="1"/>
          </p:nvPr>
        </p:nvSpPr>
        <p:spPr>
          <a:xfrm>
            <a:off x="1981200" y="571501"/>
            <a:ext cx="8229600" cy="5554663"/>
          </a:xfrm>
        </p:spPr>
        <p:txBody>
          <a:bodyPr/>
          <a:lstStyle/>
          <a:p>
            <a:pPr>
              <a:buFontTx/>
              <a:buNone/>
            </a:pPr>
            <a:r>
              <a:rPr lang="en-US" altLang="zh-CN"/>
              <a:t> </a:t>
            </a:r>
            <a:endParaRPr lang="zh-CN" altLang="en-US"/>
          </a:p>
        </p:txBody>
      </p:sp>
      <p:sp>
        <p:nvSpPr>
          <p:cNvPr id="4" name="TextBox 3"/>
          <p:cNvSpPr txBox="1"/>
          <p:nvPr/>
        </p:nvSpPr>
        <p:spPr>
          <a:xfrm>
            <a:off x="191344" y="283377"/>
            <a:ext cx="7583676" cy="576248"/>
          </a:xfrm>
          <a:prstGeom prst="rect">
            <a:avLst/>
          </a:prstGeom>
          <a:noFill/>
        </p:spPr>
        <p:txBody>
          <a:bodyPr wrap="square">
            <a:spAutoFit/>
          </a:bodyPr>
          <a:lstStyle/>
          <a:p>
            <a:pPr indent="609600">
              <a:lnSpc>
                <a:spcPct val="150000"/>
              </a:lnSpc>
              <a:spcBef>
                <a:spcPts val="600"/>
              </a:spcBef>
              <a:spcAft>
                <a:spcPts val="600"/>
              </a:spcAft>
            </a:pPr>
            <a:r>
              <a:rPr lang="zh-CN" sz="2400" dirty="0">
                <a:effectLst/>
                <a:latin typeface="+mn-ea"/>
              </a:rPr>
              <a:t>第四步：重复第</a:t>
            </a:r>
            <a:r>
              <a:rPr lang="en-US" sz="2400" dirty="0">
                <a:effectLst/>
                <a:latin typeface="+mn-ea"/>
              </a:rPr>
              <a:t>2</a:t>
            </a:r>
            <a:r>
              <a:rPr lang="zh-CN" sz="2400" dirty="0">
                <a:effectLst/>
                <a:latin typeface="+mn-ea"/>
              </a:rPr>
              <a:t>、</a:t>
            </a:r>
            <a:r>
              <a:rPr lang="en-US" sz="2400" dirty="0">
                <a:effectLst/>
                <a:latin typeface="+mn-ea"/>
              </a:rPr>
              <a:t>3</a:t>
            </a:r>
            <a:r>
              <a:rPr lang="zh-CN" sz="2400" dirty="0">
                <a:effectLst/>
                <a:latin typeface="+mn-ea"/>
              </a:rPr>
              <a:t>两步，直到找到最优解。</a:t>
            </a:r>
            <a:endParaRPr lang="en-US" sz="2400" dirty="0">
              <a:effectLst/>
              <a:latin typeface="+mn-ea"/>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1775520" y="1147749"/>
              <a:ext cx="8640959" cy="5578560"/>
            </p:xfrm>
            <a:graphic>
              <a:graphicData uri="http://schemas.openxmlformats.org/drawingml/2006/table">
                <a:tbl>
                  <a:tblPr firstRow="1" firstCol="1" bandRow="1"/>
                  <a:tblGrid>
                    <a:gridCol w="473901">
                      <a:extLst>
                        <a:ext uri="{9D8B030D-6E8A-4147-A177-3AD203B41FA5}">
                          <a16:colId xmlns:a16="http://schemas.microsoft.com/office/drawing/2014/main" val="20000"/>
                        </a:ext>
                      </a:extLst>
                    </a:gridCol>
                    <a:gridCol w="501498">
                      <a:extLst>
                        <a:ext uri="{9D8B030D-6E8A-4147-A177-3AD203B41FA5}">
                          <a16:colId xmlns:a16="http://schemas.microsoft.com/office/drawing/2014/main" val="20001"/>
                        </a:ext>
                      </a:extLst>
                    </a:gridCol>
                    <a:gridCol w="1563494">
                      <a:extLst>
                        <a:ext uri="{9D8B030D-6E8A-4147-A177-3AD203B41FA5}">
                          <a16:colId xmlns:a16="http://schemas.microsoft.com/office/drawing/2014/main" val="20002"/>
                        </a:ext>
                      </a:extLst>
                    </a:gridCol>
                    <a:gridCol w="423465">
                      <a:extLst>
                        <a:ext uri="{9D8B030D-6E8A-4147-A177-3AD203B41FA5}">
                          <a16:colId xmlns:a16="http://schemas.microsoft.com/office/drawing/2014/main" val="20003"/>
                        </a:ext>
                      </a:extLst>
                    </a:gridCol>
                    <a:gridCol w="401579">
                      <a:extLst>
                        <a:ext uri="{9D8B030D-6E8A-4147-A177-3AD203B41FA5}">
                          <a16:colId xmlns:a16="http://schemas.microsoft.com/office/drawing/2014/main" val="20004"/>
                        </a:ext>
                      </a:extLst>
                    </a:gridCol>
                    <a:gridCol w="805061">
                      <a:extLst>
                        <a:ext uri="{9D8B030D-6E8A-4147-A177-3AD203B41FA5}">
                          <a16:colId xmlns:a16="http://schemas.microsoft.com/office/drawing/2014/main" val="20005"/>
                        </a:ext>
                      </a:extLst>
                    </a:gridCol>
                    <a:gridCol w="411095">
                      <a:extLst>
                        <a:ext uri="{9D8B030D-6E8A-4147-A177-3AD203B41FA5}">
                          <a16:colId xmlns:a16="http://schemas.microsoft.com/office/drawing/2014/main" val="20006"/>
                        </a:ext>
                      </a:extLst>
                    </a:gridCol>
                    <a:gridCol w="489127">
                      <a:extLst>
                        <a:ext uri="{9D8B030D-6E8A-4147-A177-3AD203B41FA5}">
                          <a16:colId xmlns:a16="http://schemas.microsoft.com/office/drawing/2014/main" val="20007"/>
                        </a:ext>
                      </a:extLst>
                    </a:gridCol>
                    <a:gridCol w="475396">
                      <a:extLst>
                        <a:ext uri="{9D8B030D-6E8A-4147-A177-3AD203B41FA5}">
                          <a16:colId xmlns:a16="http://schemas.microsoft.com/office/drawing/2014/main" val="20008"/>
                        </a:ext>
                      </a:extLst>
                    </a:gridCol>
                    <a:gridCol w="1993078">
                      <a:extLst>
                        <a:ext uri="{9D8B030D-6E8A-4147-A177-3AD203B41FA5}">
                          <a16:colId xmlns:a16="http://schemas.microsoft.com/office/drawing/2014/main" val="20009"/>
                        </a:ext>
                      </a:extLst>
                    </a:gridCol>
                    <a:gridCol w="311178">
                      <a:extLst>
                        <a:ext uri="{9D8B030D-6E8A-4147-A177-3AD203B41FA5}">
                          <a16:colId xmlns:a16="http://schemas.microsoft.com/office/drawing/2014/main" val="20010"/>
                        </a:ext>
                      </a:extLst>
                    </a:gridCol>
                    <a:gridCol w="387652">
                      <a:extLst>
                        <a:ext uri="{9D8B030D-6E8A-4147-A177-3AD203B41FA5}">
                          <a16:colId xmlns:a16="http://schemas.microsoft.com/office/drawing/2014/main" val="20011"/>
                        </a:ext>
                      </a:extLst>
                    </a:gridCol>
                    <a:gridCol w="404435">
                      <a:extLst>
                        <a:ext uri="{9D8B030D-6E8A-4147-A177-3AD203B41FA5}">
                          <a16:colId xmlns:a16="http://schemas.microsoft.com/office/drawing/2014/main" val="20012"/>
                        </a:ext>
                      </a:extLst>
                    </a:gridCol>
                  </a:tblGrid>
                  <a:tr h="53202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𝑗</m:t>
                                    </m:r>
                                  </m:sub>
                                </m:sSub>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1</m:t>
                                    </m:r>
                                  </m:sub>
                                </m:sSub>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𝑙</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𝑚</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𝑗</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𝑘</m:t>
                                    </m:r>
                                  </m:sub>
                                </m:sSub>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532020">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𝐵</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a:effectLst/>
                              <a:latin typeface="Times New Roman" panose="02020603050405020304" pitchFamily="18" charset="0"/>
                              <a:ea typeface="宋体" panose="02010600030101010101" pitchFamily="2" charset="-122"/>
                            </a:rPr>
                            <a:t>基</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sz="1800" i="1">
                                        <a:effectLst/>
                                        <a:latin typeface="Cambria Math" panose="02040503050406030204" pitchFamily="18" charset="0"/>
                                        <a:ea typeface="宋体" panose="02010600030101010101" pitchFamily="2" charset="-122"/>
                                      </a:rPr>
                                    </m:ctrlPr>
                                  </m:accPr>
                                  <m:e>
                                    <m:r>
                                      <a:rPr lang="en-US" sz="1800" i="1">
                                        <a:effectLst/>
                                        <a:latin typeface="Cambria Math" panose="02040503050406030204" pitchFamily="18" charset="0"/>
                                        <a:ea typeface="宋体" panose="02010600030101010101" pitchFamily="2" charset="-122"/>
                                      </a:rPr>
                                      <m:t>𝑏</m:t>
                                    </m:r>
                                  </m:e>
                                </m:acc>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1</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𝑙</m:t>
                                    </m:r>
                                  </m:sub>
                                </m:sSub>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𝑚</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𝑗</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𝑘</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857053">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1</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1</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𝑏</m:t>
                                    </m:r>
                                  </m:e>
                                  <m:sub>
                                    <m:r>
                                      <a:rPr lang="en-US" sz="1800" i="1">
                                        <a:effectLst/>
                                        <a:latin typeface="Cambria Math" panose="02040503050406030204" pitchFamily="18" charset="0"/>
                                        <a:ea typeface="宋体" panose="02010600030101010101" pitchFamily="2" charset="-122"/>
                                      </a:rPr>
                                      <m:t>1</m:t>
                                    </m:r>
                                  </m:sub>
                                </m:sSub>
                                <m:r>
                                  <a:rPr lang="en-US" sz="1800" i="1">
                                    <a:effectLst/>
                                    <a:latin typeface="Cambria Math" panose="02040503050406030204" pitchFamily="18" charset="0"/>
                                    <a:ea typeface="宋体" panose="02010600030101010101" pitchFamily="2" charset="-122"/>
                                  </a:rPr>
                                  <m:t>−</m:t>
                                </m:r>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𝑏</m:t>
                                    </m:r>
                                  </m:e>
                                  <m:sub>
                                    <m:r>
                                      <a:rPr lang="en-US" sz="1800" i="1">
                                        <a:effectLst/>
                                        <a:latin typeface="Cambria Math" panose="02040503050406030204" pitchFamily="18" charset="0"/>
                                        <a:ea typeface="宋体" panose="02010600030101010101" pitchFamily="2" charset="-122"/>
                                      </a:rPr>
                                      <m:t>𝑙</m:t>
                                    </m:r>
                                  </m:sub>
                                </m:sSub>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1</m:t>
                                        </m:r>
                                        <m:r>
                                          <a:rPr lang="en-US" sz="1800" i="1">
                                            <a:effectLst/>
                                            <a:latin typeface="Cambria Math" panose="02040503050406030204" pitchFamily="18" charset="0"/>
                                            <a:ea typeface="宋体" panose="02010600030101010101" pitchFamily="2" charset="-122"/>
                                          </a:rPr>
                                          <m:t>𝑘</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1</m:t>
                                        </m:r>
                                        <m:r>
                                          <a:rPr lang="en-US" sz="1800" i="1">
                                            <a:effectLst/>
                                            <a:latin typeface="Cambria Math" panose="02040503050406030204" pitchFamily="18" charset="0"/>
                                            <a:ea typeface="宋体" panose="02010600030101010101" pitchFamily="2" charset="-122"/>
                                          </a:rPr>
                                          <m:t>𝑘</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0</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1</m:t>
                                    </m:r>
                                    <m:r>
                                      <a:rPr lang="en-US" sz="1800" i="1">
                                        <a:effectLst/>
                                        <a:latin typeface="Cambria Math" panose="02040503050406030204" pitchFamily="18" charset="0"/>
                                        <a:ea typeface="宋体" panose="02010600030101010101" pitchFamily="2" charset="-122"/>
                                      </a:rPr>
                                      <m:t>𝑗</m:t>
                                    </m:r>
                                  </m:sub>
                                </m:sSub>
                                <m:r>
                                  <a:rPr lang="en-US" sz="1800" i="1">
                                    <a:effectLst/>
                                    <a:latin typeface="Cambria Math" panose="02040503050406030204" pitchFamily="18" charset="0"/>
                                    <a:ea typeface="宋体" panose="02010600030101010101" pitchFamily="2" charset="-122"/>
                                  </a:rPr>
                                  <m:t>−</m:t>
                                </m:r>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1</m:t>
                                    </m:r>
                                    <m:r>
                                      <a:rPr lang="en-US" sz="1800" i="1">
                                        <a:effectLst/>
                                        <a:latin typeface="Cambria Math" panose="02040503050406030204" pitchFamily="18" charset="0"/>
                                        <a:ea typeface="宋体" panose="02010600030101010101" pitchFamily="2" charset="-122"/>
                                      </a:rPr>
                                      <m:t>𝑘</m:t>
                                    </m:r>
                                  </m:sub>
                                </m:sSub>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𝑙𝑗</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500469">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918524">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𝑘</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𝑘</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𝑏</m:t>
                                        </m:r>
                                      </m:e>
                                      <m:sub>
                                        <m:r>
                                          <a:rPr lang="en-US" sz="1800" i="1">
                                            <a:effectLst/>
                                            <a:latin typeface="Cambria Math" panose="02040503050406030204" pitchFamily="18" charset="0"/>
                                            <a:ea typeface="宋体" panose="02010600030101010101" pitchFamily="2" charset="-122"/>
                                          </a:rPr>
                                          <m:t>𝑙</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宋体" panose="02010600030101010101" pitchFamily="2" charset="-122"/>
                                      </a:rPr>
                                    </m:ctrlPr>
                                  </m:fPr>
                                  <m:num>
                                    <m:r>
                                      <a:rPr lang="en-US" sz="1800" i="1">
                                        <a:effectLst/>
                                        <a:latin typeface="Cambria Math" panose="02040503050406030204" pitchFamily="18" charset="0"/>
                                        <a:ea typeface="宋体" panose="02010600030101010101" pitchFamily="2" charset="-122"/>
                                      </a:rPr>
                                      <m:t>1</m:t>
                                    </m:r>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𝑙𝑗</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500469">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857053">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𝑚</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𝑚</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𝑏</m:t>
                                    </m:r>
                                  </m:e>
                                  <m:sub>
                                    <m:r>
                                      <a:rPr lang="en-US" sz="1800" i="1">
                                        <a:effectLst/>
                                        <a:latin typeface="Cambria Math" panose="02040503050406030204" pitchFamily="18" charset="0"/>
                                        <a:ea typeface="宋体" panose="02010600030101010101" pitchFamily="2" charset="-122"/>
                                      </a:rPr>
                                      <m:t>𝑚</m:t>
                                    </m:r>
                                  </m:sub>
                                </m:sSub>
                                <m:r>
                                  <a:rPr lang="en-US" sz="1800" i="1">
                                    <a:effectLst/>
                                    <a:latin typeface="Cambria Math" panose="02040503050406030204" pitchFamily="18" charset="0"/>
                                    <a:ea typeface="宋体" panose="02010600030101010101" pitchFamily="2" charset="-122"/>
                                  </a:rPr>
                                  <m:t>−</m:t>
                                </m:r>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𝑏</m:t>
                                    </m:r>
                                  </m:e>
                                  <m:sub>
                                    <m:r>
                                      <a:rPr lang="en-US" sz="1800" i="1">
                                        <a:effectLst/>
                                        <a:latin typeface="Cambria Math" panose="02040503050406030204" pitchFamily="18" charset="0"/>
                                        <a:ea typeface="宋体" panose="02010600030101010101" pitchFamily="2" charset="-122"/>
                                      </a:rPr>
                                      <m:t>𝑙</m:t>
                                    </m:r>
                                  </m:sub>
                                </m:sSub>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𝑚𝑘</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𝑚𝑘</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𝑚𝑗</m:t>
                                    </m:r>
                                  </m:sub>
                                </m:sSub>
                                <m:r>
                                  <a:rPr lang="en-US" sz="1800" i="1">
                                    <a:effectLst/>
                                    <a:latin typeface="Cambria Math" panose="02040503050406030204" pitchFamily="18" charset="0"/>
                                    <a:ea typeface="宋体" panose="02010600030101010101" pitchFamily="2" charset="-122"/>
                                  </a:rPr>
                                  <m:t>−</m:t>
                                </m:r>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𝑚𝑘</m:t>
                                    </m:r>
                                  </m:sub>
                                </m:sSub>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𝑙𝑗</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857053">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𝜎</m:t>
                                    </m:r>
                                  </m:e>
                                  <m:sub>
                                    <m:r>
                                      <a:rPr lang="en-US" sz="1800" i="1">
                                        <a:effectLst/>
                                        <a:latin typeface="Cambria Math" panose="02040503050406030204" pitchFamily="18" charset="0"/>
                                        <a:ea typeface="宋体" panose="02010600030101010101" pitchFamily="2" charset="-122"/>
                                      </a:rPr>
                                      <m:t>𝑗</m:t>
                                    </m:r>
                                  </m:sub>
                                </m:sSub>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𝜎</m:t>
                                        </m:r>
                                      </m:e>
                                      <m:sub>
                                        <m:r>
                                          <a:rPr lang="en-US" sz="1800" i="1">
                                            <a:effectLst/>
                                            <a:latin typeface="Cambria Math" panose="02040503050406030204" pitchFamily="18" charset="0"/>
                                            <a:ea typeface="宋体" panose="02010600030101010101" pitchFamily="2" charset="-122"/>
                                          </a:rPr>
                                          <m:t>𝑘</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𝜎</m:t>
                                    </m:r>
                                  </m:e>
                                  <m:sub>
                                    <m:r>
                                      <a:rPr lang="en-US" sz="1800" i="1">
                                        <a:effectLst/>
                                        <a:latin typeface="Cambria Math" panose="02040503050406030204" pitchFamily="18" charset="0"/>
                                        <a:ea typeface="宋体" panose="02010600030101010101" pitchFamily="2" charset="-122"/>
                                      </a:rPr>
                                      <m:t>𝑗</m:t>
                                    </m:r>
                                  </m:sub>
                                </m:sSub>
                                <m:r>
                                  <a:rPr lang="en-US" sz="1800" i="1">
                                    <a:effectLst/>
                                    <a:latin typeface="Cambria Math" panose="02040503050406030204" pitchFamily="18" charset="0"/>
                                    <a:ea typeface="宋体" panose="02010600030101010101" pitchFamily="2" charset="-122"/>
                                  </a:rPr>
                                  <m:t>−</m:t>
                                </m:r>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𝜎</m:t>
                                    </m:r>
                                  </m:e>
                                  <m:sub>
                                    <m:r>
                                      <a:rPr lang="en-US" sz="1800" i="1">
                                        <a:effectLst/>
                                        <a:latin typeface="Cambria Math" panose="02040503050406030204" pitchFamily="18" charset="0"/>
                                        <a:ea typeface="宋体" panose="02010600030101010101" pitchFamily="2" charset="-122"/>
                                      </a:rPr>
                                      <m:t>𝑘</m:t>
                                    </m:r>
                                  </m:sub>
                                </m:sSub>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𝑙𝑗</m:t>
                                        </m:r>
                                      </m:sub>
                                    </m:sSub>
                                  </m:num>
                                  <m:den>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𝑎</m:t>
                                        </m:r>
                                      </m:e>
                                      <m:sub>
                                        <m:r>
                                          <a:rPr lang="en-US" sz="1800" i="1">
                                            <a:effectLst/>
                                            <a:latin typeface="Cambria Math" panose="02040503050406030204" pitchFamily="18" charset="0"/>
                                            <a:ea typeface="宋体" panose="02010600030101010101" pitchFamily="2" charset="-122"/>
                                          </a:rPr>
                                          <m:t>𝑙𝑘</m:t>
                                        </m:r>
                                      </m:sub>
                                    </m:sSub>
                                  </m:den>
                                </m:f>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oMath>
                            </m:oMathPara>
                          </a14:m>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mc:Choice>
        <mc:Fallback xmlns="">
          <p:graphicFrame>
            <p:nvGraphicFramePr>
              <p:cNvPr id="6" name="Table 5"/>
              <p:cNvGraphicFramePr>
                <a:graphicFrameLocks noGrp="1"/>
              </p:cNvGraphicFramePr>
              <p:nvPr/>
            </p:nvGraphicFramePr>
            <p:xfrm>
              <a:off x="1775520" y="1147749"/>
              <a:ext cx="8640959" cy="5578560"/>
            </p:xfrm>
            <a:graphic>
              <a:graphicData uri="http://schemas.openxmlformats.org/drawingml/2006/table">
                <a:tbl>
                  <a:tblPr firstRow="1" firstCol="1" bandRow="1"/>
                  <a:tblGrid>
                    <a:gridCol w="473901"/>
                    <a:gridCol w="501498"/>
                    <a:gridCol w="1563494"/>
                    <a:gridCol w="423465"/>
                    <a:gridCol w="401579"/>
                    <a:gridCol w="805061"/>
                    <a:gridCol w="411095"/>
                    <a:gridCol w="489127"/>
                    <a:gridCol w="475396"/>
                    <a:gridCol w="1993078"/>
                    <a:gridCol w="311178"/>
                    <a:gridCol w="387652"/>
                    <a:gridCol w="404435"/>
                  </a:tblGrid>
                  <a:tr h="53213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hMerge="1">
                      <a:tcPr/>
                    </a:tc>
                    <a:tc hMerge="1">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3213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zh-CN" sz="1800">
                              <a:effectLst/>
                              <a:latin typeface="Times New Roman" panose="02020603050405020304" pitchFamily="18" charset="0"/>
                              <a:ea typeface="宋体" panose="02010600030101010101" pitchFamily="2" charset="-122"/>
                            </a:rPr>
                            <a:t>基</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856615">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0</a:t>
                          </a:r>
                          <a:endParaRPr lang="en-US" sz="18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0038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918845">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0038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85725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856615">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hMerge="1">
                      <a:tcPr/>
                    </a:tc>
                    <a:tc hMerge="1">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8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bl>
              </a:graphicData>
            </a:graphic>
          </p:graphicFrame>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314" name="内容占位符 2"/>
              <p:cNvSpPr>
                <a:spLocks noGrp="1"/>
              </p:cNvSpPr>
              <p:nvPr>
                <p:ph idx="1"/>
              </p:nvPr>
            </p:nvSpPr>
            <p:spPr>
              <a:xfrm>
                <a:off x="1981200" y="188640"/>
                <a:ext cx="8229600" cy="6480720"/>
              </a:xfrm>
            </p:spPr>
            <p:txBody>
              <a:bodyPr>
                <a:normAutofit/>
              </a:bodyPr>
              <a:lstStyle/>
              <a:p>
                <a:pPr>
                  <a:buNone/>
                </a:pPr>
                <a:r>
                  <a:rPr lang="zh-CN" altLang="en-US" sz="2400" b="1" dirty="0">
                    <a:solidFill>
                      <a:srgbClr val="000000"/>
                    </a:solidFill>
                    <a:latin typeface="宋体" panose="02010600030101010101" pitchFamily="2" charset="-122"/>
                  </a:rPr>
                  <a:t>例</a:t>
                </a:r>
                <a:r>
                  <a:rPr lang="zh-CN" altLang="en-US" sz="2400" dirty="0"/>
                  <a:t>：</a:t>
                </a:r>
                <a:r>
                  <a:rPr lang="zh-CN" altLang="en-US" sz="2400" b="1" dirty="0">
                    <a:solidFill>
                      <a:srgbClr val="0070C0"/>
                    </a:solidFill>
                  </a:rPr>
                  <a:t>用单纯形法求解以下线性规划问题</a:t>
                </a:r>
                <a:endParaRPr lang="en-US" altLang="zh-CN" sz="2400" dirty="0"/>
              </a:p>
              <a:p>
                <a:pPr>
                  <a:buNone/>
                </a:pPr>
                <a:endParaRPr lang="en-US" sz="2400" i="1" dirty="0">
                  <a:effectLst/>
                  <a:latin typeface="Cambria Math" panose="02040503050406030204" pitchFamily="18" charset="0"/>
                  <a:ea typeface="宋体" panose="02010600030101010101" pitchFamily="2" charset="-122"/>
                </a:endParaRPr>
              </a:p>
              <a:p>
                <a:pPr>
                  <a:buNone/>
                </a:pPr>
                <a14:m>
                  <m:oMathPara xmlns:m="http://schemas.openxmlformats.org/officeDocument/2006/math">
                    <m:oMathParaPr>
                      <m:jc m:val="centerGroup"/>
                    </m:oMathParaPr>
                    <m:oMath xmlns:m="http://schemas.openxmlformats.org/officeDocument/2006/math">
                      <m:r>
                        <a:rPr lang="en-US" sz="2400" i="1" smtClean="0">
                          <a:effectLst/>
                          <a:latin typeface="Cambria Math" panose="02040503050406030204" pitchFamily="18" charset="0"/>
                          <a:ea typeface="宋体" panose="02010600030101010101" pitchFamily="2" charset="-122"/>
                        </a:rPr>
                        <m:t>𝑚𝑖𝑛𝑧</m:t>
                      </m:r>
                      <m:r>
                        <a:rPr lang="en-US" sz="2400" i="1" smtClean="0">
                          <a:effectLst/>
                          <a:latin typeface="Cambria Math" panose="02040503050406030204" pitchFamily="18" charset="0"/>
                          <a:ea typeface="宋体" panose="02010600030101010101" pitchFamily="2" charset="-122"/>
                        </a:rPr>
                        <m:t>=−5</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−2</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oMath>
                    <m:oMath xmlns:m="http://schemas.openxmlformats.org/officeDocument/2006/math">
                      <m:r>
                        <a:rPr lang="en-US" sz="2400" i="1">
                          <a:effectLst/>
                          <a:latin typeface="Cambria Math" panose="02040503050406030204" pitchFamily="18" charset="0"/>
                          <a:ea typeface="宋体" panose="02010600030101010101" pitchFamily="2" charset="-122"/>
                        </a:rPr>
                        <m:t>𝑠</m:t>
                      </m:r>
                      <m:r>
                        <a:rPr lang="en-US" sz="2400" i="1">
                          <a:effectLst/>
                          <a:latin typeface="Cambria Math" panose="02040503050406030204" pitchFamily="18" charset="0"/>
                          <a:ea typeface="宋体" panose="02010600030101010101" pitchFamily="2" charset="-122"/>
                        </a:rPr>
                        <m:t>.</m:t>
                      </m:r>
                      <m:r>
                        <a:rPr lang="en-US" sz="2400" i="1">
                          <a:effectLst/>
                          <a:latin typeface="Cambria Math" panose="02040503050406030204" pitchFamily="18" charset="0"/>
                          <a:ea typeface="宋体" panose="02010600030101010101" pitchFamily="2" charset="-122"/>
                        </a:rPr>
                        <m:t>𝑡</m:t>
                      </m:r>
                      <m:r>
                        <a:rPr lang="en-US" sz="2400" i="1">
                          <a:effectLst/>
                          <a:latin typeface="Cambria Math" panose="02040503050406030204" pitchFamily="18" charset="0"/>
                          <a:ea typeface="宋体" panose="02010600030101010101" pitchFamily="2" charset="-122"/>
                        </a:rPr>
                        <m:t>.</m:t>
                      </m:r>
                      <m:d>
                        <m:dPr>
                          <m:begChr m:val="{"/>
                          <m:endChr m:val=""/>
                          <m:ctrlPr>
                            <a:rPr lang="en-US" sz="2400" i="1">
                              <a:effectLst/>
                              <a:latin typeface="Cambria Math" panose="02040503050406030204" pitchFamily="18" charset="0"/>
                              <a:ea typeface="宋体" panose="02010600030101010101" pitchFamily="2" charset="-122"/>
                            </a:rPr>
                          </m:ctrlPr>
                        </m:dPr>
                        <m:e>
                          <m:eqArr>
                            <m:eqArrPr>
                              <m:ctrlPr>
                                <a:rPr lang="en-US" sz="2400" i="1">
                                  <a:effectLst/>
                                  <a:latin typeface="Cambria Math" panose="02040503050406030204" pitchFamily="18" charset="0"/>
                                  <a:ea typeface="宋体" panose="02010600030101010101" pitchFamily="2" charset="-122"/>
                                </a:rPr>
                              </m:ctrlPr>
                            </m:eqArrPr>
                            <m:e>
                              <m:r>
                                <a:rPr lang="en-US" sz="2400" i="1">
                                  <a:effectLst/>
                                  <a:latin typeface="Cambria Math" panose="02040503050406030204" pitchFamily="18" charset="0"/>
                                  <a:ea typeface="宋体" panose="02010600030101010101" pitchFamily="2" charset="-122"/>
                                </a:rPr>
                                <m:t>30</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+2</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0</m:t>
                                  </m:r>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r>
                                <a:rPr lang="en-US" sz="2400" i="1">
                                  <a:effectLst/>
                                  <a:latin typeface="Cambria Math" panose="02040503050406030204" pitchFamily="18" charset="0"/>
                                  <a:ea typeface="宋体" panose="02010600030101010101" pitchFamily="2" charset="-122"/>
                                </a:rPr>
                                <m:t>≤160</m:t>
                              </m:r>
                            </m:e>
                            <m:e>
                              <m:r>
                                <a:rPr lang="en-US" sz="2400" i="1">
                                  <a:effectLst/>
                                  <a:latin typeface="Cambria Math" panose="02040503050406030204" pitchFamily="18" charset="0"/>
                                  <a:ea typeface="宋体" panose="02010600030101010101" pitchFamily="2" charset="-122"/>
                                </a:rPr>
                                <m:t>5</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r>
                                <a:rPr lang="en-US" sz="2400" i="1">
                                  <a:effectLst/>
                                  <a:latin typeface="Cambria Math" panose="02040503050406030204" pitchFamily="18" charset="0"/>
                                  <a:ea typeface="宋体" panose="02010600030101010101" pitchFamily="2" charset="-122"/>
                                </a:rPr>
                                <m:t>≤15</m:t>
                              </m:r>
                            </m:e>
                            <m:e>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≤4</m:t>
                              </m:r>
                            </m:e>
                            <m:e>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r>
                                <a:rPr lang="en-US" sz="2400" i="1">
                                  <a:effectLst/>
                                  <a:latin typeface="Cambria Math" panose="02040503050406030204" pitchFamily="18" charset="0"/>
                                  <a:ea typeface="宋体" panose="02010600030101010101" pitchFamily="2" charset="-122"/>
                                </a:rPr>
                                <m:t>≥0</m:t>
                              </m:r>
                            </m:e>
                          </m:eqArr>
                        </m:e>
                      </m:d>
                    </m:oMath>
                  </m:oMathPara>
                </a14:m>
                <a:endParaRPr lang="en-US" altLang="zh-CN" sz="2400" dirty="0">
                  <a:latin typeface="Times New Roman" panose="02020603050405020304" pitchFamily="18" charset="0"/>
                </a:endParaRPr>
              </a:p>
              <a:p>
                <a:pPr>
                  <a:buNone/>
                </a:pPr>
                <a:endParaRPr lang="en-US" altLang="zh-CN" sz="2400" dirty="0"/>
              </a:p>
              <a:p>
                <a:pPr eaLnBrk="1" hangingPunct="1">
                  <a:buFontTx/>
                  <a:buNone/>
                </a:pPr>
                <a:r>
                  <a:rPr lang="zh-CN" altLang="en-US" sz="2400" b="1" dirty="0"/>
                  <a:t>解：化标准型</a:t>
                </a:r>
                <a:endParaRPr lang="en-US" altLang="zh-CN" sz="2400" b="1" dirty="0"/>
              </a:p>
              <a:p>
                <a:pPr eaLnBrk="1" hangingPunct="1">
                  <a:buFontTx/>
                  <a:buNone/>
                </a:pPr>
                <a:endParaRPr lang="en-US" altLang="zh-CN" sz="2400" b="1" dirty="0"/>
              </a:p>
              <a:p>
                <a:pPr>
                  <a:buNone/>
                </a:pPr>
                <a14:m>
                  <m:oMathPara xmlns:m="http://schemas.openxmlformats.org/officeDocument/2006/math">
                    <m:oMathParaPr>
                      <m:jc m:val="centerGroup"/>
                    </m:oMathParaPr>
                    <m:oMath xmlns:m="http://schemas.openxmlformats.org/officeDocument/2006/math">
                      <m:func>
                        <m:funcPr>
                          <m:ctrlPr>
                            <a:rPr lang="en-US" sz="2400" b="0" i="1" smtClean="0">
                              <a:effectLst/>
                              <a:latin typeface="Cambria Math" panose="02040503050406030204" pitchFamily="18" charset="0"/>
                              <a:ea typeface="宋体" panose="02010600030101010101" pitchFamily="2" charset="-122"/>
                            </a:rPr>
                          </m:ctrlPr>
                        </m:funcPr>
                        <m:fName>
                          <m:r>
                            <m:rPr>
                              <m:sty m:val="p"/>
                            </m:rPr>
                            <a:rPr lang="en-US" sz="2400" i="0" smtClean="0">
                              <a:effectLst/>
                              <a:latin typeface="Cambria Math" panose="02040503050406030204" pitchFamily="18" charset="0"/>
                              <a:ea typeface="宋体" panose="02010600030101010101" pitchFamily="2" charset="-122"/>
                            </a:rPr>
                            <m:t>min</m:t>
                          </m:r>
                        </m:fName>
                        <m:e>
                          <m:r>
                            <a:rPr lang="en-US" altLang="zh-CN" sz="2400" i="1">
                              <a:latin typeface="Cambria Math" panose="02040503050406030204" pitchFamily="18" charset="0"/>
                              <a:ea typeface="宋体" panose="02010600030101010101" pitchFamily="2" charset="-122"/>
                            </a:rPr>
                            <m:t>𝑧</m:t>
                          </m:r>
                          <m:r>
                            <a:rPr lang="en-US" altLang="zh-CN" sz="2400" i="1">
                              <a:latin typeface="Cambria Math" panose="02040503050406030204" pitchFamily="18" charset="0"/>
                              <a:ea typeface="宋体" panose="02010600030101010101" pitchFamily="2" charset="-122"/>
                            </a:rPr>
                            <m:t>=−5</m:t>
                          </m:r>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1</m:t>
                              </m:r>
                            </m:sub>
                          </m:sSub>
                          <m:r>
                            <a:rPr lang="en-US" altLang="zh-CN" sz="2400" i="1">
                              <a:latin typeface="Cambria Math" panose="02040503050406030204" pitchFamily="18" charset="0"/>
                              <a:ea typeface="宋体" panose="02010600030101010101" pitchFamily="2" charset="-122"/>
                            </a:rPr>
                            <m:t>−2</m:t>
                          </m:r>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2</m:t>
                              </m:r>
                            </m:sub>
                          </m:sSub>
                        </m:e>
                      </m:func>
                    </m:oMath>
                    <m:oMath xmlns:m="http://schemas.openxmlformats.org/officeDocument/2006/math">
                      <m:r>
                        <a:rPr lang="en-US" sz="2400" i="1">
                          <a:effectLst/>
                          <a:latin typeface="Cambria Math" panose="02040503050406030204" pitchFamily="18" charset="0"/>
                          <a:ea typeface="宋体" panose="02010600030101010101" pitchFamily="2" charset="-122"/>
                        </a:rPr>
                        <m:t>𝑠</m:t>
                      </m:r>
                      <m:r>
                        <a:rPr lang="en-US" sz="2400" i="1">
                          <a:effectLst/>
                          <a:latin typeface="Cambria Math" panose="02040503050406030204" pitchFamily="18" charset="0"/>
                          <a:ea typeface="宋体" panose="02010600030101010101" pitchFamily="2" charset="-122"/>
                        </a:rPr>
                        <m:t>.</m:t>
                      </m:r>
                      <m:r>
                        <a:rPr lang="en-US" sz="2400" i="1">
                          <a:effectLst/>
                          <a:latin typeface="Cambria Math" panose="02040503050406030204" pitchFamily="18" charset="0"/>
                          <a:ea typeface="宋体" panose="02010600030101010101" pitchFamily="2" charset="-122"/>
                        </a:rPr>
                        <m:t>𝑡</m:t>
                      </m:r>
                      <m:r>
                        <a:rPr lang="en-US" sz="2400" i="1">
                          <a:effectLst/>
                          <a:latin typeface="Cambria Math" panose="02040503050406030204" pitchFamily="18" charset="0"/>
                          <a:ea typeface="宋体" panose="02010600030101010101" pitchFamily="2" charset="-122"/>
                        </a:rPr>
                        <m:t>.</m:t>
                      </m:r>
                      <m:d>
                        <m:dPr>
                          <m:begChr m:val="{"/>
                          <m:endChr m:val=""/>
                          <m:ctrlPr>
                            <a:rPr lang="en-US" sz="2400" i="1">
                              <a:effectLst/>
                              <a:latin typeface="Cambria Math" panose="02040503050406030204" pitchFamily="18" charset="0"/>
                              <a:ea typeface="宋体" panose="02010600030101010101" pitchFamily="2" charset="-122"/>
                            </a:rPr>
                          </m:ctrlPr>
                        </m:dPr>
                        <m:e>
                          <m:eqArr>
                            <m:eqArrPr>
                              <m:ctrlPr>
                                <a:rPr lang="en-US" sz="2400" i="1">
                                  <a:effectLst/>
                                  <a:latin typeface="Cambria Math" panose="02040503050406030204" pitchFamily="18" charset="0"/>
                                  <a:ea typeface="宋体" panose="02010600030101010101" pitchFamily="2" charset="-122"/>
                                </a:rPr>
                              </m:ctrlPr>
                            </m:eqArrPr>
                            <m:e>
                              <m:r>
                                <a:rPr lang="en-US" sz="2400" i="1">
                                  <a:effectLst/>
                                  <a:latin typeface="Cambria Math" panose="02040503050406030204" pitchFamily="18" charset="0"/>
                                  <a:ea typeface="宋体" panose="02010600030101010101" pitchFamily="2" charset="-122"/>
                                </a:rPr>
                                <m:t>30</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+2</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0</m:t>
                                  </m:r>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3</m:t>
                                  </m:r>
                                </m:sub>
                              </m:sSub>
                              <m:r>
                                <a:rPr lang="en-US" sz="2400" i="1">
                                  <a:effectLst/>
                                  <a:latin typeface="Cambria Math" panose="02040503050406030204" pitchFamily="18" charset="0"/>
                                  <a:ea typeface="宋体" panose="02010600030101010101" pitchFamily="2" charset="-122"/>
                                </a:rPr>
                                <m:t>=160</m:t>
                              </m:r>
                            </m:e>
                            <m:e>
                              <m:r>
                                <a:rPr lang="en-US" sz="2400" i="1">
                                  <a:effectLst/>
                                  <a:latin typeface="Cambria Math" panose="02040503050406030204" pitchFamily="18" charset="0"/>
                                  <a:ea typeface="宋体" panose="02010600030101010101" pitchFamily="2" charset="-122"/>
                                </a:rPr>
                                <m:t>5</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m:t>
                                  </m:r>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4</m:t>
                                  </m:r>
                                </m:sub>
                              </m:sSub>
                              <m:r>
                                <a:rPr lang="en-US" sz="2400" i="1">
                                  <a:effectLst/>
                                  <a:latin typeface="Cambria Math" panose="02040503050406030204" pitchFamily="18" charset="0"/>
                                  <a:ea typeface="宋体" panose="02010600030101010101" pitchFamily="2" charset="-122"/>
                                </a:rPr>
                                <m:t>=15</m:t>
                              </m:r>
                            </m:e>
                            <m:e>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5</m:t>
                                  </m:r>
                                </m:sub>
                              </m:sSub>
                              <m:r>
                                <a:rPr lang="en-US" sz="2400" i="1">
                                  <a:effectLst/>
                                  <a:latin typeface="Cambria Math" panose="02040503050406030204" pitchFamily="18" charset="0"/>
                                  <a:ea typeface="宋体" panose="02010600030101010101" pitchFamily="2" charset="-122"/>
                                </a:rPr>
                                <m:t>=4</m:t>
                              </m:r>
                            </m:e>
                            <m:e>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3</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4</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5</m:t>
                                  </m:r>
                                </m:sub>
                              </m:sSub>
                              <m:r>
                                <a:rPr lang="en-US" sz="2400" i="1">
                                  <a:effectLst/>
                                  <a:latin typeface="Cambria Math" panose="02040503050406030204" pitchFamily="18" charset="0"/>
                                  <a:ea typeface="宋体" panose="02010600030101010101" pitchFamily="2" charset="-122"/>
                                </a:rPr>
                                <m:t>≥0</m:t>
                              </m:r>
                            </m:e>
                          </m:eqArr>
                        </m:e>
                      </m:d>
                    </m:oMath>
                  </m:oMathPara>
                </a14:m>
                <a:endParaRPr lang="en-US" sz="2400" dirty="0">
                  <a:effectLst/>
                  <a:latin typeface="Times New Roman" panose="02020603050405020304" pitchFamily="18" charset="0"/>
                  <a:ea typeface="Times New Roman" panose="02020603050405020304" pitchFamily="18" charset="0"/>
                </a:endParaRPr>
              </a:p>
              <a:p>
                <a:pPr eaLnBrk="1" hangingPunct="1">
                  <a:buFontTx/>
                  <a:buNone/>
                </a:pPr>
                <a:endParaRPr lang="zh-CN" altLang="en-US" sz="2400" b="1" dirty="0"/>
              </a:p>
            </p:txBody>
          </p:sp>
        </mc:Choice>
        <mc:Fallback xmlns="">
          <p:sp>
            <p:nvSpPr>
              <p:cNvPr id="13314" name="内容占位符 2"/>
              <p:cNvSpPr>
                <a:spLocks noRot="1" noChangeAspect="1" noMove="1" noResize="1" noEditPoints="1" noAdjustHandles="1" noChangeArrowheads="1" noChangeShapeType="1" noTextEdit="1"/>
              </p:cNvSpPr>
              <p:nvPr>
                <p:ph idx="1"/>
              </p:nvPr>
            </p:nvSpPr>
            <p:spPr>
              <a:xfrm>
                <a:off x="1981200" y="188640"/>
                <a:ext cx="8229600" cy="6480720"/>
              </a:xfrm>
              <a:blipFill rotWithShape="1">
                <a:blip r:embed="rId2"/>
                <a:stretch>
                  <a:fillRect t="-1" b="9"/>
                </a:stretch>
              </a:blipFill>
            </p:spPr>
            <p:txBody>
              <a:bodyPr/>
              <a:lstStyle/>
              <a:p>
                <a:r>
                  <a:rPr lang="zh-CN" altLang="en-US">
                    <a:noFill/>
                  </a:rPr>
                  <a:t> </a:t>
                </a:r>
              </a:p>
            </p:txBody>
          </p:sp>
        </mc:Fallback>
      </mc:AlternateContent>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nvGraphicFramePr>
            <p:xfrm>
              <a:off x="3287688" y="839554"/>
              <a:ext cx="5267960" cy="3849561"/>
            </p:xfrm>
            <a:graphic>
              <a:graphicData uri="http://schemas.openxmlformats.org/drawingml/2006/table">
                <a:tbl>
                  <a:tblPr firstRow="1" firstCol="1" bandRow="1"/>
                  <a:tblGrid>
                    <a:gridCol w="658495">
                      <a:extLst>
                        <a:ext uri="{9D8B030D-6E8A-4147-A177-3AD203B41FA5}">
                          <a16:colId xmlns:a16="http://schemas.microsoft.com/office/drawing/2014/main" val="20000"/>
                        </a:ext>
                      </a:extLst>
                    </a:gridCol>
                    <a:gridCol w="658495">
                      <a:extLst>
                        <a:ext uri="{9D8B030D-6E8A-4147-A177-3AD203B41FA5}">
                          <a16:colId xmlns:a16="http://schemas.microsoft.com/office/drawing/2014/main" val="20001"/>
                        </a:ext>
                      </a:extLst>
                    </a:gridCol>
                    <a:gridCol w="658495">
                      <a:extLst>
                        <a:ext uri="{9D8B030D-6E8A-4147-A177-3AD203B41FA5}">
                          <a16:colId xmlns:a16="http://schemas.microsoft.com/office/drawing/2014/main" val="20002"/>
                        </a:ext>
                      </a:extLst>
                    </a:gridCol>
                    <a:gridCol w="658495">
                      <a:extLst>
                        <a:ext uri="{9D8B030D-6E8A-4147-A177-3AD203B41FA5}">
                          <a16:colId xmlns:a16="http://schemas.microsoft.com/office/drawing/2014/main" val="20003"/>
                        </a:ext>
                      </a:extLst>
                    </a:gridCol>
                    <a:gridCol w="658495">
                      <a:extLst>
                        <a:ext uri="{9D8B030D-6E8A-4147-A177-3AD203B41FA5}">
                          <a16:colId xmlns:a16="http://schemas.microsoft.com/office/drawing/2014/main" val="20004"/>
                        </a:ext>
                      </a:extLst>
                    </a:gridCol>
                    <a:gridCol w="658495">
                      <a:extLst>
                        <a:ext uri="{9D8B030D-6E8A-4147-A177-3AD203B41FA5}">
                          <a16:colId xmlns:a16="http://schemas.microsoft.com/office/drawing/2014/main" val="20005"/>
                        </a:ext>
                      </a:extLst>
                    </a:gridCol>
                    <a:gridCol w="658495">
                      <a:extLst>
                        <a:ext uri="{9D8B030D-6E8A-4147-A177-3AD203B41FA5}">
                          <a16:colId xmlns:a16="http://schemas.microsoft.com/office/drawing/2014/main" val="20006"/>
                        </a:ext>
                      </a:extLst>
                    </a:gridCol>
                    <a:gridCol w="658495">
                      <a:extLst>
                        <a:ext uri="{9D8B030D-6E8A-4147-A177-3AD203B41FA5}">
                          <a16:colId xmlns:a16="http://schemas.microsoft.com/office/drawing/2014/main" val="20007"/>
                        </a:ext>
                      </a:extLst>
                    </a:gridCol>
                  </a:tblGrid>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𝑐</m:t>
                                    </m:r>
                                  </m:e>
                                  <m:sub>
                                    <m:r>
                                      <a:rPr lang="en-US" sz="2400" i="1">
                                        <a:effectLst/>
                                        <a:latin typeface="Cambria Math" panose="02040503050406030204" pitchFamily="18" charset="0"/>
                                        <a:ea typeface="宋体" panose="02010600030101010101" pitchFamily="2" charset="-122"/>
                                      </a:rPr>
                                      <m:t>𝑗</m:t>
                                    </m:r>
                                  </m:sub>
                                </m:sSub>
                                <m:r>
                                  <a:rPr lang="en-US" sz="2400" i="1">
                                    <a:effectLst/>
                                    <a:latin typeface="Cambria Math" panose="02040503050406030204" pitchFamily="18" charset="0"/>
                                    <a:ea typeface="宋体" panose="02010600030101010101" pitchFamily="2" charset="-122"/>
                                  </a:rPr>
                                  <m:t>→</m:t>
                                </m:r>
                              </m:oMath>
                            </m:oMathPara>
                          </a14:m>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-5</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-2</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𝑐</m:t>
                                    </m:r>
                                  </m:e>
                                  <m:sub>
                                    <m:r>
                                      <a:rPr lang="en-US" sz="2400" i="1">
                                        <a:effectLst/>
                                        <a:latin typeface="Cambria Math" panose="02040503050406030204" pitchFamily="18" charset="0"/>
                                        <a:ea typeface="宋体" panose="02010600030101010101" pitchFamily="2" charset="-122"/>
                                      </a:rPr>
                                      <m:t>𝐵</m:t>
                                    </m:r>
                                  </m:sub>
                                </m:sSub>
                              </m:oMath>
                            </m:oMathPara>
                          </a14:m>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2400" dirty="0">
                              <a:effectLst/>
                              <a:latin typeface="Times New Roman" panose="02020603050405020304" pitchFamily="18" charset="0"/>
                              <a:ea typeface="宋体" panose="02010600030101010101" pitchFamily="2" charset="-122"/>
                            </a:rPr>
                            <a:t>基</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sz="2400" i="1">
                                        <a:effectLst/>
                                        <a:latin typeface="Cambria Math" panose="02040503050406030204" pitchFamily="18" charset="0"/>
                                        <a:ea typeface="宋体" panose="02010600030101010101" pitchFamily="2" charset="-122"/>
                                      </a:rPr>
                                    </m:ctrlPr>
                                  </m:accPr>
                                  <m:e>
                                    <m:r>
                                      <a:rPr lang="en-US" sz="2400" i="1">
                                        <a:effectLst/>
                                        <a:latin typeface="Cambria Math" panose="02040503050406030204" pitchFamily="18" charset="0"/>
                                        <a:ea typeface="宋体" panose="02010600030101010101" pitchFamily="2" charset="-122"/>
                                      </a:rPr>
                                      <m:t>𝑏</m:t>
                                    </m:r>
                                  </m:e>
                                </m:acc>
                              </m:oMath>
                            </m:oMathPara>
                          </a14:m>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oMath>
                            </m:oMathPara>
                          </a14:m>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2</m:t>
                                    </m:r>
                                  </m:sub>
                                </m:sSub>
                              </m:oMath>
                            </m:oMathPara>
                          </a14:m>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3</m:t>
                                    </m:r>
                                  </m:sub>
                                </m:sSub>
                              </m:oMath>
                            </m:oMathPara>
                          </a14:m>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4</m:t>
                                    </m:r>
                                  </m:sub>
                                </m:sSub>
                              </m:oMath>
                            </m:oMathPara>
                          </a14:m>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5</m:t>
                                    </m:r>
                                  </m:sub>
                                </m:sSub>
                              </m:oMath>
                            </m:oMathPara>
                          </a14:m>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3</m:t>
                                    </m:r>
                                  </m:sub>
                                </m:sSub>
                              </m:oMath>
                            </m:oMathPara>
                          </a14:m>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160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30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20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1</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4</m:t>
                                    </m:r>
                                  </m:sub>
                                </m:sSub>
                              </m:oMath>
                            </m:oMathPara>
                          </a14:m>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15</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[5]</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1</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5</m:t>
                                    </m:r>
                                  </m:sub>
                                </m:sSub>
                              </m:oMath>
                            </m:oMathPara>
                          </a14:m>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4</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𝜎</m:t>
                                    </m:r>
                                  </m:e>
                                  <m:sub>
                                    <m:r>
                                      <a:rPr lang="en-US" sz="2400" i="1">
                                        <a:effectLst/>
                                        <a:latin typeface="Cambria Math" panose="02040503050406030204" pitchFamily="18" charset="0"/>
                                        <a:ea typeface="宋体" panose="02010600030101010101" pitchFamily="2" charset="-122"/>
                                      </a:rPr>
                                      <m:t>𝑗</m:t>
                                    </m:r>
                                  </m:sub>
                                </m:sSub>
                              </m:oMath>
                            </m:oMathPara>
                          </a14:m>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-5</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-2</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mc:Choice>
        <mc:Fallback xmlns="">
          <p:graphicFrame>
            <p:nvGraphicFramePr>
              <p:cNvPr id="15" name="Table 14"/>
              <p:cNvGraphicFramePr>
                <a:graphicFrameLocks noGrp="1"/>
              </p:cNvGraphicFramePr>
              <p:nvPr/>
            </p:nvGraphicFramePr>
            <p:xfrm>
              <a:off x="3287688" y="839554"/>
              <a:ext cx="5267960" cy="3849561"/>
            </p:xfrm>
            <a:graphic>
              <a:graphicData uri="http://schemas.openxmlformats.org/drawingml/2006/table">
                <a:tbl>
                  <a:tblPr firstRow="1" firstCol="1" bandRow="1"/>
                  <a:tblGrid>
                    <a:gridCol w="658495"/>
                    <a:gridCol w="658495"/>
                    <a:gridCol w="658495"/>
                    <a:gridCol w="658495"/>
                    <a:gridCol w="658495"/>
                    <a:gridCol w="658495"/>
                    <a:gridCol w="658495"/>
                    <a:gridCol w="658495"/>
                  </a:tblGrid>
                  <a:tr h="57150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hMerge="1">
                      <a:tcPr/>
                    </a:tc>
                    <a:tc hMerge="1">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-5</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-2</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4864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zh-CN" sz="2400" dirty="0">
                              <a:effectLst/>
                              <a:latin typeface="Times New Roman" panose="02020603050405020304" pitchFamily="18" charset="0"/>
                              <a:ea typeface="宋体" panose="02010600030101010101" pitchFamily="2" charset="-122"/>
                            </a:rPr>
                            <a:t>基</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48640">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160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30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20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1</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48640">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15</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[5]</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1</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48640">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4</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1</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7150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c hMerge="1">
                      <a:tcPr/>
                    </a:tc>
                    <a:tc hMerge="1">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-5</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-2</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a:effectLst/>
                              <a:latin typeface="宋体" panose="02010600030101010101" pitchFamily="2" charset="-122"/>
                              <a:ea typeface="Times New Roman" panose="02020603050405020304" pitchFamily="18" charset="0"/>
                            </a:rPr>
                            <a:t>0</a:t>
                          </a:r>
                          <a:endParaRPr lang="en-US" sz="2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2400" dirty="0">
                              <a:effectLst/>
                              <a:latin typeface="宋体" panose="02010600030101010101" pitchFamily="2" charset="-122"/>
                              <a:ea typeface="Times New Roman" panose="02020603050405020304" pitchFamily="18" charset="0"/>
                            </a:rPr>
                            <a:t>0</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mc:Fallback>
      </mc:AlternateContent>
      <p:sp>
        <p:nvSpPr>
          <p:cNvPr id="2" name="文本框 1"/>
          <p:cNvSpPr txBox="1"/>
          <p:nvPr/>
        </p:nvSpPr>
        <p:spPr>
          <a:xfrm>
            <a:off x="691207" y="404664"/>
            <a:ext cx="2376264" cy="461665"/>
          </a:xfrm>
          <a:prstGeom prst="rect">
            <a:avLst/>
          </a:prstGeom>
          <a:noFill/>
        </p:spPr>
        <p:txBody>
          <a:bodyPr wrap="square" rtlCol="0">
            <a:spAutoFit/>
          </a:bodyPr>
          <a:lstStyle/>
          <a:p>
            <a:r>
              <a:rPr lang="zh-CN" altLang="en-US" sz="2400" dirty="0"/>
              <a:t>初始单纯形表</a:t>
            </a:r>
          </a:p>
        </p:txBody>
      </p:sp>
      <mc:AlternateContent xmlns:mc="http://schemas.openxmlformats.org/markup-compatibility/2006" xmlns:a14="http://schemas.microsoft.com/office/drawing/2010/main">
        <mc:Choice Requires="a14">
          <p:sp>
            <p:nvSpPr>
              <p:cNvPr id="4" name="文本框 3"/>
              <p:cNvSpPr txBox="1"/>
              <p:nvPr/>
            </p:nvSpPr>
            <p:spPr>
              <a:xfrm>
                <a:off x="1055440" y="5229200"/>
                <a:ext cx="10441160" cy="1137106"/>
              </a:xfrm>
              <a:prstGeom prst="rect">
                <a:avLst/>
              </a:prstGeom>
              <a:noFill/>
            </p:spPr>
            <p:txBody>
              <a:bodyPr wrap="square">
                <a:spAutoFit/>
              </a:bodyPr>
              <a:lstStyle/>
              <a:p>
                <a:pPr algn="just">
                  <a:lnSpc>
                    <a:spcPct val="150000"/>
                  </a:lnSpc>
                </a:pPr>
                <a:r>
                  <a:rPr lang="zh-CN" altLang="zh-CN" sz="2400" dirty="0">
                    <a:effectLst/>
                    <a:latin typeface="Times New Roman" panose="02020603050405020304" pitchFamily="18" charset="0"/>
                    <a:ea typeface="宋体" panose="02010600030101010101" pitchFamily="2" charset="-122"/>
                  </a:rPr>
                  <a:t>由于</a:t>
                </a:r>
                <a:r>
                  <a:rPr lang="zh-CN" altLang="en-US" sz="2400" dirty="0">
                    <a:effectLst/>
                    <a:latin typeface="Times New Roman" panose="02020603050405020304" pitchFamily="18" charset="0"/>
                    <a:ea typeface="宋体" panose="02010600030101010101" pitchFamily="2" charset="-122"/>
                  </a:rPr>
                  <a:t>表</a:t>
                </a:r>
                <a:r>
                  <a:rPr lang="zh-CN" altLang="zh-CN" sz="2400" dirty="0">
                    <a:effectLst/>
                    <a:latin typeface="Times New Roman" panose="02020603050405020304" pitchFamily="18" charset="0"/>
                    <a:ea typeface="宋体" panose="02010600030101010101" pitchFamily="2" charset="-122"/>
                  </a:rPr>
                  <a:t>中有小于</a:t>
                </a:r>
                <a:r>
                  <a:rPr lang="zh-CN" altLang="en-US" sz="2400" dirty="0">
                    <a:effectLst/>
                    <a:latin typeface="Times New Roman" panose="02020603050405020304" pitchFamily="18" charset="0"/>
                    <a:ea typeface="宋体" panose="02010600030101010101" pitchFamily="2" charset="-122"/>
                  </a:rPr>
                  <a:t>零</a:t>
                </a:r>
                <a:r>
                  <a:rPr lang="zh-CN" altLang="zh-CN" sz="2400" dirty="0">
                    <a:effectLst/>
                    <a:latin typeface="Times New Roman" panose="02020603050405020304" pitchFamily="18" charset="0"/>
                    <a:ea typeface="宋体" panose="02010600030101010101" pitchFamily="2" charset="-122"/>
                  </a:rPr>
                  <a:t>的检验数，故表中的基本可行解不是最优解</a:t>
                </a:r>
                <a:r>
                  <a:rPr lang="zh-CN" altLang="en-US" sz="2400" dirty="0">
                    <a:effectLst/>
                    <a:latin typeface="Times New Roman" panose="02020603050405020304" pitchFamily="18" charset="0"/>
                    <a:ea typeface="宋体" panose="02010600030101010101" pitchFamily="2" charset="-122"/>
                  </a:rPr>
                  <a:t>。</a:t>
                </a:r>
                <a:r>
                  <a:rPr lang="zh-CN" altLang="zh-CN" sz="2400" dirty="0">
                    <a:effectLst/>
                    <a:latin typeface="Times New Roman" panose="02020603050405020304" pitchFamily="18" charset="0"/>
                    <a:ea typeface="宋体" panose="02010600030101010101" pitchFamily="2" charset="-122"/>
                  </a:rPr>
                  <a:t>由于</a:t>
                </a:r>
                <a14:m>
                  <m:oMath xmlns:m="http://schemas.openxmlformats.org/officeDocument/2006/math">
                    <m:sSub>
                      <m:sSubPr>
                        <m:ctrlPr>
                          <a:rPr lang="en-US" altLang="zh-CN" sz="2400" i="1">
                            <a:effectLst/>
                            <a:latin typeface="Cambria Math" panose="02040503050406030204" pitchFamily="18" charset="0"/>
                            <a:ea typeface="宋体" panose="02010600030101010101" pitchFamily="2" charset="-122"/>
                          </a:rPr>
                        </m:ctrlPr>
                      </m:sSubPr>
                      <m:e>
                        <m:r>
                          <a:rPr lang="en-US" altLang="zh-CN" sz="2400" i="1">
                            <a:effectLst/>
                            <a:latin typeface="Cambria Math" panose="02040503050406030204" pitchFamily="18" charset="0"/>
                            <a:ea typeface="宋体" panose="02010600030101010101" pitchFamily="2" charset="-122"/>
                          </a:rPr>
                          <m:t>𝜎</m:t>
                        </m:r>
                      </m:e>
                      <m:sub>
                        <m:r>
                          <a:rPr lang="en-US" altLang="zh-CN" sz="2400" i="1">
                            <a:effectLst/>
                            <a:latin typeface="Cambria Math" panose="02040503050406030204" pitchFamily="18" charset="0"/>
                            <a:ea typeface="宋体" panose="02010600030101010101" pitchFamily="2" charset="-122"/>
                          </a:rPr>
                          <m:t>1</m:t>
                        </m:r>
                      </m:sub>
                    </m:sSub>
                    <m:r>
                      <a:rPr lang="en-US" altLang="zh-CN" sz="2400" i="1">
                        <a:effectLst/>
                        <a:latin typeface="Cambria Math" panose="02040503050406030204" pitchFamily="18" charset="0"/>
                        <a:ea typeface="宋体" panose="02010600030101010101" pitchFamily="2" charset="-122"/>
                      </a:rPr>
                      <m:t>&lt;</m:t>
                    </m:r>
                    <m:sSub>
                      <m:sSubPr>
                        <m:ctrlPr>
                          <a:rPr lang="en-US" altLang="zh-CN" sz="2400" i="1">
                            <a:effectLst/>
                            <a:latin typeface="Cambria Math" panose="02040503050406030204" pitchFamily="18" charset="0"/>
                            <a:ea typeface="宋体" panose="02010600030101010101" pitchFamily="2" charset="-122"/>
                          </a:rPr>
                        </m:ctrlPr>
                      </m:sSubPr>
                      <m:e>
                        <m:r>
                          <a:rPr lang="en-US" altLang="zh-CN" sz="2400" i="1">
                            <a:effectLst/>
                            <a:latin typeface="Cambria Math" panose="02040503050406030204" pitchFamily="18" charset="0"/>
                            <a:ea typeface="宋体" panose="02010600030101010101" pitchFamily="2" charset="-122"/>
                          </a:rPr>
                          <m:t>𝜎</m:t>
                        </m:r>
                      </m:e>
                      <m:sub>
                        <m:r>
                          <a:rPr lang="en-US" altLang="zh-CN" sz="2400" i="1">
                            <a:effectLst/>
                            <a:latin typeface="Cambria Math" panose="02040503050406030204" pitchFamily="18" charset="0"/>
                            <a:ea typeface="宋体" panose="02010600030101010101" pitchFamily="2" charset="-122"/>
                          </a:rPr>
                          <m:t>2</m:t>
                        </m:r>
                      </m:sub>
                    </m:sSub>
                  </m:oMath>
                </a14:m>
                <a:r>
                  <a:rPr lang="zh-CN" altLang="zh-CN" sz="2400" dirty="0">
                    <a:effectLst/>
                    <a:latin typeface="Times New Roman" panose="02020603050405020304" pitchFamily="18" charset="0"/>
                    <a:ea typeface="宋体" panose="02010600030101010101" pitchFamily="2" charset="-122"/>
                  </a:rPr>
                  <a:t>，故确定</a:t>
                </a:r>
                <a14:m>
                  <m:oMath xmlns:m="http://schemas.openxmlformats.org/officeDocument/2006/math">
                    <m:sSub>
                      <m:sSubPr>
                        <m:ctrlPr>
                          <a:rPr lang="en-US" altLang="zh-CN" sz="2400" i="1">
                            <a:effectLst/>
                            <a:latin typeface="Cambria Math" panose="02040503050406030204" pitchFamily="18" charset="0"/>
                            <a:ea typeface="宋体" panose="02010600030101010101" pitchFamily="2" charset="-122"/>
                          </a:rPr>
                        </m:ctrlPr>
                      </m:sSubPr>
                      <m:e>
                        <m:r>
                          <a:rPr lang="en-US" altLang="zh-CN" sz="2400" i="1">
                            <a:effectLst/>
                            <a:latin typeface="Cambria Math" panose="02040503050406030204" pitchFamily="18" charset="0"/>
                            <a:ea typeface="宋体" panose="02010600030101010101" pitchFamily="2" charset="-122"/>
                          </a:rPr>
                          <m:t>𝑥</m:t>
                        </m:r>
                      </m:e>
                      <m:sub>
                        <m:r>
                          <a:rPr lang="en-US" altLang="zh-CN" sz="2400" i="1">
                            <a:effectLst/>
                            <a:latin typeface="Cambria Math" panose="02040503050406030204" pitchFamily="18" charset="0"/>
                            <a:ea typeface="宋体" panose="02010600030101010101" pitchFamily="2" charset="-122"/>
                          </a:rPr>
                          <m:t>1</m:t>
                        </m:r>
                      </m:sub>
                    </m:sSub>
                  </m:oMath>
                </a14:m>
                <a:r>
                  <a:rPr lang="zh-CN" altLang="zh-CN" sz="2400" dirty="0">
                    <a:effectLst/>
                    <a:latin typeface="Times New Roman" panose="02020603050405020304" pitchFamily="18" charset="0"/>
                    <a:ea typeface="宋体" panose="02010600030101010101" pitchFamily="2" charset="-122"/>
                  </a:rPr>
                  <a:t>为进基变量</a:t>
                </a:r>
                <a:r>
                  <a:rPr lang="zh-CN" altLang="en-US" sz="2400" dirty="0">
                    <a:latin typeface="宋体" panose="02010600030101010101" pitchFamily="2" charset="-122"/>
                    <a:ea typeface="宋体" panose="02010600030101010101" pitchFamily="2" charset="-122"/>
                  </a:rPr>
                  <a:t>。</a:t>
                </a:r>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1055440" y="5229200"/>
                <a:ext cx="10441160" cy="1137106"/>
              </a:xfrm>
              <a:prstGeom prst="rect">
                <a:avLst/>
              </a:prstGeom>
              <a:blipFill rotWithShape="1">
                <a:blip r:embed="rId3"/>
                <a:stretch>
                  <a:fillRect l="-1" t="-54" r="-1308" b="-465"/>
                </a:stretch>
              </a:blipFill>
            </p:spPr>
            <p:txBody>
              <a:bodyPr/>
              <a:lstStyle/>
              <a:p>
                <a:r>
                  <a:rPr lang="zh-CN" altLang="en-US">
                    <a:noFill/>
                  </a:rPr>
                  <a:t> </a:t>
                </a:r>
              </a:p>
            </p:txBody>
          </p:sp>
        </mc:Fallback>
      </mc:AlternateContent>
      <p:pic>
        <p:nvPicPr>
          <p:cNvPr id="5" name="图片 4"/>
          <p:cNvPicPr>
            <a:picLocks noChangeAspect="1"/>
          </p:cNvPicPr>
          <p:nvPr/>
        </p:nvPicPr>
        <p:blipFill>
          <a:blip r:embed="rId4"/>
          <a:stretch>
            <a:fillRect/>
          </a:stretch>
        </p:blipFill>
        <p:spPr>
          <a:xfrm>
            <a:off x="8656407" y="116632"/>
            <a:ext cx="3535593" cy="18722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335360" y="54043"/>
                <a:ext cx="11521280" cy="3292889"/>
              </a:xfrm>
              <a:prstGeom prst="rect">
                <a:avLst/>
              </a:prstGeom>
              <a:noFill/>
            </p:spPr>
            <p:txBody>
              <a:bodyPr wrap="square">
                <a:spAutoFit/>
              </a:bodyPr>
              <a:lstStyle/>
              <a:p>
                <a:pPr indent="609600" algn="just">
                  <a:lnSpc>
                    <a:spcPct val="150000"/>
                  </a:lnSpc>
                  <a:spcBef>
                    <a:spcPts val="600"/>
                  </a:spcBef>
                  <a:spcAft>
                    <a:spcPts val="600"/>
                  </a:spcAft>
                </a:pPr>
                <a:r>
                  <a:rPr lang="zh-CN" sz="2400" dirty="0">
                    <a:effectLst/>
                    <a:latin typeface="Times New Roman" panose="02020603050405020304" pitchFamily="18" charset="0"/>
                    <a:ea typeface="宋体" panose="02010600030101010101" pitchFamily="2" charset="-122"/>
                  </a:rPr>
                  <a:t>将</a:t>
                </a:r>
                <a14:m>
                  <m:oMath xmlns:m="http://schemas.openxmlformats.org/officeDocument/2006/math">
                    <m:r>
                      <a:rPr lang="en-US" sz="2400" i="1">
                        <a:effectLst/>
                        <a:latin typeface="Cambria Math" panose="02040503050406030204" pitchFamily="18" charset="0"/>
                        <a:ea typeface="宋体" panose="02010600030101010101" pitchFamily="2" charset="-122"/>
                      </a:rPr>
                      <m:t>𝑏</m:t>
                    </m:r>
                  </m:oMath>
                </a14:m>
                <a:r>
                  <a:rPr lang="zh-CN" sz="2400" dirty="0">
                    <a:effectLst/>
                    <a:latin typeface="Times New Roman" panose="02020603050405020304" pitchFamily="18" charset="0"/>
                    <a:ea typeface="宋体" panose="02010600030101010101" pitchFamily="2" charset="-122"/>
                  </a:rPr>
                  <a:t>列除以</a:t>
                </a:r>
                <a14:m>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𝐴</m:t>
                        </m:r>
                      </m:e>
                      <m:sub>
                        <m:r>
                          <a:rPr lang="en-US" sz="2400" i="1">
                            <a:effectLst/>
                            <a:latin typeface="Cambria Math" panose="02040503050406030204" pitchFamily="18" charset="0"/>
                            <a:ea typeface="宋体" panose="02010600030101010101" pitchFamily="2" charset="-122"/>
                          </a:rPr>
                          <m:t>1</m:t>
                        </m:r>
                      </m:sub>
                    </m:sSub>
                  </m:oMath>
                </a14:m>
                <a:r>
                  <a:rPr lang="zh-CN" sz="2400" dirty="0">
                    <a:effectLst/>
                    <a:latin typeface="Times New Roman" panose="02020603050405020304" pitchFamily="18" charset="0"/>
                    <a:ea typeface="宋体" panose="02010600030101010101" pitchFamily="2" charset="-122"/>
                  </a:rPr>
                  <a:t>列的同行且大于零的数，得到</a:t>
                </a:r>
                <a:endParaRPr lang="en-US" sz="2400" dirty="0">
                  <a:effectLst/>
                  <a:latin typeface="Times New Roman" panose="02020603050405020304" pitchFamily="18" charset="0"/>
                  <a:ea typeface="Times New Roman" panose="02020603050405020304" pitchFamily="18" charset="0"/>
                </a:endParaRPr>
              </a:p>
              <a:p>
                <a:pPr indent="609600" algn="just">
                  <a:spcBef>
                    <a:spcPts val="600"/>
                  </a:spcBef>
                  <a:spcAft>
                    <a:spcPts val="60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宋体" panose="02010600030101010101" pitchFamily="2" charset="-122"/>
                        </a:rPr>
                        <m:t>𝜃</m:t>
                      </m:r>
                      <m:r>
                        <a:rPr lang="en-US" sz="2400" i="1">
                          <a:effectLst/>
                          <a:latin typeface="Cambria Math" panose="02040503050406030204" pitchFamily="18" charset="0"/>
                          <a:ea typeface="宋体" panose="02010600030101010101" pitchFamily="2" charset="-122"/>
                        </a:rPr>
                        <m:t>=</m:t>
                      </m:r>
                      <m:r>
                        <a:rPr lang="en-US" sz="2400" i="1">
                          <a:effectLst/>
                          <a:latin typeface="Cambria Math" panose="02040503050406030204" pitchFamily="18" charset="0"/>
                          <a:ea typeface="宋体" panose="02010600030101010101" pitchFamily="2" charset="-122"/>
                        </a:rPr>
                        <m:t>𝑚𝑖𝑛</m:t>
                      </m:r>
                      <m:d>
                        <m:dPr>
                          <m:begChr m:val="{"/>
                          <m:endChr m:val="}"/>
                          <m:ctrlPr>
                            <a:rPr lang="en-US" sz="2400" i="1">
                              <a:effectLst/>
                              <a:latin typeface="Cambria Math" panose="02040503050406030204" pitchFamily="18" charset="0"/>
                              <a:ea typeface="宋体" panose="02010600030101010101" pitchFamily="2" charset="-122"/>
                            </a:rPr>
                          </m:ctrlPr>
                        </m:dPr>
                        <m:e>
                          <m:f>
                            <m:fPr>
                              <m:ctrlPr>
                                <a:rPr lang="en-US" sz="2400" i="1">
                                  <a:effectLst/>
                                  <a:latin typeface="Cambria Math" panose="02040503050406030204" pitchFamily="18" charset="0"/>
                                  <a:ea typeface="宋体" panose="02010600030101010101" pitchFamily="2" charset="-122"/>
                                </a:rPr>
                              </m:ctrlPr>
                            </m:fPr>
                            <m:num>
                              <m:r>
                                <a:rPr lang="en-US" sz="2400" i="1">
                                  <a:effectLst/>
                                  <a:latin typeface="Cambria Math" panose="02040503050406030204" pitchFamily="18" charset="0"/>
                                  <a:ea typeface="宋体" panose="02010600030101010101" pitchFamily="2" charset="-122"/>
                                </a:rPr>
                                <m:t>160</m:t>
                              </m:r>
                            </m:num>
                            <m:den>
                              <m:r>
                                <a:rPr lang="en-US" sz="2400" i="1">
                                  <a:effectLst/>
                                  <a:latin typeface="Cambria Math" panose="02040503050406030204" pitchFamily="18" charset="0"/>
                                  <a:ea typeface="宋体" panose="02010600030101010101" pitchFamily="2" charset="-122"/>
                                </a:rPr>
                                <m:t>30</m:t>
                              </m:r>
                            </m:den>
                          </m:f>
                          <m:r>
                            <a:rPr lang="en-US" sz="2400" i="1">
                              <a:effectLst/>
                              <a:latin typeface="Cambria Math" panose="02040503050406030204" pitchFamily="18" charset="0"/>
                              <a:ea typeface="宋体" panose="02010600030101010101" pitchFamily="2" charset="-122"/>
                            </a:rPr>
                            <m:t>,</m:t>
                          </m:r>
                          <m:f>
                            <m:fPr>
                              <m:ctrlPr>
                                <a:rPr lang="en-US" sz="2400" i="1">
                                  <a:effectLst/>
                                  <a:latin typeface="Cambria Math" panose="02040503050406030204" pitchFamily="18" charset="0"/>
                                  <a:ea typeface="宋体" panose="02010600030101010101" pitchFamily="2" charset="-122"/>
                                </a:rPr>
                              </m:ctrlPr>
                            </m:fPr>
                            <m:num>
                              <m:r>
                                <a:rPr lang="en-US" sz="2400" i="1">
                                  <a:effectLst/>
                                  <a:latin typeface="Cambria Math" panose="02040503050406030204" pitchFamily="18" charset="0"/>
                                  <a:ea typeface="宋体" panose="02010600030101010101" pitchFamily="2" charset="-122"/>
                                </a:rPr>
                                <m:t>15</m:t>
                              </m:r>
                            </m:num>
                            <m:den>
                              <m:r>
                                <a:rPr lang="en-US" sz="2400" i="1">
                                  <a:effectLst/>
                                  <a:latin typeface="Cambria Math" panose="02040503050406030204" pitchFamily="18" charset="0"/>
                                  <a:ea typeface="宋体" panose="02010600030101010101" pitchFamily="2" charset="-122"/>
                                </a:rPr>
                                <m:t>5</m:t>
                              </m:r>
                            </m:den>
                          </m:f>
                          <m:r>
                            <a:rPr lang="en-US" sz="2400" i="1">
                              <a:effectLst/>
                              <a:latin typeface="Cambria Math" panose="02040503050406030204" pitchFamily="18" charset="0"/>
                              <a:ea typeface="宋体" panose="02010600030101010101" pitchFamily="2" charset="-122"/>
                            </a:rPr>
                            <m:t>,</m:t>
                          </m:r>
                          <m:f>
                            <m:fPr>
                              <m:ctrlPr>
                                <a:rPr lang="en-US" sz="2400" i="1">
                                  <a:effectLst/>
                                  <a:latin typeface="Cambria Math" panose="02040503050406030204" pitchFamily="18" charset="0"/>
                                  <a:ea typeface="宋体" panose="02010600030101010101" pitchFamily="2" charset="-122"/>
                                </a:rPr>
                              </m:ctrlPr>
                            </m:fPr>
                            <m:num>
                              <m:r>
                                <a:rPr lang="en-US" sz="2400" i="1">
                                  <a:effectLst/>
                                  <a:latin typeface="Cambria Math" panose="02040503050406030204" pitchFamily="18" charset="0"/>
                                  <a:ea typeface="宋体" panose="02010600030101010101" pitchFamily="2" charset="-122"/>
                                </a:rPr>
                                <m:t>4</m:t>
                              </m:r>
                            </m:num>
                            <m:den>
                              <m:r>
                                <a:rPr lang="en-US" sz="2400" i="1">
                                  <a:effectLst/>
                                  <a:latin typeface="Cambria Math" panose="02040503050406030204" pitchFamily="18" charset="0"/>
                                  <a:ea typeface="宋体" panose="02010600030101010101" pitchFamily="2" charset="-122"/>
                                </a:rPr>
                                <m:t>1</m:t>
                              </m:r>
                            </m:den>
                          </m:f>
                        </m:e>
                      </m:d>
                      <m:r>
                        <a:rPr lang="en-US" sz="2400" i="1">
                          <a:effectLst/>
                          <a:latin typeface="Cambria Math" panose="02040503050406030204" pitchFamily="18" charset="0"/>
                          <a:ea typeface="宋体" panose="02010600030101010101" pitchFamily="2" charset="-122"/>
                        </a:rPr>
                        <m:t>=</m:t>
                      </m:r>
                      <m:f>
                        <m:fPr>
                          <m:ctrlPr>
                            <a:rPr lang="en-US" sz="2400" i="1">
                              <a:effectLst/>
                              <a:latin typeface="Cambria Math" panose="02040503050406030204" pitchFamily="18" charset="0"/>
                              <a:ea typeface="宋体" panose="02010600030101010101" pitchFamily="2" charset="-122"/>
                            </a:rPr>
                          </m:ctrlPr>
                        </m:fPr>
                        <m:num>
                          <m:r>
                            <a:rPr lang="en-US" sz="2400" i="1">
                              <a:effectLst/>
                              <a:latin typeface="Cambria Math" panose="02040503050406030204" pitchFamily="18" charset="0"/>
                              <a:ea typeface="宋体" panose="02010600030101010101" pitchFamily="2" charset="-122"/>
                            </a:rPr>
                            <m:t>15</m:t>
                          </m:r>
                        </m:num>
                        <m:den>
                          <m:r>
                            <a:rPr lang="en-US" sz="2400" i="1">
                              <a:effectLst/>
                              <a:latin typeface="Cambria Math" panose="02040503050406030204" pitchFamily="18" charset="0"/>
                              <a:ea typeface="宋体" panose="02010600030101010101" pitchFamily="2" charset="-122"/>
                            </a:rPr>
                            <m:t>5</m:t>
                          </m:r>
                        </m:den>
                      </m:f>
                      <m:r>
                        <a:rPr lang="en-US" sz="2400" i="1">
                          <a:effectLst/>
                          <a:latin typeface="Cambria Math" panose="02040503050406030204" pitchFamily="18" charset="0"/>
                          <a:ea typeface="宋体" panose="02010600030101010101" pitchFamily="2" charset="-122"/>
                        </a:rPr>
                        <m:t>=3</m:t>
                      </m:r>
                    </m:oMath>
                  </m:oMathPara>
                </a14:m>
                <a:endParaRPr lang="en-US" sz="2400" dirty="0">
                  <a:effectLst/>
                  <a:latin typeface="Times New Roman" panose="02020603050405020304" pitchFamily="18" charset="0"/>
                  <a:ea typeface="Times New Roman" panose="02020603050405020304" pitchFamily="18" charset="0"/>
                </a:endParaRPr>
              </a:p>
              <a:p>
                <a:pPr indent="609600" algn="just">
                  <a:lnSpc>
                    <a:spcPct val="150000"/>
                  </a:lnSpc>
                  <a:spcBef>
                    <a:spcPts val="600"/>
                  </a:spcBef>
                  <a:spcAft>
                    <a:spcPts val="600"/>
                  </a:spcAft>
                </a:pPr>
                <a:r>
                  <a:rPr lang="zh-CN" sz="2400" dirty="0">
                    <a:effectLst/>
                    <a:latin typeface="Times New Roman" panose="02020603050405020304" pitchFamily="18" charset="0"/>
                    <a:ea typeface="宋体" panose="02010600030101010101" pitchFamily="2" charset="-122"/>
                  </a:rPr>
                  <a:t>故</a:t>
                </a:r>
                <a:r>
                  <a:rPr lang="en-US" sz="2400" dirty="0">
                    <a:effectLst/>
                    <a:latin typeface="宋体" panose="02010600030101010101" pitchFamily="2" charset="-122"/>
                    <a:ea typeface="Times New Roman" panose="02020603050405020304" pitchFamily="18" charset="0"/>
                  </a:rPr>
                  <a:t>5</a:t>
                </a:r>
                <a:r>
                  <a:rPr lang="zh-CN" sz="2400" dirty="0">
                    <a:effectLst/>
                    <a:latin typeface="Times New Roman" panose="02020603050405020304" pitchFamily="18" charset="0"/>
                    <a:ea typeface="宋体" panose="02010600030101010101" pitchFamily="2" charset="-122"/>
                  </a:rPr>
                  <a:t>为主元素，作为标志对主元素</a:t>
                </a:r>
                <a:r>
                  <a:rPr lang="en-US" sz="2400" dirty="0">
                    <a:effectLst/>
                    <a:latin typeface="宋体" panose="02010600030101010101" pitchFamily="2" charset="-122"/>
                    <a:ea typeface="Times New Roman" panose="02020603050405020304" pitchFamily="18" charset="0"/>
                  </a:rPr>
                  <a:t>5</a:t>
                </a:r>
                <a:r>
                  <a:rPr lang="zh-CN" sz="2400" dirty="0">
                    <a:effectLst/>
                    <a:latin typeface="Times New Roman" panose="02020603050405020304" pitchFamily="18" charset="0"/>
                    <a:ea typeface="宋体" panose="02010600030101010101" pitchFamily="2" charset="-122"/>
                  </a:rPr>
                  <a:t>加上方括号</a:t>
                </a:r>
                <a:r>
                  <a:rPr lang="en-US" sz="2400" dirty="0">
                    <a:effectLst/>
                    <a:latin typeface="宋体" panose="02010600030101010101" pitchFamily="2" charset="-122"/>
                    <a:ea typeface="Times New Roman" panose="02020603050405020304" pitchFamily="18" charset="0"/>
                  </a:rPr>
                  <a:t>[ ],</a:t>
                </a:r>
                <a:r>
                  <a:rPr lang="zh-CN" sz="2400" dirty="0">
                    <a:effectLst/>
                    <a:latin typeface="Times New Roman" panose="02020603050405020304" pitchFamily="18" charset="0"/>
                    <a:ea typeface="宋体" panose="02010600030101010101" pitchFamily="2" charset="-122"/>
                  </a:rPr>
                  <a:t>主元素所在行的基变量</a:t>
                </a:r>
                <a14:m>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4</m:t>
                        </m:r>
                      </m:sub>
                    </m:sSub>
                  </m:oMath>
                </a14:m>
                <a:r>
                  <a:rPr lang="zh-CN" sz="2400" dirty="0">
                    <a:effectLst/>
                    <a:latin typeface="Times New Roman" panose="02020603050405020304" pitchFamily="18" charset="0"/>
                    <a:ea typeface="宋体" panose="02010600030101010101" pitchFamily="2" charset="-122"/>
                  </a:rPr>
                  <a:t>为离基变量</a:t>
                </a:r>
                <a:r>
                  <a:rPr lang="zh-CN" altLang="en-US" sz="2400" dirty="0">
                    <a:latin typeface="宋体" panose="02010600030101010101" pitchFamily="2" charset="-122"/>
                    <a:ea typeface="宋体" panose="02010600030101010101" pitchFamily="2" charset="-122"/>
                  </a:rPr>
                  <a:t>。</a:t>
                </a:r>
                <a:r>
                  <a:rPr lang="zh-CN" sz="2400" dirty="0">
                    <a:effectLst/>
                    <a:latin typeface="Times New Roman" panose="02020603050405020304" pitchFamily="18" charset="0"/>
                    <a:ea typeface="宋体" panose="02010600030101010101" pitchFamily="2" charset="-122"/>
                  </a:rPr>
                  <a:t>用</a:t>
                </a:r>
                <a14:m>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1</m:t>
                        </m:r>
                      </m:sub>
                    </m:sSub>
                  </m:oMath>
                </a14:m>
                <a:r>
                  <a:rPr lang="zh-CN" sz="2400" dirty="0">
                    <a:effectLst/>
                    <a:latin typeface="Times New Roman" panose="02020603050405020304" pitchFamily="18" charset="0"/>
                    <a:ea typeface="宋体" panose="02010600030101010101" pitchFamily="2" charset="-122"/>
                  </a:rPr>
                  <a:t>替换基变量</a:t>
                </a:r>
                <a14:m>
                  <m:oMath xmlns:m="http://schemas.openxmlformats.org/officeDocument/2006/math">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𝑥</m:t>
                        </m:r>
                      </m:e>
                      <m:sub>
                        <m:r>
                          <a:rPr lang="en-US" sz="2400" i="1">
                            <a:effectLst/>
                            <a:latin typeface="Cambria Math" panose="02040503050406030204" pitchFamily="18" charset="0"/>
                            <a:ea typeface="宋体" panose="02010600030101010101" pitchFamily="2" charset="-122"/>
                          </a:rPr>
                          <m:t>4</m:t>
                        </m:r>
                      </m:sub>
                    </m:sSub>
                  </m:oMath>
                </a14:m>
                <a:r>
                  <a:rPr lang="en-US" sz="2400" dirty="0">
                    <a:effectLst/>
                    <a:latin typeface="宋体" panose="02010600030101010101" pitchFamily="2" charset="-122"/>
                    <a:ea typeface="Times New Roman" panose="02020603050405020304" pitchFamily="18" charset="0"/>
                  </a:rPr>
                  <a:t>,</a:t>
                </a:r>
                <a:r>
                  <a:rPr lang="zh-CN" sz="2400" dirty="0">
                    <a:effectLst/>
                    <a:latin typeface="Times New Roman" panose="02020603050405020304" pitchFamily="18" charset="0"/>
                    <a:ea typeface="宋体" panose="02010600030101010101" pitchFamily="2" charset="-122"/>
                  </a:rPr>
                  <a:t>得到一个新的基</a:t>
                </a:r>
                <a14:m>
                  <m:oMath xmlns:m="http://schemas.openxmlformats.org/officeDocument/2006/math">
                    <m:d>
                      <m:dPr>
                        <m:begChr m:val="["/>
                        <m:endChr m:val="]"/>
                        <m:ctrlPr>
                          <a:rPr lang="en-US" sz="2400" i="1">
                            <a:effectLst/>
                            <a:latin typeface="Cambria Math" panose="02040503050406030204" pitchFamily="18" charset="0"/>
                            <a:ea typeface="宋体" panose="02010600030101010101" pitchFamily="2" charset="-122"/>
                          </a:rPr>
                        </m:ctrlPr>
                      </m:dPr>
                      <m:e>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𝐴</m:t>
                            </m:r>
                          </m:e>
                          <m:sub>
                            <m:r>
                              <a:rPr lang="en-US" sz="2400" i="1">
                                <a:effectLst/>
                                <a:latin typeface="Cambria Math" panose="02040503050406030204" pitchFamily="18" charset="0"/>
                                <a:ea typeface="宋体" panose="02010600030101010101" pitchFamily="2" charset="-122"/>
                              </a:rPr>
                              <m:t>3</m:t>
                            </m:r>
                          </m:sub>
                        </m:sSub>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𝐴</m:t>
                            </m:r>
                          </m:e>
                          <m:sub>
                            <m:r>
                              <a:rPr lang="en-US" sz="2400" i="1">
                                <a:effectLst/>
                                <a:latin typeface="Cambria Math" panose="02040503050406030204" pitchFamily="18" charset="0"/>
                                <a:ea typeface="宋体" panose="02010600030101010101" pitchFamily="2" charset="-122"/>
                              </a:rPr>
                              <m:t>1</m:t>
                            </m:r>
                          </m:sub>
                        </m:sSub>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𝐴</m:t>
                            </m:r>
                          </m:e>
                          <m:sub>
                            <m:r>
                              <a:rPr lang="en-US" sz="2400" i="1">
                                <a:effectLst/>
                                <a:latin typeface="Cambria Math" panose="02040503050406030204" pitchFamily="18" charset="0"/>
                                <a:ea typeface="宋体" panose="02010600030101010101" pitchFamily="2" charset="-122"/>
                              </a:rPr>
                              <m:t>5</m:t>
                            </m:r>
                          </m:sub>
                        </m:sSub>
                      </m:e>
                    </m:d>
                  </m:oMath>
                </a14:m>
                <a:r>
                  <a:rPr lang="zh-CN" sz="2400" dirty="0">
                    <a:effectLst/>
                    <a:latin typeface="Times New Roman" panose="02020603050405020304" pitchFamily="18" charset="0"/>
                    <a:ea typeface="宋体" panose="02010600030101010101" pitchFamily="2" charset="-122"/>
                  </a:rPr>
                  <a:t>。按照上述单纯形法计算步骤的第</a:t>
                </a:r>
                <a:r>
                  <a:rPr lang="en-US" sz="2400" dirty="0">
                    <a:effectLst/>
                    <a:latin typeface="宋体" panose="02010600030101010101" pitchFamily="2" charset="-122"/>
                    <a:ea typeface="Times New Roman" panose="02020603050405020304" pitchFamily="18" charset="0"/>
                  </a:rPr>
                  <a:t>(3)</a:t>
                </a:r>
                <a:r>
                  <a:rPr lang="zh-CN" sz="2400" dirty="0">
                    <a:effectLst/>
                    <a:latin typeface="Times New Roman" panose="02020603050405020304" pitchFamily="18" charset="0"/>
                    <a:ea typeface="宋体" panose="02010600030101010101" pitchFamily="2" charset="-122"/>
                  </a:rPr>
                  <a:t>步中的</a:t>
                </a:r>
                <a:r>
                  <a:rPr lang="en-US" sz="2400" dirty="0">
                    <a:effectLst/>
                    <a:latin typeface="宋体" panose="02010600030101010101" pitchFamily="2" charset="-122"/>
                    <a:ea typeface="Times New Roman" panose="02020603050405020304" pitchFamily="18" charset="0"/>
                  </a:rPr>
                  <a:t>(c),</a:t>
                </a:r>
                <a:r>
                  <a:rPr lang="zh-CN" sz="2400" dirty="0">
                    <a:effectLst/>
                    <a:latin typeface="Times New Roman" panose="02020603050405020304" pitchFamily="18" charset="0"/>
                    <a:ea typeface="宋体" panose="02010600030101010101" pitchFamily="2" charset="-122"/>
                  </a:rPr>
                  <a:t>可找到一个新基本可行解，并列出新单纯形表</a:t>
                </a:r>
                <a:r>
                  <a:rPr lang="en-US" sz="2400" dirty="0">
                    <a:effectLst/>
                    <a:latin typeface="宋体" panose="02010600030101010101" pitchFamily="2" charset="-122"/>
                    <a:ea typeface="Times New Roman" panose="02020603050405020304" pitchFamily="18" charset="0"/>
                  </a:rPr>
                  <a:t>:</a:t>
                </a:r>
                <a:endParaRPr lang="en-US" sz="2400" dirty="0">
                  <a:effectLst/>
                  <a:latin typeface="Times New Roman" panose="02020603050405020304" pitchFamily="18" charset="0"/>
                  <a:ea typeface="Times New Roman" panose="0202060305040502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35360" y="54043"/>
                <a:ext cx="11521280" cy="3292889"/>
              </a:xfrm>
              <a:prstGeom prst="rect">
                <a:avLst/>
              </a:prstGeom>
              <a:blipFill rotWithShape="1">
                <a:blip r:embed="rId2"/>
                <a:stretch>
                  <a:fillRect l="-1" t="-2" r="5" b="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1697824" y="3789040"/>
              <a:ext cx="8796352" cy="2998281"/>
            </p:xfrm>
            <a:graphic>
              <a:graphicData uri="http://schemas.openxmlformats.org/drawingml/2006/table">
                <a:tbl>
                  <a:tblPr firstRow="1" firstCol="1" bandRow="1"/>
                  <a:tblGrid>
                    <a:gridCol w="1099544">
                      <a:extLst>
                        <a:ext uri="{9D8B030D-6E8A-4147-A177-3AD203B41FA5}">
                          <a16:colId xmlns:a16="http://schemas.microsoft.com/office/drawing/2014/main" val="20000"/>
                        </a:ext>
                      </a:extLst>
                    </a:gridCol>
                    <a:gridCol w="1099544">
                      <a:extLst>
                        <a:ext uri="{9D8B030D-6E8A-4147-A177-3AD203B41FA5}">
                          <a16:colId xmlns:a16="http://schemas.microsoft.com/office/drawing/2014/main" val="20001"/>
                        </a:ext>
                      </a:extLst>
                    </a:gridCol>
                    <a:gridCol w="1099544">
                      <a:extLst>
                        <a:ext uri="{9D8B030D-6E8A-4147-A177-3AD203B41FA5}">
                          <a16:colId xmlns:a16="http://schemas.microsoft.com/office/drawing/2014/main" val="20002"/>
                        </a:ext>
                      </a:extLst>
                    </a:gridCol>
                    <a:gridCol w="1099544">
                      <a:extLst>
                        <a:ext uri="{9D8B030D-6E8A-4147-A177-3AD203B41FA5}">
                          <a16:colId xmlns:a16="http://schemas.microsoft.com/office/drawing/2014/main" val="20003"/>
                        </a:ext>
                      </a:extLst>
                    </a:gridCol>
                    <a:gridCol w="1099544">
                      <a:extLst>
                        <a:ext uri="{9D8B030D-6E8A-4147-A177-3AD203B41FA5}">
                          <a16:colId xmlns:a16="http://schemas.microsoft.com/office/drawing/2014/main" val="20004"/>
                        </a:ext>
                      </a:extLst>
                    </a:gridCol>
                    <a:gridCol w="1099544">
                      <a:extLst>
                        <a:ext uri="{9D8B030D-6E8A-4147-A177-3AD203B41FA5}">
                          <a16:colId xmlns:a16="http://schemas.microsoft.com/office/drawing/2014/main" val="20005"/>
                        </a:ext>
                      </a:extLst>
                    </a:gridCol>
                    <a:gridCol w="1099544">
                      <a:extLst>
                        <a:ext uri="{9D8B030D-6E8A-4147-A177-3AD203B41FA5}">
                          <a16:colId xmlns:a16="http://schemas.microsoft.com/office/drawing/2014/main" val="20006"/>
                        </a:ext>
                      </a:extLst>
                    </a:gridCol>
                    <a:gridCol w="1099544">
                      <a:extLst>
                        <a:ext uri="{9D8B030D-6E8A-4147-A177-3AD203B41FA5}">
                          <a16:colId xmlns:a16="http://schemas.microsoft.com/office/drawing/2014/main" val="20007"/>
                        </a:ext>
                      </a:extLst>
                    </a:gridCol>
                  </a:tblGrid>
                  <a:tr h="388843">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𝑐</m:t>
                                    </m:r>
                                  </m:e>
                                  <m:sub>
                                    <m:r>
                                      <a:rPr lang="en-US" sz="1400" i="1">
                                        <a:effectLst/>
                                        <a:latin typeface="Cambria Math" panose="02040503050406030204" pitchFamily="18" charset="0"/>
                                        <a:ea typeface="宋体" panose="02010600030101010101" pitchFamily="2" charset="-122"/>
                                      </a:rPr>
                                      <m:t>𝑗</m:t>
                                    </m:r>
                                  </m:sub>
                                </m:sSub>
                                <m:r>
                                  <a:rPr lang="en-US" sz="1400" i="1">
                                    <a:effectLst/>
                                    <a:latin typeface="Cambria Math" panose="02040503050406030204" pitchFamily="18" charset="0"/>
                                    <a:ea typeface="宋体" panose="02010600030101010101" pitchFamily="2" charset="-122"/>
                                  </a:rPr>
                                  <m:t>→</m:t>
                                </m:r>
                              </m:oMath>
                            </m:oMathPara>
                          </a14:m>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-5</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-2</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70876">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𝑐</m:t>
                                    </m:r>
                                  </m:e>
                                  <m:sub>
                                    <m:r>
                                      <a:rPr lang="en-US" sz="1400" i="1">
                                        <a:effectLst/>
                                        <a:latin typeface="Cambria Math" panose="02040503050406030204" pitchFamily="18" charset="0"/>
                                        <a:ea typeface="宋体" panose="02010600030101010101" pitchFamily="2" charset="-122"/>
                                      </a:rPr>
                                      <m:t>𝐵</m:t>
                                    </m:r>
                                  </m:sub>
                                </m:sSub>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400">
                              <a:effectLst/>
                              <a:latin typeface="Times New Roman" panose="02020603050405020304" pitchFamily="18" charset="0"/>
                              <a:ea typeface="宋体" panose="02010600030101010101" pitchFamily="2" charset="-122"/>
                            </a:rPr>
                            <a:t>基</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sz="1400" i="1">
                                        <a:effectLst/>
                                        <a:latin typeface="Cambria Math" panose="02040503050406030204" pitchFamily="18" charset="0"/>
                                        <a:ea typeface="宋体" panose="02010600030101010101" pitchFamily="2" charset="-122"/>
                                      </a:rPr>
                                    </m:ctrlPr>
                                  </m:accPr>
                                  <m:e>
                                    <m:r>
                                      <a:rPr lang="en-US" sz="1400" i="1">
                                        <a:effectLst/>
                                        <a:latin typeface="Cambria Math" panose="02040503050406030204" pitchFamily="18" charset="0"/>
                                        <a:ea typeface="宋体" panose="02010600030101010101" pitchFamily="2" charset="-122"/>
                                      </a:rPr>
                                      <m:t>𝑏</m:t>
                                    </m:r>
                                  </m:e>
                                </m:acc>
                              </m:oMath>
                            </m:oMathPara>
                          </a14:m>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𝑥</m:t>
                                    </m:r>
                                  </m:e>
                                  <m:sub>
                                    <m:r>
                                      <a:rPr lang="en-US" sz="1400" i="1">
                                        <a:effectLst/>
                                        <a:latin typeface="Cambria Math" panose="02040503050406030204" pitchFamily="18" charset="0"/>
                                        <a:ea typeface="宋体" panose="02010600030101010101" pitchFamily="2" charset="-122"/>
                                      </a:rPr>
                                      <m:t>1</m:t>
                                    </m:r>
                                  </m:sub>
                                </m:sSub>
                              </m:oMath>
                            </m:oMathPara>
                          </a14:m>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𝑥</m:t>
                                    </m:r>
                                  </m:e>
                                  <m:sub>
                                    <m:r>
                                      <a:rPr lang="en-US" sz="1400" i="1">
                                        <a:effectLst/>
                                        <a:latin typeface="Cambria Math" panose="02040503050406030204" pitchFamily="18" charset="0"/>
                                        <a:ea typeface="宋体" panose="02010600030101010101" pitchFamily="2" charset="-122"/>
                                      </a:rPr>
                                      <m:t>2</m:t>
                                    </m:r>
                                  </m:sub>
                                </m:sSub>
                              </m:oMath>
                            </m:oMathPara>
                          </a14:m>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𝑥</m:t>
                                    </m:r>
                                  </m:e>
                                  <m:sub>
                                    <m:r>
                                      <a:rPr lang="en-US" sz="1400" i="1">
                                        <a:effectLst/>
                                        <a:latin typeface="Cambria Math" panose="02040503050406030204" pitchFamily="18" charset="0"/>
                                        <a:ea typeface="宋体" panose="02010600030101010101" pitchFamily="2" charset="-122"/>
                                      </a:rPr>
                                      <m:t>3</m:t>
                                    </m:r>
                                  </m:sub>
                                </m:sSub>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𝑥</m:t>
                                    </m:r>
                                  </m:e>
                                  <m:sub>
                                    <m:r>
                                      <a:rPr lang="en-US" sz="1400" i="1">
                                        <a:effectLst/>
                                        <a:latin typeface="Cambria Math" panose="02040503050406030204" pitchFamily="18" charset="0"/>
                                        <a:ea typeface="宋体" panose="02010600030101010101" pitchFamily="2" charset="-122"/>
                                      </a:rPr>
                                      <m:t>4</m:t>
                                    </m:r>
                                  </m:sub>
                                </m:sSub>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𝑥</m:t>
                                    </m:r>
                                  </m:e>
                                  <m:sub>
                                    <m:r>
                                      <a:rPr lang="en-US" sz="1400" i="1">
                                        <a:effectLst/>
                                        <a:latin typeface="Cambria Math" panose="02040503050406030204" pitchFamily="18" charset="0"/>
                                        <a:ea typeface="宋体" panose="02010600030101010101" pitchFamily="2" charset="-122"/>
                                      </a:rPr>
                                      <m:t>5</m:t>
                                    </m:r>
                                  </m:sub>
                                </m:sSub>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64097">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𝑥</m:t>
                                    </m:r>
                                  </m:e>
                                  <m:sub>
                                    <m:r>
                                      <a:rPr lang="en-US" sz="1400" i="1">
                                        <a:effectLst/>
                                        <a:latin typeface="Cambria Math" panose="02040503050406030204" pitchFamily="18" charset="0"/>
                                        <a:ea typeface="宋体" panose="02010600030101010101" pitchFamily="2" charset="-122"/>
                                      </a:rPr>
                                      <m:t>3</m:t>
                                    </m:r>
                                  </m:sub>
                                </m:sSub>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70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0</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[14]</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1</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-6</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634134">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-5</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𝑥</m:t>
                                    </m:r>
                                  </m:e>
                                  <m:sub>
                                    <m:r>
                                      <a:rPr lang="en-US" sz="1400" i="1">
                                        <a:effectLst/>
                                        <a:latin typeface="Cambria Math" panose="02040503050406030204" pitchFamily="18" charset="0"/>
                                        <a:ea typeface="宋体" panose="02010600030101010101" pitchFamily="2" charset="-122"/>
                                      </a:rPr>
                                      <m:t>1</m:t>
                                    </m:r>
                                  </m:sub>
                                </m:sSub>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3</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1</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400" i="1">
                                        <a:effectLst/>
                                        <a:latin typeface="Cambria Math" panose="02040503050406030204" pitchFamily="18" charset="0"/>
                                        <a:ea typeface="宋体" panose="02010600030101010101" pitchFamily="2" charset="-122"/>
                                      </a:rPr>
                                    </m:ctrlPr>
                                  </m:fPr>
                                  <m:num>
                                    <m:r>
                                      <a:rPr lang="en-US" sz="1400" i="1">
                                        <a:effectLst/>
                                        <a:latin typeface="Cambria Math" panose="02040503050406030204" pitchFamily="18" charset="0"/>
                                        <a:ea typeface="宋体" panose="02010600030101010101" pitchFamily="2" charset="-122"/>
                                      </a:rPr>
                                      <m:t>1</m:t>
                                    </m:r>
                                  </m:num>
                                  <m:den>
                                    <m:r>
                                      <a:rPr lang="en-US" sz="1400" i="1">
                                        <a:effectLst/>
                                        <a:latin typeface="Cambria Math" panose="02040503050406030204" pitchFamily="18" charset="0"/>
                                        <a:ea typeface="宋体" panose="02010600030101010101" pitchFamily="2" charset="-122"/>
                                      </a:rPr>
                                      <m:t>5</m:t>
                                    </m:r>
                                  </m:den>
                                </m:f>
                              </m:oMath>
                            </m:oMathPara>
                          </a14:m>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0</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400" i="1">
                                        <a:effectLst/>
                                        <a:latin typeface="Cambria Math" panose="02040503050406030204" pitchFamily="18" charset="0"/>
                                        <a:ea typeface="宋体" panose="02010600030101010101" pitchFamily="2" charset="-122"/>
                                      </a:rPr>
                                    </m:ctrlPr>
                                  </m:fPr>
                                  <m:num>
                                    <m:r>
                                      <a:rPr lang="en-US" sz="1400" i="1">
                                        <a:effectLst/>
                                        <a:latin typeface="Cambria Math" panose="02040503050406030204" pitchFamily="18" charset="0"/>
                                        <a:ea typeface="宋体" panose="02010600030101010101" pitchFamily="2" charset="-122"/>
                                      </a:rPr>
                                      <m:t>1</m:t>
                                    </m:r>
                                  </m:num>
                                  <m:den>
                                    <m:r>
                                      <a:rPr lang="en-US" sz="1400" i="1">
                                        <a:effectLst/>
                                        <a:latin typeface="Cambria Math" panose="02040503050406030204" pitchFamily="18" charset="0"/>
                                        <a:ea typeface="宋体" panose="02010600030101010101" pitchFamily="2" charset="-122"/>
                                      </a:rPr>
                                      <m:t>5</m:t>
                                    </m:r>
                                  </m:den>
                                </m:f>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634134">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𝑥</m:t>
                                    </m:r>
                                  </m:e>
                                  <m:sub>
                                    <m:r>
                                      <a:rPr lang="en-US" sz="1400" i="1">
                                        <a:effectLst/>
                                        <a:latin typeface="Cambria Math" panose="02040503050406030204" pitchFamily="18" charset="0"/>
                                        <a:ea typeface="宋体" panose="02010600030101010101" pitchFamily="2" charset="-122"/>
                                      </a:rPr>
                                      <m:t>5</m:t>
                                    </m:r>
                                  </m:sub>
                                </m:sSub>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1</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400" i="1">
                                    <a:effectLst/>
                                    <a:latin typeface="Cambria Math" panose="02040503050406030204" pitchFamily="18" charset="0"/>
                                    <a:ea typeface="宋体" panose="02010600030101010101" pitchFamily="2" charset="-122"/>
                                  </a:rPr>
                                  <m:t>−</m:t>
                                </m:r>
                                <m:f>
                                  <m:fPr>
                                    <m:ctrlPr>
                                      <a:rPr lang="en-US" sz="1400" i="1">
                                        <a:effectLst/>
                                        <a:latin typeface="Cambria Math" panose="02040503050406030204" pitchFamily="18" charset="0"/>
                                        <a:ea typeface="宋体" panose="02010600030101010101" pitchFamily="2" charset="-122"/>
                                      </a:rPr>
                                    </m:ctrlPr>
                                  </m:fPr>
                                  <m:num>
                                    <m:r>
                                      <a:rPr lang="en-US" sz="1400" i="1">
                                        <a:effectLst/>
                                        <a:latin typeface="Cambria Math" panose="02040503050406030204" pitchFamily="18" charset="0"/>
                                        <a:ea typeface="宋体" panose="02010600030101010101" pitchFamily="2" charset="-122"/>
                                      </a:rPr>
                                      <m:t>1</m:t>
                                    </m:r>
                                  </m:num>
                                  <m:den>
                                    <m:r>
                                      <a:rPr lang="en-US" sz="1400" i="1">
                                        <a:effectLst/>
                                        <a:latin typeface="Cambria Math" panose="02040503050406030204" pitchFamily="18" charset="0"/>
                                        <a:ea typeface="宋体" panose="02010600030101010101" pitchFamily="2" charset="-122"/>
                                      </a:rPr>
                                      <m:t>5</m:t>
                                    </m:r>
                                  </m:den>
                                </m:f>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0</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400" i="1">
                                    <a:effectLst/>
                                    <a:latin typeface="Cambria Math" panose="02040503050406030204" pitchFamily="18" charset="0"/>
                                    <a:ea typeface="宋体" panose="02010600030101010101" pitchFamily="2" charset="-122"/>
                                  </a:rPr>
                                  <m:t>−</m:t>
                                </m:r>
                                <m:f>
                                  <m:fPr>
                                    <m:ctrlPr>
                                      <a:rPr lang="en-US" sz="1400" i="1">
                                        <a:effectLst/>
                                        <a:latin typeface="Cambria Math" panose="02040503050406030204" pitchFamily="18" charset="0"/>
                                        <a:ea typeface="宋体" panose="02010600030101010101" pitchFamily="2" charset="-122"/>
                                      </a:rPr>
                                    </m:ctrlPr>
                                  </m:fPr>
                                  <m:num>
                                    <m:r>
                                      <a:rPr lang="en-US" sz="1400" i="1">
                                        <a:effectLst/>
                                        <a:latin typeface="Cambria Math" panose="02040503050406030204" pitchFamily="18" charset="0"/>
                                        <a:ea typeface="宋体" panose="02010600030101010101" pitchFamily="2" charset="-122"/>
                                      </a:rPr>
                                      <m:t>1</m:t>
                                    </m:r>
                                  </m:num>
                                  <m:den>
                                    <m:r>
                                      <a:rPr lang="en-US" sz="1400" i="1">
                                        <a:effectLst/>
                                        <a:latin typeface="Cambria Math" panose="02040503050406030204" pitchFamily="18" charset="0"/>
                                        <a:ea typeface="宋体" panose="02010600030101010101" pitchFamily="2" charset="-122"/>
                                      </a:rPr>
                                      <m:t>5</m:t>
                                    </m:r>
                                  </m:den>
                                </m:f>
                              </m:oMath>
                            </m:oMathPara>
                          </a14:m>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1</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388843">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a:effectLst/>
                                        <a:latin typeface="Cambria Math" panose="02040503050406030204" pitchFamily="18" charset="0"/>
                                        <a:ea typeface="宋体" panose="02010600030101010101" pitchFamily="2" charset="-122"/>
                                      </a:rPr>
                                    </m:ctrlPr>
                                  </m:sSubPr>
                                  <m:e>
                                    <m:r>
                                      <a:rPr lang="en-US" sz="1400" i="1">
                                        <a:effectLst/>
                                        <a:latin typeface="Cambria Math" panose="02040503050406030204" pitchFamily="18" charset="0"/>
                                        <a:ea typeface="宋体" panose="02010600030101010101" pitchFamily="2" charset="-122"/>
                                      </a:rPr>
                                      <m:t>𝜎</m:t>
                                    </m:r>
                                  </m:e>
                                  <m:sub>
                                    <m:r>
                                      <a:rPr lang="en-US" sz="1400" i="1">
                                        <a:effectLst/>
                                        <a:latin typeface="Cambria Math" panose="02040503050406030204" pitchFamily="18" charset="0"/>
                                        <a:ea typeface="宋体" panose="02010600030101010101" pitchFamily="2" charset="-122"/>
                                      </a:rPr>
                                      <m:t>𝑗</m:t>
                                    </m:r>
                                  </m:sub>
                                </m:sSub>
                              </m:oMath>
                            </m:oMathPara>
                          </a14:m>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-1</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1</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0</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mc:Choice>
        <mc:Fallback xmlns="">
          <p:graphicFrame>
            <p:nvGraphicFramePr>
              <p:cNvPr id="7" name="Table 6"/>
              <p:cNvGraphicFramePr>
                <a:graphicFrameLocks noGrp="1"/>
              </p:cNvGraphicFramePr>
              <p:nvPr/>
            </p:nvGraphicFramePr>
            <p:xfrm>
              <a:off x="1697824" y="3789040"/>
              <a:ext cx="8796352" cy="2998281"/>
            </p:xfrm>
            <a:graphic>
              <a:graphicData uri="http://schemas.openxmlformats.org/drawingml/2006/table">
                <a:tbl>
                  <a:tblPr firstRow="1" firstCol="1" bandRow="1"/>
                  <a:tblGrid>
                    <a:gridCol w="1099544"/>
                    <a:gridCol w="1099544"/>
                    <a:gridCol w="1099544"/>
                    <a:gridCol w="1099544"/>
                    <a:gridCol w="1099544"/>
                    <a:gridCol w="1099544"/>
                    <a:gridCol w="1099544"/>
                    <a:gridCol w="1099544"/>
                  </a:tblGrid>
                  <a:tr h="38862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hMerge="1">
                      <a:tcPr/>
                    </a:tc>
                    <a:tc hMerge="1">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-5</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-2</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7084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pPr algn="ctr">
                            <a:lnSpc>
                              <a:spcPct val="150000"/>
                            </a:lnSpc>
                            <a:spcBef>
                              <a:spcPts val="600"/>
                            </a:spcBef>
                            <a:spcAft>
                              <a:spcPts val="600"/>
                            </a:spcAft>
                          </a:pPr>
                          <a:r>
                            <a:rPr lang="zh-CN" sz="1400">
                              <a:effectLst/>
                              <a:latin typeface="Times New Roman" panose="02020603050405020304" pitchFamily="18" charset="0"/>
                              <a:ea typeface="宋体" panose="02010600030101010101" pitchFamily="2" charset="-122"/>
                            </a:rPr>
                            <a:t>基</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r>
                  <a:tr h="364490">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70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0</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[14]</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1</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-6</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633730">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-5</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3</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1</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0</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634365">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1</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0</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1</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862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blipFill>
                      </a:tcPr>
                    </a:tc>
                    <a:tc hMerge="1">
                      <a:tcPr/>
                    </a:tc>
                    <a:tc hMerge="1">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-1</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a:effectLst/>
                              <a:latin typeface="宋体" panose="02010600030101010101" pitchFamily="2" charset="-122"/>
                              <a:ea typeface="Times New Roman" panose="02020603050405020304" pitchFamily="18" charset="0"/>
                            </a:rPr>
                            <a:t>0</a:t>
                          </a:r>
                          <a:endParaRPr lang="en-US"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1</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400" dirty="0">
                              <a:effectLst/>
                              <a:latin typeface="宋体" panose="02010600030101010101" pitchFamily="2" charset="-122"/>
                              <a:ea typeface="Times New Roman" panose="02020603050405020304" pitchFamily="18" charset="0"/>
                            </a:rPr>
                            <a:t>0</a:t>
                          </a:r>
                          <a:endParaRPr lang="en-US"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mc:Fallback>
      </mc:AlternateContent>
      <p:pic>
        <p:nvPicPr>
          <p:cNvPr id="3" name="图片 2"/>
          <p:cNvPicPr>
            <a:picLocks noChangeAspect="1"/>
          </p:cNvPicPr>
          <p:nvPr/>
        </p:nvPicPr>
        <p:blipFill>
          <a:blip r:embed="rId4"/>
          <a:stretch>
            <a:fillRect/>
          </a:stretch>
        </p:blipFill>
        <p:spPr>
          <a:xfrm>
            <a:off x="6090185" y="347937"/>
            <a:ext cx="5924550" cy="2705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551384" y="260648"/>
                <a:ext cx="11089232" cy="1770549"/>
              </a:xfrm>
              <a:prstGeom prst="rect">
                <a:avLst/>
              </a:prstGeom>
              <a:noFill/>
            </p:spPr>
            <p:txBody>
              <a:bodyPr wrap="square">
                <a:spAutoFit/>
              </a:bodyPr>
              <a:lstStyle/>
              <a:p>
                <a:pPr indent="609600" algn="just">
                  <a:lnSpc>
                    <a:spcPct val="150000"/>
                  </a:lnSpc>
                  <a:spcBef>
                    <a:spcPts val="600"/>
                  </a:spcBef>
                  <a:spcAft>
                    <a:spcPts val="600"/>
                  </a:spcAft>
                </a:pPr>
                <a:r>
                  <a:rPr lang="zh-CN" altLang="en-US" sz="2400" dirty="0">
                    <a:latin typeface="+mn-ea"/>
                  </a:rPr>
                  <a:t>由于表中还存在小于零的检验数</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2</m:t>
                        </m:r>
                      </m:sub>
                    </m:sSub>
                    <m:r>
                      <a:rPr lang="zh-CN" altLang="en-US" sz="2400" i="1">
                        <a:latin typeface="Cambria Math" panose="02040503050406030204" pitchFamily="18" charset="0"/>
                      </a:rPr>
                      <m:t>，</m:t>
                    </m:r>
                  </m:oMath>
                </a14:m>
                <a:r>
                  <a:rPr lang="zh-CN" altLang="en-US" sz="2400" dirty="0">
                    <a:latin typeface="+mn-ea"/>
                  </a:rPr>
                  <a:t>故重复上述步骤得到下表，表中所有</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𝜎</m:t>
                        </m:r>
                      </m:e>
                      <m:sub>
                        <m:r>
                          <a:rPr lang="en-US" sz="2400" i="1">
                            <a:latin typeface="Cambria Math" panose="02040503050406030204" pitchFamily="18" charset="0"/>
                          </a:rPr>
                          <m:t>𝑗</m:t>
                        </m:r>
                      </m:sub>
                    </m:sSub>
                    <m:r>
                      <a:rPr lang="en-US" sz="2400" i="1">
                        <a:latin typeface="Cambria Math" panose="02040503050406030204" pitchFamily="18" charset="0"/>
                      </a:rPr>
                      <m:t>≥0</m:t>
                    </m:r>
                    <m:r>
                      <a:rPr lang="zh-CN" altLang="en-US" sz="2400" i="1">
                        <a:latin typeface="Cambria Math" panose="02040503050406030204" pitchFamily="18" charset="0"/>
                      </a:rPr>
                      <m:t>，</m:t>
                    </m:r>
                  </m:oMath>
                </a14:m>
                <a:r>
                  <a:rPr lang="zh-CN" altLang="en-US" sz="2400" dirty="0">
                    <a:latin typeface="+mn-ea"/>
                  </a:rPr>
                  <a:t>且基变量中不含人工变量，故表中的基本可行解</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(2,5,0,0,2)</m:t>
                        </m:r>
                      </m:e>
                      <m:sup>
                        <m:r>
                          <a:rPr lang="en-US" sz="2400" i="1">
                            <a:latin typeface="Cambria Math" panose="02040503050406030204" pitchFamily="18" charset="0"/>
                          </a:rPr>
                          <m:t>𝑇</m:t>
                        </m:r>
                      </m:sup>
                    </m:sSup>
                  </m:oMath>
                </a14:m>
                <a:r>
                  <a:rPr lang="zh-CN" altLang="en-US" sz="2400" dirty="0">
                    <a:latin typeface="+mn-ea"/>
                  </a:rPr>
                  <a:t>为最优解，代人目标函数得</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𝑧</m:t>
                        </m:r>
                      </m:e>
                      <m:sup>
                        <m:r>
                          <a:rPr lang="en-US" sz="2400" i="1">
                            <a:latin typeface="Cambria Math" panose="02040503050406030204" pitchFamily="18" charset="0"/>
                          </a:rPr>
                          <m:t>′</m:t>
                        </m:r>
                      </m:sup>
                    </m:sSup>
                    <m:r>
                      <a:rPr lang="en-US" sz="2400" i="1">
                        <a:latin typeface="Cambria Math" panose="02040503050406030204" pitchFamily="18" charset="0"/>
                      </a:rPr>
                      <m:t>=−20</m:t>
                    </m:r>
                  </m:oMath>
                </a14:m>
                <a:r>
                  <a:rPr lang="zh-CN" altLang="en-US" sz="2400" dirty="0">
                    <a:latin typeface="+mn-ea"/>
                  </a:rPr>
                  <a:t>。</a:t>
                </a:r>
                <a:endParaRPr lang="en-US" sz="2400" dirty="0">
                  <a:latin typeface="+mn-ea"/>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551384" y="260648"/>
                <a:ext cx="11089232" cy="1770549"/>
              </a:xfrm>
              <a:prstGeom prst="rect">
                <a:avLst/>
              </a:prstGeom>
              <a:blipFill rotWithShape="1">
                <a:blip r:embed="rId2"/>
                <a:stretch>
                  <a:fillRect l="-2" t="-17" r="4" b="26"/>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5375920" y="116632"/>
            <a:ext cx="6493768" cy="2161550"/>
          </a:xfrm>
          <a:prstGeom prst="rect">
            <a:avLst/>
          </a:prstGeom>
        </p:spPr>
      </p:pic>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911424" y="2186832"/>
              <a:ext cx="5267960" cy="4410520"/>
            </p:xfrm>
            <a:graphic>
              <a:graphicData uri="http://schemas.openxmlformats.org/drawingml/2006/table">
                <a:tbl>
                  <a:tblPr firstRow="1" firstCol="1" bandRow="1"/>
                  <a:tblGrid>
                    <a:gridCol w="658495">
                      <a:extLst>
                        <a:ext uri="{9D8B030D-6E8A-4147-A177-3AD203B41FA5}">
                          <a16:colId xmlns:a16="http://schemas.microsoft.com/office/drawing/2014/main" val="20000"/>
                        </a:ext>
                      </a:extLst>
                    </a:gridCol>
                    <a:gridCol w="658495">
                      <a:extLst>
                        <a:ext uri="{9D8B030D-6E8A-4147-A177-3AD203B41FA5}">
                          <a16:colId xmlns:a16="http://schemas.microsoft.com/office/drawing/2014/main" val="20001"/>
                        </a:ext>
                      </a:extLst>
                    </a:gridCol>
                    <a:gridCol w="658495">
                      <a:extLst>
                        <a:ext uri="{9D8B030D-6E8A-4147-A177-3AD203B41FA5}">
                          <a16:colId xmlns:a16="http://schemas.microsoft.com/office/drawing/2014/main" val="20002"/>
                        </a:ext>
                      </a:extLst>
                    </a:gridCol>
                    <a:gridCol w="658495">
                      <a:extLst>
                        <a:ext uri="{9D8B030D-6E8A-4147-A177-3AD203B41FA5}">
                          <a16:colId xmlns:a16="http://schemas.microsoft.com/office/drawing/2014/main" val="20003"/>
                        </a:ext>
                      </a:extLst>
                    </a:gridCol>
                    <a:gridCol w="658495">
                      <a:extLst>
                        <a:ext uri="{9D8B030D-6E8A-4147-A177-3AD203B41FA5}">
                          <a16:colId xmlns:a16="http://schemas.microsoft.com/office/drawing/2014/main" val="20004"/>
                        </a:ext>
                      </a:extLst>
                    </a:gridCol>
                    <a:gridCol w="658495">
                      <a:extLst>
                        <a:ext uri="{9D8B030D-6E8A-4147-A177-3AD203B41FA5}">
                          <a16:colId xmlns:a16="http://schemas.microsoft.com/office/drawing/2014/main" val="20005"/>
                        </a:ext>
                      </a:extLst>
                    </a:gridCol>
                    <a:gridCol w="658495">
                      <a:extLst>
                        <a:ext uri="{9D8B030D-6E8A-4147-A177-3AD203B41FA5}">
                          <a16:colId xmlns:a16="http://schemas.microsoft.com/office/drawing/2014/main" val="20006"/>
                        </a:ext>
                      </a:extLst>
                    </a:gridCol>
                    <a:gridCol w="658495">
                      <a:extLst>
                        <a:ext uri="{9D8B030D-6E8A-4147-A177-3AD203B41FA5}">
                          <a16:colId xmlns:a16="http://schemas.microsoft.com/office/drawing/2014/main" val="20007"/>
                        </a:ext>
                      </a:extLst>
                    </a:gridCol>
                  </a:tblGrid>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𝑗</m:t>
                                    </m:r>
                                  </m:sub>
                                </m:sSub>
                                <m:r>
                                  <a:rPr lang="en-US" sz="1800" i="1">
                                    <a:effectLst/>
                                    <a:latin typeface="Cambria Math" panose="02040503050406030204" pitchFamily="18" charset="0"/>
                                    <a:ea typeface="宋体" panose="02010600030101010101" pitchFamily="2" charset="-122"/>
                                  </a:rPr>
                                  <m:t>→</m:t>
                                </m:r>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𝑐</m:t>
                                    </m:r>
                                  </m:e>
                                  <m:sub>
                                    <m:r>
                                      <a:rPr lang="en-US" sz="1800" i="1">
                                        <a:effectLst/>
                                        <a:latin typeface="Cambria Math" panose="02040503050406030204" pitchFamily="18" charset="0"/>
                                        <a:ea typeface="宋体" panose="02010600030101010101" pitchFamily="2" charset="-122"/>
                                      </a:rPr>
                                      <m:t>𝐵</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zh-CN" sz="1800">
                              <a:effectLst/>
                              <a:latin typeface="Times New Roman" panose="02020603050405020304" pitchFamily="18" charset="0"/>
                              <a:ea typeface="宋体" panose="02010600030101010101" pitchFamily="2" charset="-122"/>
                            </a:rPr>
                            <a:t>基</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acc>
                                  <m:accPr>
                                    <m:chr m:val="̅"/>
                                    <m:ctrlPr>
                                      <a:rPr lang="en-US" sz="1800" i="1">
                                        <a:effectLst/>
                                        <a:latin typeface="Cambria Math" panose="02040503050406030204" pitchFamily="18" charset="0"/>
                                        <a:ea typeface="宋体" panose="02010600030101010101" pitchFamily="2" charset="-122"/>
                                      </a:rPr>
                                    </m:ctrlPr>
                                  </m:accPr>
                                  <m:e>
                                    <m:r>
                                      <a:rPr lang="en-US" sz="1800" i="1">
                                        <a:effectLst/>
                                        <a:latin typeface="Cambria Math" panose="02040503050406030204" pitchFamily="18" charset="0"/>
                                        <a:ea typeface="宋体" panose="02010600030101010101" pitchFamily="2" charset="-122"/>
                                      </a:rPr>
                                      <m:t>𝑏</m:t>
                                    </m:r>
                                  </m:e>
                                </m:acc>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1</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2</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3</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4</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5</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2</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1</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宋体" panose="02010600030101010101" pitchFamily="2" charset="-122"/>
                                      </a:rPr>
                                    </m:ctrlPr>
                                  </m:fPr>
                                  <m:num>
                                    <m:r>
                                      <a:rPr lang="en-US" sz="1800" i="1">
                                        <a:effectLst/>
                                        <a:latin typeface="Cambria Math" panose="02040503050406030204" pitchFamily="18" charset="0"/>
                                        <a:ea typeface="宋体" panose="02010600030101010101" pitchFamily="2" charset="-122"/>
                                      </a:rPr>
                                      <m:t>1</m:t>
                                    </m:r>
                                  </m:num>
                                  <m:den>
                                    <m:r>
                                      <a:rPr lang="en-US" sz="1800" i="1">
                                        <a:effectLst/>
                                        <a:latin typeface="Cambria Math" panose="02040503050406030204" pitchFamily="18" charset="0"/>
                                        <a:ea typeface="宋体" panose="02010600030101010101" pitchFamily="2" charset="-122"/>
                                      </a:rPr>
                                      <m:t>14</m:t>
                                    </m:r>
                                  </m:den>
                                </m:f>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r>
                                      <a:rPr lang="en-US" sz="1800" i="1">
                                        <a:effectLst/>
                                        <a:latin typeface="Cambria Math" panose="02040503050406030204" pitchFamily="18" charset="0"/>
                                        <a:ea typeface="宋体" panose="02010600030101010101" pitchFamily="2" charset="-122"/>
                                      </a:rPr>
                                      <m:t>3</m:t>
                                    </m:r>
                                  </m:num>
                                  <m:den>
                                    <m:r>
                                      <a:rPr lang="en-US" sz="1800" i="1">
                                        <a:effectLst/>
                                        <a:latin typeface="Cambria Math" panose="02040503050406030204" pitchFamily="18" charset="0"/>
                                        <a:ea typeface="宋体" panose="02010600030101010101" pitchFamily="2" charset="-122"/>
                                      </a:rPr>
                                      <m:t>7</m:t>
                                    </m:r>
                                  </m:den>
                                </m:f>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0</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1</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r>
                                      <a:rPr lang="en-US" sz="1800" i="1">
                                        <a:effectLst/>
                                        <a:latin typeface="Cambria Math" panose="02040503050406030204" pitchFamily="18" charset="0"/>
                                        <a:ea typeface="宋体" panose="02010600030101010101" pitchFamily="2" charset="-122"/>
                                      </a:rPr>
                                      <m:t>1</m:t>
                                    </m:r>
                                  </m:num>
                                  <m:den>
                                    <m:r>
                                      <a:rPr lang="en-US" sz="1800" i="1">
                                        <a:effectLst/>
                                        <a:latin typeface="Cambria Math" panose="02040503050406030204" pitchFamily="18" charset="0"/>
                                        <a:ea typeface="宋体" panose="02010600030101010101" pitchFamily="2" charset="-122"/>
                                      </a:rPr>
                                      <m:t>70</m:t>
                                    </m:r>
                                  </m:den>
                                </m:f>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宋体" panose="02010600030101010101" pitchFamily="2" charset="-122"/>
                                      </a:rPr>
                                    </m:ctrlPr>
                                  </m:fPr>
                                  <m:num>
                                    <m:r>
                                      <a:rPr lang="en-US" sz="1800" i="1">
                                        <a:effectLst/>
                                        <a:latin typeface="Cambria Math" panose="02040503050406030204" pitchFamily="18" charset="0"/>
                                        <a:ea typeface="宋体" panose="02010600030101010101" pitchFamily="2" charset="-122"/>
                                      </a:rPr>
                                      <m:t>2</m:t>
                                    </m:r>
                                  </m:num>
                                  <m:den>
                                    <m:r>
                                      <a:rPr lang="en-US" sz="1800" i="1">
                                        <a:effectLst/>
                                        <a:latin typeface="Cambria Math" panose="02040503050406030204" pitchFamily="18" charset="0"/>
                                        <a:ea typeface="宋体" panose="02010600030101010101" pitchFamily="2" charset="-122"/>
                                      </a:rPr>
                                      <m:t>7</m:t>
                                    </m:r>
                                  </m:den>
                                </m:f>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𝑥</m:t>
                                    </m:r>
                                  </m:e>
                                  <m:sub>
                                    <m:r>
                                      <a:rPr lang="en-US" sz="1800" i="1">
                                        <a:effectLst/>
                                        <a:latin typeface="Cambria Math" panose="02040503050406030204" pitchFamily="18" charset="0"/>
                                        <a:ea typeface="宋体" panose="02010600030101010101" pitchFamily="2" charset="-122"/>
                                      </a:rPr>
                                      <m:t>5</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宋体" panose="02010600030101010101" pitchFamily="2" charset="-122"/>
                                      </a:rPr>
                                    </m:ctrlPr>
                                  </m:fPr>
                                  <m:num>
                                    <m:r>
                                      <a:rPr lang="en-US" sz="1800" i="1">
                                        <a:effectLst/>
                                        <a:latin typeface="Cambria Math" panose="02040503050406030204" pitchFamily="18" charset="0"/>
                                        <a:ea typeface="宋体" panose="02010600030101010101" pitchFamily="2" charset="-122"/>
                                      </a:rPr>
                                      <m:t>1</m:t>
                                    </m:r>
                                  </m:num>
                                  <m:den>
                                    <m:r>
                                      <a:rPr lang="en-US" sz="1800" i="1">
                                        <a:effectLst/>
                                        <a:latin typeface="Cambria Math" panose="02040503050406030204" pitchFamily="18" charset="0"/>
                                        <a:ea typeface="宋体" panose="02010600030101010101" pitchFamily="2" charset="-122"/>
                                      </a:rPr>
                                      <m:t>70</m:t>
                                    </m:r>
                                  </m:den>
                                </m:f>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宋体" panose="02010600030101010101" pitchFamily="2" charset="-122"/>
                                  </a:rPr>
                                  <m:t>−</m:t>
                                </m:r>
                                <m:f>
                                  <m:fPr>
                                    <m:ctrlPr>
                                      <a:rPr lang="en-US" sz="1800" i="1">
                                        <a:effectLst/>
                                        <a:latin typeface="Cambria Math" panose="02040503050406030204" pitchFamily="18" charset="0"/>
                                        <a:ea typeface="宋体" panose="02010600030101010101" pitchFamily="2" charset="-122"/>
                                      </a:rPr>
                                    </m:ctrlPr>
                                  </m:fPr>
                                  <m:num>
                                    <m:r>
                                      <a:rPr lang="en-US" sz="1800" i="1">
                                        <a:effectLst/>
                                        <a:latin typeface="Cambria Math" panose="02040503050406030204" pitchFamily="18" charset="0"/>
                                        <a:ea typeface="宋体" panose="02010600030101010101" pitchFamily="2" charset="-122"/>
                                      </a:rPr>
                                      <m:t>2</m:t>
                                    </m:r>
                                  </m:num>
                                  <m:den>
                                    <m:r>
                                      <a:rPr lang="en-US" sz="1800" i="1">
                                        <a:effectLst/>
                                        <a:latin typeface="Cambria Math" panose="02040503050406030204" pitchFamily="18" charset="0"/>
                                        <a:ea typeface="宋体" panose="02010600030101010101" pitchFamily="2" charset="-122"/>
                                      </a:rPr>
                                      <m:t>7</m:t>
                                    </m:r>
                                  </m:den>
                                </m:f>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0">
                    <a:tc gridSpan="3">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800" i="1">
                                        <a:effectLst/>
                                        <a:latin typeface="Cambria Math" panose="02040503050406030204" pitchFamily="18" charset="0"/>
                                        <a:ea typeface="宋体" panose="02010600030101010101" pitchFamily="2" charset="-122"/>
                                      </a:rPr>
                                    </m:ctrlPr>
                                  </m:sSubPr>
                                  <m:e>
                                    <m:r>
                                      <a:rPr lang="en-US" sz="1800" i="1">
                                        <a:effectLst/>
                                        <a:latin typeface="Cambria Math" panose="02040503050406030204" pitchFamily="18" charset="0"/>
                                        <a:ea typeface="宋体" panose="02010600030101010101" pitchFamily="2" charset="-122"/>
                                      </a:rPr>
                                      <m:t>𝜎</m:t>
                                    </m:r>
                                  </m:e>
                                  <m:sub>
                                    <m:r>
                                      <a:rPr lang="en-US" sz="1800" i="1">
                                        <a:effectLst/>
                                        <a:latin typeface="Cambria Math" panose="02040503050406030204" pitchFamily="18" charset="0"/>
                                        <a:ea typeface="宋体" panose="02010600030101010101" pitchFamily="2" charset="-122"/>
                                      </a:rPr>
                                      <m:t>𝑗</m:t>
                                    </m:r>
                                  </m:sub>
                                </m:sSub>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hMerge="1">
                      <a:txBody>
                        <a:bodyPr/>
                        <a:lstStyle/>
                        <a:p>
                          <a:endParaRPr lang="zh-CN"/>
                        </a:p>
                      </a:txBody>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0</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宋体" panose="02010600030101010101" pitchFamily="2" charset="-122"/>
                                      </a:rPr>
                                    </m:ctrlPr>
                                  </m:fPr>
                                  <m:num>
                                    <m:r>
                                      <a:rPr lang="en-US" sz="1800" i="1">
                                        <a:effectLst/>
                                        <a:latin typeface="Cambria Math" panose="02040503050406030204" pitchFamily="18" charset="0"/>
                                        <a:ea typeface="宋体" panose="02010600030101010101" pitchFamily="2" charset="-122"/>
                                      </a:rPr>
                                      <m:t>1</m:t>
                                    </m:r>
                                  </m:num>
                                  <m:den>
                                    <m:r>
                                      <a:rPr lang="en-US" sz="1800" i="1">
                                        <a:effectLst/>
                                        <a:latin typeface="Cambria Math" panose="02040503050406030204" pitchFamily="18" charset="0"/>
                                        <a:ea typeface="宋体" panose="02010600030101010101" pitchFamily="2" charset="-122"/>
                                      </a:rPr>
                                      <m:t>14</m:t>
                                    </m:r>
                                  </m:den>
                                </m:f>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en-US" sz="1800" i="1">
                                        <a:effectLst/>
                                        <a:latin typeface="Cambria Math" panose="02040503050406030204" pitchFamily="18" charset="0"/>
                                        <a:ea typeface="宋体" panose="02010600030101010101" pitchFamily="2" charset="-122"/>
                                      </a:rPr>
                                    </m:ctrlPr>
                                  </m:fPr>
                                  <m:num>
                                    <m:r>
                                      <a:rPr lang="en-US" sz="1800" i="1">
                                        <a:effectLst/>
                                        <a:latin typeface="Cambria Math" panose="02040503050406030204" pitchFamily="18" charset="0"/>
                                        <a:ea typeface="宋体" panose="02010600030101010101" pitchFamily="2" charset="-122"/>
                                      </a:rPr>
                                      <m:t>4</m:t>
                                    </m:r>
                                  </m:num>
                                  <m:den>
                                    <m:r>
                                      <a:rPr lang="en-US" sz="1800" i="1">
                                        <a:effectLst/>
                                        <a:latin typeface="Cambria Math" panose="02040503050406030204" pitchFamily="18" charset="0"/>
                                        <a:ea typeface="宋体" panose="02010600030101010101" pitchFamily="2" charset="-122"/>
                                      </a:rPr>
                                      <m:t>7</m:t>
                                    </m:r>
                                  </m:den>
                                </m:f>
                              </m:oMath>
                            </m:oMathPara>
                          </a14:m>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0</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mc:Choice>
        <mc:Fallback xmlns="">
          <p:graphicFrame>
            <p:nvGraphicFramePr>
              <p:cNvPr id="6" name="Table 5"/>
              <p:cNvGraphicFramePr>
                <a:graphicFrameLocks noGrp="1"/>
              </p:cNvGraphicFramePr>
              <p:nvPr/>
            </p:nvGraphicFramePr>
            <p:xfrm>
              <a:off x="911424" y="2186832"/>
              <a:ext cx="5267960" cy="4410520"/>
            </p:xfrm>
            <a:graphic>
              <a:graphicData uri="http://schemas.openxmlformats.org/drawingml/2006/table">
                <a:tbl>
                  <a:tblPr firstRow="1" firstCol="1" bandRow="1"/>
                  <a:tblGrid>
                    <a:gridCol w="658495"/>
                    <a:gridCol w="658495"/>
                    <a:gridCol w="658495"/>
                    <a:gridCol w="658495"/>
                    <a:gridCol w="658495"/>
                    <a:gridCol w="658495"/>
                    <a:gridCol w="658495"/>
                    <a:gridCol w="658495"/>
                  </a:tblGrid>
                  <a:tr h="42799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hMerge="1">
                      <a:tcPr/>
                    </a:tc>
                    <a:tc hMerge="1">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411480">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pPr algn="ctr">
                            <a:lnSpc>
                              <a:spcPct val="150000"/>
                            </a:lnSpc>
                            <a:spcBef>
                              <a:spcPts val="600"/>
                            </a:spcBef>
                            <a:spcAft>
                              <a:spcPts val="600"/>
                            </a:spcAft>
                          </a:pPr>
                          <a:r>
                            <a:rPr lang="zh-CN" sz="1800">
                              <a:effectLst/>
                              <a:latin typeface="Times New Roman" panose="02020603050405020304" pitchFamily="18" charset="0"/>
                              <a:ea typeface="宋体" panose="02010600030101010101" pitchFamily="2" charset="-122"/>
                            </a:rPr>
                            <a:t>基</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r>
                  <a:tr h="765175">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1</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0</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765175">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765175">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763270">
                    <a:tc gridSpan="3">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hMerge="1">
                      <a:tcPr/>
                    </a:tc>
                    <a:tc hMerge="1">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0</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Bef>
                              <a:spcPts val="600"/>
                            </a:spcBef>
                            <a:spcAft>
                              <a:spcPts val="600"/>
                            </a:spcAft>
                          </a:pPr>
                          <a:r>
                            <a:rPr lang="en-US" sz="1800">
                              <a:effectLst/>
                              <a:latin typeface="宋体" panose="02010600030101010101" pitchFamily="2" charset="-122"/>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blipFill>
                      </a:tcPr>
                    </a:tc>
                    <a:tc>
                      <a:txBody>
                        <a:bodyPr/>
                        <a:lstStyle/>
                        <a:p>
                          <a:pPr algn="ctr">
                            <a:lnSpc>
                              <a:spcPct val="150000"/>
                            </a:lnSpc>
                            <a:spcBef>
                              <a:spcPts val="600"/>
                            </a:spcBef>
                            <a:spcAft>
                              <a:spcPts val="600"/>
                            </a:spcAft>
                          </a:pPr>
                          <a:r>
                            <a:rPr lang="en-US" sz="1800" dirty="0">
                              <a:effectLst/>
                              <a:latin typeface="宋体" panose="02010600030101010101" pitchFamily="2" charset="-122"/>
                              <a:ea typeface="Times New Roman" panose="02020603050405020304" pitchFamily="18" charset="0"/>
                            </a:rPr>
                            <a:t>0</a:t>
                          </a:r>
                          <a:endParaRPr lang="en-US" sz="12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23392" y="287070"/>
            <a:ext cx="3024336" cy="461665"/>
          </a:xfrm>
          <a:prstGeom prst="rect">
            <a:avLst/>
          </a:prstGeom>
          <a:noFill/>
        </p:spPr>
        <p:txBody>
          <a:bodyPr wrap="square" rtlCol="0">
            <a:spAutoFit/>
          </a:bodyPr>
          <a:lstStyle/>
          <a:p>
            <a:r>
              <a:rPr lang="zh-CN" altLang="en-US" sz="2400" b="1" dirty="0">
                <a:solidFill>
                  <a:schemeClr val="tx2"/>
                </a:solidFill>
              </a:rPr>
              <a:t>练习</a:t>
            </a:r>
          </a:p>
        </p:txBody>
      </p:sp>
      <mc:AlternateContent xmlns:mc="http://schemas.openxmlformats.org/markup-compatibility/2006" xmlns:a14="http://schemas.microsoft.com/office/drawing/2010/main">
        <mc:Choice Requires="a14">
          <p:sp>
            <p:nvSpPr>
              <p:cNvPr id="8" name="文本框 7"/>
              <p:cNvSpPr txBox="1"/>
              <p:nvPr/>
            </p:nvSpPr>
            <p:spPr>
              <a:xfrm>
                <a:off x="1559496" y="404664"/>
                <a:ext cx="8136904" cy="2378215"/>
              </a:xfrm>
              <a:prstGeom prst="rect">
                <a:avLst/>
              </a:prstGeom>
              <a:noFill/>
            </p:spPr>
            <p:txBody>
              <a:bodyPr wrap="square">
                <a:spAutoFit/>
              </a:bodyPr>
              <a:lstStyle/>
              <a:p>
                <a:pPr algn="just"/>
                <a:r>
                  <a:rPr lang="zh-CN" altLang="zh-CN" sz="2400" kern="100" dirty="0">
                    <a:effectLst/>
                    <a:latin typeface="宋体" panose="02010600030101010101" pitchFamily="2" charset="-122"/>
                    <a:ea typeface="等线" panose="02010600030101010101" charset="-122"/>
                    <a:cs typeface="Times New Roman" panose="02020603050405020304" pitchFamily="18" charset="0"/>
                  </a:rPr>
                  <a:t>用单纯形法求解线性规划</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func>
                        <m:func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2400" kern="100">
                                  <a:effectLst/>
                                  <a:latin typeface="Cambria Math" panose="02040503050406030204" pitchFamily="18" charset="0"/>
                                  <a:ea typeface="等线" panose="02010600030101010101" charset="-122"/>
                                  <a:cs typeface="Times New Roman" panose="02020603050405020304" pitchFamily="18" charset="0"/>
                                </a:rPr>
                                <m:t>min</m:t>
                              </m:r>
                            </m:e>
                            <m:lim/>
                          </m:limLow>
                        </m:fName>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𝑧</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=−10</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−5</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b>
                          </m:sSub>
                        </m:e>
                      </m:func>
                    </m:oMath>
                  </m:oMathPara>
                </a14:m>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𝑠</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𝑡</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   </m:t>
                      </m:r>
                      <m:m>
                        <m:mPr>
                          <m:mcs>
                            <m:mc>
                              <m:mcPr>
                                <m:count m:val="1"/>
                                <m:mcJc m:val="center"/>
                              </m:mcPr>
                            </m:mc>
                          </m:mcs>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3</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+4</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≤9</m:t>
                            </m:r>
                          </m:e>
                        </m:mr>
                        <m:m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5</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≤8</m:t>
                            </m:r>
                          </m:e>
                        </m:mr>
                        <m:m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charset="-122"/>
                                    <a:cs typeface="Times New Roman" panose="02020603050405020304" pitchFamily="18" charset="0"/>
                                  </a:rPr>
                                  <m:t>𝑥</m:t>
                                </m:r>
                              </m:e>
                              <m: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2</m:t>
                                </m:r>
                              </m:sub>
                            </m:sSub>
                            <m:r>
                              <a:rPr lang="en-US" altLang="zh-CN" sz="2400" i="1" kern="100">
                                <a:effectLst/>
                                <a:latin typeface="Cambria Math" panose="02040503050406030204" pitchFamily="18" charset="0"/>
                                <a:ea typeface="等线" panose="02010600030101010101" charset="-122"/>
                                <a:cs typeface="Times New Roman" panose="02020603050405020304" pitchFamily="18" charset="0"/>
                              </a:rPr>
                              <m:t>≥0</m:t>
                            </m:r>
                          </m:e>
                        </m:mr>
                      </m:m>
                    </m:oMath>
                  </m:oMathPara>
                </a14:m>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algn="just"/>
                <a:r>
                  <a:rPr lang="zh-CN" altLang="zh-CN" sz="2400" kern="100" dirty="0">
                    <a:effectLst/>
                    <a:latin typeface="宋体" panose="02010600030101010101" pitchFamily="2" charset="-122"/>
                    <a:ea typeface="等线" panose="02010600030101010101" charset="-122"/>
                    <a:cs typeface="Times New Roman" panose="02020603050405020304" pitchFamily="18" charset="0"/>
                  </a:rPr>
                  <a:t>最优单纯形表</a:t>
                </a:r>
                <a:r>
                  <a:rPr lang="zh-CN" altLang="en-US" sz="2400" kern="100" dirty="0">
                    <a:effectLst/>
                    <a:latin typeface="宋体" panose="02010600030101010101" pitchFamily="2" charset="-122"/>
                    <a:ea typeface="等线" panose="02010600030101010101" charset="-122"/>
                    <a:cs typeface="Times New Roman" panose="02020603050405020304" pitchFamily="18" charset="0"/>
                  </a:rPr>
                  <a:t>为</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1559496" y="404664"/>
                <a:ext cx="8136904" cy="2378215"/>
              </a:xfrm>
              <a:prstGeom prst="rect">
                <a:avLst/>
              </a:prstGeom>
              <a:blipFill rotWithShape="1">
                <a:blip r:embed="rId2"/>
                <a:stretch>
                  <a:fillRect l="-7" t="-7" r="7" b="13"/>
                </a:stretch>
              </a:blipFill>
            </p:spPr>
            <p:txBody>
              <a:bodyPr/>
              <a:lstStyle/>
              <a:p>
                <a:r>
                  <a:rPr lang="zh-CN" altLang="en-US">
                    <a:noFill/>
                  </a:rPr>
                  <a:t> </a:t>
                </a:r>
              </a:p>
            </p:txBody>
          </p:sp>
        </mc:Fallback>
      </mc:AlternateContent>
      <p:pic>
        <p:nvPicPr>
          <p:cNvPr id="9" name="图片 8"/>
          <p:cNvPicPr>
            <a:picLocks noChangeAspect="1"/>
          </p:cNvPicPr>
          <p:nvPr/>
        </p:nvPicPr>
        <p:blipFill>
          <a:blip r:embed="rId3"/>
          <a:stretch>
            <a:fillRect/>
          </a:stretch>
        </p:blipFill>
        <p:spPr>
          <a:xfrm>
            <a:off x="2063552" y="3429000"/>
            <a:ext cx="8580843" cy="259228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p:nvPr>
        </p:nvSpPr>
        <p:spPr>
          <a:xfrm>
            <a:off x="1992313" y="1341438"/>
            <a:ext cx="8229600" cy="4724400"/>
          </a:xfrm>
        </p:spPr>
        <p:txBody>
          <a:bodyPr/>
          <a:lstStyle/>
          <a:p>
            <a:pPr eaLnBrk="1" hangingPunct="1">
              <a:buFontTx/>
              <a:buNone/>
            </a:pPr>
            <a:r>
              <a:rPr lang="en-US" altLang="zh-CN"/>
              <a:t> </a:t>
            </a:r>
            <a:endParaRPr lang="zh-CN" altLang="en-US"/>
          </a:p>
        </p:txBody>
      </p:sp>
      <mc:AlternateContent xmlns:mc="http://schemas.openxmlformats.org/markup-compatibility/2006" xmlns:a14="http://schemas.microsoft.com/office/drawing/2010/main">
        <mc:Choice Requires="a14">
          <p:sp>
            <p:nvSpPr>
              <p:cNvPr id="3" name="TextBox 2"/>
              <p:cNvSpPr txBox="1"/>
              <p:nvPr/>
            </p:nvSpPr>
            <p:spPr>
              <a:xfrm>
                <a:off x="299356" y="404664"/>
                <a:ext cx="11593288" cy="6300699"/>
              </a:xfrm>
              <a:prstGeom prst="rect">
                <a:avLst/>
              </a:prstGeom>
              <a:noFill/>
            </p:spPr>
            <p:txBody>
              <a:bodyPr wrap="square">
                <a:spAutoFit/>
              </a:bodyPr>
              <a:lstStyle/>
              <a:p>
                <a:pPr indent="609600" algn="just">
                  <a:lnSpc>
                    <a:spcPct val="150000"/>
                  </a:lnSpc>
                  <a:spcBef>
                    <a:spcPts val="600"/>
                  </a:spcBef>
                  <a:spcAft>
                    <a:spcPts val="600"/>
                  </a:spcAft>
                </a:pPr>
                <a:r>
                  <a:rPr lang="zh-CN" altLang="en-US" sz="2400" dirty="0">
                    <a:latin typeface="+mn-ea"/>
                  </a:rPr>
                  <a:t>说明：由前一节</a:t>
                </a:r>
                <a:r>
                  <a:rPr lang="zh-CN" sz="2400" dirty="0">
                    <a:effectLst/>
                    <a:latin typeface="+mn-ea"/>
                  </a:rPr>
                  <a:t>的讨论可知</a:t>
                </a:r>
                <a:r>
                  <a:rPr lang="en-US" sz="2400" dirty="0">
                    <a:effectLst/>
                    <a:latin typeface="+mn-ea"/>
                  </a:rPr>
                  <a:t>,</a:t>
                </a:r>
                <a:r>
                  <a:rPr lang="zh-CN" sz="2400" dirty="0">
                    <a:effectLst/>
                    <a:latin typeface="+mn-ea"/>
                  </a:rPr>
                  <a:t>当</a:t>
                </a:r>
                <a:r>
                  <a:rPr lang="en-US" sz="2400" dirty="0">
                    <a:effectLst/>
                    <a:latin typeface="+mn-ea"/>
                  </a:rPr>
                  <a:t>(LP)</a:t>
                </a:r>
                <a:r>
                  <a:rPr lang="zh-CN" sz="2400" dirty="0">
                    <a:effectLst/>
                    <a:latin typeface="+mn-ea"/>
                  </a:rPr>
                  <a:t>存在最优解，在非退化的情况下</a:t>
                </a:r>
                <a:r>
                  <a:rPr lang="zh-CN" altLang="en-US" sz="2400" dirty="0">
                    <a:latin typeface="+mn-ea"/>
                  </a:rPr>
                  <a:t>，</a:t>
                </a:r>
                <a:r>
                  <a:rPr lang="zh-CN" sz="2400" dirty="0">
                    <a:effectLst/>
                    <a:latin typeface="+mn-ea"/>
                  </a:rPr>
                  <a:t>单纯形法的每次迭代都使目标函数值严格下降。这样</a:t>
                </a:r>
                <a:r>
                  <a:rPr lang="zh-CN" altLang="en-US" sz="2400" dirty="0">
                    <a:latin typeface="+mn-ea"/>
                  </a:rPr>
                  <a:t>，</a:t>
                </a:r>
                <a:r>
                  <a:rPr lang="zh-CN" sz="2400" dirty="0">
                    <a:effectLst/>
                    <a:latin typeface="+mn-ea"/>
                  </a:rPr>
                  <a:t>经过有限次迭代必达到最优解。但对于退化情形</a:t>
                </a:r>
                <a:r>
                  <a:rPr lang="en-US" sz="2400" dirty="0">
                    <a:effectLst/>
                    <a:latin typeface="+mn-ea"/>
                  </a:rPr>
                  <a:t>,</a:t>
                </a:r>
                <a:r>
                  <a:rPr lang="zh-CN" sz="2400" dirty="0">
                    <a:effectLst/>
                    <a:latin typeface="+mn-ea"/>
                  </a:rPr>
                  <a:t>即使存在最优解</a:t>
                </a:r>
                <a:r>
                  <a:rPr lang="zh-CN" altLang="en-US" sz="2400" dirty="0">
                    <a:latin typeface="+mn-ea"/>
                  </a:rPr>
                  <a:t>，</a:t>
                </a:r>
                <a:r>
                  <a:rPr lang="zh-CN" sz="2400" dirty="0">
                    <a:effectLst/>
                    <a:latin typeface="+mn-ea"/>
                  </a:rPr>
                  <a:t>也可能出现循环现象</a:t>
                </a:r>
                <a:r>
                  <a:rPr lang="en-US" sz="2400" dirty="0">
                    <a:effectLst/>
                    <a:latin typeface="+mn-ea"/>
                  </a:rPr>
                  <a:t>, </a:t>
                </a:r>
                <a:r>
                  <a:rPr lang="zh-CN" sz="2400" dirty="0">
                    <a:effectLst/>
                    <a:latin typeface="+mn-ea"/>
                  </a:rPr>
                  <a:t>即迭代过程总是重复解的某一部分序列</a:t>
                </a:r>
                <a:r>
                  <a:rPr lang="zh-CN" altLang="en-US" sz="2400" dirty="0">
                    <a:latin typeface="+mn-ea"/>
                  </a:rPr>
                  <a:t>，</a:t>
                </a:r>
                <a:r>
                  <a:rPr lang="zh-CN" sz="2400" dirty="0">
                    <a:effectLst/>
                    <a:latin typeface="+mn-ea"/>
                  </a:rPr>
                  <a:t>目标函数值总是不变</a:t>
                </a:r>
                <a:r>
                  <a:rPr lang="zh-CN" altLang="en-US" sz="2400" dirty="0">
                    <a:latin typeface="+mn-ea"/>
                  </a:rPr>
                  <a:t>，</a:t>
                </a:r>
                <a:r>
                  <a:rPr lang="zh-CN" sz="2400" dirty="0">
                    <a:effectLst/>
                    <a:latin typeface="+mn-ea"/>
                  </a:rPr>
                  <a:t>因而永远达不到最优解。下面是由</a:t>
                </a:r>
                <a:r>
                  <a:rPr lang="en-US" sz="2400" dirty="0">
                    <a:effectLst/>
                    <a:latin typeface="+mn-ea"/>
                  </a:rPr>
                  <a:t>E.Beale</a:t>
                </a:r>
                <a:r>
                  <a:rPr lang="zh-CN" sz="2400" dirty="0">
                    <a:effectLst/>
                    <a:latin typeface="+mn-ea"/>
                  </a:rPr>
                  <a:t>给出的一个循环例子。</a:t>
                </a:r>
                <a:endParaRPr lang="en-US" sz="2400" dirty="0">
                  <a:effectLst/>
                  <a:latin typeface="+mn-ea"/>
                </a:endParaRPr>
              </a:p>
              <a:p>
                <a:pPr indent="621665" algn="just">
                  <a:lnSpc>
                    <a:spcPct val="150000"/>
                  </a:lnSpc>
                  <a:spcBef>
                    <a:spcPts val="600"/>
                  </a:spcBef>
                  <a:spcAft>
                    <a:spcPts val="600"/>
                  </a:spcAft>
                </a:pPr>
                <a:r>
                  <a:rPr lang="zh-CN" sz="2400" b="1" dirty="0">
                    <a:effectLst/>
                    <a:latin typeface="+mn-ea"/>
                  </a:rPr>
                  <a:t>例</a:t>
                </a:r>
                <a:endParaRPr lang="en-US" sz="2400" dirty="0">
                  <a:effectLst/>
                  <a:latin typeface="+mn-ea"/>
                </a:endParaRPr>
              </a:p>
              <a:p>
                <a:pPr algn="ctr"/>
                <a14:m>
                  <m:oMathPara xmlns:m="http://schemas.openxmlformats.org/officeDocument/2006/math">
                    <m:oMathParaPr>
                      <m:jc m:val="centerGroup"/>
                    </m:oMathParaPr>
                    <m:oMath xmlns:m="http://schemas.openxmlformats.org/officeDocument/2006/math">
                      <m:func>
                        <m:funcPr>
                          <m:ctrlPr>
                            <a:rPr lang="en-US" sz="2400" b="0" i="1" smtClean="0">
                              <a:effectLst/>
                              <a:latin typeface="Cambria Math" panose="02040503050406030204" pitchFamily="18" charset="0"/>
                              <a:cs typeface="Times New Roman" panose="02020603050405020304" pitchFamily="18" charset="0"/>
                            </a:rPr>
                          </m:ctrlPr>
                        </m:funcPr>
                        <m:fName>
                          <m:r>
                            <m:rPr>
                              <m:sty m:val="p"/>
                            </m:rPr>
                            <a:rPr lang="en-US" sz="2400" i="0">
                              <a:effectLst/>
                              <a:latin typeface="Cambria Math" panose="02040503050406030204" pitchFamily="18" charset="0"/>
                              <a:cs typeface="Times New Roman" panose="02020603050405020304" pitchFamily="18" charset="0"/>
                            </a:rPr>
                            <m:t>min</m:t>
                          </m:r>
                        </m:fName>
                        <m:e>
                          <m:r>
                            <a:rPr lang="en-US" altLang="zh-CN" sz="2400" i="1">
                              <a:latin typeface="Cambria Math" panose="02040503050406030204" pitchFamily="18" charset="0"/>
                              <a:cs typeface="Times New Roman" panose="02020603050405020304" pitchFamily="18" charset="0"/>
                            </a:rPr>
                            <m:t>𝑧</m:t>
                          </m:r>
                          <m:r>
                            <a:rPr lang="en-US" altLang="zh-CN" sz="2400" i="1">
                              <a:latin typeface="Cambria Math" panose="02040503050406030204" pitchFamily="18" charset="0"/>
                              <a:cs typeface="Times New Roman" panose="020206030504050203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cs typeface="Times New Roman" panose="02020603050405020304" pitchFamily="18" charset="0"/>
                                </a:rPr>
                                <m:t>3</m:t>
                              </m:r>
                            </m:num>
                            <m:den>
                              <m:r>
                                <a:rPr lang="en-US" altLang="zh-CN" sz="2400" i="1">
                                  <a:latin typeface="Cambria Math" panose="02040503050406030204" pitchFamily="18" charset="0"/>
                                  <a:cs typeface="Times New Roman" panose="02020603050405020304" pitchFamily="18" charset="0"/>
                                </a:rPr>
                                <m:t>4</m:t>
                              </m:r>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4</m:t>
                              </m:r>
                            </m:sub>
                          </m:sSub>
                          <m:r>
                            <a:rPr lang="en-US" altLang="zh-CN" sz="2400" i="1">
                              <a:latin typeface="Cambria Math" panose="02040503050406030204" pitchFamily="18" charset="0"/>
                              <a:cs typeface="Times New Roman" panose="02020603050405020304" pitchFamily="18" charset="0"/>
                            </a:rPr>
                            <m:t>+20</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5</m:t>
                              </m:r>
                            </m:sub>
                          </m:sSub>
                          <m:r>
                            <a:rPr lang="en-US" altLang="zh-CN" sz="2400" i="1">
                              <a:latin typeface="Cambria Math" panose="02040503050406030204" pitchFamily="18" charset="0"/>
                              <a:cs typeface="Times New Roman" panose="020206030504050203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cs typeface="Times New Roman" panose="02020603050405020304" pitchFamily="18" charset="0"/>
                                </a:rPr>
                                <m:t>1</m:t>
                              </m:r>
                            </m:num>
                            <m:den>
                              <m:r>
                                <a:rPr lang="en-US" altLang="zh-CN" sz="2400" i="1">
                                  <a:latin typeface="Cambria Math" panose="02040503050406030204" pitchFamily="18" charset="0"/>
                                  <a:cs typeface="Times New Roman" panose="02020603050405020304" pitchFamily="18" charset="0"/>
                                </a:rPr>
                                <m:t>2</m:t>
                              </m:r>
                            </m:den>
                          </m:f>
                          <m:sSub>
                            <m:sSubPr>
                              <m:ctrlPr>
                                <a:rPr lang="en-US" altLang="zh-CN" sz="2400" i="1">
                                  <a:latin typeface="Cambria Math" panose="020405030504060302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6</m:t>
                              </m:r>
                            </m:sub>
                          </m:sSub>
                          <m:r>
                            <a:rPr lang="en-US" altLang="zh-CN" sz="2400" i="1">
                              <a:latin typeface="Cambria Math" panose="02040503050406030204" pitchFamily="18" charset="0"/>
                              <a:cs typeface="Times New Roman" panose="02020603050405020304" pitchFamily="18" charset="0"/>
                            </a:rPr>
                            <m:t>+6</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cs typeface="Times New Roman" panose="02020603050405020304" pitchFamily="18" charset="0"/>
                                </a:rPr>
                                <m:t>𝑥</m:t>
                              </m:r>
                            </m:e>
                            <m:sub>
                              <m:r>
                                <a:rPr lang="en-US" altLang="zh-CN" sz="2400" i="1">
                                  <a:latin typeface="Cambria Math" panose="02040503050406030204" pitchFamily="18" charset="0"/>
                                  <a:cs typeface="Times New Roman" panose="02020603050405020304" pitchFamily="18" charset="0"/>
                                </a:rPr>
                                <m:t>7</m:t>
                              </m:r>
                            </m:sub>
                          </m:sSub>
                        </m:e>
                      </m:func>
                    </m:oMath>
                  </m:oMathPara>
                </a14:m>
                <a:br>
                  <a:rPr lang="en-US" sz="2400" dirty="0">
                    <a:effectLst/>
                    <a:latin typeface="+mn-ea"/>
                  </a:rPr>
                </a:br>
                <a14:m>
                  <m:oMath xmlns:m="http://schemas.openxmlformats.org/officeDocument/2006/math">
                    <m:r>
                      <a:rPr lang="en-US" sz="2400" i="1">
                        <a:effectLst/>
                        <a:latin typeface="Cambria Math" panose="02040503050406030204" pitchFamily="18" charset="0"/>
                        <a:cs typeface="Times New Roman" panose="02020603050405020304" pitchFamily="18" charset="0"/>
                      </a:rPr>
                      <m:t>𝑠</m:t>
                    </m:r>
                    <m:r>
                      <a:rPr lang="en-US" sz="2400" i="1">
                        <a:effectLst/>
                        <a:latin typeface="Cambria Math" panose="02040503050406030204" pitchFamily="18" charset="0"/>
                        <a:cs typeface="Times New Roman" panose="02020603050405020304" pitchFamily="18" charset="0"/>
                      </a:rPr>
                      <m:t>.</m:t>
                    </m:r>
                    <m:r>
                      <a:rPr lang="en-US" sz="2400" i="1">
                        <a:effectLst/>
                        <a:latin typeface="Cambria Math" panose="02040503050406030204" pitchFamily="18" charset="0"/>
                        <a:cs typeface="Times New Roman" panose="02020603050405020304" pitchFamily="18" charset="0"/>
                      </a:rPr>
                      <m:t>𝑡</m:t>
                    </m:r>
                    <m:r>
                      <a:rPr lang="en-US" sz="2400" i="1">
                        <a:effectLst/>
                        <a:latin typeface="Cambria Math" panose="02040503050406030204" pitchFamily="18" charset="0"/>
                        <a:cs typeface="Times New Roman" panose="02020603050405020304" pitchFamily="18" charset="0"/>
                      </a:rPr>
                      <m:t>.</m:t>
                    </m:r>
                    <m:d>
                      <m:dPr>
                        <m:begChr m:val="{"/>
                        <m:endChr m:val=""/>
                        <m:ctrlPr>
                          <a:rPr lang="en-US" sz="2400" i="1">
                            <a:effectLst/>
                            <a:latin typeface="Cambria Math" panose="02040503050406030204" pitchFamily="18" charset="0"/>
                          </a:rPr>
                        </m:ctrlPr>
                      </m:dPr>
                      <m:e>
                        <m:eqArr>
                          <m:eqArrPr>
                            <m:ctrlPr>
                              <a:rPr lang="en-US" sz="2400" i="1">
                                <a:effectLst/>
                                <a:latin typeface="Cambria Math" panose="02040503050406030204" pitchFamily="18" charset="0"/>
                              </a:rPr>
                            </m:ctrlPr>
                          </m:eqArrPr>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1</m:t>
                                </m:r>
                              </m:sub>
                            </m:sSub>
                            <m:r>
                              <a:rPr lang="en-US" sz="2400" i="1">
                                <a:effectLst/>
                                <a:latin typeface="Cambria Math" panose="02040503050406030204" pitchFamily="18" charset="0"/>
                                <a:cs typeface="Times New Roman" panose="020206030504050203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cs typeface="Times New Roman" panose="02020603050405020304" pitchFamily="18" charset="0"/>
                                  </a:rPr>
                                  <m:t>1</m:t>
                                </m:r>
                              </m:num>
                              <m:den>
                                <m:r>
                                  <a:rPr lang="en-US" altLang="zh-CN" sz="2400" i="1">
                                    <a:latin typeface="Cambria Math" panose="02040503050406030204" pitchFamily="18" charset="0"/>
                                    <a:cs typeface="Times New Roman" panose="02020603050405020304" pitchFamily="18" charset="0"/>
                                  </a:rPr>
                                  <m:t>4</m:t>
                                </m:r>
                              </m:den>
                            </m:f>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4</m:t>
                                </m:r>
                              </m:sub>
                            </m:sSub>
                            <m:r>
                              <a:rPr lang="en-US" sz="2400" i="1">
                                <a:effectLst/>
                                <a:latin typeface="Cambria Math" panose="02040503050406030204" pitchFamily="18" charset="0"/>
                                <a:cs typeface="Times New Roman" panose="02020603050405020304" pitchFamily="18" charset="0"/>
                              </a:rPr>
                              <m:t>−8</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5</m:t>
                                </m:r>
                              </m:sub>
                            </m:sSub>
                            <m:r>
                              <a:rPr lang="en-US" sz="2400" i="1">
                                <a:effectLst/>
                                <a:latin typeface="Cambria Math" panose="02040503050406030204" pitchFamily="18" charset="0"/>
                                <a:cs typeface="Times New Roman" panose="020206030504050203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6</m:t>
                                </m:r>
                              </m:sub>
                            </m:sSub>
                            <m:r>
                              <a:rPr lang="en-US" sz="2400" i="1">
                                <a:effectLst/>
                                <a:latin typeface="Cambria Math" panose="02040503050406030204" pitchFamily="18" charset="0"/>
                                <a:cs typeface="Times New Roman" panose="02020603050405020304" pitchFamily="18" charset="0"/>
                              </a:rPr>
                              <m:t>+9</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7</m:t>
                                </m:r>
                              </m:sub>
                            </m:sSub>
                            <m:r>
                              <a:rPr lang="en-US" sz="2400" i="1">
                                <a:effectLst/>
                                <a:latin typeface="Cambria Math" panose="02040503050406030204" pitchFamily="18" charset="0"/>
                                <a:cs typeface="Times New Roman" panose="02020603050405020304" pitchFamily="18" charset="0"/>
                              </a:rPr>
                              <m:t>=0</m:t>
                            </m:r>
                          </m:e>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2</m:t>
                                </m:r>
                              </m:sub>
                            </m:sSub>
                            <m:r>
                              <a:rPr lang="en-US" sz="2400" i="1">
                                <a:effectLst/>
                                <a:latin typeface="Cambria Math" panose="02040503050406030204" pitchFamily="18" charset="0"/>
                                <a:cs typeface="Times New Roman" panose="020206030504050203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cs typeface="Times New Roman" panose="02020603050405020304" pitchFamily="18" charset="0"/>
                                  </a:rPr>
                                  <m:t>1</m:t>
                                </m:r>
                              </m:num>
                              <m:den>
                                <m:r>
                                  <a:rPr lang="en-US" altLang="zh-CN" sz="2400" i="1">
                                    <a:latin typeface="Cambria Math" panose="02040503050406030204" pitchFamily="18" charset="0"/>
                                    <a:cs typeface="Times New Roman" panose="02020603050405020304" pitchFamily="18" charset="0"/>
                                  </a:rPr>
                                  <m:t>2</m:t>
                                </m:r>
                              </m:den>
                            </m:f>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4</m:t>
                                </m:r>
                              </m:sub>
                            </m:sSub>
                            <m:r>
                              <a:rPr lang="en-US" sz="2400" i="1">
                                <a:effectLst/>
                                <a:latin typeface="Cambria Math" panose="02040503050406030204" pitchFamily="18" charset="0"/>
                                <a:cs typeface="Times New Roman" panose="02020603050405020304" pitchFamily="18" charset="0"/>
                              </a:rPr>
                              <m:t>−12</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5</m:t>
                                </m:r>
                              </m:sub>
                            </m:sSub>
                            <m:r>
                              <a:rPr lang="en-US" sz="2400" i="1">
                                <a:effectLst/>
                                <a:latin typeface="Cambria Math" panose="02040503050406030204" pitchFamily="18" charset="0"/>
                                <a:cs typeface="Times New Roman" panose="02020603050405020304" pitchFamily="18" charset="0"/>
                              </a:rPr>
                              <m:t>−</m:t>
                            </m:r>
                            <m:sSub>
                              <m:sSubPr>
                                <m:ctrlPr>
                                  <a:rPr lang="en-US" sz="2400" i="1">
                                    <a:effectLst/>
                                    <a:latin typeface="Cambria Math" panose="02040503050406030204" pitchFamily="18" charset="0"/>
                                  </a:rPr>
                                </m:ctrlPr>
                              </m:sSubPr>
                              <m:e>
                                <m:f>
                                  <m:fPr>
                                    <m:ctrlPr>
                                      <a:rPr lang="en-US" altLang="zh-CN" sz="2400" i="1">
                                        <a:latin typeface="Cambria Math" panose="02040503050406030204" pitchFamily="18" charset="0"/>
                                      </a:rPr>
                                    </m:ctrlPr>
                                  </m:fPr>
                                  <m:num>
                                    <m:r>
                                      <a:rPr lang="en-US" altLang="zh-CN" sz="2400" i="1">
                                        <a:latin typeface="Cambria Math" panose="02040503050406030204" pitchFamily="18" charset="0"/>
                                        <a:cs typeface="Times New Roman" panose="02020603050405020304" pitchFamily="18" charset="0"/>
                                      </a:rPr>
                                      <m:t>1</m:t>
                                    </m:r>
                                  </m:num>
                                  <m:den>
                                    <m:r>
                                      <a:rPr lang="en-US" altLang="zh-CN" sz="2400" i="1">
                                        <a:latin typeface="Cambria Math" panose="02040503050406030204" pitchFamily="18" charset="0"/>
                                        <a:cs typeface="Times New Roman" panose="02020603050405020304" pitchFamily="18" charset="0"/>
                                      </a:rPr>
                                      <m:t>2</m:t>
                                    </m:r>
                                  </m:den>
                                </m:f>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6</m:t>
                                </m:r>
                              </m:sub>
                            </m:sSub>
                            <m:r>
                              <a:rPr lang="en-US" sz="2400" i="1">
                                <a:effectLst/>
                                <a:latin typeface="Cambria Math" panose="02040503050406030204" pitchFamily="18" charset="0"/>
                                <a:cs typeface="Times New Roman" panose="02020603050405020304" pitchFamily="18" charset="0"/>
                              </a:rPr>
                              <m:t>+3</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7</m:t>
                                </m:r>
                              </m:sub>
                            </m:sSub>
                            <m:r>
                              <a:rPr lang="en-US" sz="2400" i="1">
                                <a:effectLst/>
                                <a:latin typeface="Cambria Math" panose="02040503050406030204" pitchFamily="18" charset="0"/>
                                <a:cs typeface="Times New Roman" panose="02020603050405020304" pitchFamily="18" charset="0"/>
                              </a:rPr>
                              <m:t>=0</m:t>
                            </m:r>
                          </m:e>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3</m:t>
                                </m:r>
                              </m:sub>
                            </m:sSub>
                            <m:r>
                              <a:rPr lang="en-US" sz="2400" i="1">
                                <a:effectLst/>
                                <a:latin typeface="Cambria Math" panose="02040503050406030204" pitchFamily="18" charset="0"/>
                                <a:cs typeface="Times New Roman" panose="02020603050405020304" pitchFamily="18" charset="0"/>
                              </a:rPr>
                              <m:t>+</m:t>
                            </m:r>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6</m:t>
                                </m:r>
                              </m:sub>
                            </m:sSub>
                            <m:r>
                              <a:rPr lang="en-US" sz="2400" i="1">
                                <a:effectLst/>
                                <a:latin typeface="Cambria Math" panose="02040503050406030204" pitchFamily="18" charset="0"/>
                                <a:cs typeface="Times New Roman" panose="02020603050405020304" pitchFamily="18" charset="0"/>
                              </a:rPr>
                              <m:t>=1</m:t>
                            </m:r>
                          </m:e>
                          <m:e>
                            <m:sSub>
                              <m:sSubPr>
                                <m:ctrlPr>
                                  <a:rPr lang="en-US" sz="2400" i="1">
                                    <a:effectLst/>
                                    <a:latin typeface="Cambria Math" panose="02040503050406030204" pitchFamily="18" charset="0"/>
                                  </a:rPr>
                                </m:ctrlPr>
                              </m:sSubPr>
                              <m:e>
                                <m:r>
                                  <a:rPr lang="en-US" sz="2400" i="1">
                                    <a:effectLst/>
                                    <a:latin typeface="Cambria Math" panose="02040503050406030204" pitchFamily="18" charset="0"/>
                                    <a:cs typeface="Times New Roman" panose="02020603050405020304" pitchFamily="18" charset="0"/>
                                  </a:rPr>
                                  <m:t>𝑥</m:t>
                                </m:r>
                              </m:e>
                              <m:sub>
                                <m:r>
                                  <a:rPr lang="en-US" sz="2400" i="1">
                                    <a:effectLst/>
                                    <a:latin typeface="Cambria Math" panose="02040503050406030204" pitchFamily="18" charset="0"/>
                                    <a:cs typeface="Times New Roman" panose="02020603050405020304" pitchFamily="18" charset="0"/>
                                  </a:rPr>
                                  <m:t>𝑗</m:t>
                                </m:r>
                              </m:sub>
                            </m:sSub>
                            <m:r>
                              <a:rPr lang="en-US" sz="2400" i="1">
                                <a:effectLst/>
                                <a:latin typeface="Cambria Math" panose="02040503050406030204" pitchFamily="18" charset="0"/>
                                <a:cs typeface="Times New Roman" panose="02020603050405020304" pitchFamily="18" charset="0"/>
                              </a:rPr>
                              <m:t>≥0(</m:t>
                            </m:r>
                            <m:r>
                              <a:rPr lang="en-US" sz="2400" i="1">
                                <a:effectLst/>
                                <a:latin typeface="Cambria Math" panose="02040503050406030204" pitchFamily="18" charset="0"/>
                                <a:cs typeface="Times New Roman" panose="02020603050405020304" pitchFamily="18" charset="0"/>
                              </a:rPr>
                              <m:t>𝑗</m:t>
                            </m:r>
                            <m:r>
                              <a:rPr lang="en-US" sz="2400" i="1">
                                <a:effectLst/>
                                <a:latin typeface="Cambria Math" panose="02040503050406030204" pitchFamily="18" charset="0"/>
                                <a:cs typeface="Times New Roman" panose="02020603050405020304" pitchFamily="18" charset="0"/>
                              </a:rPr>
                              <m:t>=1,2,⋯,7)</m:t>
                            </m:r>
                          </m:e>
                        </m:eqArr>
                      </m:e>
                    </m:d>
                  </m:oMath>
                </a14:m>
                <a:r>
                  <a:rPr lang="en-US" sz="2400" dirty="0">
                    <a:effectLst/>
                    <a:latin typeface="+mn-ea"/>
                  </a:rPr>
                  <a:t> </a:t>
                </a:r>
                <a:endParaRPr lang="en-US" sz="2400" dirty="0">
                  <a:latin typeface="+mn-ea"/>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99356" y="404664"/>
                <a:ext cx="11593288" cy="6300699"/>
              </a:xfrm>
              <a:prstGeom prst="rect">
                <a:avLst/>
              </a:prstGeom>
              <a:blipFill rotWithShape="1">
                <a:blip r:embed="rId2"/>
                <a:stretch>
                  <a:fillRect l="-2" t="-3" r="3" b="6"/>
                </a:stretch>
              </a:blipFill>
            </p:spPr>
            <p:txBody>
              <a:bodyPr/>
              <a:lstStyle/>
              <a:p>
                <a:r>
                  <a:rPr lang="zh-CN" altLang="en-US">
                    <a:noFill/>
                  </a:rPr>
                  <a:t> </a:t>
                </a:r>
              </a:p>
            </p:txBody>
          </p:sp>
        </mc:Fallback>
      </mc:AlternateContent>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407368" y="630798"/>
                <a:ext cx="11377264" cy="5609677"/>
              </a:xfrm>
              <a:prstGeom prst="rect">
                <a:avLst/>
              </a:prstGeom>
              <a:noFill/>
            </p:spPr>
            <p:txBody>
              <a:bodyPr wrap="square">
                <a:spAutoFit/>
              </a:bodyPr>
              <a:lstStyle/>
              <a:p>
                <a:pPr>
                  <a:lnSpc>
                    <a:spcPct val="150000"/>
                  </a:lnSpc>
                  <a:spcBef>
                    <a:spcPts val="600"/>
                  </a:spcBef>
                  <a:spcAft>
                    <a:spcPts val="600"/>
                  </a:spcAft>
                </a:pPr>
                <a:r>
                  <a:rPr lang="zh-CN" altLang="en-US" sz="2400" b="1" dirty="0">
                    <a:solidFill>
                      <a:schemeClr val="accent1"/>
                    </a:solidFill>
                    <a:effectLst/>
                    <a:latin typeface="Times New Roman" panose="02020603050405020304" pitchFamily="18" charset="0"/>
                    <a:ea typeface="宋体" panose="02010600030101010101" pitchFamily="2" charset="-122"/>
                  </a:rPr>
                  <a:t>几点</a:t>
                </a:r>
                <a:r>
                  <a:rPr lang="zh-CN" sz="2400" b="1" dirty="0">
                    <a:solidFill>
                      <a:schemeClr val="accent1"/>
                    </a:solidFill>
                    <a:effectLst/>
                    <a:latin typeface="Times New Roman" panose="02020603050405020304" pitchFamily="18" charset="0"/>
                    <a:ea typeface="宋体" panose="02010600030101010101" pitchFamily="2" charset="-122"/>
                  </a:rPr>
                  <a:t>说明：</a:t>
                </a:r>
                <a:endParaRPr lang="en-US" sz="2400" b="1" dirty="0">
                  <a:solidFill>
                    <a:schemeClr val="accent1"/>
                  </a:solidFill>
                  <a:effectLst/>
                  <a:latin typeface="Times New Roman" panose="02020603050405020304" pitchFamily="18" charset="0"/>
                  <a:ea typeface="Times New Roman" panose="02020603050405020304" pitchFamily="18" charset="0"/>
                </a:endParaRPr>
              </a:p>
              <a:p>
                <a:pPr lvl="0">
                  <a:lnSpc>
                    <a:spcPct val="150000"/>
                  </a:lnSpc>
                  <a:spcBef>
                    <a:spcPts val="600"/>
                  </a:spcBef>
                  <a:spcAft>
                    <a:spcPts val="600"/>
                  </a:spcAft>
                </a:pPr>
                <a:r>
                  <a:rPr lang="en-US" altLang="zh-CN" sz="2400" dirty="0">
                    <a:effectLst/>
                    <a:latin typeface="Times New Roman" panose="02020603050405020304" pitchFamily="18" charset="0"/>
                    <a:ea typeface="宋体" panose="02010600030101010101" pitchFamily="2" charset="-122"/>
                  </a:rPr>
                  <a:t>1. </a:t>
                </a:r>
                <a:r>
                  <a:rPr lang="zh-CN" sz="2400" dirty="0">
                    <a:effectLst/>
                    <a:latin typeface="Times New Roman" panose="02020603050405020304" pitchFamily="18" charset="0"/>
                    <a:ea typeface="宋体" panose="02010600030101010101" pitchFamily="2" charset="-122"/>
                  </a:rPr>
                  <a:t>检验数相同</a:t>
                </a:r>
                <a:endParaRPr lang="en-US" sz="2400" dirty="0">
                  <a:effectLst/>
                  <a:latin typeface="Times New Roman" panose="02020603050405020304" pitchFamily="18" charset="0"/>
                  <a:ea typeface="Times New Roman" panose="02020603050405020304" pitchFamily="18" charset="0"/>
                </a:endParaRPr>
              </a:p>
              <a:p>
                <a:pPr indent="609600">
                  <a:lnSpc>
                    <a:spcPct val="150000"/>
                  </a:lnSpc>
                  <a:spcBef>
                    <a:spcPts val="600"/>
                  </a:spcBef>
                  <a:spcAft>
                    <a:spcPts val="600"/>
                  </a:spcAft>
                </a:pPr>
                <a14:m>
                  <m:oMath xmlns:m="http://schemas.openxmlformats.org/officeDocument/2006/math">
                    <m:func>
                      <m:funcPr>
                        <m:ctrlPr>
                          <a:rPr lang="en-US" sz="2400" i="1">
                            <a:effectLst/>
                            <a:latin typeface="Cambria Math" panose="02040503050406030204" pitchFamily="18" charset="0"/>
                            <a:ea typeface="宋体" panose="02010600030101010101" pitchFamily="2" charset="-122"/>
                          </a:rPr>
                        </m:ctrlPr>
                      </m:funcPr>
                      <m:fName>
                        <m:limLow>
                          <m:limLowPr>
                            <m:ctrlPr>
                              <a:rPr lang="en-US" sz="2400" i="1">
                                <a:effectLst/>
                                <a:latin typeface="Cambria Math" panose="02040503050406030204" pitchFamily="18" charset="0"/>
                                <a:ea typeface="宋体" panose="02010600030101010101" pitchFamily="2" charset="-122"/>
                              </a:rPr>
                            </m:ctrlPr>
                          </m:limLowPr>
                          <m:e>
                            <m:r>
                              <a:rPr lang="en-US" sz="2400" i="1">
                                <a:effectLst/>
                                <a:latin typeface="Cambria Math" panose="02040503050406030204" pitchFamily="18" charset="0"/>
                                <a:ea typeface="宋体" panose="02010600030101010101" pitchFamily="2" charset="-122"/>
                              </a:rPr>
                              <m:t>𝑚𝑖𝑛</m:t>
                            </m:r>
                          </m:e>
                          <m:lim>
                            <m:r>
                              <a:rPr lang="en-US" sz="2400" i="1">
                                <a:effectLst/>
                                <a:latin typeface="Cambria Math" panose="02040503050406030204" pitchFamily="18" charset="0"/>
                                <a:ea typeface="宋体" panose="02010600030101010101" pitchFamily="2" charset="-122"/>
                              </a:rPr>
                              <m:t>𝑗</m:t>
                            </m:r>
                          </m:lim>
                        </m:limLow>
                      </m:fName>
                      <m:e>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𝜎</m:t>
                            </m:r>
                          </m:e>
                          <m:sub>
                            <m:r>
                              <a:rPr lang="en-US" sz="2400" i="1">
                                <a:effectLst/>
                                <a:latin typeface="Cambria Math" panose="02040503050406030204" pitchFamily="18" charset="0"/>
                                <a:ea typeface="宋体" panose="02010600030101010101" pitchFamily="2" charset="-122"/>
                              </a:rPr>
                              <m:t>𝑗</m:t>
                            </m:r>
                          </m:sub>
                        </m:sSub>
                        <m:r>
                          <a:rPr lang="en-US" sz="2400" i="1">
                            <a:effectLst/>
                            <a:latin typeface="Cambria Math" panose="02040503050406030204" pitchFamily="18" charset="0"/>
                            <a:ea typeface="宋体" panose="02010600030101010101" pitchFamily="2" charset="-122"/>
                          </a:rPr>
                          <m:t>|</m:t>
                        </m:r>
                        <m:sSub>
                          <m:sSubPr>
                            <m:ctrlPr>
                              <a:rPr lang="en-US" sz="2400" i="1">
                                <a:effectLst/>
                                <a:latin typeface="Cambria Math" panose="02040503050406030204" pitchFamily="18" charset="0"/>
                                <a:ea typeface="宋体" panose="02010600030101010101" pitchFamily="2" charset="-122"/>
                              </a:rPr>
                            </m:ctrlPr>
                          </m:sSubPr>
                          <m:e>
                            <m:r>
                              <a:rPr lang="en-US" sz="2400" i="1">
                                <a:effectLst/>
                                <a:latin typeface="Cambria Math" panose="02040503050406030204" pitchFamily="18" charset="0"/>
                                <a:ea typeface="宋体" panose="02010600030101010101" pitchFamily="2" charset="-122"/>
                              </a:rPr>
                              <m:t>𝜎</m:t>
                            </m:r>
                          </m:e>
                          <m:sub>
                            <m:r>
                              <a:rPr lang="en-US" sz="2400" i="1">
                                <a:effectLst/>
                                <a:latin typeface="Cambria Math" panose="02040503050406030204" pitchFamily="18" charset="0"/>
                                <a:ea typeface="宋体" panose="02010600030101010101" pitchFamily="2" charset="-122"/>
                              </a:rPr>
                              <m:t>𝑗</m:t>
                            </m:r>
                          </m:sub>
                        </m:sSub>
                        <m:r>
                          <a:rPr lang="en-US" sz="2400" i="1">
                            <a:effectLst/>
                            <a:latin typeface="Cambria Math" panose="02040503050406030204" pitchFamily="18" charset="0"/>
                            <a:ea typeface="宋体" panose="02010600030101010101" pitchFamily="2" charset="-122"/>
                          </a:rPr>
                          <m:t>&lt;0}</m:t>
                        </m:r>
                      </m:e>
                    </m:func>
                  </m:oMath>
                </a14:m>
                <a:r>
                  <a:rPr lang="zh-CN" sz="2400" dirty="0">
                    <a:effectLst/>
                    <a:latin typeface="Times New Roman" panose="02020603050405020304" pitchFamily="18" charset="0"/>
                    <a:ea typeface="宋体" panose="02010600030101010101" pitchFamily="2" charset="-122"/>
                  </a:rPr>
                  <a:t>有两个或两个以上相同值，可任取其中一个变量入基（一般选下标小的变量入基）</a:t>
                </a:r>
                <a:r>
                  <a:rPr lang="zh-CN" altLang="en-US" sz="2400" dirty="0">
                    <a:effectLst/>
                    <a:latin typeface="Times New Roman" panose="02020603050405020304" pitchFamily="18" charset="0"/>
                    <a:ea typeface="宋体" panose="02010600030101010101" pitchFamily="2" charset="-122"/>
                  </a:rPr>
                  <a:t>。</a:t>
                </a:r>
                <a:endParaRPr lang="en-US" sz="2400" dirty="0">
                  <a:effectLst/>
                  <a:latin typeface="Times New Roman" panose="02020603050405020304" pitchFamily="18" charset="0"/>
                  <a:ea typeface="Times New Roman" panose="02020603050405020304" pitchFamily="18" charset="0"/>
                </a:endParaRPr>
              </a:p>
              <a:p>
                <a:pPr lvl="0">
                  <a:lnSpc>
                    <a:spcPct val="150000"/>
                  </a:lnSpc>
                  <a:spcBef>
                    <a:spcPts val="600"/>
                  </a:spcBef>
                  <a:spcAft>
                    <a:spcPts val="600"/>
                  </a:spcAft>
                </a:pPr>
                <a:r>
                  <a:rPr lang="en-US" altLang="zh-CN" sz="2400" dirty="0">
                    <a:effectLst/>
                    <a:latin typeface="Times New Roman" panose="02020603050405020304" pitchFamily="18" charset="0"/>
                    <a:ea typeface="宋体" panose="02010600030101010101" pitchFamily="2" charset="-122"/>
                  </a:rPr>
                  <a:t>2. </a:t>
                </a:r>
                <a:r>
                  <a:rPr lang="zh-CN" sz="2400" dirty="0">
                    <a:effectLst/>
                    <a:latin typeface="Times New Roman" panose="02020603050405020304" pitchFamily="18" charset="0"/>
                    <a:ea typeface="宋体" panose="02010600030101010101" pitchFamily="2" charset="-122"/>
                  </a:rPr>
                  <a:t>最小比值相同</a:t>
                </a:r>
                <a:endParaRPr lang="en-US" sz="2400" dirty="0">
                  <a:effectLst/>
                  <a:latin typeface="Times New Roman" panose="02020603050405020304" pitchFamily="18" charset="0"/>
                  <a:ea typeface="Times New Roman" panose="02020603050405020304" pitchFamily="18" charset="0"/>
                </a:endParaRPr>
              </a:p>
              <a:p>
                <a:pPr indent="608330">
                  <a:lnSpc>
                    <a:spcPct val="150000"/>
                  </a:lnSpc>
                </a:pPr>
                <a14:m>
                  <m:oMath xmlns:m="http://schemas.openxmlformats.org/officeDocument/2006/math">
                    <m:r>
                      <a:rPr lang="en-US" sz="2400" i="1">
                        <a:latin typeface="Cambria Math" panose="02040503050406030204" pitchFamily="18" charset="0"/>
                      </a:rPr>
                      <m:t>𝜃</m:t>
                    </m:r>
                    <m:r>
                      <a:rPr lang="en-US" sz="2400">
                        <a:latin typeface="Cambria Math" panose="02040503050406030204" pitchFamily="18" charset="0"/>
                      </a:rPr>
                      <m:t>=</m:t>
                    </m:r>
                    <m:func>
                      <m:funcPr>
                        <m:ctrlPr>
                          <a:rPr lang="en-US" sz="2400" i="1">
                            <a:latin typeface="Cambria Math" panose="02040503050406030204" pitchFamily="18" charset="0"/>
                          </a:rPr>
                        </m:ctrlPr>
                      </m:funcPr>
                      <m:fName>
                        <m:limLow>
                          <m:limLowPr>
                            <m:ctrlPr>
                              <a:rPr lang="en-US" sz="2400" i="1">
                                <a:latin typeface="Cambria Math" panose="02040503050406030204" pitchFamily="18" charset="0"/>
                              </a:rPr>
                            </m:ctrlPr>
                          </m:limLowPr>
                          <m:e>
                            <m:r>
                              <m:rPr>
                                <m:sty m:val="p"/>
                              </m:rPr>
                              <a:rPr lang="en-US" sz="2400">
                                <a:latin typeface="Cambria Math" panose="02040503050406030204" pitchFamily="18" charset="0"/>
                              </a:rPr>
                              <m:t>min</m:t>
                            </m:r>
                          </m:e>
                          <m:lim>
                            <m:r>
                              <a:rPr lang="en-US" sz="2400">
                                <a:latin typeface="Cambria Math" panose="02040503050406030204" pitchFamily="18" charset="0"/>
                              </a:rPr>
                              <m:t>1≤</m:t>
                            </m:r>
                            <m:r>
                              <a:rPr lang="en-US" sz="2400" i="1">
                                <a:latin typeface="Cambria Math" panose="02040503050406030204" pitchFamily="18" charset="0"/>
                              </a:rPr>
                              <m:t>𝑖</m:t>
                            </m:r>
                            <m:r>
                              <a:rPr lang="en-US" sz="2400">
                                <a:latin typeface="Cambria Math" panose="02040503050406030204" pitchFamily="18" charset="0"/>
                              </a:rPr>
                              <m:t>≤</m:t>
                            </m:r>
                            <m:r>
                              <a:rPr lang="en-US" sz="2400" i="1">
                                <a:latin typeface="Cambria Math" panose="02040503050406030204" pitchFamily="18" charset="0"/>
                              </a:rPr>
                              <m:t>𝑚</m:t>
                            </m:r>
                          </m:lim>
                        </m:limLow>
                      </m:fName>
                      <m:e>
                        <m:r>
                          <a:rPr lang="en-US" sz="2400">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𝑏</m:t>
                                    </m:r>
                                  </m:e>
                                </m:acc>
                              </m:e>
                              <m:sub>
                                <m:r>
                                  <a:rPr lang="en-US" sz="2400" i="1">
                                    <a:latin typeface="Cambria Math" panose="02040503050406030204" pitchFamily="18" charset="0"/>
                                  </a:rPr>
                                  <m:t>𝑖</m:t>
                                </m:r>
                              </m:sub>
                            </m:sSub>
                          </m:num>
                          <m:den>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𝑎</m:t>
                                    </m:r>
                                  </m:e>
                                </m:acc>
                              </m:e>
                              <m:sub>
                                <m:r>
                                  <a:rPr lang="en-US" sz="2400" i="1">
                                    <a:latin typeface="Cambria Math" panose="02040503050406030204" pitchFamily="18" charset="0"/>
                                  </a:rPr>
                                  <m:t>𝑖𝑘</m:t>
                                </m:r>
                              </m:sub>
                            </m:sSub>
                          </m:den>
                        </m:f>
                        <m:r>
                          <a:rPr lang="en-US" sz="240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𝑎</m:t>
                                </m:r>
                              </m:e>
                            </m:acc>
                          </m:e>
                          <m:sub>
                            <m:r>
                              <a:rPr lang="en-US" sz="2400" i="1">
                                <a:latin typeface="Cambria Math" panose="02040503050406030204" pitchFamily="18" charset="0"/>
                              </a:rPr>
                              <m:t>𝑖𝑘</m:t>
                            </m:r>
                          </m:sub>
                        </m:sSub>
                        <m:r>
                          <a:rPr lang="en-US" sz="2400">
                            <a:latin typeface="Cambria Math" panose="02040503050406030204" pitchFamily="18" charset="0"/>
                          </a:rPr>
                          <m:t>&gt;0}</m:t>
                        </m:r>
                      </m:e>
                    </m:func>
                  </m:oMath>
                </a14:m>
                <a:r>
                  <a:rPr lang="zh-CN" altLang="en-US" sz="2400" dirty="0"/>
                  <a:t>有相同值，存在两个以上相同的最小比值，就会出现退化解。理论上讲，退化解可能使计算出现循环，从而得不到最优解。然而，实际问题中很少出现这种情况。</a:t>
                </a:r>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407368" y="630798"/>
                <a:ext cx="11377264" cy="5609677"/>
              </a:xfrm>
              <a:prstGeom prst="rect">
                <a:avLst/>
              </a:prstGeom>
              <a:blipFill rotWithShape="1">
                <a:blip r:embed="rId2"/>
                <a:stretch>
                  <a:fillRect l="-3" t="-4" r="3" b="6"/>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3"/>
          <p:cNvGraphicFramePr>
            <a:graphicFrameLocks noGrp="1" noChangeAspect="1"/>
          </p:cNvGraphicFramePr>
          <p:nvPr>
            <p:ph/>
          </p:nvPr>
        </p:nvGraphicFramePr>
        <p:xfrm>
          <a:off x="2207568" y="332657"/>
          <a:ext cx="7542212" cy="1706563"/>
        </p:xfrm>
        <a:graphic>
          <a:graphicData uri="http://schemas.openxmlformats.org/presentationml/2006/ole">
            <mc:AlternateContent xmlns:mc="http://schemas.openxmlformats.org/markup-compatibility/2006">
              <mc:Choice xmlns:v="urn:schemas-microsoft-com:vml" Requires="v">
                <p:oleObj name="Document" r:id="rId2" imgW="5247640" imgH="1188085" progId="Word.Document.8">
                  <p:embed/>
                </p:oleObj>
              </mc:Choice>
              <mc:Fallback>
                <p:oleObj name="Document" r:id="rId2" imgW="5247640" imgH="1188085" progId="Word.Documen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568" y="332657"/>
                        <a:ext cx="7542212" cy="1706563"/>
                      </a:xfrm>
                      <a:prstGeom prst="rect">
                        <a:avLst/>
                      </a:prstGeom>
                    </p:spPr>
                  </p:pic>
                </p:oleObj>
              </mc:Fallback>
            </mc:AlternateContent>
          </a:graphicData>
        </a:graphic>
      </p:graphicFrame>
      <p:pic>
        <p:nvPicPr>
          <p:cNvPr id="3" name="图片 2"/>
          <p:cNvPicPr>
            <a:picLocks noChangeAspect="1"/>
          </p:cNvPicPr>
          <p:nvPr/>
        </p:nvPicPr>
        <p:blipFill>
          <a:blip r:embed="rId4"/>
          <a:stretch>
            <a:fillRect/>
          </a:stretch>
        </p:blipFill>
        <p:spPr>
          <a:xfrm>
            <a:off x="3711811" y="2185161"/>
            <a:ext cx="4768379" cy="2058524"/>
          </a:xfrm>
          <a:prstGeom prst="rect">
            <a:avLst/>
          </a:prstGeom>
        </p:spPr>
      </p:pic>
      <p:sp>
        <p:nvSpPr>
          <p:cNvPr id="4" name="文本框 3"/>
          <p:cNvSpPr txBox="1"/>
          <p:nvPr/>
        </p:nvSpPr>
        <p:spPr>
          <a:xfrm>
            <a:off x="8112224" y="2789266"/>
            <a:ext cx="1224136" cy="461665"/>
          </a:xfrm>
          <a:prstGeom prst="rect">
            <a:avLst/>
          </a:prstGeom>
          <a:noFill/>
        </p:spPr>
        <p:txBody>
          <a:bodyPr wrap="square" rtlCol="0">
            <a:spAutoFit/>
          </a:bodyPr>
          <a:lstStyle/>
          <a:p>
            <a:r>
              <a:rPr lang="zh-CN" altLang="en-US" sz="2400" dirty="0"/>
              <a:t>（</a:t>
            </a:r>
            <a:r>
              <a:rPr lang="en-US" altLang="zh-CN" sz="2400" dirty="0"/>
              <a:t>2-3</a:t>
            </a:r>
            <a:r>
              <a:rPr lang="zh-CN" altLang="en-US" sz="2400" dirty="0"/>
              <a:t>）</a:t>
            </a:r>
          </a:p>
        </p:txBody>
      </p:sp>
      <p:pic>
        <p:nvPicPr>
          <p:cNvPr id="5" name="图片 4"/>
          <p:cNvPicPr>
            <a:picLocks noChangeAspect="1"/>
          </p:cNvPicPr>
          <p:nvPr/>
        </p:nvPicPr>
        <p:blipFill>
          <a:blip r:embed="rId5"/>
          <a:stretch>
            <a:fillRect/>
          </a:stretch>
        </p:blipFill>
        <p:spPr>
          <a:xfrm>
            <a:off x="1919536" y="4421066"/>
            <a:ext cx="9486900" cy="18669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547812" y="19050"/>
            <a:ext cx="9096375" cy="68199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内容占位符 2"/>
          <p:cNvSpPr>
            <a:spLocks noGrp="1"/>
          </p:cNvSpPr>
          <p:nvPr>
            <p:ph idx="1"/>
          </p:nvPr>
        </p:nvSpPr>
        <p:spPr>
          <a:xfrm>
            <a:off x="1981200" y="2143125"/>
            <a:ext cx="8229600" cy="3983038"/>
          </a:xfrm>
        </p:spPr>
        <p:txBody>
          <a:bodyPr/>
          <a:lstStyle/>
          <a:p>
            <a:pPr>
              <a:buFontTx/>
              <a:buNone/>
            </a:pPr>
            <a:r>
              <a:rPr lang="en-US" altLang="zh-CN"/>
              <a:t> </a:t>
            </a:r>
            <a:endParaRPr lang="zh-CN" altLang="en-US"/>
          </a:p>
        </p:txBody>
      </p:sp>
      <p:graphicFrame>
        <p:nvGraphicFramePr>
          <p:cNvPr id="14338" name="Object 2"/>
          <p:cNvGraphicFramePr>
            <a:graphicFrameLocks noChangeAspect="1"/>
          </p:cNvGraphicFramePr>
          <p:nvPr>
            <p:extLst>
              <p:ext uri="{D42A27DB-BD31-4B8C-83A1-F6EECF244321}">
                <p14:modId xmlns:p14="http://schemas.microsoft.com/office/powerpoint/2010/main" val="3296639042"/>
              </p:ext>
            </p:extLst>
          </p:nvPr>
        </p:nvGraphicFramePr>
        <p:xfrm>
          <a:off x="1614488" y="645815"/>
          <a:ext cx="8959850" cy="1343025"/>
        </p:xfrm>
        <a:graphic>
          <a:graphicData uri="http://schemas.openxmlformats.org/presentationml/2006/ole">
            <mc:AlternateContent xmlns:mc="http://schemas.openxmlformats.org/markup-compatibility/2006">
              <mc:Choice xmlns:v="urn:schemas-microsoft-com:vml" Requires="v">
                <p:oleObj name="Document" r:id="rId2" imgW="5277290" imgH="792276" progId="Word.Document.12">
                  <p:embed/>
                </p:oleObj>
              </mc:Choice>
              <mc:Fallback>
                <p:oleObj name="Document" r:id="rId2" imgW="5277290" imgH="792276" progId="Word.Document.12">
                  <p:embed/>
                  <p:pic>
                    <p:nvPicPr>
                      <p:cNvPr id="0" name="Object 2"/>
                      <p:cNvPicPr>
                        <a:picLocks noChangeAspect="1" noChangeArrowheads="1"/>
                      </p:cNvPicPr>
                      <p:nvPr/>
                    </p:nvPicPr>
                    <p:blipFill>
                      <a:blip r:embed="rId3"/>
                      <a:srcRect/>
                      <a:stretch>
                        <a:fillRect/>
                      </a:stretch>
                    </p:blipFill>
                    <p:spPr bwMode="auto">
                      <a:xfrm>
                        <a:off x="1614488" y="645815"/>
                        <a:ext cx="8959850" cy="1343025"/>
                      </a:xfrm>
                      <a:prstGeom prst="rect">
                        <a:avLst/>
                      </a:prstGeom>
                      <a:noFill/>
                      <a:ln>
                        <a:noFill/>
                      </a:ln>
                      <a:effectLst/>
                    </p:spPr>
                  </p:pic>
                </p:oleObj>
              </mc:Fallback>
            </mc:AlternateContent>
          </a:graphicData>
        </a:graphic>
      </p:graphicFrame>
      <p:pic>
        <p:nvPicPr>
          <p:cNvPr id="5" name="图片 4"/>
          <p:cNvPicPr>
            <a:picLocks noChangeAspect="1"/>
          </p:cNvPicPr>
          <p:nvPr/>
        </p:nvPicPr>
        <p:blipFill>
          <a:blip r:embed="rId4"/>
          <a:stretch>
            <a:fillRect/>
          </a:stretch>
        </p:blipFill>
        <p:spPr>
          <a:xfrm>
            <a:off x="2600325" y="2419350"/>
            <a:ext cx="6991350" cy="20193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YxNzc3ZjU2YzdhODA3MjQ3YjYyZjJmNTJkZDRhND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2498</Words>
  <Application>Microsoft Office PowerPoint</Application>
  <PresentationFormat>宽屏</PresentationFormat>
  <Paragraphs>476</Paragraphs>
  <Slides>34</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34</vt:i4>
      </vt:variant>
    </vt:vector>
  </HeadingPairs>
  <TitlesOfParts>
    <vt:vector size="48" baseType="lpstr">
      <vt:lpstr>Helvetica Neue</vt:lpstr>
      <vt:lpstr>等线</vt:lpstr>
      <vt:lpstr>黑体</vt:lpstr>
      <vt:lpstr>宋体</vt:lpstr>
      <vt:lpstr>Arial</vt:lpstr>
      <vt:lpstr>Calibri</vt:lpstr>
      <vt:lpstr>Cambria</vt:lpstr>
      <vt:lpstr>Cambria Math</vt:lpstr>
      <vt:lpstr>Times New Roman</vt:lpstr>
      <vt:lpstr>Wingdings</vt:lpstr>
      <vt:lpstr>Office 主题​​</vt:lpstr>
      <vt:lpstr>Equation</vt:lpstr>
      <vt:lpstr>Document</vt:lpstr>
      <vt:lpstr>Microsoft Word 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zl</dc:creator>
  <cp:lastModifiedBy>Wei Zhang</cp:lastModifiedBy>
  <cp:revision>175</cp:revision>
  <dcterms:created xsi:type="dcterms:W3CDTF">2014-09-17T05:43:00Z</dcterms:created>
  <dcterms:modified xsi:type="dcterms:W3CDTF">2025-10-10T15:30:22Z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21578326D0814C949854FC45CDB50B44_12</vt:lpwstr>
  </property>
  <property fmtid="{D5CDD505-2E9C-101B-9397-08002B2CF9AE}" pid="3" name="KSOProductBuildVer">
    <vt:lpwstr>2052-12.1.0.16120</vt:lpwstr>
  </property>
</Properties>
</file>