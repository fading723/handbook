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7"/>
  </p:notesMasterIdLst>
  <p:sldIdLst>
    <p:sldId id="473" r:id="rId2"/>
    <p:sldId id="477" r:id="rId3"/>
    <p:sldId id="286" r:id="rId4"/>
    <p:sldId id="285" r:id="rId5"/>
    <p:sldId id="481" r:id="rId6"/>
    <p:sldId id="387" r:id="rId7"/>
    <p:sldId id="485" r:id="rId8"/>
    <p:sldId id="486" r:id="rId9"/>
    <p:sldId id="478" r:id="rId10"/>
    <p:sldId id="479" r:id="rId11"/>
    <p:sldId id="288" r:id="rId12"/>
    <p:sldId id="380" r:id="rId13"/>
    <p:sldId id="482" r:id="rId14"/>
    <p:sldId id="483" r:id="rId15"/>
    <p:sldId id="484" r:id="rId16"/>
    <p:sldId id="502" r:id="rId17"/>
    <p:sldId id="475" r:id="rId18"/>
    <p:sldId id="466" r:id="rId19"/>
    <p:sldId id="292" r:id="rId20"/>
    <p:sldId id="377" r:id="rId21"/>
    <p:sldId id="293" r:id="rId22"/>
    <p:sldId id="360" r:id="rId23"/>
    <p:sldId id="469" r:id="rId24"/>
    <p:sldId id="508" r:id="rId25"/>
    <p:sldId id="271" r:id="rId26"/>
    <p:sldId id="376" r:id="rId27"/>
    <p:sldId id="363" r:id="rId28"/>
    <p:sldId id="365" r:id="rId29"/>
    <p:sldId id="470" r:id="rId30"/>
    <p:sldId id="367" r:id="rId31"/>
    <p:sldId id="368" r:id="rId32"/>
    <p:sldId id="369" r:id="rId33"/>
    <p:sldId id="370" r:id="rId34"/>
    <p:sldId id="371" r:id="rId35"/>
    <p:sldId id="487" r:id="rId36"/>
    <p:sldId id="509" r:id="rId37"/>
    <p:sldId id="510" r:id="rId38"/>
    <p:sldId id="512" r:id="rId39"/>
    <p:sldId id="511" r:id="rId40"/>
    <p:sldId id="468" r:id="rId41"/>
    <p:sldId id="506" r:id="rId42"/>
    <p:sldId id="321" r:id="rId43"/>
    <p:sldId id="507" r:id="rId44"/>
    <p:sldId id="327" r:id="rId45"/>
    <p:sldId id="503" r:id="rId46"/>
    <p:sldId id="504" r:id="rId47"/>
    <p:sldId id="488" r:id="rId48"/>
    <p:sldId id="474" r:id="rId49"/>
    <p:sldId id="489" r:id="rId50"/>
    <p:sldId id="490" r:id="rId51"/>
    <p:sldId id="257" r:id="rId52"/>
    <p:sldId id="258" r:id="rId53"/>
    <p:sldId id="471" r:id="rId54"/>
    <p:sldId id="472" r:id="rId55"/>
    <p:sldId id="259" r:id="rId56"/>
    <p:sldId id="491" r:id="rId57"/>
    <p:sldId id="284" r:id="rId58"/>
    <p:sldId id="492" r:id="rId59"/>
    <p:sldId id="493" r:id="rId60"/>
    <p:sldId id="260" r:id="rId61"/>
    <p:sldId id="261" r:id="rId62"/>
    <p:sldId id="494" r:id="rId63"/>
    <p:sldId id="495" r:id="rId64"/>
    <p:sldId id="263" r:id="rId65"/>
    <p:sldId id="265" r:id="rId66"/>
    <p:sldId id="496" r:id="rId67"/>
    <p:sldId id="480" r:id="rId68"/>
    <p:sldId id="497" r:id="rId69"/>
    <p:sldId id="498" r:id="rId70"/>
    <p:sldId id="266" r:id="rId71"/>
    <p:sldId id="267" r:id="rId72"/>
    <p:sldId id="268" r:id="rId73"/>
    <p:sldId id="499" r:id="rId74"/>
    <p:sldId id="500" r:id="rId75"/>
    <p:sldId id="501" r:id="rId76"/>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306" y="6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788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5032D7-A94E-4AC7-9DD8-09E8BBFD8683}" type="datetimeFigureOut">
              <a:rPr lang="zh-CN" altLang="en-US" smtClean="0"/>
              <a:t>2025/11/21</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06683E-A0B0-412F-8138-A99153489424}" type="slidenum">
              <a:rPr lang="zh-CN" altLang="en-US" smtClean="0"/>
              <a:t>‹#›</a:t>
            </a:fld>
            <a:endParaRPr lang="zh-CN" altLang="en-US"/>
          </a:p>
        </p:txBody>
      </p:sp>
    </p:spTree>
    <p:extLst>
      <p:ext uri="{BB962C8B-B14F-4D97-AF65-F5344CB8AC3E}">
        <p14:creationId xmlns:p14="http://schemas.microsoft.com/office/powerpoint/2010/main" val="2088377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7DCAE3E-9EEC-4B91-99EF-E463753DF4ED}" type="slidenum">
              <a:rPr lang="zh-CN" altLang="en-US" smtClean="0"/>
              <a:t>40</a:t>
            </a:fld>
            <a:endParaRPr lang="zh-CN" altLang="en-US"/>
          </a:p>
        </p:txBody>
      </p:sp>
    </p:spTree>
    <p:extLst>
      <p:ext uri="{BB962C8B-B14F-4D97-AF65-F5344CB8AC3E}">
        <p14:creationId xmlns:p14="http://schemas.microsoft.com/office/powerpoint/2010/main" val="24005786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A06683E-A0B0-412F-8138-A99153489424}" type="slidenum">
              <a:rPr lang="zh-CN" altLang="en-US" smtClean="0"/>
              <a:t>45</a:t>
            </a:fld>
            <a:endParaRPr lang="zh-CN" altLang="en-US"/>
          </a:p>
        </p:txBody>
      </p:sp>
    </p:spTree>
    <p:extLst>
      <p:ext uri="{BB962C8B-B14F-4D97-AF65-F5344CB8AC3E}">
        <p14:creationId xmlns:p14="http://schemas.microsoft.com/office/powerpoint/2010/main" val="40964839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7"/>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
        <p:nvSpPr>
          <p:cNvPr id="4" name="Rectangle 4">
            <a:extLst>
              <a:ext uri="{FF2B5EF4-FFF2-40B4-BE49-F238E27FC236}">
                <a16:creationId xmlns:a16="http://schemas.microsoft.com/office/drawing/2014/main" id="{D80B8E0E-2315-A649-7690-04423E2095E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D121CBEA-0222-3EEA-138E-6C002C00760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25A45056-CB6F-F046-E740-E591548EFC26}"/>
              </a:ext>
            </a:extLst>
          </p:cNvPr>
          <p:cNvSpPr>
            <a:spLocks noGrp="1" noChangeArrowheads="1"/>
          </p:cNvSpPr>
          <p:nvPr>
            <p:ph type="sldNum" sz="quarter" idx="12"/>
          </p:nvPr>
        </p:nvSpPr>
        <p:spPr>
          <a:ln/>
        </p:spPr>
        <p:txBody>
          <a:bodyPr/>
          <a:lstStyle>
            <a:lvl1pPr>
              <a:defRPr/>
            </a:lvl1pPr>
          </a:lstStyle>
          <a:p>
            <a:pPr>
              <a:defRPr/>
            </a:pPr>
            <a:fld id="{119BD7D9-8714-445A-A3DC-CAF535350818}" type="slidenum">
              <a:rPr lang="en-US" altLang="zh-CN"/>
              <a:pPr>
                <a:defRPr/>
              </a:pPr>
              <a:t>‹#›</a:t>
            </a:fld>
            <a:endParaRPr lang="en-US" altLang="zh-CN"/>
          </a:p>
        </p:txBody>
      </p:sp>
    </p:spTree>
    <p:extLst>
      <p:ext uri="{BB962C8B-B14F-4D97-AF65-F5344CB8AC3E}">
        <p14:creationId xmlns:p14="http://schemas.microsoft.com/office/powerpoint/2010/main" val="1477659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AEC883B0-B05D-366B-F1A5-3210798936C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EE947A49-DB8E-D7FE-0A43-C95771E4125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6CF2AE1-C6AB-C34C-F8C3-A1ECD5A330CA}"/>
              </a:ext>
            </a:extLst>
          </p:cNvPr>
          <p:cNvSpPr>
            <a:spLocks noGrp="1" noChangeArrowheads="1"/>
          </p:cNvSpPr>
          <p:nvPr>
            <p:ph type="sldNum" sz="quarter" idx="12"/>
          </p:nvPr>
        </p:nvSpPr>
        <p:spPr>
          <a:ln/>
        </p:spPr>
        <p:txBody>
          <a:bodyPr/>
          <a:lstStyle>
            <a:lvl1pPr>
              <a:defRPr/>
            </a:lvl1pPr>
          </a:lstStyle>
          <a:p>
            <a:pPr>
              <a:defRPr/>
            </a:pPr>
            <a:fld id="{327F7166-B9A2-4B2E-9268-433061F8D7E7}" type="slidenum">
              <a:rPr lang="en-US" altLang="zh-CN"/>
              <a:pPr>
                <a:defRPr/>
              </a:pPr>
              <a:t>‹#›</a:t>
            </a:fld>
            <a:endParaRPr lang="en-US" altLang="zh-CN"/>
          </a:p>
        </p:txBody>
      </p:sp>
    </p:spTree>
    <p:extLst>
      <p:ext uri="{BB962C8B-B14F-4D97-AF65-F5344CB8AC3E}">
        <p14:creationId xmlns:p14="http://schemas.microsoft.com/office/powerpoint/2010/main" val="626258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2"/>
            <a:ext cx="7772400" cy="1362075"/>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4" name="Rectangle 4">
            <a:extLst>
              <a:ext uri="{FF2B5EF4-FFF2-40B4-BE49-F238E27FC236}">
                <a16:creationId xmlns:a16="http://schemas.microsoft.com/office/drawing/2014/main" id="{CC95A3B6-E964-A5E1-372E-21AA5FC4E94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84E8217B-6FFA-2BB0-A1E1-7330806228C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CA1362B3-AC7E-DEC1-EC3A-74355A891120}"/>
              </a:ext>
            </a:extLst>
          </p:cNvPr>
          <p:cNvSpPr>
            <a:spLocks noGrp="1" noChangeArrowheads="1"/>
          </p:cNvSpPr>
          <p:nvPr>
            <p:ph type="sldNum" sz="quarter" idx="12"/>
          </p:nvPr>
        </p:nvSpPr>
        <p:spPr>
          <a:ln/>
        </p:spPr>
        <p:txBody>
          <a:bodyPr/>
          <a:lstStyle>
            <a:lvl1pPr>
              <a:defRPr/>
            </a:lvl1pPr>
          </a:lstStyle>
          <a:p>
            <a:pPr>
              <a:defRPr/>
            </a:pPr>
            <a:fld id="{E2B179D9-D0A7-4E29-B3BC-719A6D6C8896}" type="slidenum">
              <a:rPr lang="en-US" altLang="zh-CN"/>
              <a:pPr>
                <a:defRPr/>
              </a:pPr>
              <a:t>‹#›</a:t>
            </a:fld>
            <a:endParaRPr lang="en-US" altLang="zh-CN"/>
          </a:p>
        </p:txBody>
      </p:sp>
    </p:spTree>
    <p:extLst>
      <p:ext uri="{BB962C8B-B14F-4D97-AF65-F5344CB8AC3E}">
        <p14:creationId xmlns:p14="http://schemas.microsoft.com/office/powerpoint/2010/main" val="4094824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C6E370AD-2F56-75C7-1506-6B44808BFCE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BE605E75-1E28-B201-EF0B-C37BA9C8EA7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937F2DEC-12E6-887D-1EC7-16A0AAE95BBA}"/>
              </a:ext>
            </a:extLst>
          </p:cNvPr>
          <p:cNvSpPr>
            <a:spLocks noGrp="1" noChangeArrowheads="1"/>
          </p:cNvSpPr>
          <p:nvPr>
            <p:ph type="sldNum" sz="quarter" idx="12"/>
          </p:nvPr>
        </p:nvSpPr>
        <p:spPr>
          <a:ln/>
        </p:spPr>
        <p:txBody>
          <a:bodyPr/>
          <a:lstStyle>
            <a:lvl1pPr>
              <a:defRPr/>
            </a:lvl1pPr>
          </a:lstStyle>
          <a:p>
            <a:pPr>
              <a:defRPr/>
            </a:pPr>
            <a:fld id="{27E868FF-2E7A-4C1D-8E5D-AE6C809EB71E}" type="slidenum">
              <a:rPr lang="en-US" altLang="zh-CN"/>
              <a:pPr>
                <a:defRPr/>
              </a:pPr>
              <a:t>‹#›</a:t>
            </a:fld>
            <a:endParaRPr lang="en-US" altLang="zh-CN"/>
          </a:p>
        </p:txBody>
      </p:sp>
    </p:spTree>
    <p:extLst>
      <p:ext uri="{BB962C8B-B14F-4D97-AF65-F5344CB8AC3E}">
        <p14:creationId xmlns:p14="http://schemas.microsoft.com/office/powerpoint/2010/main" val="37618557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38F6BEE4-4841-1094-E869-8271E1BE8DE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7FB10E2A-1256-E8DF-D303-F1C8E777505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69B9036B-E592-89D9-644F-6B82393A4765}"/>
              </a:ext>
            </a:extLst>
          </p:cNvPr>
          <p:cNvSpPr>
            <a:spLocks noGrp="1" noChangeArrowheads="1"/>
          </p:cNvSpPr>
          <p:nvPr>
            <p:ph type="sldNum" sz="quarter" idx="12"/>
          </p:nvPr>
        </p:nvSpPr>
        <p:spPr>
          <a:ln/>
        </p:spPr>
        <p:txBody>
          <a:bodyPr/>
          <a:lstStyle>
            <a:lvl1pPr>
              <a:defRPr/>
            </a:lvl1pPr>
          </a:lstStyle>
          <a:p>
            <a:pPr>
              <a:defRPr/>
            </a:pPr>
            <a:fld id="{6AD8E53E-1BA6-486D-A38F-E2677CC31348}" type="slidenum">
              <a:rPr lang="en-US" altLang="zh-CN"/>
              <a:pPr>
                <a:defRPr/>
              </a:pPr>
              <a:t>‹#›</a:t>
            </a:fld>
            <a:endParaRPr lang="en-US" altLang="zh-CN"/>
          </a:p>
        </p:txBody>
      </p:sp>
    </p:spTree>
    <p:extLst>
      <p:ext uri="{BB962C8B-B14F-4D97-AF65-F5344CB8AC3E}">
        <p14:creationId xmlns:p14="http://schemas.microsoft.com/office/powerpoint/2010/main" val="402124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0002E47C-F90E-EACC-22B4-937653A169F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1DAE13A2-69F2-32FE-4760-4893B52CD7A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31D43B8E-2EE3-64BE-C381-FF8CD94AF35F}"/>
              </a:ext>
            </a:extLst>
          </p:cNvPr>
          <p:cNvSpPr>
            <a:spLocks noGrp="1" noChangeArrowheads="1"/>
          </p:cNvSpPr>
          <p:nvPr>
            <p:ph type="sldNum" sz="quarter" idx="12"/>
          </p:nvPr>
        </p:nvSpPr>
        <p:spPr>
          <a:ln/>
        </p:spPr>
        <p:txBody>
          <a:bodyPr/>
          <a:lstStyle>
            <a:lvl1pPr>
              <a:defRPr/>
            </a:lvl1pPr>
          </a:lstStyle>
          <a:p>
            <a:pPr>
              <a:defRPr/>
            </a:pPr>
            <a:fld id="{879E4CB7-52DA-425D-8B4F-8DE47E612DF8}" type="slidenum">
              <a:rPr lang="en-US" altLang="zh-CN"/>
              <a:pPr>
                <a:defRPr/>
              </a:pPr>
              <a:t>‹#›</a:t>
            </a:fld>
            <a:endParaRPr lang="en-US" altLang="zh-CN"/>
          </a:p>
        </p:txBody>
      </p:sp>
    </p:spTree>
    <p:extLst>
      <p:ext uri="{BB962C8B-B14F-4D97-AF65-F5344CB8AC3E}">
        <p14:creationId xmlns:p14="http://schemas.microsoft.com/office/powerpoint/2010/main" val="4094991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F7E15D9D-983D-565E-32D8-6A9E838573A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A76BB407-74C7-C9F9-1FAA-50279234994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5CBC1C96-49A8-6E3B-EDDA-184E7DDAEF8C}"/>
              </a:ext>
            </a:extLst>
          </p:cNvPr>
          <p:cNvSpPr>
            <a:spLocks noGrp="1" noChangeArrowheads="1"/>
          </p:cNvSpPr>
          <p:nvPr>
            <p:ph type="sldNum" sz="quarter" idx="12"/>
          </p:nvPr>
        </p:nvSpPr>
        <p:spPr>
          <a:ln/>
        </p:spPr>
        <p:txBody>
          <a:bodyPr/>
          <a:lstStyle>
            <a:lvl1pPr>
              <a:defRPr/>
            </a:lvl1pPr>
          </a:lstStyle>
          <a:p>
            <a:pPr>
              <a:defRPr/>
            </a:pPr>
            <a:fld id="{47EBE11E-5451-4B66-92B5-2811A62FFB78}" type="slidenum">
              <a:rPr lang="en-US" altLang="zh-CN"/>
              <a:pPr>
                <a:defRPr/>
              </a:pPr>
              <a:t>‹#›</a:t>
            </a:fld>
            <a:endParaRPr lang="en-US" altLang="zh-CN"/>
          </a:p>
        </p:txBody>
      </p:sp>
    </p:spTree>
    <p:extLst>
      <p:ext uri="{BB962C8B-B14F-4D97-AF65-F5344CB8AC3E}">
        <p14:creationId xmlns:p14="http://schemas.microsoft.com/office/powerpoint/2010/main" val="1909335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Rectangle 4">
            <a:extLst>
              <a:ext uri="{FF2B5EF4-FFF2-40B4-BE49-F238E27FC236}">
                <a16:creationId xmlns:a16="http://schemas.microsoft.com/office/drawing/2014/main" id="{FA128246-6433-D445-3064-9058522EBC9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7A9CC0FD-2531-AEA9-F99F-F41C56E853E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33702EA3-C12B-8447-0C88-B8D537E63E73}"/>
              </a:ext>
            </a:extLst>
          </p:cNvPr>
          <p:cNvSpPr>
            <a:spLocks noGrp="1" noChangeArrowheads="1"/>
          </p:cNvSpPr>
          <p:nvPr>
            <p:ph type="sldNum" sz="quarter" idx="12"/>
          </p:nvPr>
        </p:nvSpPr>
        <p:spPr>
          <a:ln/>
        </p:spPr>
        <p:txBody>
          <a:bodyPr/>
          <a:lstStyle>
            <a:lvl1pPr>
              <a:defRPr/>
            </a:lvl1pPr>
          </a:lstStyle>
          <a:p>
            <a:pPr>
              <a:defRPr/>
            </a:pPr>
            <a:fld id="{9D673816-DAD6-4F62-8E33-1BE35BFC80C5}" type="slidenum">
              <a:rPr lang="en-US" altLang="zh-CN"/>
              <a:pPr>
                <a:defRPr/>
              </a:pPr>
              <a:t>‹#›</a:t>
            </a:fld>
            <a:endParaRPr lang="en-US" altLang="zh-CN"/>
          </a:p>
        </p:txBody>
      </p:sp>
    </p:spTree>
    <p:extLst>
      <p:ext uri="{BB962C8B-B14F-4D97-AF65-F5344CB8AC3E}">
        <p14:creationId xmlns:p14="http://schemas.microsoft.com/office/powerpoint/2010/main" val="31322730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Rectangle 4">
            <a:extLst>
              <a:ext uri="{FF2B5EF4-FFF2-40B4-BE49-F238E27FC236}">
                <a16:creationId xmlns:a16="http://schemas.microsoft.com/office/drawing/2014/main" id="{992DA2E9-74B1-BDEF-1580-1DBF1522F43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79FA2950-6539-2B2D-0CAE-A05D942590D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9EA9BD2B-9C9A-428F-B394-8598A3A6BA55}"/>
              </a:ext>
            </a:extLst>
          </p:cNvPr>
          <p:cNvSpPr>
            <a:spLocks noGrp="1" noChangeArrowheads="1"/>
          </p:cNvSpPr>
          <p:nvPr>
            <p:ph type="sldNum" sz="quarter" idx="12"/>
          </p:nvPr>
        </p:nvSpPr>
        <p:spPr>
          <a:ln/>
        </p:spPr>
        <p:txBody>
          <a:bodyPr/>
          <a:lstStyle>
            <a:lvl1pPr>
              <a:defRPr/>
            </a:lvl1pPr>
          </a:lstStyle>
          <a:p>
            <a:pPr>
              <a:defRPr/>
            </a:pPr>
            <a:fld id="{63350E27-C435-4B23-87F4-52F2D3F74662}" type="slidenum">
              <a:rPr lang="en-US" altLang="zh-CN"/>
              <a:pPr>
                <a:defRPr/>
              </a:pPr>
              <a:t>‹#›</a:t>
            </a:fld>
            <a:endParaRPr lang="en-US" altLang="zh-CN"/>
          </a:p>
        </p:txBody>
      </p:sp>
    </p:spTree>
    <p:extLst>
      <p:ext uri="{BB962C8B-B14F-4D97-AF65-F5344CB8AC3E}">
        <p14:creationId xmlns:p14="http://schemas.microsoft.com/office/powerpoint/2010/main" val="3185217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DF75FD19-4A89-6420-FE26-0396BC16532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B7E950F5-0557-3117-75EA-C439DD68C7A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551B1443-8A90-B375-FD4A-AD8DD2893BA6}"/>
              </a:ext>
            </a:extLst>
          </p:cNvPr>
          <p:cNvSpPr>
            <a:spLocks noGrp="1" noChangeArrowheads="1"/>
          </p:cNvSpPr>
          <p:nvPr>
            <p:ph type="sldNum" sz="quarter" idx="12"/>
          </p:nvPr>
        </p:nvSpPr>
        <p:spPr>
          <a:ln/>
        </p:spPr>
        <p:txBody>
          <a:bodyPr/>
          <a:lstStyle>
            <a:lvl1pPr>
              <a:defRPr/>
            </a:lvl1pPr>
          </a:lstStyle>
          <a:p>
            <a:pPr>
              <a:defRPr/>
            </a:pPr>
            <a:fld id="{CDA46E01-DBA1-4120-B0C1-F2DC26492F92}" type="slidenum">
              <a:rPr lang="en-US" altLang="zh-CN"/>
              <a:pPr>
                <a:defRPr/>
              </a:pPr>
              <a:t>‹#›</a:t>
            </a:fld>
            <a:endParaRPr lang="en-US" altLang="zh-CN"/>
          </a:p>
        </p:txBody>
      </p:sp>
    </p:spTree>
    <p:extLst>
      <p:ext uri="{BB962C8B-B14F-4D97-AF65-F5344CB8AC3E}">
        <p14:creationId xmlns:p14="http://schemas.microsoft.com/office/powerpoint/2010/main" val="2510609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0"/>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40"/>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E27D51C7-E5DD-2717-D293-DE807A7AABE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A74C6110-D9DC-2F80-AC8F-27D0F3D4EF3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CB028F52-9D84-5FB5-121E-F78B02E520E7}"/>
              </a:ext>
            </a:extLst>
          </p:cNvPr>
          <p:cNvSpPr>
            <a:spLocks noGrp="1" noChangeArrowheads="1"/>
          </p:cNvSpPr>
          <p:nvPr>
            <p:ph type="sldNum" sz="quarter" idx="12"/>
          </p:nvPr>
        </p:nvSpPr>
        <p:spPr>
          <a:ln/>
        </p:spPr>
        <p:txBody>
          <a:bodyPr/>
          <a:lstStyle>
            <a:lvl1pPr>
              <a:defRPr/>
            </a:lvl1pPr>
          </a:lstStyle>
          <a:p>
            <a:pPr>
              <a:defRPr/>
            </a:pPr>
            <a:fld id="{F47F3879-C505-40C2-A0F6-5A403C75BFF4}" type="slidenum">
              <a:rPr lang="en-US" altLang="zh-CN"/>
              <a:pPr>
                <a:defRPr/>
              </a:pPr>
              <a:t>‹#›</a:t>
            </a:fld>
            <a:endParaRPr lang="en-US" altLang="zh-CN"/>
          </a:p>
        </p:txBody>
      </p:sp>
    </p:spTree>
    <p:extLst>
      <p:ext uri="{BB962C8B-B14F-4D97-AF65-F5344CB8AC3E}">
        <p14:creationId xmlns:p14="http://schemas.microsoft.com/office/powerpoint/2010/main" val="29131953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40"/>
            <a:ext cx="8229600" cy="5851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E46F7CC9-B4B5-DF26-6135-C8E247461E1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3F3E9EDB-8EFF-CA65-F0C2-B6E871561BC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3AF462D5-D7E7-B280-EDCD-F430E78F1328}"/>
              </a:ext>
            </a:extLst>
          </p:cNvPr>
          <p:cNvSpPr>
            <a:spLocks noGrp="1" noChangeArrowheads="1"/>
          </p:cNvSpPr>
          <p:nvPr>
            <p:ph type="sldNum" sz="quarter" idx="12"/>
          </p:nvPr>
        </p:nvSpPr>
        <p:spPr>
          <a:ln/>
        </p:spPr>
        <p:txBody>
          <a:bodyPr/>
          <a:lstStyle>
            <a:lvl1pPr>
              <a:defRPr/>
            </a:lvl1pPr>
          </a:lstStyle>
          <a:p>
            <a:pPr>
              <a:defRPr/>
            </a:pPr>
            <a:fld id="{8A95E9FE-D3D4-4D50-B683-6E8377F53E6C}" type="slidenum">
              <a:rPr lang="en-US" altLang="zh-CN"/>
              <a:pPr>
                <a:defRPr/>
              </a:pPr>
              <a:t>‹#›</a:t>
            </a:fld>
            <a:endParaRPr lang="en-US" altLang="zh-CN"/>
          </a:p>
        </p:txBody>
      </p:sp>
    </p:spTree>
    <p:extLst>
      <p:ext uri="{BB962C8B-B14F-4D97-AF65-F5344CB8AC3E}">
        <p14:creationId xmlns:p14="http://schemas.microsoft.com/office/powerpoint/2010/main" val="3552034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1219200" y="1295400"/>
            <a:ext cx="7696200" cy="914400"/>
          </a:xfrm>
        </p:spPr>
        <p:txBody>
          <a:bodyPr/>
          <a:lstStyle/>
          <a:p>
            <a:r>
              <a:rPr lang="zh-CN" altLang="en-US" noProof="1"/>
              <a:t>单击此处编辑母版标题样式</a:t>
            </a:r>
          </a:p>
        </p:txBody>
      </p:sp>
      <p:sp>
        <p:nvSpPr>
          <p:cNvPr id="3" name="内容占位符 2"/>
          <p:cNvSpPr>
            <a:spLocks noGrp="1"/>
          </p:cNvSpPr>
          <p:nvPr>
            <p:ph sz="half" idx="1"/>
          </p:nvPr>
        </p:nvSpPr>
        <p:spPr>
          <a:xfrm>
            <a:off x="1219200" y="2286000"/>
            <a:ext cx="3771900" cy="39624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143500" y="2286000"/>
            <a:ext cx="3771900" cy="19050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143500" y="4343400"/>
            <a:ext cx="3771900" cy="19050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Rectangle 4"/>
          <p:cNvSpPr>
            <a:spLocks noGrp="1" noChangeArrowheads="1"/>
          </p:cNvSpPr>
          <p:nvPr>
            <p:ph type="dt" sz="half" idx="10"/>
          </p:nvPr>
        </p:nvSpPr>
        <p:spPr/>
        <p:txBody>
          <a:bodyPr/>
          <a:lstStyle>
            <a:lvl1pPr>
              <a:defRPr/>
            </a:lvl1pPr>
          </a:lstStyle>
          <a:p>
            <a:pPr>
              <a:defRPr/>
            </a:pPr>
            <a:endParaRPr lang="en-US" altLang="zh-CN"/>
          </a:p>
        </p:txBody>
      </p:sp>
      <p:sp>
        <p:nvSpPr>
          <p:cNvPr id="7" name="Rectangle 5"/>
          <p:cNvSpPr>
            <a:spLocks noGrp="1" noChangeArrowheads="1"/>
          </p:cNvSpPr>
          <p:nvPr>
            <p:ph type="ftr" sz="quarter" idx="11"/>
          </p:nvPr>
        </p:nvSpPr>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p:txBody>
          <a:bodyPr/>
          <a:lstStyle>
            <a:lvl1pPr>
              <a:defRPr/>
            </a:lvl1pPr>
          </a:lstStyle>
          <a:p>
            <a:fld id="{4BD676D4-8660-4914-B5A9-83C54B0661C9}" type="slidenum">
              <a:rPr lang="en-US" altLang="zh-CN"/>
              <a:t>‹#›</a:t>
            </a:fld>
            <a:endParaRPr lang="en-US" altLang="zh-CN"/>
          </a:p>
        </p:txBody>
      </p:sp>
    </p:spTree>
    <p:extLst>
      <p:ext uri="{BB962C8B-B14F-4D97-AF65-F5344CB8AC3E}">
        <p14:creationId xmlns:p14="http://schemas.microsoft.com/office/powerpoint/2010/main" val="6810592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2"/>
            <a:ext cx="40386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600202"/>
            <a:ext cx="40386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043B384-EC39-A3C3-86DE-1049D72D71ED}"/>
              </a:ext>
            </a:extLst>
          </p:cNvPr>
          <p:cNvSpPr>
            <a:spLocks noGrp="1"/>
          </p:cNvSpPr>
          <p:nvPr>
            <p:ph type="dt" sz="half" idx="10"/>
          </p:nvPr>
        </p:nvSpPr>
        <p:spPr>
          <a:xfrm>
            <a:off x="457200" y="6245225"/>
            <a:ext cx="2133600" cy="476250"/>
          </a:xfrm>
        </p:spPr>
        <p:txBody>
          <a:bodyPr/>
          <a:lstStyle>
            <a:lvl1pPr>
              <a:defRPr/>
            </a:lvl1pPr>
          </a:lstStyle>
          <a:p>
            <a:pPr>
              <a:defRPr/>
            </a:pPr>
            <a:endParaRPr lang="en-US" altLang="zh-CN"/>
          </a:p>
        </p:txBody>
      </p:sp>
      <p:sp>
        <p:nvSpPr>
          <p:cNvPr id="6" name="页脚占位符 5">
            <a:extLst>
              <a:ext uri="{FF2B5EF4-FFF2-40B4-BE49-F238E27FC236}">
                <a16:creationId xmlns:a16="http://schemas.microsoft.com/office/drawing/2014/main" id="{EB10C52D-0551-E569-019A-34F557BFE01B}"/>
              </a:ext>
            </a:extLst>
          </p:cNvPr>
          <p:cNvSpPr>
            <a:spLocks noGrp="1"/>
          </p:cNvSpPr>
          <p:nvPr>
            <p:ph type="ftr" sz="quarter" idx="11"/>
          </p:nvPr>
        </p:nvSpPr>
        <p:spPr>
          <a:xfrm>
            <a:off x="3124200" y="6245225"/>
            <a:ext cx="2895600" cy="476250"/>
          </a:xfrm>
        </p:spPr>
        <p:txBody>
          <a:bodyPr/>
          <a:lstStyle>
            <a:lvl1pPr>
              <a:defRPr/>
            </a:lvl1pPr>
          </a:lstStyle>
          <a:p>
            <a:pPr>
              <a:defRPr/>
            </a:pPr>
            <a:endParaRPr lang="en-US" altLang="zh-CN"/>
          </a:p>
        </p:txBody>
      </p:sp>
      <p:sp>
        <p:nvSpPr>
          <p:cNvPr id="7" name="灯片编号占位符 6">
            <a:extLst>
              <a:ext uri="{FF2B5EF4-FFF2-40B4-BE49-F238E27FC236}">
                <a16:creationId xmlns:a16="http://schemas.microsoft.com/office/drawing/2014/main" id="{6FC8BD86-7099-E091-9FE3-FA4CDE4AEA00}"/>
              </a:ext>
            </a:extLst>
          </p:cNvPr>
          <p:cNvSpPr>
            <a:spLocks noGrp="1"/>
          </p:cNvSpPr>
          <p:nvPr>
            <p:ph type="sldNum" sz="quarter" idx="12"/>
          </p:nvPr>
        </p:nvSpPr>
        <p:spPr>
          <a:xfrm>
            <a:off x="6553200" y="6245225"/>
            <a:ext cx="2133600" cy="476250"/>
          </a:xfrm>
        </p:spPr>
        <p:txBody>
          <a:bodyPr/>
          <a:lstStyle>
            <a:lvl1pPr>
              <a:defRPr/>
            </a:lvl1pPr>
          </a:lstStyle>
          <a:p>
            <a:pPr>
              <a:defRPr/>
            </a:pPr>
            <a:fld id="{A9186C6D-322E-470F-A9FB-0D803944AFFE}" type="slidenum">
              <a:rPr lang="en-US" altLang="zh-CN"/>
              <a:pPr>
                <a:defRPr/>
              </a:pPr>
              <a:t>‹#›</a:t>
            </a:fld>
            <a:endParaRPr lang="en-US" altLang="zh-CN"/>
          </a:p>
        </p:txBody>
      </p:sp>
    </p:spTree>
    <p:extLst>
      <p:ext uri="{BB962C8B-B14F-4D97-AF65-F5344CB8AC3E}">
        <p14:creationId xmlns:p14="http://schemas.microsoft.com/office/powerpoint/2010/main" val="2609999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3A6C935-2CA5-FC03-0D12-05DA59C621CF}"/>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71A5310E-4D9F-C54F-A889-2D3F7A13999D}"/>
              </a:ext>
            </a:extLst>
          </p:cNvPr>
          <p:cNvSpPr>
            <a:spLocks noGrp="1" noChangeArrowheads="1"/>
          </p:cNvSpPr>
          <p:nvPr>
            <p:ph type="body" idx="1"/>
          </p:nvPr>
        </p:nvSpPr>
        <p:spPr bwMode="auto">
          <a:xfrm>
            <a:off x="457200" y="1600201"/>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8738D136-825F-79C6-53F3-D9EF18910E91}"/>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50">
                <a:latin typeface="Arial" charset="0"/>
              </a:defRPr>
            </a:lvl1pPr>
          </a:lstStyle>
          <a:p>
            <a:pPr>
              <a:defRPr/>
            </a:pPr>
            <a:endParaRPr lang="en-US" altLang="zh-CN"/>
          </a:p>
        </p:txBody>
      </p:sp>
      <p:sp>
        <p:nvSpPr>
          <p:cNvPr id="1029" name="Rectangle 5">
            <a:extLst>
              <a:ext uri="{FF2B5EF4-FFF2-40B4-BE49-F238E27FC236}">
                <a16:creationId xmlns:a16="http://schemas.microsoft.com/office/drawing/2014/main" id="{F3B9AFBF-C132-0881-FE04-9BC7857E4558}"/>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50">
                <a:latin typeface="Arial" charset="0"/>
              </a:defRPr>
            </a:lvl1pPr>
          </a:lstStyle>
          <a:p>
            <a:pPr>
              <a:defRPr/>
            </a:pPr>
            <a:endParaRPr lang="en-US" altLang="zh-CN"/>
          </a:p>
        </p:txBody>
      </p:sp>
      <p:sp>
        <p:nvSpPr>
          <p:cNvPr id="1030" name="Rectangle 6">
            <a:extLst>
              <a:ext uri="{FF2B5EF4-FFF2-40B4-BE49-F238E27FC236}">
                <a16:creationId xmlns:a16="http://schemas.microsoft.com/office/drawing/2014/main" id="{2BE9DD42-4C41-63B7-B8BA-7CA96C57F4C8}"/>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50" smtClean="0"/>
            </a:lvl1pPr>
          </a:lstStyle>
          <a:p>
            <a:pPr>
              <a:defRPr/>
            </a:pPr>
            <a:fld id="{6B3310C7-791A-4145-8082-05A41B3BF8B4}"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Arial" charset="0"/>
          <a:ea typeface="宋体" pitchFamily="2" charset="-122"/>
        </a:defRPr>
      </a:lvl2pPr>
      <a:lvl3pPr algn="ctr" rtl="0" eaLnBrk="0" fontAlgn="base" hangingPunct="0">
        <a:spcBef>
          <a:spcPct val="0"/>
        </a:spcBef>
        <a:spcAft>
          <a:spcPct val="0"/>
        </a:spcAft>
        <a:defRPr sz="3300">
          <a:solidFill>
            <a:schemeClr val="tx2"/>
          </a:solidFill>
          <a:latin typeface="Arial" charset="0"/>
          <a:ea typeface="宋体" pitchFamily="2" charset="-122"/>
        </a:defRPr>
      </a:lvl3pPr>
      <a:lvl4pPr algn="ctr" rtl="0" eaLnBrk="0" fontAlgn="base" hangingPunct="0">
        <a:spcBef>
          <a:spcPct val="0"/>
        </a:spcBef>
        <a:spcAft>
          <a:spcPct val="0"/>
        </a:spcAft>
        <a:defRPr sz="3300">
          <a:solidFill>
            <a:schemeClr val="tx2"/>
          </a:solidFill>
          <a:latin typeface="Arial" charset="0"/>
          <a:ea typeface="宋体" pitchFamily="2" charset="-122"/>
        </a:defRPr>
      </a:lvl4pPr>
      <a:lvl5pPr algn="ctr" rtl="0" eaLnBrk="0" fontAlgn="base" hangingPunct="0">
        <a:spcBef>
          <a:spcPct val="0"/>
        </a:spcBef>
        <a:spcAft>
          <a:spcPct val="0"/>
        </a:spcAft>
        <a:defRPr sz="3300">
          <a:solidFill>
            <a:schemeClr val="tx2"/>
          </a:solidFill>
          <a:latin typeface="Arial" charset="0"/>
          <a:ea typeface="宋体" pitchFamily="2" charset="-122"/>
        </a:defRPr>
      </a:lvl5pPr>
      <a:lvl6pPr marL="342900" algn="ctr" rtl="0" fontAlgn="base">
        <a:spcBef>
          <a:spcPct val="0"/>
        </a:spcBef>
        <a:spcAft>
          <a:spcPct val="0"/>
        </a:spcAft>
        <a:defRPr sz="3300">
          <a:solidFill>
            <a:schemeClr val="tx2"/>
          </a:solidFill>
          <a:latin typeface="Arial" charset="0"/>
          <a:ea typeface="宋体" pitchFamily="2" charset="-122"/>
        </a:defRPr>
      </a:lvl6pPr>
      <a:lvl7pPr marL="685800" algn="ctr" rtl="0" fontAlgn="base">
        <a:spcBef>
          <a:spcPct val="0"/>
        </a:spcBef>
        <a:spcAft>
          <a:spcPct val="0"/>
        </a:spcAft>
        <a:defRPr sz="3300">
          <a:solidFill>
            <a:schemeClr val="tx2"/>
          </a:solidFill>
          <a:latin typeface="Arial" charset="0"/>
          <a:ea typeface="宋体" pitchFamily="2" charset="-122"/>
        </a:defRPr>
      </a:lvl7pPr>
      <a:lvl8pPr marL="1028700" algn="ctr" rtl="0" fontAlgn="base">
        <a:spcBef>
          <a:spcPct val="0"/>
        </a:spcBef>
        <a:spcAft>
          <a:spcPct val="0"/>
        </a:spcAft>
        <a:defRPr sz="3300">
          <a:solidFill>
            <a:schemeClr val="tx2"/>
          </a:solidFill>
          <a:latin typeface="Arial" charset="0"/>
          <a:ea typeface="宋体" pitchFamily="2" charset="-122"/>
        </a:defRPr>
      </a:lvl8pPr>
      <a:lvl9pPr marL="1371600" algn="ctr" rtl="0" fontAlgn="base">
        <a:spcBef>
          <a:spcPct val="0"/>
        </a:spcBef>
        <a:spcAft>
          <a:spcPct val="0"/>
        </a:spcAft>
        <a:defRPr sz="3300">
          <a:solidFill>
            <a:schemeClr val="tx2"/>
          </a:solidFill>
          <a:latin typeface="Arial" charset="0"/>
          <a:ea typeface="宋体" pitchFamily="2" charset="-122"/>
        </a:defRPr>
      </a:lvl9pPr>
    </p:titleStyle>
    <p:bodyStyle>
      <a:lvl1pPr marL="257175" indent="-257175" algn="l" rtl="0" eaLnBrk="0" fontAlgn="base" hangingPunct="0">
        <a:spcBef>
          <a:spcPct val="20000"/>
        </a:spcBef>
        <a:spcAft>
          <a:spcPct val="0"/>
        </a:spcAft>
        <a:buChar char="•"/>
        <a:defRPr sz="2400">
          <a:solidFill>
            <a:schemeClr val="tx1"/>
          </a:solidFill>
          <a:latin typeface="+mn-lt"/>
          <a:ea typeface="+mn-ea"/>
          <a:cs typeface="+mn-cs"/>
        </a:defRPr>
      </a:lvl1pPr>
      <a:lvl2pPr marL="557213" indent="-214313" algn="l" rtl="0" eaLnBrk="0" fontAlgn="base" hangingPunct="0">
        <a:spcBef>
          <a:spcPct val="20000"/>
        </a:spcBef>
        <a:spcAft>
          <a:spcPct val="0"/>
        </a:spcAft>
        <a:buChar char="–"/>
        <a:defRPr sz="2100">
          <a:solidFill>
            <a:schemeClr val="tx1"/>
          </a:solidFill>
          <a:latin typeface="+mn-lt"/>
          <a:ea typeface="+mn-ea"/>
        </a:defRPr>
      </a:lvl2pPr>
      <a:lvl3pPr marL="857250" indent="-171450" algn="l" rtl="0" eaLnBrk="0" fontAlgn="base" hangingPunct="0">
        <a:spcBef>
          <a:spcPct val="20000"/>
        </a:spcBef>
        <a:spcAft>
          <a:spcPct val="0"/>
        </a:spcAft>
        <a:buChar char="•"/>
        <a:defRPr sz="1800">
          <a:solidFill>
            <a:schemeClr val="tx1"/>
          </a:solidFill>
          <a:latin typeface="+mn-lt"/>
          <a:ea typeface="+mn-ea"/>
        </a:defRPr>
      </a:lvl3pPr>
      <a:lvl4pPr marL="1200150" indent="-171450" algn="l" rtl="0" eaLnBrk="0" fontAlgn="base" hangingPunct="0">
        <a:spcBef>
          <a:spcPct val="20000"/>
        </a:spcBef>
        <a:spcAft>
          <a:spcPct val="0"/>
        </a:spcAft>
        <a:buChar char="–"/>
        <a:defRPr sz="1500">
          <a:solidFill>
            <a:schemeClr val="tx1"/>
          </a:solidFill>
          <a:latin typeface="+mn-lt"/>
          <a:ea typeface="+mn-ea"/>
        </a:defRPr>
      </a:lvl4pPr>
      <a:lvl5pPr marL="1543050" indent="-171450" algn="l" rtl="0" eaLnBrk="0" fontAlgn="base" hangingPunct="0">
        <a:spcBef>
          <a:spcPct val="20000"/>
        </a:spcBef>
        <a:spcAft>
          <a:spcPct val="0"/>
        </a:spcAft>
        <a:buChar char="»"/>
        <a:defRPr sz="1500">
          <a:solidFill>
            <a:schemeClr val="tx1"/>
          </a:solidFill>
          <a:latin typeface="+mn-lt"/>
          <a:ea typeface="+mn-ea"/>
        </a:defRPr>
      </a:lvl5pPr>
      <a:lvl6pPr marL="1885950" indent="-171450" algn="l" rtl="0" fontAlgn="base">
        <a:spcBef>
          <a:spcPct val="20000"/>
        </a:spcBef>
        <a:spcAft>
          <a:spcPct val="0"/>
        </a:spcAft>
        <a:buChar char="»"/>
        <a:defRPr sz="1500">
          <a:solidFill>
            <a:schemeClr val="tx1"/>
          </a:solidFill>
          <a:latin typeface="+mn-lt"/>
          <a:ea typeface="+mn-ea"/>
        </a:defRPr>
      </a:lvl6pPr>
      <a:lvl7pPr marL="2228850" indent="-171450" algn="l" rtl="0" fontAlgn="base">
        <a:spcBef>
          <a:spcPct val="20000"/>
        </a:spcBef>
        <a:spcAft>
          <a:spcPct val="0"/>
        </a:spcAft>
        <a:buChar char="»"/>
        <a:defRPr sz="1500">
          <a:solidFill>
            <a:schemeClr val="tx1"/>
          </a:solidFill>
          <a:latin typeface="+mn-lt"/>
          <a:ea typeface="+mn-ea"/>
        </a:defRPr>
      </a:lvl7pPr>
      <a:lvl8pPr marL="2571750" indent="-171450" algn="l" rtl="0" fontAlgn="base">
        <a:spcBef>
          <a:spcPct val="20000"/>
        </a:spcBef>
        <a:spcAft>
          <a:spcPct val="0"/>
        </a:spcAft>
        <a:buChar char="»"/>
        <a:defRPr sz="1500">
          <a:solidFill>
            <a:schemeClr val="tx1"/>
          </a:solidFill>
          <a:latin typeface="+mn-lt"/>
          <a:ea typeface="+mn-ea"/>
        </a:defRPr>
      </a:lvl8pPr>
      <a:lvl9pPr marL="2914650" indent="-171450" algn="l" rtl="0" fontAlgn="base">
        <a:spcBef>
          <a:spcPct val="20000"/>
        </a:spcBef>
        <a:spcAft>
          <a:spcPct val="0"/>
        </a:spcAft>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11.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6.png"/><Relationship Id="rId1" Type="http://schemas.openxmlformats.org/officeDocument/2006/relationships/slideLayout" Target="../slideLayouts/slideLayout13.xml"/><Relationship Id="rId5" Type="http://schemas.openxmlformats.org/officeDocument/2006/relationships/image" Target="../media/image111.png"/><Relationship Id="rId4" Type="http://schemas.openxmlformats.org/officeDocument/2006/relationships/image" Target="../media/image101.png"/></Relationships>
</file>

<file path=ppt/slides/_rels/slide27.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0.png"/><Relationship Id="rId1" Type="http://schemas.openxmlformats.org/officeDocument/2006/relationships/slideLayout" Target="../slideLayouts/slideLayout7.xml"/><Relationship Id="rId4" Type="http://schemas.openxmlformats.org/officeDocument/2006/relationships/image" Target="../media/image152.png"/></Relationships>
</file>

<file path=ppt/slides/_rels/slide28.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image" Target="../media/image740.png"/><Relationship Id="rId3" Type="http://schemas.openxmlformats.org/officeDocument/2006/relationships/image" Target="../media/image690.png"/><Relationship Id="rId7" Type="http://schemas.openxmlformats.org/officeDocument/2006/relationships/image" Target="../media/image730.png"/><Relationship Id="rId2" Type="http://schemas.openxmlformats.org/officeDocument/2006/relationships/image" Target="../media/image680.png"/><Relationship Id="rId1" Type="http://schemas.openxmlformats.org/officeDocument/2006/relationships/slideLayout" Target="../slideLayouts/slideLayout7.xml"/><Relationship Id="rId6" Type="http://schemas.openxmlformats.org/officeDocument/2006/relationships/image" Target="../media/image720.png"/><Relationship Id="rId5" Type="http://schemas.openxmlformats.org/officeDocument/2006/relationships/image" Target="../media/image18.png"/><Relationship Id="rId4" Type="http://schemas.openxmlformats.org/officeDocument/2006/relationships/image" Target="../media/image700.png"/></Relationships>
</file>

<file path=ppt/slides/_rels/slide31.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image" Target="../media/image171.png"/><Relationship Id="rId1" Type="http://schemas.openxmlformats.org/officeDocument/2006/relationships/slideLayout" Target="../slideLayouts/slideLayout7.xml"/><Relationship Id="rId6" Type="http://schemas.openxmlformats.org/officeDocument/2006/relationships/image" Target="../media/image79.png"/><Relationship Id="rId5" Type="http://schemas.openxmlformats.org/officeDocument/2006/relationships/image" Target="../media/image780.png"/><Relationship Id="rId4" Type="http://schemas.openxmlformats.org/officeDocument/2006/relationships/image" Target="../media/image770.png"/></Relationships>
</file>

<file path=ppt/slides/_rels/slide3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0.png"/><Relationship Id="rId1" Type="http://schemas.openxmlformats.org/officeDocument/2006/relationships/slideLayout" Target="../slideLayouts/slideLayout7.xml"/><Relationship Id="rId5" Type="http://schemas.openxmlformats.org/officeDocument/2006/relationships/image" Target="../media/image83.png"/><Relationship Id="rId4" Type="http://schemas.openxmlformats.org/officeDocument/2006/relationships/image" Target="../media/image82.png"/></Relationships>
</file>

<file path=ppt/slides/_rels/slide3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7.xml"/><Relationship Id="rId5" Type="http://schemas.openxmlformats.org/officeDocument/2006/relationships/image" Target="../media/image87.png"/><Relationship Id="rId4"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90.png"/></Relationships>
</file>

<file path=ppt/slides/_rels/slide3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0.png"/><Relationship Id="rId7" Type="http://schemas.openxmlformats.org/officeDocument/2006/relationships/image" Target="../media/image22.png"/><Relationship Id="rId2" Type="http://schemas.openxmlformats.org/officeDocument/2006/relationships/image" Target="../media/image170.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1.png"/><Relationship Id="rId4" Type="http://schemas.openxmlformats.org/officeDocument/2006/relationships/image" Target="../media/image191.png"/><Relationship Id="rId9" Type="http://schemas.openxmlformats.org/officeDocument/2006/relationships/image" Target="../media/image24.png"/></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6.png"/><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3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320.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330.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2.xml"/><Relationship Id="rId4" Type="http://schemas.openxmlformats.org/officeDocument/2006/relationships/image" Target="../media/image44.png"/></Relationships>
</file>

<file path=ppt/slides/_rels/slide5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113.png"/><Relationship Id="rId7" Type="http://schemas.openxmlformats.org/officeDocument/2006/relationships/image" Target="../media/image51.png"/><Relationship Id="rId2" Type="http://schemas.openxmlformats.org/officeDocument/2006/relationships/image" Target="../media/image471.png"/><Relationship Id="rId1" Type="http://schemas.openxmlformats.org/officeDocument/2006/relationships/slideLayout" Target="../slideLayouts/slideLayout12.xml"/><Relationship Id="rId6" Type="http://schemas.openxmlformats.org/officeDocument/2006/relationships/image" Target="../media/image48.png"/><Relationship Id="rId5" Type="http://schemas.openxmlformats.org/officeDocument/2006/relationships/image" Target="../media/image151.png"/><Relationship Id="rId4" Type="http://schemas.openxmlformats.org/officeDocument/2006/relationships/image" Target="../media/image121.png"/><Relationship Id="rId9" Type="http://schemas.openxmlformats.org/officeDocument/2006/relationships/image" Target="../media/image172.png"/></Relationships>
</file>

<file path=ppt/slides/_rels/slide6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image" Target="../media/image440.png"/><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461.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image" Target="../media/image470.png"/><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80.png"/><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image" Target="../media/image510.png"/><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8" Type="http://schemas.openxmlformats.org/officeDocument/2006/relationships/image" Target="../media/image200.png"/><Relationship Id="rId3" Type="http://schemas.openxmlformats.org/officeDocument/2006/relationships/image" Target="../media/image150.png"/><Relationship Id="rId7" Type="http://schemas.openxmlformats.org/officeDocument/2006/relationships/image" Target="../media/image190.png"/><Relationship Id="rId2" Type="http://schemas.openxmlformats.org/officeDocument/2006/relationships/image" Target="../media/image140.png"/><Relationship Id="rId1" Type="http://schemas.openxmlformats.org/officeDocument/2006/relationships/slideLayout" Target="../slideLayouts/slideLayout7.xml"/><Relationship Id="rId6" Type="http://schemas.openxmlformats.org/officeDocument/2006/relationships/image" Target="../media/image1800.png"/><Relationship Id="rId5" Type="http://schemas.openxmlformats.org/officeDocument/2006/relationships/image" Target="../media/image1700.png"/><Relationship Id="rId4" Type="http://schemas.openxmlformats.org/officeDocument/2006/relationships/image" Target="../media/image16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20.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BD2B4CB-2184-069E-A677-28938C2BB3D9}"/>
              </a:ext>
            </a:extLst>
          </p:cNvPr>
          <p:cNvSpPr/>
          <p:nvPr/>
        </p:nvSpPr>
        <p:spPr>
          <a:xfrm>
            <a:off x="3182396" y="2564904"/>
            <a:ext cx="2515433" cy="600164"/>
          </a:xfrm>
          <a:prstGeom prst="rect">
            <a:avLst/>
          </a:prstGeom>
        </p:spPr>
        <p:txBody>
          <a:bodyPr wrap="none">
            <a:spAutoFit/>
          </a:bodyPr>
          <a:lstStyle/>
          <a:p>
            <a:pPr algn="ctr"/>
            <a:r>
              <a:rPr lang="en-US" altLang="zh-CN" sz="3300" b="1" dirty="0"/>
              <a:t>   8.5 </a:t>
            </a:r>
            <a:r>
              <a:rPr lang="zh-CN" altLang="en-US" sz="3300" b="1" dirty="0"/>
              <a:t>牛顿法</a:t>
            </a:r>
          </a:p>
        </p:txBody>
      </p:sp>
    </p:spTree>
    <p:extLst>
      <p:ext uri="{BB962C8B-B14F-4D97-AF65-F5344CB8AC3E}">
        <p14:creationId xmlns:p14="http://schemas.microsoft.com/office/powerpoint/2010/main" val="3690084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7107" name="Rectangle 3">
                <a:extLst>
                  <a:ext uri="{FF2B5EF4-FFF2-40B4-BE49-F238E27FC236}">
                    <a16:creationId xmlns:a16="http://schemas.microsoft.com/office/drawing/2014/main" id="{9806677F-D74C-4D19-A995-A0F3D840B44A}"/>
                  </a:ext>
                </a:extLst>
              </p:cNvPr>
              <p:cNvSpPr>
                <a:spLocks noGrp="1" noChangeArrowheads="1"/>
              </p:cNvSpPr>
              <p:nvPr>
                <p:ph idx="1"/>
              </p:nvPr>
            </p:nvSpPr>
            <p:spPr>
              <a:xfrm>
                <a:off x="179512" y="322363"/>
                <a:ext cx="8035781" cy="4229100"/>
              </a:xfrm>
            </p:spPr>
            <p:txBody>
              <a:bodyPr/>
              <a:lstStyle/>
              <a:p>
                <a:pPr eaLnBrk="1" hangingPunct="1">
                  <a:lnSpc>
                    <a:spcPct val="150000"/>
                  </a:lnSpc>
                  <a:spcBef>
                    <a:spcPts val="2250"/>
                  </a:spcBef>
                  <a:spcAft>
                    <a:spcPts val="1350"/>
                  </a:spcAft>
                  <a:buNone/>
                  <a:defRPr/>
                </a:pPr>
                <a:r>
                  <a:rPr lang="zh-CN" altLang="en-US" b="1" dirty="0">
                    <a:latin typeface="黑体" panose="02010609060101010101" pitchFamily="49" charset="-122"/>
                    <a:ea typeface="黑体" panose="02010609060101010101" pitchFamily="49" charset="-122"/>
                  </a:rPr>
                  <a:t>一、</a:t>
                </a:r>
                <a:r>
                  <a:rPr lang="en-US" altLang="zh-CN" b="1" dirty="0">
                    <a:latin typeface="黑体" panose="02010609060101010101" pitchFamily="49" charset="-122"/>
                    <a:ea typeface="黑体" panose="02010609060101010101" pitchFamily="49" charset="-122"/>
                  </a:rPr>
                  <a:t> </a:t>
                </a:r>
                <a:r>
                  <a:rPr lang="zh-CN" altLang="en-US" b="1" dirty="0">
                    <a:latin typeface="黑体" panose="02010609060101010101" pitchFamily="49" charset="-122"/>
                    <a:ea typeface="黑体" panose="02010609060101010101" pitchFamily="49" charset="-122"/>
                  </a:rPr>
                  <a:t>原始牛顿法</a:t>
                </a:r>
                <a:br>
                  <a:rPr lang="zh-CN" altLang="en-US" b="1" dirty="0">
                    <a:latin typeface="黑体" panose="02010609060101010101" pitchFamily="49" charset="-122"/>
                    <a:ea typeface="黑体" panose="02010609060101010101" pitchFamily="49" charset="-122"/>
                  </a:rPr>
                </a:br>
                <a:r>
                  <a:rPr lang="zh-CN" altLang="en-US" b="1" dirty="0"/>
                  <a:t>       </a:t>
                </a:r>
                <a:r>
                  <a:rPr lang="zh-CN" altLang="en-US" dirty="0">
                    <a:latin typeface="宋体" panose="02010600030101010101" pitchFamily="2" charset="-122"/>
                    <a:ea typeface="宋体" panose="02010600030101010101" pitchFamily="2" charset="-122"/>
                  </a:rPr>
                  <a:t>在第</a:t>
                </a:r>
                <a14:m>
                  <m:oMath xmlns:m="http://schemas.openxmlformats.org/officeDocument/2006/math">
                    <m:r>
                      <a:rPr lang="en-US" altLang="zh-CN" i="1">
                        <a:latin typeface="Cambria Math" panose="02040503050406030204" pitchFamily="18" charset="0"/>
                        <a:ea typeface="Cambria Math" panose="02040503050406030204" pitchFamily="18" charset="0"/>
                      </a:rPr>
                      <m:t>𝑘</m:t>
                    </m:r>
                  </m:oMath>
                </a14:m>
                <a:r>
                  <a:rPr lang="zh-CN" altLang="en-US" dirty="0">
                    <a:latin typeface="宋体" panose="02010600030101010101" pitchFamily="2" charset="-122"/>
                    <a:ea typeface="宋体" panose="02010600030101010101" pitchFamily="2" charset="-122"/>
                  </a:rPr>
                  <a:t>次迭代的迭代点</a:t>
                </a:r>
                <a14:m>
                  <m:oMath xmlns:m="http://schemas.openxmlformats.org/officeDocument/2006/math">
                    <m:sSup>
                      <m:sSupPr>
                        <m:ctrlPr>
                          <a:rPr lang="zh-CN"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𝑥</m:t>
                        </m:r>
                      </m:e>
                      <m:sup>
                        <m:r>
                          <a:rPr lang="en-US" altLang="zh-CN">
                            <a:latin typeface="Cambria Math" panose="02040503050406030204" pitchFamily="18" charset="0"/>
                            <a:ea typeface="宋体" panose="02010600030101010101" pitchFamily="2" charset="-122"/>
                            <a:cs typeface="Times New Roman" panose="02020603050405020304" pitchFamily="18" charset="0"/>
                          </a:rPr>
                          <m:t>(</m:t>
                        </m:r>
                        <m:r>
                          <a:rPr lang="en-US" altLang="zh-CN" i="1">
                            <a:latin typeface="Cambria Math" panose="02040503050406030204" pitchFamily="18" charset="0"/>
                            <a:ea typeface="Cambria Math" panose="02040503050406030204" pitchFamily="18" charset="0"/>
                          </a:rPr>
                          <m:t>𝑘</m:t>
                        </m:r>
                        <m:r>
                          <a:rPr lang="en-US" altLang="zh-CN">
                            <a:latin typeface="Cambria Math" panose="02040503050406030204" pitchFamily="18" charset="0"/>
                            <a:ea typeface="宋体" panose="02010600030101010101" pitchFamily="2" charset="-122"/>
                            <a:cs typeface="Times New Roman" panose="02020603050405020304" pitchFamily="18" charset="0"/>
                          </a:rPr>
                          <m:t>)</m:t>
                        </m:r>
                      </m:sup>
                    </m:sSup>
                  </m:oMath>
                </a14:m>
                <a:r>
                  <a:rPr lang="zh-CN" altLang="en-US" dirty="0">
                    <a:latin typeface="宋体" panose="02010600030101010101" pitchFamily="2" charset="-122"/>
                    <a:ea typeface="宋体" panose="02010600030101010101" pitchFamily="2" charset="-122"/>
                  </a:rPr>
                  <a:t>邻域内，用一个二次函数去近似代替原目标函数</a:t>
                </a:r>
                <a14:m>
                  <m:oMath xmlns:m="http://schemas.openxmlformats.org/officeDocument/2006/math">
                    <m:r>
                      <a:rPr lang="en-US" altLang="zh-CN" i="1">
                        <a:latin typeface="Cambria Math" panose="02040503050406030204" pitchFamily="18" charset="0"/>
                        <a:ea typeface="Cambria Math" panose="02040503050406030204" pitchFamily="18" charset="0"/>
                      </a:rPr>
                      <m:t>𝑓</m:t>
                    </m:r>
                    <m:d>
                      <m:dPr>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𝑥</m:t>
                        </m:r>
                      </m:e>
                    </m:d>
                    <m:r>
                      <a:rPr lang="en-US" altLang="zh-CN" i="1">
                        <a:latin typeface="Cambria Math" panose="02040503050406030204" pitchFamily="18" charset="0"/>
                        <a:ea typeface="宋体" panose="02010600030101010101" pitchFamily="2" charset="-122"/>
                        <a:cs typeface="Times New Roman" panose="02020603050405020304" pitchFamily="18" charset="0"/>
                      </a:rPr>
                      <m:t> </m:t>
                    </m:r>
                  </m:oMath>
                </a14:m>
                <a:r>
                  <a:rPr lang="zh-CN" altLang="en-US" dirty="0">
                    <a:latin typeface="宋体" panose="02010600030101010101" pitchFamily="2" charset="-122"/>
                    <a:ea typeface="宋体" panose="02010600030101010101" pitchFamily="2" charset="-122"/>
                  </a:rPr>
                  <a:t>，然后求出该二次函数的极小点作为对原目标函数求优的下一个迭代点，依次类推，通过多次重复迭代，使迭代点逐步逼近原目标函数的极小点。</a:t>
                </a:r>
                <a:br>
                  <a:rPr lang="zh-CN" altLang="en-US" dirty="0">
                    <a:latin typeface="宋体" panose="02010600030101010101" pitchFamily="2" charset="-122"/>
                    <a:ea typeface="宋体" panose="02010600030101010101" pitchFamily="2" charset="-122"/>
                  </a:rPr>
                </a:br>
                <a:r>
                  <a:rPr lang="zh-CN" altLang="en-US" dirty="0">
                    <a:latin typeface="宋体" panose="02010600030101010101" pitchFamily="2" charset="-122"/>
                    <a:ea typeface="宋体" panose="02010600030101010101" pitchFamily="2" charset="-122"/>
                  </a:rPr>
                  <a:t>如图所示。</a:t>
                </a:r>
              </a:p>
            </p:txBody>
          </p:sp>
        </mc:Choice>
        <mc:Fallback xmlns="">
          <p:sp>
            <p:nvSpPr>
              <p:cNvPr id="47107" name="Rectangle 3">
                <a:extLst>
                  <a:ext uri="{FF2B5EF4-FFF2-40B4-BE49-F238E27FC236}">
                    <a16:creationId xmlns:a16="http://schemas.microsoft.com/office/drawing/2014/main" id="{9806677F-D74C-4D19-A995-A0F3D840B44A}"/>
                  </a:ext>
                </a:extLst>
              </p:cNvPr>
              <p:cNvSpPr>
                <a:spLocks noGrp="1" noRot="1" noChangeAspect="1" noMove="1" noResize="1" noEditPoints="1" noAdjustHandles="1" noChangeArrowheads="1" noChangeShapeType="1" noTextEdit="1"/>
              </p:cNvSpPr>
              <p:nvPr>
                <p:ph idx="1"/>
              </p:nvPr>
            </p:nvSpPr>
            <p:spPr>
              <a:xfrm>
                <a:off x="179512" y="322363"/>
                <a:ext cx="8035781" cy="4229100"/>
              </a:xfrm>
              <a:blipFill>
                <a:blip r:embed="rId2"/>
                <a:stretch>
                  <a:fillRect l="-1137" r="-1440"/>
                </a:stretch>
              </a:blipFill>
            </p:spPr>
            <p:txBody>
              <a:bodyPr/>
              <a:lstStyle/>
              <a:p>
                <a:r>
                  <a:rPr lang="zh-CN" altLang="en-US">
                    <a:noFill/>
                  </a:rPr>
                  <a:t> </a:t>
                </a:r>
              </a:p>
            </p:txBody>
          </p:sp>
        </mc:Fallback>
      </mc:AlternateContent>
      <p:graphicFrame>
        <p:nvGraphicFramePr>
          <p:cNvPr id="15364" name="Object 5">
            <a:extLst>
              <a:ext uri="{FF2B5EF4-FFF2-40B4-BE49-F238E27FC236}">
                <a16:creationId xmlns:a16="http://schemas.microsoft.com/office/drawing/2014/main" id="{1881974E-E7F7-403B-A59E-ECC293669849}"/>
              </a:ext>
            </a:extLst>
          </p:cNvPr>
          <p:cNvGraphicFramePr>
            <a:graphicFrameLocks noChangeAspect="1"/>
          </p:cNvGraphicFramePr>
          <p:nvPr>
            <p:extLst>
              <p:ext uri="{D42A27DB-BD31-4B8C-83A1-F6EECF244321}">
                <p14:modId xmlns:p14="http://schemas.microsoft.com/office/powerpoint/2010/main" val="1560091810"/>
              </p:ext>
            </p:extLst>
          </p:nvPr>
        </p:nvGraphicFramePr>
        <p:xfrm>
          <a:off x="3694463" y="3359220"/>
          <a:ext cx="3201591" cy="2350294"/>
        </p:xfrm>
        <a:graphic>
          <a:graphicData uri="http://schemas.openxmlformats.org/presentationml/2006/ole">
            <mc:AlternateContent xmlns:mc="http://schemas.openxmlformats.org/markup-compatibility/2006">
              <mc:Choice xmlns:v="urn:schemas-microsoft-com:vml" Requires="v">
                <p:oleObj r:id="rId3" imgW="3400200" imgH="1799280" progId="AutoCAD.Drawing.14">
                  <p:embed/>
                </p:oleObj>
              </mc:Choice>
              <mc:Fallback>
                <p:oleObj r:id="rId3" imgW="3400200" imgH="1799280" progId="AutoCAD.Drawing.14">
                  <p:embed/>
                  <p:pic>
                    <p:nvPicPr>
                      <p:cNvPr id="15364" name="Object 5">
                        <a:extLst>
                          <a:ext uri="{FF2B5EF4-FFF2-40B4-BE49-F238E27FC236}">
                            <a16:creationId xmlns:a16="http://schemas.microsoft.com/office/drawing/2014/main" id="{1881974E-E7F7-403B-A59E-ECC2936698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4992" r="1715"/>
                      <a:stretch>
                        <a:fillRect/>
                      </a:stretch>
                    </p:blipFill>
                    <p:spPr bwMode="auto">
                      <a:xfrm>
                        <a:off x="3694463" y="3359220"/>
                        <a:ext cx="3201591" cy="2350294"/>
                      </a:xfrm>
                      <a:prstGeom prst="rect">
                        <a:avLst/>
                      </a:prstGeom>
                      <a:noFill/>
                      <a:ln>
                        <a:noFill/>
                      </a:ln>
                      <a:effectLst>
                        <a:outerShdw dist="125724"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365" name="Text Box 6">
            <a:extLst>
              <a:ext uri="{FF2B5EF4-FFF2-40B4-BE49-F238E27FC236}">
                <a16:creationId xmlns:a16="http://schemas.microsoft.com/office/drawing/2014/main" id="{ADBC0A8B-CE1E-420E-BDE2-E72FB2663B12}"/>
              </a:ext>
            </a:extLst>
          </p:cNvPr>
          <p:cNvSpPr txBox="1">
            <a:spLocks noChangeArrowheads="1"/>
          </p:cNvSpPr>
          <p:nvPr/>
        </p:nvSpPr>
        <p:spPr bwMode="auto">
          <a:xfrm>
            <a:off x="3892187" y="5010616"/>
            <a:ext cx="485709" cy="346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9056" tIns="34529" rIns="69056" bIns="34529"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spcBef>
                <a:spcPct val="50000"/>
              </a:spcBef>
              <a:buFont typeface="Wingdings" panose="05000000000000000000" pitchFamily="2" charset="2"/>
              <a:buNone/>
            </a:pPr>
            <a:r>
              <a:rPr lang="en-US" altLang="en-US" sz="1800" b="1" i="1">
                <a:solidFill>
                  <a:srgbClr val="000000"/>
                </a:solidFill>
                <a:latin typeface="Times New Roman" panose="02020603050405020304" pitchFamily="18" charset="0"/>
              </a:rPr>
              <a:t>f(x)</a:t>
            </a:r>
            <a:endParaRPr lang="en-US" altLang="zh-CN" sz="1800" b="1" i="1">
              <a:solidFill>
                <a:srgbClr val="000000"/>
              </a:solidFill>
              <a:latin typeface="Times New Roman" panose="02020603050405020304" pitchFamily="18" charset="0"/>
            </a:endParaRPr>
          </a:p>
        </p:txBody>
      </p:sp>
      <p:sp>
        <p:nvSpPr>
          <p:cNvPr id="15366" name="Text Box 7">
            <a:extLst>
              <a:ext uri="{FF2B5EF4-FFF2-40B4-BE49-F238E27FC236}">
                <a16:creationId xmlns:a16="http://schemas.microsoft.com/office/drawing/2014/main" id="{EAA04914-AD1A-434B-A587-28FC8B10ABF7}"/>
              </a:ext>
            </a:extLst>
          </p:cNvPr>
          <p:cNvSpPr txBox="1">
            <a:spLocks noChangeArrowheads="1"/>
          </p:cNvSpPr>
          <p:nvPr/>
        </p:nvSpPr>
        <p:spPr bwMode="auto">
          <a:xfrm>
            <a:off x="4666082" y="4534367"/>
            <a:ext cx="652422" cy="346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9056" tIns="34529" rIns="69056" bIns="34529"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spcBef>
                <a:spcPct val="50000"/>
              </a:spcBef>
              <a:buFont typeface="Wingdings" panose="05000000000000000000" pitchFamily="2" charset="2"/>
              <a:buNone/>
            </a:pPr>
            <a:r>
              <a:rPr lang="en-US" altLang="zh-CN" sz="1800" b="1" i="1" dirty="0">
                <a:solidFill>
                  <a:srgbClr val="000000"/>
                </a:solidFill>
                <a:latin typeface="Times New Roman" panose="02020603050405020304" pitchFamily="18" charset="0"/>
                <a:sym typeface="Symbol" panose="05050102010706020507" pitchFamily="18" charset="2"/>
              </a:rPr>
              <a:t>Q</a:t>
            </a:r>
            <a:r>
              <a:rPr lang="en-US" altLang="zh-CN" sz="1800" b="1" i="1" baseline="-25000" dirty="0">
                <a:solidFill>
                  <a:srgbClr val="000000"/>
                </a:solidFill>
                <a:latin typeface="Times New Roman" panose="02020603050405020304" pitchFamily="18" charset="0"/>
                <a:sym typeface="Symbol" panose="05050102010706020507" pitchFamily="18" charset="2"/>
              </a:rPr>
              <a:t>1</a:t>
            </a:r>
            <a:r>
              <a:rPr lang="en-US" altLang="zh-CN" sz="1800" b="1" i="1" dirty="0">
                <a:solidFill>
                  <a:srgbClr val="000000"/>
                </a:solidFill>
                <a:latin typeface="Times New Roman" panose="02020603050405020304" pitchFamily="18" charset="0"/>
              </a:rPr>
              <a:t>(</a:t>
            </a:r>
            <a:r>
              <a:rPr lang="en-US" altLang="en-US" sz="1800" b="1" i="1" dirty="0">
                <a:solidFill>
                  <a:srgbClr val="000000"/>
                </a:solidFill>
                <a:latin typeface="Times New Roman" panose="02020603050405020304" pitchFamily="18" charset="0"/>
              </a:rPr>
              <a:t>x)</a:t>
            </a:r>
            <a:endParaRPr lang="en-US" altLang="zh-CN" sz="1800" b="1" i="1" dirty="0">
              <a:solidFill>
                <a:srgbClr val="000000"/>
              </a:solidFill>
              <a:latin typeface="Times New Roman" panose="02020603050405020304" pitchFamily="18" charset="0"/>
            </a:endParaRPr>
          </a:p>
        </p:txBody>
      </p:sp>
      <p:sp>
        <p:nvSpPr>
          <p:cNvPr id="15367" name="Text Box 8">
            <a:extLst>
              <a:ext uri="{FF2B5EF4-FFF2-40B4-BE49-F238E27FC236}">
                <a16:creationId xmlns:a16="http://schemas.microsoft.com/office/drawing/2014/main" id="{9F6E7CE4-93BE-4A60-A743-A48F450FCF8F}"/>
              </a:ext>
            </a:extLst>
          </p:cNvPr>
          <p:cNvSpPr txBox="1">
            <a:spLocks noChangeArrowheads="1"/>
          </p:cNvSpPr>
          <p:nvPr/>
        </p:nvSpPr>
        <p:spPr bwMode="auto">
          <a:xfrm>
            <a:off x="5126853" y="4090264"/>
            <a:ext cx="652422" cy="346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9056" tIns="34529" rIns="69056" bIns="34529"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spcBef>
                <a:spcPct val="50000"/>
              </a:spcBef>
              <a:buFont typeface="Wingdings" panose="05000000000000000000" pitchFamily="2" charset="2"/>
              <a:buNone/>
            </a:pPr>
            <a:r>
              <a:rPr lang="en-US" altLang="zh-CN" sz="1800" b="1" i="1" dirty="0">
                <a:solidFill>
                  <a:srgbClr val="000000"/>
                </a:solidFill>
                <a:latin typeface="Times New Roman" panose="02020603050405020304" pitchFamily="18" charset="0"/>
                <a:sym typeface="Symbol" panose="05050102010706020507" pitchFamily="18" charset="2"/>
              </a:rPr>
              <a:t>Q</a:t>
            </a:r>
            <a:r>
              <a:rPr lang="en-US" altLang="zh-CN" sz="1800" b="1" i="1" baseline="-25000" dirty="0">
                <a:solidFill>
                  <a:srgbClr val="000000"/>
                </a:solidFill>
                <a:latin typeface="Times New Roman" panose="02020603050405020304" pitchFamily="18" charset="0"/>
                <a:sym typeface="Symbol" panose="05050102010706020507" pitchFamily="18" charset="2"/>
              </a:rPr>
              <a:t>0</a:t>
            </a:r>
            <a:r>
              <a:rPr lang="en-US" altLang="zh-CN" sz="1800" b="1" i="1" dirty="0">
                <a:solidFill>
                  <a:srgbClr val="000000"/>
                </a:solidFill>
                <a:latin typeface="Times New Roman" panose="02020603050405020304" pitchFamily="18" charset="0"/>
              </a:rPr>
              <a:t>(</a:t>
            </a:r>
            <a:r>
              <a:rPr lang="en-US" altLang="en-US" sz="1800" b="1" i="1" dirty="0">
                <a:solidFill>
                  <a:srgbClr val="000000"/>
                </a:solidFill>
                <a:latin typeface="Times New Roman" panose="02020603050405020304" pitchFamily="18" charset="0"/>
              </a:rPr>
              <a:t>x)</a:t>
            </a:r>
            <a:endParaRPr lang="en-US" altLang="zh-CN" sz="1800" b="1" i="1" dirty="0">
              <a:solidFill>
                <a:srgbClr val="000000"/>
              </a:solidFill>
              <a:latin typeface="Times New Roman" panose="02020603050405020304" pitchFamily="18" charset="0"/>
            </a:endParaRPr>
          </a:p>
        </p:txBody>
      </p:sp>
      <p:sp>
        <p:nvSpPr>
          <p:cNvPr id="12299" name="Text Box 11">
            <a:extLst>
              <a:ext uri="{FF2B5EF4-FFF2-40B4-BE49-F238E27FC236}">
                <a16:creationId xmlns:a16="http://schemas.microsoft.com/office/drawing/2014/main" id="{510CD02A-41AE-4F96-9D3D-04691AFB43C8}"/>
              </a:ext>
            </a:extLst>
          </p:cNvPr>
          <p:cNvSpPr txBox="1">
            <a:spLocks noChangeArrowheads="1"/>
          </p:cNvSpPr>
          <p:nvPr/>
        </p:nvSpPr>
        <p:spPr bwMode="auto">
          <a:xfrm>
            <a:off x="5207579" y="5343991"/>
            <a:ext cx="455253" cy="346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spAutoFit/>
          </a:bodyPr>
          <a:lstStyle>
            <a:lvl1pPr eaLnBrk="0" hangingPunct="0">
              <a:spcBef>
                <a:spcPct val="20000"/>
              </a:spcBef>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90000"/>
              <a:buFont typeface="Wingdings" panose="05000000000000000000" pitchFamily="2" charset="2"/>
              <a:buChar char="ü"/>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FontTx/>
              <a:buNone/>
              <a:defRPr/>
            </a:pPr>
            <a:r>
              <a:rPr lang="en-US" altLang="zh-CN" sz="1800" b="1" dirty="0">
                <a:solidFill>
                  <a:schemeClr val="tx2">
                    <a:lumMod val="10000"/>
                  </a:schemeClr>
                </a:solidFill>
              </a:rPr>
              <a:t>x</a:t>
            </a:r>
            <a:r>
              <a:rPr lang="en-US" altLang="zh-CN" sz="1800" b="1" baseline="30000" dirty="0">
                <a:solidFill>
                  <a:schemeClr val="tx2">
                    <a:lumMod val="10000"/>
                  </a:schemeClr>
                </a:solidFill>
              </a:rPr>
              <a:t>(2)</a:t>
            </a:r>
            <a:endParaRPr lang="en-US" altLang="zh-CN" sz="1800" b="1" i="1" dirty="0">
              <a:solidFill>
                <a:schemeClr val="tx2">
                  <a:lumMod val="10000"/>
                </a:schemeClr>
              </a:solidFill>
              <a:latin typeface="Times New Roman" panose="02020603050405020304" pitchFamily="18" charset="0"/>
            </a:endParaRPr>
          </a:p>
        </p:txBody>
      </p:sp>
      <p:sp>
        <p:nvSpPr>
          <p:cNvPr id="15369" name="Text Box 12">
            <a:extLst>
              <a:ext uri="{FF2B5EF4-FFF2-40B4-BE49-F238E27FC236}">
                <a16:creationId xmlns:a16="http://schemas.microsoft.com/office/drawing/2014/main" id="{41421774-09D3-4939-A9C3-2E122082C5ED}"/>
              </a:ext>
            </a:extLst>
          </p:cNvPr>
          <p:cNvSpPr txBox="1">
            <a:spLocks noChangeArrowheads="1"/>
          </p:cNvSpPr>
          <p:nvPr/>
        </p:nvSpPr>
        <p:spPr bwMode="auto">
          <a:xfrm>
            <a:off x="4728751" y="5391617"/>
            <a:ext cx="331821" cy="346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9056" tIns="34529" rIns="69056" bIns="34529"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spcBef>
                <a:spcPct val="50000"/>
              </a:spcBef>
              <a:buFont typeface="Wingdings" panose="05000000000000000000" pitchFamily="2" charset="2"/>
              <a:buNone/>
            </a:pPr>
            <a:r>
              <a:rPr lang="en-US" altLang="en-US" sz="1800" b="1" i="1" dirty="0">
                <a:solidFill>
                  <a:srgbClr val="000000"/>
                </a:solidFill>
                <a:latin typeface="Times New Roman" panose="02020603050405020304" pitchFamily="18" charset="0"/>
              </a:rPr>
              <a:t>x</a:t>
            </a:r>
            <a:r>
              <a:rPr lang="en-US" altLang="en-US" sz="1800" b="1" i="1" baseline="30000" dirty="0">
                <a:solidFill>
                  <a:srgbClr val="000000"/>
                </a:solidFill>
                <a:latin typeface="Times New Roman" panose="02020603050405020304" pitchFamily="18" charset="0"/>
              </a:rPr>
              <a:t>*</a:t>
            </a:r>
            <a:endParaRPr lang="en-US" altLang="zh-CN" sz="1800" b="1" i="1" dirty="0">
              <a:solidFill>
                <a:srgbClr val="000000"/>
              </a:solidFill>
              <a:latin typeface="Times New Roman" panose="02020603050405020304" pitchFamily="18" charset="0"/>
            </a:endParaRPr>
          </a:p>
        </p:txBody>
      </p:sp>
      <p:sp>
        <p:nvSpPr>
          <p:cNvPr id="13" name="Text Box 11">
            <a:extLst>
              <a:ext uri="{FF2B5EF4-FFF2-40B4-BE49-F238E27FC236}">
                <a16:creationId xmlns:a16="http://schemas.microsoft.com/office/drawing/2014/main" id="{EA2D58D8-540E-440D-8F8C-4E969F93B211}"/>
              </a:ext>
            </a:extLst>
          </p:cNvPr>
          <p:cNvSpPr txBox="1">
            <a:spLocks noChangeArrowheads="1"/>
          </p:cNvSpPr>
          <p:nvPr/>
        </p:nvSpPr>
        <p:spPr bwMode="auto">
          <a:xfrm>
            <a:off x="5579649" y="5355302"/>
            <a:ext cx="455253" cy="346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spAutoFit/>
          </a:bodyPr>
          <a:lstStyle>
            <a:lvl1pPr eaLnBrk="0" hangingPunct="0">
              <a:spcBef>
                <a:spcPct val="20000"/>
              </a:spcBef>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90000"/>
              <a:buFont typeface="Wingdings" panose="05000000000000000000" pitchFamily="2" charset="2"/>
              <a:buChar char="ü"/>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FontTx/>
              <a:buNone/>
              <a:defRPr/>
            </a:pPr>
            <a:r>
              <a:rPr lang="en-US" altLang="zh-CN" sz="1800" b="1" dirty="0">
                <a:solidFill>
                  <a:schemeClr val="tx2">
                    <a:lumMod val="10000"/>
                  </a:schemeClr>
                </a:solidFill>
              </a:rPr>
              <a:t>x</a:t>
            </a:r>
            <a:r>
              <a:rPr lang="en-US" altLang="zh-CN" sz="1800" b="1" baseline="30000" dirty="0">
                <a:solidFill>
                  <a:schemeClr val="tx2">
                    <a:lumMod val="10000"/>
                  </a:schemeClr>
                </a:solidFill>
              </a:rPr>
              <a:t>(1)</a:t>
            </a:r>
            <a:endParaRPr lang="en-US" altLang="zh-CN" sz="1800" b="1" i="1" dirty="0">
              <a:solidFill>
                <a:schemeClr val="tx2">
                  <a:lumMod val="10000"/>
                </a:schemeClr>
              </a:solidFill>
              <a:latin typeface="Times New Roman" panose="02020603050405020304" pitchFamily="18" charset="0"/>
            </a:endParaRPr>
          </a:p>
        </p:txBody>
      </p:sp>
      <p:sp>
        <p:nvSpPr>
          <p:cNvPr id="14" name="Text Box 11">
            <a:extLst>
              <a:ext uri="{FF2B5EF4-FFF2-40B4-BE49-F238E27FC236}">
                <a16:creationId xmlns:a16="http://schemas.microsoft.com/office/drawing/2014/main" id="{71B36D02-82DF-43A2-932C-868AD7B82870}"/>
              </a:ext>
            </a:extLst>
          </p:cNvPr>
          <p:cNvSpPr txBox="1">
            <a:spLocks noChangeArrowheads="1"/>
          </p:cNvSpPr>
          <p:nvPr/>
        </p:nvSpPr>
        <p:spPr bwMode="auto">
          <a:xfrm>
            <a:off x="6023751" y="5337443"/>
            <a:ext cx="455253" cy="346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spAutoFit/>
          </a:bodyPr>
          <a:lstStyle>
            <a:lvl1pPr eaLnBrk="0" hangingPunct="0">
              <a:spcBef>
                <a:spcPct val="20000"/>
              </a:spcBef>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90000"/>
              <a:buFont typeface="Wingdings" panose="05000000000000000000" pitchFamily="2" charset="2"/>
              <a:buChar char="ü"/>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a:solidFill>
                  <a:schemeClr val="tx1"/>
                </a:solidFill>
                <a:latin typeface="Arial" panose="020B0604020202020204" pitchFamily="34" charset="0"/>
                <a:ea typeface="宋体" panose="02010600030101010101" pitchFamily="2" charset="-122"/>
              </a:defRPr>
            </a:lvl9pPr>
          </a:lstStyle>
          <a:p>
            <a:pPr algn="ctr">
              <a:spcBef>
                <a:spcPct val="50000"/>
              </a:spcBef>
              <a:buFontTx/>
              <a:buNone/>
              <a:defRPr/>
            </a:pPr>
            <a:r>
              <a:rPr lang="en-US" altLang="zh-CN" sz="1800" b="1" dirty="0">
                <a:solidFill>
                  <a:schemeClr val="tx2">
                    <a:lumMod val="10000"/>
                  </a:schemeClr>
                </a:solidFill>
              </a:rPr>
              <a:t>x</a:t>
            </a:r>
            <a:r>
              <a:rPr lang="en-US" altLang="zh-CN" sz="1800" b="1" baseline="30000" dirty="0">
                <a:solidFill>
                  <a:schemeClr val="tx2">
                    <a:lumMod val="10000"/>
                  </a:schemeClr>
                </a:solidFill>
              </a:rPr>
              <a:t>(0)</a:t>
            </a:r>
            <a:endParaRPr lang="en-US" altLang="zh-CN" sz="1800" b="1" i="1" dirty="0">
              <a:solidFill>
                <a:schemeClr val="tx2">
                  <a:lumMod val="10000"/>
                </a:schemeClr>
              </a:solidFill>
              <a:latin typeface="Times New Roman" panose="02020603050405020304" pitchFamily="18" charset="0"/>
            </a:endParaRPr>
          </a:p>
        </p:txBody>
      </p:sp>
    </p:spTree>
  </p:cSld>
  <p:clrMapOvr>
    <a:masterClrMapping/>
  </p:clrMapOvr>
  <p:transition>
    <p:split orient="ver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29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3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9" grpId="0"/>
      <p:bldP spid="15369" grpId="0"/>
      <p:bldP spid="13"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223EC8F1-6A0E-F0A8-02FB-BA81FB6BD53A}"/>
                  </a:ext>
                </a:extLst>
              </p:cNvPr>
              <p:cNvSpPr txBox="1"/>
              <p:nvPr/>
            </p:nvSpPr>
            <p:spPr>
              <a:xfrm>
                <a:off x="-36512" y="194685"/>
                <a:ext cx="9180512" cy="5904373"/>
              </a:xfrm>
              <a:prstGeom prst="rect">
                <a:avLst/>
              </a:prstGeom>
              <a:noFill/>
            </p:spPr>
            <p:txBody>
              <a:bodyPr wrap="square" rtlCol="0">
                <a:spAutoFit/>
              </a:bodyPr>
              <a:lstStyle/>
              <a:p>
                <a:pPr algn="just">
                  <a:lnSpc>
                    <a:spcPct val="150000"/>
                  </a:lnSpc>
                </a:pPr>
                <a:r>
                  <a:rPr lang="en-US" altLang="zh-CN" sz="2400" kern="100" dirty="0">
                    <a:latin typeface="Times New Roman" panose="02020603050405020304" pitchFamily="18" charset="0"/>
                  </a:rPr>
                  <a:t>        </a:t>
                </a:r>
                <a:r>
                  <a:rPr lang="zh-CN" altLang="zh-CN" sz="2400" kern="100" dirty="0">
                    <a:latin typeface="Times New Roman" panose="02020603050405020304" pitchFamily="18" charset="0"/>
                  </a:rPr>
                  <a:t>设无约束问题的目标函数</a:t>
                </a:r>
                <a14:m>
                  <m:oMath xmlns:m="http://schemas.openxmlformats.org/officeDocument/2006/math">
                    <m:r>
                      <a:rPr lang="en-US" altLang="zh-CN" sz="2400" i="1" kern="100">
                        <a:latin typeface="Cambria Math" panose="02040503050406030204" pitchFamily="18" charset="0"/>
                      </a:rPr>
                      <m:t>𝑓</m:t>
                    </m:r>
                    <m:r>
                      <a:rPr lang="en-US" altLang="zh-CN" sz="2400" i="1" kern="100">
                        <a:latin typeface="Cambria Math" panose="02040503050406030204" pitchFamily="18" charset="0"/>
                      </a:rPr>
                      <m:t>(</m:t>
                    </m:r>
                    <m:r>
                      <a:rPr lang="en-US" altLang="zh-CN" sz="2400" i="1" kern="100">
                        <a:latin typeface="Cambria Math" panose="02040503050406030204" pitchFamily="18" charset="0"/>
                      </a:rPr>
                      <m:t>𝑥</m:t>
                    </m:r>
                    <m:r>
                      <a:rPr lang="en-US" altLang="zh-CN" sz="2400" i="1" kern="100">
                        <a:latin typeface="Cambria Math" panose="02040503050406030204" pitchFamily="18" charset="0"/>
                      </a:rPr>
                      <m:t>)</m:t>
                    </m:r>
                  </m:oMath>
                </a14:m>
                <a:r>
                  <a:rPr lang="zh-CN" altLang="zh-CN" sz="2400" kern="100" dirty="0">
                    <a:latin typeface="Times New Roman" panose="02020603050405020304" pitchFamily="18" charset="0"/>
                  </a:rPr>
                  <a:t>为二次可微的实函数，考虑目标函数</a:t>
                </a:r>
                <a14:m>
                  <m:oMath xmlns:m="http://schemas.openxmlformats.org/officeDocument/2006/math">
                    <m:r>
                      <a:rPr lang="en-US" altLang="zh-CN" sz="2400" i="1" kern="100">
                        <a:latin typeface="Cambria Math" panose="02040503050406030204" pitchFamily="18" charset="0"/>
                      </a:rPr>
                      <m:t>𝑓</m:t>
                    </m:r>
                    <m:r>
                      <a:rPr lang="en-US" altLang="zh-CN" sz="2400" i="1" kern="100">
                        <a:latin typeface="Cambria Math" panose="02040503050406030204" pitchFamily="18" charset="0"/>
                      </a:rPr>
                      <m:t>(</m:t>
                    </m:r>
                    <m:r>
                      <a:rPr lang="en-US" altLang="zh-CN" sz="2400" i="1" kern="100">
                        <a:latin typeface="Cambria Math" panose="02040503050406030204" pitchFamily="18" charset="0"/>
                      </a:rPr>
                      <m:t>𝑥</m:t>
                    </m:r>
                    <m:r>
                      <a:rPr lang="en-US" altLang="zh-CN" sz="2400" i="1" kern="100">
                        <a:latin typeface="Cambria Math" panose="02040503050406030204" pitchFamily="18" charset="0"/>
                      </a:rPr>
                      <m:t>)</m:t>
                    </m:r>
                  </m:oMath>
                </a14:m>
                <a:r>
                  <a:rPr lang="zh-CN" altLang="zh-CN" sz="2400" kern="100" dirty="0">
                    <a:latin typeface="Times New Roman" panose="02020603050405020304" pitchFamily="18" charset="0"/>
                  </a:rPr>
                  <a:t>在点</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𝑥</m:t>
                        </m:r>
                      </m:e>
                      <m:sup>
                        <m:r>
                          <a:rPr lang="en-US" altLang="zh-CN" sz="2400" i="1" kern="100">
                            <a:latin typeface="Cambria Math" panose="02040503050406030204" pitchFamily="18" charset="0"/>
                          </a:rPr>
                          <m:t>(</m:t>
                        </m:r>
                        <m:r>
                          <a:rPr lang="en-US" altLang="zh-CN" sz="2400" i="1" kern="100">
                            <a:latin typeface="Cambria Math" panose="02040503050406030204" pitchFamily="18" charset="0"/>
                          </a:rPr>
                          <m:t>𝑘</m:t>
                        </m:r>
                        <m:r>
                          <a:rPr lang="en-US" altLang="zh-CN" sz="2400" i="1" kern="100">
                            <a:latin typeface="Cambria Math" panose="02040503050406030204" pitchFamily="18" charset="0"/>
                          </a:rPr>
                          <m:t>)</m:t>
                        </m:r>
                      </m:sup>
                    </m:sSup>
                  </m:oMath>
                </a14:m>
                <a:r>
                  <a:rPr lang="zh-CN" altLang="zh-CN" sz="2400" kern="100" dirty="0">
                    <a:latin typeface="Times New Roman" panose="02020603050405020304" pitchFamily="18" charset="0"/>
                  </a:rPr>
                  <a:t>处的二次逼近式</a:t>
                </a:r>
                <a:endParaRPr lang="en-US" altLang="zh-CN" sz="2400" kern="100" dirty="0">
                  <a:latin typeface="Times New Roman" panose="02020603050405020304" pitchFamily="18" charset="0"/>
                </a:endParaRPr>
              </a:p>
              <a:p>
                <a:pPr indent="405000" algn="just">
                  <a:lnSpc>
                    <a:spcPct val="150000"/>
                  </a:lnSpc>
                </a:pPr>
                <a14:m>
                  <m:oMathPara xmlns:m="http://schemas.openxmlformats.org/officeDocument/2006/math">
                    <m:oMathParaPr>
                      <m:jc m:val="center"/>
                    </m:oMathParaPr>
                    <m:oMath xmlns:m="http://schemas.openxmlformats.org/officeDocument/2006/math">
                      <m:r>
                        <a:rPr lang="en-US" altLang="zh-CN" sz="2400" i="1" kern="100">
                          <a:latin typeface="Cambria Math" panose="02040503050406030204" pitchFamily="18" charset="0"/>
                        </a:rPr>
                        <m:t>𝑓</m:t>
                      </m:r>
                      <m:d>
                        <m:dPr>
                          <m:ctrlPr>
                            <a:rPr lang="en-US" altLang="zh-CN" sz="2400" i="1" kern="100">
                              <a:latin typeface="Cambria Math" panose="02040503050406030204" pitchFamily="18" charset="0"/>
                            </a:rPr>
                          </m:ctrlPr>
                        </m:dPr>
                        <m:e>
                          <m:r>
                            <a:rPr lang="en-US" altLang="zh-CN" sz="2400" i="1" kern="100">
                              <a:latin typeface="Cambria Math" panose="02040503050406030204" pitchFamily="18" charset="0"/>
                            </a:rPr>
                            <m:t>𝑥</m:t>
                          </m:r>
                        </m:e>
                      </m:d>
                      <m:r>
                        <a:rPr lang="en-US" altLang="zh-CN" sz="2400" i="1" kern="100">
                          <a:latin typeface="Cambria Math" panose="02040503050406030204" pitchFamily="18" charset="0"/>
                        </a:rPr>
                        <m:t>≈</m:t>
                      </m:r>
                      <m:r>
                        <a:rPr lang="en-US" altLang="zh-CN" sz="2400" i="1" kern="100">
                          <a:latin typeface="Cambria Math" panose="02040503050406030204" pitchFamily="18" charset="0"/>
                        </a:rPr>
                        <m:t>𝑄</m:t>
                      </m:r>
                      <m:d>
                        <m:dPr>
                          <m:ctrlPr>
                            <a:rPr lang="en-US" altLang="zh-CN" sz="2400" i="1" kern="100">
                              <a:latin typeface="Cambria Math" panose="02040503050406030204" pitchFamily="18" charset="0"/>
                            </a:rPr>
                          </m:ctrlPr>
                        </m:dPr>
                        <m:e>
                          <m:r>
                            <a:rPr lang="en-US" altLang="zh-CN" sz="2400" i="1" kern="100" smtClean="0">
                              <a:latin typeface="Cambria Math" panose="02040503050406030204" pitchFamily="18" charset="0"/>
                            </a:rPr>
                            <m:t>𝑥</m:t>
                          </m:r>
                        </m:e>
                      </m:d>
                    </m:oMath>
                  </m:oMathPara>
                </a14:m>
                <a:endParaRPr lang="en-US" altLang="zh-CN" sz="2400" i="1" kern="100" dirty="0">
                  <a:latin typeface="Cambria Math" panose="02040503050406030204" pitchFamily="18" charset="0"/>
                </a:endParaRPr>
              </a:p>
              <a:p>
                <a:pPr indent="405000" algn="just">
                  <a:lnSpc>
                    <a:spcPct val="150000"/>
                  </a:lnSpc>
                </a:pPr>
                <a14:m>
                  <m:oMathPara xmlns:m="http://schemas.openxmlformats.org/officeDocument/2006/math">
                    <m:oMathParaPr>
                      <m:jc m:val="center"/>
                    </m:oMathParaPr>
                    <m:oMath xmlns:m="http://schemas.openxmlformats.org/officeDocument/2006/math">
                      <m:r>
                        <a:rPr lang="en-US" altLang="zh-CN" sz="2400" i="1" kern="100">
                          <a:latin typeface="Cambria Math" panose="02040503050406030204" pitchFamily="18" charset="0"/>
                        </a:rPr>
                        <m:t>=</m:t>
                      </m:r>
                      <m:r>
                        <a:rPr lang="en-US" altLang="zh-CN" sz="2400" i="1" kern="100">
                          <a:latin typeface="Cambria Math" panose="02040503050406030204" pitchFamily="18" charset="0"/>
                        </a:rPr>
                        <m:t>𝑓</m:t>
                      </m:r>
                      <m:r>
                        <a:rPr lang="en-US" altLang="zh-CN" sz="2400" i="1" kern="100">
                          <a:latin typeface="Cambria Math" panose="02040503050406030204" pitchFamily="18" charset="0"/>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𝑥</m:t>
                          </m:r>
                        </m:e>
                        <m:sup>
                          <m:r>
                            <a:rPr lang="en-US" altLang="zh-CN" sz="2400" i="1" kern="100">
                              <a:latin typeface="Cambria Math" panose="02040503050406030204" pitchFamily="18" charset="0"/>
                            </a:rPr>
                            <m:t>(</m:t>
                          </m:r>
                          <m:r>
                            <a:rPr lang="en-US" altLang="zh-CN" sz="2400" i="1" kern="100">
                              <a:latin typeface="Cambria Math" panose="02040503050406030204" pitchFamily="18" charset="0"/>
                            </a:rPr>
                            <m:t>𝑘</m:t>
                          </m:r>
                          <m:r>
                            <a:rPr lang="en-US" altLang="zh-CN" sz="2400" i="1" kern="100">
                              <a:latin typeface="Cambria Math" panose="02040503050406030204" pitchFamily="18" charset="0"/>
                            </a:rPr>
                            <m:t>)</m:t>
                          </m:r>
                        </m:sup>
                      </m:sSup>
                      <m:r>
                        <a:rPr lang="en-US" altLang="zh-CN" sz="2400" i="1" kern="100">
                          <a:latin typeface="Cambria Math" panose="02040503050406030204" pitchFamily="18" charset="0"/>
                        </a:rPr>
                        <m:t>)+</m:t>
                      </m:r>
                      <m:r>
                        <a:rPr lang="en-US" altLang="zh-CN" sz="2400" i="1" kern="100">
                          <a:latin typeface="Cambria Math" panose="02040503050406030204" pitchFamily="18" charset="0"/>
                          <a:cs typeface="Cambria Math" panose="02040503050406030204" pitchFamily="18" charset="0"/>
                        </a:rPr>
                        <m:t>𝛻</m:t>
                      </m:r>
                      <m:r>
                        <a:rPr lang="en-US" altLang="zh-CN" sz="2400" i="1" kern="100">
                          <a:latin typeface="Cambria Math" panose="02040503050406030204" pitchFamily="18" charset="0"/>
                        </a:rPr>
                        <m:t>𝑓</m:t>
                      </m:r>
                      <m:r>
                        <a:rPr lang="en-US" altLang="zh-CN" sz="2400" i="1" kern="100">
                          <a:latin typeface="Cambria Math" panose="02040503050406030204" pitchFamily="18" charset="0"/>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𝑥</m:t>
                          </m:r>
                        </m:e>
                        <m:sup>
                          <m:r>
                            <a:rPr lang="en-US" altLang="zh-CN" sz="2400" i="1" kern="100">
                              <a:latin typeface="Cambria Math" panose="02040503050406030204" pitchFamily="18" charset="0"/>
                            </a:rPr>
                            <m:t>(</m:t>
                          </m:r>
                          <m:r>
                            <a:rPr lang="en-US" altLang="zh-CN" sz="2400" i="1" kern="100">
                              <a:latin typeface="Cambria Math" panose="02040503050406030204" pitchFamily="18" charset="0"/>
                            </a:rPr>
                            <m:t>𝑘</m:t>
                          </m:r>
                          <m:r>
                            <a:rPr lang="en-US" altLang="zh-CN" sz="2400" i="1" kern="100">
                              <a:latin typeface="Cambria Math" panose="02040503050406030204" pitchFamily="18" charset="0"/>
                            </a:rPr>
                            <m:t>)</m:t>
                          </m:r>
                        </m:sup>
                      </m:sSup>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m:t>
                          </m:r>
                        </m:e>
                        <m:sup>
                          <m:r>
                            <a:rPr lang="en-US" altLang="zh-CN" sz="2400" i="1" kern="100">
                              <a:latin typeface="Cambria Math" panose="02040503050406030204" pitchFamily="18" charset="0"/>
                            </a:rPr>
                            <m:t>𝑇</m:t>
                          </m:r>
                        </m:sup>
                      </m:sSup>
                      <m:r>
                        <a:rPr lang="en-US" altLang="zh-CN" sz="2400" i="1" kern="100">
                          <a:latin typeface="Cambria Math" panose="02040503050406030204" pitchFamily="18" charset="0"/>
                        </a:rPr>
                        <m:t>(</m:t>
                      </m:r>
                      <m:r>
                        <a:rPr lang="en-US" altLang="zh-CN" sz="2400" i="1" kern="100">
                          <a:latin typeface="Cambria Math" panose="02040503050406030204" pitchFamily="18" charset="0"/>
                        </a:rPr>
                        <m:t>𝑥</m:t>
                      </m:r>
                      <m:r>
                        <a:rPr lang="en-US" altLang="zh-CN" sz="2400" i="1" kern="100">
                          <a:latin typeface="Cambria Math" panose="02040503050406030204" pitchFamily="18" charset="0"/>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𝑥</m:t>
                          </m:r>
                        </m:e>
                        <m:sup>
                          <m:r>
                            <a:rPr lang="en-US" altLang="zh-CN" sz="2400" i="1" kern="100">
                              <a:latin typeface="Cambria Math" panose="02040503050406030204" pitchFamily="18" charset="0"/>
                            </a:rPr>
                            <m:t>(</m:t>
                          </m:r>
                          <m:r>
                            <a:rPr lang="en-US" altLang="zh-CN" sz="2400" i="1" kern="100">
                              <a:latin typeface="Cambria Math" panose="02040503050406030204" pitchFamily="18" charset="0"/>
                            </a:rPr>
                            <m:t>𝑘</m:t>
                          </m:r>
                          <m:r>
                            <a:rPr lang="en-US" altLang="zh-CN" sz="2400" i="1" kern="100">
                              <a:latin typeface="Cambria Math" panose="02040503050406030204" pitchFamily="18" charset="0"/>
                            </a:rPr>
                            <m:t>)</m:t>
                          </m:r>
                        </m:sup>
                      </m:sSup>
                      <m:r>
                        <a:rPr lang="en-US" altLang="zh-CN" sz="2400" i="1" kern="100">
                          <a:latin typeface="Cambria Math" panose="02040503050406030204" pitchFamily="18" charset="0"/>
                        </a:rPr>
                        <m:t>) +</m:t>
                      </m:r>
                      <m:f>
                        <m:fPr>
                          <m:ctrlPr>
                            <a:rPr lang="zh-CN" altLang="zh-CN" sz="2400" i="1" kern="100">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rPr>
                            <m:t>1</m:t>
                          </m:r>
                        </m:num>
                        <m:den>
                          <m:r>
                            <a:rPr lang="en-US" altLang="zh-CN" sz="2400" i="1" kern="100">
                              <a:latin typeface="Cambria Math" panose="02040503050406030204" pitchFamily="18" charset="0"/>
                            </a:rPr>
                            <m:t>2</m:t>
                          </m:r>
                        </m:den>
                      </m:f>
                      <m:r>
                        <a:rPr lang="en-US" altLang="zh-CN" sz="2400" i="1" kern="100">
                          <a:latin typeface="Cambria Math" panose="02040503050406030204" pitchFamily="18" charset="0"/>
                        </a:rPr>
                        <m:t>(</m:t>
                      </m:r>
                      <m:r>
                        <a:rPr lang="en-US" altLang="zh-CN" sz="2400" i="1" kern="100">
                          <a:latin typeface="Cambria Math" panose="02040503050406030204" pitchFamily="18" charset="0"/>
                        </a:rPr>
                        <m:t>𝑥</m:t>
                      </m:r>
                      <m:r>
                        <a:rPr lang="en-US" altLang="zh-CN" sz="2400" i="1" kern="100">
                          <a:latin typeface="Cambria Math" panose="02040503050406030204" pitchFamily="18" charset="0"/>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𝑥</m:t>
                          </m:r>
                        </m:e>
                        <m:sup>
                          <m:r>
                            <a:rPr lang="en-US" altLang="zh-CN" sz="2400" i="1" kern="100">
                              <a:latin typeface="Cambria Math" panose="02040503050406030204" pitchFamily="18" charset="0"/>
                            </a:rPr>
                            <m:t>(</m:t>
                          </m:r>
                          <m:r>
                            <a:rPr lang="en-US" altLang="zh-CN" sz="2400" i="1" kern="100">
                              <a:latin typeface="Cambria Math" panose="02040503050406030204" pitchFamily="18" charset="0"/>
                            </a:rPr>
                            <m:t>𝑘</m:t>
                          </m:r>
                          <m:r>
                            <a:rPr lang="en-US" altLang="zh-CN" sz="2400" i="1" kern="100">
                              <a:latin typeface="Cambria Math" panose="02040503050406030204" pitchFamily="18" charset="0"/>
                            </a:rPr>
                            <m:t>)</m:t>
                          </m:r>
                        </m:sup>
                      </m:sSup>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m:t>
                          </m:r>
                        </m:e>
                        <m:sup>
                          <m:r>
                            <a:rPr lang="en-US" altLang="zh-CN" sz="2400" i="1" kern="100">
                              <a:latin typeface="Cambria Math" panose="02040503050406030204" pitchFamily="18" charset="0"/>
                            </a:rPr>
                            <m:t>𝑇</m:t>
                          </m:r>
                        </m:sup>
                      </m:sSup>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cs typeface="Cambria Math" panose="02040503050406030204" pitchFamily="18" charset="0"/>
                            </a:rPr>
                            <m:t>𝛻</m:t>
                          </m:r>
                        </m:e>
                        <m:sup>
                          <m:r>
                            <a:rPr lang="en-US" altLang="zh-CN" sz="2400" i="1" kern="100">
                              <a:latin typeface="Cambria Math" panose="02040503050406030204" pitchFamily="18" charset="0"/>
                            </a:rPr>
                            <m:t>2</m:t>
                          </m:r>
                        </m:sup>
                      </m:sSup>
                      <m:r>
                        <a:rPr lang="en-US" altLang="zh-CN" sz="2400" i="1" kern="100">
                          <a:latin typeface="Cambria Math" panose="02040503050406030204" pitchFamily="18" charset="0"/>
                        </a:rPr>
                        <m:t>𝑓</m:t>
                      </m:r>
                      <m:r>
                        <a:rPr lang="en-US" altLang="zh-CN" sz="2400" i="1" kern="100">
                          <a:latin typeface="Cambria Math" panose="02040503050406030204" pitchFamily="18" charset="0"/>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𝑥</m:t>
                          </m:r>
                        </m:e>
                        <m:sup>
                          <m:r>
                            <a:rPr lang="en-US" altLang="zh-CN" sz="2400" i="1" kern="100">
                              <a:latin typeface="Cambria Math" panose="02040503050406030204" pitchFamily="18" charset="0"/>
                            </a:rPr>
                            <m:t>(</m:t>
                          </m:r>
                          <m:r>
                            <a:rPr lang="en-US" altLang="zh-CN" sz="2400" i="1" kern="100">
                              <a:latin typeface="Cambria Math" panose="02040503050406030204" pitchFamily="18" charset="0"/>
                            </a:rPr>
                            <m:t>𝑘</m:t>
                          </m:r>
                          <m:r>
                            <a:rPr lang="en-US" altLang="zh-CN" sz="2400" i="1" kern="100">
                              <a:latin typeface="Cambria Math" panose="02040503050406030204" pitchFamily="18" charset="0"/>
                            </a:rPr>
                            <m:t>)</m:t>
                          </m:r>
                        </m:sup>
                      </m:sSup>
                      <m:r>
                        <a:rPr lang="en-US" altLang="zh-CN" sz="2400" i="1" kern="100">
                          <a:latin typeface="Cambria Math" panose="02040503050406030204" pitchFamily="18" charset="0"/>
                        </a:rPr>
                        <m:t>)(</m:t>
                      </m:r>
                      <m:r>
                        <a:rPr lang="en-US" altLang="zh-CN" sz="2400" i="1" kern="100">
                          <a:latin typeface="Cambria Math" panose="02040503050406030204" pitchFamily="18" charset="0"/>
                        </a:rPr>
                        <m:t>𝑥</m:t>
                      </m:r>
                      <m:r>
                        <a:rPr lang="en-US" altLang="zh-CN" sz="2400" i="1" kern="100">
                          <a:latin typeface="Cambria Math" panose="02040503050406030204" pitchFamily="18" charset="0"/>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𝑥</m:t>
                          </m:r>
                        </m:e>
                        <m:sup>
                          <m:r>
                            <a:rPr lang="en-US" altLang="zh-CN" sz="2400" i="1" kern="100">
                              <a:latin typeface="Cambria Math" panose="02040503050406030204" pitchFamily="18" charset="0"/>
                            </a:rPr>
                            <m:t>(</m:t>
                          </m:r>
                          <m:r>
                            <a:rPr lang="en-US" altLang="zh-CN" sz="2400" i="1" kern="100">
                              <a:latin typeface="Cambria Math" panose="02040503050406030204" pitchFamily="18" charset="0"/>
                            </a:rPr>
                            <m:t>𝑘</m:t>
                          </m:r>
                          <m:r>
                            <a:rPr lang="en-US" altLang="zh-CN" sz="2400" i="1" kern="100">
                              <a:latin typeface="Cambria Math" panose="02040503050406030204" pitchFamily="18" charset="0"/>
                            </a:rPr>
                            <m:t>)</m:t>
                          </m:r>
                        </m:sup>
                      </m:sSup>
                      <m:r>
                        <a:rPr lang="en-US" altLang="zh-CN" sz="2400" i="1" kern="100">
                          <a:latin typeface="Cambria Math" panose="02040503050406030204" pitchFamily="18" charset="0"/>
                        </a:rPr>
                        <m:t>)</m:t>
                      </m:r>
                    </m:oMath>
                  </m:oMathPara>
                </a14:m>
                <a:endParaRPr lang="en-US" altLang="zh-CN" sz="2400" kern="100" dirty="0">
                  <a:latin typeface="Times New Roman" panose="02020603050405020304" pitchFamily="18" charset="0"/>
                </a:endParaRPr>
              </a:p>
              <a:p>
                <a:pPr algn="just">
                  <a:lnSpc>
                    <a:spcPct val="150000"/>
                  </a:lnSpc>
                </a:pPr>
                <a:r>
                  <a:rPr lang="zh-CN" altLang="zh-CN" sz="2400" kern="100" dirty="0">
                    <a:latin typeface="Times New Roman" panose="02020603050405020304" pitchFamily="18" charset="0"/>
                  </a:rPr>
                  <a:t>假定</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𝑥</m:t>
                        </m:r>
                      </m:e>
                      <m:sup>
                        <m:r>
                          <a:rPr lang="en-US" altLang="zh-CN" sz="2400" i="1" kern="100">
                            <a:latin typeface="Cambria Math" panose="02040503050406030204" pitchFamily="18" charset="0"/>
                          </a:rPr>
                          <m:t>(</m:t>
                        </m:r>
                        <m:r>
                          <a:rPr lang="en-US" altLang="zh-CN" sz="2400" i="1" kern="100">
                            <a:latin typeface="Cambria Math" panose="02040503050406030204" pitchFamily="18" charset="0"/>
                          </a:rPr>
                          <m:t>𝑘</m:t>
                        </m:r>
                        <m:r>
                          <a:rPr lang="en-US" altLang="zh-CN" sz="2400" i="1" kern="100">
                            <a:latin typeface="Cambria Math" panose="02040503050406030204" pitchFamily="18" charset="0"/>
                          </a:rPr>
                          <m:t>)</m:t>
                        </m:r>
                      </m:sup>
                    </m:sSup>
                  </m:oMath>
                </a14:m>
                <a:r>
                  <a:rPr lang="zh-CN" altLang="zh-CN" sz="2400" kern="100" dirty="0">
                    <a:latin typeface="Times New Roman" panose="02020603050405020304" pitchFamily="18" charset="0"/>
                  </a:rPr>
                  <a:t>点海赛矩阵</a:t>
                </a:r>
                <a:endParaRPr lang="en-US" altLang="zh-CN" sz="2400" i="1" kern="100" dirty="0">
                  <a:latin typeface="Cambria Math" panose="02040503050406030204" pitchFamily="18" charset="0"/>
                  <a:ea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cs typeface="Cambria Math" panose="02040503050406030204" pitchFamily="18" charset="0"/>
                            </a:rPr>
                            <m:t>𝛻</m:t>
                          </m:r>
                        </m:e>
                        <m:sup>
                          <m:r>
                            <a:rPr lang="en-US" altLang="zh-CN" sz="2400" i="1" kern="100">
                              <a:latin typeface="Cambria Math" panose="02040503050406030204" pitchFamily="18" charset="0"/>
                            </a:rPr>
                            <m:t>2</m:t>
                          </m:r>
                        </m:sup>
                      </m:sSup>
                      <m:r>
                        <a:rPr lang="en-US" altLang="zh-CN" sz="2400" i="1" kern="100">
                          <a:latin typeface="Cambria Math" panose="02040503050406030204" pitchFamily="18" charset="0"/>
                        </a:rPr>
                        <m:t>𝑓</m:t>
                      </m:r>
                      <m:r>
                        <a:rPr lang="en-US" altLang="zh-CN" sz="2400" i="1" kern="100">
                          <a:latin typeface="Cambria Math" panose="02040503050406030204" pitchFamily="18" charset="0"/>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𝑥</m:t>
                          </m:r>
                        </m:e>
                        <m:sup>
                          <m:r>
                            <a:rPr lang="en-US" altLang="zh-CN" sz="2400" i="1" kern="100">
                              <a:latin typeface="Cambria Math" panose="02040503050406030204" pitchFamily="18" charset="0"/>
                            </a:rPr>
                            <m:t>(</m:t>
                          </m:r>
                          <m:r>
                            <a:rPr lang="en-US" altLang="zh-CN" sz="2400" i="1" kern="100">
                              <a:latin typeface="Cambria Math" panose="02040503050406030204" pitchFamily="18" charset="0"/>
                            </a:rPr>
                            <m:t>𝑘</m:t>
                          </m:r>
                          <m:r>
                            <a:rPr lang="en-US" altLang="zh-CN" sz="2400" i="1" kern="100">
                              <a:latin typeface="Cambria Math" panose="02040503050406030204" pitchFamily="18" charset="0"/>
                            </a:rPr>
                            <m:t>)</m:t>
                          </m:r>
                        </m:sup>
                      </m:sSup>
                      <m:r>
                        <a:rPr lang="en-US" altLang="zh-CN" sz="2400" i="1" kern="100">
                          <a:latin typeface="Cambria Math" panose="02040503050406030204" pitchFamily="18" charset="0"/>
                        </a:rPr>
                        <m:t>)=</m:t>
                      </m:r>
                      <m:d>
                        <m:dPr>
                          <m:begChr m:val="["/>
                          <m:endChr m:val="]"/>
                          <m:ctrlPr>
                            <a:rPr lang="zh-CN" altLang="zh-CN" sz="2400" i="1" kern="100">
                              <a:latin typeface="Cambria Math" panose="02040503050406030204" pitchFamily="18" charset="0"/>
                              <a:ea typeface="Cambria Math" panose="02040503050406030204" pitchFamily="18" charset="0"/>
                            </a:rPr>
                          </m:ctrlPr>
                        </m:dPr>
                        <m:e>
                          <m:m>
                            <m:mPr>
                              <m:mcs>
                                <m:mc>
                                  <m:mcPr>
                                    <m:count m:val="3"/>
                                    <m:mcJc m:val="center"/>
                                  </m:mcPr>
                                </m:mc>
                              </m:mcs>
                              <m:ctrlPr>
                                <a:rPr lang="zh-CN" altLang="zh-CN" sz="2400" i="1" kern="100">
                                  <a:latin typeface="Cambria Math" panose="02040503050406030204" pitchFamily="18" charset="0"/>
                                  <a:ea typeface="Cambria Math" panose="02040503050406030204" pitchFamily="18" charset="0"/>
                                </a:rPr>
                              </m:ctrlPr>
                            </m:mPr>
                            <m:mr>
                              <m:e>
                                <m:f>
                                  <m:fPr>
                                    <m:ctrlPr>
                                      <a:rPr lang="zh-CN" altLang="zh-CN" sz="2400" i="1" kern="100">
                                        <a:latin typeface="Cambria Math" panose="02040503050406030204" pitchFamily="18" charset="0"/>
                                        <a:ea typeface="Cambria Math" panose="02040503050406030204" pitchFamily="18" charset="0"/>
                                      </a:rPr>
                                    </m:ctrlPr>
                                  </m:fPr>
                                  <m:num>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m:t>
                                        </m:r>
                                      </m:e>
                                      <m:sup>
                                        <m:r>
                                          <a:rPr lang="en-US" altLang="zh-CN" sz="2400" i="1" kern="100">
                                            <a:latin typeface="Cambria Math" panose="02040503050406030204" pitchFamily="18" charset="0"/>
                                          </a:rPr>
                                          <m:t>2</m:t>
                                        </m:r>
                                      </m:sup>
                                    </m:sSup>
                                    <m:r>
                                      <a:rPr lang="en-US" altLang="zh-CN" sz="2400" i="1" kern="100">
                                        <a:latin typeface="Cambria Math" panose="02040503050406030204" pitchFamily="18" charset="0"/>
                                      </a:rPr>
                                      <m:t>𝑓</m:t>
                                    </m:r>
                                    <m:r>
                                      <a:rPr lang="en-US" altLang="zh-CN" sz="2400" i="1" kern="100">
                                        <a:latin typeface="Cambria Math" panose="02040503050406030204" pitchFamily="18" charset="0"/>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𝑥</m:t>
                                        </m:r>
                                      </m:e>
                                      <m:sup>
                                        <m:r>
                                          <a:rPr lang="en-US" altLang="zh-CN" sz="2400" i="1" kern="100">
                                            <a:latin typeface="Cambria Math" panose="02040503050406030204" pitchFamily="18" charset="0"/>
                                          </a:rPr>
                                          <m:t>(</m:t>
                                        </m:r>
                                        <m:r>
                                          <a:rPr lang="en-US" altLang="zh-CN" sz="2400" i="1" kern="100">
                                            <a:latin typeface="Cambria Math" panose="02040503050406030204" pitchFamily="18" charset="0"/>
                                          </a:rPr>
                                          <m:t>𝑘</m:t>
                                        </m:r>
                                        <m:r>
                                          <a:rPr lang="en-US" altLang="zh-CN" sz="2400" i="1" kern="100">
                                            <a:latin typeface="Cambria Math" panose="02040503050406030204" pitchFamily="18" charset="0"/>
                                          </a:rPr>
                                          <m:t>)</m:t>
                                        </m:r>
                                      </m:sup>
                                    </m:sSup>
                                    <m:r>
                                      <a:rPr lang="en-US" altLang="zh-CN" sz="2400" i="1" kern="100">
                                        <a:latin typeface="Cambria Math" panose="02040503050406030204" pitchFamily="18" charset="0"/>
                                      </a:rPr>
                                      <m:t>)</m:t>
                                    </m:r>
                                  </m:num>
                                  <m:den>
                                    <m:r>
                                      <a:rPr lang="en-US" altLang="zh-CN" sz="2400" i="1" kern="100">
                                        <a:latin typeface="Cambria Math" panose="02040503050406030204" pitchFamily="18" charset="0"/>
                                      </a:rPr>
                                      <m:t>𝜕</m:t>
                                    </m:r>
                                    <m:sSubSup>
                                      <m:sSubSupPr>
                                        <m:ctrlPr>
                                          <a:rPr lang="zh-CN" altLang="zh-CN" sz="2400" i="1" kern="100">
                                            <a:latin typeface="Cambria Math" panose="02040503050406030204" pitchFamily="18" charset="0"/>
                                            <a:ea typeface="Cambria Math" panose="02040503050406030204" pitchFamily="18" charset="0"/>
                                          </a:rPr>
                                        </m:ctrlPr>
                                      </m:sSubSupPr>
                                      <m:e>
                                        <m:r>
                                          <a:rPr lang="en-US" altLang="zh-CN" sz="2400" i="1" kern="100">
                                            <a:latin typeface="Cambria Math" panose="02040503050406030204" pitchFamily="18" charset="0"/>
                                          </a:rPr>
                                          <m:t>𝑥</m:t>
                                        </m:r>
                                      </m:e>
                                      <m:sub>
                                        <m:r>
                                          <a:rPr lang="en-US" altLang="zh-CN" sz="2400" i="1" kern="100">
                                            <a:latin typeface="Cambria Math" panose="02040503050406030204" pitchFamily="18" charset="0"/>
                                          </a:rPr>
                                          <m:t>1</m:t>
                                        </m:r>
                                      </m:sub>
                                      <m:sup>
                                        <m:r>
                                          <a:rPr lang="en-US" altLang="zh-CN" sz="2400" i="1" kern="100">
                                            <a:latin typeface="Cambria Math" panose="02040503050406030204" pitchFamily="18" charset="0"/>
                                          </a:rPr>
                                          <m:t>2</m:t>
                                        </m:r>
                                      </m:sup>
                                    </m:sSubSup>
                                  </m:den>
                                </m:f>
                              </m:e>
                              <m:e>
                                <m:r>
                                  <a:rPr lang="zh-CN" altLang="zh-CN" sz="2400" i="1" kern="100">
                                    <a:latin typeface="Cambria Math" panose="02040503050406030204" pitchFamily="18" charset="0"/>
                                    <a:ea typeface="MS Gothic" panose="020B0609070205080204" pitchFamily="49" charset="-128"/>
                                    <a:cs typeface="MS Gothic" panose="020B0609070205080204" pitchFamily="49" charset="-128"/>
                                  </a:rPr>
                                  <m:t>⋯</m:t>
                                </m:r>
                              </m:e>
                              <m:e>
                                <m:f>
                                  <m:fPr>
                                    <m:ctrlPr>
                                      <a:rPr lang="zh-CN" altLang="zh-CN" sz="2400" i="1" kern="100">
                                        <a:latin typeface="Cambria Math" panose="02040503050406030204" pitchFamily="18" charset="0"/>
                                        <a:ea typeface="Cambria Math" panose="02040503050406030204" pitchFamily="18" charset="0"/>
                                      </a:rPr>
                                    </m:ctrlPr>
                                  </m:fPr>
                                  <m:num>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m:t>
                                        </m:r>
                                      </m:e>
                                      <m:sup>
                                        <m:r>
                                          <a:rPr lang="en-US" altLang="zh-CN" sz="2400" i="1" kern="100">
                                            <a:latin typeface="Cambria Math" panose="02040503050406030204" pitchFamily="18" charset="0"/>
                                          </a:rPr>
                                          <m:t>2</m:t>
                                        </m:r>
                                      </m:sup>
                                    </m:sSup>
                                    <m:r>
                                      <a:rPr lang="en-US" altLang="zh-CN" sz="2400" i="1" kern="100">
                                        <a:latin typeface="Cambria Math" panose="02040503050406030204" pitchFamily="18" charset="0"/>
                                      </a:rPr>
                                      <m:t>𝑓</m:t>
                                    </m:r>
                                    <m:r>
                                      <a:rPr lang="en-US" altLang="zh-CN" sz="2400" i="1" kern="100">
                                        <a:latin typeface="Cambria Math" panose="02040503050406030204" pitchFamily="18" charset="0"/>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𝑥</m:t>
                                        </m:r>
                                      </m:e>
                                      <m:sup>
                                        <m:r>
                                          <a:rPr lang="en-US" altLang="zh-CN" sz="2400" i="1" kern="100">
                                            <a:latin typeface="Cambria Math" panose="02040503050406030204" pitchFamily="18" charset="0"/>
                                          </a:rPr>
                                          <m:t>(</m:t>
                                        </m:r>
                                        <m:r>
                                          <a:rPr lang="en-US" altLang="zh-CN" sz="2400" i="1" kern="100">
                                            <a:latin typeface="Cambria Math" panose="02040503050406030204" pitchFamily="18" charset="0"/>
                                          </a:rPr>
                                          <m:t>𝑘</m:t>
                                        </m:r>
                                        <m:r>
                                          <a:rPr lang="en-US" altLang="zh-CN" sz="2400" i="1" kern="100">
                                            <a:latin typeface="Cambria Math" panose="02040503050406030204" pitchFamily="18" charset="0"/>
                                          </a:rPr>
                                          <m:t>)</m:t>
                                        </m:r>
                                      </m:sup>
                                    </m:sSup>
                                    <m:r>
                                      <a:rPr lang="en-US" altLang="zh-CN" sz="2400" i="1" kern="100">
                                        <a:latin typeface="Cambria Math" panose="02040503050406030204" pitchFamily="18" charset="0"/>
                                      </a:rPr>
                                      <m:t>)</m:t>
                                    </m:r>
                                  </m:num>
                                  <m:den>
                                    <m:r>
                                      <a:rPr lang="en-US" altLang="zh-CN" sz="2400" i="1" kern="100">
                                        <a:latin typeface="Cambria Math" panose="02040503050406030204" pitchFamily="18" charset="0"/>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rPr>
                                          <m:t>𝑥</m:t>
                                        </m:r>
                                      </m:e>
                                      <m:sub>
                                        <m:r>
                                          <a:rPr lang="en-US" altLang="zh-CN" sz="2400" i="1" kern="100">
                                            <a:latin typeface="Cambria Math" panose="02040503050406030204" pitchFamily="18" charset="0"/>
                                          </a:rPr>
                                          <m:t>1</m:t>
                                        </m:r>
                                      </m:sub>
                                    </m:sSub>
                                    <m:r>
                                      <a:rPr lang="en-US" altLang="zh-CN" sz="2400" i="1" kern="100">
                                        <a:latin typeface="Cambria Math" panose="02040503050406030204" pitchFamily="18" charset="0"/>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rPr>
                                          <m:t>𝑥</m:t>
                                        </m:r>
                                      </m:e>
                                      <m:sub>
                                        <m:r>
                                          <a:rPr lang="en-US" altLang="zh-CN" sz="2400" i="1" kern="100">
                                            <a:latin typeface="Cambria Math" panose="02040503050406030204" pitchFamily="18" charset="0"/>
                                          </a:rPr>
                                          <m:t>𝑛</m:t>
                                        </m:r>
                                      </m:sub>
                                    </m:sSub>
                                  </m:den>
                                </m:f>
                              </m:e>
                            </m:mr>
                            <m:mr>
                              <m:e>
                                <m:r>
                                  <a:rPr lang="zh-CN" altLang="zh-CN" sz="2400" i="1" kern="100">
                                    <a:latin typeface="Cambria Math" panose="02040503050406030204" pitchFamily="18" charset="0"/>
                                    <a:ea typeface="MS Gothic" panose="020B0609070205080204" pitchFamily="49" charset="-128"/>
                                    <a:cs typeface="MS Gothic" panose="020B0609070205080204" pitchFamily="49" charset="-128"/>
                                  </a:rPr>
                                  <m:t>⋮</m:t>
                                </m:r>
                              </m:e>
                              <m:e>
                                <m:r>
                                  <a:rPr lang="zh-CN" altLang="zh-CN" sz="2400" i="1" kern="100">
                                    <a:latin typeface="Cambria Math" panose="02040503050406030204" pitchFamily="18" charset="0"/>
                                    <a:ea typeface="MS Gothic" panose="020B0609070205080204" pitchFamily="49" charset="-128"/>
                                    <a:cs typeface="MS Gothic" panose="020B0609070205080204" pitchFamily="49" charset="-128"/>
                                  </a:rPr>
                                  <m:t>⋯</m:t>
                                </m:r>
                              </m:e>
                              <m:e>
                                <m:r>
                                  <a:rPr lang="zh-CN" altLang="zh-CN" sz="2400" i="1" kern="100">
                                    <a:latin typeface="Cambria Math" panose="02040503050406030204" pitchFamily="18" charset="0"/>
                                    <a:ea typeface="MS Gothic" panose="020B0609070205080204" pitchFamily="49" charset="-128"/>
                                    <a:cs typeface="MS Gothic" panose="020B0609070205080204" pitchFamily="49" charset="-128"/>
                                  </a:rPr>
                                  <m:t>⋮</m:t>
                                </m:r>
                              </m:e>
                            </m:mr>
                            <m:mr>
                              <m:e>
                                <m:f>
                                  <m:fPr>
                                    <m:ctrlPr>
                                      <a:rPr lang="zh-CN" altLang="zh-CN" sz="2400" i="1" kern="100">
                                        <a:latin typeface="Cambria Math" panose="02040503050406030204" pitchFamily="18" charset="0"/>
                                        <a:ea typeface="Cambria Math" panose="02040503050406030204" pitchFamily="18" charset="0"/>
                                      </a:rPr>
                                    </m:ctrlPr>
                                  </m:fPr>
                                  <m:num>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m:t>
                                        </m:r>
                                      </m:e>
                                      <m:sup>
                                        <m:r>
                                          <a:rPr lang="en-US" altLang="zh-CN" sz="2400" i="1" kern="100">
                                            <a:latin typeface="Cambria Math" panose="02040503050406030204" pitchFamily="18" charset="0"/>
                                          </a:rPr>
                                          <m:t>2</m:t>
                                        </m:r>
                                      </m:sup>
                                    </m:sSup>
                                    <m:r>
                                      <a:rPr lang="en-US" altLang="zh-CN" sz="2400" i="1" kern="100">
                                        <a:latin typeface="Cambria Math" panose="02040503050406030204" pitchFamily="18" charset="0"/>
                                      </a:rPr>
                                      <m:t>𝑓</m:t>
                                    </m:r>
                                    <m:r>
                                      <a:rPr lang="en-US" altLang="zh-CN" sz="2400" i="1" kern="100">
                                        <a:latin typeface="Cambria Math" panose="02040503050406030204" pitchFamily="18" charset="0"/>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𝑥</m:t>
                                        </m:r>
                                      </m:e>
                                      <m:sup>
                                        <m:r>
                                          <a:rPr lang="en-US" altLang="zh-CN" sz="2400" i="1" kern="100">
                                            <a:latin typeface="Cambria Math" panose="02040503050406030204" pitchFamily="18" charset="0"/>
                                          </a:rPr>
                                          <m:t>(</m:t>
                                        </m:r>
                                        <m:r>
                                          <a:rPr lang="en-US" altLang="zh-CN" sz="2400" i="1" kern="100">
                                            <a:latin typeface="Cambria Math" panose="02040503050406030204" pitchFamily="18" charset="0"/>
                                          </a:rPr>
                                          <m:t>𝑘</m:t>
                                        </m:r>
                                        <m:r>
                                          <a:rPr lang="en-US" altLang="zh-CN" sz="2400" i="1" kern="100">
                                            <a:latin typeface="Cambria Math" panose="02040503050406030204" pitchFamily="18" charset="0"/>
                                          </a:rPr>
                                          <m:t>)</m:t>
                                        </m:r>
                                      </m:sup>
                                    </m:sSup>
                                    <m:r>
                                      <a:rPr lang="en-US" altLang="zh-CN" sz="2400" i="1" kern="100">
                                        <a:latin typeface="Cambria Math" panose="02040503050406030204" pitchFamily="18" charset="0"/>
                                      </a:rPr>
                                      <m:t>)</m:t>
                                    </m:r>
                                  </m:num>
                                  <m:den>
                                    <m:r>
                                      <a:rPr lang="en-US" altLang="zh-CN" sz="2400" i="1" kern="100">
                                        <a:latin typeface="Cambria Math" panose="02040503050406030204" pitchFamily="18" charset="0"/>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rPr>
                                          <m:t>𝑥</m:t>
                                        </m:r>
                                      </m:e>
                                      <m:sub>
                                        <m:r>
                                          <a:rPr lang="en-US" altLang="zh-CN" sz="2400" i="1" kern="100">
                                            <a:latin typeface="Cambria Math" panose="02040503050406030204" pitchFamily="18" charset="0"/>
                                          </a:rPr>
                                          <m:t>𝑛</m:t>
                                        </m:r>
                                      </m:sub>
                                    </m:sSub>
                                    <m:r>
                                      <a:rPr lang="en-US" altLang="zh-CN" sz="2400" i="1" kern="100">
                                        <a:latin typeface="Cambria Math" panose="02040503050406030204" pitchFamily="18" charset="0"/>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rPr>
                                          <m:t>𝑥</m:t>
                                        </m:r>
                                      </m:e>
                                      <m:sub>
                                        <m:r>
                                          <a:rPr lang="en-US" altLang="zh-CN" sz="2400" i="1" kern="100">
                                            <a:latin typeface="Cambria Math" panose="02040503050406030204" pitchFamily="18" charset="0"/>
                                          </a:rPr>
                                          <m:t>1</m:t>
                                        </m:r>
                                      </m:sub>
                                    </m:sSub>
                                  </m:den>
                                </m:f>
                              </m:e>
                              <m:e>
                                <m:r>
                                  <a:rPr lang="zh-CN" altLang="zh-CN" sz="2400" i="1" kern="100">
                                    <a:latin typeface="Cambria Math" panose="02040503050406030204" pitchFamily="18" charset="0"/>
                                    <a:ea typeface="MS Gothic" panose="020B0609070205080204" pitchFamily="49" charset="-128"/>
                                    <a:cs typeface="MS Gothic" panose="020B0609070205080204" pitchFamily="49" charset="-128"/>
                                  </a:rPr>
                                  <m:t>⋯</m:t>
                                </m:r>
                              </m:e>
                              <m:e>
                                <m:f>
                                  <m:fPr>
                                    <m:ctrlPr>
                                      <a:rPr lang="zh-CN" altLang="zh-CN" sz="2400" i="1" kern="100">
                                        <a:latin typeface="Cambria Math" panose="02040503050406030204" pitchFamily="18" charset="0"/>
                                        <a:ea typeface="Cambria Math" panose="02040503050406030204" pitchFamily="18" charset="0"/>
                                      </a:rPr>
                                    </m:ctrlPr>
                                  </m:fPr>
                                  <m:num>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m:t>
                                        </m:r>
                                      </m:e>
                                      <m:sup>
                                        <m:r>
                                          <a:rPr lang="en-US" altLang="zh-CN" sz="2400" i="1" kern="100">
                                            <a:latin typeface="Cambria Math" panose="02040503050406030204" pitchFamily="18" charset="0"/>
                                          </a:rPr>
                                          <m:t>2</m:t>
                                        </m:r>
                                      </m:sup>
                                    </m:sSup>
                                    <m:r>
                                      <a:rPr lang="en-US" altLang="zh-CN" sz="2400" i="1" kern="100">
                                        <a:latin typeface="Cambria Math" panose="02040503050406030204" pitchFamily="18" charset="0"/>
                                      </a:rPr>
                                      <m:t>𝑓</m:t>
                                    </m:r>
                                    <m:r>
                                      <a:rPr lang="en-US" altLang="zh-CN" sz="2400" i="1" kern="100">
                                        <a:latin typeface="Cambria Math" panose="02040503050406030204" pitchFamily="18" charset="0"/>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𝑥</m:t>
                                        </m:r>
                                      </m:e>
                                      <m:sup>
                                        <m:r>
                                          <a:rPr lang="en-US" altLang="zh-CN" sz="2400" i="1" kern="100">
                                            <a:latin typeface="Cambria Math" panose="02040503050406030204" pitchFamily="18" charset="0"/>
                                          </a:rPr>
                                          <m:t>(</m:t>
                                        </m:r>
                                        <m:r>
                                          <a:rPr lang="en-US" altLang="zh-CN" sz="2400" i="1" kern="100">
                                            <a:latin typeface="Cambria Math" panose="02040503050406030204" pitchFamily="18" charset="0"/>
                                          </a:rPr>
                                          <m:t>𝑘</m:t>
                                        </m:r>
                                        <m:r>
                                          <a:rPr lang="en-US" altLang="zh-CN" sz="2400" i="1" kern="100">
                                            <a:latin typeface="Cambria Math" panose="02040503050406030204" pitchFamily="18" charset="0"/>
                                          </a:rPr>
                                          <m:t>)</m:t>
                                        </m:r>
                                      </m:sup>
                                    </m:sSup>
                                    <m:r>
                                      <a:rPr lang="en-US" altLang="zh-CN" sz="2400" i="1" kern="100">
                                        <a:latin typeface="Cambria Math" panose="02040503050406030204" pitchFamily="18" charset="0"/>
                                      </a:rPr>
                                      <m:t>)</m:t>
                                    </m:r>
                                  </m:num>
                                  <m:den>
                                    <m:r>
                                      <a:rPr lang="en-US" altLang="zh-CN" sz="2400" i="1" kern="100">
                                        <a:latin typeface="Cambria Math" panose="02040503050406030204" pitchFamily="18" charset="0"/>
                                      </a:rPr>
                                      <m:t>𝜕</m:t>
                                    </m:r>
                                    <m:sSubSup>
                                      <m:sSubSupPr>
                                        <m:ctrlPr>
                                          <a:rPr lang="zh-CN" altLang="zh-CN" sz="2400" i="1" kern="100">
                                            <a:latin typeface="Cambria Math" panose="02040503050406030204" pitchFamily="18" charset="0"/>
                                            <a:ea typeface="Cambria Math" panose="02040503050406030204" pitchFamily="18" charset="0"/>
                                          </a:rPr>
                                        </m:ctrlPr>
                                      </m:sSubSupPr>
                                      <m:e>
                                        <m:r>
                                          <a:rPr lang="en-US" altLang="zh-CN" sz="2400" i="1" kern="100">
                                            <a:latin typeface="Cambria Math" panose="02040503050406030204" pitchFamily="18" charset="0"/>
                                          </a:rPr>
                                          <m:t>𝑥</m:t>
                                        </m:r>
                                      </m:e>
                                      <m:sub>
                                        <m:r>
                                          <a:rPr lang="en-US" altLang="zh-CN" sz="2400" i="1" kern="100">
                                            <a:latin typeface="Cambria Math" panose="02040503050406030204" pitchFamily="18" charset="0"/>
                                          </a:rPr>
                                          <m:t>𝑛</m:t>
                                        </m:r>
                                      </m:sub>
                                      <m:sup>
                                        <m:r>
                                          <a:rPr lang="en-US" altLang="zh-CN" sz="2400" i="1" kern="100">
                                            <a:latin typeface="Cambria Math" panose="02040503050406030204" pitchFamily="18" charset="0"/>
                                          </a:rPr>
                                          <m:t>2</m:t>
                                        </m:r>
                                      </m:sup>
                                    </m:sSubSup>
                                  </m:den>
                                </m:f>
                              </m:e>
                            </m:mr>
                          </m:m>
                        </m:e>
                      </m:d>
                    </m:oMath>
                  </m:oMathPara>
                </a14:m>
                <a:endParaRPr lang="zh-CN" altLang="zh-CN" sz="2400" kern="100" dirty="0">
                  <a:latin typeface="Times New Roman" panose="02020603050405020304" pitchFamily="18" charset="0"/>
                </a:endParaRPr>
              </a:p>
              <a:p>
                <a:pPr algn="just">
                  <a:lnSpc>
                    <a:spcPct val="150000"/>
                  </a:lnSpc>
                </a:pPr>
                <a:r>
                  <a:rPr lang="en-US" altLang="zh-CN" sz="2400" kern="100" dirty="0">
                    <a:latin typeface="Times New Roman" panose="02020603050405020304" pitchFamily="18" charset="0"/>
                  </a:rPr>
                  <a:t> </a:t>
                </a:r>
                <a:r>
                  <a:rPr lang="zh-CN" altLang="zh-CN" sz="2400" kern="100" dirty="0">
                    <a:latin typeface="Times New Roman" panose="02020603050405020304" pitchFamily="18" charset="0"/>
                  </a:rPr>
                  <a:t>正定。</a:t>
                </a:r>
              </a:p>
            </p:txBody>
          </p:sp>
        </mc:Choice>
        <mc:Fallback xmlns="">
          <p:sp>
            <p:nvSpPr>
              <p:cNvPr id="2" name="文本框 1">
                <a:extLst>
                  <a:ext uri="{FF2B5EF4-FFF2-40B4-BE49-F238E27FC236}">
                    <a16:creationId xmlns:a16="http://schemas.microsoft.com/office/drawing/2014/main" id="{223EC8F1-6A0E-F0A8-02FB-BA81FB6BD53A}"/>
                  </a:ext>
                </a:extLst>
              </p:cNvPr>
              <p:cNvSpPr txBox="1">
                <a:spLocks noRot="1" noChangeAspect="1" noMove="1" noResize="1" noEditPoints="1" noAdjustHandles="1" noChangeArrowheads="1" noChangeShapeType="1" noTextEdit="1"/>
              </p:cNvSpPr>
              <p:nvPr/>
            </p:nvSpPr>
            <p:spPr>
              <a:xfrm>
                <a:off x="-36512" y="194685"/>
                <a:ext cx="9180512" cy="5904373"/>
              </a:xfrm>
              <a:prstGeom prst="rect">
                <a:avLst/>
              </a:prstGeom>
              <a:blipFill>
                <a:blip r:embed="rId2"/>
                <a:stretch>
                  <a:fillRect l="-996" r="-1062" b="-1032"/>
                </a:stretch>
              </a:blipFill>
            </p:spPr>
            <p:txBody>
              <a:bodyPr/>
              <a:lstStyle/>
              <a:p>
                <a:r>
                  <a:rPr lang="zh-CN" altLang="en-US">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B7DB0864-53AA-67FD-831D-38377E9E4E34}"/>
                  </a:ext>
                </a:extLst>
              </p:cNvPr>
              <p:cNvSpPr txBox="1"/>
              <p:nvPr/>
            </p:nvSpPr>
            <p:spPr>
              <a:xfrm>
                <a:off x="107504" y="332656"/>
                <a:ext cx="8928992" cy="6166303"/>
              </a:xfrm>
              <a:prstGeom prst="rect">
                <a:avLst/>
              </a:prstGeom>
              <a:noFill/>
            </p:spPr>
            <p:txBody>
              <a:bodyPr wrap="square" rtlCol="0">
                <a:spAutoFit/>
              </a:bodyPr>
              <a:lstStyle/>
              <a:p>
                <a:pPr indent="342900" algn="just">
                  <a:lnSpc>
                    <a:spcPct val="150000"/>
                  </a:lnSpc>
                </a:pPr>
                <a:r>
                  <a:rPr lang="zh-CN" altLang="zh-CN" sz="2200" kern="100" dirty="0">
                    <a:latin typeface="Times New Roman" panose="02020603050405020304" pitchFamily="18" charset="0"/>
                  </a:rPr>
                  <a:t>由于</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cs typeface="Cambria Math" panose="02040503050406030204" pitchFamily="18" charset="0"/>
                          </a:rPr>
                          <m:t>𝛻</m:t>
                        </m:r>
                      </m:e>
                      <m:sup>
                        <m:r>
                          <a:rPr lang="en-US" altLang="zh-CN" sz="2200" i="1" kern="100">
                            <a:latin typeface="Cambria Math" panose="02040503050406030204" pitchFamily="18" charset="0"/>
                          </a:rPr>
                          <m:t>2</m:t>
                        </m:r>
                      </m:sup>
                    </m:sSup>
                    <m:r>
                      <a:rPr lang="en-US" altLang="zh-CN" sz="2200" i="1" kern="100">
                        <a:latin typeface="Cambria Math" panose="02040503050406030204" pitchFamily="18" charset="0"/>
                      </a:rPr>
                      <m:t>𝑓</m:t>
                    </m:r>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r>
                      <a:rPr lang="en-US" altLang="zh-CN" sz="2200" i="1" kern="100">
                        <a:latin typeface="Cambria Math" panose="02040503050406030204" pitchFamily="18" charset="0"/>
                      </a:rPr>
                      <m:t>)</m:t>
                    </m:r>
                  </m:oMath>
                </a14:m>
                <a:r>
                  <a:rPr lang="zh-CN" altLang="zh-CN" sz="2200" kern="100" dirty="0">
                    <a:latin typeface="Times New Roman" panose="02020603050405020304" pitchFamily="18" charset="0"/>
                  </a:rPr>
                  <a:t>正定，函数</a:t>
                </a:r>
                <a14:m>
                  <m:oMath xmlns:m="http://schemas.openxmlformats.org/officeDocument/2006/math">
                    <m:r>
                      <a:rPr lang="en-US" altLang="zh-CN" sz="2200" i="1" kern="100">
                        <a:latin typeface="Cambria Math" panose="02040503050406030204" pitchFamily="18" charset="0"/>
                      </a:rPr>
                      <m:t>𝑄</m:t>
                    </m:r>
                    <m:r>
                      <a:rPr lang="en-US" altLang="zh-CN" sz="2200" i="1" kern="100">
                        <a:latin typeface="Cambria Math" panose="02040503050406030204" pitchFamily="18" charset="0"/>
                      </a:rPr>
                      <m:t>(</m:t>
                    </m:r>
                    <m:r>
                      <a:rPr lang="en-US" altLang="zh-CN" sz="2200" i="1" kern="100">
                        <a:latin typeface="Cambria Math" panose="02040503050406030204" pitchFamily="18" charset="0"/>
                      </a:rPr>
                      <m:t>𝑥</m:t>
                    </m:r>
                    <m:r>
                      <a:rPr lang="en-US" altLang="zh-CN" sz="2200" i="1" kern="100">
                        <a:latin typeface="Cambria Math" panose="02040503050406030204" pitchFamily="18" charset="0"/>
                      </a:rPr>
                      <m:t>)</m:t>
                    </m:r>
                  </m:oMath>
                </a14:m>
                <a:r>
                  <a:rPr lang="zh-CN" altLang="zh-CN" sz="2200" kern="100" dirty="0">
                    <a:latin typeface="Times New Roman" panose="02020603050405020304" pitchFamily="18" charset="0"/>
                  </a:rPr>
                  <a:t>的驻点</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+1)</m:t>
                        </m:r>
                      </m:sup>
                    </m:sSup>
                  </m:oMath>
                </a14:m>
                <a:r>
                  <a:rPr lang="zh-CN" altLang="zh-CN" sz="2200" kern="100" dirty="0">
                    <a:latin typeface="Times New Roman" panose="02020603050405020304" pitchFamily="18" charset="0"/>
                  </a:rPr>
                  <a:t>是</a:t>
                </a:r>
                <a14:m>
                  <m:oMath xmlns:m="http://schemas.openxmlformats.org/officeDocument/2006/math">
                    <m:r>
                      <a:rPr lang="en-US" altLang="zh-CN" sz="2200" i="1" kern="100">
                        <a:latin typeface="Cambria Math" panose="02040503050406030204" pitchFamily="18" charset="0"/>
                      </a:rPr>
                      <m:t>𝑄</m:t>
                    </m:r>
                    <m:r>
                      <a:rPr lang="en-US" altLang="zh-CN" sz="2200" i="1" kern="100">
                        <a:latin typeface="Cambria Math" panose="02040503050406030204" pitchFamily="18" charset="0"/>
                      </a:rPr>
                      <m:t>(</m:t>
                    </m:r>
                    <m:r>
                      <a:rPr lang="en-US" altLang="zh-CN" sz="2200" i="1" kern="100">
                        <a:latin typeface="Cambria Math" panose="02040503050406030204" pitchFamily="18" charset="0"/>
                      </a:rPr>
                      <m:t>𝑥</m:t>
                    </m:r>
                    <m:r>
                      <a:rPr lang="en-US" altLang="zh-CN" sz="2200" i="1" kern="100">
                        <a:latin typeface="Cambria Math" panose="02040503050406030204" pitchFamily="18" charset="0"/>
                      </a:rPr>
                      <m:t>)</m:t>
                    </m:r>
                  </m:oMath>
                </a14:m>
                <a:r>
                  <a:rPr lang="zh-CN" altLang="zh-CN" sz="2200" kern="100" dirty="0">
                    <a:latin typeface="Times New Roman" panose="02020603050405020304" pitchFamily="18" charset="0"/>
                  </a:rPr>
                  <a:t>的极小点。为求此最小点，令</a:t>
                </a:r>
              </a:p>
              <a:p>
                <a:pPr indent="1089184" algn="just">
                  <a:lnSpc>
                    <a:spcPct val="150000"/>
                  </a:lnSpc>
                </a:pPr>
                <a14:m>
                  <m:oMathPara xmlns:m="http://schemas.openxmlformats.org/officeDocument/2006/math">
                    <m:oMathParaPr>
                      <m:jc m:val="centerGroup"/>
                    </m:oMathParaPr>
                    <m:oMath xmlns:m="http://schemas.openxmlformats.org/officeDocument/2006/math">
                      <m:r>
                        <a:rPr lang="en-US" altLang="zh-CN" sz="2200" i="1" kern="100">
                          <a:latin typeface="Cambria Math" panose="02040503050406030204" pitchFamily="18" charset="0"/>
                          <a:cs typeface="Cambria Math" panose="02040503050406030204" pitchFamily="18" charset="0"/>
                        </a:rPr>
                        <m:t>𝛻</m:t>
                      </m:r>
                      <m:r>
                        <a:rPr lang="en-US" altLang="zh-CN" sz="2200" i="1" kern="100">
                          <a:latin typeface="Cambria Math" panose="02040503050406030204" pitchFamily="18" charset="0"/>
                        </a:rPr>
                        <m:t>𝑄</m:t>
                      </m:r>
                      <m:r>
                        <a:rPr lang="en-US" altLang="zh-CN" sz="2200" i="1" kern="100">
                          <a:latin typeface="Cambria Math" panose="02040503050406030204" pitchFamily="18" charset="0"/>
                        </a:rPr>
                        <m:t>(</m:t>
                      </m:r>
                      <m:r>
                        <a:rPr lang="en-US" altLang="zh-CN" sz="2200" i="1" kern="100">
                          <a:latin typeface="Cambria Math" panose="02040503050406030204" pitchFamily="18" charset="0"/>
                        </a:rPr>
                        <m:t>𝑥</m:t>
                      </m:r>
                      <m:r>
                        <a:rPr lang="en-US" altLang="zh-CN" sz="2200" i="1" kern="100">
                          <a:latin typeface="Cambria Math" panose="02040503050406030204" pitchFamily="18" charset="0"/>
                        </a:rPr>
                        <m:t>)=</m:t>
                      </m:r>
                      <m:r>
                        <a:rPr lang="en-US" altLang="zh-CN" sz="2200" i="1" kern="100">
                          <a:latin typeface="Cambria Math" panose="02040503050406030204" pitchFamily="18" charset="0"/>
                          <a:cs typeface="Cambria Math" panose="02040503050406030204" pitchFamily="18" charset="0"/>
                        </a:rPr>
                        <m:t>𝛻</m:t>
                      </m:r>
                      <m:r>
                        <a:rPr lang="en-US" altLang="zh-CN" sz="2200" i="1" kern="100">
                          <a:latin typeface="Cambria Math" panose="02040503050406030204" pitchFamily="18" charset="0"/>
                        </a:rPr>
                        <m:t>𝑓</m:t>
                      </m:r>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cs typeface="Cambria Math" panose="02040503050406030204" pitchFamily="18" charset="0"/>
                            </a:rPr>
                            <m:t>𝛻</m:t>
                          </m:r>
                        </m:e>
                        <m:sup>
                          <m:r>
                            <a:rPr lang="en-US" altLang="zh-CN" sz="2200" i="1" kern="100">
                              <a:latin typeface="Cambria Math" panose="02040503050406030204" pitchFamily="18" charset="0"/>
                            </a:rPr>
                            <m:t>2</m:t>
                          </m:r>
                        </m:sup>
                      </m:sSup>
                      <m:r>
                        <a:rPr lang="en-US" altLang="zh-CN" sz="2200" i="1" kern="100">
                          <a:latin typeface="Cambria Math" panose="02040503050406030204" pitchFamily="18" charset="0"/>
                        </a:rPr>
                        <m:t>𝑓</m:t>
                      </m:r>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r>
                        <a:rPr lang="en-US" altLang="zh-CN" sz="2200" i="1" kern="100">
                          <a:latin typeface="Cambria Math" panose="02040503050406030204" pitchFamily="18" charset="0"/>
                        </a:rPr>
                        <m:t>)(</m:t>
                      </m:r>
                      <m:r>
                        <a:rPr lang="en-US" altLang="zh-CN" sz="2200" i="1" kern="100">
                          <a:latin typeface="Cambria Math" panose="02040503050406030204" pitchFamily="18" charset="0"/>
                        </a:rPr>
                        <m:t>𝑥</m:t>
                      </m:r>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r>
                        <a:rPr lang="en-US" altLang="zh-CN" sz="2200" i="1" kern="100">
                          <a:latin typeface="Cambria Math" panose="02040503050406030204" pitchFamily="18" charset="0"/>
                        </a:rPr>
                        <m:t>)=0</m:t>
                      </m:r>
                    </m:oMath>
                  </m:oMathPara>
                </a14:m>
                <a:endParaRPr lang="zh-CN" altLang="zh-CN" sz="2200" kern="100" dirty="0">
                  <a:latin typeface="Times New Roman" panose="02020603050405020304" pitchFamily="18" charset="0"/>
                </a:endParaRPr>
              </a:p>
              <a:p>
                <a:pPr algn="just">
                  <a:lnSpc>
                    <a:spcPct val="150000"/>
                  </a:lnSpc>
                </a:pPr>
                <a:r>
                  <a:rPr lang="zh-CN" altLang="zh-CN" sz="2200" kern="100" dirty="0">
                    <a:latin typeface="Times New Roman" panose="02020603050405020304" pitchFamily="18" charset="0"/>
                  </a:rPr>
                  <a:t>即可解得</a:t>
                </a:r>
              </a:p>
              <a:p>
                <a:pPr algn="ctr">
                  <a:lnSpc>
                    <a:spcPct val="150000"/>
                  </a:lnSpc>
                </a:pPr>
                <a14:m>
                  <m:oMathPara xmlns:m="http://schemas.openxmlformats.org/officeDocument/2006/math">
                    <m:oMathParaPr>
                      <m:jc m:val="centerGroup"/>
                    </m:oMathParaPr>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+1)</m:t>
                          </m:r>
                        </m:sup>
                      </m:sSup>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cs typeface="Cambria Math" panose="02040503050406030204" pitchFamily="18" charset="0"/>
                            </a:rPr>
                            <m:t>𝛻</m:t>
                          </m:r>
                        </m:e>
                        <m:sup>
                          <m:r>
                            <a:rPr lang="en-US" altLang="zh-CN" sz="2200" i="1" kern="100">
                              <a:latin typeface="Cambria Math" panose="02040503050406030204" pitchFamily="18" charset="0"/>
                            </a:rPr>
                            <m:t>2</m:t>
                          </m:r>
                        </m:sup>
                      </m:sSup>
                      <m:r>
                        <a:rPr lang="en-US" altLang="zh-CN" sz="2200" i="1" kern="100">
                          <a:latin typeface="Cambria Math" panose="02040503050406030204" pitchFamily="18" charset="0"/>
                        </a:rPr>
                        <m:t>𝑓</m:t>
                      </m:r>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m:t>
                          </m:r>
                        </m:e>
                        <m:sup>
                          <m:r>
                            <a:rPr lang="en-US" altLang="zh-CN" sz="2200" i="1" kern="100">
                              <a:latin typeface="Cambria Math" panose="02040503050406030204" pitchFamily="18" charset="0"/>
                            </a:rPr>
                            <m:t>−1</m:t>
                          </m:r>
                        </m:sup>
                      </m:sSup>
                      <m:r>
                        <a:rPr lang="en-US" altLang="zh-CN" sz="2200" i="1" kern="100">
                          <a:latin typeface="Cambria Math" panose="02040503050406030204" pitchFamily="18" charset="0"/>
                          <a:cs typeface="Cambria Math" panose="02040503050406030204" pitchFamily="18" charset="0"/>
                        </a:rPr>
                        <m:t>𝛻</m:t>
                      </m:r>
                      <m:r>
                        <a:rPr lang="en-US" altLang="zh-CN" sz="2200" i="1" kern="100">
                          <a:latin typeface="Cambria Math" panose="02040503050406030204" pitchFamily="18" charset="0"/>
                        </a:rPr>
                        <m:t>𝑓</m:t>
                      </m:r>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r>
                        <a:rPr lang="en-US" altLang="zh-CN" sz="2200" i="1" kern="100">
                          <a:latin typeface="Cambria Math" panose="02040503050406030204" pitchFamily="18" charset="0"/>
                        </a:rPr>
                        <m:t>)</m:t>
                      </m:r>
                    </m:oMath>
                  </m:oMathPara>
                </a14:m>
                <a:endParaRPr lang="zh-CN" altLang="zh-CN" sz="2200" kern="100" dirty="0">
                  <a:latin typeface="Times New Roman" panose="02020603050405020304" pitchFamily="18" charset="0"/>
                </a:endParaRPr>
              </a:p>
              <a:p>
                <a:pPr indent="342900" algn="just">
                  <a:lnSpc>
                    <a:spcPct val="150000"/>
                  </a:lnSpc>
                </a:pPr>
                <a:r>
                  <a:rPr lang="zh-CN" altLang="zh-CN" sz="2200" kern="100" dirty="0">
                    <a:latin typeface="Times New Roman" panose="02020603050405020304" pitchFamily="18" charset="0"/>
                  </a:rPr>
                  <a:t>对照非线性规划问题的基本迭代格式，可知从点</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oMath>
                </a14:m>
                <a:r>
                  <a:rPr lang="zh-CN" altLang="zh-CN" sz="2200" kern="100" dirty="0">
                    <a:latin typeface="Times New Roman" panose="02020603050405020304" pitchFamily="18" charset="0"/>
                  </a:rPr>
                  <a:t>出发沿搜索方向</a:t>
                </a:r>
                <a:endParaRPr lang="en-US" altLang="zh-CN" sz="2200" kern="100" dirty="0">
                  <a:latin typeface="Times New Roman" panose="02020603050405020304" pitchFamily="18" charset="0"/>
                </a:endParaRPr>
              </a:p>
              <a:p>
                <a:pPr indent="342900" algn="ctr">
                  <a:lnSpc>
                    <a:spcPct val="150000"/>
                  </a:lnSpc>
                </a:pP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𝑑</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cs typeface="Cambria Math" panose="02040503050406030204" pitchFamily="18" charset="0"/>
                          </a:rPr>
                          <m:t>𝛻</m:t>
                        </m:r>
                      </m:e>
                      <m:sup>
                        <m:r>
                          <a:rPr lang="en-US" altLang="zh-CN" sz="2200" i="1" kern="100">
                            <a:latin typeface="Cambria Math" panose="02040503050406030204" pitchFamily="18" charset="0"/>
                          </a:rPr>
                          <m:t>2</m:t>
                        </m:r>
                      </m:sup>
                    </m:sSup>
                    <m:r>
                      <a:rPr lang="en-US" altLang="zh-CN" sz="2200" i="1" kern="100">
                        <a:latin typeface="Cambria Math" panose="02040503050406030204" pitchFamily="18" charset="0"/>
                      </a:rPr>
                      <m:t>𝑓</m:t>
                    </m:r>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m:t>
                        </m:r>
                      </m:e>
                      <m:sup>
                        <m:r>
                          <a:rPr lang="en-US" altLang="zh-CN" sz="2200" i="1" kern="100">
                            <a:latin typeface="Cambria Math" panose="02040503050406030204" pitchFamily="18" charset="0"/>
                          </a:rPr>
                          <m:t>−1</m:t>
                        </m:r>
                      </m:sup>
                    </m:sSup>
                    <m:r>
                      <a:rPr lang="en-US" altLang="zh-CN" sz="2200" i="1" kern="100">
                        <a:latin typeface="Cambria Math" panose="02040503050406030204" pitchFamily="18" charset="0"/>
                        <a:cs typeface="Cambria Math" panose="02040503050406030204" pitchFamily="18" charset="0"/>
                      </a:rPr>
                      <m:t>𝛻</m:t>
                    </m:r>
                    <m:r>
                      <a:rPr lang="en-US" altLang="zh-CN" sz="2200" i="1" kern="100">
                        <a:latin typeface="Cambria Math" panose="02040503050406030204" pitchFamily="18" charset="0"/>
                      </a:rPr>
                      <m:t>𝑓</m:t>
                    </m:r>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r>
                      <a:rPr lang="en-US" altLang="zh-CN" sz="2200" i="1" kern="100">
                        <a:latin typeface="Cambria Math" panose="02040503050406030204" pitchFamily="18" charset="0"/>
                      </a:rPr>
                      <m:t>)</m:t>
                    </m:r>
                  </m:oMath>
                </a14:m>
                <a:r>
                  <a:rPr lang="en-US" altLang="zh-CN" sz="2200" kern="100" dirty="0">
                    <a:latin typeface="Times New Roman" panose="02020603050405020304" pitchFamily="18" charset="0"/>
                  </a:rPr>
                  <a:t> </a:t>
                </a:r>
              </a:p>
              <a:p>
                <a:pPr algn="just">
                  <a:lnSpc>
                    <a:spcPct val="150000"/>
                  </a:lnSpc>
                </a:pPr>
                <a:r>
                  <a:rPr lang="zh-CN" altLang="zh-CN" sz="2200" kern="100" dirty="0">
                    <a:latin typeface="Times New Roman" panose="02020603050405020304" pitchFamily="18" charset="0"/>
                  </a:rPr>
                  <a:t>并取步长</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𝛼</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r>
                      <a:rPr lang="en-US" altLang="zh-CN" sz="2200" i="1" kern="100">
                        <a:latin typeface="Cambria Math" panose="02040503050406030204" pitchFamily="18" charset="0"/>
                      </a:rPr>
                      <m:t>=1</m:t>
                    </m:r>
                  </m:oMath>
                </a14:m>
                <a:r>
                  <a:rPr lang="zh-CN" altLang="zh-CN" sz="2200" kern="100" dirty="0">
                    <a:latin typeface="Times New Roman" panose="02020603050405020304" pitchFamily="18" charset="0"/>
                  </a:rPr>
                  <a:t>即可得</a:t>
                </a:r>
                <a14:m>
                  <m:oMath xmlns:m="http://schemas.openxmlformats.org/officeDocument/2006/math">
                    <m:r>
                      <a:rPr lang="en-US" altLang="zh-CN" sz="2200" i="1" kern="100">
                        <a:latin typeface="Cambria Math" panose="02040503050406030204" pitchFamily="18" charset="0"/>
                      </a:rPr>
                      <m:t>𝑄</m:t>
                    </m:r>
                    <m:r>
                      <a:rPr lang="en-US" altLang="zh-CN" sz="2200" i="1" kern="100">
                        <a:latin typeface="Cambria Math" panose="02040503050406030204" pitchFamily="18" charset="0"/>
                      </a:rPr>
                      <m:t>(</m:t>
                    </m:r>
                    <m:r>
                      <a:rPr lang="en-US" altLang="zh-CN" sz="2200" i="1" kern="100">
                        <a:latin typeface="Cambria Math" panose="02040503050406030204" pitchFamily="18" charset="0"/>
                      </a:rPr>
                      <m:t>𝑥</m:t>
                    </m:r>
                    <m:r>
                      <a:rPr lang="en-US" altLang="zh-CN" sz="2200" i="1" kern="100">
                        <a:latin typeface="Cambria Math" panose="02040503050406030204" pitchFamily="18" charset="0"/>
                      </a:rPr>
                      <m:t>)</m:t>
                    </m:r>
                  </m:oMath>
                </a14:m>
                <a:r>
                  <a:rPr lang="zh-CN" altLang="zh-CN" sz="2200" kern="100" dirty="0">
                    <a:latin typeface="Times New Roman" panose="02020603050405020304" pitchFamily="18" charset="0"/>
                  </a:rPr>
                  <a:t>的最小点</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+1)</m:t>
                        </m:r>
                      </m:sup>
                    </m:sSup>
                  </m:oMath>
                </a14:m>
                <a:r>
                  <a:rPr lang="zh-CN" altLang="zh-CN" sz="2200" kern="100" dirty="0">
                    <a:latin typeface="Times New Roman" panose="02020603050405020304" pitchFamily="18" charset="0"/>
                  </a:rPr>
                  <a:t>。通常，把方向</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𝑑</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oMath>
                </a14:m>
                <a:r>
                  <a:rPr lang="zh-CN" altLang="zh-CN" sz="2200" kern="100" dirty="0">
                    <a:latin typeface="Times New Roman" panose="02020603050405020304" pitchFamily="18" charset="0"/>
                  </a:rPr>
                  <a:t>叫做从点</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oMath>
                </a14:m>
                <a:r>
                  <a:rPr lang="zh-CN" altLang="zh-CN" sz="2200" kern="100" dirty="0">
                    <a:latin typeface="Times New Roman" panose="02020603050405020304" pitchFamily="18" charset="0"/>
                  </a:rPr>
                  <a:t>出发的牛顿方向。从初始点开始，每一轮从当前迭代点出发，沿牛顿方向并取步长为</a:t>
                </a:r>
                <a:r>
                  <a:rPr lang="en-US" altLang="zh-CN" sz="2200" kern="100" dirty="0">
                    <a:latin typeface="Times New Roman" panose="02020603050405020304" pitchFamily="18" charset="0"/>
                  </a:rPr>
                  <a:t>1</a:t>
                </a:r>
                <a:r>
                  <a:rPr lang="zh-CN" altLang="zh-CN" sz="2200" kern="100" dirty="0">
                    <a:latin typeface="Times New Roman" panose="02020603050405020304" pitchFamily="18" charset="0"/>
                  </a:rPr>
                  <a:t>的求解方法，称之为牛顿法的纯形式（或称原始牛顿法）。</a:t>
                </a:r>
              </a:p>
              <a:p>
                <a:endParaRPr lang="zh-CN" altLang="en-US" sz="2200" dirty="0"/>
              </a:p>
            </p:txBody>
          </p:sp>
        </mc:Choice>
        <mc:Fallback xmlns="">
          <p:sp>
            <p:nvSpPr>
              <p:cNvPr id="2" name="文本框 1">
                <a:extLst>
                  <a:ext uri="{FF2B5EF4-FFF2-40B4-BE49-F238E27FC236}">
                    <a16:creationId xmlns:a16="http://schemas.microsoft.com/office/drawing/2014/main" id="{B7DB0864-53AA-67FD-831D-38377E9E4E34}"/>
                  </a:ext>
                </a:extLst>
              </p:cNvPr>
              <p:cNvSpPr txBox="1">
                <a:spLocks noRot="1" noChangeAspect="1" noMove="1" noResize="1" noEditPoints="1" noAdjustHandles="1" noChangeArrowheads="1" noChangeShapeType="1" noTextEdit="1"/>
              </p:cNvSpPr>
              <p:nvPr/>
            </p:nvSpPr>
            <p:spPr>
              <a:xfrm>
                <a:off x="107504" y="332656"/>
                <a:ext cx="8928992" cy="6166303"/>
              </a:xfrm>
              <a:prstGeom prst="rect">
                <a:avLst/>
              </a:prstGeom>
              <a:blipFill>
                <a:blip r:embed="rId2"/>
                <a:stretch>
                  <a:fillRect l="-888" r="-956"/>
                </a:stretch>
              </a:blipFill>
            </p:spPr>
            <p:txBody>
              <a:bodyPr/>
              <a:lstStyle/>
              <a:p>
                <a:r>
                  <a:rPr lang="zh-CN" altLang="en-US">
                    <a:noFill/>
                  </a:rPr>
                  <a:t> </a:t>
                </a: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a:extLst>
              <a:ext uri="{FF2B5EF4-FFF2-40B4-BE49-F238E27FC236}">
                <a16:creationId xmlns:a16="http://schemas.microsoft.com/office/drawing/2014/main" id="{6D4042F3-6E57-4C61-AFD0-D71FF1F9178B}"/>
              </a:ext>
            </a:extLst>
          </p:cNvPr>
          <p:cNvSpPr>
            <a:spLocks noGrp="1" noChangeArrowheads="1"/>
          </p:cNvSpPr>
          <p:nvPr>
            <p:ph type="body" idx="4294967295"/>
          </p:nvPr>
        </p:nvSpPr>
        <p:spPr>
          <a:xfrm>
            <a:off x="359532" y="1157288"/>
            <a:ext cx="6417469" cy="4229100"/>
          </a:xfrm>
        </p:spPr>
        <p:txBody>
          <a:bodyPr/>
          <a:lstStyle/>
          <a:p>
            <a:pPr>
              <a:buFont typeface="Wingdings" panose="05000000000000000000" pitchFamily="2" charset="2"/>
              <a:buNone/>
              <a:defRPr/>
            </a:pPr>
            <a:r>
              <a:rPr lang="zh-CN" altLang="en-US" sz="2100" b="1" dirty="0"/>
              <a:t>原始牛顿法流程图</a:t>
            </a:r>
            <a:endParaRPr lang="zh-CN" altLang="en-US" sz="2100" b="1" i="1" dirty="0"/>
          </a:p>
        </p:txBody>
      </p:sp>
      <p:sp>
        <p:nvSpPr>
          <p:cNvPr id="8194" name="AutoShape 5">
            <a:extLst>
              <a:ext uri="{FF2B5EF4-FFF2-40B4-BE49-F238E27FC236}">
                <a16:creationId xmlns:a16="http://schemas.microsoft.com/office/drawing/2014/main" id="{75D62F9A-B0FA-49BB-8814-30DE5C004E54}"/>
              </a:ext>
            </a:extLst>
          </p:cNvPr>
          <p:cNvSpPr>
            <a:spLocks noChangeArrowheads="1"/>
          </p:cNvSpPr>
          <p:nvPr/>
        </p:nvSpPr>
        <p:spPr bwMode="auto">
          <a:xfrm>
            <a:off x="3698081" y="1571626"/>
            <a:ext cx="762000" cy="317897"/>
          </a:xfrm>
          <a:prstGeom prst="flowChartPreparation">
            <a:avLst/>
          </a:prstGeom>
          <a:solidFill>
            <a:srgbClr val="CCFFCC"/>
          </a:solidFill>
          <a:ln w="28575" cap="sq">
            <a:solidFill>
              <a:srgbClr val="00FF00"/>
            </a:solidFill>
            <a:miter lim="800000"/>
            <a:headEnd/>
            <a:tailEnd/>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zh-CN" altLang="en-US" sz="1500" b="1">
                <a:solidFill>
                  <a:srgbClr val="000000"/>
                </a:solidFill>
                <a:latin typeface="Times New Roman" panose="02020603050405020304" pitchFamily="18" charset="0"/>
              </a:rPr>
              <a:t>入口</a:t>
            </a:r>
            <a:endParaRPr lang="zh-CN" altLang="en-US" sz="1500">
              <a:solidFill>
                <a:srgbClr val="000000"/>
              </a:solidFill>
              <a:latin typeface="Times New Roman" panose="02020603050405020304" pitchFamily="18" charset="0"/>
            </a:endParaRPr>
          </a:p>
        </p:txBody>
      </p:sp>
      <p:sp>
        <p:nvSpPr>
          <p:cNvPr id="8195" name="AutoShape 6">
            <a:extLst>
              <a:ext uri="{FF2B5EF4-FFF2-40B4-BE49-F238E27FC236}">
                <a16:creationId xmlns:a16="http://schemas.microsoft.com/office/drawing/2014/main" id="{972D29EF-C785-4897-A3EF-047783E18D7C}"/>
              </a:ext>
            </a:extLst>
          </p:cNvPr>
          <p:cNvSpPr>
            <a:spLocks noChangeArrowheads="1"/>
          </p:cNvSpPr>
          <p:nvPr/>
        </p:nvSpPr>
        <p:spPr bwMode="auto">
          <a:xfrm>
            <a:off x="3108722" y="2031206"/>
            <a:ext cx="1889522" cy="286941"/>
          </a:xfrm>
          <a:prstGeom prst="flowChartInputOutput">
            <a:avLst/>
          </a:prstGeom>
          <a:solidFill>
            <a:srgbClr val="CCFFCC"/>
          </a:solidFill>
          <a:ln w="28575" cap="sq">
            <a:solidFill>
              <a:srgbClr val="00FF00"/>
            </a:solidFill>
            <a:miter lim="800000"/>
            <a:headEnd/>
            <a:tailEnd/>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zh-CN" altLang="en-US" sz="1500" b="1" dirty="0">
                <a:solidFill>
                  <a:srgbClr val="000000"/>
                </a:solidFill>
                <a:latin typeface="Times New Roman" panose="02020603050405020304" pitchFamily="18" charset="0"/>
              </a:rPr>
              <a:t>给定： </a:t>
            </a:r>
            <a:r>
              <a:rPr lang="en-US" altLang="en-US" sz="1500" b="1" i="1" dirty="0">
                <a:solidFill>
                  <a:srgbClr val="000000"/>
                </a:solidFill>
                <a:latin typeface="Times New Roman" panose="02020603050405020304" pitchFamily="18" charset="0"/>
              </a:rPr>
              <a:t>x</a:t>
            </a:r>
            <a:r>
              <a:rPr lang="en-US" altLang="en-US" sz="1500" b="1" i="1" baseline="30000" dirty="0">
                <a:solidFill>
                  <a:srgbClr val="000000"/>
                </a:solidFill>
                <a:latin typeface="Times New Roman" panose="02020603050405020304" pitchFamily="18" charset="0"/>
              </a:rPr>
              <a:t>(1)</a:t>
            </a:r>
            <a:r>
              <a:rPr lang="zh-CN" altLang="en-US" sz="1500" b="1" i="1" dirty="0">
                <a:solidFill>
                  <a:srgbClr val="000000"/>
                </a:solidFill>
                <a:latin typeface="Times New Roman" panose="02020603050405020304" pitchFamily="18" charset="0"/>
              </a:rPr>
              <a:t>，</a:t>
            </a:r>
            <a:r>
              <a:rPr lang="zh-CN" altLang="en-US" sz="1500" b="1" i="1" dirty="0">
                <a:solidFill>
                  <a:srgbClr val="000000"/>
                </a:solidFill>
                <a:latin typeface="Times New Roman" panose="02020603050405020304" pitchFamily="18" charset="0"/>
                <a:sym typeface="Symbol" panose="05050102010706020507" pitchFamily="18" charset="2"/>
              </a:rPr>
              <a:t></a:t>
            </a:r>
            <a:r>
              <a:rPr lang="zh-CN" altLang="en-US" sz="1500" b="1" dirty="0">
                <a:solidFill>
                  <a:srgbClr val="000000"/>
                </a:solidFill>
                <a:latin typeface="Times New Roman" panose="02020603050405020304" pitchFamily="18" charset="0"/>
              </a:rPr>
              <a:t> </a:t>
            </a:r>
          </a:p>
        </p:txBody>
      </p:sp>
      <p:sp>
        <p:nvSpPr>
          <p:cNvPr id="8196" name="AutoShape 7">
            <a:extLst>
              <a:ext uri="{FF2B5EF4-FFF2-40B4-BE49-F238E27FC236}">
                <a16:creationId xmlns:a16="http://schemas.microsoft.com/office/drawing/2014/main" id="{55FFDFFE-6B50-4AF6-847C-44CD0E0170FC}"/>
              </a:ext>
            </a:extLst>
          </p:cNvPr>
          <p:cNvSpPr>
            <a:spLocks noChangeArrowheads="1"/>
          </p:cNvSpPr>
          <p:nvPr/>
        </p:nvSpPr>
        <p:spPr bwMode="auto">
          <a:xfrm>
            <a:off x="3429000" y="2509837"/>
            <a:ext cx="1348979" cy="301229"/>
          </a:xfrm>
          <a:prstGeom prst="flowChartProcess">
            <a:avLst/>
          </a:prstGeom>
          <a:solidFill>
            <a:srgbClr val="CCFFCC"/>
          </a:solidFill>
          <a:ln w="28575" cap="sq">
            <a:solidFill>
              <a:srgbClr val="00FF00"/>
            </a:solidFill>
            <a:miter lim="800000"/>
            <a:headEnd/>
            <a:tailEnd/>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en-US" altLang="en-US" sz="1500" b="1" i="1" dirty="0">
                <a:solidFill>
                  <a:srgbClr val="000000"/>
                </a:solidFill>
                <a:latin typeface="Times New Roman" panose="02020603050405020304" pitchFamily="18" charset="0"/>
              </a:rPr>
              <a:t>k=1</a:t>
            </a:r>
            <a:endParaRPr lang="en-US" altLang="zh-CN" sz="1500" b="1" i="1"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5127" name="AutoShape 8">
                <a:extLst>
                  <a:ext uri="{FF2B5EF4-FFF2-40B4-BE49-F238E27FC236}">
                    <a16:creationId xmlns:a16="http://schemas.microsoft.com/office/drawing/2014/main" id="{664B3E2D-1768-483A-AA0B-DA7DA3F40B0F}"/>
                  </a:ext>
                </a:extLst>
              </p:cNvPr>
              <p:cNvSpPr>
                <a:spLocks noChangeArrowheads="1"/>
              </p:cNvSpPr>
              <p:nvPr/>
            </p:nvSpPr>
            <p:spPr bwMode="auto">
              <a:xfrm>
                <a:off x="3444834" y="3970068"/>
                <a:ext cx="1460897" cy="537666"/>
              </a:xfrm>
              <a:prstGeom prst="flowChartDecision">
                <a:avLst/>
              </a:prstGeom>
              <a:solidFill>
                <a:srgbClr val="CCFFCC"/>
              </a:solidFill>
              <a:ln w="28575" cap="sq">
                <a:solidFill>
                  <a:srgbClr val="00FF00"/>
                </a:solidFill>
                <a:miter lim="800000"/>
              </a:ln>
              <a:effectLst/>
              <a:extLst>
                <a:ext uri="{AF507438-7753-43E0-B8FC-AC1667EBCBE1}">
                  <a14:hiddenEffects>
                    <a:effectLst>
                      <a:outerShdw dist="35921" dir="2700000" algn="ctr" rotWithShape="0">
                        <a:schemeClr val="bg2"/>
                      </a:outerShdw>
                    </a:effectLst>
                  </a14:hiddenEffects>
                </a:ext>
              </a:extLst>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a:buFontTx/>
                  <a:buNone/>
                  <a:defRPr/>
                </a:pPr>
                <a14:m>
                  <m:oMathPara xmlns:m="http://schemas.openxmlformats.org/officeDocument/2006/math">
                    <m:oMathParaPr>
                      <m:jc m:val="centerGroup"/>
                    </m:oMathParaPr>
                    <m:oMath xmlns:m="http://schemas.openxmlformats.org/officeDocument/2006/math">
                      <m:sSub>
                        <m:sSubPr>
                          <m:ctrlPr>
                            <a:rPr lang="en-US" altLang="zh-CN" sz="1350" i="1" kern="100">
                              <a:solidFill>
                                <a:srgbClr val="FF0000"/>
                              </a:solidFill>
                              <a:latin typeface="Cambria Math" panose="02040503050406030204" pitchFamily="18" charset="0"/>
                              <a:ea typeface="Cambria Math" panose="02040503050406030204" pitchFamily="18" charset="0"/>
                            </a:rPr>
                          </m:ctrlPr>
                        </m:sSubPr>
                        <m:e>
                          <m:d>
                            <m:dPr>
                              <m:begChr m:val="‖"/>
                              <m:endChr m:val="‖"/>
                              <m:ctrlPr>
                                <a:rPr lang="zh-CN" altLang="zh-CN" sz="1350" i="1" kern="100">
                                  <a:solidFill>
                                    <a:srgbClr val="FF0000"/>
                                  </a:solidFill>
                                  <a:latin typeface="Cambria Math" panose="02040503050406030204" pitchFamily="18" charset="0"/>
                                  <a:ea typeface="Cambria Math" panose="02040503050406030204" pitchFamily="18" charset="0"/>
                                </a:rPr>
                              </m:ctrlPr>
                            </m:dPr>
                            <m:e>
                              <m:r>
                                <a:rPr lang="en-US" altLang="zh-CN" sz="1350" i="1" kern="100">
                                  <a:solidFill>
                                    <a:srgbClr val="FF0000"/>
                                  </a:solidFill>
                                  <a:latin typeface="Cambria Math" panose="02040503050406030204" pitchFamily="18" charset="0"/>
                                  <a:cs typeface="Cambria Math" panose="02040503050406030204" pitchFamily="18" charset="0"/>
                                </a:rPr>
                                <m:t>𝛻</m:t>
                              </m:r>
                              <m:r>
                                <a:rPr lang="en-US" altLang="zh-CN" sz="1350" i="1" kern="100">
                                  <a:solidFill>
                                    <a:srgbClr val="FF0000"/>
                                  </a:solidFill>
                                  <a:latin typeface="Cambria Math" panose="02040503050406030204" pitchFamily="18" charset="0"/>
                                </a:rPr>
                                <m:t>𝑓</m:t>
                              </m:r>
                              <m:r>
                                <a:rPr lang="en-US" altLang="zh-CN" sz="1350" i="1" kern="100">
                                  <a:solidFill>
                                    <a:srgbClr val="FF0000"/>
                                  </a:solidFill>
                                  <a:latin typeface="Cambria Math" panose="02040503050406030204" pitchFamily="18" charset="0"/>
                                </a:rPr>
                                <m:t>(</m:t>
                              </m:r>
                              <m:sSup>
                                <m:sSupPr>
                                  <m:ctrlPr>
                                    <a:rPr lang="zh-CN" altLang="zh-CN" sz="1350" i="1" kern="100">
                                      <a:solidFill>
                                        <a:srgbClr val="FF0000"/>
                                      </a:solidFill>
                                      <a:latin typeface="Cambria Math" panose="02040503050406030204" pitchFamily="18" charset="0"/>
                                      <a:ea typeface="Cambria Math" panose="02040503050406030204" pitchFamily="18" charset="0"/>
                                    </a:rPr>
                                  </m:ctrlPr>
                                </m:sSupPr>
                                <m:e>
                                  <m:r>
                                    <a:rPr lang="en-US" altLang="zh-CN" sz="1350" i="1" kern="100">
                                      <a:solidFill>
                                        <a:srgbClr val="FF0000"/>
                                      </a:solidFill>
                                      <a:latin typeface="Cambria Math" panose="02040503050406030204" pitchFamily="18" charset="0"/>
                                    </a:rPr>
                                    <m:t>𝑥</m:t>
                                  </m:r>
                                </m:e>
                                <m:sup>
                                  <m:r>
                                    <a:rPr lang="en-US" altLang="zh-CN" sz="1350" i="1" kern="100">
                                      <a:solidFill>
                                        <a:srgbClr val="FF0000"/>
                                      </a:solidFill>
                                      <a:latin typeface="Cambria Math" panose="02040503050406030204" pitchFamily="18" charset="0"/>
                                    </a:rPr>
                                    <m:t>(</m:t>
                                  </m:r>
                                  <m:r>
                                    <a:rPr lang="en-US" altLang="zh-CN" sz="1350" i="1" kern="100">
                                      <a:solidFill>
                                        <a:srgbClr val="FF0000"/>
                                      </a:solidFill>
                                      <a:latin typeface="Cambria Math" panose="02040503050406030204" pitchFamily="18" charset="0"/>
                                    </a:rPr>
                                    <m:t>𝑘</m:t>
                                  </m:r>
                                  <m:r>
                                    <a:rPr lang="en-US" altLang="zh-CN" sz="1350" i="1" kern="100">
                                      <a:solidFill>
                                        <a:srgbClr val="FF0000"/>
                                      </a:solidFill>
                                      <a:latin typeface="Cambria Math" panose="02040503050406030204" pitchFamily="18" charset="0"/>
                                    </a:rPr>
                                    <m:t>)</m:t>
                                  </m:r>
                                </m:sup>
                              </m:sSup>
                              <m:r>
                                <a:rPr lang="en-US" altLang="zh-CN" sz="1350" i="1" kern="100">
                                  <a:solidFill>
                                    <a:srgbClr val="FF0000"/>
                                  </a:solidFill>
                                  <a:latin typeface="Cambria Math" panose="02040503050406030204" pitchFamily="18" charset="0"/>
                                </a:rPr>
                                <m:t>)</m:t>
                              </m:r>
                            </m:e>
                          </m:d>
                        </m:e>
                        <m:sub>
                          <m:r>
                            <a:rPr lang="en-US" altLang="zh-CN" sz="1350" i="1" kern="100">
                              <a:solidFill>
                                <a:srgbClr val="FF0000"/>
                              </a:solidFill>
                              <a:latin typeface="Cambria Math" panose="02040503050406030204" pitchFamily="18" charset="0"/>
                              <a:ea typeface="Cambria Math" panose="02040503050406030204" pitchFamily="18" charset="0"/>
                            </a:rPr>
                            <m:t>2</m:t>
                          </m:r>
                        </m:sub>
                      </m:sSub>
                      <m:r>
                        <a:rPr lang="en-US" altLang="zh-CN" sz="1350" i="1" kern="100">
                          <a:solidFill>
                            <a:srgbClr val="FF0000"/>
                          </a:solidFill>
                          <a:latin typeface="Cambria Math" panose="02040503050406030204" pitchFamily="18" charset="0"/>
                          <a:ea typeface="Cambria Math" panose="02040503050406030204" pitchFamily="18" charset="0"/>
                        </a:rPr>
                        <m:t>≤</m:t>
                      </m:r>
                      <m:r>
                        <a:rPr lang="en-US" altLang="zh-CN" sz="1350" i="1" kern="100">
                          <a:solidFill>
                            <a:srgbClr val="FF0000"/>
                          </a:solidFill>
                          <a:latin typeface="Cambria Math" panose="02040503050406030204" pitchFamily="18" charset="0"/>
                        </a:rPr>
                        <m:t>𝜀</m:t>
                      </m:r>
                    </m:oMath>
                  </m:oMathPara>
                </a14:m>
                <a:endParaRPr lang="zh-CN" altLang="en-US" sz="1350" b="1" i="1" dirty="0">
                  <a:solidFill>
                    <a:srgbClr val="FF0000"/>
                  </a:solidFill>
                  <a:latin typeface="Times New Roman" panose="02020603050405020304" pitchFamily="18" charset="0"/>
                  <a:sym typeface="Symbol" panose="05050102010706020507" pitchFamily="18" charset="2"/>
                </a:endParaRPr>
              </a:p>
            </p:txBody>
          </p:sp>
        </mc:Choice>
        <mc:Fallback xmlns="">
          <p:sp>
            <p:nvSpPr>
              <p:cNvPr id="5127" name="AutoShape 8">
                <a:extLst>
                  <a:ext uri="{FF2B5EF4-FFF2-40B4-BE49-F238E27FC236}">
                    <a16:creationId xmlns:a16="http://schemas.microsoft.com/office/drawing/2014/main" id="{664B3E2D-1768-483A-AA0B-DA7DA3F40B0F}"/>
                  </a:ext>
                </a:extLst>
              </p:cNvPr>
              <p:cNvSpPr>
                <a:spLocks noRot="1" noChangeAspect="1" noMove="1" noResize="1" noEditPoints="1" noAdjustHandles="1" noChangeArrowheads="1" noChangeShapeType="1" noTextEdit="1"/>
              </p:cNvSpPr>
              <p:nvPr/>
            </p:nvSpPr>
            <p:spPr bwMode="auto">
              <a:xfrm>
                <a:off x="3444834" y="3970068"/>
                <a:ext cx="1460897" cy="537666"/>
              </a:xfrm>
              <a:prstGeom prst="flowChartDecision">
                <a:avLst/>
              </a:prstGeom>
              <a:blipFill>
                <a:blip r:embed="rId2"/>
                <a:stretch>
                  <a:fillRect/>
                </a:stretch>
              </a:blipFill>
              <a:ln w="28575" cap="sq">
                <a:solidFill>
                  <a:srgbClr val="00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8198" name="AutoShape 9">
            <a:extLst>
              <a:ext uri="{FF2B5EF4-FFF2-40B4-BE49-F238E27FC236}">
                <a16:creationId xmlns:a16="http://schemas.microsoft.com/office/drawing/2014/main" id="{61B9B597-01DB-43BA-96E6-050E35618EB0}"/>
              </a:ext>
            </a:extLst>
          </p:cNvPr>
          <p:cNvSpPr>
            <a:spLocks noChangeArrowheads="1"/>
          </p:cNvSpPr>
          <p:nvPr/>
        </p:nvSpPr>
        <p:spPr bwMode="auto">
          <a:xfrm>
            <a:off x="3388520" y="4704160"/>
            <a:ext cx="1546622" cy="542925"/>
          </a:xfrm>
          <a:prstGeom prst="flowChartInputOutput">
            <a:avLst/>
          </a:prstGeom>
          <a:solidFill>
            <a:srgbClr val="CCFFCC"/>
          </a:solidFill>
          <a:ln w="28575" cap="sq">
            <a:solidFill>
              <a:srgbClr val="00FF00"/>
            </a:solidFill>
            <a:miter lim="800000"/>
            <a:headEnd/>
            <a:tailEnd/>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en-US" altLang="en-US" sz="1500" b="1" i="1">
                <a:solidFill>
                  <a:srgbClr val="000000"/>
                </a:solidFill>
                <a:latin typeface="Times New Roman" panose="02020603050405020304" pitchFamily="18" charset="0"/>
              </a:rPr>
              <a:t>x*=x</a:t>
            </a:r>
            <a:r>
              <a:rPr lang="en-US" altLang="en-US" sz="1500" b="1" i="1" baseline="30000">
                <a:solidFill>
                  <a:srgbClr val="000000"/>
                </a:solidFill>
                <a:latin typeface="Times New Roman" panose="02020603050405020304" pitchFamily="18" charset="0"/>
              </a:rPr>
              <a:t>(k)</a:t>
            </a:r>
            <a:endParaRPr lang="en-US" altLang="en-US" sz="1500" b="1" i="1">
              <a:solidFill>
                <a:srgbClr val="000000"/>
              </a:solidFill>
              <a:latin typeface="Times New Roman" panose="02020603050405020304" pitchFamily="18" charset="0"/>
            </a:endParaRPr>
          </a:p>
          <a:p>
            <a:pPr algn="ctr">
              <a:buFont typeface="Wingdings" panose="05000000000000000000" pitchFamily="2" charset="2"/>
              <a:buNone/>
            </a:pPr>
            <a:r>
              <a:rPr lang="en-US" altLang="en-US" sz="1500" b="1" i="1">
                <a:solidFill>
                  <a:srgbClr val="000000"/>
                </a:solidFill>
                <a:latin typeface="Times New Roman" panose="02020603050405020304" pitchFamily="18" charset="0"/>
              </a:rPr>
              <a:t>f*=f(x</a:t>
            </a:r>
            <a:r>
              <a:rPr lang="en-US" altLang="en-US" sz="1500" b="1" i="1" baseline="30000">
                <a:solidFill>
                  <a:srgbClr val="000000"/>
                </a:solidFill>
                <a:latin typeface="Times New Roman" panose="02020603050405020304" pitchFamily="18" charset="0"/>
              </a:rPr>
              <a:t>(k)</a:t>
            </a:r>
            <a:r>
              <a:rPr lang="en-US" altLang="en-US" sz="1500" b="1" i="1">
                <a:solidFill>
                  <a:srgbClr val="000000"/>
                </a:solidFill>
                <a:latin typeface="Times New Roman" panose="02020603050405020304" pitchFamily="18" charset="0"/>
              </a:rPr>
              <a:t>)</a:t>
            </a:r>
            <a:endParaRPr lang="en-US" altLang="zh-CN" sz="1500">
              <a:solidFill>
                <a:srgbClr val="000000"/>
              </a:solidFill>
              <a:latin typeface="Times New Roman" panose="02020603050405020304" pitchFamily="18" charset="0"/>
            </a:endParaRPr>
          </a:p>
        </p:txBody>
      </p:sp>
      <p:sp>
        <p:nvSpPr>
          <p:cNvPr id="8199" name="AutoShape 10">
            <a:extLst>
              <a:ext uri="{FF2B5EF4-FFF2-40B4-BE49-F238E27FC236}">
                <a16:creationId xmlns:a16="http://schemas.microsoft.com/office/drawing/2014/main" id="{F73A994D-6D54-4677-A09E-96DDD8E6642F}"/>
              </a:ext>
            </a:extLst>
          </p:cNvPr>
          <p:cNvSpPr>
            <a:spLocks noChangeArrowheads="1"/>
          </p:cNvSpPr>
          <p:nvPr/>
        </p:nvSpPr>
        <p:spPr bwMode="auto">
          <a:xfrm>
            <a:off x="3614738" y="5525692"/>
            <a:ext cx="952500" cy="258365"/>
          </a:xfrm>
          <a:prstGeom prst="flowChartTerminator">
            <a:avLst/>
          </a:prstGeom>
          <a:solidFill>
            <a:srgbClr val="CCFFCC"/>
          </a:solidFill>
          <a:ln w="28575" cap="sq">
            <a:solidFill>
              <a:srgbClr val="00FF00"/>
            </a:solidFill>
            <a:miter lim="800000"/>
            <a:headEnd/>
            <a:tailEnd/>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zh-CN" altLang="en-US" sz="1500" b="1">
                <a:solidFill>
                  <a:srgbClr val="000000"/>
                </a:solidFill>
                <a:latin typeface="Times New Roman" panose="02020603050405020304" pitchFamily="18" charset="0"/>
              </a:rPr>
              <a:t>出口</a:t>
            </a:r>
            <a:endParaRPr lang="zh-CN" altLang="en-US" sz="1500">
              <a:solidFill>
                <a:srgbClr val="000000"/>
              </a:solidFill>
              <a:latin typeface="Times New Roman" panose="02020603050405020304" pitchFamily="18" charset="0"/>
            </a:endParaRPr>
          </a:p>
        </p:txBody>
      </p:sp>
      <p:sp>
        <p:nvSpPr>
          <p:cNvPr id="8200" name="AutoShape 11">
            <a:extLst>
              <a:ext uri="{FF2B5EF4-FFF2-40B4-BE49-F238E27FC236}">
                <a16:creationId xmlns:a16="http://schemas.microsoft.com/office/drawing/2014/main" id="{52F752A4-935A-4758-A1A4-14AD371C489C}"/>
              </a:ext>
            </a:extLst>
          </p:cNvPr>
          <p:cNvSpPr>
            <a:spLocks noChangeArrowheads="1"/>
          </p:cNvSpPr>
          <p:nvPr/>
        </p:nvSpPr>
        <p:spPr bwMode="auto">
          <a:xfrm>
            <a:off x="3479006" y="3003948"/>
            <a:ext cx="1348979" cy="301228"/>
          </a:xfrm>
          <a:prstGeom prst="flowChartProcess">
            <a:avLst/>
          </a:prstGeom>
          <a:solidFill>
            <a:srgbClr val="CCFFCC"/>
          </a:solidFill>
          <a:ln w="28575" cap="sq">
            <a:solidFill>
              <a:srgbClr val="00FF00"/>
            </a:solidFill>
            <a:miter lim="800000"/>
            <a:headEnd/>
            <a:tailEnd/>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en-US" altLang="en-US" sz="1500" b="1" i="1" dirty="0">
                <a:solidFill>
                  <a:srgbClr val="000000"/>
                </a:solidFill>
                <a:latin typeface="Times New Roman" panose="02020603050405020304" pitchFamily="18" charset="0"/>
              </a:rPr>
              <a:t>x</a:t>
            </a:r>
            <a:r>
              <a:rPr lang="en-US" altLang="en-US" sz="1500" b="1" i="1" baseline="30000" dirty="0">
                <a:solidFill>
                  <a:srgbClr val="000000"/>
                </a:solidFill>
                <a:latin typeface="Times New Roman" panose="02020603050405020304" pitchFamily="18" charset="0"/>
              </a:rPr>
              <a:t>(k)</a:t>
            </a:r>
            <a:r>
              <a:rPr lang="en-US" altLang="en-US" sz="1500" b="1" i="1" dirty="0">
                <a:solidFill>
                  <a:srgbClr val="000000"/>
                </a:solidFill>
                <a:latin typeface="Times New Roman" panose="02020603050405020304" pitchFamily="18" charset="0"/>
              </a:rPr>
              <a:t>=</a:t>
            </a:r>
            <a:r>
              <a:rPr lang="en-US" altLang="en-US" sz="1500" b="1" i="1" baseline="30000" dirty="0">
                <a:solidFill>
                  <a:srgbClr val="000000"/>
                </a:solidFill>
                <a:latin typeface="Times New Roman" panose="02020603050405020304" pitchFamily="18" charset="0"/>
              </a:rPr>
              <a:t> </a:t>
            </a:r>
            <a:r>
              <a:rPr lang="en-US" altLang="en-US" sz="1500" b="1" i="1" dirty="0">
                <a:solidFill>
                  <a:srgbClr val="000000"/>
                </a:solidFill>
                <a:latin typeface="Times New Roman" panose="02020603050405020304" pitchFamily="18" charset="0"/>
              </a:rPr>
              <a:t>x</a:t>
            </a:r>
            <a:r>
              <a:rPr lang="en-US" altLang="en-US" sz="1500" b="1" i="1" baseline="30000" dirty="0">
                <a:solidFill>
                  <a:srgbClr val="000000"/>
                </a:solidFill>
                <a:latin typeface="Times New Roman" panose="02020603050405020304" pitchFamily="18" charset="0"/>
              </a:rPr>
              <a:t>(1)</a:t>
            </a:r>
            <a:endParaRPr lang="en-US" altLang="zh-CN" sz="1500" b="1" i="1" baseline="30000" dirty="0">
              <a:solidFill>
                <a:srgbClr val="000000"/>
              </a:solidFill>
              <a:latin typeface="Times New Roman" panose="02020603050405020304" pitchFamily="18" charset="0"/>
            </a:endParaRPr>
          </a:p>
        </p:txBody>
      </p:sp>
      <p:sp>
        <p:nvSpPr>
          <p:cNvPr id="5131" name="AutoShape 12">
            <a:extLst>
              <a:ext uri="{FF2B5EF4-FFF2-40B4-BE49-F238E27FC236}">
                <a16:creationId xmlns:a16="http://schemas.microsoft.com/office/drawing/2014/main" id="{EE50CEBB-390D-43A6-A23C-2281572DCB8A}"/>
              </a:ext>
            </a:extLst>
          </p:cNvPr>
          <p:cNvSpPr>
            <a:spLocks noChangeArrowheads="1"/>
          </p:cNvSpPr>
          <p:nvPr/>
        </p:nvSpPr>
        <p:spPr bwMode="auto">
          <a:xfrm>
            <a:off x="3467100" y="3461148"/>
            <a:ext cx="1348979" cy="301228"/>
          </a:xfrm>
          <a:prstGeom prst="flowChartProcess">
            <a:avLst/>
          </a:prstGeom>
          <a:solidFill>
            <a:srgbClr val="CCFFCC"/>
          </a:solidFill>
          <a:ln w="28575" cap="sq">
            <a:solidFill>
              <a:srgbClr val="00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a:buFontTx/>
              <a:buNone/>
              <a:defRPr/>
            </a:pPr>
            <a:r>
              <a:rPr lang="zh-CN" altLang="zh-CN" sz="1500" b="1" i="1" dirty="0">
                <a:solidFill>
                  <a:srgbClr val="000000"/>
                </a:solidFill>
                <a:latin typeface="Times New Roman" panose="02020603050405020304" pitchFamily="18" charset="0"/>
              </a:rPr>
              <a:t>计算：</a:t>
            </a:r>
            <a:r>
              <a:rPr lang="en-US" altLang="en-US" sz="1500" b="1" i="1" dirty="0">
                <a:solidFill>
                  <a:srgbClr val="000000"/>
                </a:solidFill>
                <a:latin typeface="Times New Roman" panose="02020603050405020304" pitchFamily="18" charset="0"/>
              </a:rPr>
              <a:t>d</a:t>
            </a:r>
            <a:r>
              <a:rPr lang="en-US" altLang="zh-CN" sz="1500" b="1" i="1" baseline="30000" dirty="0">
                <a:solidFill>
                  <a:srgbClr val="000000"/>
                </a:solidFill>
                <a:latin typeface="Times New Roman" panose="02020603050405020304" pitchFamily="18" charset="0"/>
              </a:rPr>
              <a:t>(k)</a:t>
            </a:r>
          </a:p>
        </p:txBody>
      </p:sp>
      <p:sp>
        <p:nvSpPr>
          <p:cNvPr id="8202" name="AutoShape 13">
            <a:extLst>
              <a:ext uri="{FF2B5EF4-FFF2-40B4-BE49-F238E27FC236}">
                <a16:creationId xmlns:a16="http://schemas.microsoft.com/office/drawing/2014/main" id="{80F412C1-8FB8-430D-962E-394986581EC9}"/>
              </a:ext>
            </a:extLst>
          </p:cNvPr>
          <p:cNvSpPr>
            <a:spLocks noChangeArrowheads="1"/>
          </p:cNvSpPr>
          <p:nvPr/>
        </p:nvSpPr>
        <p:spPr bwMode="auto">
          <a:xfrm>
            <a:off x="5354242" y="3473055"/>
            <a:ext cx="1348978" cy="301228"/>
          </a:xfrm>
          <a:prstGeom prst="flowChartProcess">
            <a:avLst/>
          </a:prstGeom>
          <a:solidFill>
            <a:srgbClr val="CCFFCC"/>
          </a:solidFill>
          <a:ln w="28575" cap="sq">
            <a:solidFill>
              <a:srgbClr val="00FF00"/>
            </a:solidFill>
            <a:miter lim="800000"/>
            <a:headEnd/>
            <a:tailEnd/>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en-US" altLang="zh-CN" sz="1500" b="1" i="1">
                <a:solidFill>
                  <a:srgbClr val="000000"/>
                </a:solidFill>
                <a:latin typeface="Times New Roman" panose="02020603050405020304" pitchFamily="18" charset="0"/>
              </a:rPr>
              <a:t>k=k+1</a:t>
            </a:r>
            <a:endParaRPr lang="en-US" altLang="zh-CN" sz="1500" b="1" i="1" baseline="30000">
              <a:solidFill>
                <a:srgbClr val="000000"/>
              </a:solidFill>
              <a:latin typeface="Times New Roman" panose="02020603050405020304" pitchFamily="18" charset="0"/>
            </a:endParaRPr>
          </a:p>
        </p:txBody>
      </p:sp>
      <p:sp>
        <p:nvSpPr>
          <p:cNvPr id="5133" name="AutoShape 14">
            <a:extLst>
              <a:ext uri="{FF2B5EF4-FFF2-40B4-BE49-F238E27FC236}">
                <a16:creationId xmlns:a16="http://schemas.microsoft.com/office/drawing/2014/main" id="{2D4F1612-A8A7-419C-9570-261ACA84A43C}"/>
              </a:ext>
            </a:extLst>
          </p:cNvPr>
          <p:cNvSpPr>
            <a:spLocks noChangeArrowheads="1"/>
          </p:cNvSpPr>
          <p:nvPr/>
        </p:nvSpPr>
        <p:spPr bwMode="auto">
          <a:xfrm>
            <a:off x="5262562" y="3954066"/>
            <a:ext cx="2052638" cy="1132284"/>
          </a:xfrm>
          <a:prstGeom prst="flowChartProcess">
            <a:avLst/>
          </a:prstGeom>
          <a:solidFill>
            <a:srgbClr val="CCFFCC"/>
          </a:solidFill>
          <a:ln w="28575" cap="sq">
            <a:solidFill>
              <a:srgbClr val="00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a:buFontTx/>
              <a:buNone/>
              <a:defRPr/>
            </a:pPr>
            <a:r>
              <a:rPr lang="zh-CN" altLang="en-US" sz="1500" b="1" dirty="0">
                <a:solidFill>
                  <a:srgbClr val="000000"/>
                </a:solidFill>
                <a:latin typeface="Times New Roman" panose="02020603050405020304" pitchFamily="18" charset="0"/>
              </a:rPr>
              <a:t>沿</a:t>
            </a:r>
            <a:r>
              <a:rPr lang="en-US" altLang="en-US" sz="1500" b="1" i="1" dirty="0">
                <a:solidFill>
                  <a:srgbClr val="000000"/>
                </a:solidFill>
                <a:latin typeface="Times New Roman" panose="02020603050405020304" pitchFamily="18" charset="0"/>
              </a:rPr>
              <a:t>d</a:t>
            </a:r>
            <a:r>
              <a:rPr lang="en-US" altLang="zh-CN" sz="1500" b="1" i="1" baseline="30000" dirty="0">
                <a:solidFill>
                  <a:srgbClr val="000000"/>
                </a:solidFill>
                <a:latin typeface="Times New Roman" panose="02020603050405020304" pitchFamily="18" charset="0"/>
              </a:rPr>
              <a:t>(k)</a:t>
            </a:r>
            <a:r>
              <a:rPr lang="zh-CN" altLang="en-US" sz="1500" b="1" dirty="0">
                <a:solidFill>
                  <a:srgbClr val="000000"/>
                </a:solidFill>
                <a:latin typeface="Times New Roman" panose="02020603050405020304" pitchFamily="18" charset="0"/>
              </a:rPr>
              <a:t>方向</a:t>
            </a:r>
            <a:r>
              <a:rPr lang="zh-CN" altLang="en-US" sz="1500" b="1" dirty="0">
                <a:solidFill>
                  <a:srgbClr val="FF0000"/>
                </a:solidFill>
                <a:latin typeface="Times New Roman" panose="02020603050405020304" pitchFamily="18" charset="0"/>
              </a:rPr>
              <a:t>步长</a:t>
            </a:r>
            <a:r>
              <a:rPr lang="zh-CN" altLang="en-US" sz="1500" b="1" dirty="0">
                <a:solidFill>
                  <a:srgbClr val="FF0000"/>
                </a:solidFill>
                <a:latin typeface="Times New Roman" panose="02020603050405020304" pitchFamily="18" charset="0"/>
                <a:sym typeface="Symbol" panose="05050102010706020507" pitchFamily="18" charset="2"/>
              </a:rPr>
              <a:t>取为</a:t>
            </a:r>
            <a:r>
              <a:rPr lang="en-US" altLang="zh-CN" sz="1500" b="1" dirty="0">
                <a:solidFill>
                  <a:srgbClr val="FF0000"/>
                </a:solidFill>
                <a:latin typeface="Times New Roman" panose="02020603050405020304" pitchFamily="18" charset="0"/>
                <a:sym typeface="Symbol" panose="05050102010706020507" pitchFamily="18" charset="2"/>
              </a:rPr>
              <a:t>1</a:t>
            </a:r>
            <a:endParaRPr lang="zh-CN" altLang="en-US" sz="1500" b="1" dirty="0">
              <a:solidFill>
                <a:srgbClr val="FF0000"/>
              </a:solidFill>
              <a:latin typeface="Times New Roman" panose="02020603050405020304" pitchFamily="18" charset="0"/>
            </a:endParaRPr>
          </a:p>
          <a:p>
            <a:pPr algn="ctr">
              <a:buFontTx/>
              <a:buNone/>
              <a:defRPr/>
            </a:pPr>
            <a:r>
              <a:rPr lang="en-US" altLang="en-US" sz="1500" b="1" i="1" dirty="0">
                <a:solidFill>
                  <a:srgbClr val="000000"/>
                </a:solidFill>
                <a:latin typeface="Times New Roman" panose="02020603050405020304" pitchFamily="18" charset="0"/>
              </a:rPr>
              <a:t>x</a:t>
            </a:r>
            <a:r>
              <a:rPr lang="en-US" altLang="en-US" sz="1500" b="1" i="1" baseline="30000" dirty="0">
                <a:solidFill>
                  <a:srgbClr val="000000"/>
                </a:solidFill>
                <a:latin typeface="Times New Roman" panose="02020603050405020304" pitchFamily="18" charset="0"/>
              </a:rPr>
              <a:t>(k+1)</a:t>
            </a:r>
            <a:r>
              <a:rPr lang="en-US" altLang="en-US" sz="1500" b="1" i="1" dirty="0">
                <a:solidFill>
                  <a:srgbClr val="000000"/>
                </a:solidFill>
                <a:latin typeface="Times New Roman" panose="02020603050405020304" pitchFamily="18" charset="0"/>
              </a:rPr>
              <a:t>=</a:t>
            </a:r>
            <a:r>
              <a:rPr lang="en-US" altLang="en-US" sz="1500" b="1" i="1" baseline="30000" dirty="0">
                <a:solidFill>
                  <a:srgbClr val="000000"/>
                </a:solidFill>
                <a:latin typeface="Times New Roman" panose="02020603050405020304" pitchFamily="18" charset="0"/>
              </a:rPr>
              <a:t> </a:t>
            </a:r>
            <a:r>
              <a:rPr lang="en-US" altLang="en-US" sz="1500" b="1" i="1" dirty="0">
                <a:solidFill>
                  <a:srgbClr val="000000"/>
                </a:solidFill>
                <a:latin typeface="Times New Roman" panose="02020603050405020304" pitchFamily="18" charset="0"/>
              </a:rPr>
              <a:t>x</a:t>
            </a:r>
            <a:r>
              <a:rPr lang="en-US" altLang="en-US" sz="1500" b="1" i="1" baseline="30000" dirty="0">
                <a:solidFill>
                  <a:srgbClr val="000000"/>
                </a:solidFill>
                <a:latin typeface="Times New Roman" panose="02020603050405020304" pitchFamily="18" charset="0"/>
              </a:rPr>
              <a:t>(k)</a:t>
            </a:r>
            <a:r>
              <a:rPr lang="en-US" altLang="zh-CN" sz="1500" b="1" i="1" baseline="30000" dirty="0">
                <a:solidFill>
                  <a:srgbClr val="000000"/>
                </a:solidFill>
                <a:latin typeface="Times New Roman" panose="02020603050405020304" pitchFamily="18" charset="0"/>
              </a:rPr>
              <a:t>+</a:t>
            </a:r>
            <a:r>
              <a:rPr lang="en-US" altLang="en-US" sz="1500" b="1" i="1" dirty="0">
                <a:solidFill>
                  <a:srgbClr val="000000"/>
                </a:solidFill>
                <a:latin typeface="Times New Roman" panose="02020603050405020304" pitchFamily="18" charset="0"/>
              </a:rPr>
              <a:t> d</a:t>
            </a:r>
            <a:r>
              <a:rPr lang="en-US" altLang="zh-CN" sz="1500" b="1" i="1" baseline="30000" dirty="0">
                <a:solidFill>
                  <a:srgbClr val="000000"/>
                </a:solidFill>
                <a:latin typeface="Times New Roman" panose="02020603050405020304" pitchFamily="18" charset="0"/>
              </a:rPr>
              <a:t>(k)</a:t>
            </a:r>
            <a:endParaRPr lang="en-US" altLang="zh-CN" sz="1500" b="1" i="1" dirty="0">
              <a:solidFill>
                <a:srgbClr val="000000"/>
              </a:solidFill>
              <a:latin typeface="Times New Roman" panose="02020603050405020304" pitchFamily="18" charset="0"/>
            </a:endParaRPr>
          </a:p>
        </p:txBody>
      </p:sp>
      <p:sp>
        <p:nvSpPr>
          <p:cNvPr id="8204" name="Line 15">
            <a:extLst>
              <a:ext uri="{FF2B5EF4-FFF2-40B4-BE49-F238E27FC236}">
                <a16:creationId xmlns:a16="http://schemas.microsoft.com/office/drawing/2014/main" id="{B7126967-716A-4477-AFCC-969297D9823F}"/>
              </a:ext>
            </a:extLst>
          </p:cNvPr>
          <p:cNvSpPr>
            <a:spLocks noChangeShapeType="1"/>
          </p:cNvSpPr>
          <p:nvPr/>
        </p:nvSpPr>
        <p:spPr bwMode="auto">
          <a:xfrm>
            <a:off x="4082654" y="1885951"/>
            <a:ext cx="0" cy="136922"/>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5" name="Line 16">
            <a:extLst>
              <a:ext uri="{FF2B5EF4-FFF2-40B4-BE49-F238E27FC236}">
                <a16:creationId xmlns:a16="http://schemas.microsoft.com/office/drawing/2014/main" id="{75872225-D8E2-4125-917D-2C6664F7E24A}"/>
              </a:ext>
            </a:extLst>
          </p:cNvPr>
          <p:cNvSpPr>
            <a:spLocks noChangeShapeType="1"/>
          </p:cNvSpPr>
          <p:nvPr/>
        </p:nvSpPr>
        <p:spPr bwMode="auto">
          <a:xfrm>
            <a:off x="4070747" y="2308622"/>
            <a:ext cx="0" cy="217884"/>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6" name="Line 17">
            <a:extLst>
              <a:ext uri="{FF2B5EF4-FFF2-40B4-BE49-F238E27FC236}">
                <a16:creationId xmlns:a16="http://schemas.microsoft.com/office/drawing/2014/main" id="{3341167D-6D66-4624-9BA1-3B0CFFBAD9C8}"/>
              </a:ext>
            </a:extLst>
          </p:cNvPr>
          <p:cNvSpPr>
            <a:spLocks noChangeShapeType="1"/>
          </p:cNvSpPr>
          <p:nvPr/>
        </p:nvSpPr>
        <p:spPr bwMode="auto">
          <a:xfrm>
            <a:off x="4094560" y="2812256"/>
            <a:ext cx="0" cy="171450"/>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7" name="Line 18">
            <a:extLst>
              <a:ext uri="{FF2B5EF4-FFF2-40B4-BE49-F238E27FC236}">
                <a16:creationId xmlns:a16="http://schemas.microsoft.com/office/drawing/2014/main" id="{CA3CA178-D1B7-4C2A-BA28-64243795C0E3}"/>
              </a:ext>
            </a:extLst>
          </p:cNvPr>
          <p:cNvSpPr>
            <a:spLocks noChangeShapeType="1"/>
          </p:cNvSpPr>
          <p:nvPr/>
        </p:nvSpPr>
        <p:spPr bwMode="auto">
          <a:xfrm>
            <a:off x="4094560" y="3302794"/>
            <a:ext cx="0" cy="171450"/>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8" name="Line 19">
            <a:extLst>
              <a:ext uri="{FF2B5EF4-FFF2-40B4-BE49-F238E27FC236}">
                <a16:creationId xmlns:a16="http://schemas.microsoft.com/office/drawing/2014/main" id="{9C23A6BF-72A7-4CF8-84AA-9E2E2177434C}"/>
              </a:ext>
            </a:extLst>
          </p:cNvPr>
          <p:cNvSpPr>
            <a:spLocks noChangeShapeType="1"/>
          </p:cNvSpPr>
          <p:nvPr/>
        </p:nvSpPr>
        <p:spPr bwMode="auto">
          <a:xfrm>
            <a:off x="4185047" y="3759995"/>
            <a:ext cx="0" cy="275035"/>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9" name="Line 20">
            <a:extLst>
              <a:ext uri="{FF2B5EF4-FFF2-40B4-BE49-F238E27FC236}">
                <a16:creationId xmlns:a16="http://schemas.microsoft.com/office/drawing/2014/main" id="{7EB04AA1-7302-4F0D-BABC-622BC50C3F86}"/>
              </a:ext>
            </a:extLst>
          </p:cNvPr>
          <p:cNvSpPr>
            <a:spLocks noChangeShapeType="1"/>
          </p:cNvSpPr>
          <p:nvPr/>
        </p:nvSpPr>
        <p:spPr bwMode="auto">
          <a:xfrm>
            <a:off x="4162425" y="4492228"/>
            <a:ext cx="0" cy="251222"/>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10" name="Line 21">
            <a:extLst>
              <a:ext uri="{FF2B5EF4-FFF2-40B4-BE49-F238E27FC236}">
                <a16:creationId xmlns:a16="http://schemas.microsoft.com/office/drawing/2014/main" id="{CBC267EB-A1F2-410B-9E16-C1F4860BBB68}"/>
              </a:ext>
            </a:extLst>
          </p:cNvPr>
          <p:cNvSpPr>
            <a:spLocks noChangeShapeType="1"/>
          </p:cNvSpPr>
          <p:nvPr/>
        </p:nvSpPr>
        <p:spPr bwMode="auto">
          <a:xfrm>
            <a:off x="4894660" y="4263629"/>
            <a:ext cx="365522" cy="0"/>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11" name="Line 22">
            <a:extLst>
              <a:ext uri="{FF2B5EF4-FFF2-40B4-BE49-F238E27FC236}">
                <a16:creationId xmlns:a16="http://schemas.microsoft.com/office/drawing/2014/main" id="{E79DFA79-7C64-4C7F-B1CD-2E3B034B4704}"/>
              </a:ext>
            </a:extLst>
          </p:cNvPr>
          <p:cNvSpPr>
            <a:spLocks noChangeShapeType="1"/>
          </p:cNvSpPr>
          <p:nvPr/>
        </p:nvSpPr>
        <p:spPr bwMode="auto">
          <a:xfrm flipV="1">
            <a:off x="6060281" y="3771901"/>
            <a:ext cx="10716" cy="183356"/>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12" name="Line 23">
            <a:extLst>
              <a:ext uri="{FF2B5EF4-FFF2-40B4-BE49-F238E27FC236}">
                <a16:creationId xmlns:a16="http://schemas.microsoft.com/office/drawing/2014/main" id="{74558FF2-F6BC-4272-B2B7-21776FE8853D}"/>
              </a:ext>
            </a:extLst>
          </p:cNvPr>
          <p:cNvSpPr>
            <a:spLocks noChangeShapeType="1"/>
          </p:cNvSpPr>
          <p:nvPr/>
        </p:nvSpPr>
        <p:spPr bwMode="auto">
          <a:xfrm flipH="1">
            <a:off x="4837510" y="3623072"/>
            <a:ext cx="514350" cy="0"/>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13" name="Line 24">
            <a:extLst>
              <a:ext uri="{FF2B5EF4-FFF2-40B4-BE49-F238E27FC236}">
                <a16:creationId xmlns:a16="http://schemas.microsoft.com/office/drawing/2014/main" id="{2EC10E71-46C2-4D27-B5A6-BEE44AE992E5}"/>
              </a:ext>
            </a:extLst>
          </p:cNvPr>
          <p:cNvSpPr>
            <a:spLocks noChangeShapeType="1"/>
          </p:cNvSpPr>
          <p:nvPr/>
        </p:nvSpPr>
        <p:spPr bwMode="auto">
          <a:xfrm>
            <a:off x="4151710" y="5235179"/>
            <a:ext cx="0" cy="285750"/>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14" name="Text Box 25">
            <a:extLst>
              <a:ext uri="{FF2B5EF4-FFF2-40B4-BE49-F238E27FC236}">
                <a16:creationId xmlns:a16="http://schemas.microsoft.com/office/drawing/2014/main" id="{9E2C71F8-5A46-44F9-A064-43C0E330AA93}"/>
              </a:ext>
            </a:extLst>
          </p:cNvPr>
          <p:cNvSpPr txBox="1">
            <a:spLocks noChangeArrowheads="1"/>
          </p:cNvSpPr>
          <p:nvPr/>
        </p:nvSpPr>
        <p:spPr bwMode="auto">
          <a:xfrm>
            <a:off x="4805206" y="3999047"/>
            <a:ext cx="278923"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9056" tIns="34529" rIns="69056" bIns="34529"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spcBef>
                <a:spcPct val="50000"/>
              </a:spcBef>
              <a:buFont typeface="Wingdings" panose="05000000000000000000" pitchFamily="2" charset="2"/>
              <a:buNone/>
            </a:pPr>
            <a:r>
              <a:rPr lang="en-US" altLang="en-US" sz="1500" b="1" dirty="0">
                <a:latin typeface="Times New Roman" panose="02020603050405020304" pitchFamily="18" charset="0"/>
              </a:rPr>
              <a:t>N</a:t>
            </a:r>
            <a:endParaRPr lang="en-US" altLang="zh-CN" sz="1500" dirty="0">
              <a:latin typeface="Times New Roman" panose="02020603050405020304" pitchFamily="18" charset="0"/>
            </a:endParaRPr>
          </a:p>
        </p:txBody>
      </p:sp>
      <p:sp>
        <p:nvSpPr>
          <p:cNvPr id="8215" name="Text Box 26">
            <a:extLst>
              <a:ext uri="{FF2B5EF4-FFF2-40B4-BE49-F238E27FC236}">
                <a16:creationId xmlns:a16="http://schemas.microsoft.com/office/drawing/2014/main" id="{E029496E-3F1E-4E20-A2D5-F2EE6AF27B09}"/>
              </a:ext>
            </a:extLst>
          </p:cNvPr>
          <p:cNvSpPr txBox="1">
            <a:spLocks noChangeArrowheads="1"/>
          </p:cNvSpPr>
          <p:nvPr/>
        </p:nvSpPr>
        <p:spPr bwMode="auto">
          <a:xfrm>
            <a:off x="3862231" y="4444340"/>
            <a:ext cx="278923"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9056" tIns="34529" rIns="69056" bIns="34529"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spcBef>
                <a:spcPct val="50000"/>
              </a:spcBef>
              <a:buFont typeface="Wingdings" panose="05000000000000000000" pitchFamily="2" charset="2"/>
              <a:buNone/>
            </a:pPr>
            <a:r>
              <a:rPr lang="en-US" altLang="en-US" sz="1500" b="1" dirty="0">
                <a:latin typeface="Times New Roman" panose="02020603050405020304" pitchFamily="18" charset="0"/>
              </a:rPr>
              <a:t>Y</a:t>
            </a:r>
            <a:endParaRPr lang="en-US" altLang="zh-CN" sz="1500"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4E6CC840-2514-4FF4-91DE-4648F72FA266}"/>
                  </a:ext>
                </a:extLst>
              </p:cNvPr>
              <p:cNvSpPr txBox="1"/>
              <p:nvPr/>
            </p:nvSpPr>
            <p:spPr>
              <a:xfrm>
                <a:off x="4935142" y="2717442"/>
                <a:ext cx="2052635" cy="2406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500" i="1" kern="100">
                          <a:solidFill>
                            <a:srgbClr val="FF0000"/>
                          </a:solidFill>
                          <a:latin typeface="Cambria Math" panose="02040503050406030204" pitchFamily="18" charset="0"/>
                        </a:rPr>
                        <m:t>−[</m:t>
                      </m:r>
                      <m:sSup>
                        <m:sSupPr>
                          <m:ctrlPr>
                            <a:rPr lang="zh-CN" altLang="zh-CN" sz="1500" i="1" kern="100">
                              <a:solidFill>
                                <a:srgbClr val="FF0000"/>
                              </a:solidFill>
                              <a:latin typeface="Cambria Math" panose="02040503050406030204" pitchFamily="18" charset="0"/>
                              <a:ea typeface="Cambria Math" panose="02040503050406030204" pitchFamily="18" charset="0"/>
                            </a:rPr>
                          </m:ctrlPr>
                        </m:sSupPr>
                        <m:e>
                          <m:r>
                            <a:rPr lang="en-US" altLang="zh-CN" sz="1500" i="1" kern="100">
                              <a:solidFill>
                                <a:srgbClr val="FF0000"/>
                              </a:solidFill>
                              <a:latin typeface="Cambria Math" panose="02040503050406030204" pitchFamily="18" charset="0"/>
                              <a:cs typeface="Cambria Math" panose="02040503050406030204" pitchFamily="18" charset="0"/>
                            </a:rPr>
                            <m:t>𝛻</m:t>
                          </m:r>
                        </m:e>
                        <m:sup>
                          <m:r>
                            <a:rPr lang="en-US" altLang="zh-CN" sz="1500" i="1" kern="100">
                              <a:solidFill>
                                <a:srgbClr val="FF0000"/>
                              </a:solidFill>
                              <a:latin typeface="Cambria Math" panose="02040503050406030204" pitchFamily="18" charset="0"/>
                            </a:rPr>
                            <m:t>2</m:t>
                          </m:r>
                        </m:sup>
                      </m:sSup>
                      <m:r>
                        <a:rPr lang="en-US" altLang="zh-CN" sz="1500" i="1" kern="100">
                          <a:solidFill>
                            <a:srgbClr val="FF0000"/>
                          </a:solidFill>
                          <a:latin typeface="Cambria Math" panose="02040503050406030204" pitchFamily="18" charset="0"/>
                        </a:rPr>
                        <m:t>𝑓</m:t>
                      </m:r>
                      <m:r>
                        <a:rPr lang="en-US" altLang="zh-CN" sz="1500" i="1" kern="100">
                          <a:solidFill>
                            <a:srgbClr val="FF0000"/>
                          </a:solidFill>
                          <a:latin typeface="Cambria Math" panose="02040503050406030204" pitchFamily="18" charset="0"/>
                        </a:rPr>
                        <m:t>(</m:t>
                      </m:r>
                      <m:sSup>
                        <m:sSupPr>
                          <m:ctrlPr>
                            <a:rPr lang="zh-CN" altLang="zh-CN" sz="1500" i="1" kern="100">
                              <a:solidFill>
                                <a:srgbClr val="FF0000"/>
                              </a:solidFill>
                              <a:latin typeface="Cambria Math" panose="02040503050406030204" pitchFamily="18" charset="0"/>
                              <a:ea typeface="Cambria Math" panose="02040503050406030204" pitchFamily="18" charset="0"/>
                            </a:rPr>
                          </m:ctrlPr>
                        </m:sSupPr>
                        <m:e>
                          <m:r>
                            <a:rPr lang="en-US" altLang="zh-CN" sz="1500" i="1" kern="100">
                              <a:solidFill>
                                <a:srgbClr val="FF0000"/>
                              </a:solidFill>
                              <a:latin typeface="Cambria Math" panose="02040503050406030204" pitchFamily="18" charset="0"/>
                            </a:rPr>
                            <m:t>𝑥</m:t>
                          </m:r>
                        </m:e>
                        <m:sup>
                          <m:r>
                            <a:rPr lang="en-US" altLang="zh-CN" sz="1500" i="1" kern="100">
                              <a:solidFill>
                                <a:srgbClr val="FF0000"/>
                              </a:solidFill>
                              <a:latin typeface="Cambria Math" panose="02040503050406030204" pitchFamily="18" charset="0"/>
                            </a:rPr>
                            <m:t>(</m:t>
                          </m:r>
                          <m:r>
                            <a:rPr lang="en-US" altLang="zh-CN" sz="1500" i="1" kern="100">
                              <a:solidFill>
                                <a:srgbClr val="FF0000"/>
                              </a:solidFill>
                              <a:latin typeface="Cambria Math" panose="02040503050406030204" pitchFamily="18" charset="0"/>
                            </a:rPr>
                            <m:t>𝑘</m:t>
                          </m:r>
                          <m:r>
                            <a:rPr lang="en-US" altLang="zh-CN" sz="1500" i="1" kern="100">
                              <a:solidFill>
                                <a:srgbClr val="FF0000"/>
                              </a:solidFill>
                              <a:latin typeface="Cambria Math" panose="02040503050406030204" pitchFamily="18" charset="0"/>
                            </a:rPr>
                            <m:t>)</m:t>
                          </m:r>
                        </m:sup>
                      </m:sSup>
                      <m:r>
                        <a:rPr lang="en-US" altLang="zh-CN" sz="1500" i="1" kern="100">
                          <a:solidFill>
                            <a:srgbClr val="FF0000"/>
                          </a:solidFill>
                          <a:latin typeface="Cambria Math" panose="02040503050406030204" pitchFamily="18" charset="0"/>
                        </a:rPr>
                        <m:t>)</m:t>
                      </m:r>
                      <m:sSup>
                        <m:sSupPr>
                          <m:ctrlPr>
                            <a:rPr lang="zh-CN" altLang="zh-CN" sz="1500" i="1" kern="100">
                              <a:solidFill>
                                <a:srgbClr val="FF0000"/>
                              </a:solidFill>
                              <a:latin typeface="Cambria Math" panose="02040503050406030204" pitchFamily="18" charset="0"/>
                              <a:ea typeface="Cambria Math" panose="02040503050406030204" pitchFamily="18" charset="0"/>
                            </a:rPr>
                          </m:ctrlPr>
                        </m:sSupPr>
                        <m:e>
                          <m:r>
                            <a:rPr lang="en-US" altLang="zh-CN" sz="1500" i="1" kern="100">
                              <a:solidFill>
                                <a:srgbClr val="FF0000"/>
                              </a:solidFill>
                              <a:latin typeface="Cambria Math" panose="02040503050406030204" pitchFamily="18" charset="0"/>
                            </a:rPr>
                            <m:t>]</m:t>
                          </m:r>
                        </m:e>
                        <m:sup>
                          <m:r>
                            <a:rPr lang="en-US" altLang="zh-CN" sz="1500" i="1" kern="100">
                              <a:solidFill>
                                <a:srgbClr val="FF0000"/>
                              </a:solidFill>
                              <a:latin typeface="Cambria Math" panose="02040503050406030204" pitchFamily="18" charset="0"/>
                            </a:rPr>
                            <m:t>−1</m:t>
                          </m:r>
                        </m:sup>
                      </m:sSup>
                      <m:r>
                        <a:rPr lang="en-US" altLang="zh-CN" sz="1500" i="1" kern="100">
                          <a:solidFill>
                            <a:srgbClr val="FF0000"/>
                          </a:solidFill>
                          <a:latin typeface="Cambria Math" panose="02040503050406030204" pitchFamily="18" charset="0"/>
                          <a:cs typeface="Cambria Math" panose="02040503050406030204" pitchFamily="18" charset="0"/>
                        </a:rPr>
                        <m:t>𝛻</m:t>
                      </m:r>
                      <m:r>
                        <a:rPr lang="en-US" altLang="zh-CN" sz="1500" i="1" kern="100">
                          <a:solidFill>
                            <a:srgbClr val="FF0000"/>
                          </a:solidFill>
                          <a:latin typeface="Cambria Math" panose="02040503050406030204" pitchFamily="18" charset="0"/>
                        </a:rPr>
                        <m:t>𝑓</m:t>
                      </m:r>
                      <m:r>
                        <a:rPr lang="en-US" altLang="zh-CN" sz="1500" i="1" kern="100">
                          <a:solidFill>
                            <a:srgbClr val="FF0000"/>
                          </a:solidFill>
                          <a:latin typeface="Cambria Math" panose="02040503050406030204" pitchFamily="18" charset="0"/>
                        </a:rPr>
                        <m:t>(</m:t>
                      </m:r>
                      <m:sSup>
                        <m:sSupPr>
                          <m:ctrlPr>
                            <a:rPr lang="zh-CN" altLang="zh-CN" sz="1500" i="1" kern="100">
                              <a:solidFill>
                                <a:srgbClr val="FF0000"/>
                              </a:solidFill>
                              <a:latin typeface="Cambria Math" panose="02040503050406030204" pitchFamily="18" charset="0"/>
                              <a:ea typeface="Cambria Math" panose="02040503050406030204" pitchFamily="18" charset="0"/>
                            </a:rPr>
                          </m:ctrlPr>
                        </m:sSupPr>
                        <m:e>
                          <m:r>
                            <a:rPr lang="en-US" altLang="zh-CN" sz="1500" i="1" kern="100">
                              <a:solidFill>
                                <a:srgbClr val="FF0000"/>
                              </a:solidFill>
                              <a:latin typeface="Cambria Math" panose="02040503050406030204" pitchFamily="18" charset="0"/>
                            </a:rPr>
                            <m:t>𝑥</m:t>
                          </m:r>
                        </m:e>
                        <m:sup>
                          <m:r>
                            <a:rPr lang="en-US" altLang="zh-CN" sz="1500" i="1" kern="100">
                              <a:solidFill>
                                <a:srgbClr val="FF0000"/>
                              </a:solidFill>
                              <a:latin typeface="Cambria Math" panose="02040503050406030204" pitchFamily="18" charset="0"/>
                            </a:rPr>
                            <m:t>(</m:t>
                          </m:r>
                          <m:r>
                            <a:rPr lang="en-US" altLang="zh-CN" sz="1500" i="1" kern="100">
                              <a:solidFill>
                                <a:srgbClr val="FF0000"/>
                              </a:solidFill>
                              <a:latin typeface="Cambria Math" panose="02040503050406030204" pitchFamily="18" charset="0"/>
                            </a:rPr>
                            <m:t>𝑘</m:t>
                          </m:r>
                          <m:r>
                            <a:rPr lang="en-US" altLang="zh-CN" sz="1500" i="1" kern="100">
                              <a:solidFill>
                                <a:srgbClr val="FF0000"/>
                              </a:solidFill>
                              <a:latin typeface="Cambria Math" panose="02040503050406030204" pitchFamily="18" charset="0"/>
                            </a:rPr>
                            <m:t>)</m:t>
                          </m:r>
                        </m:sup>
                      </m:sSup>
                      <m:r>
                        <a:rPr lang="en-US" altLang="zh-CN" sz="1500" i="1" kern="100">
                          <a:solidFill>
                            <a:srgbClr val="FF0000"/>
                          </a:solidFill>
                          <a:latin typeface="Cambria Math" panose="02040503050406030204" pitchFamily="18" charset="0"/>
                        </a:rPr>
                        <m:t>)</m:t>
                      </m:r>
                    </m:oMath>
                  </m:oMathPara>
                </a14:m>
                <a:endParaRPr lang="zh-CN" altLang="en-US" sz="1500" dirty="0">
                  <a:solidFill>
                    <a:srgbClr val="FF0000"/>
                  </a:solidFill>
                </a:endParaRPr>
              </a:p>
            </p:txBody>
          </p:sp>
        </mc:Choice>
        <mc:Fallback xmlns="">
          <p:sp>
            <p:nvSpPr>
              <p:cNvPr id="25" name="文本框 24">
                <a:extLst>
                  <a:ext uri="{FF2B5EF4-FFF2-40B4-BE49-F238E27FC236}">
                    <a16:creationId xmlns:a16="http://schemas.microsoft.com/office/drawing/2014/main" id="{4E6CC840-2514-4FF4-91DE-4648F72FA266}"/>
                  </a:ext>
                </a:extLst>
              </p:cNvPr>
              <p:cNvSpPr txBox="1">
                <a:spLocks noRot="1" noChangeAspect="1" noMove="1" noResize="1" noEditPoints="1" noAdjustHandles="1" noChangeArrowheads="1" noChangeShapeType="1" noTextEdit="1"/>
              </p:cNvSpPr>
              <p:nvPr/>
            </p:nvSpPr>
            <p:spPr>
              <a:xfrm>
                <a:off x="4935142" y="2717442"/>
                <a:ext cx="2052635" cy="240643"/>
              </a:xfrm>
              <a:prstGeom prst="rect">
                <a:avLst/>
              </a:prstGeom>
              <a:blipFill>
                <a:blip r:embed="rId3"/>
                <a:stretch>
                  <a:fillRect t="-2564" r="-3274" b="-38462"/>
                </a:stretch>
              </a:blipFill>
            </p:spPr>
            <p:txBody>
              <a:bodyPr/>
              <a:lstStyle/>
              <a:p>
                <a:r>
                  <a:rPr lang="zh-CN" altLang="en-US">
                    <a:noFill/>
                  </a:rPr>
                  <a:t> </a:t>
                </a:r>
              </a:p>
            </p:txBody>
          </p:sp>
        </mc:Fallback>
      </mc:AlternateContent>
      <p:cxnSp>
        <p:nvCxnSpPr>
          <p:cNvPr id="26" name="直接箭头连接符 25">
            <a:extLst>
              <a:ext uri="{FF2B5EF4-FFF2-40B4-BE49-F238E27FC236}">
                <a16:creationId xmlns:a16="http://schemas.microsoft.com/office/drawing/2014/main" id="{CA02E78A-6664-4B26-9E2D-B66ED8893D47}"/>
              </a:ext>
            </a:extLst>
          </p:cNvPr>
          <p:cNvCxnSpPr>
            <a:cxnSpLocks/>
          </p:cNvCxnSpPr>
          <p:nvPr/>
        </p:nvCxnSpPr>
        <p:spPr>
          <a:xfrm flipH="1">
            <a:off x="4739656" y="3040085"/>
            <a:ext cx="405585" cy="421062"/>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Tree>
  </p:cSld>
  <p:clrMapOvr>
    <a:masterClrMapping/>
  </p:clrMapOvr>
  <p:transition>
    <p:split orient="vert" dir="in"/>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C8E0039-AF17-6704-7944-C19B40E0E7B3}"/>
              </a:ext>
            </a:extLst>
          </p:cNvPr>
          <p:cNvSpPr/>
          <p:nvPr/>
        </p:nvSpPr>
        <p:spPr>
          <a:xfrm>
            <a:off x="1925706" y="1736869"/>
            <a:ext cx="378042" cy="179963"/>
          </a:xfrm>
          <a:prstGeom prst="rect">
            <a:avLst/>
          </a:prstGeom>
          <a:ln>
            <a:solidFill>
              <a:schemeClr val="bg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827ECBC7-7639-5CDB-68D8-646D4769C9CD}"/>
              </a:ext>
            </a:extLst>
          </p:cNvPr>
          <p:cNvSpPr/>
          <p:nvPr/>
        </p:nvSpPr>
        <p:spPr>
          <a:xfrm>
            <a:off x="7164288" y="4077073"/>
            <a:ext cx="756084" cy="162018"/>
          </a:xfrm>
          <a:prstGeom prst="rect">
            <a:avLst/>
          </a:prstGeom>
          <a:ln>
            <a:solidFill>
              <a:schemeClr val="bg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9F68694-E909-F7E1-184E-67D7871017CF}"/>
                  </a:ext>
                </a:extLst>
              </p:cNvPr>
              <p:cNvSpPr txBox="1"/>
              <p:nvPr/>
            </p:nvSpPr>
            <p:spPr>
              <a:xfrm>
                <a:off x="179004" y="346757"/>
                <a:ext cx="8964996" cy="5977342"/>
              </a:xfrm>
              <a:prstGeom prst="rect">
                <a:avLst/>
              </a:prstGeom>
              <a:noFill/>
            </p:spPr>
            <p:txBody>
              <a:bodyPr wrap="square" rtlCol="0">
                <a:spAutoFit/>
              </a:bodyPr>
              <a:lstStyle/>
              <a:p>
                <a:pPr algn="just">
                  <a:lnSpc>
                    <a:spcPct val="150000"/>
                  </a:lnSpc>
                </a:pPr>
                <a:r>
                  <a:rPr lang="zh-CN" altLang="en-US" sz="2000" b="1" dirty="0"/>
                  <a:t>      定理   </a:t>
                </a:r>
                <a:r>
                  <a:rPr lang="zh-CN" altLang="zh-CN" sz="2000" dirty="0"/>
                  <a:t>设</a:t>
                </a:r>
                <a14:m>
                  <m:oMath xmlns:m="http://schemas.openxmlformats.org/officeDocument/2006/math">
                    <m:r>
                      <a:rPr lang="en-US" altLang="zh-CN" sz="2000" i="1">
                        <a:latin typeface="Cambria Math" panose="02040503050406030204" pitchFamily="18" charset="0"/>
                      </a:rPr>
                      <m:t>𝑓</m:t>
                    </m:r>
                    <m:r>
                      <a:rPr lang="en-US" altLang="zh-CN" sz="2000" i="1">
                        <a:latin typeface="Cambria Math" panose="02040503050406030204" pitchFamily="18" charset="0"/>
                      </a:rPr>
                      <m:t>(</m:t>
                    </m:r>
                    <m:r>
                      <a:rPr lang="en-US" altLang="zh-CN" sz="2000" i="1">
                        <a:latin typeface="Cambria Math" panose="02040503050406030204" pitchFamily="18" charset="0"/>
                      </a:rPr>
                      <m:t>𝑥</m:t>
                    </m:r>
                    <m:r>
                      <a:rPr lang="en-US" altLang="zh-CN" sz="2000" i="1">
                        <a:latin typeface="Cambria Math" panose="02040503050406030204" pitchFamily="18" charset="0"/>
                      </a:rPr>
                      <m:t>)</m:t>
                    </m:r>
                    <m:r>
                      <a:rPr lang="zh-CN" altLang="zh-CN" sz="2000">
                        <a:latin typeface="Cambria Math" panose="02040503050406030204" pitchFamily="18" charset="0"/>
                      </a:rPr>
                      <m:t>为</m:t>
                    </m:r>
                  </m:oMath>
                </a14:m>
                <a:r>
                  <a:rPr lang="zh-CN" altLang="zh-CN" sz="2000" dirty="0"/>
                  <a:t>二次连续可微函数，</a:t>
                </a:r>
                <a14:m>
                  <m:oMath xmlns:m="http://schemas.openxmlformats.org/officeDocument/2006/math">
                    <m:r>
                      <a:rPr lang="en-US" altLang="zh-CN" sz="2000" i="1">
                        <a:latin typeface="Cambria Math" panose="02040503050406030204" pitchFamily="18" charset="0"/>
                      </a:rPr>
                      <m:t>𝑥</m:t>
                    </m:r>
                    <m:r>
                      <a:rPr lang="en-US" altLang="zh-CN" sz="2000" i="1">
                        <a:latin typeface="Cambria Math" panose="02040503050406030204" pitchFamily="18" charset="0"/>
                      </a:rPr>
                      <m:t>∈</m:t>
                    </m:r>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𝑅</m:t>
                        </m:r>
                      </m:e>
                      <m:sup>
                        <m:r>
                          <a:rPr lang="en-US" altLang="zh-CN" sz="2000" i="1">
                            <a:latin typeface="Cambria Math" panose="02040503050406030204" pitchFamily="18" charset="0"/>
                          </a:rPr>
                          <m:t>𝑛</m:t>
                        </m:r>
                      </m:sup>
                    </m:sSup>
                  </m:oMath>
                </a14:m>
                <a:r>
                  <a:rPr lang="zh-CN" altLang="zh-CN" sz="2000" dirty="0"/>
                  <a:t>，</a:t>
                </a:r>
                <a14:m>
                  <m:oMath xmlns:m="http://schemas.openxmlformats.org/officeDocument/2006/math">
                    <m:acc>
                      <m:accPr>
                        <m:chr m:val="̅"/>
                        <m:ctrlPr>
                          <a:rPr lang="zh-CN" altLang="zh-CN" sz="2000" i="1">
                            <a:latin typeface="Cambria Math" panose="02040503050406030204" pitchFamily="18" charset="0"/>
                          </a:rPr>
                        </m:ctrlPr>
                      </m:accPr>
                      <m:e>
                        <m:r>
                          <a:rPr lang="en-US" altLang="zh-CN" sz="2000" i="1">
                            <a:latin typeface="Cambria Math" panose="02040503050406030204" pitchFamily="18" charset="0"/>
                          </a:rPr>
                          <m:t>𝑥</m:t>
                        </m:r>
                      </m:e>
                    </m:acc>
                    <m:r>
                      <a:rPr lang="zh-CN" altLang="zh-CN" sz="2000">
                        <a:latin typeface="Cambria Math" panose="02040503050406030204" pitchFamily="18" charset="0"/>
                      </a:rPr>
                      <m:t>满足</m:t>
                    </m:r>
                    <m:r>
                      <a:rPr lang="en-US" altLang="zh-CN" sz="2000" i="1">
                        <a:latin typeface="Cambria Math" panose="02040503050406030204" pitchFamily="18" charset="0"/>
                      </a:rPr>
                      <m:t>𝛻</m:t>
                    </m:r>
                    <m:r>
                      <a:rPr lang="en-US" altLang="zh-CN" sz="2000" i="1">
                        <a:latin typeface="Cambria Math" panose="02040503050406030204" pitchFamily="18" charset="0"/>
                      </a:rPr>
                      <m:t>𝑓</m:t>
                    </m:r>
                    <m:d>
                      <m:dPr>
                        <m:ctrlPr>
                          <a:rPr lang="zh-CN" altLang="zh-CN" sz="2000" i="1">
                            <a:latin typeface="Cambria Math" panose="02040503050406030204" pitchFamily="18" charset="0"/>
                          </a:rPr>
                        </m:ctrlPr>
                      </m:dPr>
                      <m:e>
                        <m:acc>
                          <m:accPr>
                            <m:chr m:val="̅"/>
                            <m:ctrlPr>
                              <a:rPr lang="zh-CN" altLang="zh-CN" sz="2000" i="1">
                                <a:latin typeface="Cambria Math" panose="02040503050406030204" pitchFamily="18" charset="0"/>
                              </a:rPr>
                            </m:ctrlPr>
                          </m:accPr>
                          <m:e>
                            <m:r>
                              <a:rPr lang="en-US" altLang="zh-CN" sz="2000" i="1">
                                <a:latin typeface="Cambria Math" panose="02040503050406030204" pitchFamily="18" charset="0"/>
                              </a:rPr>
                              <m:t>𝑥</m:t>
                            </m:r>
                          </m:e>
                        </m:acc>
                      </m:e>
                    </m:d>
                    <m:r>
                      <a:rPr lang="en-US" altLang="zh-CN" sz="2000" i="1">
                        <a:latin typeface="Cambria Math" panose="02040503050406030204" pitchFamily="18" charset="0"/>
                      </a:rPr>
                      <m:t>=0</m:t>
                    </m:r>
                    <m:r>
                      <a:rPr lang="zh-CN" altLang="zh-CN" sz="2000">
                        <a:latin typeface="Cambria Math" panose="02040503050406030204" pitchFamily="18" charset="0"/>
                      </a:rPr>
                      <m:t>，</m:t>
                    </m:r>
                  </m:oMath>
                </a14:m>
                <a:r>
                  <a:rPr lang="zh-CN" altLang="zh-CN" sz="2000" dirty="0"/>
                  <a:t>且</a:t>
                </a:r>
                <a14:m>
                  <m:oMath xmlns:m="http://schemas.openxmlformats.org/officeDocument/2006/math">
                    <m:sSup>
                      <m:sSupPr>
                        <m:ctrlPr>
                          <a:rPr lang="zh-CN" altLang="zh-CN" sz="2000" i="1">
                            <a:latin typeface="Cambria Math" panose="02040503050406030204" pitchFamily="18" charset="0"/>
                          </a:rPr>
                        </m:ctrlPr>
                      </m:sSupPr>
                      <m:e>
                        <m:d>
                          <m:dPr>
                            <m:begChr m:val="["/>
                            <m:endChr m:val="]"/>
                            <m:ctrlPr>
                              <a:rPr lang="zh-CN" altLang="zh-CN" sz="2000" i="1">
                                <a:latin typeface="Cambria Math" panose="02040503050406030204" pitchFamily="18" charset="0"/>
                              </a:rPr>
                            </m:ctrlPr>
                          </m:dPr>
                          <m:e>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m:t>
                                </m:r>
                              </m:e>
                              <m:sup>
                                <m:r>
                                  <a:rPr lang="en-US" altLang="zh-CN" sz="2000" i="1">
                                    <a:latin typeface="Cambria Math" panose="02040503050406030204" pitchFamily="18" charset="0"/>
                                  </a:rPr>
                                  <m:t>2</m:t>
                                </m:r>
                              </m:sup>
                            </m:sSup>
                            <m:r>
                              <a:rPr lang="en-US" altLang="zh-CN" sz="2000" i="1">
                                <a:latin typeface="Cambria Math" panose="02040503050406030204" pitchFamily="18" charset="0"/>
                              </a:rPr>
                              <m:t>𝑓</m:t>
                            </m:r>
                            <m:r>
                              <a:rPr lang="en-US" altLang="zh-CN" sz="2000" i="1">
                                <a:latin typeface="Cambria Math" panose="02040503050406030204" pitchFamily="18" charset="0"/>
                              </a:rPr>
                              <m:t>(</m:t>
                            </m:r>
                            <m:acc>
                              <m:accPr>
                                <m:chr m:val="̅"/>
                                <m:ctrlPr>
                                  <a:rPr lang="zh-CN" altLang="zh-CN" sz="2000" i="1">
                                    <a:latin typeface="Cambria Math" panose="02040503050406030204" pitchFamily="18" charset="0"/>
                                  </a:rPr>
                                </m:ctrlPr>
                              </m:accPr>
                              <m:e>
                                <m:r>
                                  <a:rPr lang="en-US" altLang="zh-CN" sz="2000" i="1">
                                    <a:latin typeface="Cambria Math" panose="02040503050406030204" pitchFamily="18" charset="0"/>
                                  </a:rPr>
                                  <m:t>𝑥</m:t>
                                </m:r>
                              </m:e>
                            </m:acc>
                            <m:r>
                              <a:rPr lang="en-US" altLang="zh-CN" sz="2000" i="1">
                                <a:latin typeface="Cambria Math" panose="02040503050406030204" pitchFamily="18" charset="0"/>
                              </a:rPr>
                              <m:t>)</m:t>
                            </m:r>
                          </m:e>
                        </m:d>
                      </m:e>
                      <m:sup>
                        <m:r>
                          <a:rPr lang="en-US" altLang="zh-CN" sz="2000" i="1">
                            <a:latin typeface="Cambria Math" panose="02040503050406030204" pitchFamily="18" charset="0"/>
                          </a:rPr>
                          <m:t>−1</m:t>
                        </m:r>
                      </m:sup>
                    </m:sSup>
                  </m:oMath>
                </a14:m>
                <a:r>
                  <a:rPr lang="zh-CN" altLang="zh-CN" sz="2000" dirty="0"/>
                  <a:t>存在，设</a:t>
                </a:r>
                <a:r>
                  <a:rPr lang="zh-CN" altLang="zh-CN" sz="2000" b="1" dirty="0">
                    <a:solidFill>
                      <a:srgbClr val="FF0000"/>
                    </a:solidFill>
                  </a:rPr>
                  <a:t>初始点</a:t>
                </a:r>
                <a14:m>
                  <m:oMath xmlns:m="http://schemas.openxmlformats.org/officeDocument/2006/math">
                    <m:sSup>
                      <m:sSupPr>
                        <m:ctrlPr>
                          <a:rPr lang="zh-CN" altLang="zh-CN" sz="2000" b="1" i="1">
                            <a:solidFill>
                              <a:srgbClr val="FF0000"/>
                            </a:solidFill>
                            <a:latin typeface="Cambria Math" panose="02040503050406030204" pitchFamily="18" charset="0"/>
                          </a:rPr>
                        </m:ctrlPr>
                      </m:sSupPr>
                      <m:e>
                        <m:r>
                          <a:rPr lang="en-US" altLang="zh-CN" sz="2000" b="1" i="1">
                            <a:solidFill>
                              <a:srgbClr val="FF0000"/>
                            </a:solidFill>
                            <a:latin typeface="Cambria Math" panose="02040503050406030204" pitchFamily="18" charset="0"/>
                          </a:rPr>
                          <m:t>𝒙</m:t>
                        </m:r>
                      </m:e>
                      <m:sup>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𝟏</m:t>
                        </m:r>
                        <m:r>
                          <a:rPr lang="en-US" altLang="zh-CN" sz="2000" b="1" i="1">
                            <a:solidFill>
                              <a:srgbClr val="FF0000"/>
                            </a:solidFill>
                            <a:latin typeface="Cambria Math" panose="02040503050406030204" pitchFamily="18" charset="0"/>
                          </a:rPr>
                          <m:t>)</m:t>
                        </m:r>
                      </m:sup>
                    </m:sSup>
                    <m:r>
                      <a:rPr lang="zh-CN" altLang="zh-CN" sz="2000" b="1">
                        <a:solidFill>
                          <a:srgbClr val="FF0000"/>
                        </a:solidFill>
                        <a:latin typeface="Cambria Math" panose="02040503050406030204" pitchFamily="18" charset="0"/>
                      </a:rPr>
                      <m:t>充分接近</m:t>
                    </m:r>
                    <m:acc>
                      <m:accPr>
                        <m:chr m:val="̅"/>
                        <m:ctrlPr>
                          <a:rPr lang="zh-CN" altLang="zh-CN" sz="2000" b="1" i="1">
                            <a:solidFill>
                              <a:srgbClr val="FF0000"/>
                            </a:solidFill>
                            <a:latin typeface="Cambria Math" panose="02040503050406030204" pitchFamily="18" charset="0"/>
                          </a:rPr>
                        </m:ctrlPr>
                      </m:accPr>
                      <m:e>
                        <m:r>
                          <a:rPr lang="en-US" altLang="zh-CN" sz="2000" b="1" i="1">
                            <a:solidFill>
                              <a:srgbClr val="FF0000"/>
                            </a:solidFill>
                            <a:latin typeface="Cambria Math" panose="02040503050406030204" pitchFamily="18" charset="0"/>
                          </a:rPr>
                          <m:t>𝒙</m:t>
                        </m:r>
                      </m:e>
                    </m:acc>
                  </m:oMath>
                </a14:m>
                <a:r>
                  <a:rPr lang="zh-CN" altLang="zh-CN" sz="2000" dirty="0"/>
                  <a:t>，使得存在</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𝑘</m:t>
                        </m:r>
                      </m:e>
                      <m:sub>
                        <m:r>
                          <a:rPr lang="en-US" altLang="zh-CN" sz="2000" i="1">
                            <a:latin typeface="Cambria Math" panose="02040503050406030204" pitchFamily="18" charset="0"/>
                          </a:rPr>
                          <m:t>1</m:t>
                        </m:r>
                      </m:sub>
                    </m:sSub>
                    <m:r>
                      <a:rPr lang="zh-CN" altLang="zh-CN" sz="2000">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𝑘</m:t>
                        </m:r>
                      </m:e>
                      <m:sub>
                        <m:r>
                          <a:rPr lang="en-US" altLang="zh-CN" sz="2000" i="1">
                            <a:latin typeface="Cambria Math" panose="02040503050406030204" pitchFamily="18" charset="0"/>
                          </a:rPr>
                          <m:t>2</m:t>
                        </m:r>
                      </m:sub>
                    </m:sSub>
                    <m:r>
                      <a:rPr lang="zh-CN" altLang="zh-CN" sz="2000" i="1">
                        <a:latin typeface="Cambria Math" panose="02040503050406030204" pitchFamily="18" charset="0"/>
                      </a:rPr>
                      <m:t>＞</m:t>
                    </m:r>
                  </m:oMath>
                </a14:m>
                <a:r>
                  <a:rPr lang="en-US" altLang="zh-CN" sz="2000" dirty="0"/>
                  <a:t>0</a:t>
                </a:r>
                <a:r>
                  <a:rPr lang="zh-CN" altLang="zh-CN" sz="2000" dirty="0"/>
                  <a:t>，满足</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𝑘</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𝑘</m:t>
                        </m:r>
                      </m:e>
                      <m:sub>
                        <m:r>
                          <a:rPr lang="en-US" altLang="zh-CN" sz="2000" i="1">
                            <a:latin typeface="Cambria Math" panose="02040503050406030204" pitchFamily="18" charset="0"/>
                          </a:rPr>
                          <m:t>2</m:t>
                        </m:r>
                      </m:sub>
                    </m:sSub>
                    <m:r>
                      <a:rPr lang="zh-CN" altLang="zh-CN" sz="2000" i="1">
                        <a:latin typeface="Cambria Math" panose="02040503050406030204" pitchFamily="18" charset="0"/>
                      </a:rPr>
                      <m:t>＜</m:t>
                    </m:r>
                    <m:r>
                      <a:rPr lang="en-US" altLang="zh-CN" sz="2000">
                        <a:latin typeface="Cambria Math" panose="02040503050406030204" pitchFamily="18" charset="0"/>
                      </a:rPr>
                      <m:t>1</m:t>
                    </m:r>
                  </m:oMath>
                </a14:m>
                <a:r>
                  <a:rPr lang="zh-CN" altLang="zh-CN" sz="2000" dirty="0"/>
                  <a:t>，且对每一个</a:t>
                </a:r>
                <a:endParaRPr lang="en-US" altLang="zh-CN" sz="2000" i="1" dirty="0">
                  <a:latin typeface="Cambria Math" panose="02040503050406030204" pitchFamily="18" charset="0"/>
                  <a:ea typeface="Cambria Math" panose="02040503050406030204" pitchFamily="18" charset="0"/>
                </a:endParaRPr>
              </a:p>
              <a:p>
                <a:pPr algn="just">
                  <a:lnSpc>
                    <a:spcPct val="150000"/>
                  </a:lnSpc>
                </a:pPr>
                <a14:m>
                  <m:oMathPara xmlns:m="http://schemas.openxmlformats.org/officeDocument/2006/math">
                    <m:oMathParaPr>
                      <m:jc m:val="centerGroup"/>
                    </m:oMathParaPr>
                    <m:oMath xmlns:m="http://schemas.openxmlformats.org/officeDocument/2006/math">
                      <m:r>
                        <a:rPr lang="en-US" altLang="zh-CN" sz="2000" i="1">
                          <a:latin typeface="Cambria Math" panose="02040503050406030204" pitchFamily="18" charset="0"/>
                          <a:ea typeface="Cambria Math" panose="02040503050406030204" pitchFamily="18" charset="0"/>
                        </a:rPr>
                        <m:t>𝑥</m:t>
                      </m:r>
                      <m:r>
                        <a:rPr lang="en-US" altLang="zh-CN" sz="2000" i="1">
                          <a:latin typeface="Cambria Math" panose="02040503050406030204" pitchFamily="18" charset="0"/>
                          <a:ea typeface="Cambria Math" panose="02040503050406030204" pitchFamily="18" charset="0"/>
                        </a:rPr>
                        <m:t>∈</m:t>
                      </m:r>
                      <m:d>
                        <m:dPr>
                          <m:begChr m:val="{"/>
                          <m:endChr m:val="}"/>
                          <m:ctrlPr>
                            <a:rPr lang="zh-CN" altLang="zh-CN" sz="2000" i="1">
                              <a:latin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𝑥</m:t>
                          </m:r>
                        </m:e>
                        <m:e>
                          <m:d>
                            <m:dPr>
                              <m:begChr m:val="‖"/>
                              <m:endChr m:val="‖"/>
                              <m:ctrlPr>
                                <a:rPr lang="zh-CN" altLang="zh-CN" sz="2000" i="1">
                                  <a:latin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𝑥</m:t>
                              </m:r>
                              <m:r>
                                <a:rPr lang="en-US" altLang="zh-CN" sz="2000" i="1">
                                  <a:latin typeface="Cambria Math" panose="02040503050406030204" pitchFamily="18" charset="0"/>
                                  <a:ea typeface="Cambria Math" panose="02040503050406030204" pitchFamily="18" charset="0"/>
                                </a:rPr>
                                <m:t>−</m:t>
                              </m:r>
                              <m:acc>
                                <m:accPr>
                                  <m:chr m:val="̅"/>
                                  <m:ctrlPr>
                                    <a:rPr lang="zh-CN" altLang="zh-CN" sz="2000" i="1">
                                      <a:latin typeface="Cambria Math" panose="02040503050406030204" pitchFamily="18" charset="0"/>
                                    </a:rPr>
                                  </m:ctrlPr>
                                </m:accPr>
                                <m:e>
                                  <m:r>
                                    <a:rPr lang="en-US" altLang="zh-CN" sz="2000" i="1">
                                      <a:latin typeface="Cambria Math" panose="02040503050406030204" pitchFamily="18" charset="0"/>
                                      <a:ea typeface="Cambria Math" panose="02040503050406030204" pitchFamily="18" charset="0"/>
                                    </a:rPr>
                                    <m:t>𝑥</m:t>
                                  </m:r>
                                </m:e>
                              </m:acc>
                            </m:e>
                          </m:d>
                          <m:r>
                            <a:rPr lang="en-US" altLang="zh-CN" sz="2000" i="1">
                              <a:latin typeface="Cambria Math" panose="02040503050406030204" pitchFamily="18" charset="0"/>
                              <a:ea typeface="Cambria Math" panose="02040503050406030204" pitchFamily="18" charset="0"/>
                            </a:rPr>
                            <m:t>≤</m:t>
                          </m:r>
                          <m:d>
                            <m:dPr>
                              <m:begChr m:val="‖"/>
                              <m:endChr m:val="‖"/>
                              <m:ctrlPr>
                                <a:rPr lang="zh-CN" altLang="zh-CN" sz="2000" i="1">
                                  <a:latin typeface="Cambria Math" panose="02040503050406030204" pitchFamily="18" charset="0"/>
                                </a:rPr>
                              </m:ctrlPr>
                            </m:dPr>
                            <m:e>
                              <m:sSup>
                                <m:sSupPr>
                                  <m:ctrlPr>
                                    <a:rPr lang="zh-CN" altLang="zh-CN" sz="2000" i="1">
                                      <a:latin typeface="Cambria Math" panose="02040503050406030204" pitchFamily="18" charset="0"/>
                                    </a:rPr>
                                  </m:ctrlPr>
                                </m:sSupPr>
                                <m:e>
                                  <m:r>
                                    <a:rPr lang="en-US" altLang="zh-CN" sz="2000" i="1">
                                      <a:latin typeface="Cambria Math" panose="02040503050406030204" pitchFamily="18" charset="0"/>
                                      <a:ea typeface="Cambria Math" panose="02040503050406030204" pitchFamily="18" charset="0"/>
                                    </a:rPr>
                                    <m:t>𝑥</m:t>
                                  </m:r>
                                </m:e>
                                <m:sup>
                                  <m:r>
                                    <a:rPr lang="en-US" altLang="zh-CN" sz="2000" i="1">
                                      <a:latin typeface="Cambria Math" panose="02040503050406030204" pitchFamily="18" charset="0"/>
                                      <a:ea typeface="Cambria Math" panose="02040503050406030204" pitchFamily="18" charset="0"/>
                                    </a:rPr>
                                    <m:t>(1)</m:t>
                                  </m:r>
                                </m:sup>
                              </m:sSup>
                              <m:r>
                                <a:rPr lang="en-US" altLang="zh-CN" sz="2000" i="1">
                                  <a:latin typeface="Cambria Math" panose="02040503050406030204" pitchFamily="18" charset="0"/>
                                  <a:ea typeface="Cambria Math" panose="02040503050406030204" pitchFamily="18" charset="0"/>
                                </a:rPr>
                                <m:t>−</m:t>
                              </m:r>
                              <m:acc>
                                <m:accPr>
                                  <m:chr m:val="̅"/>
                                  <m:ctrlPr>
                                    <a:rPr lang="zh-CN" altLang="zh-CN" sz="2000" i="1">
                                      <a:latin typeface="Cambria Math" panose="02040503050406030204" pitchFamily="18" charset="0"/>
                                    </a:rPr>
                                  </m:ctrlPr>
                                </m:accPr>
                                <m:e>
                                  <m:r>
                                    <a:rPr lang="en-US" altLang="zh-CN" sz="2000" i="1">
                                      <a:latin typeface="Cambria Math" panose="02040503050406030204" pitchFamily="18" charset="0"/>
                                      <a:ea typeface="Cambria Math" panose="02040503050406030204" pitchFamily="18" charset="0"/>
                                    </a:rPr>
                                    <m:t>𝑥</m:t>
                                  </m:r>
                                </m:e>
                              </m:acc>
                            </m:e>
                          </m:d>
                        </m:e>
                      </m:d>
                    </m:oMath>
                  </m:oMathPara>
                </a14:m>
                <a:endParaRPr lang="zh-CN" altLang="zh-CN" sz="2000" dirty="0">
                  <a:latin typeface="Cambria Math" panose="02040503050406030204" pitchFamily="18" charset="0"/>
                </a:endParaRPr>
              </a:p>
              <a:p>
                <a:pPr algn="just">
                  <a:lnSpc>
                    <a:spcPct val="150000"/>
                  </a:lnSpc>
                </a:pPr>
                <a:r>
                  <a:rPr lang="zh-CN" altLang="zh-CN" sz="2000" dirty="0"/>
                  <a:t>有以下关系式成立</a:t>
                </a:r>
              </a:p>
              <a:p>
                <a:pPr lvl="0" algn="just">
                  <a:lnSpc>
                    <a:spcPct val="150000"/>
                  </a:lnSpc>
                </a:pPr>
                <a:r>
                  <a:rPr lang="en-US" altLang="zh-CN" sz="2000" dirty="0">
                    <a:latin typeface="+mn-ea"/>
                    <a:ea typeface="+mn-ea"/>
                  </a:rPr>
                  <a:t>    (1)  </a:t>
                </a:r>
                <a14:m>
                  <m:oMath xmlns:m="http://schemas.openxmlformats.org/officeDocument/2006/math">
                    <m:d>
                      <m:dPr>
                        <m:begChr m:val="‖"/>
                        <m:endChr m:val="‖"/>
                        <m:ctrlPr>
                          <a:rPr lang="zh-CN" altLang="zh-CN" sz="2000" i="1">
                            <a:latin typeface="Cambria Math" panose="02040503050406030204" pitchFamily="18" charset="0"/>
                          </a:rPr>
                        </m:ctrlPr>
                      </m:dPr>
                      <m:e>
                        <m:sSup>
                          <m:sSupPr>
                            <m:ctrlPr>
                              <a:rPr lang="zh-CN" altLang="zh-CN" sz="2000" i="1">
                                <a:latin typeface="Cambria Math" panose="02040503050406030204" pitchFamily="18" charset="0"/>
                              </a:rPr>
                            </m:ctrlPr>
                          </m:sSupPr>
                          <m:e>
                            <m:d>
                              <m:dPr>
                                <m:begChr m:val="["/>
                                <m:endChr m:val="]"/>
                                <m:ctrlPr>
                                  <a:rPr lang="zh-CN" altLang="zh-CN" sz="2000" i="1">
                                    <a:latin typeface="Cambria Math" panose="02040503050406030204" pitchFamily="18" charset="0"/>
                                  </a:rPr>
                                </m:ctrlPr>
                              </m:dPr>
                              <m:e>
                                <m:sSup>
                                  <m:sSupPr>
                                    <m:ctrlPr>
                                      <a:rPr lang="zh-CN" altLang="zh-CN" sz="2000" i="1">
                                        <a:latin typeface="Cambria Math" panose="02040503050406030204" pitchFamily="18" charset="0"/>
                                      </a:rPr>
                                    </m:ctrlPr>
                                  </m:sSupPr>
                                  <m:e>
                                    <m:r>
                                      <a:rPr lang="en-US" altLang="zh-CN" sz="2000" i="1">
                                        <a:latin typeface="Cambria Math" panose="02040503050406030204" pitchFamily="18" charset="0"/>
                                        <a:ea typeface="Cambria Math" panose="02040503050406030204" pitchFamily="18" charset="0"/>
                                      </a:rPr>
                                      <m:t>𝛻</m:t>
                                    </m:r>
                                  </m:e>
                                  <m:sup>
                                    <m:r>
                                      <a:rPr lang="en-US" altLang="zh-CN" sz="2000" i="1">
                                        <a:latin typeface="Cambria Math" panose="02040503050406030204" pitchFamily="18" charset="0"/>
                                        <a:ea typeface="Cambria Math" panose="02040503050406030204" pitchFamily="18" charset="0"/>
                                      </a:rPr>
                                      <m:t>2</m:t>
                                    </m:r>
                                  </m:sup>
                                </m:sSup>
                                <m:r>
                                  <a:rPr lang="en-US" altLang="zh-CN" sz="2000" i="1">
                                    <a:latin typeface="Cambria Math" panose="02040503050406030204" pitchFamily="18" charset="0"/>
                                    <a:ea typeface="Cambria Math" panose="02040503050406030204" pitchFamily="18" charset="0"/>
                                  </a:rPr>
                                  <m:t>𝑓</m:t>
                                </m:r>
                                <m:r>
                                  <a:rPr lang="en-US" altLang="zh-CN" sz="2000" i="1">
                                    <a:latin typeface="Cambria Math" panose="02040503050406030204" pitchFamily="18" charset="0"/>
                                    <a:ea typeface="Cambria Math" panose="02040503050406030204" pitchFamily="18" charset="0"/>
                                  </a:rPr>
                                  <m:t>(</m:t>
                                </m:r>
                                <m:acc>
                                  <m:accPr>
                                    <m:chr m:val="̅"/>
                                    <m:ctrlPr>
                                      <a:rPr lang="zh-CN" altLang="zh-CN" sz="2000" i="1">
                                        <a:latin typeface="Cambria Math" panose="02040503050406030204" pitchFamily="18" charset="0"/>
                                      </a:rPr>
                                    </m:ctrlPr>
                                  </m:accPr>
                                  <m:e>
                                    <m:r>
                                      <a:rPr lang="en-US" altLang="zh-CN" sz="2000" i="1">
                                        <a:latin typeface="Cambria Math" panose="02040503050406030204" pitchFamily="18" charset="0"/>
                                        <a:ea typeface="Cambria Math" panose="02040503050406030204" pitchFamily="18" charset="0"/>
                                      </a:rPr>
                                      <m:t>𝑥</m:t>
                                    </m:r>
                                  </m:e>
                                </m:acc>
                                <m:r>
                                  <a:rPr lang="en-US" altLang="zh-CN" sz="2000" i="1">
                                    <a:latin typeface="Cambria Math" panose="02040503050406030204" pitchFamily="18" charset="0"/>
                                    <a:ea typeface="Cambria Math" panose="02040503050406030204" pitchFamily="18" charset="0"/>
                                  </a:rPr>
                                  <m:t>)</m:t>
                                </m:r>
                              </m:e>
                            </m:d>
                          </m:e>
                          <m:sup>
                            <m:r>
                              <a:rPr lang="en-US" altLang="zh-CN" sz="2000" i="1">
                                <a:latin typeface="Cambria Math" panose="02040503050406030204" pitchFamily="18" charset="0"/>
                                <a:ea typeface="Cambria Math" panose="02040503050406030204" pitchFamily="18" charset="0"/>
                              </a:rPr>
                              <m:t>−1</m:t>
                            </m:r>
                          </m:sup>
                        </m:sSup>
                      </m:e>
                    </m:d>
                  </m:oMath>
                </a14:m>
                <a:r>
                  <a:rPr lang="en-US" altLang="zh-CN" sz="2000" dirty="0">
                    <a:latin typeface="Cambria Math" panose="02040503050406030204" pitchFamily="18" charset="0"/>
                    <a:ea typeface="Cambria Math" panose="02040503050406030204" pitchFamily="18" charset="0"/>
                  </a:rPr>
                  <a:t>≤ </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𝑘</m:t>
                        </m:r>
                      </m:e>
                      <m:sub>
                        <m:r>
                          <a:rPr lang="en-US" altLang="zh-CN" sz="2000" i="1">
                            <a:latin typeface="Cambria Math" panose="02040503050406030204" pitchFamily="18" charset="0"/>
                            <a:ea typeface="Cambria Math" panose="02040503050406030204" pitchFamily="18" charset="0"/>
                          </a:rPr>
                          <m:t>1</m:t>
                        </m:r>
                      </m:sub>
                    </m:sSub>
                  </m:oMath>
                </a14:m>
                <a:endParaRPr lang="zh-CN" altLang="zh-CN" sz="2000" dirty="0">
                  <a:latin typeface="Cambria Math" panose="02040503050406030204" pitchFamily="18" charset="0"/>
                </a:endParaRPr>
              </a:p>
              <a:p>
                <a:pPr lvl="0" algn="just">
                  <a:lnSpc>
                    <a:spcPct val="150000"/>
                  </a:lnSpc>
                </a:pPr>
                <a:r>
                  <a:rPr lang="en-US" altLang="zh-CN" sz="2000" dirty="0"/>
                  <a:t>        </a:t>
                </a:r>
                <a:r>
                  <a:rPr lang="en-US" altLang="zh-CN" sz="2000" dirty="0">
                    <a:latin typeface="+mn-ea"/>
                    <a:ea typeface="+mn-ea"/>
                  </a:rPr>
                  <a:t>(2)  </a:t>
                </a:r>
                <a14:m>
                  <m:oMath xmlns:m="http://schemas.openxmlformats.org/officeDocument/2006/math">
                    <m:f>
                      <m:fPr>
                        <m:ctrlPr>
                          <a:rPr lang="zh-CN" altLang="zh-CN" sz="2000" i="1">
                            <a:latin typeface="Cambria Math" panose="02040503050406030204" pitchFamily="18" charset="0"/>
                          </a:rPr>
                        </m:ctrlPr>
                      </m:fPr>
                      <m:num>
                        <m:d>
                          <m:dPr>
                            <m:begChr m:val="‖"/>
                            <m:endChr m:val="‖"/>
                            <m:ctrlPr>
                              <a:rPr lang="zh-CN" altLang="zh-CN" sz="2000" i="1">
                                <a:latin typeface="Cambria Math" panose="02040503050406030204" pitchFamily="18" charset="0"/>
                              </a:rPr>
                            </m:ctrlPr>
                          </m:dPr>
                          <m:e>
                            <m:r>
                              <m:rPr>
                                <m:sty m:val="p"/>
                              </m:rPr>
                              <a:rPr lang="en-US" altLang="zh-CN" sz="2000">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𝑓</m:t>
                            </m:r>
                            <m:d>
                              <m:dPr>
                                <m:ctrlPr>
                                  <a:rPr lang="zh-CN" altLang="zh-CN" sz="2000" i="1">
                                    <a:latin typeface="Cambria Math" panose="02040503050406030204" pitchFamily="18" charset="0"/>
                                  </a:rPr>
                                </m:ctrlPr>
                              </m:dPr>
                              <m:e>
                                <m:acc>
                                  <m:accPr>
                                    <m:chr m:val="̅"/>
                                    <m:ctrlPr>
                                      <a:rPr lang="zh-CN" altLang="zh-CN" sz="2000" i="1">
                                        <a:latin typeface="Cambria Math" panose="02040503050406030204" pitchFamily="18" charset="0"/>
                                      </a:rPr>
                                    </m:ctrlPr>
                                  </m:accPr>
                                  <m:e>
                                    <m:r>
                                      <a:rPr lang="en-US" altLang="zh-CN" sz="2000" i="1">
                                        <a:latin typeface="Cambria Math" panose="02040503050406030204" pitchFamily="18" charset="0"/>
                                        <a:ea typeface="Cambria Math" panose="02040503050406030204" pitchFamily="18" charset="0"/>
                                      </a:rPr>
                                      <m:t>𝑥</m:t>
                                    </m:r>
                                  </m:e>
                                </m:acc>
                              </m:e>
                            </m:d>
                            <m:r>
                              <a:rPr lang="en-US" altLang="zh-CN" sz="2000" i="1">
                                <a:latin typeface="Cambria Math" panose="02040503050406030204" pitchFamily="18" charset="0"/>
                                <a:ea typeface="Cambria Math" panose="02040503050406030204" pitchFamily="18" charset="0"/>
                              </a:rPr>
                              <m:t>−</m:t>
                            </m:r>
                            <m:r>
                              <m:rPr>
                                <m:sty m:val="p"/>
                              </m:rPr>
                              <a:rPr lang="en-US" altLang="zh-CN" sz="2000">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𝑓</m:t>
                            </m:r>
                            <m:d>
                              <m:dPr>
                                <m:ctrlPr>
                                  <a:rPr lang="zh-CN" altLang="zh-CN" sz="2000" i="1">
                                    <a:latin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𝑥</m:t>
                                </m:r>
                              </m:e>
                            </m:d>
                            <m:r>
                              <a:rPr lang="en-US" altLang="zh-CN" sz="2000" i="1">
                                <a:latin typeface="Cambria Math" panose="02040503050406030204" pitchFamily="18" charset="0"/>
                                <a:ea typeface="Cambria Math" panose="02040503050406030204" pitchFamily="18" charset="0"/>
                              </a:rPr>
                              <m:t>−</m:t>
                            </m:r>
                            <m:sSup>
                              <m:sSupPr>
                                <m:ctrlPr>
                                  <a:rPr lang="zh-CN" altLang="zh-CN" sz="2000" i="1">
                                    <a:latin typeface="Cambria Math" panose="02040503050406030204" pitchFamily="18" charset="0"/>
                                  </a:rPr>
                                </m:ctrlPr>
                              </m:sSupPr>
                              <m:e>
                                <m:r>
                                  <m:rPr>
                                    <m:sty m:val="p"/>
                                  </m:rPr>
                                  <a:rPr lang="en-US" altLang="zh-CN" sz="2000">
                                    <a:latin typeface="Cambria Math" panose="02040503050406030204" pitchFamily="18" charset="0"/>
                                    <a:ea typeface="Cambria Math" panose="02040503050406030204" pitchFamily="18" charset="0"/>
                                  </a:rPr>
                                  <m:t>∇</m:t>
                                </m:r>
                              </m:e>
                              <m:sup>
                                <m:r>
                                  <a:rPr lang="en-US" altLang="zh-CN" sz="2000" i="1">
                                    <a:latin typeface="Cambria Math" panose="02040503050406030204" pitchFamily="18" charset="0"/>
                                    <a:ea typeface="Cambria Math" panose="02040503050406030204" pitchFamily="18" charset="0"/>
                                  </a:rPr>
                                  <m:t>2</m:t>
                                </m:r>
                              </m:sup>
                            </m:sSup>
                            <m:r>
                              <a:rPr lang="en-US" altLang="zh-CN" sz="2000" i="1">
                                <a:latin typeface="Cambria Math" panose="02040503050406030204" pitchFamily="18" charset="0"/>
                                <a:ea typeface="Cambria Math" panose="02040503050406030204" pitchFamily="18" charset="0"/>
                              </a:rPr>
                              <m:t>𝑓</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𝑥</m:t>
                            </m:r>
                            <m:r>
                              <a:rPr lang="en-US" altLang="zh-CN" sz="2000" i="1">
                                <a:latin typeface="Cambria Math" panose="02040503050406030204" pitchFamily="18" charset="0"/>
                                <a:ea typeface="Cambria Math" panose="02040503050406030204" pitchFamily="18" charset="0"/>
                              </a:rPr>
                              <m:t>)(</m:t>
                            </m:r>
                            <m:acc>
                              <m:accPr>
                                <m:chr m:val="̅"/>
                                <m:ctrlPr>
                                  <a:rPr lang="zh-CN" altLang="zh-CN" sz="2000" i="1">
                                    <a:latin typeface="Cambria Math" panose="02040503050406030204" pitchFamily="18" charset="0"/>
                                  </a:rPr>
                                </m:ctrlPr>
                              </m:accPr>
                              <m:e>
                                <m:r>
                                  <a:rPr lang="en-US" altLang="zh-CN" sz="2000" i="1">
                                    <a:latin typeface="Cambria Math" panose="02040503050406030204" pitchFamily="18" charset="0"/>
                                    <a:ea typeface="Cambria Math" panose="02040503050406030204" pitchFamily="18" charset="0"/>
                                  </a:rPr>
                                  <m:t>𝑥</m:t>
                                </m:r>
                              </m:e>
                            </m:acc>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𝑥</m:t>
                            </m:r>
                            <m:r>
                              <a:rPr lang="en-US" altLang="zh-CN" sz="2000" i="1">
                                <a:latin typeface="Cambria Math" panose="02040503050406030204" pitchFamily="18" charset="0"/>
                                <a:ea typeface="Cambria Math" panose="02040503050406030204" pitchFamily="18" charset="0"/>
                              </a:rPr>
                              <m:t>)</m:t>
                            </m:r>
                          </m:e>
                        </m:d>
                      </m:num>
                      <m:den>
                        <m:d>
                          <m:dPr>
                            <m:begChr m:val="‖"/>
                            <m:endChr m:val="‖"/>
                            <m:ctrlPr>
                              <a:rPr lang="zh-CN" altLang="zh-CN" sz="2000" i="1">
                                <a:latin typeface="Cambria Math" panose="02040503050406030204" pitchFamily="18" charset="0"/>
                              </a:rPr>
                            </m:ctrlPr>
                          </m:dPr>
                          <m:e>
                            <m:acc>
                              <m:accPr>
                                <m:chr m:val="̅"/>
                                <m:ctrlPr>
                                  <a:rPr lang="zh-CN" altLang="zh-CN" sz="2000" i="1">
                                    <a:latin typeface="Cambria Math" panose="02040503050406030204" pitchFamily="18" charset="0"/>
                                  </a:rPr>
                                </m:ctrlPr>
                              </m:accPr>
                              <m:e>
                                <m:r>
                                  <a:rPr lang="en-US" altLang="zh-CN" sz="2000" i="1">
                                    <a:latin typeface="Cambria Math" panose="02040503050406030204" pitchFamily="18" charset="0"/>
                                    <a:ea typeface="Cambria Math" panose="02040503050406030204" pitchFamily="18" charset="0"/>
                                  </a:rPr>
                                  <m:t>𝑥</m:t>
                                </m:r>
                              </m:e>
                            </m:acc>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𝑥</m:t>
                            </m:r>
                          </m:e>
                        </m:d>
                      </m:den>
                    </m:f>
                    <m:r>
                      <a:rPr lang="en-US" altLang="zh-CN" sz="2000" i="1">
                        <a:latin typeface="Cambria Math" panose="02040503050406030204" pitchFamily="18" charset="0"/>
                        <a:ea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𝑘</m:t>
                        </m:r>
                      </m:e>
                      <m:sub>
                        <m:r>
                          <a:rPr lang="en-US" altLang="zh-CN" sz="2000" i="1">
                            <a:latin typeface="Cambria Math" panose="02040503050406030204" pitchFamily="18" charset="0"/>
                            <a:ea typeface="Cambria Math" panose="02040503050406030204" pitchFamily="18" charset="0"/>
                          </a:rPr>
                          <m:t>2</m:t>
                        </m:r>
                      </m:sub>
                    </m:sSub>
                  </m:oMath>
                </a14:m>
                <a:endParaRPr lang="zh-CN" altLang="zh-CN" sz="2000" dirty="0">
                  <a:latin typeface="Cambria Math" panose="02040503050406030204" pitchFamily="18" charset="0"/>
                </a:endParaRPr>
              </a:p>
              <a:p>
                <a:pPr algn="just">
                  <a:lnSpc>
                    <a:spcPct val="150000"/>
                  </a:lnSpc>
                </a:pPr>
                <a:r>
                  <a:rPr lang="zh-CN" altLang="zh-CN" sz="2000" dirty="0"/>
                  <a:t>则</a:t>
                </a:r>
                <a:r>
                  <a:rPr lang="zh-CN" altLang="en-US" sz="2000" dirty="0"/>
                  <a:t>原始</a:t>
                </a:r>
                <a:r>
                  <a:rPr lang="zh-CN" altLang="zh-CN" sz="2000" dirty="0"/>
                  <a:t>牛顿法产生的点列</a:t>
                </a:r>
                <a14:m>
                  <m:oMath xmlns:m="http://schemas.openxmlformats.org/officeDocument/2006/math">
                    <m:d>
                      <m:dPr>
                        <m:begChr m:val="{"/>
                        <m:endChr m:val="}"/>
                        <m:ctrlPr>
                          <a:rPr lang="zh-CN" altLang="zh-CN" sz="2000" i="1">
                            <a:latin typeface="Cambria Math" panose="02040503050406030204" pitchFamily="18" charset="0"/>
                          </a:rPr>
                        </m:ctrlPr>
                      </m:dPr>
                      <m:e>
                        <m:sSup>
                          <m:sSupPr>
                            <m:ctrlPr>
                              <a:rPr lang="zh-CN" altLang="zh-CN" sz="2000" i="1">
                                <a:latin typeface="Cambria Math" panose="02040503050406030204" pitchFamily="18" charset="0"/>
                              </a:rPr>
                            </m:ctrlPr>
                          </m:sSupPr>
                          <m:e>
                            <m:r>
                              <a:rPr lang="en-US" altLang="zh-CN" sz="2000" i="1">
                                <a:latin typeface="Cambria Math" panose="02040503050406030204" pitchFamily="18" charset="0"/>
                                <a:ea typeface="Cambria Math" panose="02040503050406030204" pitchFamily="18" charset="0"/>
                              </a:rPr>
                              <m:t>𝑥</m:t>
                            </m:r>
                          </m:e>
                          <m:sup>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𝑘</m:t>
                            </m:r>
                            <m:r>
                              <a:rPr lang="en-US" altLang="zh-CN" sz="2000" i="1">
                                <a:latin typeface="Cambria Math" panose="02040503050406030204" pitchFamily="18" charset="0"/>
                                <a:ea typeface="Cambria Math" panose="02040503050406030204" pitchFamily="18" charset="0"/>
                              </a:rPr>
                              <m:t>)</m:t>
                            </m:r>
                          </m:sup>
                        </m:sSup>
                      </m:e>
                    </m:d>
                  </m:oMath>
                </a14:m>
                <a:r>
                  <a:rPr lang="zh-CN" altLang="zh-CN" sz="2000" dirty="0"/>
                  <a:t>收敛于</a:t>
                </a:r>
                <a14:m>
                  <m:oMath xmlns:m="http://schemas.openxmlformats.org/officeDocument/2006/math">
                    <m:acc>
                      <m:accPr>
                        <m:chr m:val="̅"/>
                        <m:ctrlPr>
                          <a:rPr lang="zh-CN" altLang="zh-CN" sz="2000" i="1">
                            <a:latin typeface="Cambria Math" panose="02040503050406030204" pitchFamily="18" charset="0"/>
                          </a:rPr>
                        </m:ctrlPr>
                      </m:accPr>
                      <m:e>
                        <m:r>
                          <a:rPr lang="en-US" altLang="zh-CN" sz="2000" i="1">
                            <a:latin typeface="Cambria Math" panose="02040503050406030204" pitchFamily="18" charset="0"/>
                          </a:rPr>
                          <m:t>𝑥</m:t>
                        </m:r>
                      </m:e>
                    </m:acc>
                  </m:oMath>
                </a14:m>
                <a:r>
                  <a:rPr lang="zh-CN" altLang="zh-CN" sz="2000" dirty="0"/>
                  <a:t>。</a:t>
                </a:r>
              </a:p>
              <a:p>
                <a:pPr algn="just">
                  <a:lnSpc>
                    <a:spcPct val="150000"/>
                  </a:lnSpc>
                </a:pPr>
                <a:r>
                  <a:rPr lang="en-US" altLang="zh-CN" sz="2000" dirty="0"/>
                  <a:t>      </a:t>
                </a:r>
                <a:r>
                  <a:rPr lang="zh-CN" altLang="zh-CN" sz="2000" dirty="0"/>
                  <a:t>当牛顿法收敛时，有下列关系：</a:t>
                </a:r>
              </a:p>
              <a:p>
                <a:pPr algn="just"/>
                <a14:m>
                  <m:oMathPara xmlns:m="http://schemas.openxmlformats.org/officeDocument/2006/math">
                    <m:oMathParaPr>
                      <m:jc m:val="center"/>
                    </m:oMathParaPr>
                    <m:oMath xmlns:m="http://schemas.openxmlformats.org/officeDocument/2006/math">
                      <m:d>
                        <m:dPr>
                          <m:begChr m:val="‖"/>
                          <m:endChr m:val="‖"/>
                          <m:ctrlPr>
                            <a:rPr lang="zh-CN" altLang="zh-CN" sz="2000" i="1">
                              <a:latin typeface="Cambria Math" panose="02040503050406030204" pitchFamily="18" charset="0"/>
                            </a:rPr>
                          </m:ctrlPr>
                        </m:dPr>
                        <m:e>
                          <m:sSup>
                            <m:sSupPr>
                              <m:ctrlPr>
                                <a:rPr lang="zh-CN" altLang="zh-CN" sz="2000" i="1">
                                  <a:latin typeface="Cambria Math" panose="02040503050406030204" pitchFamily="18" charset="0"/>
                                </a:rPr>
                              </m:ctrlPr>
                            </m:sSupPr>
                            <m:e>
                              <m:r>
                                <a:rPr lang="en-US" altLang="zh-CN" sz="2000" i="1">
                                  <a:latin typeface="Cambria Math" panose="02040503050406030204" pitchFamily="18" charset="0"/>
                                  <a:ea typeface="Cambria Math" panose="02040503050406030204" pitchFamily="18" charset="0"/>
                                </a:rPr>
                                <m:t>𝑥</m:t>
                              </m:r>
                            </m:e>
                            <m:sup>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𝑘</m:t>
                              </m:r>
                              <m:r>
                                <a:rPr lang="en-US" altLang="zh-CN" sz="2000" i="1">
                                  <a:latin typeface="Cambria Math" panose="02040503050406030204" pitchFamily="18" charset="0"/>
                                  <a:ea typeface="Cambria Math" panose="02040503050406030204" pitchFamily="18" charset="0"/>
                                </a:rPr>
                                <m:t>+1)</m:t>
                              </m:r>
                            </m:sup>
                          </m:sSup>
                          <m:r>
                            <a:rPr lang="en-US" altLang="zh-CN" sz="2000" i="1">
                              <a:latin typeface="Cambria Math" panose="02040503050406030204" pitchFamily="18" charset="0"/>
                              <a:ea typeface="Cambria Math" panose="02040503050406030204" pitchFamily="18" charset="0"/>
                            </a:rPr>
                            <m:t>−</m:t>
                          </m:r>
                          <m:acc>
                            <m:accPr>
                              <m:chr m:val="̅"/>
                              <m:ctrlPr>
                                <a:rPr lang="zh-CN" altLang="zh-CN" sz="2000" i="1">
                                  <a:latin typeface="Cambria Math" panose="02040503050406030204" pitchFamily="18" charset="0"/>
                                </a:rPr>
                              </m:ctrlPr>
                            </m:accPr>
                            <m:e>
                              <m:r>
                                <a:rPr lang="en-US" altLang="zh-CN" sz="2000" i="1">
                                  <a:latin typeface="Cambria Math" panose="02040503050406030204" pitchFamily="18" charset="0"/>
                                  <a:ea typeface="Cambria Math" panose="02040503050406030204" pitchFamily="18" charset="0"/>
                                </a:rPr>
                                <m:t>𝑥</m:t>
                              </m:r>
                            </m:e>
                          </m:acc>
                        </m:e>
                      </m:d>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𝐶</m:t>
                      </m:r>
                      <m:sSup>
                        <m:sSupPr>
                          <m:ctrlPr>
                            <a:rPr lang="zh-CN" altLang="zh-CN" sz="2000" i="1">
                              <a:latin typeface="Cambria Math" panose="02040503050406030204" pitchFamily="18" charset="0"/>
                            </a:rPr>
                          </m:ctrlPr>
                        </m:sSupPr>
                        <m:e>
                          <m:d>
                            <m:dPr>
                              <m:begChr m:val="‖"/>
                              <m:endChr m:val="‖"/>
                              <m:ctrlPr>
                                <a:rPr lang="zh-CN" altLang="zh-CN" sz="2000" i="1">
                                  <a:latin typeface="Cambria Math" panose="02040503050406030204" pitchFamily="18" charset="0"/>
                                </a:rPr>
                              </m:ctrlPr>
                            </m:dPr>
                            <m:e>
                              <m:sSup>
                                <m:sSupPr>
                                  <m:ctrlPr>
                                    <a:rPr lang="zh-CN" altLang="zh-CN" sz="2000" i="1">
                                      <a:latin typeface="Cambria Math" panose="02040503050406030204" pitchFamily="18" charset="0"/>
                                    </a:rPr>
                                  </m:ctrlPr>
                                </m:sSupPr>
                                <m:e>
                                  <m:r>
                                    <a:rPr lang="en-US" altLang="zh-CN" sz="2000" i="1">
                                      <a:latin typeface="Cambria Math" panose="02040503050406030204" pitchFamily="18" charset="0"/>
                                      <a:ea typeface="Cambria Math" panose="02040503050406030204" pitchFamily="18" charset="0"/>
                                    </a:rPr>
                                    <m:t>𝑥</m:t>
                                  </m:r>
                                </m:e>
                                <m:sup>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𝑘</m:t>
                                  </m:r>
                                  <m:r>
                                    <a:rPr lang="en-US" altLang="zh-CN" sz="2000" i="1">
                                      <a:latin typeface="Cambria Math" panose="02040503050406030204" pitchFamily="18" charset="0"/>
                                      <a:ea typeface="Cambria Math" panose="02040503050406030204" pitchFamily="18" charset="0"/>
                                    </a:rPr>
                                    <m:t>)</m:t>
                                  </m:r>
                                </m:sup>
                              </m:sSup>
                              <m:r>
                                <a:rPr lang="en-US" altLang="zh-CN" sz="2000" i="1">
                                  <a:latin typeface="Cambria Math" panose="02040503050406030204" pitchFamily="18" charset="0"/>
                                  <a:ea typeface="Cambria Math" panose="02040503050406030204" pitchFamily="18" charset="0"/>
                                </a:rPr>
                                <m:t>−</m:t>
                              </m:r>
                              <m:acc>
                                <m:accPr>
                                  <m:chr m:val="̅"/>
                                  <m:ctrlPr>
                                    <a:rPr lang="zh-CN" altLang="zh-CN" sz="2000" i="1">
                                      <a:latin typeface="Cambria Math" panose="02040503050406030204" pitchFamily="18" charset="0"/>
                                    </a:rPr>
                                  </m:ctrlPr>
                                </m:accPr>
                                <m:e>
                                  <m:r>
                                    <a:rPr lang="en-US" altLang="zh-CN" sz="2000" i="1">
                                      <a:latin typeface="Cambria Math" panose="02040503050406030204" pitchFamily="18" charset="0"/>
                                      <a:ea typeface="Cambria Math" panose="02040503050406030204" pitchFamily="18" charset="0"/>
                                    </a:rPr>
                                    <m:t>𝑥</m:t>
                                  </m:r>
                                </m:e>
                              </m:acc>
                            </m:e>
                          </m:d>
                        </m:e>
                        <m:sup>
                          <m:r>
                            <a:rPr lang="en-US" altLang="zh-CN" sz="2000" i="1">
                              <a:latin typeface="Cambria Math" panose="02040503050406030204" pitchFamily="18" charset="0"/>
                              <a:ea typeface="Cambria Math" panose="02040503050406030204" pitchFamily="18" charset="0"/>
                            </a:rPr>
                            <m:t>2</m:t>
                          </m:r>
                        </m:sup>
                      </m:sSup>
                    </m:oMath>
                  </m:oMathPara>
                </a14:m>
                <a:endParaRPr lang="zh-CN" altLang="zh-CN" sz="2000" dirty="0">
                  <a:latin typeface="Cambria Math" panose="02040503050406030204" pitchFamily="18" charset="0"/>
                </a:endParaRPr>
              </a:p>
              <a:p>
                <a:pPr algn="just">
                  <a:lnSpc>
                    <a:spcPct val="150000"/>
                  </a:lnSpc>
                </a:pPr>
                <a:r>
                  <a:rPr lang="zh-CN" altLang="zh-CN" sz="2000" dirty="0"/>
                  <a:t>其中</a:t>
                </a:r>
                <a:r>
                  <a:rPr lang="en-US" altLang="zh-CN" sz="2000" dirty="0">
                    <a:latin typeface="Cambria Math" panose="02040503050406030204" pitchFamily="18" charset="0"/>
                    <a:ea typeface="Cambria Math" panose="02040503050406030204" pitchFamily="18" charset="0"/>
                  </a:rPr>
                  <a:t>C</a:t>
                </a:r>
                <a:r>
                  <a:rPr lang="zh-CN" altLang="zh-CN" sz="2000" dirty="0"/>
                  <a:t>是某个常数。由此可知，牛顿法至少二阶</a:t>
                </a:r>
                <a:r>
                  <a:rPr lang="zh-CN" altLang="en-US" sz="2000" dirty="0"/>
                  <a:t>收敛</a:t>
                </a:r>
                <a:r>
                  <a:rPr lang="zh-CN" altLang="zh-CN" sz="2000" dirty="0"/>
                  <a:t>。特别地，当</a:t>
                </a:r>
                <a14:m>
                  <m:oMath xmlns:m="http://schemas.openxmlformats.org/officeDocument/2006/math">
                    <m:r>
                      <a:rPr lang="en-US" altLang="zh-CN" sz="2000" i="1">
                        <a:latin typeface="Cambria Math" panose="02040503050406030204" pitchFamily="18" charset="0"/>
                      </a:rPr>
                      <m:t>𝑓</m:t>
                    </m:r>
                    <m:r>
                      <a:rPr lang="en-US" altLang="zh-CN" sz="2000" i="1">
                        <a:latin typeface="Cambria Math" panose="02040503050406030204" pitchFamily="18" charset="0"/>
                      </a:rPr>
                      <m:t>(</m:t>
                    </m:r>
                    <m:r>
                      <a:rPr lang="en-US" altLang="zh-CN" sz="2000" i="1">
                        <a:latin typeface="Cambria Math" panose="02040503050406030204" pitchFamily="18" charset="0"/>
                      </a:rPr>
                      <m:t>𝑥</m:t>
                    </m:r>
                    <m:r>
                      <a:rPr lang="en-US" altLang="zh-CN" sz="2000" i="1">
                        <a:latin typeface="Cambria Math" panose="02040503050406030204" pitchFamily="18" charset="0"/>
                      </a:rPr>
                      <m:t>)</m:t>
                    </m:r>
                  </m:oMath>
                </a14:m>
                <a:r>
                  <a:rPr lang="zh-CN" altLang="zh-CN" sz="2000" dirty="0"/>
                  <a:t>为二次凸函数时，运用牛顿法，经</a:t>
                </a:r>
                <a:r>
                  <a:rPr lang="en-US" altLang="zh-CN" sz="2000" dirty="0"/>
                  <a:t>1</a:t>
                </a:r>
                <a:r>
                  <a:rPr lang="zh-CN" altLang="zh-CN" sz="2000" dirty="0"/>
                  <a:t>次迭代</a:t>
                </a:r>
                <a:r>
                  <a:rPr lang="zh-CN" altLang="en-US" sz="2000" dirty="0"/>
                  <a:t>可</a:t>
                </a:r>
                <a:r>
                  <a:rPr lang="zh-CN" altLang="zh-CN" sz="2000" dirty="0"/>
                  <a:t>达极小点。</a:t>
                </a:r>
                <a:endParaRPr lang="zh-CN" altLang="en-US" sz="2000" dirty="0">
                  <a:latin typeface="Cambria Math" panose="02040503050406030204" pitchFamily="18" charset="0"/>
                </a:endParaRPr>
              </a:p>
            </p:txBody>
          </p:sp>
        </mc:Choice>
        <mc:Fallback xmlns="">
          <p:sp>
            <p:nvSpPr>
              <p:cNvPr id="5" name="文本框 4">
                <a:extLst>
                  <a:ext uri="{FF2B5EF4-FFF2-40B4-BE49-F238E27FC236}">
                    <a16:creationId xmlns:a16="http://schemas.microsoft.com/office/drawing/2014/main" id="{79F68694-E909-F7E1-184E-67D7871017CF}"/>
                  </a:ext>
                </a:extLst>
              </p:cNvPr>
              <p:cNvSpPr txBox="1">
                <a:spLocks noRot="1" noChangeAspect="1" noMove="1" noResize="1" noEditPoints="1" noAdjustHandles="1" noChangeArrowheads="1" noChangeShapeType="1" noTextEdit="1"/>
              </p:cNvSpPr>
              <p:nvPr/>
            </p:nvSpPr>
            <p:spPr>
              <a:xfrm>
                <a:off x="179004" y="346757"/>
                <a:ext cx="8964996" cy="5977342"/>
              </a:xfrm>
              <a:prstGeom prst="rect">
                <a:avLst/>
              </a:prstGeom>
              <a:blipFill>
                <a:blip r:embed="rId2"/>
                <a:stretch>
                  <a:fillRect l="-680" r="-748" b="-102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75907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30E07794-A1D9-FA7F-C177-6BF9C9141A2F}"/>
              </a:ext>
            </a:extLst>
          </p:cNvPr>
          <p:cNvPicPr>
            <a:picLocks noChangeAspect="1"/>
          </p:cNvPicPr>
          <p:nvPr/>
        </p:nvPicPr>
        <p:blipFill>
          <a:blip r:embed="rId2"/>
          <a:stretch>
            <a:fillRect/>
          </a:stretch>
        </p:blipFill>
        <p:spPr>
          <a:xfrm>
            <a:off x="1979712" y="260648"/>
            <a:ext cx="7124700" cy="6524625"/>
          </a:xfrm>
          <a:prstGeom prst="rect">
            <a:avLst/>
          </a:prstGeom>
        </p:spPr>
      </p:pic>
      <p:sp>
        <p:nvSpPr>
          <p:cNvPr id="5" name="文本框 4">
            <a:extLst>
              <a:ext uri="{FF2B5EF4-FFF2-40B4-BE49-F238E27FC236}">
                <a16:creationId xmlns:a16="http://schemas.microsoft.com/office/drawing/2014/main" id="{7CCC11DD-1AD0-20A6-E81D-62600D918958}"/>
              </a:ext>
            </a:extLst>
          </p:cNvPr>
          <p:cNvSpPr txBox="1"/>
          <p:nvPr/>
        </p:nvSpPr>
        <p:spPr>
          <a:xfrm>
            <a:off x="2051720" y="1340768"/>
            <a:ext cx="4572000" cy="369332"/>
          </a:xfrm>
          <a:prstGeom prst="rect">
            <a:avLst/>
          </a:prstGeom>
          <a:noFill/>
        </p:spPr>
        <p:txBody>
          <a:bodyPr wrap="square">
            <a:spAutoFit/>
          </a:bodyPr>
          <a:lstStyle/>
          <a:p>
            <a:r>
              <a:rPr lang="zh-CN" altLang="en-US" sz="1800" b="1" dirty="0">
                <a:solidFill>
                  <a:srgbClr val="FF0000"/>
                </a:solidFill>
                <a:latin typeface="宋体" panose="02010600030101010101" pitchFamily="2" charset="-122"/>
              </a:rPr>
              <a:t>解</a:t>
            </a:r>
            <a:endParaRPr lang="zh-CN" altLang="en-US" dirty="0">
              <a:solidFill>
                <a:srgbClr val="FF0000"/>
              </a:solidFill>
            </a:endParaRPr>
          </a:p>
        </p:txBody>
      </p:sp>
    </p:spTree>
    <p:extLst>
      <p:ext uri="{BB962C8B-B14F-4D97-AF65-F5344CB8AC3E}">
        <p14:creationId xmlns:p14="http://schemas.microsoft.com/office/powerpoint/2010/main" val="1816389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CB6D7A34-D618-E9B0-0964-0F3262869C6B}"/>
              </a:ext>
            </a:extLst>
          </p:cNvPr>
          <p:cNvPicPr>
            <a:picLocks noChangeAspect="1"/>
          </p:cNvPicPr>
          <p:nvPr/>
        </p:nvPicPr>
        <p:blipFill>
          <a:blip r:embed="rId2"/>
          <a:stretch>
            <a:fillRect/>
          </a:stretch>
        </p:blipFill>
        <p:spPr>
          <a:xfrm>
            <a:off x="471487" y="328612"/>
            <a:ext cx="8201025" cy="6200775"/>
          </a:xfrm>
          <a:prstGeom prst="rect">
            <a:avLst/>
          </a:prstGeom>
        </p:spPr>
      </p:pic>
    </p:spTree>
    <p:extLst>
      <p:ext uri="{BB962C8B-B14F-4D97-AF65-F5344CB8AC3E}">
        <p14:creationId xmlns:p14="http://schemas.microsoft.com/office/powerpoint/2010/main" val="948415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a:extLst>
              <a:ext uri="{FF2B5EF4-FFF2-40B4-BE49-F238E27FC236}">
                <a16:creationId xmlns:a16="http://schemas.microsoft.com/office/drawing/2014/main" id="{45BD6C29-4FD2-472C-B320-688E5B9A3777}"/>
              </a:ext>
            </a:extLst>
          </p:cNvPr>
          <p:cNvSpPr>
            <a:spLocks noGrp="1" noChangeArrowheads="1"/>
          </p:cNvSpPr>
          <p:nvPr>
            <p:ph idx="1"/>
          </p:nvPr>
        </p:nvSpPr>
        <p:spPr>
          <a:xfrm>
            <a:off x="485546" y="746703"/>
            <a:ext cx="8190910" cy="3834425"/>
          </a:xfrm>
        </p:spPr>
        <p:txBody>
          <a:bodyPr>
            <a:noAutofit/>
          </a:bodyPr>
          <a:lstStyle/>
          <a:p>
            <a:pPr marL="0" indent="0" algn="just" eaLnBrk="1" hangingPunct="1">
              <a:lnSpc>
                <a:spcPct val="170000"/>
              </a:lnSpc>
              <a:spcBef>
                <a:spcPts val="0"/>
              </a:spcBef>
              <a:buNone/>
              <a:defRPr/>
            </a:pP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若用原始牛顿法求某二次目标函数的最优解，则构造的逼近函数与原目标函数完全相同，其等值线完全重合，故从任一点出发，一定可以一次达到目标函数的极小点。</a:t>
            </a:r>
            <a:endParaRPr lang="en-US" altLang="zh-CN" dirty="0">
              <a:latin typeface="宋体" panose="02010600030101010101" pitchFamily="2" charset="-122"/>
              <a:ea typeface="宋体" panose="02010600030101010101" pitchFamily="2" charset="-122"/>
            </a:endParaRPr>
          </a:p>
          <a:p>
            <a:pPr algn="just" eaLnBrk="1" hangingPunct="1">
              <a:lnSpc>
                <a:spcPct val="170000"/>
              </a:lnSpc>
              <a:spcBef>
                <a:spcPts val="0"/>
              </a:spcBef>
              <a:buFont typeface="Wingdings" panose="05000000000000000000" pitchFamily="2" charset="2"/>
              <a:buChar char="Ø"/>
              <a:defRPr/>
            </a:pPr>
            <a:r>
              <a:rPr lang="zh-CN" altLang="en-US" dirty="0">
                <a:solidFill>
                  <a:srgbClr val="0070C0"/>
                </a:solidFill>
                <a:latin typeface="宋体" panose="02010600030101010101" pitchFamily="2" charset="-122"/>
                <a:ea typeface="宋体" panose="02010600030101010101" pitchFamily="2" charset="-122"/>
              </a:rPr>
              <a:t>优点</a:t>
            </a:r>
            <a:r>
              <a:rPr lang="zh-CN" altLang="en-US" dirty="0">
                <a:latin typeface="宋体" panose="02010600030101010101" pitchFamily="2" charset="-122"/>
                <a:ea typeface="宋体" panose="02010600030101010101" pitchFamily="2" charset="-122"/>
              </a:rPr>
              <a:t>：对于正定二次函数，迭代一次即可以得到最优解，对于非二次函数，若函数二次性较强或迭代点已经进入最优点的较小邻域，则收敛速度也很快。</a:t>
            </a:r>
          </a:p>
          <a:p>
            <a:pPr algn="just" eaLnBrk="1" hangingPunct="1">
              <a:lnSpc>
                <a:spcPct val="170000"/>
              </a:lnSpc>
              <a:spcBef>
                <a:spcPts val="0"/>
              </a:spcBef>
              <a:buFont typeface="Wingdings" panose="05000000000000000000" pitchFamily="2" charset="2"/>
              <a:buChar char="Ø"/>
              <a:defRPr/>
            </a:pPr>
            <a:r>
              <a:rPr lang="zh-CN" altLang="en-US" dirty="0">
                <a:solidFill>
                  <a:srgbClr val="0070C0"/>
                </a:solidFill>
                <a:latin typeface="宋体" panose="02010600030101010101" pitchFamily="2" charset="-122"/>
                <a:ea typeface="宋体" panose="02010600030101010101" pitchFamily="2" charset="-122"/>
              </a:rPr>
              <a:t>缺点</a:t>
            </a:r>
            <a:r>
              <a:rPr lang="zh-CN" altLang="en-US" dirty="0">
                <a:latin typeface="宋体" panose="02010600030101010101" pitchFamily="2" charset="-122"/>
                <a:ea typeface="宋体" panose="02010600030101010101" pitchFamily="2" charset="-122"/>
              </a:rPr>
              <a:t>：由于迭代点的位置是按照极值条件确定的，并未沿函数值下降方向搜索，因此，对于非二次函数，有时会使函数值上升，而使计算失败。</a:t>
            </a:r>
            <a:endParaRPr lang="zh-CN" altLang="en-US" dirty="0">
              <a:latin typeface="宋体" panose="02010600030101010101" pitchFamily="2" charset="-122"/>
              <a:ea typeface="宋体" panose="02010600030101010101" pitchFamily="2" charset="-122"/>
              <a:sym typeface="Symbol" panose="05050102010706020507" pitchFamily="18" charset="2"/>
            </a:endParaRPr>
          </a:p>
        </p:txBody>
      </p:sp>
      <p:sp>
        <p:nvSpPr>
          <p:cNvPr id="4" name="文本框 3">
            <a:extLst>
              <a:ext uri="{FF2B5EF4-FFF2-40B4-BE49-F238E27FC236}">
                <a16:creationId xmlns:a16="http://schemas.microsoft.com/office/drawing/2014/main" id="{2C634061-D209-4452-A0B8-042C1E9D16BB}"/>
              </a:ext>
            </a:extLst>
          </p:cNvPr>
          <p:cNvSpPr txBox="1"/>
          <p:nvPr/>
        </p:nvSpPr>
        <p:spPr>
          <a:xfrm>
            <a:off x="323528" y="260648"/>
            <a:ext cx="3636818" cy="461665"/>
          </a:xfrm>
          <a:prstGeom prst="rect">
            <a:avLst/>
          </a:prstGeom>
          <a:noFill/>
        </p:spPr>
        <p:txBody>
          <a:bodyPr wrap="square">
            <a:spAutoFit/>
          </a:bodyPr>
          <a:lstStyle/>
          <a:p>
            <a:r>
              <a:rPr lang="en-US" altLang="zh-CN" sz="2400" b="1" dirty="0">
                <a:solidFill>
                  <a:srgbClr val="0070C0"/>
                </a:solidFill>
                <a:latin typeface="宋体" panose="02010600030101010101" pitchFamily="2" charset="-122"/>
              </a:rPr>
              <a:t> </a:t>
            </a:r>
            <a:r>
              <a:rPr lang="zh-CN" altLang="en-US" sz="2400" b="1" dirty="0">
                <a:solidFill>
                  <a:srgbClr val="0070C0"/>
                </a:solidFill>
                <a:latin typeface="宋体" panose="02010600030101010101" pitchFamily="2" charset="-122"/>
              </a:rPr>
              <a:t>原始牛顿法的特点</a:t>
            </a:r>
            <a:endParaRPr lang="zh-CN" altLang="en-US" sz="2400" b="1" dirty="0">
              <a:solidFill>
                <a:srgbClr val="0070C0"/>
              </a:solidFill>
            </a:endParaRPr>
          </a:p>
        </p:txBody>
      </p:sp>
    </p:spTree>
  </p:cSld>
  <p:clrMapOvr>
    <a:masterClrMapping/>
  </p:clrMapOvr>
  <p:transition>
    <p:split orient="vert" dir="in"/>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0179" name="Rectangle 3">
                <a:extLst>
                  <a:ext uri="{FF2B5EF4-FFF2-40B4-BE49-F238E27FC236}">
                    <a16:creationId xmlns:a16="http://schemas.microsoft.com/office/drawing/2014/main" id="{7A97DB08-94FA-422D-AE32-2D6706ADF212}"/>
                  </a:ext>
                </a:extLst>
              </p:cNvPr>
              <p:cNvSpPr>
                <a:spLocks noGrp="1" noChangeArrowheads="1"/>
              </p:cNvSpPr>
              <p:nvPr>
                <p:ph idx="1"/>
              </p:nvPr>
            </p:nvSpPr>
            <p:spPr>
              <a:xfrm>
                <a:off x="818583" y="2008212"/>
                <a:ext cx="7641849" cy="2500908"/>
              </a:xfrm>
            </p:spPr>
            <p:txBody>
              <a:bodyPr/>
              <a:lstStyle/>
              <a:p>
                <a:pPr marL="0" indent="0" algn="just" eaLnBrk="1" hangingPunct="1">
                  <a:lnSpc>
                    <a:spcPct val="150000"/>
                  </a:lnSpc>
                  <a:spcBef>
                    <a:spcPts val="0"/>
                  </a:spcBef>
                  <a:buNone/>
                  <a:defRPr/>
                </a:pPr>
                <a:r>
                  <a:rPr lang="zh-CN" altLang="en-US" dirty="0">
                    <a:latin typeface="宋体" panose="02010600030101010101" pitchFamily="2" charset="-122"/>
                    <a:ea typeface="宋体" panose="02010600030101010101" pitchFamily="2" charset="-122"/>
                  </a:rPr>
                  <a:t>   </a:t>
                </a:r>
                <a:r>
                  <a:rPr lang="zh-CN" altLang="en-US" dirty="0">
                    <a:latin typeface="+mn-ea"/>
                  </a:rPr>
                  <a:t>为解决原始牛顿法的不足，加入搜索步长</a:t>
                </a:r>
                <a14:m>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𝛼</m:t>
                        </m:r>
                      </m:e>
                      <m:sup>
                        <m:d>
                          <m:dPr>
                            <m:ctrlPr>
                              <a:rPr lang="zh-CN" altLang="zh-CN" i="1">
                                <a:latin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𝑘</m:t>
                            </m:r>
                          </m:e>
                        </m:d>
                      </m:sup>
                    </m:sSup>
                  </m:oMath>
                </a14:m>
                <a:r>
                  <a:rPr lang="zh-CN" altLang="en-US" dirty="0">
                    <a:latin typeface="+mn-ea"/>
                  </a:rPr>
                  <a:t>，</a:t>
                </a:r>
                <a:r>
                  <a:rPr lang="zh-CN" altLang="zh-CN" dirty="0">
                    <a:latin typeface="+mn-ea"/>
                  </a:rPr>
                  <a:t>因此，</a:t>
                </a:r>
                <a:r>
                  <a:rPr lang="zh-CN" altLang="en-US" dirty="0">
                    <a:latin typeface="+mn-ea"/>
                  </a:rPr>
                  <a:t>迭代公式变为：</a:t>
                </a:r>
              </a:p>
              <a:p>
                <a:pPr marL="0" indent="0" algn="just" eaLnBrk="1" hangingPunct="1">
                  <a:lnSpc>
                    <a:spcPct val="150000"/>
                  </a:lnSpc>
                  <a:spcBef>
                    <a:spcPts val="0"/>
                  </a:spcBef>
                  <a:buNone/>
                  <a:defRPr/>
                </a:pPr>
                <a:r>
                  <a:rPr lang="zh-CN" altLang="en-US" dirty="0">
                    <a:latin typeface="+mn-ea"/>
                  </a:rPr>
                  <a:t>  </a:t>
                </a:r>
                <a14:m>
                  <m:oMath xmlns:m="http://schemas.openxmlformats.org/officeDocument/2006/math">
                    <m:sSup>
                      <m:sSupPr>
                        <m:ctrlPr>
                          <a:rPr lang="zh-CN" altLang="en-US" i="1">
                            <a:latin typeface="Cambria Math" panose="02040503050406030204" pitchFamily="18" charset="0"/>
                          </a:rPr>
                        </m:ctrlPr>
                      </m:sSupPr>
                      <m:e>
                        <m:r>
                          <a:rPr lang="zh-CN" altLang="en-US" i="1">
                            <a:latin typeface="Cambria Math" panose="02040503050406030204" pitchFamily="18" charset="0"/>
                          </a:rPr>
                          <m:t>𝑥</m:t>
                        </m:r>
                      </m:e>
                      <m:sup>
                        <m:d>
                          <m:dPr>
                            <m:ctrlPr>
                              <a:rPr lang="zh-CN" altLang="en-US" i="1">
                                <a:latin typeface="Cambria Math" panose="02040503050406030204" pitchFamily="18" charset="0"/>
                              </a:rPr>
                            </m:ctrlPr>
                          </m:dPr>
                          <m:e>
                            <m:r>
                              <a:rPr lang="zh-CN" altLang="en-US" i="1">
                                <a:latin typeface="Cambria Math" panose="02040503050406030204" pitchFamily="18" charset="0"/>
                              </a:rPr>
                              <m:t>𝑘</m:t>
                            </m:r>
                            <m:r>
                              <a:rPr lang="en-US" altLang="zh-CN" i="1">
                                <a:latin typeface="Cambria Math" panose="02040503050406030204" pitchFamily="18" charset="0"/>
                              </a:rPr>
                              <m:t>+1</m:t>
                            </m:r>
                          </m:e>
                        </m:d>
                      </m:sup>
                    </m:sSup>
                    <m:r>
                      <a:rPr lang="en-US" altLang="zh-CN" i="1">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𝑥</m:t>
                        </m:r>
                      </m:e>
                      <m:sup>
                        <m:d>
                          <m:dPr>
                            <m:ctrlPr>
                              <a:rPr lang="zh-CN" altLang="en-US" i="1">
                                <a:latin typeface="Cambria Math" panose="02040503050406030204" pitchFamily="18" charset="0"/>
                              </a:rPr>
                            </m:ctrlPr>
                          </m:dPr>
                          <m:e>
                            <m:r>
                              <a:rPr lang="zh-CN" altLang="en-US" i="1">
                                <a:latin typeface="Cambria Math" panose="02040503050406030204" pitchFamily="18" charset="0"/>
                              </a:rPr>
                              <m:t>𝑘</m:t>
                            </m:r>
                          </m:e>
                        </m:d>
                      </m:sup>
                    </m:sSup>
                    <m:r>
                      <a:rPr lang="en-US" altLang="zh-CN" i="1">
                        <a:latin typeface="Cambria Math" panose="02040503050406030204" pitchFamily="18" charset="0"/>
                      </a:rPr>
                      <m:t>−</m:t>
                    </m:r>
                    <m:sSup>
                      <m:sSupPr>
                        <m:ctrlPr>
                          <a:rPr lang="zh-CN" altLang="en-US" i="1">
                            <a:latin typeface="Cambria Math" panose="02040503050406030204" pitchFamily="18" charset="0"/>
                          </a:rPr>
                        </m:ctrlPr>
                      </m:sSupPr>
                      <m:e>
                        <m:sSup>
                          <m:sSupPr>
                            <m:ctrlPr>
                              <a:rPr lang="zh-CN" altLang="en-US" i="1">
                                <a:latin typeface="Cambria Math" panose="02040503050406030204" pitchFamily="18" charset="0"/>
                              </a:rPr>
                            </m:ctrlPr>
                          </m:sSupPr>
                          <m:e>
                            <m:r>
                              <a:rPr lang="zh-CN" altLang="en-US" i="1">
                                <a:latin typeface="Cambria Math" panose="02040503050406030204" pitchFamily="18" charset="0"/>
                              </a:rPr>
                              <m:t>𝛼</m:t>
                            </m:r>
                          </m:e>
                          <m:sup>
                            <m:d>
                              <m:dPr>
                                <m:ctrlPr>
                                  <a:rPr lang="zh-CN" altLang="en-US" i="1">
                                    <a:latin typeface="Cambria Math" panose="02040503050406030204" pitchFamily="18" charset="0"/>
                                  </a:rPr>
                                </m:ctrlPr>
                              </m:dPr>
                              <m:e>
                                <m:r>
                                  <a:rPr lang="zh-CN" altLang="en-US" i="1">
                                    <a:latin typeface="Cambria Math" panose="02040503050406030204" pitchFamily="18" charset="0"/>
                                  </a:rPr>
                                  <m:t>𝑘</m:t>
                                </m:r>
                              </m:e>
                            </m:d>
                          </m:sup>
                        </m:sSup>
                        <m:d>
                          <m:dPr>
                            <m:begChr m:val="["/>
                            <m:endChr m:val="]"/>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m:rPr>
                                    <m:sty m:val="p"/>
                                  </m:rPr>
                                  <a:rPr lang="en-US" altLang="zh-CN" i="1">
                                    <a:latin typeface="Cambria Math" panose="02040503050406030204" pitchFamily="18" charset="0"/>
                                    <a:ea typeface="Cambria Math" panose="02040503050406030204" pitchFamily="18" charset="0"/>
                                  </a:rPr>
                                  <m:t>∇</m:t>
                                </m:r>
                              </m:e>
                              <m:sup>
                                <m:r>
                                  <a:rPr lang="en-US" altLang="zh-CN" i="1">
                                    <a:latin typeface="Cambria Math" panose="02040503050406030204" pitchFamily="18" charset="0"/>
                                  </a:rPr>
                                  <m:t>2</m:t>
                                </m:r>
                              </m:sup>
                            </m:sSup>
                            <m:d>
                              <m:dPr>
                                <m:ctrlPr>
                                  <a:rPr lang="en-US" altLang="zh-CN" i="1">
                                    <a:latin typeface="Cambria Math" panose="02040503050406030204" pitchFamily="18" charset="0"/>
                                  </a:rPr>
                                </m:ctrlPr>
                              </m:dPr>
                              <m:e>
                                <m:r>
                                  <a:rPr lang="en-US" altLang="zh-CN" i="1">
                                    <a:latin typeface="Cambria Math" panose="02040503050406030204" pitchFamily="18" charset="0"/>
                                  </a:rPr>
                                  <m:t>𝑓</m:t>
                                </m:r>
                                <m:d>
                                  <m:dPr>
                                    <m:ctrlPr>
                                      <a:rPr lang="en-US" altLang="zh-CN" i="1">
                                        <a:latin typeface="Cambria Math" panose="02040503050406030204" pitchFamily="18" charset="0"/>
                                      </a:rPr>
                                    </m:ctrlPr>
                                  </m:dPr>
                                  <m:e>
                                    <m:sSup>
                                      <m:sSupPr>
                                        <m:ctrlPr>
                                          <a:rPr lang="zh-CN" altLang="en-US" i="1">
                                            <a:latin typeface="Cambria Math" panose="02040503050406030204" pitchFamily="18" charset="0"/>
                                          </a:rPr>
                                        </m:ctrlPr>
                                      </m:sSupPr>
                                      <m:e>
                                        <m:r>
                                          <a:rPr lang="zh-CN" altLang="en-US" i="1">
                                            <a:latin typeface="Cambria Math" panose="02040503050406030204" pitchFamily="18" charset="0"/>
                                          </a:rPr>
                                          <m:t>𝑥</m:t>
                                        </m:r>
                                      </m:e>
                                      <m:sup>
                                        <m:d>
                                          <m:dPr>
                                            <m:ctrlPr>
                                              <a:rPr lang="zh-CN" altLang="en-US" i="1">
                                                <a:latin typeface="Cambria Math" panose="02040503050406030204" pitchFamily="18" charset="0"/>
                                              </a:rPr>
                                            </m:ctrlPr>
                                          </m:dPr>
                                          <m:e>
                                            <m:r>
                                              <a:rPr lang="zh-CN" altLang="en-US" i="1">
                                                <a:latin typeface="Cambria Math" panose="02040503050406030204" pitchFamily="18" charset="0"/>
                                              </a:rPr>
                                              <m:t>𝑘</m:t>
                                            </m:r>
                                          </m:e>
                                        </m:d>
                                      </m:sup>
                                    </m:sSup>
                                  </m:e>
                                </m:d>
                              </m:e>
                            </m:d>
                          </m:e>
                        </m:d>
                      </m:e>
                      <m:sup>
                        <m:r>
                          <a:rPr lang="en-US" altLang="zh-CN" i="1">
                            <a:latin typeface="Cambria Math" panose="02040503050406030204" pitchFamily="18" charset="0"/>
                          </a:rPr>
                          <m:t>−1</m:t>
                        </m:r>
                      </m:sup>
                    </m:sSup>
                    <m:r>
                      <m:rPr>
                        <m:sty m:val="p"/>
                      </m:rP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rPr>
                      <m:t>𝑓</m:t>
                    </m:r>
                    <m:r>
                      <a:rPr lang="en-US" altLang="zh-CN" i="1">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𝑥</m:t>
                        </m:r>
                      </m:e>
                      <m:sup>
                        <m:d>
                          <m:dPr>
                            <m:ctrlPr>
                              <a:rPr lang="zh-CN" altLang="en-US" i="1">
                                <a:latin typeface="Cambria Math" panose="02040503050406030204" pitchFamily="18" charset="0"/>
                              </a:rPr>
                            </m:ctrlPr>
                          </m:dPr>
                          <m:e>
                            <m:r>
                              <a:rPr lang="zh-CN" altLang="en-US" i="1">
                                <a:latin typeface="Cambria Math" panose="02040503050406030204" pitchFamily="18" charset="0"/>
                              </a:rPr>
                              <m:t>𝑘</m:t>
                            </m:r>
                          </m:e>
                        </m:d>
                      </m:sup>
                    </m:sSup>
                    <m:r>
                      <a:rPr lang="en-US" altLang="zh-CN" i="1">
                        <a:latin typeface="Cambria Math" panose="02040503050406030204" pitchFamily="18" charset="0"/>
                      </a:rPr>
                      <m:t>) </m:t>
                    </m:r>
                  </m:oMath>
                </a14:m>
                <a:r>
                  <a:rPr lang="zh-CN" altLang="en-US" dirty="0">
                    <a:latin typeface="宋体" panose="02010600030101010101" pitchFamily="2" charset="-122"/>
                    <a:ea typeface="宋体" panose="02010600030101010101" pitchFamily="2" charset="-122"/>
                  </a:rPr>
                  <a:t>		</a:t>
                </a:r>
                <a:br>
                  <a:rPr lang="en-US" altLang="zh-CN" dirty="0">
                    <a:latin typeface="宋体" panose="02010600030101010101" pitchFamily="2" charset="-122"/>
                    <a:ea typeface="宋体" panose="02010600030101010101" pitchFamily="2" charset="-122"/>
                  </a:rPr>
                </a:br>
                <a:r>
                  <a:rPr lang="en-US" altLang="zh-CN" dirty="0">
                    <a:latin typeface="宋体" panose="02010600030101010101" pitchFamily="2" charset="-122"/>
                    <a:ea typeface="宋体" panose="02010600030101010101" pitchFamily="2" charset="-122"/>
                    <a:sym typeface="Symbol" panose="05050102010706020507" pitchFamily="18" charset="2"/>
                  </a:rPr>
                  <a:t>    </a:t>
                </a:r>
                <a:r>
                  <a:rPr lang="zh-CN" altLang="en-US" dirty="0">
                    <a:latin typeface="宋体" panose="02010600030101010101" pitchFamily="2" charset="-122"/>
                    <a:ea typeface="宋体" panose="02010600030101010101" pitchFamily="2" charset="-122"/>
                    <a:sym typeface="Symbol" panose="05050102010706020507" pitchFamily="18" charset="2"/>
                  </a:rPr>
                  <a:t>这就是阻尼牛顿法的迭代公式，最优步长</a:t>
                </a:r>
                <a14:m>
                  <m:oMath xmlns:m="http://schemas.openxmlformats.org/officeDocument/2006/math">
                    <m:sSup>
                      <m:sSupPr>
                        <m:ctrlPr>
                          <a:rPr lang="zh-CN" altLang="zh-CN" i="1">
                            <a:latin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𝛼</m:t>
                        </m:r>
                      </m:e>
                      <m:sup>
                        <m:d>
                          <m:dPr>
                            <m:ctrlPr>
                              <a:rPr lang="zh-CN" altLang="zh-CN" i="1">
                                <a:latin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𝑘</m:t>
                            </m:r>
                          </m:e>
                        </m:d>
                      </m:sup>
                    </m:sSup>
                  </m:oMath>
                </a14:m>
                <a:r>
                  <a:rPr lang="zh-CN" altLang="en-US" dirty="0">
                    <a:latin typeface="宋体" panose="02010600030101010101" pitchFamily="2" charset="-122"/>
                    <a:ea typeface="宋体" panose="02010600030101010101" pitchFamily="2" charset="-122"/>
                    <a:sym typeface="Symbol" panose="05050102010706020507" pitchFamily="18" charset="2"/>
                  </a:rPr>
                  <a:t>也称为阻尼因子，是沿牛顿方向一维搜索得到的最优步长。</a:t>
                </a:r>
              </a:p>
            </p:txBody>
          </p:sp>
        </mc:Choice>
        <mc:Fallback xmlns="">
          <p:sp>
            <p:nvSpPr>
              <p:cNvPr id="50179" name="Rectangle 3">
                <a:extLst>
                  <a:ext uri="{FF2B5EF4-FFF2-40B4-BE49-F238E27FC236}">
                    <a16:creationId xmlns:a16="http://schemas.microsoft.com/office/drawing/2014/main" id="{7A97DB08-94FA-422D-AE32-2D6706ADF212}"/>
                  </a:ext>
                </a:extLst>
              </p:cNvPr>
              <p:cNvSpPr>
                <a:spLocks noGrp="1" noRot="1" noChangeAspect="1" noMove="1" noResize="1" noEditPoints="1" noAdjustHandles="1" noChangeArrowheads="1" noChangeShapeType="1" noTextEdit="1"/>
              </p:cNvSpPr>
              <p:nvPr>
                <p:ph idx="1"/>
              </p:nvPr>
            </p:nvSpPr>
            <p:spPr>
              <a:xfrm>
                <a:off x="818583" y="2008212"/>
                <a:ext cx="7641849" cy="2500908"/>
              </a:xfrm>
              <a:blipFill>
                <a:blip r:embed="rId2"/>
                <a:stretch>
                  <a:fillRect l="-1196" r="-5263" b="-33333"/>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49CC49B4-EBB2-9F29-D8DF-2F7A85E6ADCE}"/>
              </a:ext>
            </a:extLst>
          </p:cNvPr>
          <p:cNvSpPr txBox="1"/>
          <p:nvPr/>
        </p:nvSpPr>
        <p:spPr>
          <a:xfrm>
            <a:off x="323528" y="788960"/>
            <a:ext cx="4572000" cy="461665"/>
          </a:xfrm>
          <a:prstGeom prst="rect">
            <a:avLst/>
          </a:prstGeom>
          <a:noFill/>
        </p:spPr>
        <p:txBody>
          <a:bodyPr wrap="square">
            <a:spAutoFit/>
          </a:bodyPr>
          <a:lstStyle/>
          <a:p>
            <a:r>
              <a:rPr lang="zh-CN" altLang="en-US" sz="2400" b="1" dirty="0">
                <a:latin typeface="黑体" panose="02010609060101010101" pitchFamily="49" charset="-122"/>
                <a:ea typeface="黑体" panose="02010609060101010101" pitchFamily="49" charset="-122"/>
              </a:rPr>
              <a:t>二、阻尼牛顿法</a:t>
            </a:r>
          </a:p>
        </p:txBody>
      </p:sp>
    </p:spTree>
  </p:cSld>
  <p:clrMapOvr>
    <a:masterClrMapping/>
  </p:clrMapOvr>
  <p:transition>
    <p:split orient="vert" dir="in"/>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520F818-3C76-9747-5683-E5917A496D1B}"/>
              </a:ext>
            </a:extLst>
          </p:cNvPr>
          <p:cNvSpPr txBox="1"/>
          <p:nvPr/>
        </p:nvSpPr>
        <p:spPr>
          <a:xfrm>
            <a:off x="107504" y="484473"/>
            <a:ext cx="4572000" cy="415498"/>
          </a:xfrm>
          <a:prstGeom prst="rect">
            <a:avLst/>
          </a:prstGeom>
          <a:noFill/>
        </p:spPr>
        <p:txBody>
          <a:bodyPr wrap="square">
            <a:spAutoFit/>
          </a:bodyPr>
          <a:lstStyle/>
          <a:p>
            <a:r>
              <a:rPr lang="en-US" altLang="zh-CN" sz="2100" b="1" dirty="0">
                <a:solidFill>
                  <a:schemeClr val="hlink"/>
                </a:solidFill>
              </a:rPr>
              <a:t> </a:t>
            </a:r>
            <a:r>
              <a:rPr lang="zh-CN" altLang="en-US" sz="2100" b="1" dirty="0">
                <a:solidFill>
                  <a:schemeClr val="hlink"/>
                </a:solidFill>
              </a:rPr>
              <a:t>阻尼牛顿法的基本步骤</a:t>
            </a:r>
            <a:endParaRPr lang="zh-CN" altLang="en-US" sz="2100" dirty="0"/>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3EF10076-A0E6-7DCB-CC4C-86C5D629D141}"/>
                  </a:ext>
                </a:extLst>
              </p:cNvPr>
              <p:cNvSpPr txBox="1"/>
              <p:nvPr/>
            </p:nvSpPr>
            <p:spPr>
              <a:xfrm>
                <a:off x="179512" y="1101255"/>
                <a:ext cx="9217024" cy="4681474"/>
              </a:xfrm>
              <a:prstGeom prst="rect">
                <a:avLst/>
              </a:prstGeom>
              <a:noFill/>
            </p:spPr>
            <p:txBody>
              <a:bodyPr wrap="square" rtlCol="0">
                <a:spAutoFit/>
              </a:bodyPr>
              <a:lstStyle/>
              <a:p>
                <a:pPr marL="342900" indent="-342900" algn="just">
                  <a:lnSpc>
                    <a:spcPct val="150000"/>
                  </a:lnSpc>
                  <a:buFont typeface="+mj-lt"/>
                  <a:buAutoNum type="arabicPeriod"/>
                </a:pPr>
                <a:r>
                  <a:rPr lang="zh-CN" altLang="zh-CN" sz="2200" kern="100" dirty="0">
                    <a:latin typeface="Times New Roman" panose="02020603050405020304" pitchFamily="18" charset="0"/>
                  </a:rPr>
                  <a:t>给定初始点</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(1)</m:t>
                        </m:r>
                      </m:sup>
                    </m:sSup>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𝑅</m:t>
                        </m:r>
                      </m:e>
                      <m:sup>
                        <m:r>
                          <a:rPr lang="en-US" altLang="zh-CN" sz="2200" i="1" kern="100">
                            <a:latin typeface="Cambria Math" panose="02040503050406030204" pitchFamily="18" charset="0"/>
                          </a:rPr>
                          <m:t>𝑛</m:t>
                        </m:r>
                      </m:sup>
                    </m:sSup>
                  </m:oMath>
                </a14:m>
                <a:r>
                  <a:rPr lang="zh-CN" altLang="zh-CN" sz="2200" kern="100" dirty="0">
                    <a:latin typeface="Times New Roman" panose="02020603050405020304" pitchFamily="18" charset="0"/>
                  </a:rPr>
                  <a:t>，允许误差</a:t>
                </a:r>
                <a14:m>
                  <m:oMath xmlns:m="http://schemas.openxmlformats.org/officeDocument/2006/math">
                    <m:r>
                      <a:rPr lang="en-US" altLang="zh-CN" sz="2200" i="1" kern="100">
                        <a:latin typeface="Cambria Math" panose="02040503050406030204" pitchFamily="18" charset="0"/>
                      </a:rPr>
                      <m:t>𝜀</m:t>
                    </m:r>
                    <m:r>
                      <a:rPr lang="en-US" altLang="zh-CN" sz="2200" i="1" kern="100">
                        <a:latin typeface="Cambria Math" panose="02040503050406030204" pitchFamily="18" charset="0"/>
                      </a:rPr>
                      <m:t>&gt;0</m:t>
                    </m:r>
                  </m:oMath>
                </a14:m>
                <a:r>
                  <a:rPr lang="zh-CN" altLang="zh-CN" sz="2200" kern="100" dirty="0">
                    <a:latin typeface="Times New Roman" panose="02020603050405020304" pitchFamily="18" charset="0"/>
                  </a:rPr>
                  <a:t>，并令</a:t>
                </a:r>
                <a14:m>
                  <m:oMath xmlns:m="http://schemas.openxmlformats.org/officeDocument/2006/math">
                    <m:r>
                      <a:rPr lang="en-US" altLang="zh-CN" sz="2200" i="1" kern="100">
                        <a:latin typeface="Cambria Math" panose="02040503050406030204" pitchFamily="18" charset="0"/>
                      </a:rPr>
                      <m:t>𝑘</m:t>
                    </m:r>
                    <m:r>
                      <a:rPr lang="en-US" altLang="zh-CN" sz="2200" i="1" kern="100">
                        <a:latin typeface="Cambria Math" panose="02040503050406030204" pitchFamily="18" charset="0"/>
                      </a:rPr>
                      <m:t>=1</m:t>
                    </m:r>
                    <m:r>
                      <a:rPr lang="zh-CN" altLang="en-US" sz="2200" i="1" kern="100">
                        <a:latin typeface="Cambria Math" panose="02040503050406030204" pitchFamily="18" charset="0"/>
                      </a:rPr>
                      <m:t>；</m:t>
                    </m:r>
                  </m:oMath>
                </a14:m>
                <a:endParaRPr lang="zh-CN" altLang="zh-CN" sz="2200" kern="100" dirty="0">
                  <a:latin typeface="Times New Roman" panose="02020603050405020304" pitchFamily="18" charset="0"/>
                </a:endParaRPr>
              </a:p>
              <a:p>
                <a:pPr marL="342900" indent="-342900" algn="just">
                  <a:lnSpc>
                    <a:spcPct val="150000"/>
                  </a:lnSpc>
                  <a:buFont typeface="+mj-lt"/>
                  <a:buAutoNum type="arabicPeriod"/>
                </a:pPr>
                <a:r>
                  <a:rPr lang="zh-CN" altLang="zh-CN" sz="2200" kern="100" dirty="0">
                    <a:latin typeface="Times New Roman" panose="02020603050405020304" pitchFamily="18" charset="0"/>
                  </a:rPr>
                  <a:t>求</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oMath>
                </a14:m>
                <a:r>
                  <a:rPr lang="zh-CN" altLang="zh-CN" sz="2200" kern="100" dirty="0">
                    <a:latin typeface="Times New Roman" panose="02020603050405020304" pitchFamily="18" charset="0"/>
                  </a:rPr>
                  <a:t>处梯度向量的模</a:t>
                </a:r>
                <a14:m>
                  <m:oMath xmlns:m="http://schemas.openxmlformats.org/officeDocument/2006/math">
                    <m:sSub>
                      <m:sSubPr>
                        <m:ctrlPr>
                          <a:rPr lang="en-US" altLang="zh-CN" sz="2200" i="1" kern="100">
                            <a:latin typeface="Cambria Math" panose="02040503050406030204" pitchFamily="18" charset="0"/>
                            <a:ea typeface="Cambria Math" panose="02040503050406030204" pitchFamily="18" charset="0"/>
                          </a:rPr>
                        </m:ctrlPr>
                      </m:sSubPr>
                      <m:e>
                        <m:d>
                          <m:dPr>
                            <m:begChr m:val="‖"/>
                            <m:endChr m:val="‖"/>
                            <m:ctrlPr>
                              <a:rPr lang="zh-CN" altLang="zh-CN" sz="2200" i="1" kern="100">
                                <a:latin typeface="Cambria Math" panose="02040503050406030204" pitchFamily="18" charset="0"/>
                                <a:ea typeface="Cambria Math" panose="02040503050406030204" pitchFamily="18" charset="0"/>
                              </a:rPr>
                            </m:ctrlPr>
                          </m:dPr>
                          <m:e>
                            <m:r>
                              <a:rPr lang="en-US" altLang="zh-CN" sz="2200" i="1" kern="100">
                                <a:latin typeface="Cambria Math" panose="02040503050406030204" pitchFamily="18" charset="0"/>
                                <a:cs typeface="Cambria Math" panose="02040503050406030204" pitchFamily="18" charset="0"/>
                              </a:rPr>
                              <m:t>𝛻</m:t>
                            </m:r>
                            <m:r>
                              <a:rPr lang="en-US" altLang="zh-CN" sz="2200" i="1" kern="100">
                                <a:latin typeface="Cambria Math" panose="02040503050406030204" pitchFamily="18" charset="0"/>
                              </a:rPr>
                              <m:t>𝑓</m:t>
                            </m:r>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r>
                              <a:rPr lang="en-US" altLang="zh-CN" sz="2200" i="1" kern="100">
                                <a:latin typeface="Cambria Math" panose="02040503050406030204" pitchFamily="18" charset="0"/>
                              </a:rPr>
                              <m:t>)</m:t>
                            </m:r>
                          </m:e>
                        </m:d>
                      </m:e>
                      <m:sub>
                        <m:r>
                          <a:rPr lang="en-US" altLang="zh-CN" sz="2200" i="1" kern="100">
                            <a:latin typeface="Cambria Math" panose="02040503050406030204" pitchFamily="18" charset="0"/>
                            <a:ea typeface="Cambria Math" panose="02040503050406030204" pitchFamily="18" charset="0"/>
                          </a:rPr>
                          <m:t>2</m:t>
                        </m:r>
                      </m:sub>
                    </m:sSub>
                  </m:oMath>
                </a14:m>
                <a:r>
                  <a:rPr lang="zh-CN" altLang="zh-CN" sz="2200" kern="100" dirty="0">
                    <a:latin typeface="Times New Roman" panose="02020603050405020304" pitchFamily="18" charset="0"/>
                  </a:rPr>
                  <a:t>并判断精度</a:t>
                </a:r>
                <a:r>
                  <a:rPr lang="zh-CN" altLang="en-US" sz="2200" kern="100" dirty="0">
                    <a:latin typeface="Times New Roman" panose="02020603050405020304" pitchFamily="18" charset="0"/>
                  </a:rPr>
                  <a:t>；</a:t>
                </a:r>
                <a:r>
                  <a:rPr lang="zh-CN" altLang="zh-CN" sz="2200" kern="100" dirty="0">
                    <a:latin typeface="Times New Roman" panose="02020603050405020304" pitchFamily="18" charset="0"/>
                  </a:rPr>
                  <a:t>若</a:t>
                </a:r>
                <a14:m>
                  <m:oMath xmlns:m="http://schemas.openxmlformats.org/officeDocument/2006/math">
                    <m:sSub>
                      <m:sSubPr>
                        <m:ctrlPr>
                          <a:rPr lang="en-US" altLang="zh-CN" sz="2200" i="1" kern="100">
                            <a:latin typeface="Cambria Math" panose="02040503050406030204" pitchFamily="18" charset="0"/>
                            <a:ea typeface="Cambria Math" panose="02040503050406030204" pitchFamily="18" charset="0"/>
                          </a:rPr>
                        </m:ctrlPr>
                      </m:sSubPr>
                      <m:e>
                        <m:d>
                          <m:dPr>
                            <m:begChr m:val="‖"/>
                            <m:endChr m:val="‖"/>
                            <m:ctrlPr>
                              <a:rPr lang="zh-CN" altLang="zh-CN" sz="2200" i="1" kern="100">
                                <a:latin typeface="Cambria Math" panose="02040503050406030204" pitchFamily="18" charset="0"/>
                                <a:ea typeface="Cambria Math" panose="02040503050406030204" pitchFamily="18" charset="0"/>
                              </a:rPr>
                            </m:ctrlPr>
                          </m:dPr>
                          <m:e>
                            <m:r>
                              <a:rPr lang="en-US" altLang="zh-CN" sz="2200" i="1" kern="100">
                                <a:latin typeface="Cambria Math" panose="02040503050406030204" pitchFamily="18" charset="0"/>
                                <a:cs typeface="Cambria Math" panose="02040503050406030204" pitchFamily="18" charset="0"/>
                              </a:rPr>
                              <m:t>𝛻</m:t>
                            </m:r>
                            <m:r>
                              <a:rPr lang="en-US" altLang="zh-CN" sz="2200" i="1" kern="100">
                                <a:latin typeface="Cambria Math" panose="02040503050406030204" pitchFamily="18" charset="0"/>
                              </a:rPr>
                              <m:t>𝑓</m:t>
                            </m:r>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r>
                              <a:rPr lang="en-US" altLang="zh-CN" sz="2200" i="1" kern="100">
                                <a:latin typeface="Cambria Math" panose="02040503050406030204" pitchFamily="18" charset="0"/>
                              </a:rPr>
                              <m:t>)</m:t>
                            </m:r>
                          </m:e>
                        </m:d>
                      </m:e>
                      <m:sub>
                        <m:r>
                          <a:rPr lang="en-US" altLang="zh-CN" sz="2200" i="1" kern="100">
                            <a:latin typeface="Cambria Math" panose="02040503050406030204" pitchFamily="18" charset="0"/>
                            <a:ea typeface="Cambria Math" panose="02040503050406030204" pitchFamily="18" charset="0"/>
                          </a:rPr>
                          <m:t>2</m:t>
                        </m:r>
                      </m:sub>
                    </m:sSub>
                    <m:r>
                      <a:rPr lang="en-US" altLang="zh-CN" sz="2200" i="1" kern="100">
                        <a:latin typeface="Cambria Math" panose="02040503050406030204" pitchFamily="18" charset="0"/>
                        <a:ea typeface="Cambria Math" panose="02040503050406030204" pitchFamily="18" charset="0"/>
                      </a:rPr>
                      <m:t>≤</m:t>
                    </m:r>
                    <m:r>
                      <a:rPr lang="en-US" altLang="zh-CN" sz="2200" i="1" kern="100">
                        <a:latin typeface="Cambria Math" panose="02040503050406030204" pitchFamily="18" charset="0"/>
                      </a:rPr>
                      <m:t>𝜀</m:t>
                    </m:r>
                  </m:oMath>
                </a14:m>
                <a:r>
                  <a:rPr lang="zh-CN" altLang="zh-CN" sz="2200" kern="100" dirty="0">
                    <a:latin typeface="Times New Roman" panose="02020603050405020304" pitchFamily="18" charset="0"/>
                  </a:rPr>
                  <a:t>，则停止计算，输出</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oMath>
                </a14:m>
                <a:r>
                  <a:rPr lang="zh-CN" altLang="zh-CN" sz="2200" kern="100" dirty="0">
                    <a:latin typeface="Times New Roman" panose="02020603050405020304" pitchFamily="18" charset="0"/>
                  </a:rPr>
                  <a:t>，作为近似极小点，否则转下一步</a:t>
                </a:r>
                <a:r>
                  <a:rPr lang="zh-CN" altLang="en-US" sz="2200" kern="100" dirty="0">
                    <a:latin typeface="Times New Roman" panose="02020603050405020304" pitchFamily="18" charset="0"/>
                  </a:rPr>
                  <a:t>；</a:t>
                </a:r>
                <a:endParaRPr lang="zh-CN" altLang="zh-CN" sz="2200" kern="100" dirty="0">
                  <a:latin typeface="Times New Roman" panose="02020603050405020304" pitchFamily="18" charset="0"/>
                </a:endParaRPr>
              </a:p>
              <a:p>
                <a:pPr marL="342900" indent="-342900" algn="just">
                  <a:lnSpc>
                    <a:spcPct val="150000"/>
                  </a:lnSpc>
                  <a:buFont typeface="+mj-lt"/>
                  <a:buAutoNum type="arabicPeriod"/>
                </a:pPr>
                <a:r>
                  <a:rPr lang="zh-CN" altLang="zh-CN" sz="2200" kern="100" dirty="0">
                    <a:latin typeface="Times New Roman" panose="02020603050405020304" pitchFamily="18" charset="0"/>
                  </a:rPr>
                  <a:t>构造</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oMath>
                </a14:m>
                <a:r>
                  <a:rPr lang="zh-CN" altLang="zh-CN" sz="2200" kern="100" dirty="0">
                    <a:latin typeface="Times New Roman" panose="02020603050405020304" pitchFamily="18" charset="0"/>
                  </a:rPr>
                  <a:t>处的牛顿方向并作为搜索方向，即取</a:t>
                </a:r>
              </a:p>
              <a:p>
                <a:pPr algn="ctr">
                  <a:lnSpc>
                    <a:spcPct val="150000"/>
                  </a:lnSpc>
                </a:pPr>
                <a14:m>
                  <m:oMathPara xmlns:m="http://schemas.openxmlformats.org/officeDocument/2006/math">
                    <m:oMathParaPr>
                      <m:jc m:val="centerGroup"/>
                    </m:oMathParaPr>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𝑑</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d>
                            <m:dPr>
                              <m:begChr m:val="["/>
                              <m:endChr m:val="]"/>
                              <m:ctrlPr>
                                <a:rPr lang="zh-CN" altLang="zh-CN" sz="2200" i="1" kern="100">
                                  <a:latin typeface="Cambria Math" panose="02040503050406030204" pitchFamily="18" charset="0"/>
                                  <a:ea typeface="Cambria Math" panose="02040503050406030204" pitchFamily="18" charset="0"/>
                                </a:rPr>
                              </m:ctrlPr>
                            </m:dPr>
                            <m:e>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cs typeface="Cambria Math" panose="02040503050406030204" pitchFamily="18" charset="0"/>
                                    </a:rPr>
                                    <m:t>𝛻</m:t>
                                  </m:r>
                                </m:e>
                                <m:sup>
                                  <m:r>
                                    <a:rPr lang="en-US" altLang="zh-CN" sz="2200" i="1" kern="100">
                                      <a:latin typeface="Cambria Math" panose="02040503050406030204" pitchFamily="18" charset="0"/>
                                    </a:rPr>
                                    <m:t>2</m:t>
                                  </m:r>
                                </m:sup>
                              </m:sSup>
                              <m:r>
                                <a:rPr lang="en-US" altLang="zh-CN" sz="2200" i="1" kern="100">
                                  <a:latin typeface="Cambria Math" panose="02040503050406030204" pitchFamily="18" charset="0"/>
                                </a:rPr>
                                <m:t>𝑓</m:t>
                              </m:r>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r>
                                <a:rPr lang="en-US" altLang="zh-CN" sz="2200" i="1" kern="100">
                                  <a:latin typeface="Cambria Math" panose="02040503050406030204" pitchFamily="18" charset="0"/>
                                </a:rPr>
                                <m:t>)</m:t>
                              </m:r>
                            </m:e>
                          </m:d>
                        </m:e>
                        <m:sup>
                          <m:r>
                            <a:rPr lang="en-US" altLang="zh-CN" sz="2200" i="1" kern="100">
                              <a:latin typeface="Cambria Math" panose="02040503050406030204" pitchFamily="18" charset="0"/>
                            </a:rPr>
                            <m:t>−1</m:t>
                          </m:r>
                        </m:sup>
                      </m:sSup>
                      <m:r>
                        <a:rPr lang="en-US" altLang="zh-CN" sz="2200" i="1" kern="100">
                          <a:latin typeface="Cambria Math" panose="02040503050406030204" pitchFamily="18" charset="0"/>
                          <a:cs typeface="Cambria Math" panose="02040503050406030204" pitchFamily="18" charset="0"/>
                        </a:rPr>
                        <m:t>𝛻</m:t>
                      </m:r>
                      <m:r>
                        <a:rPr lang="en-US" altLang="zh-CN" sz="2200" i="1" kern="100">
                          <a:latin typeface="Cambria Math" panose="02040503050406030204" pitchFamily="18" charset="0"/>
                        </a:rPr>
                        <m:t>𝑓</m:t>
                      </m:r>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r>
                        <a:rPr lang="en-US" altLang="zh-CN" sz="2200" i="1" kern="100">
                          <a:latin typeface="Cambria Math" panose="02040503050406030204" pitchFamily="18" charset="0"/>
                        </a:rPr>
                        <m:t>)</m:t>
                      </m:r>
                    </m:oMath>
                  </m:oMathPara>
                </a14:m>
                <a:endParaRPr lang="zh-CN" altLang="zh-CN" sz="2200" kern="100" dirty="0">
                  <a:latin typeface="Times New Roman" panose="02020603050405020304" pitchFamily="18" charset="0"/>
                </a:endParaRPr>
              </a:p>
              <a:p>
                <a:pPr marL="342900" indent="-342900" algn="just">
                  <a:lnSpc>
                    <a:spcPct val="150000"/>
                  </a:lnSpc>
                  <a:buFont typeface="+mj-lt"/>
                  <a:buAutoNum type="arabicPeriod" startAt="4"/>
                </a:pPr>
                <a:r>
                  <a:rPr lang="zh-CN" altLang="zh-CN" sz="2200" kern="100" dirty="0">
                    <a:latin typeface="Times New Roman" panose="02020603050405020304" pitchFamily="18" charset="0"/>
                  </a:rPr>
                  <a:t>从</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oMath>
                </a14:m>
                <a:r>
                  <a:rPr lang="zh-CN" altLang="zh-CN" sz="2200" kern="100" dirty="0">
                    <a:latin typeface="Times New Roman" panose="02020603050405020304" pitchFamily="18" charset="0"/>
                  </a:rPr>
                  <a:t>点出发，沿</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𝑑</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oMath>
                </a14:m>
                <a:r>
                  <a:rPr lang="zh-CN" altLang="zh-CN" sz="2200" kern="100" dirty="0">
                    <a:latin typeface="Times New Roman" panose="02020603050405020304" pitchFamily="18" charset="0"/>
                  </a:rPr>
                  <a:t>进行一维搜索，即求最优步长</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𝛼</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oMath>
                </a14:m>
                <a:r>
                  <a:rPr lang="zh-CN" altLang="zh-CN" sz="2200" kern="100" dirty="0">
                    <a:latin typeface="Times New Roman" panose="02020603050405020304" pitchFamily="18" charset="0"/>
                  </a:rPr>
                  <a:t>，使得</a:t>
                </a:r>
              </a:p>
              <a:p>
                <a:pPr algn="just">
                  <a:lnSpc>
                    <a:spcPct val="150000"/>
                  </a:lnSpc>
                </a:pPr>
                <a:r>
                  <a:rPr lang="en-US" altLang="zh-CN" sz="2200" kern="100" dirty="0">
                    <a:latin typeface="Times New Roman" panose="02020603050405020304" pitchFamily="18" charset="0"/>
                  </a:rPr>
                  <a:t>			</a:t>
                </a:r>
                <a14:m>
                  <m:oMath xmlns:m="http://schemas.openxmlformats.org/officeDocument/2006/math">
                    <m:r>
                      <a:rPr lang="en-US" altLang="zh-CN" sz="2200" i="1" kern="100">
                        <a:latin typeface="Cambria Math" panose="02040503050406030204" pitchFamily="18" charset="0"/>
                      </a:rPr>
                      <m:t>𝑓</m:t>
                    </m:r>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𝛼</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𝑑</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r>
                      <a:rPr lang="en-US" altLang="zh-CN" sz="2200" i="1" kern="100">
                        <a:latin typeface="Cambria Math" panose="02040503050406030204" pitchFamily="18" charset="0"/>
                      </a:rPr>
                      <m:t>)=</m:t>
                    </m:r>
                    <m:limLow>
                      <m:limLowPr>
                        <m:ctrlPr>
                          <a:rPr lang="zh-CN" altLang="zh-CN" sz="2200" i="1" kern="100">
                            <a:latin typeface="Cambria Math" panose="02040503050406030204" pitchFamily="18" charset="0"/>
                            <a:ea typeface="Cambria Math" panose="02040503050406030204" pitchFamily="18" charset="0"/>
                          </a:rPr>
                        </m:ctrlPr>
                      </m:limLowPr>
                      <m:e>
                        <m:r>
                          <a:rPr lang="en-US" altLang="zh-CN" sz="2200" i="1" kern="100">
                            <a:latin typeface="Cambria Math" panose="02040503050406030204" pitchFamily="18" charset="0"/>
                          </a:rPr>
                          <m:t>𝑚𝑖𝑛</m:t>
                        </m:r>
                      </m:e>
                      <m:lim>
                        <m:r>
                          <a:rPr lang="en-US" altLang="zh-CN" sz="2200" i="1" kern="100">
                            <a:latin typeface="Cambria Math" panose="02040503050406030204" pitchFamily="18" charset="0"/>
                          </a:rPr>
                          <m:t>𝛼</m:t>
                        </m:r>
                        <m:r>
                          <a:rPr lang="en-US" altLang="zh-CN" sz="2200" i="1" kern="100">
                            <a:latin typeface="Cambria Math" panose="02040503050406030204" pitchFamily="18" charset="0"/>
                          </a:rPr>
                          <m:t>&gt;0</m:t>
                        </m:r>
                      </m:lim>
                    </m:limLow>
                    <m:r>
                      <a:rPr lang="en-US" altLang="zh-CN" sz="2200" i="1" kern="100">
                        <a:latin typeface="Cambria Math" panose="02040503050406030204" pitchFamily="18" charset="0"/>
                      </a:rPr>
                      <m:t>𝑓</m:t>
                    </m:r>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r>
                      <a:rPr lang="en-US" altLang="zh-CN" sz="2200" i="1" kern="100">
                        <a:latin typeface="Cambria Math" panose="02040503050406030204" pitchFamily="18" charset="0"/>
                      </a:rPr>
                      <m:t>+</m:t>
                    </m:r>
                    <m:r>
                      <a:rPr lang="en-US" altLang="zh-CN" sz="2200" i="1" kern="100">
                        <a:latin typeface="Cambria Math" panose="02040503050406030204" pitchFamily="18" charset="0"/>
                      </a:rPr>
                      <m:t>𝛼</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𝑑</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r>
                      <a:rPr lang="en-US" altLang="zh-CN" sz="2200" i="1" kern="100">
                        <a:latin typeface="Cambria Math" panose="02040503050406030204" pitchFamily="18" charset="0"/>
                      </a:rPr>
                      <m:t>)</m:t>
                    </m:r>
                  </m:oMath>
                </a14:m>
                <a:endParaRPr lang="zh-CN" altLang="zh-CN" sz="2200" kern="100" dirty="0">
                  <a:latin typeface="Times New Roman" panose="02020603050405020304" pitchFamily="18" charset="0"/>
                </a:endParaRPr>
              </a:p>
              <a:p>
                <a:pPr marL="342900" indent="-342900" algn="just">
                  <a:lnSpc>
                    <a:spcPct val="150000"/>
                  </a:lnSpc>
                  <a:buFont typeface="+mj-lt"/>
                  <a:buAutoNum type="arabicPeriod" startAt="5"/>
                </a:pPr>
                <a:r>
                  <a:rPr lang="zh-CN" altLang="zh-CN" sz="2200" kern="100" dirty="0">
                    <a:latin typeface="Times New Roman" panose="02020603050405020304" pitchFamily="18" charset="0"/>
                  </a:rPr>
                  <a:t>令</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+1)</m:t>
                        </m:r>
                      </m:sup>
                    </m:sSup>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𝛼</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𝑑</m:t>
                        </m:r>
                      </m:e>
                      <m:sup>
                        <m:r>
                          <a:rPr lang="en-US" altLang="zh-CN" sz="2200" i="1" kern="100">
                            <a:latin typeface="Cambria Math" panose="02040503050406030204" pitchFamily="18" charset="0"/>
                          </a:rPr>
                          <m:t>(</m:t>
                        </m:r>
                        <m:r>
                          <a:rPr lang="en-US" altLang="zh-CN" sz="2200" i="1" kern="100">
                            <a:latin typeface="Cambria Math" panose="02040503050406030204" pitchFamily="18" charset="0"/>
                          </a:rPr>
                          <m:t>𝑘</m:t>
                        </m:r>
                        <m:r>
                          <a:rPr lang="en-US" altLang="zh-CN" sz="2200" i="1" kern="100">
                            <a:latin typeface="Cambria Math" panose="02040503050406030204" pitchFamily="18" charset="0"/>
                          </a:rPr>
                          <m:t>)</m:t>
                        </m:r>
                      </m:sup>
                    </m:sSup>
                  </m:oMath>
                </a14:m>
                <a:r>
                  <a:rPr lang="zh-CN" altLang="zh-CN" sz="2200" kern="100" dirty="0">
                    <a:latin typeface="Times New Roman" panose="02020603050405020304" pitchFamily="18" charset="0"/>
                  </a:rPr>
                  <a:t>，置</a:t>
                </a:r>
                <a14:m>
                  <m:oMath xmlns:m="http://schemas.openxmlformats.org/officeDocument/2006/math">
                    <m:r>
                      <a:rPr lang="en-US" altLang="zh-CN" sz="2200" i="1" kern="100">
                        <a:latin typeface="Cambria Math" panose="02040503050406030204" pitchFamily="18" charset="0"/>
                      </a:rPr>
                      <m:t>𝑘</m:t>
                    </m:r>
                    <m:r>
                      <a:rPr lang="en-US" altLang="zh-CN" sz="2200" kern="100">
                        <a:latin typeface="Cambria Math" panose="02040503050406030204" pitchFamily="18" charset="0"/>
                      </a:rPr>
                      <m:t>: = </m:t>
                    </m:r>
                    <m:r>
                      <a:rPr lang="en-US" altLang="zh-CN" sz="2200" i="1" kern="100">
                        <a:latin typeface="Cambria Math" panose="02040503050406030204" pitchFamily="18" charset="0"/>
                      </a:rPr>
                      <m:t>𝑘</m:t>
                    </m:r>
                    <m:r>
                      <a:rPr lang="en-US" altLang="zh-CN" sz="2200" kern="100">
                        <a:latin typeface="Cambria Math" panose="02040503050406030204" pitchFamily="18" charset="0"/>
                      </a:rPr>
                      <m:t>+</m:t>
                    </m:r>
                    <m:r>
                      <a:rPr lang="en-US" altLang="zh-CN" sz="2200" i="1" kern="100">
                        <a:latin typeface="Cambria Math" panose="02040503050406030204" pitchFamily="18" charset="0"/>
                      </a:rPr>
                      <m:t>1</m:t>
                    </m:r>
                  </m:oMath>
                </a14:m>
                <a:r>
                  <a:rPr lang="zh-CN" altLang="zh-CN" sz="2200" kern="100" dirty="0">
                    <a:latin typeface="Times New Roman" panose="02020603050405020304" pitchFamily="18" charset="0"/>
                  </a:rPr>
                  <a:t>，转步骤</a:t>
                </a:r>
                <a:r>
                  <a:rPr lang="en-US" altLang="zh-CN" sz="2200" kern="100" dirty="0">
                    <a:latin typeface="Times New Roman" panose="02020603050405020304" pitchFamily="18" charset="0"/>
                  </a:rPr>
                  <a:t>2</a:t>
                </a:r>
                <a:r>
                  <a:rPr lang="zh-CN" altLang="en-US" sz="2200" kern="100" dirty="0">
                    <a:latin typeface="Times New Roman" panose="02020603050405020304" pitchFamily="18" charset="0"/>
                  </a:rPr>
                  <a:t>。</a:t>
                </a:r>
                <a:endParaRPr lang="zh-CN" altLang="en-US" sz="2200" dirty="0"/>
              </a:p>
            </p:txBody>
          </p:sp>
        </mc:Choice>
        <mc:Fallback xmlns="">
          <p:sp>
            <p:nvSpPr>
              <p:cNvPr id="5" name="文本框 4">
                <a:extLst>
                  <a:ext uri="{FF2B5EF4-FFF2-40B4-BE49-F238E27FC236}">
                    <a16:creationId xmlns:a16="http://schemas.microsoft.com/office/drawing/2014/main" id="{3EF10076-A0E6-7DCB-CC4C-86C5D629D141}"/>
                  </a:ext>
                </a:extLst>
              </p:cNvPr>
              <p:cNvSpPr txBox="1">
                <a:spLocks noRot="1" noChangeAspect="1" noMove="1" noResize="1" noEditPoints="1" noAdjustHandles="1" noChangeArrowheads="1" noChangeShapeType="1" noTextEdit="1"/>
              </p:cNvSpPr>
              <p:nvPr/>
            </p:nvSpPr>
            <p:spPr>
              <a:xfrm>
                <a:off x="179512" y="1101255"/>
                <a:ext cx="9217024" cy="4681474"/>
              </a:xfrm>
              <a:prstGeom prst="rect">
                <a:avLst/>
              </a:prstGeom>
              <a:blipFill>
                <a:blip r:embed="rId2"/>
                <a:stretch>
                  <a:fillRect l="-728" r="-860" b="-1693"/>
                </a:stretch>
              </a:blipFill>
            </p:spPr>
            <p:txBody>
              <a:bodyPr/>
              <a:lstStyle/>
              <a:p>
                <a:r>
                  <a:rPr lang="zh-CN" alt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a:extLst>
              <a:ext uri="{FF2B5EF4-FFF2-40B4-BE49-F238E27FC236}">
                <a16:creationId xmlns:a16="http://schemas.microsoft.com/office/drawing/2014/main" id="{6D4042F3-6E57-4C61-AFD0-D71FF1F9178B}"/>
              </a:ext>
            </a:extLst>
          </p:cNvPr>
          <p:cNvSpPr>
            <a:spLocks noGrp="1" noChangeArrowheads="1"/>
          </p:cNvSpPr>
          <p:nvPr>
            <p:ph type="body" idx="4294967295"/>
          </p:nvPr>
        </p:nvSpPr>
        <p:spPr>
          <a:xfrm>
            <a:off x="359532" y="1157288"/>
            <a:ext cx="6417469" cy="4229100"/>
          </a:xfrm>
        </p:spPr>
        <p:txBody>
          <a:bodyPr/>
          <a:lstStyle/>
          <a:p>
            <a:pPr>
              <a:buFont typeface="Wingdings" panose="05000000000000000000" pitchFamily="2" charset="2"/>
              <a:buNone/>
              <a:defRPr/>
            </a:pPr>
            <a:r>
              <a:rPr lang="zh-CN" altLang="en-US" sz="2100" b="1" dirty="0"/>
              <a:t>阻尼牛顿法流程图</a:t>
            </a:r>
            <a:endParaRPr lang="zh-CN" altLang="en-US" sz="2100" b="1" i="1" dirty="0"/>
          </a:p>
        </p:txBody>
      </p:sp>
      <p:sp>
        <p:nvSpPr>
          <p:cNvPr id="8194" name="AutoShape 5">
            <a:extLst>
              <a:ext uri="{FF2B5EF4-FFF2-40B4-BE49-F238E27FC236}">
                <a16:creationId xmlns:a16="http://schemas.microsoft.com/office/drawing/2014/main" id="{75D62F9A-B0FA-49BB-8814-30DE5C004E54}"/>
              </a:ext>
            </a:extLst>
          </p:cNvPr>
          <p:cNvSpPr>
            <a:spLocks noChangeArrowheads="1"/>
          </p:cNvSpPr>
          <p:nvPr/>
        </p:nvSpPr>
        <p:spPr bwMode="auto">
          <a:xfrm>
            <a:off x="3698081" y="1571626"/>
            <a:ext cx="762000" cy="317897"/>
          </a:xfrm>
          <a:prstGeom prst="flowChartPreparation">
            <a:avLst/>
          </a:prstGeom>
          <a:solidFill>
            <a:srgbClr val="CCFFCC"/>
          </a:solidFill>
          <a:ln w="28575" cap="sq">
            <a:solidFill>
              <a:srgbClr val="00FF00"/>
            </a:solidFill>
            <a:miter lim="800000"/>
            <a:headEnd/>
            <a:tailEnd/>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zh-CN" altLang="en-US" sz="1500" b="1">
                <a:solidFill>
                  <a:srgbClr val="000000"/>
                </a:solidFill>
                <a:latin typeface="Times New Roman" panose="02020603050405020304" pitchFamily="18" charset="0"/>
              </a:rPr>
              <a:t>入口</a:t>
            </a:r>
            <a:endParaRPr lang="zh-CN" altLang="en-US" sz="1500">
              <a:solidFill>
                <a:srgbClr val="000000"/>
              </a:solidFill>
              <a:latin typeface="Times New Roman" panose="02020603050405020304" pitchFamily="18" charset="0"/>
            </a:endParaRPr>
          </a:p>
        </p:txBody>
      </p:sp>
      <p:sp>
        <p:nvSpPr>
          <p:cNvPr id="8195" name="AutoShape 6">
            <a:extLst>
              <a:ext uri="{FF2B5EF4-FFF2-40B4-BE49-F238E27FC236}">
                <a16:creationId xmlns:a16="http://schemas.microsoft.com/office/drawing/2014/main" id="{972D29EF-C785-4897-A3EF-047783E18D7C}"/>
              </a:ext>
            </a:extLst>
          </p:cNvPr>
          <p:cNvSpPr>
            <a:spLocks noChangeArrowheads="1"/>
          </p:cNvSpPr>
          <p:nvPr/>
        </p:nvSpPr>
        <p:spPr bwMode="auto">
          <a:xfrm>
            <a:off x="3108722" y="2031206"/>
            <a:ext cx="1889522" cy="286941"/>
          </a:xfrm>
          <a:prstGeom prst="flowChartInputOutput">
            <a:avLst/>
          </a:prstGeom>
          <a:solidFill>
            <a:srgbClr val="CCFFCC"/>
          </a:solidFill>
          <a:ln w="28575" cap="sq">
            <a:solidFill>
              <a:srgbClr val="00FF00"/>
            </a:solidFill>
            <a:miter lim="800000"/>
            <a:headEnd/>
            <a:tailEnd/>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zh-CN" altLang="en-US" sz="1500" b="1" dirty="0">
                <a:solidFill>
                  <a:srgbClr val="000000"/>
                </a:solidFill>
                <a:latin typeface="Times New Roman" panose="02020603050405020304" pitchFamily="18" charset="0"/>
              </a:rPr>
              <a:t>给定： </a:t>
            </a:r>
            <a:r>
              <a:rPr lang="en-US" altLang="en-US" sz="1500" b="1" i="1" dirty="0">
                <a:solidFill>
                  <a:srgbClr val="000000"/>
                </a:solidFill>
                <a:latin typeface="Times New Roman" panose="02020603050405020304" pitchFamily="18" charset="0"/>
              </a:rPr>
              <a:t>x</a:t>
            </a:r>
            <a:r>
              <a:rPr lang="en-US" altLang="en-US" sz="1500" b="1" i="1" baseline="30000" dirty="0">
                <a:solidFill>
                  <a:srgbClr val="000000"/>
                </a:solidFill>
                <a:latin typeface="Times New Roman" panose="02020603050405020304" pitchFamily="18" charset="0"/>
              </a:rPr>
              <a:t>(1)</a:t>
            </a:r>
            <a:r>
              <a:rPr lang="zh-CN" altLang="en-US" sz="1500" b="1" i="1" dirty="0">
                <a:solidFill>
                  <a:srgbClr val="000000"/>
                </a:solidFill>
                <a:latin typeface="Times New Roman" panose="02020603050405020304" pitchFamily="18" charset="0"/>
              </a:rPr>
              <a:t>，</a:t>
            </a:r>
            <a:r>
              <a:rPr lang="zh-CN" altLang="en-US" sz="1500" b="1" i="1" dirty="0">
                <a:solidFill>
                  <a:srgbClr val="000000"/>
                </a:solidFill>
                <a:latin typeface="Times New Roman" panose="02020603050405020304" pitchFamily="18" charset="0"/>
                <a:sym typeface="Symbol" panose="05050102010706020507" pitchFamily="18" charset="2"/>
              </a:rPr>
              <a:t></a:t>
            </a:r>
            <a:r>
              <a:rPr lang="zh-CN" altLang="en-US" sz="1500" b="1" dirty="0">
                <a:solidFill>
                  <a:srgbClr val="000000"/>
                </a:solidFill>
                <a:latin typeface="Times New Roman" panose="02020603050405020304" pitchFamily="18" charset="0"/>
              </a:rPr>
              <a:t> </a:t>
            </a:r>
          </a:p>
        </p:txBody>
      </p:sp>
      <p:sp>
        <p:nvSpPr>
          <p:cNvPr id="8196" name="AutoShape 7">
            <a:extLst>
              <a:ext uri="{FF2B5EF4-FFF2-40B4-BE49-F238E27FC236}">
                <a16:creationId xmlns:a16="http://schemas.microsoft.com/office/drawing/2014/main" id="{55FFDFFE-6B50-4AF6-847C-44CD0E0170FC}"/>
              </a:ext>
            </a:extLst>
          </p:cNvPr>
          <p:cNvSpPr>
            <a:spLocks noChangeArrowheads="1"/>
          </p:cNvSpPr>
          <p:nvPr/>
        </p:nvSpPr>
        <p:spPr bwMode="auto">
          <a:xfrm>
            <a:off x="3429000" y="2509837"/>
            <a:ext cx="1348979" cy="301229"/>
          </a:xfrm>
          <a:prstGeom prst="flowChartProcess">
            <a:avLst/>
          </a:prstGeom>
          <a:solidFill>
            <a:srgbClr val="CCFFCC"/>
          </a:solidFill>
          <a:ln w="28575" cap="sq">
            <a:solidFill>
              <a:srgbClr val="00FF00"/>
            </a:solidFill>
            <a:miter lim="800000"/>
            <a:headEnd/>
            <a:tailEnd/>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en-US" altLang="en-US" sz="1500" b="1" i="1" dirty="0">
                <a:solidFill>
                  <a:srgbClr val="000000"/>
                </a:solidFill>
                <a:latin typeface="Times New Roman" panose="02020603050405020304" pitchFamily="18" charset="0"/>
              </a:rPr>
              <a:t>k=1</a:t>
            </a:r>
            <a:endParaRPr lang="en-US" altLang="zh-CN" sz="1500" b="1" i="1" dirty="0">
              <a:solidFill>
                <a:srgbClr val="000000"/>
              </a:solidFill>
              <a:latin typeface="Times New Roman" panose="02020603050405020304" pitchFamily="18" charset="0"/>
            </a:endParaRPr>
          </a:p>
        </p:txBody>
      </p:sp>
      <p:sp>
        <p:nvSpPr>
          <p:cNvPr id="8198" name="AutoShape 9">
            <a:extLst>
              <a:ext uri="{FF2B5EF4-FFF2-40B4-BE49-F238E27FC236}">
                <a16:creationId xmlns:a16="http://schemas.microsoft.com/office/drawing/2014/main" id="{61B9B597-01DB-43BA-96E6-050E35618EB0}"/>
              </a:ext>
            </a:extLst>
          </p:cNvPr>
          <p:cNvSpPr>
            <a:spLocks noChangeArrowheads="1"/>
          </p:cNvSpPr>
          <p:nvPr/>
        </p:nvSpPr>
        <p:spPr bwMode="auto">
          <a:xfrm>
            <a:off x="3388520" y="4704160"/>
            <a:ext cx="1546622" cy="542925"/>
          </a:xfrm>
          <a:prstGeom prst="flowChartInputOutput">
            <a:avLst/>
          </a:prstGeom>
          <a:solidFill>
            <a:srgbClr val="CCFFCC"/>
          </a:solidFill>
          <a:ln w="28575" cap="sq">
            <a:solidFill>
              <a:srgbClr val="00FF00"/>
            </a:solidFill>
            <a:miter lim="800000"/>
            <a:headEnd/>
            <a:tailEnd/>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en-US" altLang="en-US" sz="1500" b="1" i="1">
                <a:solidFill>
                  <a:srgbClr val="000000"/>
                </a:solidFill>
                <a:latin typeface="Times New Roman" panose="02020603050405020304" pitchFamily="18" charset="0"/>
              </a:rPr>
              <a:t>x*=x</a:t>
            </a:r>
            <a:r>
              <a:rPr lang="en-US" altLang="en-US" sz="1500" b="1" i="1" baseline="30000">
                <a:solidFill>
                  <a:srgbClr val="000000"/>
                </a:solidFill>
                <a:latin typeface="Times New Roman" panose="02020603050405020304" pitchFamily="18" charset="0"/>
              </a:rPr>
              <a:t>(k)</a:t>
            </a:r>
            <a:endParaRPr lang="en-US" altLang="en-US" sz="1500" b="1" i="1">
              <a:solidFill>
                <a:srgbClr val="000000"/>
              </a:solidFill>
              <a:latin typeface="Times New Roman" panose="02020603050405020304" pitchFamily="18" charset="0"/>
            </a:endParaRPr>
          </a:p>
          <a:p>
            <a:pPr algn="ctr">
              <a:buFont typeface="Wingdings" panose="05000000000000000000" pitchFamily="2" charset="2"/>
              <a:buNone/>
            </a:pPr>
            <a:r>
              <a:rPr lang="en-US" altLang="en-US" sz="1500" b="1" i="1">
                <a:solidFill>
                  <a:srgbClr val="000000"/>
                </a:solidFill>
                <a:latin typeface="Times New Roman" panose="02020603050405020304" pitchFamily="18" charset="0"/>
              </a:rPr>
              <a:t>f*=f(x</a:t>
            </a:r>
            <a:r>
              <a:rPr lang="en-US" altLang="en-US" sz="1500" b="1" i="1" baseline="30000">
                <a:solidFill>
                  <a:srgbClr val="000000"/>
                </a:solidFill>
                <a:latin typeface="Times New Roman" panose="02020603050405020304" pitchFamily="18" charset="0"/>
              </a:rPr>
              <a:t>(k)</a:t>
            </a:r>
            <a:r>
              <a:rPr lang="en-US" altLang="en-US" sz="1500" b="1" i="1">
                <a:solidFill>
                  <a:srgbClr val="000000"/>
                </a:solidFill>
                <a:latin typeface="Times New Roman" panose="02020603050405020304" pitchFamily="18" charset="0"/>
              </a:rPr>
              <a:t>)</a:t>
            </a:r>
            <a:endParaRPr lang="en-US" altLang="zh-CN" sz="1500">
              <a:solidFill>
                <a:srgbClr val="000000"/>
              </a:solidFill>
              <a:latin typeface="Times New Roman" panose="02020603050405020304" pitchFamily="18" charset="0"/>
            </a:endParaRPr>
          </a:p>
        </p:txBody>
      </p:sp>
      <p:sp>
        <p:nvSpPr>
          <p:cNvPr id="8199" name="AutoShape 10">
            <a:extLst>
              <a:ext uri="{FF2B5EF4-FFF2-40B4-BE49-F238E27FC236}">
                <a16:creationId xmlns:a16="http://schemas.microsoft.com/office/drawing/2014/main" id="{F73A994D-6D54-4677-A09E-96DDD8E6642F}"/>
              </a:ext>
            </a:extLst>
          </p:cNvPr>
          <p:cNvSpPr>
            <a:spLocks noChangeArrowheads="1"/>
          </p:cNvSpPr>
          <p:nvPr/>
        </p:nvSpPr>
        <p:spPr bwMode="auto">
          <a:xfrm>
            <a:off x="3614738" y="5525692"/>
            <a:ext cx="952500" cy="258365"/>
          </a:xfrm>
          <a:prstGeom prst="flowChartTerminator">
            <a:avLst/>
          </a:prstGeom>
          <a:solidFill>
            <a:srgbClr val="CCFFCC"/>
          </a:solidFill>
          <a:ln w="28575" cap="sq">
            <a:solidFill>
              <a:srgbClr val="00FF00"/>
            </a:solidFill>
            <a:miter lim="800000"/>
            <a:headEnd/>
            <a:tailEnd/>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zh-CN" altLang="en-US" sz="1500" b="1">
                <a:solidFill>
                  <a:srgbClr val="000000"/>
                </a:solidFill>
                <a:latin typeface="Times New Roman" panose="02020603050405020304" pitchFamily="18" charset="0"/>
              </a:rPr>
              <a:t>出口</a:t>
            </a:r>
            <a:endParaRPr lang="zh-CN" altLang="en-US" sz="1500">
              <a:solidFill>
                <a:srgbClr val="000000"/>
              </a:solidFill>
              <a:latin typeface="Times New Roman" panose="02020603050405020304" pitchFamily="18" charset="0"/>
            </a:endParaRPr>
          </a:p>
        </p:txBody>
      </p:sp>
      <p:sp>
        <p:nvSpPr>
          <p:cNvPr id="8200" name="AutoShape 11">
            <a:extLst>
              <a:ext uri="{FF2B5EF4-FFF2-40B4-BE49-F238E27FC236}">
                <a16:creationId xmlns:a16="http://schemas.microsoft.com/office/drawing/2014/main" id="{52F752A4-935A-4758-A1A4-14AD371C489C}"/>
              </a:ext>
            </a:extLst>
          </p:cNvPr>
          <p:cNvSpPr>
            <a:spLocks noChangeArrowheads="1"/>
          </p:cNvSpPr>
          <p:nvPr/>
        </p:nvSpPr>
        <p:spPr bwMode="auto">
          <a:xfrm>
            <a:off x="3479006" y="3003948"/>
            <a:ext cx="1348979" cy="301228"/>
          </a:xfrm>
          <a:prstGeom prst="flowChartProcess">
            <a:avLst/>
          </a:prstGeom>
          <a:solidFill>
            <a:srgbClr val="CCFFCC"/>
          </a:solidFill>
          <a:ln w="28575" cap="sq">
            <a:solidFill>
              <a:srgbClr val="00FF00"/>
            </a:solidFill>
            <a:miter lim="800000"/>
            <a:headEnd/>
            <a:tailEnd/>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en-US" altLang="en-US" sz="1500" b="1" i="1" dirty="0">
                <a:solidFill>
                  <a:srgbClr val="000000"/>
                </a:solidFill>
                <a:latin typeface="Times New Roman" panose="02020603050405020304" pitchFamily="18" charset="0"/>
              </a:rPr>
              <a:t>x</a:t>
            </a:r>
            <a:r>
              <a:rPr lang="en-US" altLang="en-US" sz="1500" b="1" i="1" baseline="30000" dirty="0">
                <a:solidFill>
                  <a:srgbClr val="000000"/>
                </a:solidFill>
                <a:latin typeface="Times New Roman" panose="02020603050405020304" pitchFamily="18" charset="0"/>
              </a:rPr>
              <a:t>(k)</a:t>
            </a:r>
            <a:r>
              <a:rPr lang="en-US" altLang="en-US" sz="1500" b="1" i="1" dirty="0">
                <a:solidFill>
                  <a:srgbClr val="000000"/>
                </a:solidFill>
                <a:latin typeface="Times New Roman" panose="02020603050405020304" pitchFamily="18" charset="0"/>
              </a:rPr>
              <a:t>=</a:t>
            </a:r>
            <a:r>
              <a:rPr lang="en-US" altLang="en-US" sz="1500" b="1" i="1" baseline="30000" dirty="0">
                <a:solidFill>
                  <a:srgbClr val="000000"/>
                </a:solidFill>
                <a:latin typeface="Times New Roman" panose="02020603050405020304" pitchFamily="18" charset="0"/>
              </a:rPr>
              <a:t> </a:t>
            </a:r>
            <a:r>
              <a:rPr lang="en-US" altLang="en-US" sz="1500" b="1" i="1" dirty="0">
                <a:solidFill>
                  <a:srgbClr val="000000"/>
                </a:solidFill>
                <a:latin typeface="Times New Roman" panose="02020603050405020304" pitchFamily="18" charset="0"/>
              </a:rPr>
              <a:t>x</a:t>
            </a:r>
            <a:r>
              <a:rPr lang="en-US" altLang="en-US" sz="1500" b="1" i="1" baseline="30000" dirty="0">
                <a:solidFill>
                  <a:srgbClr val="000000"/>
                </a:solidFill>
                <a:latin typeface="Times New Roman" panose="02020603050405020304" pitchFamily="18" charset="0"/>
              </a:rPr>
              <a:t>(1)</a:t>
            </a:r>
            <a:endParaRPr lang="en-US" altLang="zh-CN" sz="1500" b="1" i="1" baseline="30000" dirty="0">
              <a:solidFill>
                <a:srgbClr val="000000"/>
              </a:solidFill>
              <a:latin typeface="Times New Roman" panose="02020603050405020304" pitchFamily="18" charset="0"/>
            </a:endParaRPr>
          </a:p>
        </p:txBody>
      </p:sp>
      <p:sp>
        <p:nvSpPr>
          <p:cNvPr id="5131" name="AutoShape 12">
            <a:extLst>
              <a:ext uri="{FF2B5EF4-FFF2-40B4-BE49-F238E27FC236}">
                <a16:creationId xmlns:a16="http://schemas.microsoft.com/office/drawing/2014/main" id="{EE50CEBB-390D-43A6-A23C-2281572DCB8A}"/>
              </a:ext>
            </a:extLst>
          </p:cNvPr>
          <p:cNvSpPr>
            <a:spLocks noChangeArrowheads="1"/>
          </p:cNvSpPr>
          <p:nvPr/>
        </p:nvSpPr>
        <p:spPr bwMode="auto">
          <a:xfrm>
            <a:off x="3467100" y="3461148"/>
            <a:ext cx="1348979" cy="301228"/>
          </a:xfrm>
          <a:prstGeom prst="flowChartProcess">
            <a:avLst/>
          </a:prstGeom>
          <a:solidFill>
            <a:srgbClr val="CCFFCC"/>
          </a:solidFill>
          <a:ln w="28575" cap="sq">
            <a:solidFill>
              <a:srgbClr val="00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a:buFontTx/>
              <a:buNone/>
              <a:defRPr/>
            </a:pPr>
            <a:r>
              <a:rPr lang="zh-CN" altLang="zh-CN" sz="1500" b="1" i="1" dirty="0">
                <a:solidFill>
                  <a:srgbClr val="000000"/>
                </a:solidFill>
                <a:latin typeface="Times New Roman" panose="02020603050405020304" pitchFamily="18" charset="0"/>
              </a:rPr>
              <a:t>计算：</a:t>
            </a:r>
            <a:r>
              <a:rPr lang="en-US" altLang="en-US" sz="1500" b="1" i="1" dirty="0">
                <a:solidFill>
                  <a:srgbClr val="000000"/>
                </a:solidFill>
                <a:latin typeface="Times New Roman" panose="02020603050405020304" pitchFamily="18" charset="0"/>
              </a:rPr>
              <a:t>d</a:t>
            </a:r>
            <a:r>
              <a:rPr lang="en-US" altLang="zh-CN" sz="1500" b="1" i="1" baseline="30000" dirty="0">
                <a:solidFill>
                  <a:srgbClr val="000000"/>
                </a:solidFill>
                <a:latin typeface="Times New Roman" panose="02020603050405020304" pitchFamily="18" charset="0"/>
              </a:rPr>
              <a:t>(k)</a:t>
            </a:r>
          </a:p>
        </p:txBody>
      </p:sp>
      <p:sp>
        <p:nvSpPr>
          <p:cNvPr id="8202" name="AutoShape 13">
            <a:extLst>
              <a:ext uri="{FF2B5EF4-FFF2-40B4-BE49-F238E27FC236}">
                <a16:creationId xmlns:a16="http://schemas.microsoft.com/office/drawing/2014/main" id="{80F412C1-8FB8-430D-962E-394986581EC9}"/>
              </a:ext>
            </a:extLst>
          </p:cNvPr>
          <p:cNvSpPr>
            <a:spLocks noChangeArrowheads="1"/>
          </p:cNvSpPr>
          <p:nvPr/>
        </p:nvSpPr>
        <p:spPr bwMode="auto">
          <a:xfrm>
            <a:off x="5354242" y="3473055"/>
            <a:ext cx="1348978" cy="301228"/>
          </a:xfrm>
          <a:prstGeom prst="flowChartProcess">
            <a:avLst/>
          </a:prstGeom>
          <a:solidFill>
            <a:srgbClr val="CCFFCC"/>
          </a:solidFill>
          <a:ln w="28575" cap="sq">
            <a:solidFill>
              <a:srgbClr val="00FF00"/>
            </a:solidFill>
            <a:miter lim="800000"/>
            <a:headEnd/>
            <a:tailEnd/>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en-US" altLang="zh-CN" sz="1500" b="1" i="1">
                <a:solidFill>
                  <a:srgbClr val="000000"/>
                </a:solidFill>
                <a:latin typeface="Times New Roman" panose="02020603050405020304" pitchFamily="18" charset="0"/>
              </a:rPr>
              <a:t>k=k+1</a:t>
            </a:r>
            <a:endParaRPr lang="en-US" altLang="zh-CN" sz="1500" b="1" i="1" baseline="30000">
              <a:solidFill>
                <a:srgbClr val="000000"/>
              </a:solidFill>
              <a:latin typeface="Times New Roman" panose="02020603050405020304" pitchFamily="18" charset="0"/>
            </a:endParaRPr>
          </a:p>
        </p:txBody>
      </p:sp>
      <p:sp>
        <p:nvSpPr>
          <p:cNvPr id="5133" name="AutoShape 14">
            <a:extLst>
              <a:ext uri="{FF2B5EF4-FFF2-40B4-BE49-F238E27FC236}">
                <a16:creationId xmlns:a16="http://schemas.microsoft.com/office/drawing/2014/main" id="{2D4F1612-A8A7-419C-9570-261ACA84A43C}"/>
              </a:ext>
            </a:extLst>
          </p:cNvPr>
          <p:cNvSpPr>
            <a:spLocks noChangeArrowheads="1"/>
          </p:cNvSpPr>
          <p:nvPr/>
        </p:nvSpPr>
        <p:spPr bwMode="auto">
          <a:xfrm>
            <a:off x="5262562" y="3954066"/>
            <a:ext cx="2052638" cy="1132284"/>
          </a:xfrm>
          <a:prstGeom prst="flowChartProcess">
            <a:avLst/>
          </a:prstGeom>
          <a:solidFill>
            <a:srgbClr val="CCFFCC"/>
          </a:solidFill>
          <a:ln w="28575" cap="sq">
            <a:solidFill>
              <a:srgbClr val="00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a:buFontTx/>
              <a:buNone/>
              <a:defRPr/>
            </a:pPr>
            <a:r>
              <a:rPr lang="zh-CN" altLang="en-US" sz="1500" b="1" dirty="0">
                <a:solidFill>
                  <a:srgbClr val="000000"/>
                </a:solidFill>
                <a:latin typeface="Times New Roman" panose="02020603050405020304" pitchFamily="18" charset="0"/>
              </a:rPr>
              <a:t>沿</a:t>
            </a:r>
            <a:r>
              <a:rPr lang="en-US" altLang="en-US" sz="1500" b="1" i="1" dirty="0">
                <a:solidFill>
                  <a:srgbClr val="000000"/>
                </a:solidFill>
                <a:latin typeface="Times New Roman" panose="02020603050405020304" pitchFamily="18" charset="0"/>
              </a:rPr>
              <a:t>d</a:t>
            </a:r>
            <a:r>
              <a:rPr lang="en-US" altLang="zh-CN" sz="1500" b="1" i="1" baseline="30000" dirty="0">
                <a:solidFill>
                  <a:srgbClr val="000000"/>
                </a:solidFill>
                <a:latin typeface="Times New Roman" panose="02020603050405020304" pitchFamily="18" charset="0"/>
              </a:rPr>
              <a:t>(k)</a:t>
            </a:r>
            <a:r>
              <a:rPr lang="zh-CN" altLang="en-US" sz="1500" b="1" dirty="0">
                <a:solidFill>
                  <a:srgbClr val="000000"/>
                </a:solidFill>
                <a:latin typeface="Times New Roman" panose="02020603050405020304" pitchFamily="18" charset="0"/>
              </a:rPr>
              <a:t>方向一维搜索，</a:t>
            </a:r>
          </a:p>
          <a:p>
            <a:pPr algn="ctr">
              <a:buFontTx/>
              <a:buNone/>
              <a:defRPr/>
            </a:pPr>
            <a:r>
              <a:rPr lang="zh-CN" altLang="en-US" sz="1500" b="1" dirty="0">
                <a:solidFill>
                  <a:srgbClr val="000000"/>
                </a:solidFill>
                <a:latin typeface="Times New Roman" panose="02020603050405020304" pitchFamily="18" charset="0"/>
              </a:rPr>
              <a:t>求</a:t>
            </a:r>
            <a:r>
              <a:rPr lang="zh-CN" altLang="en-US" sz="1500" b="1" dirty="0">
                <a:solidFill>
                  <a:srgbClr val="FF0000"/>
                </a:solidFill>
                <a:latin typeface="Times New Roman" panose="02020603050405020304" pitchFamily="18" charset="0"/>
              </a:rPr>
              <a:t>最优步长</a:t>
            </a:r>
            <a:r>
              <a:rPr lang="zh-CN" altLang="en-US" sz="1500" b="1" i="1" dirty="0">
                <a:solidFill>
                  <a:srgbClr val="000000"/>
                </a:solidFill>
                <a:latin typeface="Times New Roman" panose="02020603050405020304" pitchFamily="18" charset="0"/>
                <a:sym typeface="Symbol" panose="05050102010706020507" pitchFamily="18" charset="2"/>
              </a:rPr>
              <a:t></a:t>
            </a:r>
            <a:r>
              <a:rPr lang="en-US" altLang="zh-CN" sz="1500" b="1" i="1" baseline="30000" dirty="0">
                <a:solidFill>
                  <a:srgbClr val="000000"/>
                </a:solidFill>
                <a:latin typeface="Times New Roman" panose="02020603050405020304" pitchFamily="18" charset="0"/>
              </a:rPr>
              <a:t>(</a:t>
            </a:r>
            <a:r>
              <a:rPr lang="en-US" altLang="en-US" sz="1500" b="1" i="1" baseline="30000" dirty="0">
                <a:solidFill>
                  <a:srgbClr val="000000"/>
                </a:solidFill>
                <a:latin typeface="Times New Roman" panose="02020603050405020304" pitchFamily="18" charset="0"/>
              </a:rPr>
              <a:t>k</a:t>
            </a:r>
            <a:r>
              <a:rPr lang="en-US" altLang="zh-CN" sz="1500" b="1" i="1" baseline="30000" dirty="0">
                <a:solidFill>
                  <a:srgbClr val="000000"/>
                </a:solidFill>
                <a:latin typeface="Times New Roman" panose="02020603050405020304" pitchFamily="18" charset="0"/>
              </a:rPr>
              <a:t>)</a:t>
            </a:r>
            <a:r>
              <a:rPr lang="zh-CN" altLang="en-US" sz="1500" b="1" dirty="0">
                <a:solidFill>
                  <a:srgbClr val="000000"/>
                </a:solidFill>
                <a:latin typeface="Times New Roman" panose="02020603050405020304" pitchFamily="18" charset="0"/>
              </a:rPr>
              <a:t>。</a:t>
            </a:r>
          </a:p>
          <a:p>
            <a:pPr algn="ctr">
              <a:buFontTx/>
              <a:buNone/>
              <a:defRPr/>
            </a:pPr>
            <a:r>
              <a:rPr lang="en-US" altLang="en-US" sz="1500" b="1" i="1" dirty="0">
                <a:solidFill>
                  <a:srgbClr val="000000"/>
                </a:solidFill>
                <a:latin typeface="Times New Roman" panose="02020603050405020304" pitchFamily="18" charset="0"/>
              </a:rPr>
              <a:t>x</a:t>
            </a:r>
            <a:r>
              <a:rPr lang="en-US" altLang="en-US" sz="1500" b="1" i="1" baseline="30000" dirty="0">
                <a:solidFill>
                  <a:srgbClr val="000000"/>
                </a:solidFill>
                <a:latin typeface="Times New Roman" panose="02020603050405020304" pitchFamily="18" charset="0"/>
              </a:rPr>
              <a:t>(k+1)</a:t>
            </a:r>
            <a:r>
              <a:rPr lang="en-US" altLang="en-US" sz="1500" b="1" i="1" dirty="0">
                <a:solidFill>
                  <a:srgbClr val="000000"/>
                </a:solidFill>
                <a:latin typeface="Times New Roman" panose="02020603050405020304" pitchFamily="18" charset="0"/>
              </a:rPr>
              <a:t>=</a:t>
            </a:r>
            <a:r>
              <a:rPr lang="en-US" altLang="en-US" sz="1500" b="1" i="1" baseline="30000" dirty="0">
                <a:solidFill>
                  <a:srgbClr val="000000"/>
                </a:solidFill>
                <a:latin typeface="Times New Roman" panose="02020603050405020304" pitchFamily="18" charset="0"/>
              </a:rPr>
              <a:t> </a:t>
            </a:r>
            <a:r>
              <a:rPr lang="en-US" altLang="en-US" sz="1500" b="1" i="1" dirty="0">
                <a:solidFill>
                  <a:srgbClr val="000000"/>
                </a:solidFill>
                <a:latin typeface="Times New Roman" panose="02020603050405020304" pitchFamily="18" charset="0"/>
              </a:rPr>
              <a:t>x</a:t>
            </a:r>
            <a:r>
              <a:rPr lang="en-US" altLang="en-US" sz="1500" b="1" i="1" baseline="30000" dirty="0">
                <a:solidFill>
                  <a:srgbClr val="000000"/>
                </a:solidFill>
                <a:latin typeface="Times New Roman" panose="02020603050405020304" pitchFamily="18" charset="0"/>
              </a:rPr>
              <a:t>(k)</a:t>
            </a:r>
            <a:r>
              <a:rPr lang="en-US" altLang="zh-CN" sz="1500" b="1" i="1" baseline="30000" dirty="0">
                <a:solidFill>
                  <a:srgbClr val="000000"/>
                </a:solidFill>
                <a:latin typeface="Times New Roman" panose="02020603050405020304" pitchFamily="18" charset="0"/>
              </a:rPr>
              <a:t>+</a:t>
            </a:r>
            <a:r>
              <a:rPr lang="en-US" altLang="en-US" sz="1500" b="1" i="1" dirty="0">
                <a:solidFill>
                  <a:srgbClr val="000000"/>
                </a:solidFill>
                <a:latin typeface="Times New Roman" panose="02020603050405020304" pitchFamily="18" charset="0"/>
              </a:rPr>
              <a:t> </a:t>
            </a:r>
            <a:r>
              <a:rPr lang="en-US" altLang="zh-CN" sz="1500" b="1" i="1" dirty="0">
                <a:solidFill>
                  <a:srgbClr val="000000"/>
                </a:solidFill>
                <a:latin typeface="Times New Roman" panose="02020603050405020304" pitchFamily="18" charset="0"/>
                <a:sym typeface="Symbol" panose="05050102010706020507" pitchFamily="18" charset="2"/>
              </a:rPr>
              <a:t></a:t>
            </a:r>
            <a:r>
              <a:rPr lang="en-US" altLang="zh-CN" sz="1500" b="1" i="1" baseline="30000" dirty="0">
                <a:solidFill>
                  <a:srgbClr val="000000"/>
                </a:solidFill>
                <a:latin typeface="Times New Roman" panose="02020603050405020304" pitchFamily="18" charset="0"/>
              </a:rPr>
              <a:t>(</a:t>
            </a:r>
            <a:r>
              <a:rPr lang="en-US" altLang="en-US" sz="1500" b="1" i="1" baseline="30000" dirty="0">
                <a:solidFill>
                  <a:srgbClr val="000000"/>
                </a:solidFill>
                <a:latin typeface="Times New Roman" panose="02020603050405020304" pitchFamily="18" charset="0"/>
              </a:rPr>
              <a:t>k</a:t>
            </a:r>
            <a:r>
              <a:rPr lang="en-US" altLang="zh-CN" sz="1500" b="1" i="1" baseline="30000" dirty="0">
                <a:solidFill>
                  <a:srgbClr val="000000"/>
                </a:solidFill>
                <a:latin typeface="Times New Roman" panose="02020603050405020304" pitchFamily="18" charset="0"/>
              </a:rPr>
              <a:t>)</a:t>
            </a:r>
            <a:r>
              <a:rPr lang="en-US" altLang="zh-CN" sz="1500" dirty="0">
                <a:effectLst>
                  <a:outerShdw blurRad="38100" dist="38100" dir="2700000" algn="tl">
                    <a:srgbClr val="000000"/>
                  </a:outerShdw>
                </a:effectLst>
              </a:rPr>
              <a:t> </a:t>
            </a:r>
            <a:r>
              <a:rPr lang="en-US" altLang="en-US" sz="1500" b="1" i="1" dirty="0">
                <a:solidFill>
                  <a:srgbClr val="000000"/>
                </a:solidFill>
                <a:latin typeface="Times New Roman" panose="02020603050405020304" pitchFamily="18" charset="0"/>
              </a:rPr>
              <a:t>d</a:t>
            </a:r>
            <a:r>
              <a:rPr lang="en-US" altLang="zh-CN" sz="1500" b="1" i="1" baseline="30000" dirty="0">
                <a:solidFill>
                  <a:srgbClr val="000000"/>
                </a:solidFill>
                <a:latin typeface="Times New Roman" panose="02020603050405020304" pitchFamily="18" charset="0"/>
              </a:rPr>
              <a:t>(k)</a:t>
            </a:r>
            <a:endParaRPr lang="en-US" altLang="zh-CN" sz="1500" b="1" i="1" dirty="0">
              <a:solidFill>
                <a:srgbClr val="000000"/>
              </a:solidFill>
              <a:latin typeface="Times New Roman" panose="02020603050405020304" pitchFamily="18" charset="0"/>
            </a:endParaRPr>
          </a:p>
        </p:txBody>
      </p:sp>
      <p:sp>
        <p:nvSpPr>
          <p:cNvPr id="8204" name="Line 15">
            <a:extLst>
              <a:ext uri="{FF2B5EF4-FFF2-40B4-BE49-F238E27FC236}">
                <a16:creationId xmlns:a16="http://schemas.microsoft.com/office/drawing/2014/main" id="{B7126967-716A-4477-AFCC-969297D9823F}"/>
              </a:ext>
            </a:extLst>
          </p:cNvPr>
          <p:cNvSpPr>
            <a:spLocks noChangeShapeType="1"/>
          </p:cNvSpPr>
          <p:nvPr/>
        </p:nvSpPr>
        <p:spPr bwMode="auto">
          <a:xfrm>
            <a:off x="4082654" y="1885951"/>
            <a:ext cx="0" cy="136922"/>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5" name="Line 16">
            <a:extLst>
              <a:ext uri="{FF2B5EF4-FFF2-40B4-BE49-F238E27FC236}">
                <a16:creationId xmlns:a16="http://schemas.microsoft.com/office/drawing/2014/main" id="{75872225-D8E2-4125-917D-2C6664F7E24A}"/>
              </a:ext>
            </a:extLst>
          </p:cNvPr>
          <p:cNvSpPr>
            <a:spLocks noChangeShapeType="1"/>
          </p:cNvSpPr>
          <p:nvPr/>
        </p:nvSpPr>
        <p:spPr bwMode="auto">
          <a:xfrm>
            <a:off x="4070747" y="2308622"/>
            <a:ext cx="0" cy="217884"/>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6" name="Line 17">
            <a:extLst>
              <a:ext uri="{FF2B5EF4-FFF2-40B4-BE49-F238E27FC236}">
                <a16:creationId xmlns:a16="http://schemas.microsoft.com/office/drawing/2014/main" id="{3341167D-6D66-4624-9BA1-3B0CFFBAD9C8}"/>
              </a:ext>
            </a:extLst>
          </p:cNvPr>
          <p:cNvSpPr>
            <a:spLocks noChangeShapeType="1"/>
          </p:cNvSpPr>
          <p:nvPr/>
        </p:nvSpPr>
        <p:spPr bwMode="auto">
          <a:xfrm>
            <a:off x="4094560" y="2812256"/>
            <a:ext cx="0" cy="171450"/>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7" name="Line 18">
            <a:extLst>
              <a:ext uri="{FF2B5EF4-FFF2-40B4-BE49-F238E27FC236}">
                <a16:creationId xmlns:a16="http://schemas.microsoft.com/office/drawing/2014/main" id="{CA3CA178-D1B7-4C2A-BA28-64243795C0E3}"/>
              </a:ext>
            </a:extLst>
          </p:cNvPr>
          <p:cNvSpPr>
            <a:spLocks noChangeShapeType="1"/>
          </p:cNvSpPr>
          <p:nvPr/>
        </p:nvSpPr>
        <p:spPr bwMode="auto">
          <a:xfrm>
            <a:off x="4094560" y="3302794"/>
            <a:ext cx="0" cy="171450"/>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8" name="Line 19">
            <a:extLst>
              <a:ext uri="{FF2B5EF4-FFF2-40B4-BE49-F238E27FC236}">
                <a16:creationId xmlns:a16="http://schemas.microsoft.com/office/drawing/2014/main" id="{9C23A6BF-72A7-4CF8-84AA-9E2E2177434C}"/>
              </a:ext>
            </a:extLst>
          </p:cNvPr>
          <p:cNvSpPr>
            <a:spLocks noChangeShapeType="1"/>
          </p:cNvSpPr>
          <p:nvPr/>
        </p:nvSpPr>
        <p:spPr bwMode="auto">
          <a:xfrm>
            <a:off x="4185047" y="3759995"/>
            <a:ext cx="0" cy="275035"/>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09" name="Line 20">
            <a:extLst>
              <a:ext uri="{FF2B5EF4-FFF2-40B4-BE49-F238E27FC236}">
                <a16:creationId xmlns:a16="http://schemas.microsoft.com/office/drawing/2014/main" id="{7EB04AA1-7302-4F0D-BABC-622BC50C3F86}"/>
              </a:ext>
            </a:extLst>
          </p:cNvPr>
          <p:cNvSpPr>
            <a:spLocks noChangeShapeType="1"/>
          </p:cNvSpPr>
          <p:nvPr/>
        </p:nvSpPr>
        <p:spPr bwMode="auto">
          <a:xfrm>
            <a:off x="4162425" y="4492228"/>
            <a:ext cx="0" cy="251222"/>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10" name="Line 21">
            <a:extLst>
              <a:ext uri="{FF2B5EF4-FFF2-40B4-BE49-F238E27FC236}">
                <a16:creationId xmlns:a16="http://schemas.microsoft.com/office/drawing/2014/main" id="{CBC267EB-A1F2-410B-9E16-C1F4860BBB68}"/>
              </a:ext>
            </a:extLst>
          </p:cNvPr>
          <p:cNvSpPr>
            <a:spLocks noChangeShapeType="1"/>
          </p:cNvSpPr>
          <p:nvPr/>
        </p:nvSpPr>
        <p:spPr bwMode="auto">
          <a:xfrm>
            <a:off x="4894660" y="4263629"/>
            <a:ext cx="365522" cy="0"/>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11" name="Line 22">
            <a:extLst>
              <a:ext uri="{FF2B5EF4-FFF2-40B4-BE49-F238E27FC236}">
                <a16:creationId xmlns:a16="http://schemas.microsoft.com/office/drawing/2014/main" id="{E79DFA79-7C64-4C7F-B1CD-2E3B034B4704}"/>
              </a:ext>
            </a:extLst>
          </p:cNvPr>
          <p:cNvSpPr>
            <a:spLocks noChangeShapeType="1"/>
          </p:cNvSpPr>
          <p:nvPr/>
        </p:nvSpPr>
        <p:spPr bwMode="auto">
          <a:xfrm flipV="1">
            <a:off x="6060281" y="3771901"/>
            <a:ext cx="10716" cy="183356"/>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12" name="Line 23">
            <a:extLst>
              <a:ext uri="{FF2B5EF4-FFF2-40B4-BE49-F238E27FC236}">
                <a16:creationId xmlns:a16="http://schemas.microsoft.com/office/drawing/2014/main" id="{74558FF2-F6BC-4272-B2B7-21776FE8853D}"/>
              </a:ext>
            </a:extLst>
          </p:cNvPr>
          <p:cNvSpPr>
            <a:spLocks noChangeShapeType="1"/>
          </p:cNvSpPr>
          <p:nvPr/>
        </p:nvSpPr>
        <p:spPr bwMode="auto">
          <a:xfrm flipH="1">
            <a:off x="4837510" y="3623072"/>
            <a:ext cx="514350" cy="0"/>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13" name="Line 24">
            <a:extLst>
              <a:ext uri="{FF2B5EF4-FFF2-40B4-BE49-F238E27FC236}">
                <a16:creationId xmlns:a16="http://schemas.microsoft.com/office/drawing/2014/main" id="{2EC10E71-46C2-4D27-B5A6-BEE44AE992E5}"/>
              </a:ext>
            </a:extLst>
          </p:cNvPr>
          <p:cNvSpPr>
            <a:spLocks noChangeShapeType="1"/>
          </p:cNvSpPr>
          <p:nvPr/>
        </p:nvSpPr>
        <p:spPr bwMode="auto">
          <a:xfrm>
            <a:off x="4151710" y="5235179"/>
            <a:ext cx="0" cy="285750"/>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14" name="Text Box 25">
            <a:extLst>
              <a:ext uri="{FF2B5EF4-FFF2-40B4-BE49-F238E27FC236}">
                <a16:creationId xmlns:a16="http://schemas.microsoft.com/office/drawing/2014/main" id="{9E2C71F8-5A46-44F9-A064-43C0E330AA93}"/>
              </a:ext>
            </a:extLst>
          </p:cNvPr>
          <p:cNvSpPr txBox="1">
            <a:spLocks noChangeArrowheads="1"/>
          </p:cNvSpPr>
          <p:nvPr/>
        </p:nvSpPr>
        <p:spPr bwMode="auto">
          <a:xfrm>
            <a:off x="4805206" y="3999047"/>
            <a:ext cx="278923"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9056" tIns="34529" rIns="69056" bIns="34529"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spcBef>
                <a:spcPct val="50000"/>
              </a:spcBef>
              <a:buFont typeface="Wingdings" panose="05000000000000000000" pitchFamily="2" charset="2"/>
              <a:buNone/>
            </a:pPr>
            <a:r>
              <a:rPr lang="en-US" altLang="en-US" sz="1500" b="1" dirty="0">
                <a:latin typeface="Times New Roman" panose="02020603050405020304" pitchFamily="18" charset="0"/>
              </a:rPr>
              <a:t>N</a:t>
            </a:r>
            <a:endParaRPr lang="en-US" altLang="zh-CN" sz="1500" dirty="0">
              <a:latin typeface="Times New Roman" panose="02020603050405020304" pitchFamily="18" charset="0"/>
            </a:endParaRPr>
          </a:p>
        </p:txBody>
      </p:sp>
      <p:sp>
        <p:nvSpPr>
          <p:cNvPr id="8215" name="Text Box 26">
            <a:extLst>
              <a:ext uri="{FF2B5EF4-FFF2-40B4-BE49-F238E27FC236}">
                <a16:creationId xmlns:a16="http://schemas.microsoft.com/office/drawing/2014/main" id="{E029496E-3F1E-4E20-A2D5-F2EE6AF27B09}"/>
              </a:ext>
            </a:extLst>
          </p:cNvPr>
          <p:cNvSpPr txBox="1">
            <a:spLocks noChangeArrowheads="1"/>
          </p:cNvSpPr>
          <p:nvPr/>
        </p:nvSpPr>
        <p:spPr bwMode="auto">
          <a:xfrm>
            <a:off x="3862231" y="4444340"/>
            <a:ext cx="278923"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9056" tIns="34529" rIns="69056" bIns="34529"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spcBef>
                <a:spcPct val="50000"/>
              </a:spcBef>
              <a:buFont typeface="Wingdings" panose="05000000000000000000" pitchFamily="2" charset="2"/>
              <a:buNone/>
            </a:pPr>
            <a:r>
              <a:rPr lang="en-US" altLang="en-US" sz="1500" b="1" dirty="0">
                <a:latin typeface="Times New Roman" panose="02020603050405020304" pitchFamily="18" charset="0"/>
              </a:rPr>
              <a:t>Y</a:t>
            </a:r>
            <a:endParaRPr lang="en-US" altLang="zh-CN" sz="1500" dirty="0">
              <a:latin typeface="Times New Roman" panose="02020603050405020304" pitchFamily="18" charset="0"/>
            </a:endParaRPr>
          </a:p>
        </p:txBody>
      </p:sp>
      <p:cxnSp>
        <p:nvCxnSpPr>
          <p:cNvPr id="26" name="直接箭头连接符 25">
            <a:extLst>
              <a:ext uri="{FF2B5EF4-FFF2-40B4-BE49-F238E27FC236}">
                <a16:creationId xmlns:a16="http://schemas.microsoft.com/office/drawing/2014/main" id="{CA02E78A-6664-4B26-9E2D-B66ED8893D47}"/>
              </a:ext>
            </a:extLst>
          </p:cNvPr>
          <p:cNvCxnSpPr>
            <a:cxnSpLocks/>
          </p:cNvCxnSpPr>
          <p:nvPr/>
        </p:nvCxnSpPr>
        <p:spPr>
          <a:xfrm flipH="1">
            <a:off x="4739656" y="3040085"/>
            <a:ext cx="405585" cy="421062"/>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566A90BE-158E-063B-DCD9-5F58A44FAC22}"/>
                  </a:ext>
                </a:extLst>
              </p:cNvPr>
              <p:cNvSpPr txBox="1"/>
              <p:nvPr/>
            </p:nvSpPr>
            <p:spPr>
              <a:xfrm>
                <a:off x="4935142" y="2717442"/>
                <a:ext cx="2052635" cy="2406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500" i="1" kern="100">
                          <a:solidFill>
                            <a:srgbClr val="FF0000"/>
                          </a:solidFill>
                          <a:latin typeface="Cambria Math" panose="02040503050406030204" pitchFamily="18" charset="0"/>
                        </a:rPr>
                        <m:t>−[</m:t>
                      </m:r>
                      <m:sSup>
                        <m:sSupPr>
                          <m:ctrlPr>
                            <a:rPr lang="zh-CN" altLang="zh-CN" sz="1500" i="1" kern="100">
                              <a:solidFill>
                                <a:srgbClr val="FF0000"/>
                              </a:solidFill>
                              <a:latin typeface="Cambria Math" panose="02040503050406030204" pitchFamily="18" charset="0"/>
                              <a:ea typeface="Cambria Math" panose="02040503050406030204" pitchFamily="18" charset="0"/>
                            </a:rPr>
                          </m:ctrlPr>
                        </m:sSupPr>
                        <m:e>
                          <m:r>
                            <a:rPr lang="en-US" altLang="zh-CN" sz="1500" i="1" kern="100">
                              <a:solidFill>
                                <a:srgbClr val="FF0000"/>
                              </a:solidFill>
                              <a:latin typeface="Cambria Math" panose="02040503050406030204" pitchFamily="18" charset="0"/>
                              <a:cs typeface="Cambria Math" panose="02040503050406030204" pitchFamily="18" charset="0"/>
                            </a:rPr>
                            <m:t>𝛻</m:t>
                          </m:r>
                        </m:e>
                        <m:sup>
                          <m:r>
                            <a:rPr lang="en-US" altLang="zh-CN" sz="1500" i="1" kern="100">
                              <a:solidFill>
                                <a:srgbClr val="FF0000"/>
                              </a:solidFill>
                              <a:latin typeface="Cambria Math" panose="02040503050406030204" pitchFamily="18" charset="0"/>
                            </a:rPr>
                            <m:t>2</m:t>
                          </m:r>
                        </m:sup>
                      </m:sSup>
                      <m:r>
                        <a:rPr lang="en-US" altLang="zh-CN" sz="1500" i="1" kern="100">
                          <a:solidFill>
                            <a:srgbClr val="FF0000"/>
                          </a:solidFill>
                          <a:latin typeface="Cambria Math" panose="02040503050406030204" pitchFamily="18" charset="0"/>
                        </a:rPr>
                        <m:t>𝑓</m:t>
                      </m:r>
                      <m:r>
                        <a:rPr lang="en-US" altLang="zh-CN" sz="1500" i="1" kern="100">
                          <a:solidFill>
                            <a:srgbClr val="FF0000"/>
                          </a:solidFill>
                          <a:latin typeface="Cambria Math" panose="02040503050406030204" pitchFamily="18" charset="0"/>
                        </a:rPr>
                        <m:t>(</m:t>
                      </m:r>
                      <m:sSup>
                        <m:sSupPr>
                          <m:ctrlPr>
                            <a:rPr lang="zh-CN" altLang="zh-CN" sz="1500" i="1" kern="100">
                              <a:solidFill>
                                <a:srgbClr val="FF0000"/>
                              </a:solidFill>
                              <a:latin typeface="Cambria Math" panose="02040503050406030204" pitchFamily="18" charset="0"/>
                              <a:ea typeface="Cambria Math" panose="02040503050406030204" pitchFamily="18" charset="0"/>
                            </a:rPr>
                          </m:ctrlPr>
                        </m:sSupPr>
                        <m:e>
                          <m:r>
                            <a:rPr lang="en-US" altLang="zh-CN" sz="1500" i="1" kern="100">
                              <a:solidFill>
                                <a:srgbClr val="FF0000"/>
                              </a:solidFill>
                              <a:latin typeface="Cambria Math" panose="02040503050406030204" pitchFamily="18" charset="0"/>
                            </a:rPr>
                            <m:t>𝑥</m:t>
                          </m:r>
                        </m:e>
                        <m:sup>
                          <m:r>
                            <a:rPr lang="en-US" altLang="zh-CN" sz="1500" i="1" kern="100">
                              <a:solidFill>
                                <a:srgbClr val="FF0000"/>
                              </a:solidFill>
                              <a:latin typeface="Cambria Math" panose="02040503050406030204" pitchFamily="18" charset="0"/>
                            </a:rPr>
                            <m:t>(</m:t>
                          </m:r>
                          <m:r>
                            <a:rPr lang="en-US" altLang="zh-CN" sz="1500" i="1" kern="100">
                              <a:solidFill>
                                <a:srgbClr val="FF0000"/>
                              </a:solidFill>
                              <a:latin typeface="Cambria Math" panose="02040503050406030204" pitchFamily="18" charset="0"/>
                            </a:rPr>
                            <m:t>𝑘</m:t>
                          </m:r>
                          <m:r>
                            <a:rPr lang="en-US" altLang="zh-CN" sz="1500" i="1" kern="100">
                              <a:solidFill>
                                <a:srgbClr val="FF0000"/>
                              </a:solidFill>
                              <a:latin typeface="Cambria Math" panose="02040503050406030204" pitchFamily="18" charset="0"/>
                            </a:rPr>
                            <m:t>)</m:t>
                          </m:r>
                        </m:sup>
                      </m:sSup>
                      <m:r>
                        <a:rPr lang="en-US" altLang="zh-CN" sz="1500" i="1" kern="100">
                          <a:solidFill>
                            <a:srgbClr val="FF0000"/>
                          </a:solidFill>
                          <a:latin typeface="Cambria Math" panose="02040503050406030204" pitchFamily="18" charset="0"/>
                        </a:rPr>
                        <m:t>)</m:t>
                      </m:r>
                      <m:sSup>
                        <m:sSupPr>
                          <m:ctrlPr>
                            <a:rPr lang="zh-CN" altLang="zh-CN" sz="1500" i="1" kern="100">
                              <a:solidFill>
                                <a:srgbClr val="FF0000"/>
                              </a:solidFill>
                              <a:latin typeface="Cambria Math" panose="02040503050406030204" pitchFamily="18" charset="0"/>
                              <a:ea typeface="Cambria Math" panose="02040503050406030204" pitchFamily="18" charset="0"/>
                            </a:rPr>
                          </m:ctrlPr>
                        </m:sSupPr>
                        <m:e>
                          <m:r>
                            <a:rPr lang="en-US" altLang="zh-CN" sz="1500" i="1" kern="100">
                              <a:solidFill>
                                <a:srgbClr val="FF0000"/>
                              </a:solidFill>
                              <a:latin typeface="Cambria Math" panose="02040503050406030204" pitchFamily="18" charset="0"/>
                            </a:rPr>
                            <m:t>]</m:t>
                          </m:r>
                        </m:e>
                        <m:sup>
                          <m:r>
                            <a:rPr lang="en-US" altLang="zh-CN" sz="1500" i="1" kern="100">
                              <a:solidFill>
                                <a:srgbClr val="FF0000"/>
                              </a:solidFill>
                              <a:latin typeface="Cambria Math" panose="02040503050406030204" pitchFamily="18" charset="0"/>
                            </a:rPr>
                            <m:t>−1</m:t>
                          </m:r>
                        </m:sup>
                      </m:sSup>
                      <m:r>
                        <a:rPr lang="en-US" altLang="zh-CN" sz="1500" i="1" kern="100">
                          <a:solidFill>
                            <a:srgbClr val="FF0000"/>
                          </a:solidFill>
                          <a:latin typeface="Cambria Math" panose="02040503050406030204" pitchFamily="18" charset="0"/>
                          <a:cs typeface="Cambria Math" panose="02040503050406030204" pitchFamily="18" charset="0"/>
                        </a:rPr>
                        <m:t>𝛻</m:t>
                      </m:r>
                      <m:r>
                        <a:rPr lang="en-US" altLang="zh-CN" sz="1500" i="1" kern="100">
                          <a:solidFill>
                            <a:srgbClr val="FF0000"/>
                          </a:solidFill>
                          <a:latin typeface="Cambria Math" panose="02040503050406030204" pitchFamily="18" charset="0"/>
                        </a:rPr>
                        <m:t>𝑓</m:t>
                      </m:r>
                      <m:r>
                        <a:rPr lang="en-US" altLang="zh-CN" sz="1500" i="1" kern="100">
                          <a:solidFill>
                            <a:srgbClr val="FF0000"/>
                          </a:solidFill>
                          <a:latin typeface="Cambria Math" panose="02040503050406030204" pitchFamily="18" charset="0"/>
                        </a:rPr>
                        <m:t>(</m:t>
                      </m:r>
                      <m:sSup>
                        <m:sSupPr>
                          <m:ctrlPr>
                            <a:rPr lang="zh-CN" altLang="zh-CN" sz="1500" i="1" kern="100">
                              <a:solidFill>
                                <a:srgbClr val="FF0000"/>
                              </a:solidFill>
                              <a:latin typeface="Cambria Math" panose="02040503050406030204" pitchFamily="18" charset="0"/>
                              <a:ea typeface="Cambria Math" panose="02040503050406030204" pitchFamily="18" charset="0"/>
                            </a:rPr>
                          </m:ctrlPr>
                        </m:sSupPr>
                        <m:e>
                          <m:r>
                            <a:rPr lang="en-US" altLang="zh-CN" sz="1500" i="1" kern="100">
                              <a:solidFill>
                                <a:srgbClr val="FF0000"/>
                              </a:solidFill>
                              <a:latin typeface="Cambria Math" panose="02040503050406030204" pitchFamily="18" charset="0"/>
                            </a:rPr>
                            <m:t>𝑥</m:t>
                          </m:r>
                        </m:e>
                        <m:sup>
                          <m:r>
                            <a:rPr lang="en-US" altLang="zh-CN" sz="1500" i="1" kern="100">
                              <a:solidFill>
                                <a:srgbClr val="FF0000"/>
                              </a:solidFill>
                              <a:latin typeface="Cambria Math" panose="02040503050406030204" pitchFamily="18" charset="0"/>
                            </a:rPr>
                            <m:t>(</m:t>
                          </m:r>
                          <m:r>
                            <a:rPr lang="en-US" altLang="zh-CN" sz="1500" i="1" kern="100">
                              <a:solidFill>
                                <a:srgbClr val="FF0000"/>
                              </a:solidFill>
                              <a:latin typeface="Cambria Math" panose="02040503050406030204" pitchFamily="18" charset="0"/>
                            </a:rPr>
                            <m:t>𝑘</m:t>
                          </m:r>
                          <m:r>
                            <a:rPr lang="en-US" altLang="zh-CN" sz="1500" i="1" kern="100">
                              <a:solidFill>
                                <a:srgbClr val="FF0000"/>
                              </a:solidFill>
                              <a:latin typeface="Cambria Math" panose="02040503050406030204" pitchFamily="18" charset="0"/>
                            </a:rPr>
                            <m:t>)</m:t>
                          </m:r>
                        </m:sup>
                      </m:sSup>
                      <m:r>
                        <a:rPr lang="en-US" altLang="zh-CN" sz="1500" i="1" kern="100">
                          <a:solidFill>
                            <a:srgbClr val="FF0000"/>
                          </a:solidFill>
                          <a:latin typeface="Cambria Math" panose="02040503050406030204" pitchFamily="18" charset="0"/>
                        </a:rPr>
                        <m:t>)</m:t>
                      </m:r>
                    </m:oMath>
                  </m:oMathPara>
                </a14:m>
                <a:endParaRPr lang="zh-CN" altLang="en-US" sz="1500" dirty="0">
                  <a:solidFill>
                    <a:srgbClr val="FF0000"/>
                  </a:solidFill>
                </a:endParaRPr>
              </a:p>
            </p:txBody>
          </p:sp>
        </mc:Choice>
        <mc:Fallback xmlns="">
          <p:sp>
            <p:nvSpPr>
              <p:cNvPr id="2" name="文本框 1">
                <a:extLst>
                  <a:ext uri="{FF2B5EF4-FFF2-40B4-BE49-F238E27FC236}">
                    <a16:creationId xmlns:a16="http://schemas.microsoft.com/office/drawing/2014/main" id="{566A90BE-158E-063B-DCD9-5F58A44FAC22}"/>
                  </a:ext>
                </a:extLst>
              </p:cNvPr>
              <p:cNvSpPr txBox="1">
                <a:spLocks noRot="1" noChangeAspect="1" noMove="1" noResize="1" noEditPoints="1" noAdjustHandles="1" noChangeArrowheads="1" noChangeShapeType="1" noTextEdit="1"/>
              </p:cNvSpPr>
              <p:nvPr/>
            </p:nvSpPr>
            <p:spPr>
              <a:xfrm>
                <a:off x="4935142" y="2717442"/>
                <a:ext cx="2052635" cy="240643"/>
              </a:xfrm>
              <a:prstGeom prst="rect">
                <a:avLst/>
              </a:prstGeom>
              <a:blipFill>
                <a:blip r:embed="rId2"/>
                <a:stretch>
                  <a:fillRect t="-2564" r="-3274" b="-384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AutoShape 8">
                <a:extLst>
                  <a:ext uri="{FF2B5EF4-FFF2-40B4-BE49-F238E27FC236}">
                    <a16:creationId xmlns:a16="http://schemas.microsoft.com/office/drawing/2014/main" id="{E3C08AC6-A093-FBDC-95A2-BEC0582A6DF4}"/>
                  </a:ext>
                </a:extLst>
              </p:cNvPr>
              <p:cNvSpPr>
                <a:spLocks noChangeArrowheads="1"/>
              </p:cNvSpPr>
              <p:nvPr/>
            </p:nvSpPr>
            <p:spPr bwMode="auto">
              <a:xfrm>
                <a:off x="3444834" y="3970068"/>
                <a:ext cx="1460897" cy="537666"/>
              </a:xfrm>
              <a:prstGeom prst="flowChartDecision">
                <a:avLst/>
              </a:prstGeom>
              <a:solidFill>
                <a:srgbClr val="CCFFCC"/>
              </a:solidFill>
              <a:ln w="28575" cap="sq">
                <a:solidFill>
                  <a:srgbClr val="00FF00"/>
                </a:solidFill>
                <a:miter lim="800000"/>
              </a:ln>
              <a:effectLst/>
              <a:extLst>
                <a:ext uri="{AF507438-7753-43E0-B8FC-AC1667EBCBE1}">
                  <a14:hiddenEffects>
                    <a:effectLst>
                      <a:outerShdw dist="35921" dir="2700000" algn="ctr" rotWithShape="0">
                        <a:schemeClr val="bg2"/>
                      </a:outerShdw>
                    </a:effectLst>
                  </a14:hiddenEffects>
                </a:ext>
              </a:extLst>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a:buFontTx/>
                  <a:buNone/>
                  <a:defRPr/>
                </a:pPr>
                <a14:m>
                  <m:oMathPara xmlns:m="http://schemas.openxmlformats.org/officeDocument/2006/math">
                    <m:oMathParaPr>
                      <m:jc m:val="centerGroup"/>
                    </m:oMathParaPr>
                    <m:oMath xmlns:m="http://schemas.openxmlformats.org/officeDocument/2006/math">
                      <m:sSub>
                        <m:sSubPr>
                          <m:ctrlPr>
                            <a:rPr lang="en-US" altLang="zh-CN" sz="1350" i="1" kern="100">
                              <a:solidFill>
                                <a:srgbClr val="FF0000"/>
                              </a:solidFill>
                              <a:latin typeface="Cambria Math" panose="02040503050406030204" pitchFamily="18" charset="0"/>
                              <a:ea typeface="Cambria Math" panose="02040503050406030204" pitchFamily="18" charset="0"/>
                            </a:rPr>
                          </m:ctrlPr>
                        </m:sSubPr>
                        <m:e>
                          <m:d>
                            <m:dPr>
                              <m:begChr m:val="‖"/>
                              <m:endChr m:val="‖"/>
                              <m:ctrlPr>
                                <a:rPr lang="zh-CN" altLang="zh-CN" sz="1350" i="1" kern="100">
                                  <a:solidFill>
                                    <a:srgbClr val="FF0000"/>
                                  </a:solidFill>
                                  <a:latin typeface="Cambria Math" panose="02040503050406030204" pitchFamily="18" charset="0"/>
                                  <a:ea typeface="Cambria Math" panose="02040503050406030204" pitchFamily="18" charset="0"/>
                                </a:rPr>
                              </m:ctrlPr>
                            </m:dPr>
                            <m:e>
                              <m:r>
                                <a:rPr lang="en-US" altLang="zh-CN" sz="1350" i="1" kern="100">
                                  <a:solidFill>
                                    <a:srgbClr val="FF0000"/>
                                  </a:solidFill>
                                  <a:latin typeface="Cambria Math" panose="02040503050406030204" pitchFamily="18" charset="0"/>
                                  <a:cs typeface="Cambria Math" panose="02040503050406030204" pitchFamily="18" charset="0"/>
                                </a:rPr>
                                <m:t>𝛻</m:t>
                              </m:r>
                              <m:r>
                                <a:rPr lang="en-US" altLang="zh-CN" sz="1350" i="1" kern="100">
                                  <a:solidFill>
                                    <a:srgbClr val="FF0000"/>
                                  </a:solidFill>
                                  <a:latin typeface="Cambria Math" panose="02040503050406030204" pitchFamily="18" charset="0"/>
                                </a:rPr>
                                <m:t>𝑓</m:t>
                              </m:r>
                              <m:r>
                                <a:rPr lang="en-US" altLang="zh-CN" sz="1350" i="1" kern="100">
                                  <a:solidFill>
                                    <a:srgbClr val="FF0000"/>
                                  </a:solidFill>
                                  <a:latin typeface="Cambria Math" panose="02040503050406030204" pitchFamily="18" charset="0"/>
                                </a:rPr>
                                <m:t>(</m:t>
                              </m:r>
                              <m:sSup>
                                <m:sSupPr>
                                  <m:ctrlPr>
                                    <a:rPr lang="zh-CN" altLang="zh-CN" sz="1350" i="1" kern="100">
                                      <a:solidFill>
                                        <a:srgbClr val="FF0000"/>
                                      </a:solidFill>
                                      <a:latin typeface="Cambria Math" panose="02040503050406030204" pitchFamily="18" charset="0"/>
                                      <a:ea typeface="Cambria Math" panose="02040503050406030204" pitchFamily="18" charset="0"/>
                                    </a:rPr>
                                  </m:ctrlPr>
                                </m:sSupPr>
                                <m:e>
                                  <m:r>
                                    <a:rPr lang="en-US" altLang="zh-CN" sz="1350" i="1" kern="100">
                                      <a:solidFill>
                                        <a:srgbClr val="FF0000"/>
                                      </a:solidFill>
                                      <a:latin typeface="Cambria Math" panose="02040503050406030204" pitchFamily="18" charset="0"/>
                                    </a:rPr>
                                    <m:t>𝑥</m:t>
                                  </m:r>
                                </m:e>
                                <m:sup>
                                  <m:r>
                                    <a:rPr lang="en-US" altLang="zh-CN" sz="1350" i="1" kern="100">
                                      <a:solidFill>
                                        <a:srgbClr val="FF0000"/>
                                      </a:solidFill>
                                      <a:latin typeface="Cambria Math" panose="02040503050406030204" pitchFamily="18" charset="0"/>
                                    </a:rPr>
                                    <m:t>(</m:t>
                                  </m:r>
                                  <m:r>
                                    <a:rPr lang="en-US" altLang="zh-CN" sz="1350" i="1" kern="100">
                                      <a:solidFill>
                                        <a:srgbClr val="FF0000"/>
                                      </a:solidFill>
                                      <a:latin typeface="Cambria Math" panose="02040503050406030204" pitchFamily="18" charset="0"/>
                                    </a:rPr>
                                    <m:t>𝑘</m:t>
                                  </m:r>
                                  <m:r>
                                    <a:rPr lang="en-US" altLang="zh-CN" sz="1350" i="1" kern="100">
                                      <a:solidFill>
                                        <a:srgbClr val="FF0000"/>
                                      </a:solidFill>
                                      <a:latin typeface="Cambria Math" panose="02040503050406030204" pitchFamily="18" charset="0"/>
                                    </a:rPr>
                                    <m:t>)</m:t>
                                  </m:r>
                                </m:sup>
                              </m:sSup>
                              <m:r>
                                <a:rPr lang="en-US" altLang="zh-CN" sz="1350" i="1" kern="100">
                                  <a:solidFill>
                                    <a:srgbClr val="FF0000"/>
                                  </a:solidFill>
                                  <a:latin typeface="Cambria Math" panose="02040503050406030204" pitchFamily="18" charset="0"/>
                                </a:rPr>
                                <m:t>)</m:t>
                              </m:r>
                            </m:e>
                          </m:d>
                        </m:e>
                        <m:sub>
                          <m:r>
                            <a:rPr lang="en-US" altLang="zh-CN" sz="1350" i="1" kern="100">
                              <a:solidFill>
                                <a:srgbClr val="FF0000"/>
                              </a:solidFill>
                              <a:latin typeface="Cambria Math" panose="02040503050406030204" pitchFamily="18" charset="0"/>
                              <a:ea typeface="Cambria Math" panose="02040503050406030204" pitchFamily="18" charset="0"/>
                            </a:rPr>
                            <m:t>2</m:t>
                          </m:r>
                        </m:sub>
                      </m:sSub>
                      <m:r>
                        <a:rPr lang="en-US" altLang="zh-CN" sz="1350" i="1" kern="100">
                          <a:solidFill>
                            <a:srgbClr val="FF0000"/>
                          </a:solidFill>
                          <a:latin typeface="Cambria Math" panose="02040503050406030204" pitchFamily="18" charset="0"/>
                          <a:ea typeface="Cambria Math" panose="02040503050406030204" pitchFamily="18" charset="0"/>
                        </a:rPr>
                        <m:t>≤</m:t>
                      </m:r>
                      <m:r>
                        <a:rPr lang="en-US" altLang="zh-CN" sz="1350" i="1" kern="100">
                          <a:solidFill>
                            <a:srgbClr val="FF0000"/>
                          </a:solidFill>
                          <a:latin typeface="Cambria Math" panose="02040503050406030204" pitchFamily="18" charset="0"/>
                        </a:rPr>
                        <m:t>𝜀</m:t>
                      </m:r>
                    </m:oMath>
                  </m:oMathPara>
                </a14:m>
                <a:endParaRPr lang="zh-CN" altLang="en-US" sz="1350" b="1" i="1" dirty="0">
                  <a:solidFill>
                    <a:srgbClr val="000000"/>
                  </a:solidFill>
                  <a:latin typeface="Times New Roman" panose="02020603050405020304" pitchFamily="18" charset="0"/>
                  <a:sym typeface="Symbol" panose="05050102010706020507" pitchFamily="18" charset="2"/>
                </a:endParaRPr>
              </a:p>
            </p:txBody>
          </p:sp>
        </mc:Choice>
        <mc:Fallback xmlns="">
          <p:sp>
            <p:nvSpPr>
              <p:cNvPr id="3" name="AutoShape 8">
                <a:extLst>
                  <a:ext uri="{FF2B5EF4-FFF2-40B4-BE49-F238E27FC236}">
                    <a16:creationId xmlns:a16="http://schemas.microsoft.com/office/drawing/2014/main" id="{E3C08AC6-A093-FBDC-95A2-BEC0582A6DF4}"/>
                  </a:ext>
                </a:extLst>
              </p:cNvPr>
              <p:cNvSpPr>
                <a:spLocks noRot="1" noChangeAspect="1" noMove="1" noResize="1" noEditPoints="1" noAdjustHandles="1" noChangeArrowheads="1" noChangeShapeType="1" noTextEdit="1"/>
              </p:cNvSpPr>
              <p:nvPr/>
            </p:nvSpPr>
            <p:spPr bwMode="auto">
              <a:xfrm>
                <a:off x="3444834" y="3970068"/>
                <a:ext cx="1460897" cy="537666"/>
              </a:xfrm>
              <a:prstGeom prst="flowChartDecision">
                <a:avLst/>
              </a:prstGeom>
              <a:blipFill>
                <a:blip r:embed="rId3"/>
                <a:stretch>
                  <a:fillRect/>
                </a:stretch>
              </a:blipFill>
              <a:ln w="28575" cap="sq">
                <a:solidFill>
                  <a:srgbClr val="00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transition>
    <p:split orient="vert" dir="in"/>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Box 4">
                <a:extLst>
                  <a:ext uri="{FF2B5EF4-FFF2-40B4-BE49-F238E27FC236}">
                    <a16:creationId xmlns:a16="http://schemas.microsoft.com/office/drawing/2014/main" id="{C2B4E265-38E3-871F-F5F8-1BEBC9F49B50}"/>
                  </a:ext>
                </a:extLst>
              </p:cNvPr>
              <p:cNvSpPr txBox="1">
                <a:spLocks noChangeArrowheads="1"/>
              </p:cNvSpPr>
              <p:nvPr/>
            </p:nvSpPr>
            <p:spPr bwMode="auto">
              <a:xfrm>
                <a:off x="611560" y="620688"/>
                <a:ext cx="8208912" cy="538359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lgn="just">
                  <a:lnSpc>
                    <a:spcPct val="120000"/>
                  </a:lnSpc>
                  <a:buFontTx/>
                  <a:buNone/>
                  <a:defRPr/>
                </a:pPr>
                <a:r>
                  <a:rPr lang="zh-CN" altLang="en-US" sz="2400" b="1" dirty="0">
                    <a:solidFill>
                      <a:srgbClr val="0070C0"/>
                    </a:solidFill>
                    <a:latin typeface="宋体" panose="02010600030101010101" pitchFamily="2" charset="-122"/>
                  </a:rPr>
                  <a:t>例</a:t>
                </a:r>
                <a:r>
                  <a:rPr lang="en-US" altLang="zh-CN" sz="2400" dirty="0">
                    <a:latin typeface="宋体" panose="02010600030101010101" pitchFamily="2" charset="-122"/>
                  </a:rPr>
                  <a:t>  </a:t>
                </a:r>
                <a:r>
                  <a:rPr lang="zh-CN" altLang="en-US" sz="2400" dirty="0">
                    <a:latin typeface="宋体" panose="02010600030101010101" pitchFamily="2" charset="-122"/>
                  </a:rPr>
                  <a:t>用阻尼牛顿法求函数</a:t>
                </a:r>
                <a:endParaRPr lang="en-US" altLang="zh-CN" sz="2400" dirty="0">
                  <a:latin typeface="宋体" panose="02010600030101010101" pitchFamily="2" charset="-122"/>
                </a:endParaRPr>
              </a:p>
              <a:p>
                <a:pPr algn="just">
                  <a:lnSpc>
                    <a:spcPct val="120000"/>
                  </a:lnSpc>
                  <a:buFontTx/>
                  <a:buNone/>
                  <a:defRPr/>
                </a:pPr>
                <a:endParaRPr lang="en-US" altLang="zh-CN" sz="2400" dirty="0">
                  <a:latin typeface="宋体" panose="02010600030101010101" pitchFamily="2" charset="-122"/>
                </a:endParaRPr>
              </a:p>
              <a:p>
                <a:pPr algn="just">
                  <a:lnSpc>
                    <a:spcPct val="120000"/>
                  </a:lnSpc>
                  <a:defRPr/>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𝑓</m:t>
                      </m:r>
                      <m:r>
                        <a:rPr lang="zh-CN" altLang="en-US" sz="2400">
                          <a:latin typeface="Cambria Math" panose="02040503050406030204" pitchFamily="18" charset="0"/>
                        </a:rPr>
                        <m:t>(</m:t>
                      </m:r>
                      <m:r>
                        <a:rPr lang="zh-CN" altLang="en-US" sz="2400" i="1">
                          <a:latin typeface="Cambria Math" panose="02040503050406030204" pitchFamily="18" charset="0"/>
                        </a:rPr>
                        <m:t>𝑥</m:t>
                      </m:r>
                      <m:r>
                        <a:rPr lang="zh-CN" altLang="en-US" sz="2400">
                          <a:latin typeface="Cambria Math" panose="02040503050406030204" pitchFamily="18" charset="0"/>
                        </a:rPr>
                        <m:t>)=4</m:t>
                      </m:r>
                      <m:sSup>
                        <m:sSupPr>
                          <m:ctrlPr>
                            <a:rPr lang="zh-CN" altLang="en-US" sz="2400" i="1">
                              <a:latin typeface="Cambria Math" panose="02040503050406030204" pitchFamily="18" charset="0"/>
                            </a:rPr>
                          </m:ctrlPr>
                        </m:sSupPr>
                        <m:e>
                          <m:d>
                            <m:dPr>
                              <m:ctrlPr>
                                <a:rPr lang="zh-CN" altLang="en-US" sz="2400" i="1">
                                  <a:latin typeface="Cambria Math" panose="02040503050406030204" pitchFamily="18" charset="0"/>
                                </a:rPr>
                              </m:ctrlPr>
                            </m:dPr>
                            <m:e>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𝑥</m:t>
                                  </m:r>
                                </m:e>
                                <m:sub>
                                  <m:r>
                                    <a:rPr lang="zh-CN" altLang="en-US" sz="2400">
                                      <a:latin typeface="Cambria Math" panose="02040503050406030204" pitchFamily="18" charset="0"/>
                                    </a:rPr>
                                    <m:t>1</m:t>
                                  </m:r>
                                </m:sub>
                              </m:sSub>
                              <m:r>
                                <a:rPr lang="zh-CN" altLang="en-US" sz="2400">
                                  <a:latin typeface="Cambria Math" panose="02040503050406030204" pitchFamily="18" charset="0"/>
                                </a:rPr>
                                <m:t>+1</m:t>
                              </m:r>
                            </m:e>
                          </m:d>
                        </m:e>
                        <m:sup>
                          <m:r>
                            <a:rPr lang="zh-CN" altLang="en-US" sz="2400">
                              <a:latin typeface="Cambria Math" panose="02040503050406030204" pitchFamily="18" charset="0"/>
                            </a:rPr>
                            <m:t>2</m:t>
                          </m:r>
                        </m:sup>
                      </m:sSup>
                      <m:r>
                        <a:rPr lang="zh-CN" altLang="en-US" sz="2400">
                          <a:latin typeface="Cambria Math" panose="02040503050406030204" pitchFamily="18" charset="0"/>
                        </a:rPr>
                        <m:t>+2</m:t>
                      </m:r>
                      <m:sSup>
                        <m:sSupPr>
                          <m:ctrlPr>
                            <a:rPr lang="zh-CN" altLang="en-US" sz="2400" i="1">
                              <a:latin typeface="Cambria Math" panose="02040503050406030204" pitchFamily="18" charset="0"/>
                            </a:rPr>
                          </m:ctrlPr>
                        </m:sSupPr>
                        <m:e>
                          <m:d>
                            <m:dPr>
                              <m:ctrlPr>
                                <a:rPr lang="zh-CN" altLang="en-US" sz="2400" i="1">
                                  <a:latin typeface="Cambria Math" panose="02040503050406030204" pitchFamily="18" charset="0"/>
                                </a:rPr>
                              </m:ctrlPr>
                            </m:dPr>
                            <m:e>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𝑥</m:t>
                                  </m:r>
                                </m:e>
                                <m:sub>
                                  <m:r>
                                    <a:rPr lang="zh-CN" altLang="en-US" sz="2400">
                                      <a:latin typeface="Cambria Math" panose="02040503050406030204" pitchFamily="18" charset="0"/>
                                    </a:rPr>
                                    <m:t>2</m:t>
                                  </m:r>
                                </m:sub>
                              </m:sSub>
                              <m:r>
                                <a:rPr lang="zh-CN" altLang="en-US" sz="2400">
                                  <a:latin typeface="Cambria Math" panose="02040503050406030204" pitchFamily="18" charset="0"/>
                                </a:rPr>
                                <m:t>−1</m:t>
                              </m:r>
                            </m:e>
                          </m:d>
                        </m:e>
                        <m:sup>
                          <m:r>
                            <a:rPr lang="zh-CN" altLang="en-US" sz="2400">
                              <a:latin typeface="Cambria Math" panose="02040503050406030204" pitchFamily="18" charset="0"/>
                            </a:rPr>
                            <m:t>2</m:t>
                          </m:r>
                        </m:sup>
                      </m:sSup>
                      <m:r>
                        <a:rPr lang="zh-CN" altLang="en-US" sz="240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𝑥</m:t>
                          </m:r>
                        </m:e>
                        <m:sub>
                          <m:r>
                            <a:rPr lang="zh-CN" altLang="en-US" sz="2400">
                              <a:latin typeface="Cambria Math" panose="02040503050406030204" pitchFamily="18" charset="0"/>
                            </a:rPr>
                            <m:t>1</m:t>
                          </m:r>
                        </m:sub>
                      </m:sSub>
                      <m:r>
                        <a:rPr lang="zh-CN" altLang="en-US" sz="240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𝑥</m:t>
                          </m:r>
                        </m:e>
                        <m:sub>
                          <m:r>
                            <a:rPr lang="zh-CN" altLang="en-US" sz="2400">
                              <a:latin typeface="Cambria Math" panose="02040503050406030204" pitchFamily="18" charset="0"/>
                            </a:rPr>
                            <m:t>2</m:t>
                          </m:r>
                        </m:sub>
                      </m:sSub>
                      <m:r>
                        <a:rPr lang="zh-CN" altLang="en-US" sz="2400">
                          <a:latin typeface="Cambria Math" panose="02040503050406030204" pitchFamily="18" charset="0"/>
                        </a:rPr>
                        <m:t>+10</m:t>
                      </m:r>
                    </m:oMath>
                  </m:oMathPara>
                </a14:m>
                <a:endParaRPr lang="en-US" altLang="zh-CN" sz="2400" dirty="0">
                  <a:latin typeface="宋体" panose="02010600030101010101" pitchFamily="2" charset="-122"/>
                </a:endParaRPr>
              </a:p>
              <a:p>
                <a:pPr algn="just">
                  <a:lnSpc>
                    <a:spcPct val="120000"/>
                  </a:lnSpc>
                  <a:defRPr/>
                </a:pPr>
                <a:endParaRPr lang="en-US" altLang="zh-CN" sz="2400" dirty="0">
                  <a:latin typeface="宋体" panose="02010600030101010101" pitchFamily="2" charset="-122"/>
                </a:endParaRPr>
              </a:p>
              <a:p>
                <a:pPr algn="just">
                  <a:lnSpc>
                    <a:spcPct val="120000"/>
                  </a:lnSpc>
                  <a:defRPr/>
                </a:pPr>
                <a:r>
                  <a:rPr lang="zh-CN" altLang="en-US" sz="2400" dirty="0">
                    <a:latin typeface="宋体" panose="02010600030101010101" pitchFamily="2" charset="-122"/>
                  </a:rPr>
                  <a:t>    的最优解。初始点</a:t>
                </a:r>
                <a14:m>
                  <m:oMath xmlns:m="http://schemas.openxmlformats.org/officeDocument/2006/math">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r>
                          <a:rPr lang="en-US" altLang="zh-CN" sz="2400">
                            <a:latin typeface="Cambria Math" panose="02040503050406030204" pitchFamily="18" charset="0"/>
                          </a:rPr>
                          <m:t>(1)</m:t>
                        </m:r>
                      </m:sup>
                    </m:sSup>
                    <m:r>
                      <a:rPr lang="zh-CN" altLang="en-US" sz="2400">
                        <a:latin typeface="Cambria Math" panose="02040503050406030204" pitchFamily="18" charset="0"/>
                      </a:rPr>
                      <m:t>=</m:t>
                    </m:r>
                    <m:sSup>
                      <m:sSupPr>
                        <m:ctrlPr>
                          <a:rPr lang="zh-CN" altLang="en-US" sz="2400" i="1">
                            <a:latin typeface="Cambria Math" panose="02040503050406030204" pitchFamily="18" charset="0"/>
                          </a:rPr>
                        </m:ctrlPr>
                      </m:sSupPr>
                      <m:e>
                        <m:d>
                          <m:dPr>
                            <m:begChr m:val="["/>
                            <m:endChr m:val="]"/>
                            <m:ctrlPr>
                              <a:rPr lang="zh-CN" altLang="en-US" sz="2400" i="1">
                                <a:latin typeface="Cambria Math" panose="02040503050406030204" pitchFamily="18" charset="0"/>
                              </a:rPr>
                            </m:ctrlPr>
                          </m:dPr>
                          <m:e>
                            <m:r>
                              <a:rPr lang="zh-CN" altLang="en-US" sz="2400">
                                <a:latin typeface="Cambria Math" panose="02040503050406030204" pitchFamily="18" charset="0"/>
                              </a:rPr>
                              <m:t>0</m:t>
                            </m:r>
                            <m:r>
                              <a:rPr lang="en-US" altLang="zh-CN" sz="2400" i="1">
                                <a:latin typeface="Cambria Math" panose="02040503050406030204" pitchFamily="18" charset="0"/>
                              </a:rPr>
                              <m:t>   </m:t>
                            </m:r>
                            <m:r>
                              <a:rPr lang="zh-CN" altLang="en-US" sz="2400">
                                <a:latin typeface="Cambria Math" panose="02040503050406030204" pitchFamily="18" charset="0"/>
                              </a:rPr>
                              <m:t>0</m:t>
                            </m:r>
                          </m:e>
                        </m:d>
                      </m:e>
                      <m:sup>
                        <m:r>
                          <a:rPr lang="zh-CN" altLang="en-US" sz="2400" i="1">
                            <a:latin typeface="Cambria Math" panose="02040503050406030204" pitchFamily="18" charset="0"/>
                          </a:rPr>
                          <m:t>𝑇</m:t>
                        </m:r>
                      </m:sup>
                    </m:sSup>
                  </m:oMath>
                </a14:m>
                <a:r>
                  <a:rPr lang="zh-CN" altLang="en-US" sz="2400" dirty="0">
                    <a:latin typeface="宋体" panose="02010600030101010101" pitchFamily="2" charset="-122"/>
                  </a:rPr>
                  <a:t>，精度</a:t>
                </a:r>
                <a14:m>
                  <m:oMath xmlns:m="http://schemas.openxmlformats.org/officeDocument/2006/math">
                    <m:r>
                      <a:rPr lang="zh-CN" altLang="en-US" sz="2400" i="1">
                        <a:latin typeface="Cambria Math" panose="02040503050406030204" pitchFamily="18" charset="0"/>
                      </a:rPr>
                      <m:t>𝜀</m:t>
                    </m:r>
                    <m:r>
                      <a:rPr lang="zh-CN" altLang="en-US" sz="2400">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a:latin typeface="Cambria Math" panose="02040503050406030204" pitchFamily="18" charset="0"/>
                          </a:rPr>
                          <m:t>10</m:t>
                        </m:r>
                      </m:e>
                      <m:sup>
                        <m:r>
                          <a:rPr lang="zh-CN" altLang="en-US" sz="2400">
                            <a:latin typeface="Cambria Math" panose="02040503050406030204" pitchFamily="18" charset="0"/>
                          </a:rPr>
                          <m:t>−5</m:t>
                        </m:r>
                      </m:sup>
                    </m:sSup>
                  </m:oMath>
                </a14:m>
                <a:r>
                  <a:rPr lang="zh-CN" altLang="en-US" sz="2400" dirty="0">
                    <a:latin typeface="宋体" panose="02010600030101010101" pitchFamily="2" charset="-122"/>
                  </a:rPr>
                  <a:t>。</a:t>
                </a:r>
              </a:p>
              <a:p>
                <a:pPr algn="just">
                  <a:lnSpc>
                    <a:spcPct val="120000"/>
                  </a:lnSpc>
                  <a:defRPr/>
                </a:pPr>
                <a:r>
                  <a:rPr lang="zh-CN" altLang="en-US" sz="2400" b="1" dirty="0">
                    <a:solidFill>
                      <a:srgbClr val="0070C0"/>
                    </a:solidFill>
                    <a:latin typeface="宋体" panose="02010600030101010101" pitchFamily="2" charset="-122"/>
                  </a:rPr>
                  <a:t>解  </a:t>
                </a:r>
                <a:r>
                  <a:rPr lang="zh-CN" altLang="en-US" sz="2400" dirty="0">
                    <a:latin typeface="宋体" panose="02010600030101010101" pitchFamily="2" charset="-122"/>
                  </a:rPr>
                  <a:t>函数的梯度</a:t>
                </a:r>
              </a:p>
              <a:p>
                <a:pPr algn="just">
                  <a:lnSpc>
                    <a:spcPct val="120000"/>
                  </a:lnSpc>
                  <a:defRPr/>
                </a:pPr>
                <a14:m>
                  <m:oMathPara xmlns:m="http://schemas.openxmlformats.org/officeDocument/2006/math">
                    <m:oMathParaPr>
                      <m:jc m:val="centerGroup"/>
                    </m:oMathParaPr>
                    <m:oMath xmlns:m="http://schemas.openxmlformats.org/officeDocument/2006/math">
                      <m:r>
                        <a:rPr lang="en-US" altLang="zh-CN" sz="2400" i="1" kern="100">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rPr>
                        <m:t>𝑓</m:t>
                      </m:r>
                      <m:r>
                        <a:rPr lang="zh-CN" altLang="en-US" sz="2400">
                          <a:latin typeface="Cambria Math" panose="02040503050406030204" pitchFamily="18" charset="0"/>
                        </a:rPr>
                        <m:t>(</m:t>
                      </m:r>
                      <m:r>
                        <a:rPr lang="zh-CN" altLang="en-US" sz="2400" i="1">
                          <a:latin typeface="Cambria Math" panose="02040503050406030204" pitchFamily="18" charset="0"/>
                        </a:rPr>
                        <m:t>𝑥</m:t>
                      </m:r>
                      <m:r>
                        <a:rPr lang="zh-CN" altLang="en-US" sz="2400">
                          <a:latin typeface="Cambria Math" panose="02040503050406030204" pitchFamily="18" charset="0"/>
                        </a:rPr>
                        <m:t>)=</m:t>
                      </m:r>
                      <m:d>
                        <m:dPr>
                          <m:begChr m:val="["/>
                          <m:endChr m:val="]"/>
                          <m:ctrlPr>
                            <a:rPr lang="zh-CN" altLang="en-US" sz="2400" i="1">
                              <a:latin typeface="Cambria Math" panose="02040503050406030204" pitchFamily="18" charset="0"/>
                            </a:rPr>
                          </m:ctrlPr>
                        </m:dPr>
                        <m:e>
                          <m:m>
                            <m:mPr>
                              <m:plcHide m:val="on"/>
                              <m:mcs>
                                <m:mc>
                                  <m:mcPr>
                                    <m:count m:val="1"/>
                                    <m:mcJc m:val="center"/>
                                  </m:mcPr>
                                </m:mc>
                              </m:mcs>
                              <m:ctrlPr>
                                <a:rPr lang="zh-CN" altLang="en-US" sz="2400" i="1">
                                  <a:latin typeface="Cambria Math" panose="02040503050406030204" pitchFamily="18" charset="0"/>
                                </a:rPr>
                              </m:ctrlPr>
                            </m:mPr>
                            <m:mr>
                              <m:e>
                                <m:r>
                                  <a:rPr lang="zh-CN" altLang="en-US" sz="2400">
                                    <a:latin typeface="Cambria Math" panose="02040503050406030204" pitchFamily="18" charset="0"/>
                                  </a:rPr>
                                  <m:t>8</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𝑥</m:t>
                                    </m:r>
                                  </m:e>
                                  <m:sub>
                                    <m:r>
                                      <a:rPr lang="zh-CN" altLang="en-US" sz="2400">
                                        <a:latin typeface="Cambria Math" panose="02040503050406030204" pitchFamily="18" charset="0"/>
                                      </a:rPr>
                                      <m:t>1</m:t>
                                    </m:r>
                                  </m:sub>
                                </m:sSub>
                                <m:r>
                                  <a:rPr lang="zh-CN" altLang="en-US" sz="2400">
                                    <a:latin typeface="Cambria Math" panose="02040503050406030204" pitchFamily="18" charset="0"/>
                                  </a:rPr>
                                  <m:t>+9</m:t>
                                </m:r>
                              </m:e>
                            </m:mr>
                            <m:mr>
                              <m:e>
                                <m:r>
                                  <a:rPr lang="zh-CN" altLang="en-US" sz="2400">
                                    <a:latin typeface="Cambria Math" panose="02040503050406030204" pitchFamily="18" charset="0"/>
                                  </a:rPr>
                                  <m:t>4</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𝑥</m:t>
                                    </m:r>
                                  </m:e>
                                  <m:sub>
                                    <m:r>
                                      <a:rPr lang="zh-CN" altLang="en-US" sz="2400">
                                        <a:latin typeface="Cambria Math" panose="02040503050406030204" pitchFamily="18" charset="0"/>
                                      </a:rPr>
                                      <m:t>2</m:t>
                                    </m:r>
                                  </m:sub>
                                </m:sSub>
                                <m:r>
                                  <a:rPr lang="zh-CN" altLang="en-US" sz="2400">
                                    <a:latin typeface="Cambria Math" panose="02040503050406030204" pitchFamily="18" charset="0"/>
                                  </a:rPr>
                                  <m:t>−3</m:t>
                                </m:r>
                              </m:e>
                            </m:mr>
                          </m:m>
                        </m:e>
                      </m:d>
                    </m:oMath>
                  </m:oMathPara>
                </a14:m>
                <a:endParaRPr lang="en-US" altLang="zh-CN" sz="2400" dirty="0">
                  <a:latin typeface="宋体" panose="02010600030101010101" pitchFamily="2" charset="-122"/>
                </a:endParaRPr>
              </a:p>
              <a:p>
                <a:pPr algn="just">
                  <a:lnSpc>
                    <a:spcPct val="120000"/>
                  </a:lnSpc>
                  <a:defRPr/>
                </a:pPr>
                <a:r>
                  <a:rPr lang="zh-CN" altLang="en-US" sz="2400" dirty="0">
                    <a:latin typeface="宋体" panose="02010600030101010101" pitchFamily="2" charset="-122"/>
                  </a:rPr>
                  <a:t>和海赛矩阵及其逆      </a:t>
                </a:r>
                <a14:m>
                  <m:oMath xmlns:m="http://schemas.openxmlformats.org/officeDocument/2006/math">
                    <m:r>
                      <a:rPr lang="en-US" altLang="zh-CN" sz="2400">
                        <a:latin typeface="Cambria Math" panose="02040503050406030204" pitchFamily="18" charset="0"/>
                      </a:rPr>
                      <m:t> </m:t>
                    </m:r>
                    <m:r>
                      <a:rPr lang="zh-CN" altLang="en-US" sz="2400" i="1">
                        <a:latin typeface="Cambria Math" panose="02040503050406030204" pitchFamily="18" charset="0"/>
                      </a:rPr>
                      <m:t>𝐻</m:t>
                    </m:r>
                    <m:r>
                      <a:rPr lang="zh-CN" altLang="en-US" sz="2400">
                        <a:latin typeface="Cambria Math" panose="02040503050406030204" pitchFamily="18" charset="0"/>
                      </a:rPr>
                      <m:t>=</m:t>
                    </m:r>
                    <m:d>
                      <m:dPr>
                        <m:begChr m:val="["/>
                        <m:endChr m:val="]"/>
                        <m:ctrlPr>
                          <a:rPr lang="zh-CN" altLang="en-US" sz="2400" i="1">
                            <a:latin typeface="Cambria Math" panose="02040503050406030204" pitchFamily="18" charset="0"/>
                          </a:rPr>
                        </m:ctrlPr>
                      </m:dPr>
                      <m:e>
                        <m:m>
                          <m:mPr>
                            <m:plcHide m:val="on"/>
                            <m:mcs>
                              <m:mc>
                                <m:mcPr>
                                  <m:count m:val="2"/>
                                  <m:mcJc m:val="center"/>
                                </m:mcPr>
                              </m:mc>
                            </m:mcs>
                            <m:ctrlPr>
                              <a:rPr lang="zh-CN" altLang="en-US" sz="2400" i="1">
                                <a:latin typeface="Cambria Math" panose="02040503050406030204" pitchFamily="18" charset="0"/>
                              </a:rPr>
                            </m:ctrlPr>
                          </m:mPr>
                          <m:mr>
                            <m:e>
                              <m:r>
                                <a:rPr lang="zh-CN" altLang="en-US" sz="2400">
                                  <a:latin typeface="Cambria Math" panose="02040503050406030204" pitchFamily="18" charset="0"/>
                                </a:rPr>
                                <m:t>8</m:t>
                              </m:r>
                            </m:e>
                            <m:e>
                              <m:r>
                                <a:rPr lang="zh-CN" altLang="en-US" sz="2400">
                                  <a:latin typeface="Cambria Math" panose="02040503050406030204" pitchFamily="18" charset="0"/>
                                </a:rPr>
                                <m:t>0</m:t>
                              </m:r>
                            </m:e>
                          </m:mr>
                          <m:mr>
                            <m:e>
                              <m:r>
                                <a:rPr lang="zh-CN" altLang="en-US" sz="2400">
                                  <a:latin typeface="Cambria Math" panose="02040503050406030204" pitchFamily="18" charset="0"/>
                                </a:rPr>
                                <m:t>0</m:t>
                              </m:r>
                            </m:e>
                            <m:e>
                              <m:r>
                                <a:rPr lang="zh-CN" altLang="en-US" sz="2400">
                                  <a:latin typeface="Cambria Math" panose="02040503050406030204" pitchFamily="18" charset="0"/>
                                </a:rPr>
                                <m:t>4</m:t>
                              </m:r>
                            </m:e>
                          </m:mr>
                        </m:m>
                      </m:e>
                    </m:d>
                    <m:r>
                      <a:rPr lang="en-US" altLang="zh-CN" sz="2400" i="1">
                        <a:latin typeface="Cambria Math" panose="02040503050406030204" pitchFamily="18" charset="0"/>
                      </a:rPr>
                      <m:t>                  </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𝐻</m:t>
                        </m:r>
                      </m:e>
                      <m:sup>
                        <m:r>
                          <a:rPr lang="zh-CN" altLang="en-US" sz="2400">
                            <a:latin typeface="Cambria Math" panose="02040503050406030204" pitchFamily="18" charset="0"/>
                          </a:rPr>
                          <m:t>−1</m:t>
                        </m:r>
                      </m:sup>
                    </m:sSup>
                    <m:r>
                      <a:rPr lang="zh-CN" altLang="en-US" sz="2400">
                        <a:latin typeface="Cambria Math" panose="02040503050406030204" pitchFamily="18" charset="0"/>
                      </a:rPr>
                      <m:t>=</m:t>
                    </m:r>
                    <m:d>
                      <m:dPr>
                        <m:begChr m:val="["/>
                        <m:endChr m:val="]"/>
                        <m:ctrlPr>
                          <a:rPr lang="zh-CN" altLang="en-US" sz="2400" i="1">
                            <a:latin typeface="Cambria Math" panose="02040503050406030204" pitchFamily="18" charset="0"/>
                          </a:rPr>
                        </m:ctrlPr>
                      </m:dPr>
                      <m:e>
                        <m:m>
                          <m:mPr>
                            <m:plcHide m:val="on"/>
                            <m:mcs>
                              <m:mc>
                                <m:mcPr>
                                  <m:count m:val="2"/>
                                  <m:mcJc m:val="center"/>
                                </m:mcPr>
                              </m:mc>
                            </m:mcs>
                            <m:ctrlPr>
                              <a:rPr lang="zh-CN" altLang="en-US" sz="2400" i="1">
                                <a:latin typeface="Cambria Math" panose="02040503050406030204" pitchFamily="18" charset="0"/>
                              </a:rPr>
                            </m:ctrlPr>
                          </m:mPr>
                          <m:mr>
                            <m:e>
                              <m:f>
                                <m:fPr>
                                  <m:ctrlPr>
                                    <a:rPr lang="zh-CN" altLang="en-US" sz="2400" i="1">
                                      <a:latin typeface="Cambria Math" panose="02040503050406030204" pitchFamily="18" charset="0"/>
                                    </a:rPr>
                                  </m:ctrlPr>
                                </m:fPr>
                                <m:num>
                                  <m:r>
                                    <a:rPr lang="zh-CN" altLang="en-US" sz="2400">
                                      <a:latin typeface="Cambria Math" panose="02040503050406030204" pitchFamily="18" charset="0"/>
                                    </a:rPr>
                                    <m:t>1</m:t>
                                  </m:r>
                                </m:num>
                                <m:den>
                                  <m:r>
                                    <a:rPr lang="zh-CN" altLang="en-US" sz="2400">
                                      <a:latin typeface="Cambria Math" panose="02040503050406030204" pitchFamily="18" charset="0"/>
                                    </a:rPr>
                                    <m:t>8</m:t>
                                  </m:r>
                                </m:den>
                              </m:f>
                            </m:e>
                            <m:e>
                              <m:r>
                                <a:rPr lang="zh-CN" altLang="en-US" sz="2400">
                                  <a:latin typeface="Cambria Math" panose="02040503050406030204" pitchFamily="18" charset="0"/>
                                </a:rPr>
                                <m:t>0</m:t>
                              </m:r>
                            </m:e>
                          </m:mr>
                          <m:mr>
                            <m:e>
                              <m:r>
                                <a:rPr lang="zh-CN" altLang="en-US" sz="2400">
                                  <a:latin typeface="Cambria Math" panose="02040503050406030204" pitchFamily="18" charset="0"/>
                                </a:rPr>
                                <m:t>0</m:t>
                              </m:r>
                            </m:e>
                            <m:e>
                              <m:f>
                                <m:fPr>
                                  <m:ctrlPr>
                                    <a:rPr lang="zh-CN" altLang="en-US" sz="2400" i="1">
                                      <a:latin typeface="Cambria Math" panose="02040503050406030204" pitchFamily="18" charset="0"/>
                                    </a:rPr>
                                  </m:ctrlPr>
                                </m:fPr>
                                <m:num>
                                  <m:r>
                                    <a:rPr lang="zh-CN" altLang="en-US" sz="2400">
                                      <a:latin typeface="Cambria Math" panose="02040503050406030204" pitchFamily="18" charset="0"/>
                                    </a:rPr>
                                    <m:t>1</m:t>
                                  </m:r>
                                </m:num>
                                <m:den>
                                  <m:r>
                                    <a:rPr lang="zh-CN" altLang="en-US" sz="2400">
                                      <a:latin typeface="Cambria Math" panose="02040503050406030204" pitchFamily="18" charset="0"/>
                                    </a:rPr>
                                    <m:t>4</m:t>
                                  </m:r>
                                </m:den>
                              </m:f>
                            </m:e>
                          </m:mr>
                        </m:m>
                      </m:e>
                    </m:d>
                  </m:oMath>
                </a14:m>
                <a:endParaRPr lang="zh-CN" altLang="en-US" sz="2400" dirty="0">
                  <a:latin typeface="宋体" panose="02010600030101010101" pitchFamily="2" charset="-122"/>
                </a:endParaRPr>
              </a:p>
              <a:p>
                <a:pPr algn="just">
                  <a:lnSpc>
                    <a:spcPct val="120000"/>
                  </a:lnSpc>
                  <a:buFontTx/>
                  <a:buNone/>
                  <a:defRPr/>
                </a:pPr>
                <a:endParaRPr lang="zh-CN" altLang="en-US" sz="2400" dirty="0">
                  <a:latin typeface="宋体" panose="02010600030101010101" pitchFamily="2" charset="-122"/>
                </a:endParaRPr>
              </a:p>
            </p:txBody>
          </p:sp>
        </mc:Choice>
        <mc:Fallback xmlns="">
          <p:sp>
            <p:nvSpPr>
              <p:cNvPr id="2" name="Text Box 4">
                <a:extLst>
                  <a:ext uri="{FF2B5EF4-FFF2-40B4-BE49-F238E27FC236}">
                    <a16:creationId xmlns:a16="http://schemas.microsoft.com/office/drawing/2014/main" id="{C2B4E265-38E3-871F-F5F8-1BEBC9F49B50}"/>
                  </a:ext>
                </a:extLst>
              </p:cNvPr>
              <p:cNvSpPr txBox="1">
                <a:spLocks noRot="1" noChangeAspect="1" noMove="1" noResize="1" noEditPoints="1" noAdjustHandles="1" noChangeArrowheads="1" noChangeShapeType="1" noTextEdit="1"/>
              </p:cNvSpPr>
              <p:nvPr/>
            </p:nvSpPr>
            <p:spPr bwMode="auto">
              <a:xfrm>
                <a:off x="611560" y="620688"/>
                <a:ext cx="8208912" cy="5383590"/>
              </a:xfrm>
              <a:prstGeom prst="rect">
                <a:avLst/>
              </a:prstGeom>
              <a:blipFill>
                <a:blip r:embed="rId2"/>
                <a:stretch>
                  <a:fillRect l="-1114" t="-68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extLst>
      <p:ext uri="{BB962C8B-B14F-4D97-AF65-F5344CB8AC3E}">
        <p14:creationId xmlns:p14="http://schemas.microsoft.com/office/powerpoint/2010/main" val="1231582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D8F43A0B-6BE8-279E-0481-0611A86B28BA}"/>
                  </a:ext>
                </a:extLst>
              </p:cNvPr>
              <p:cNvSpPr txBox="1"/>
              <p:nvPr/>
            </p:nvSpPr>
            <p:spPr>
              <a:xfrm>
                <a:off x="683568" y="311288"/>
                <a:ext cx="7776864" cy="6518772"/>
              </a:xfrm>
              <a:prstGeom prst="rect">
                <a:avLst/>
              </a:prstGeom>
              <a:noFill/>
            </p:spPr>
            <p:txBody>
              <a:bodyPr wrap="square">
                <a:spAutoFit/>
              </a:bodyPr>
              <a:lstStyle/>
              <a:p>
                <a:pPr algn="just">
                  <a:lnSpc>
                    <a:spcPct val="120000"/>
                  </a:lnSpc>
                </a:pPr>
                <a:r>
                  <a:rPr lang="en-US" altLang="zh-CN" sz="2400" kern="100" dirty="0">
                    <a:latin typeface="Times New Roman" panose="02020603050405020304" pitchFamily="18" charset="0"/>
                  </a:rPr>
                  <a:t>     </a:t>
                </a:r>
                <a:r>
                  <a:rPr lang="zh-CN" altLang="zh-CN" sz="2400" kern="100" dirty="0">
                    <a:latin typeface="Times New Roman" panose="02020603050405020304" pitchFamily="18" charset="0"/>
                  </a:rPr>
                  <a:t>在 </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𝑥</m:t>
                        </m:r>
                      </m:e>
                      <m:sup>
                        <m:r>
                          <a:rPr lang="en-US" altLang="zh-CN" sz="2400" kern="100">
                            <a:latin typeface="Cambria Math" panose="02040503050406030204" pitchFamily="18" charset="0"/>
                          </a:rPr>
                          <m:t>(</m:t>
                        </m:r>
                        <m:r>
                          <a:rPr lang="en-US" altLang="zh-CN" sz="2400" i="1" kern="100">
                            <a:latin typeface="Cambria Math" panose="02040503050406030204" pitchFamily="18" charset="0"/>
                          </a:rPr>
                          <m:t>1</m:t>
                        </m:r>
                        <m:r>
                          <a:rPr lang="en-US" altLang="zh-CN" sz="2400" kern="100">
                            <a:latin typeface="Cambria Math" panose="02040503050406030204" pitchFamily="18" charset="0"/>
                          </a:rPr>
                          <m:t>)</m:t>
                        </m:r>
                      </m:sup>
                    </m:sSup>
                  </m:oMath>
                </a14:m>
                <a:r>
                  <a:rPr lang="zh-CN" altLang="zh-CN" sz="2400" kern="100" dirty="0">
                    <a:latin typeface="Times New Roman" panose="02020603050405020304" pitchFamily="18" charset="0"/>
                  </a:rPr>
                  <a:t>点处</a:t>
                </a:r>
              </a:p>
              <a:p>
                <a:pPr algn="just">
                  <a:lnSpc>
                    <a:spcPct val="120000"/>
                  </a:lnSpc>
                </a:pPr>
                <a14:m>
                  <m:oMathPara xmlns:m="http://schemas.openxmlformats.org/officeDocument/2006/math">
                    <m:oMathParaPr>
                      <m:jc m:val="centerGroup"/>
                    </m:oMathParaPr>
                    <m:oMath xmlns:m="http://schemas.openxmlformats.org/officeDocument/2006/math">
                      <m:r>
                        <a:rPr lang="en-US" altLang="zh-CN" sz="2400" i="1" kern="100">
                          <a:latin typeface="Cambria Math" panose="02040503050406030204" pitchFamily="18" charset="0"/>
                        </a:rPr>
                        <m:t>𝛻</m:t>
                      </m:r>
                      <m:r>
                        <a:rPr lang="en-US" altLang="zh-CN" sz="2400" i="1" kern="100">
                          <a:latin typeface="Cambria Math" panose="02040503050406030204" pitchFamily="18" charset="0"/>
                        </a:rPr>
                        <m:t>𝑓</m:t>
                      </m:r>
                      <m:d>
                        <m:dPr>
                          <m:ctrlPr>
                            <a:rPr lang="zh-CN" altLang="zh-CN" sz="2400" i="1" kern="100">
                              <a:latin typeface="Cambria Math" panose="02040503050406030204" pitchFamily="18" charset="0"/>
                              <a:ea typeface="Cambria Math" panose="02040503050406030204" pitchFamily="18" charset="0"/>
                            </a:rPr>
                          </m:ctrlPr>
                        </m:dPr>
                        <m:e>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𝑥</m:t>
                              </m:r>
                            </m:e>
                            <m:sup>
                              <m:d>
                                <m:dPr>
                                  <m:ctrlPr>
                                    <a:rPr lang="zh-CN" altLang="zh-CN" sz="2400" i="1" kern="100">
                                      <a:latin typeface="Cambria Math" panose="02040503050406030204" pitchFamily="18" charset="0"/>
                                      <a:ea typeface="Cambria Math" panose="02040503050406030204" pitchFamily="18" charset="0"/>
                                    </a:rPr>
                                  </m:ctrlPr>
                                </m:dPr>
                                <m:e>
                                  <m:r>
                                    <a:rPr lang="en-US" altLang="zh-CN" sz="2400" i="1" kern="100">
                                      <a:latin typeface="Cambria Math" panose="02040503050406030204" pitchFamily="18" charset="0"/>
                                    </a:rPr>
                                    <m:t>1</m:t>
                                  </m:r>
                                </m:e>
                              </m:d>
                            </m:sup>
                          </m:sSup>
                        </m:e>
                      </m:d>
                      <m:r>
                        <a:rPr lang="en-US" altLang="zh-CN" sz="2400" i="1" kern="100">
                          <a:latin typeface="Cambria Math" panose="02040503050406030204" pitchFamily="18" charset="0"/>
                        </a:rPr>
                        <m:t>=</m:t>
                      </m:r>
                      <m:d>
                        <m:dPr>
                          <m:begChr m:val="["/>
                          <m:endChr m:val="]"/>
                          <m:ctrlPr>
                            <a:rPr lang="zh-CN" altLang="zh-CN" sz="2400" i="1" kern="100">
                              <a:latin typeface="Cambria Math" panose="02040503050406030204" pitchFamily="18" charset="0"/>
                              <a:ea typeface="Cambria Math" panose="02040503050406030204" pitchFamily="18" charset="0"/>
                            </a:rPr>
                          </m:ctrlPr>
                        </m:dPr>
                        <m:e>
                          <m:f>
                            <m:fPr>
                              <m:type m:val="noBar"/>
                              <m:ctrlPr>
                                <a:rPr lang="zh-CN" altLang="zh-CN" sz="2400" i="1" kern="100">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rPr>
                                <m:t>9</m:t>
                              </m:r>
                            </m:num>
                            <m:den>
                              <m:r>
                                <a:rPr lang="en-US" altLang="zh-CN" sz="2400" i="1" kern="100">
                                  <a:latin typeface="Cambria Math" panose="02040503050406030204" pitchFamily="18" charset="0"/>
                                </a:rPr>
                                <m:t>−3</m:t>
                              </m:r>
                            </m:den>
                          </m:f>
                        </m:e>
                      </m:d>
                    </m:oMath>
                  </m:oMathPara>
                </a14:m>
                <a:endParaRPr lang="zh-CN" altLang="zh-CN" sz="2400" kern="100" dirty="0">
                  <a:latin typeface="Times New Roman" panose="02020603050405020304" pitchFamily="18" charset="0"/>
                </a:endParaRPr>
              </a:p>
              <a:p>
                <a:pPr algn="just">
                  <a:lnSpc>
                    <a:spcPct val="120000"/>
                  </a:lnSpc>
                </a:pPr>
                <a14:m>
                  <m:oMathPara xmlns:m="http://schemas.openxmlformats.org/officeDocument/2006/math">
                    <m:oMathParaPr>
                      <m:jc m:val="centerGroup"/>
                    </m:oMathParaPr>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𝑑</m:t>
                          </m:r>
                        </m:e>
                        <m:sup>
                          <m:d>
                            <m:dPr>
                              <m:ctrlPr>
                                <a:rPr lang="zh-CN" altLang="zh-CN" sz="2400" i="1" kern="100">
                                  <a:latin typeface="Cambria Math" panose="02040503050406030204" pitchFamily="18" charset="0"/>
                                  <a:ea typeface="Cambria Math" panose="02040503050406030204" pitchFamily="18" charset="0"/>
                                </a:rPr>
                              </m:ctrlPr>
                            </m:dPr>
                            <m:e>
                              <m:r>
                                <a:rPr lang="en-US" altLang="zh-CN" sz="2400" i="1" kern="100">
                                  <a:latin typeface="Cambria Math" panose="02040503050406030204" pitchFamily="18" charset="0"/>
                                </a:rPr>
                                <m:t>1</m:t>
                              </m:r>
                            </m:e>
                          </m:d>
                        </m:sup>
                      </m:sSup>
                      <m:r>
                        <a:rPr lang="en-US" altLang="zh-CN" sz="2400" i="1" kern="100">
                          <a:latin typeface="Cambria Math" panose="02040503050406030204" pitchFamily="18" charset="0"/>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𝐻</m:t>
                          </m:r>
                        </m:e>
                        <m:sup>
                          <m:r>
                            <a:rPr lang="en-US" altLang="zh-CN" sz="2400" i="1" kern="100">
                              <a:latin typeface="Cambria Math" panose="02040503050406030204" pitchFamily="18" charset="0"/>
                            </a:rPr>
                            <m:t>−1</m:t>
                          </m:r>
                        </m:sup>
                      </m:sSup>
                      <m:r>
                        <a:rPr lang="en-US" altLang="zh-CN" sz="2400" i="1" kern="100">
                          <a:latin typeface="Cambria Math" panose="02040503050406030204" pitchFamily="18" charset="0"/>
                        </a:rPr>
                        <m:t>𝛻</m:t>
                      </m:r>
                      <m:r>
                        <a:rPr lang="en-US" altLang="zh-CN" sz="2400" i="1" kern="100">
                          <a:latin typeface="Cambria Math" panose="02040503050406030204" pitchFamily="18" charset="0"/>
                        </a:rPr>
                        <m:t>𝑓</m:t>
                      </m:r>
                      <m:r>
                        <a:rPr lang="en-US" altLang="zh-CN" sz="2400" i="1" kern="100">
                          <a:latin typeface="Cambria Math" panose="02040503050406030204" pitchFamily="18" charset="0"/>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𝑥</m:t>
                          </m:r>
                        </m:e>
                        <m:sup>
                          <m:r>
                            <a:rPr lang="en-US" altLang="zh-CN" sz="2400" i="1" kern="100">
                              <a:latin typeface="Cambria Math" panose="02040503050406030204" pitchFamily="18" charset="0"/>
                            </a:rPr>
                            <m:t>(1)</m:t>
                          </m:r>
                        </m:sup>
                      </m:sSup>
                      <m:r>
                        <a:rPr lang="en-US" altLang="zh-CN" sz="2400" i="1" kern="100">
                          <a:latin typeface="Cambria Math" panose="02040503050406030204" pitchFamily="18" charset="0"/>
                        </a:rPr>
                        <m:t>)=−</m:t>
                      </m:r>
                      <m:d>
                        <m:dPr>
                          <m:begChr m:val="["/>
                          <m:endChr m:val="]"/>
                          <m:ctrlPr>
                            <a:rPr lang="zh-CN" altLang="zh-CN" sz="2400" i="1" kern="100">
                              <a:latin typeface="Cambria Math" panose="02040503050406030204" pitchFamily="18" charset="0"/>
                              <a:ea typeface="Cambria Math" panose="02040503050406030204" pitchFamily="18" charset="0"/>
                            </a:rPr>
                          </m:ctrlPr>
                        </m:dPr>
                        <m:e>
                          <m:m>
                            <m:mPr>
                              <m:plcHide m:val="on"/>
                              <m:mcs>
                                <m:mc>
                                  <m:mcPr>
                                    <m:count m:val="2"/>
                                    <m:mcJc m:val="center"/>
                                  </m:mcPr>
                                </m:mc>
                              </m:mcs>
                              <m:ctrlPr>
                                <a:rPr lang="zh-CN" altLang="zh-CN" sz="2400" i="1" kern="100">
                                  <a:latin typeface="Cambria Math" panose="02040503050406030204" pitchFamily="18" charset="0"/>
                                  <a:ea typeface="Cambria Math" panose="02040503050406030204" pitchFamily="18" charset="0"/>
                                </a:rPr>
                              </m:ctrlPr>
                            </m:mPr>
                            <m:mr>
                              <m:e>
                                <m:f>
                                  <m:fPr>
                                    <m:ctrlPr>
                                      <a:rPr lang="zh-CN" altLang="zh-CN" sz="2400" i="1" kern="100">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rPr>
                                      <m:t>1</m:t>
                                    </m:r>
                                  </m:num>
                                  <m:den>
                                    <m:r>
                                      <a:rPr lang="en-US" altLang="zh-CN" sz="2400" i="1" kern="100">
                                        <a:latin typeface="Cambria Math" panose="02040503050406030204" pitchFamily="18" charset="0"/>
                                      </a:rPr>
                                      <m:t>8</m:t>
                                    </m:r>
                                  </m:den>
                                </m:f>
                              </m:e>
                              <m:e>
                                <m:r>
                                  <a:rPr lang="en-US" altLang="zh-CN" sz="2400" i="1" kern="100">
                                    <a:latin typeface="Cambria Math" panose="02040503050406030204" pitchFamily="18" charset="0"/>
                                  </a:rPr>
                                  <m:t>0</m:t>
                                </m:r>
                              </m:e>
                            </m:mr>
                            <m:mr>
                              <m:e>
                                <m:r>
                                  <a:rPr lang="en-US" altLang="zh-CN" sz="2400" i="1" kern="100">
                                    <a:latin typeface="Cambria Math" panose="02040503050406030204" pitchFamily="18" charset="0"/>
                                  </a:rPr>
                                  <m:t>0</m:t>
                                </m:r>
                              </m:e>
                              <m:e>
                                <m:f>
                                  <m:fPr>
                                    <m:ctrlPr>
                                      <a:rPr lang="zh-CN" altLang="zh-CN" sz="2400" i="1" kern="100">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rPr>
                                      <m:t>1</m:t>
                                    </m:r>
                                  </m:num>
                                  <m:den>
                                    <m:r>
                                      <a:rPr lang="en-US" altLang="zh-CN" sz="2400" i="1" kern="100">
                                        <a:latin typeface="Cambria Math" panose="02040503050406030204" pitchFamily="18" charset="0"/>
                                      </a:rPr>
                                      <m:t>4</m:t>
                                    </m:r>
                                  </m:den>
                                </m:f>
                              </m:e>
                            </m:mr>
                          </m:m>
                        </m:e>
                      </m:d>
                      <m:d>
                        <m:dPr>
                          <m:begChr m:val="["/>
                          <m:endChr m:val="]"/>
                          <m:ctrlPr>
                            <a:rPr lang="zh-CN" altLang="zh-CN" sz="2400" i="1" kern="100">
                              <a:latin typeface="Cambria Math" panose="02040503050406030204" pitchFamily="18" charset="0"/>
                              <a:ea typeface="Cambria Math" panose="02040503050406030204" pitchFamily="18" charset="0"/>
                            </a:rPr>
                          </m:ctrlPr>
                        </m:dPr>
                        <m:e>
                          <m:m>
                            <m:mPr>
                              <m:plcHide m:val="on"/>
                              <m:mcs>
                                <m:mc>
                                  <m:mcPr>
                                    <m:count m:val="1"/>
                                    <m:mcJc m:val="center"/>
                                  </m:mcPr>
                                </m:mc>
                              </m:mcs>
                              <m:ctrlPr>
                                <a:rPr lang="zh-CN" altLang="zh-CN" sz="2400" i="1" kern="100">
                                  <a:latin typeface="Cambria Math" panose="02040503050406030204" pitchFamily="18" charset="0"/>
                                  <a:ea typeface="Cambria Math" panose="02040503050406030204" pitchFamily="18" charset="0"/>
                                </a:rPr>
                              </m:ctrlPr>
                            </m:mPr>
                            <m:mr>
                              <m:e>
                                <m:r>
                                  <a:rPr lang="en-US" altLang="zh-CN" sz="2400" i="1" kern="100">
                                    <a:latin typeface="Cambria Math" panose="02040503050406030204" pitchFamily="18" charset="0"/>
                                  </a:rPr>
                                  <m:t>9</m:t>
                                </m:r>
                              </m:e>
                            </m:mr>
                            <m:mr>
                              <m:e>
                                <m:r>
                                  <a:rPr lang="en-US" altLang="zh-CN" sz="2400" i="1" kern="100">
                                    <a:latin typeface="Cambria Math" panose="02040503050406030204" pitchFamily="18" charset="0"/>
                                  </a:rPr>
                                  <m:t>−3</m:t>
                                </m:r>
                              </m:e>
                            </m:mr>
                          </m:m>
                        </m:e>
                      </m:d>
                      <m:r>
                        <a:rPr lang="en-US" altLang="zh-CN" sz="2400" kern="100">
                          <a:latin typeface="Cambria Math" panose="02040503050406030204" pitchFamily="18" charset="0"/>
                        </a:rPr>
                        <m:t>=</m:t>
                      </m:r>
                      <m:d>
                        <m:dPr>
                          <m:begChr m:val="["/>
                          <m:endChr m:val="]"/>
                          <m:ctrlPr>
                            <a:rPr lang="zh-CN" altLang="zh-CN" sz="2400" i="1" kern="100">
                              <a:latin typeface="Cambria Math" panose="02040503050406030204" pitchFamily="18" charset="0"/>
                              <a:ea typeface="Cambria Math" panose="02040503050406030204" pitchFamily="18" charset="0"/>
                            </a:rPr>
                          </m:ctrlPr>
                        </m:dPr>
                        <m:e>
                          <m:m>
                            <m:mPr>
                              <m:plcHide m:val="on"/>
                              <m:mcs>
                                <m:mc>
                                  <m:mcPr>
                                    <m:count m:val="1"/>
                                    <m:mcJc m:val="center"/>
                                  </m:mcPr>
                                </m:mc>
                              </m:mcs>
                              <m:ctrlPr>
                                <a:rPr lang="zh-CN" altLang="zh-CN" sz="2400" i="1" kern="100">
                                  <a:latin typeface="Cambria Math" panose="02040503050406030204" pitchFamily="18" charset="0"/>
                                  <a:ea typeface="Cambria Math" panose="02040503050406030204" pitchFamily="18" charset="0"/>
                                </a:rPr>
                              </m:ctrlPr>
                            </m:mPr>
                            <m:mr>
                              <m:e>
                                <m:r>
                                  <a:rPr lang="en-US" altLang="zh-CN" sz="2400" i="1" kern="100">
                                    <a:latin typeface="Cambria Math" panose="02040503050406030204" pitchFamily="18" charset="0"/>
                                  </a:rPr>
                                  <m:t>−</m:t>
                                </m:r>
                                <m:f>
                                  <m:fPr>
                                    <m:ctrlPr>
                                      <a:rPr lang="zh-CN" altLang="zh-CN" sz="2400" i="1" kern="100">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rPr>
                                      <m:t>9</m:t>
                                    </m:r>
                                  </m:num>
                                  <m:den>
                                    <m:r>
                                      <a:rPr lang="en-US" altLang="zh-CN" sz="2400" i="1" kern="100">
                                        <a:latin typeface="Cambria Math" panose="02040503050406030204" pitchFamily="18" charset="0"/>
                                      </a:rPr>
                                      <m:t>8</m:t>
                                    </m:r>
                                  </m:den>
                                </m:f>
                              </m:e>
                            </m:mr>
                            <m:mr>
                              <m:e>
                                <m:f>
                                  <m:fPr>
                                    <m:ctrlPr>
                                      <a:rPr lang="zh-CN" altLang="zh-CN" sz="2400" i="1" kern="100">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rPr>
                                      <m:t>3</m:t>
                                    </m:r>
                                  </m:num>
                                  <m:den>
                                    <m:r>
                                      <a:rPr lang="en-US" altLang="zh-CN" sz="2400" i="1" kern="100">
                                        <a:latin typeface="Cambria Math" panose="02040503050406030204" pitchFamily="18" charset="0"/>
                                      </a:rPr>
                                      <m:t>4</m:t>
                                    </m:r>
                                  </m:den>
                                </m:f>
                              </m:e>
                            </m:mr>
                          </m:m>
                        </m:e>
                      </m:d>
                    </m:oMath>
                  </m:oMathPara>
                </a14:m>
                <a:endParaRPr lang="zh-CN" altLang="zh-CN" sz="2400" kern="100" dirty="0">
                  <a:latin typeface="Times New Roman" panose="02020603050405020304" pitchFamily="18" charset="0"/>
                </a:endParaRPr>
              </a:p>
              <a:p>
                <a:pPr algn="just">
                  <a:lnSpc>
                    <a:spcPct val="120000"/>
                  </a:lnSpc>
                </a:pPr>
                <a:r>
                  <a:rPr lang="zh-CN" altLang="zh-CN" sz="2400" kern="100" dirty="0">
                    <a:latin typeface="Times New Roman" panose="02020603050405020304" pitchFamily="18" charset="0"/>
                  </a:rPr>
                  <a:t>沿</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𝑑</m:t>
                        </m:r>
                      </m:e>
                      <m:sup>
                        <m:d>
                          <m:dPr>
                            <m:ctrlPr>
                              <a:rPr lang="zh-CN" altLang="zh-CN" sz="2400" i="1" kern="100">
                                <a:latin typeface="Cambria Math" panose="02040503050406030204" pitchFamily="18" charset="0"/>
                                <a:ea typeface="Cambria Math" panose="02040503050406030204" pitchFamily="18" charset="0"/>
                              </a:rPr>
                            </m:ctrlPr>
                          </m:dPr>
                          <m:e>
                            <m:r>
                              <a:rPr lang="en-US" altLang="zh-CN" sz="2400" i="1" kern="100">
                                <a:latin typeface="Cambria Math" panose="02040503050406030204" pitchFamily="18" charset="0"/>
                              </a:rPr>
                              <m:t>1</m:t>
                            </m:r>
                          </m:e>
                        </m:d>
                      </m:sup>
                    </m:sSup>
                  </m:oMath>
                </a14:m>
                <a:r>
                  <a:rPr lang="zh-CN" altLang="zh-CN" sz="2400" kern="100" dirty="0">
                    <a:latin typeface="Times New Roman" panose="02020603050405020304" pitchFamily="18" charset="0"/>
                  </a:rPr>
                  <a:t>方向</a:t>
                </a:r>
                <a:r>
                  <a:rPr lang="zh-CN" altLang="en-US" sz="2400" kern="100" dirty="0">
                    <a:latin typeface="Times New Roman" panose="02020603050405020304" pitchFamily="18" charset="0"/>
                  </a:rPr>
                  <a:t>一维</a:t>
                </a:r>
                <a:r>
                  <a:rPr lang="zh-CN" altLang="zh-CN" sz="2400" kern="100" dirty="0">
                    <a:latin typeface="Times New Roman" panose="02020603050405020304" pitchFamily="18" charset="0"/>
                  </a:rPr>
                  <a:t>搜索</a:t>
                </a:r>
                <a14:m>
                  <m:oMath xmlns:m="http://schemas.openxmlformats.org/officeDocument/2006/math">
                    <m:limLow>
                      <m:limLowPr>
                        <m:ctrlPr>
                          <a:rPr lang="zh-CN" altLang="zh-CN" sz="2400" i="1" kern="100">
                            <a:latin typeface="Cambria Math" panose="02040503050406030204" pitchFamily="18" charset="0"/>
                            <a:ea typeface="Cambria Math" panose="02040503050406030204" pitchFamily="18" charset="0"/>
                          </a:rPr>
                        </m:ctrlPr>
                      </m:limLowPr>
                      <m:e>
                        <m:r>
                          <a:rPr lang="en-US" altLang="zh-CN" sz="2400" i="1" kern="100">
                            <a:latin typeface="Cambria Math" panose="02040503050406030204" pitchFamily="18" charset="0"/>
                          </a:rPr>
                          <m:t>𝑚𝑖𝑛</m:t>
                        </m:r>
                      </m:e>
                      <m:lim>
                        <m:r>
                          <a:rPr lang="en-US" altLang="zh-CN" sz="2400" i="1" kern="100">
                            <a:latin typeface="Cambria Math" panose="02040503050406030204" pitchFamily="18" charset="0"/>
                          </a:rPr>
                          <m:t>𝛼</m:t>
                        </m:r>
                        <m:r>
                          <a:rPr lang="en-US" altLang="zh-CN" sz="2400" i="1" kern="100">
                            <a:latin typeface="Cambria Math" panose="02040503050406030204" pitchFamily="18" charset="0"/>
                          </a:rPr>
                          <m:t>&gt;0</m:t>
                        </m:r>
                      </m:lim>
                    </m:limLow>
                    <m:r>
                      <a:rPr lang="en-US" altLang="zh-CN" sz="2400" i="1" kern="100">
                        <a:latin typeface="Cambria Math" panose="02040503050406030204" pitchFamily="18" charset="0"/>
                      </a:rPr>
                      <m:t>𝑓</m:t>
                    </m:r>
                    <m:r>
                      <a:rPr lang="en-US" altLang="zh-CN" sz="2400" i="1" kern="100">
                        <a:latin typeface="Cambria Math" panose="02040503050406030204" pitchFamily="18" charset="0"/>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𝑥</m:t>
                        </m:r>
                      </m:e>
                      <m:sup>
                        <m:r>
                          <a:rPr lang="en-US" altLang="zh-CN" sz="2400" i="1" kern="100">
                            <a:latin typeface="Cambria Math" panose="02040503050406030204" pitchFamily="18" charset="0"/>
                          </a:rPr>
                          <m:t>(1)</m:t>
                        </m:r>
                      </m:sup>
                    </m:sSup>
                    <m:r>
                      <a:rPr lang="en-US" altLang="zh-CN" sz="2400" i="1" kern="100">
                        <a:latin typeface="Cambria Math" panose="02040503050406030204" pitchFamily="18" charset="0"/>
                      </a:rPr>
                      <m:t>+</m:t>
                    </m:r>
                    <m:r>
                      <a:rPr lang="en-US" altLang="zh-CN" sz="2400" i="1" kern="100">
                        <a:latin typeface="Cambria Math" panose="02040503050406030204" pitchFamily="18" charset="0"/>
                      </a:rPr>
                      <m:t>𝛼</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𝑑</m:t>
                        </m:r>
                      </m:e>
                      <m:sup>
                        <m:r>
                          <a:rPr lang="en-US" altLang="zh-CN" sz="2400" i="1" kern="100">
                            <a:latin typeface="Cambria Math" panose="02040503050406030204" pitchFamily="18" charset="0"/>
                          </a:rPr>
                          <m:t>(1)</m:t>
                        </m:r>
                      </m:sup>
                    </m:sSup>
                    <m:r>
                      <a:rPr lang="en-US" altLang="zh-CN" sz="2400" i="1" kern="100">
                        <a:latin typeface="Cambria Math" panose="02040503050406030204" pitchFamily="18" charset="0"/>
                      </a:rPr>
                      <m:t>)</m:t>
                    </m:r>
                  </m:oMath>
                </a14:m>
                <a:r>
                  <a:rPr lang="zh-CN" altLang="zh-CN" sz="2400" kern="100" dirty="0">
                    <a:latin typeface="Times New Roman" panose="02020603050405020304" pitchFamily="18" charset="0"/>
                  </a:rPr>
                  <a:t>求得最优步长，</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𝛼</m:t>
                        </m:r>
                      </m:e>
                      <m:sup>
                        <m:d>
                          <m:dPr>
                            <m:ctrlPr>
                              <a:rPr lang="zh-CN" altLang="zh-CN" sz="2400" i="1" kern="100">
                                <a:latin typeface="Cambria Math" panose="02040503050406030204" pitchFamily="18" charset="0"/>
                                <a:ea typeface="Cambria Math" panose="02040503050406030204" pitchFamily="18" charset="0"/>
                              </a:rPr>
                            </m:ctrlPr>
                          </m:dPr>
                          <m:e>
                            <m:r>
                              <a:rPr lang="en-US" altLang="zh-CN" sz="2400" i="1" kern="100">
                                <a:latin typeface="Cambria Math" panose="02040503050406030204" pitchFamily="18" charset="0"/>
                              </a:rPr>
                              <m:t>1</m:t>
                            </m:r>
                          </m:e>
                        </m:d>
                      </m:sup>
                    </m:sSup>
                    <m:r>
                      <a:rPr lang="en-US" altLang="zh-CN" sz="2400" kern="100">
                        <a:latin typeface="Cambria Math" panose="02040503050406030204" pitchFamily="18" charset="0"/>
                      </a:rPr>
                      <m:t>=</m:t>
                    </m:r>
                    <m:r>
                      <a:rPr lang="en-US" altLang="zh-CN" sz="2400" i="1" kern="100">
                        <a:latin typeface="Cambria Math" panose="02040503050406030204" pitchFamily="18" charset="0"/>
                      </a:rPr>
                      <m:t>1</m:t>
                    </m:r>
                  </m:oMath>
                </a14:m>
                <a:r>
                  <a:rPr lang="zh-CN" altLang="en-US" sz="2400" kern="100" dirty="0">
                    <a:latin typeface="Times New Roman" panose="02020603050405020304" pitchFamily="18" charset="0"/>
                  </a:rPr>
                  <a:t>。</a:t>
                </a:r>
                <a:endParaRPr lang="zh-CN" altLang="zh-CN" sz="2400" kern="100" dirty="0">
                  <a:latin typeface="Times New Roman" panose="02020603050405020304" pitchFamily="18" charset="0"/>
                </a:endParaRPr>
              </a:p>
              <a:p>
                <a:pPr algn="just">
                  <a:lnSpc>
                    <a:spcPct val="120000"/>
                  </a:lnSpc>
                </a:pPr>
                <a:r>
                  <a:rPr lang="en-US" altLang="zh-CN" sz="2400" kern="100" dirty="0">
                    <a:latin typeface="Times New Roman" panose="02020603050405020304" pitchFamily="18" charset="0"/>
                  </a:rPr>
                  <a:t>      </a:t>
                </a:r>
                <a:r>
                  <a:rPr lang="zh-CN" altLang="zh-CN" sz="2400" kern="100" dirty="0">
                    <a:latin typeface="Times New Roman" panose="02020603050405020304" pitchFamily="18" charset="0"/>
                  </a:rPr>
                  <a:t>故新迭代点为</a:t>
                </a:r>
              </a:p>
              <a:p>
                <a:pPr algn="just">
                  <a:lnSpc>
                    <a:spcPct val="120000"/>
                  </a:lnSpc>
                </a:pPr>
                <a14:m>
                  <m:oMathPara xmlns:m="http://schemas.openxmlformats.org/officeDocument/2006/math">
                    <m:oMathParaPr>
                      <m:jc m:val="centerGroup"/>
                    </m:oMathParaPr>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𝑥</m:t>
                          </m:r>
                        </m:e>
                        <m:sup>
                          <m:d>
                            <m:dPr>
                              <m:ctrlPr>
                                <a:rPr lang="zh-CN" altLang="zh-CN" sz="2400" i="1" kern="100">
                                  <a:latin typeface="Cambria Math" panose="02040503050406030204" pitchFamily="18" charset="0"/>
                                  <a:ea typeface="Cambria Math" panose="02040503050406030204" pitchFamily="18" charset="0"/>
                                </a:rPr>
                              </m:ctrlPr>
                            </m:dPr>
                            <m:e>
                              <m:r>
                                <a:rPr lang="en-US" altLang="zh-CN" sz="2400" i="1" kern="100">
                                  <a:latin typeface="Cambria Math" panose="02040503050406030204" pitchFamily="18" charset="0"/>
                                </a:rPr>
                                <m:t>2</m:t>
                              </m:r>
                            </m:e>
                          </m:d>
                        </m:sup>
                      </m:sSup>
                      <m:r>
                        <a:rPr lang="en-US" altLang="zh-CN" sz="2400" kern="100">
                          <a:latin typeface="Cambria Math" panose="02040503050406030204" pitchFamily="18" charset="0"/>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𝑥</m:t>
                          </m:r>
                        </m:e>
                        <m:sup>
                          <m:d>
                            <m:dPr>
                              <m:ctrlPr>
                                <a:rPr lang="zh-CN" altLang="zh-CN" sz="2400" i="1" kern="100">
                                  <a:latin typeface="Cambria Math" panose="02040503050406030204" pitchFamily="18" charset="0"/>
                                  <a:ea typeface="Cambria Math" panose="02040503050406030204" pitchFamily="18" charset="0"/>
                                </a:rPr>
                              </m:ctrlPr>
                            </m:dPr>
                            <m:e>
                              <m:r>
                                <a:rPr lang="en-US" altLang="zh-CN" sz="2400" i="1" kern="100">
                                  <a:latin typeface="Cambria Math" panose="02040503050406030204" pitchFamily="18" charset="0"/>
                                </a:rPr>
                                <m:t>1</m:t>
                              </m:r>
                            </m:e>
                          </m:d>
                        </m:sup>
                      </m:sSup>
                      <m:r>
                        <a:rPr lang="en-US" altLang="zh-CN" sz="2400" i="1" kern="100">
                          <a:latin typeface="Cambria Math" panose="02040503050406030204" pitchFamily="18" charset="0"/>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𝛼</m:t>
                          </m:r>
                        </m:e>
                        <m:sup>
                          <m:d>
                            <m:dPr>
                              <m:ctrlPr>
                                <a:rPr lang="zh-CN" altLang="zh-CN" sz="2400" i="1" kern="100">
                                  <a:latin typeface="Cambria Math" panose="02040503050406030204" pitchFamily="18" charset="0"/>
                                  <a:ea typeface="Cambria Math" panose="02040503050406030204" pitchFamily="18" charset="0"/>
                                </a:rPr>
                              </m:ctrlPr>
                            </m:dPr>
                            <m:e>
                              <m:r>
                                <a:rPr lang="en-US" altLang="zh-CN" sz="2400" i="1" kern="100">
                                  <a:latin typeface="Cambria Math" panose="02040503050406030204" pitchFamily="18" charset="0"/>
                                </a:rPr>
                                <m:t>1</m:t>
                              </m:r>
                            </m:e>
                          </m:d>
                        </m:sup>
                      </m:sSup>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𝑑</m:t>
                          </m:r>
                        </m:e>
                        <m:sup>
                          <m:d>
                            <m:dPr>
                              <m:ctrlPr>
                                <a:rPr lang="zh-CN" altLang="zh-CN" sz="2400" i="1" kern="100">
                                  <a:latin typeface="Cambria Math" panose="02040503050406030204" pitchFamily="18" charset="0"/>
                                  <a:ea typeface="Cambria Math" panose="02040503050406030204" pitchFamily="18" charset="0"/>
                                </a:rPr>
                              </m:ctrlPr>
                            </m:dPr>
                            <m:e>
                              <m:r>
                                <a:rPr lang="en-US" altLang="zh-CN" sz="2400" i="1" kern="100">
                                  <a:latin typeface="Cambria Math" panose="02040503050406030204" pitchFamily="18" charset="0"/>
                                </a:rPr>
                                <m:t>1</m:t>
                              </m:r>
                            </m:e>
                          </m:d>
                        </m:sup>
                      </m:sSup>
                      <m:r>
                        <a:rPr lang="en-US" altLang="zh-CN" sz="2400" kern="100">
                          <a:latin typeface="Cambria Math" panose="02040503050406030204" pitchFamily="18" charset="0"/>
                        </a:rPr>
                        <m:t>=</m:t>
                      </m:r>
                      <m:d>
                        <m:dPr>
                          <m:begChr m:val="["/>
                          <m:endChr m:val="]"/>
                          <m:ctrlPr>
                            <a:rPr lang="zh-CN" altLang="zh-CN" sz="2400" i="1" kern="100">
                              <a:latin typeface="Cambria Math" panose="02040503050406030204" pitchFamily="18" charset="0"/>
                              <a:ea typeface="Cambria Math" panose="02040503050406030204" pitchFamily="18" charset="0"/>
                            </a:rPr>
                          </m:ctrlPr>
                        </m:dPr>
                        <m:e>
                          <m:m>
                            <m:mPr>
                              <m:plcHide m:val="on"/>
                              <m:mcs>
                                <m:mc>
                                  <m:mcPr>
                                    <m:count m:val="1"/>
                                    <m:mcJc m:val="center"/>
                                  </m:mcPr>
                                </m:mc>
                              </m:mcs>
                              <m:ctrlPr>
                                <a:rPr lang="zh-CN" altLang="zh-CN" sz="2400" i="1" kern="100">
                                  <a:latin typeface="Cambria Math" panose="02040503050406030204" pitchFamily="18" charset="0"/>
                                  <a:ea typeface="Cambria Math" panose="02040503050406030204" pitchFamily="18" charset="0"/>
                                </a:rPr>
                              </m:ctrlPr>
                            </m:mPr>
                            <m:mr>
                              <m:e>
                                <m:r>
                                  <a:rPr lang="en-US" altLang="zh-CN" sz="2400" i="1" kern="100">
                                    <a:latin typeface="Cambria Math" panose="02040503050406030204" pitchFamily="18" charset="0"/>
                                  </a:rPr>
                                  <m:t>0</m:t>
                                </m:r>
                              </m:e>
                            </m:mr>
                            <m:mr>
                              <m:e>
                                <m:r>
                                  <a:rPr lang="en-US" altLang="zh-CN" sz="2400" i="1" kern="100">
                                    <a:latin typeface="Cambria Math" panose="02040503050406030204" pitchFamily="18" charset="0"/>
                                  </a:rPr>
                                  <m:t>0</m:t>
                                </m:r>
                              </m:e>
                            </m:mr>
                          </m:m>
                        </m:e>
                      </m:d>
                      <m:r>
                        <a:rPr lang="en-US" altLang="zh-CN" sz="2400" kern="100">
                          <a:latin typeface="Cambria Math" panose="02040503050406030204" pitchFamily="18" charset="0"/>
                        </a:rPr>
                        <m:t>+</m:t>
                      </m:r>
                      <m:d>
                        <m:dPr>
                          <m:begChr m:val="["/>
                          <m:endChr m:val="]"/>
                          <m:ctrlPr>
                            <a:rPr lang="zh-CN" altLang="zh-CN" sz="2400" i="1" kern="100">
                              <a:latin typeface="Cambria Math" panose="02040503050406030204" pitchFamily="18" charset="0"/>
                              <a:ea typeface="Cambria Math" panose="02040503050406030204" pitchFamily="18" charset="0"/>
                            </a:rPr>
                          </m:ctrlPr>
                        </m:dPr>
                        <m:e>
                          <m:m>
                            <m:mPr>
                              <m:plcHide m:val="on"/>
                              <m:mcs>
                                <m:mc>
                                  <m:mcPr>
                                    <m:count m:val="1"/>
                                    <m:mcJc m:val="center"/>
                                  </m:mcPr>
                                </m:mc>
                              </m:mcs>
                              <m:ctrlPr>
                                <a:rPr lang="zh-CN" altLang="zh-CN" sz="2400" i="1" kern="100">
                                  <a:latin typeface="Cambria Math" panose="02040503050406030204" pitchFamily="18" charset="0"/>
                                  <a:ea typeface="Cambria Math" panose="02040503050406030204" pitchFamily="18" charset="0"/>
                                </a:rPr>
                              </m:ctrlPr>
                            </m:mPr>
                            <m:mr>
                              <m:e>
                                <m:r>
                                  <a:rPr lang="en-US" altLang="zh-CN" sz="2400" i="1" kern="100">
                                    <a:latin typeface="Cambria Math" panose="02040503050406030204" pitchFamily="18" charset="0"/>
                                  </a:rPr>
                                  <m:t>−</m:t>
                                </m:r>
                                <m:f>
                                  <m:fPr>
                                    <m:ctrlPr>
                                      <a:rPr lang="zh-CN" altLang="zh-CN" sz="2400" i="1" kern="100">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rPr>
                                      <m:t>9</m:t>
                                    </m:r>
                                  </m:num>
                                  <m:den>
                                    <m:r>
                                      <a:rPr lang="en-US" altLang="zh-CN" sz="2400" i="1" kern="100">
                                        <a:latin typeface="Cambria Math" panose="02040503050406030204" pitchFamily="18" charset="0"/>
                                      </a:rPr>
                                      <m:t>8</m:t>
                                    </m:r>
                                  </m:den>
                                </m:f>
                              </m:e>
                            </m:mr>
                            <m:mr>
                              <m:e>
                                <m:f>
                                  <m:fPr>
                                    <m:ctrlPr>
                                      <a:rPr lang="zh-CN" altLang="zh-CN" sz="2400" i="1" kern="100">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rPr>
                                      <m:t>3</m:t>
                                    </m:r>
                                  </m:num>
                                  <m:den>
                                    <m:r>
                                      <a:rPr lang="en-US" altLang="zh-CN" sz="2400" i="1" kern="100">
                                        <a:latin typeface="Cambria Math" panose="02040503050406030204" pitchFamily="18" charset="0"/>
                                      </a:rPr>
                                      <m:t>4</m:t>
                                    </m:r>
                                  </m:den>
                                </m:f>
                              </m:e>
                            </m:mr>
                          </m:m>
                        </m:e>
                      </m:d>
                      <m:r>
                        <a:rPr lang="en-US" altLang="zh-CN" sz="2400" kern="100">
                          <a:latin typeface="Cambria Math" panose="02040503050406030204" pitchFamily="18" charset="0"/>
                        </a:rPr>
                        <m:t>=</m:t>
                      </m:r>
                      <m:d>
                        <m:dPr>
                          <m:begChr m:val="["/>
                          <m:endChr m:val="]"/>
                          <m:ctrlPr>
                            <a:rPr lang="zh-CN" altLang="zh-CN" sz="2400" i="1" kern="100">
                              <a:latin typeface="Cambria Math" panose="02040503050406030204" pitchFamily="18" charset="0"/>
                              <a:ea typeface="Cambria Math" panose="02040503050406030204" pitchFamily="18" charset="0"/>
                            </a:rPr>
                          </m:ctrlPr>
                        </m:dPr>
                        <m:e>
                          <m:m>
                            <m:mPr>
                              <m:plcHide m:val="on"/>
                              <m:mcs>
                                <m:mc>
                                  <m:mcPr>
                                    <m:count m:val="1"/>
                                    <m:mcJc m:val="center"/>
                                  </m:mcPr>
                                </m:mc>
                              </m:mcs>
                              <m:ctrlPr>
                                <a:rPr lang="zh-CN" altLang="zh-CN" sz="2400" i="1" kern="100">
                                  <a:latin typeface="Cambria Math" panose="02040503050406030204" pitchFamily="18" charset="0"/>
                                  <a:ea typeface="Cambria Math" panose="02040503050406030204" pitchFamily="18" charset="0"/>
                                </a:rPr>
                              </m:ctrlPr>
                            </m:mPr>
                            <m:mr>
                              <m:e>
                                <m:r>
                                  <a:rPr lang="en-US" altLang="zh-CN" sz="2400" i="1" kern="100">
                                    <a:latin typeface="Cambria Math" panose="02040503050406030204" pitchFamily="18" charset="0"/>
                                  </a:rPr>
                                  <m:t>−</m:t>
                                </m:r>
                                <m:f>
                                  <m:fPr>
                                    <m:ctrlPr>
                                      <a:rPr lang="zh-CN" altLang="zh-CN" sz="2400" i="1" kern="100">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rPr>
                                      <m:t>9</m:t>
                                    </m:r>
                                  </m:num>
                                  <m:den>
                                    <m:r>
                                      <a:rPr lang="en-US" altLang="zh-CN" sz="2400" i="1" kern="100">
                                        <a:latin typeface="Cambria Math" panose="02040503050406030204" pitchFamily="18" charset="0"/>
                                      </a:rPr>
                                      <m:t>8</m:t>
                                    </m:r>
                                  </m:den>
                                </m:f>
                              </m:e>
                            </m:mr>
                            <m:mr>
                              <m:e>
                                <m:f>
                                  <m:fPr>
                                    <m:ctrlPr>
                                      <a:rPr lang="zh-CN" altLang="zh-CN" sz="2400" i="1" kern="100">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rPr>
                                      <m:t>3</m:t>
                                    </m:r>
                                  </m:num>
                                  <m:den>
                                    <m:r>
                                      <a:rPr lang="en-US" altLang="zh-CN" sz="2400" i="1" kern="100">
                                        <a:latin typeface="Cambria Math" panose="02040503050406030204" pitchFamily="18" charset="0"/>
                                      </a:rPr>
                                      <m:t>4</m:t>
                                    </m:r>
                                  </m:den>
                                </m:f>
                              </m:e>
                            </m:mr>
                          </m:m>
                        </m:e>
                      </m:d>
                    </m:oMath>
                  </m:oMathPara>
                </a14:m>
                <a:endParaRPr lang="zh-CN" altLang="zh-CN" sz="2400" kern="100" dirty="0">
                  <a:latin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D8F43A0B-6BE8-279E-0481-0611A86B28BA}"/>
                  </a:ext>
                </a:extLst>
              </p:cNvPr>
              <p:cNvSpPr txBox="1">
                <a:spLocks noRot="1" noChangeAspect="1" noMove="1" noResize="1" noEditPoints="1" noAdjustHandles="1" noChangeArrowheads="1" noChangeShapeType="1" noTextEdit="1"/>
              </p:cNvSpPr>
              <p:nvPr/>
            </p:nvSpPr>
            <p:spPr>
              <a:xfrm>
                <a:off x="683568" y="311288"/>
                <a:ext cx="7776864" cy="6518772"/>
              </a:xfrm>
              <a:prstGeom prst="rect">
                <a:avLst/>
              </a:prstGeom>
              <a:blipFill>
                <a:blip r:embed="rId2"/>
                <a:stretch>
                  <a:fillRect l="-1176" t="-374" r="-125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99060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570FC59D-FD5E-1E97-B4FD-0A00E387811B}"/>
                  </a:ext>
                </a:extLst>
              </p:cNvPr>
              <p:cNvSpPr txBox="1"/>
              <p:nvPr/>
            </p:nvSpPr>
            <p:spPr>
              <a:xfrm>
                <a:off x="1061404" y="500548"/>
                <a:ext cx="5940660" cy="4107791"/>
              </a:xfrm>
              <a:prstGeom prst="rect">
                <a:avLst/>
              </a:prstGeom>
              <a:noFill/>
            </p:spPr>
            <p:txBody>
              <a:bodyPr wrap="square">
                <a:spAutoFit/>
              </a:bodyPr>
              <a:lstStyle>
                <a:defPPr>
                  <a:defRPr lang="zh-CN"/>
                </a:defPPr>
                <a:lvl1pPr algn="just">
                  <a:lnSpc>
                    <a:spcPct val="120000"/>
                  </a:lnSpc>
                  <a:defRPr sz="2400" kern="100">
                    <a:effectLst/>
                    <a:latin typeface="Times New Roman" panose="02020603050405020304" pitchFamily="18" charset="0"/>
                  </a:defRPr>
                </a:lvl1pPr>
              </a:lstStyle>
              <a:p>
                <a14:m>
                  <m:oMath xmlns:m="http://schemas.openxmlformats.org/officeDocument/2006/math">
                    <m:sSup>
                      <m:sSupPr>
                        <m:ctrlPr>
                          <a:rPr lang="zh-CN" altLang="zh-CN" i="1" smtClean="0">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rPr>
                          <m:t>𝑥</m:t>
                        </m:r>
                      </m:e>
                      <m:sup>
                        <m:d>
                          <m:dPr>
                            <m:ctrlPr>
                              <a:rPr lang="zh-CN"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rPr>
                              <m:t>2</m:t>
                            </m:r>
                          </m:e>
                        </m:d>
                      </m:sup>
                    </m:sSup>
                  </m:oMath>
                </a14:m>
                <a:r>
                  <a:rPr lang="zh-CN" altLang="zh-CN" dirty="0"/>
                  <a:t>点</a:t>
                </a:r>
                <a:r>
                  <a:rPr lang="zh-CN" altLang="en-US" dirty="0"/>
                  <a:t>处</a:t>
                </a:r>
                <a:r>
                  <a:rPr lang="zh-CN" altLang="zh-CN" dirty="0"/>
                  <a:t>的梯度</a:t>
                </a:r>
              </a:p>
              <a:p>
                <a:pPr/>
                <a14:m>
                  <m:oMathPara xmlns:m="http://schemas.openxmlformats.org/officeDocument/2006/math">
                    <m:oMathParaPr>
                      <m:jc m:val="centerGroup"/>
                    </m:oMathParaPr>
                    <m:oMath xmlns:m="http://schemas.openxmlformats.org/officeDocument/2006/math">
                      <m:r>
                        <a:rPr lang="en-US" altLang="zh-CN">
                          <a:latin typeface="Cambria Math" panose="02040503050406030204" pitchFamily="18" charset="0"/>
                        </a:rPr>
                        <m:t>𝛻</m:t>
                      </m:r>
                      <m:r>
                        <a:rPr lang="en-US" altLang="zh-CN">
                          <a:latin typeface="Cambria Math" panose="02040503050406030204" pitchFamily="18" charset="0"/>
                        </a:rPr>
                        <m:t>𝑓</m:t>
                      </m:r>
                      <m:r>
                        <a:rPr lang="en-US" altLang="zh-CN">
                          <a:latin typeface="Cambria Math" panose="02040503050406030204" pitchFamily="18" charset="0"/>
                        </a:rPr>
                        <m:t>(</m:t>
                      </m:r>
                      <m:sSup>
                        <m:sSupPr>
                          <m:ctrlPr>
                            <a:rPr lang="zh-CN" altLang="zh-CN" i="1">
                              <a:latin typeface="Cambria Math" panose="02040503050406030204" pitchFamily="18" charset="0"/>
                            </a:rPr>
                          </m:ctrlPr>
                        </m:sSupPr>
                        <m:e>
                          <m:r>
                            <a:rPr lang="en-US" altLang="zh-CN">
                              <a:latin typeface="Cambria Math" panose="02040503050406030204" pitchFamily="18" charset="0"/>
                            </a:rPr>
                            <m:t>𝑥</m:t>
                          </m:r>
                        </m:e>
                        <m:sup>
                          <m:r>
                            <a:rPr lang="en-US" altLang="zh-CN">
                              <a:latin typeface="Cambria Math" panose="02040503050406030204" pitchFamily="18" charset="0"/>
                            </a:rPr>
                            <m:t>(2)</m:t>
                          </m:r>
                        </m:sup>
                      </m:sSup>
                      <m:r>
                        <a:rPr lang="en-US" altLang="zh-CN">
                          <a:latin typeface="Cambria Math" panose="02040503050406030204" pitchFamily="18" charset="0"/>
                        </a:rPr>
                        <m:t>)=</m:t>
                      </m:r>
                      <m:sSub>
                        <m:sSubPr>
                          <m:ctrlPr>
                            <a:rPr lang="zh-CN" altLang="zh-CN" i="1">
                              <a:latin typeface="Cambria Math" panose="02040503050406030204" pitchFamily="18" charset="0"/>
                            </a:rPr>
                          </m:ctrlPr>
                        </m:sSubPr>
                        <m:e>
                          <m:d>
                            <m:dPr>
                              <m:begChr m:val="["/>
                              <m:endChr m:val="]"/>
                              <m:ctrlPr>
                                <a:rPr lang="zh-CN" altLang="zh-CN" i="1">
                                  <a:latin typeface="Cambria Math" panose="02040503050406030204" pitchFamily="18" charset="0"/>
                                </a:rPr>
                              </m:ctrlPr>
                            </m:dPr>
                            <m:e>
                              <m:m>
                                <m:mPr>
                                  <m:plcHide m:val="on"/>
                                  <m:mcs>
                                    <m:mc>
                                      <m:mcPr>
                                        <m:count m:val="1"/>
                                        <m:mcJc m:val="center"/>
                                      </m:mcPr>
                                    </m:mc>
                                  </m:mcs>
                                  <m:ctrlPr>
                                    <a:rPr lang="zh-CN" altLang="zh-CN" i="1">
                                      <a:latin typeface="Cambria Math" panose="02040503050406030204" pitchFamily="18" charset="0"/>
                                    </a:rPr>
                                  </m:ctrlPr>
                                </m:mPr>
                                <m:mr>
                                  <m:e>
                                    <m:r>
                                      <a:rPr lang="en-US" altLang="zh-CN">
                                        <a:latin typeface="Cambria Math" panose="02040503050406030204" pitchFamily="18" charset="0"/>
                                      </a:rPr>
                                      <m:t>8</m:t>
                                    </m:r>
                                    <m:sSub>
                                      <m:sSubPr>
                                        <m:ctrlPr>
                                          <a:rPr lang="zh-CN"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1</m:t>
                                        </m:r>
                                      </m:sub>
                                    </m:sSub>
                                    <m:r>
                                      <a:rPr lang="en-US" altLang="zh-CN">
                                        <a:latin typeface="Cambria Math" panose="02040503050406030204" pitchFamily="18" charset="0"/>
                                      </a:rPr>
                                      <m:t>+9</m:t>
                                    </m:r>
                                  </m:e>
                                </m:mr>
                                <m:mr>
                                  <m:e>
                                    <m:r>
                                      <a:rPr lang="en-US" altLang="zh-CN">
                                        <a:latin typeface="Cambria Math" panose="02040503050406030204" pitchFamily="18" charset="0"/>
                                      </a:rPr>
                                      <m:t>4</m:t>
                                    </m:r>
                                    <m:sSub>
                                      <m:sSubPr>
                                        <m:ctrlPr>
                                          <a:rPr lang="zh-CN"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2</m:t>
                                        </m:r>
                                      </m:sub>
                                    </m:sSub>
                                    <m:r>
                                      <a:rPr lang="en-US" altLang="zh-CN">
                                        <a:latin typeface="Cambria Math" panose="02040503050406030204" pitchFamily="18" charset="0"/>
                                      </a:rPr>
                                      <m:t>−3</m:t>
                                    </m:r>
                                  </m:e>
                                </m:mr>
                              </m:m>
                            </m:e>
                          </m:d>
                        </m:e>
                        <m:sub>
                          <m:d>
                            <m:dPr>
                              <m:ctrlPr>
                                <a:rPr lang="zh-CN" altLang="zh-CN" i="1">
                                  <a:latin typeface="Cambria Math" panose="02040503050406030204" pitchFamily="18" charset="0"/>
                                </a:rPr>
                              </m:ctrlPr>
                            </m:dPr>
                            <m:e>
                              <m:r>
                                <a:rPr lang="en-US" altLang="zh-CN">
                                  <a:latin typeface="Cambria Math" panose="02040503050406030204" pitchFamily="18" charset="0"/>
                                </a:rPr>
                                <m:t>−</m:t>
                              </m:r>
                              <m:f>
                                <m:fPr>
                                  <m:ctrlPr>
                                    <a:rPr lang="zh-CN" altLang="zh-CN" i="1">
                                      <a:latin typeface="Cambria Math" panose="02040503050406030204" pitchFamily="18" charset="0"/>
                                    </a:rPr>
                                  </m:ctrlPr>
                                </m:fPr>
                                <m:num>
                                  <m:r>
                                    <a:rPr lang="en-US" altLang="zh-CN">
                                      <a:latin typeface="Cambria Math" panose="02040503050406030204" pitchFamily="18" charset="0"/>
                                    </a:rPr>
                                    <m:t>9</m:t>
                                  </m:r>
                                </m:num>
                                <m:den>
                                  <m:r>
                                    <a:rPr lang="en-US" altLang="zh-CN">
                                      <a:latin typeface="Cambria Math" panose="02040503050406030204" pitchFamily="18" charset="0"/>
                                    </a:rPr>
                                    <m:t>8</m:t>
                                  </m:r>
                                </m:den>
                              </m:f>
                              <m:r>
                                <a:rPr lang="en-US" altLang="zh-CN">
                                  <a:latin typeface="Cambria Math" panose="02040503050406030204" pitchFamily="18" charset="0"/>
                                </a:rPr>
                                <m:t>,</m:t>
                              </m:r>
                              <m:f>
                                <m:fPr>
                                  <m:ctrlPr>
                                    <a:rPr lang="zh-CN" altLang="zh-CN" i="1">
                                      <a:latin typeface="Cambria Math" panose="02040503050406030204" pitchFamily="18" charset="0"/>
                                    </a:rPr>
                                  </m:ctrlPr>
                                </m:fPr>
                                <m:num>
                                  <m:r>
                                    <a:rPr lang="en-US" altLang="zh-CN">
                                      <a:latin typeface="Cambria Math" panose="02040503050406030204" pitchFamily="18" charset="0"/>
                                    </a:rPr>
                                    <m:t>3</m:t>
                                  </m:r>
                                </m:num>
                                <m:den>
                                  <m:r>
                                    <a:rPr lang="en-US" altLang="zh-CN">
                                      <a:latin typeface="Cambria Math" panose="02040503050406030204" pitchFamily="18" charset="0"/>
                                    </a:rPr>
                                    <m:t>4</m:t>
                                  </m:r>
                                </m:den>
                              </m:f>
                            </m:e>
                          </m:d>
                        </m:sub>
                      </m:sSub>
                      <m:r>
                        <a:rPr lang="en-US" altLang="zh-CN">
                          <a:latin typeface="Cambria Math" panose="02040503050406030204" pitchFamily="18" charset="0"/>
                        </a:rPr>
                        <m:t>=</m:t>
                      </m:r>
                      <m:d>
                        <m:dPr>
                          <m:begChr m:val="["/>
                          <m:endChr m:val="]"/>
                          <m:ctrlPr>
                            <a:rPr lang="zh-CN" altLang="zh-CN" i="1">
                              <a:latin typeface="Cambria Math" panose="02040503050406030204" pitchFamily="18" charset="0"/>
                            </a:rPr>
                          </m:ctrlPr>
                        </m:dPr>
                        <m:e>
                          <m:m>
                            <m:mPr>
                              <m:plcHide m:val="on"/>
                              <m:mcs>
                                <m:mc>
                                  <m:mcPr>
                                    <m:count m:val="1"/>
                                    <m:mcJc m:val="center"/>
                                  </m:mcPr>
                                </m:mc>
                              </m:mcs>
                              <m:ctrlPr>
                                <a:rPr lang="zh-CN" altLang="zh-CN" i="1">
                                  <a:latin typeface="Cambria Math" panose="02040503050406030204" pitchFamily="18" charset="0"/>
                                </a:rPr>
                              </m:ctrlPr>
                            </m:mPr>
                            <m:mr>
                              <m:e>
                                <m:r>
                                  <a:rPr lang="en-US" altLang="zh-CN">
                                    <a:latin typeface="Cambria Math" panose="02040503050406030204" pitchFamily="18" charset="0"/>
                                  </a:rPr>
                                  <m:t>0</m:t>
                                </m:r>
                              </m:e>
                            </m:mr>
                            <m:mr>
                              <m:e>
                                <m:r>
                                  <a:rPr lang="en-US" altLang="zh-CN">
                                    <a:latin typeface="Cambria Math" panose="02040503050406030204" pitchFamily="18" charset="0"/>
                                  </a:rPr>
                                  <m:t>0</m:t>
                                </m:r>
                              </m:e>
                            </m:mr>
                          </m:m>
                        </m:e>
                      </m:d>
                    </m:oMath>
                  </m:oMathPara>
                </a14:m>
                <a:endParaRPr lang="zh-CN" altLang="zh-CN" dirty="0"/>
              </a:p>
              <a:p>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d>
                            <m:dPr>
                              <m:begChr m:val="‖"/>
                              <m:endChr m:val="‖"/>
                              <m:ctrlPr>
                                <a:rPr lang="zh-CN" altLang="zh-CN" i="1">
                                  <a:latin typeface="Cambria Math" panose="02040503050406030204" pitchFamily="18" charset="0"/>
                                </a:rPr>
                              </m:ctrlPr>
                            </m:dPr>
                            <m:e>
                              <m:r>
                                <a:rPr lang="en-US" altLang="zh-CN">
                                  <a:latin typeface="Cambria Math" panose="02040503050406030204" pitchFamily="18" charset="0"/>
                                </a:rPr>
                                <m:t>𝛻</m:t>
                              </m:r>
                              <m:r>
                                <a:rPr lang="en-US" altLang="zh-CN">
                                  <a:latin typeface="Cambria Math" panose="02040503050406030204" pitchFamily="18" charset="0"/>
                                </a:rPr>
                                <m:t>𝑓</m:t>
                              </m:r>
                              <m:r>
                                <a:rPr lang="en-US" altLang="zh-CN">
                                  <a:latin typeface="Cambria Math" panose="02040503050406030204" pitchFamily="18" charset="0"/>
                                </a:rPr>
                                <m:t>(</m:t>
                              </m:r>
                              <m:sSup>
                                <m:sSupPr>
                                  <m:ctrlPr>
                                    <a:rPr lang="zh-CN" altLang="zh-CN" i="1">
                                      <a:latin typeface="Cambria Math" panose="02040503050406030204" pitchFamily="18" charset="0"/>
                                    </a:rPr>
                                  </m:ctrlPr>
                                </m:sSupPr>
                                <m:e>
                                  <m:r>
                                    <a:rPr lang="en-US" altLang="zh-CN">
                                      <a:latin typeface="Cambria Math" panose="02040503050406030204" pitchFamily="18" charset="0"/>
                                    </a:rPr>
                                    <m:t>𝑥</m:t>
                                  </m:r>
                                </m:e>
                                <m:sup>
                                  <m:r>
                                    <a:rPr lang="en-US" altLang="zh-CN">
                                      <a:latin typeface="Cambria Math" panose="02040503050406030204" pitchFamily="18" charset="0"/>
                                    </a:rPr>
                                    <m:t>(2)</m:t>
                                  </m:r>
                                </m:sup>
                              </m:sSup>
                              <m:r>
                                <a:rPr lang="en-US" altLang="zh-CN">
                                  <a:latin typeface="Cambria Math" panose="02040503050406030204" pitchFamily="18" charset="0"/>
                                </a:rPr>
                                <m:t>)</m:t>
                              </m:r>
                            </m:e>
                          </m:d>
                        </m:e>
                        <m:sub>
                          <m:r>
                            <a:rPr lang="en-US" altLang="zh-CN">
                              <a:latin typeface="Cambria Math" panose="02040503050406030204" pitchFamily="18" charset="0"/>
                            </a:rPr>
                            <m:t>2</m:t>
                          </m:r>
                        </m:sub>
                      </m:sSub>
                      <m:r>
                        <a:rPr lang="en-US" altLang="zh-CN">
                          <a:latin typeface="Cambria Math" panose="02040503050406030204" pitchFamily="18" charset="0"/>
                        </a:rPr>
                        <m:t>=0&lt;</m:t>
                      </m:r>
                      <m:r>
                        <a:rPr lang="en-US" altLang="zh-CN">
                          <a:latin typeface="Cambria Math" panose="02040503050406030204" pitchFamily="18" charset="0"/>
                        </a:rPr>
                        <m:t>𝜀</m:t>
                      </m:r>
                    </m:oMath>
                  </m:oMathPara>
                </a14:m>
                <a:endParaRPr lang="zh-CN" altLang="zh-CN" dirty="0"/>
              </a:p>
              <a:p>
                <a:r>
                  <a:rPr lang="zh-CN" altLang="zh-CN" dirty="0"/>
                  <a:t>迭代即可结束</a:t>
                </a:r>
              </a:p>
              <a:p>
                <a:pPr/>
                <a14:m>
                  <m:oMathPara xmlns:m="http://schemas.openxmlformats.org/officeDocument/2006/math">
                    <m:oMathParaPr>
                      <m:jc m:val="centerGroup"/>
                    </m:oMathParaPr>
                    <m:oMath xmlns:m="http://schemas.openxmlformats.org/officeDocument/2006/math">
                      <m:sSup>
                        <m:sSupPr>
                          <m:ctrlPr>
                            <a:rPr lang="zh-CN" altLang="zh-CN" i="1">
                              <a:latin typeface="Cambria Math" panose="02040503050406030204" pitchFamily="18" charset="0"/>
                            </a:rPr>
                          </m:ctrlPr>
                        </m:sSupPr>
                        <m:e>
                          <m:r>
                            <a:rPr lang="en-US" altLang="zh-CN">
                              <a:latin typeface="Cambria Math" panose="02040503050406030204" pitchFamily="18" charset="0"/>
                            </a:rPr>
                            <m:t>𝑥</m:t>
                          </m:r>
                        </m:e>
                        <m:sup>
                          <m:r>
                            <a:rPr lang="en-US" altLang="zh-CN">
                              <a:latin typeface="Cambria Math" panose="02040503050406030204" pitchFamily="18" charset="0"/>
                            </a:rPr>
                            <m:t>∗</m:t>
                          </m:r>
                        </m:sup>
                      </m:sSup>
                      <m:r>
                        <a:rPr lang="en-US" altLang="zh-CN">
                          <a:latin typeface="Cambria Math" panose="02040503050406030204" pitchFamily="18" charset="0"/>
                        </a:rPr>
                        <m:t>=</m:t>
                      </m:r>
                      <m:sSup>
                        <m:sSupPr>
                          <m:ctrlPr>
                            <a:rPr lang="zh-CN" altLang="zh-CN" i="1">
                              <a:latin typeface="Cambria Math" panose="02040503050406030204" pitchFamily="18" charset="0"/>
                            </a:rPr>
                          </m:ctrlPr>
                        </m:sSupPr>
                        <m:e>
                          <m:d>
                            <m:dPr>
                              <m:begChr m:val="["/>
                              <m:endChr m:val="]"/>
                              <m:ctrlPr>
                                <a:rPr lang="zh-CN" altLang="zh-CN" i="1">
                                  <a:latin typeface="Cambria Math" panose="02040503050406030204" pitchFamily="18" charset="0"/>
                                </a:rPr>
                              </m:ctrlPr>
                            </m:dPr>
                            <m:e>
                              <m:r>
                                <a:rPr lang="en-US" altLang="zh-CN">
                                  <a:latin typeface="Cambria Math" panose="02040503050406030204" pitchFamily="18" charset="0"/>
                                </a:rPr>
                                <m:t>−</m:t>
                              </m:r>
                              <m:f>
                                <m:fPr>
                                  <m:ctrlPr>
                                    <a:rPr lang="zh-CN" altLang="zh-CN" i="1">
                                      <a:latin typeface="Cambria Math" panose="02040503050406030204" pitchFamily="18" charset="0"/>
                                    </a:rPr>
                                  </m:ctrlPr>
                                </m:fPr>
                                <m:num>
                                  <m:r>
                                    <a:rPr lang="en-US" altLang="zh-CN">
                                      <a:latin typeface="Cambria Math" panose="02040503050406030204" pitchFamily="18" charset="0"/>
                                    </a:rPr>
                                    <m:t>9</m:t>
                                  </m:r>
                                </m:num>
                                <m:den>
                                  <m:r>
                                    <a:rPr lang="en-US" altLang="zh-CN">
                                      <a:latin typeface="Cambria Math" panose="02040503050406030204" pitchFamily="18" charset="0"/>
                                    </a:rPr>
                                    <m:t>8</m:t>
                                  </m:r>
                                </m:den>
                              </m:f>
                              <m:r>
                                <a:rPr lang="en-US" altLang="zh-CN">
                                  <a:latin typeface="Cambria Math" panose="02040503050406030204" pitchFamily="18" charset="0"/>
                                </a:rPr>
                                <m:t>     </m:t>
                              </m:r>
                              <m:f>
                                <m:fPr>
                                  <m:ctrlPr>
                                    <a:rPr lang="zh-CN" altLang="zh-CN" i="1">
                                      <a:latin typeface="Cambria Math" panose="02040503050406030204" pitchFamily="18" charset="0"/>
                                    </a:rPr>
                                  </m:ctrlPr>
                                </m:fPr>
                                <m:num>
                                  <m:r>
                                    <a:rPr lang="en-US" altLang="zh-CN">
                                      <a:latin typeface="Cambria Math" panose="02040503050406030204" pitchFamily="18" charset="0"/>
                                    </a:rPr>
                                    <m:t>3</m:t>
                                  </m:r>
                                </m:num>
                                <m:den>
                                  <m:r>
                                    <a:rPr lang="en-US" altLang="zh-CN">
                                      <a:latin typeface="Cambria Math" panose="02040503050406030204" pitchFamily="18" charset="0"/>
                                    </a:rPr>
                                    <m:t>4</m:t>
                                  </m:r>
                                </m:den>
                              </m:f>
                            </m:e>
                          </m:d>
                        </m:e>
                        <m:sup>
                          <m:r>
                            <a:rPr lang="en-US" altLang="zh-CN">
                              <a:latin typeface="Cambria Math" panose="02040503050406030204" pitchFamily="18" charset="0"/>
                            </a:rPr>
                            <m:t>𝑇</m:t>
                          </m:r>
                        </m:sup>
                      </m:sSup>
                    </m:oMath>
                  </m:oMathPara>
                </a14:m>
                <a:endParaRPr lang="zh-CN" altLang="zh-CN" dirty="0"/>
              </a:p>
              <a:p>
                <a:pPr/>
                <a14:m>
                  <m:oMathPara xmlns:m="http://schemas.openxmlformats.org/officeDocument/2006/math">
                    <m:oMathParaPr>
                      <m:jc m:val="centerGroup"/>
                    </m:oMathParaPr>
                    <m:oMath xmlns:m="http://schemas.openxmlformats.org/officeDocument/2006/math">
                      <m:r>
                        <a:rPr lang="en-US" altLang="zh-CN">
                          <a:latin typeface="Cambria Math" panose="02040503050406030204" pitchFamily="18" charset="0"/>
                        </a:rPr>
                        <m:t>𝑓</m:t>
                      </m:r>
                      <m:r>
                        <a:rPr lang="en-US" altLang="zh-CN">
                          <a:latin typeface="Cambria Math" panose="02040503050406030204" pitchFamily="18" charset="0"/>
                        </a:rPr>
                        <m:t>(</m:t>
                      </m:r>
                      <m:sSup>
                        <m:sSupPr>
                          <m:ctrlPr>
                            <a:rPr lang="zh-CN" altLang="zh-CN" i="1">
                              <a:latin typeface="Cambria Math" panose="02040503050406030204" pitchFamily="18" charset="0"/>
                            </a:rPr>
                          </m:ctrlPr>
                        </m:sSupPr>
                        <m:e>
                          <m:r>
                            <a:rPr lang="en-US" altLang="zh-CN">
                              <a:latin typeface="Cambria Math" panose="02040503050406030204" pitchFamily="18" charset="0"/>
                            </a:rPr>
                            <m:t>𝑥</m:t>
                          </m:r>
                        </m:e>
                        <m:sup>
                          <m:r>
                            <a:rPr lang="en-US" altLang="zh-CN">
                              <a:latin typeface="Cambria Math" panose="02040503050406030204" pitchFamily="18" charset="0"/>
                            </a:rPr>
                            <m:t>∗</m:t>
                          </m:r>
                        </m:sup>
                      </m:sSup>
                      <m:r>
                        <a:rPr lang="en-US" altLang="zh-CN">
                          <a:latin typeface="Cambria Math" panose="02040503050406030204" pitchFamily="18" charset="0"/>
                        </a:rPr>
                        <m:t>)=9.8125</m:t>
                      </m:r>
                    </m:oMath>
                  </m:oMathPara>
                </a14:m>
                <a:endParaRPr lang="zh-CN" altLang="zh-CN" dirty="0"/>
              </a:p>
            </p:txBody>
          </p:sp>
        </mc:Choice>
        <mc:Fallback>
          <p:sp>
            <p:nvSpPr>
              <p:cNvPr id="3" name="文本框 2">
                <a:extLst>
                  <a:ext uri="{FF2B5EF4-FFF2-40B4-BE49-F238E27FC236}">
                    <a16:creationId xmlns:a16="http://schemas.microsoft.com/office/drawing/2014/main" id="{570FC59D-FD5E-1E97-B4FD-0A00E387811B}"/>
                  </a:ext>
                </a:extLst>
              </p:cNvPr>
              <p:cNvSpPr txBox="1">
                <a:spLocks noRot="1" noChangeAspect="1" noMove="1" noResize="1" noEditPoints="1" noAdjustHandles="1" noChangeArrowheads="1" noChangeShapeType="1" noTextEdit="1"/>
              </p:cNvSpPr>
              <p:nvPr/>
            </p:nvSpPr>
            <p:spPr>
              <a:xfrm>
                <a:off x="1061404" y="500548"/>
                <a:ext cx="5940660" cy="4107791"/>
              </a:xfrm>
              <a:prstGeom prst="rect">
                <a:avLst/>
              </a:prstGeom>
              <a:blipFill>
                <a:blip r:embed="rId2"/>
                <a:stretch>
                  <a:fillRect l="-1538" t="-297"/>
                </a:stretch>
              </a:blipFill>
            </p:spPr>
            <p:txBody>
              <a:bodyPr/>
              <a:lstStyle/>
              <a:p>
                <a:r>
                  <a:rPr lang="zh-CN" altLang="en-US">
                    <a:noFill/>
                  </a:rPr>
                  <a:t> </a:t>
                </a:r>
              </a:p>
            </p:txBody>
          </p:sp>
        </mc:Fallback>
      </mc:AlternateContent>
      <p:sp>
        <p:nvSpPr>
          <p:cNvPr id="4" name="AutoShape 15">
            <a:extLst>
              <a:ext uri="{FF2B5EF4-FFF2-40B4-BE49-F238E27FC236}">
                <a16:creationId xmlns:a16="http://schemas.microsoft.com/office/drawing/2014/main" id="{14ABFE03-D6FC-53A3-51AB-8DD38EC25190}"/>
              </a:ext>
            </a:extLst>
          </p:cNvPr>
          <p:cNvSpPr>
            <a:spLocks noChangeArrowheads="1"/>
          </p:cNvSpPr>
          <p:nvPr/>
        </p:nvSpPr>
        <p:spPr bwMode="auto">
          <a:xfrm>
            <a:off x="2141936" y="4725144"/>
            <a:ext cx="5094360" cy="1224136"/>
          </a:xfrm>
          <a:prstGeom prst="horizontalScroll">
            <a:avLst>
              <a:gd name="adj" fmla="val 12500"/>
            </a:avLst>
          </a:prstGeom>
          <a:solidFill>
            <a:schemeClr val="accent6">
              <a:lumMod val="40000"/>
              <a:lumOff val="60000"/>
            </a:schemeClr>
          </a:solidFill>
          <a:ln w="9525">
            <a:solidFill>
              <a:schemeClr val="tx1"/>
            </a:solidFill>
            <a:round/>
            <a:headEnd/>
            <a:tailEnd/>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zh-CN" altLang="en-US">
              <a:latin typeface="宋体" panose="02010600030101010101" pitchFamily="2" charset="-122"/>
            </a:endParaRPr>
          </a:p>
        </p:txBody>
      </p:sp>
      <p:sp>
        <p:nvSpPr>
          <p:cNvPr id="5" name="Text Box 14">
            <a:extLst>
              <a:ext uri="{FF2B5EF4-FFF2-40B4-BE49-F238E27FC236}">
                <a16:creationId xmlns:a16="http://schemas.microsoft.com/office/drawing/2014/main" id="{0AE56908-60A5-DA80-5F78-10A4AEDFA2DB}"/>
              </a:ext>
            </a:extLst>
          </p:cNvPr>
          <p:cNvSpPr txBox="1">
            <a:spLocks noChangeArrowheads="1"/>
          </p:cNvSpPr>
          <p:nvPr/>
        </p:nvSpPr>
        <p:spPr bwMode="auto">
          <a:xfrm>
            <a:off x="2627710" y="4833157"/>
            <a:ext cx="449353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Tx/>
              <a:buNone/>
              <a:defRPr/>
            </a:pPr>
            <a:r>
              <a:rPr lang="zh-CN" altLang="en-US" sz="2400" dirty="0">
                <a:latin typeface="宋体" panose="02010600030101010101" pitchFamily="2" charset="-122"/>
              </a:rPr>
              <a:t>由于目标函数是二次正定函数，</a:t>
            </a:r>
          </a:p>
          <a:p>
            <a:pPr>
              <a:buFontTx/>
              <a:buNone/>
              <a:defRPr/>
            </a:pPr>
            <a:r>
              <a:rPr lang="zh-CN" altLang="en-US" sz="2400" dirty="0">
                <a:latin typeface="宋体" panose="02010600030101010101" pitchFamily="2" charset="-122"/>
              </a:rPr>
              <a:t>故迭代一次即达到最优点</a:t>
            </a:r>
          </a:p>
        </p:txBody>
      </p:sp>
    </p:spTree>
    <p:extLst>
      <p:ext uri="{BB962C8B-B14F-4D97-AF65-F5344CB8AC3E}">
        <p14:creationId xmlns:p14="http://schemas.microsoft.com/office/powerpoint/2010/main" val="22528074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C987CE45-1404-1CA2-61B0-A5891A54DA85}"/>
                  </a:ext>
                </a:extLst>
              </p:cNvPr>
              <p:cNvSpPr txBox="1"/>
              <p:nvPr/>
            </p:nvSpPr>
            <p:spPr>
              <a:xfrm>
                <a:off x="179512" y="191414"/>
                <a:ext cx="9217024" cy="6068841"/>
              </a:xfrm>
              <a:prstGeom prst="rect">
                <a:avLst/>
              </a:prstGeom>
              <a:noFill/>
            </p:spPr>
            <p:txBody>
              <a:bodyPr wrap="square" rtlCol="0">
                <a:spAutoFit/>
              </a:bodyPr>
              <a:lstStyle/>
              <a:p>
                <a:pPr algn="ctr">
                  <a:lnSpc>
                    <a:spcPct val="150000"/>
                  </a:lnSpc>
                </a:pPr>
                <a14:m>
                  <m:oMath xmlns:m="http://schemas.openxmlformats.org/officeDocument/2006/math">
                    <m:r>
                      <a:rPr lang="en-US" altLang="zh-CN" sz="2200" i="1" kern="100" smtClean="0">
                        <a:latin typeface="Cambria Math" panose="02040503050406030204" pitchFamily="18" charset="0"/>
                      </a:rPr>
                      <m:t>𝑓</m:t>
                    </m:r>
                    <m:d>
                      <m:dPr>
                        <m:ctrlPr>
                          <a:rPr lang="en-US" altLang="zh-CN" sz="2200" i="1" kern="100" smtClean="0">
                            <a:latin typeface="Cambria Math" panose="02040503050406030204" pitchFamily="18" charset="0"/>
                          </a:rPr>
                        </m:ctrlPr>
                      </m:dPr>
                      <m:e>
                        <m:r>
                          <a:rPr lang="en-US" altLang="zh-CN" sz="2200" b="0" i="1" kern="100" smtClean="0">
                            <a:latin typeface="Cambria Math" panose="02040503050406030204" pitchFamily="18" charset="0"/>
                            <a:ea typeface="Cambria Math" panose="02040503050406030204" pitchFamily="18" charset="0"/>
                          </a:rPr>
                          <m:t>𝑥</m:t>
                        </m:r>
                      </m:e>
                    </m:d>
                    <m:r>
                      <a:rPr lang="en-US" altLang="zh-CN" sz="2200" i="1" kern="100">
                        <a:latin typeface="Cambria Math" panose="02040503050406030204" pitchFamily="18" charset="0"/>
                      </a:rPr>
                      <m:t>=</m:t>
                    </m:r>
                    <m:f>
                      <m:fPr>
                        <m:ctrlPr>
                          <a:rPr lang="el-GR" altLang="zh-CN" sz="2200" i="1" kern="100" smtClean="0">
                            <a:latin typeface="Cambria Math" panose="02040503050406030204" pitchFamily="18" charset="0"/>
                          </a:rPr>
                        </m:ctrlPr>
                      </m:fPr>
                      <m:num>
                        <m:r>
                          <a:rPr lang="en-US" altLang="zh-CN" sz="2200" b="0" i="1" kern="100" smtClean="0">
                            <a:latin typeface="Cambria Math" panose="02040503050406030204" pitchFamily="18" charset="0"/>
                          </a:rPr>
                          <m:t>1</m:t>
                        </m:r>
                      </m:num>
                      <m:den>
                        <m:r>
                          <a:rPr lang="el-GR" altLang="zh-CN" sz="2200" i="1" kern="100" smtClean="0">
                            <a:latin typeface="Cambria Math" panose="02040503050406030204" pitchFamily="18" charset="0"/>
                          </a:rPr>
                          <m:t>2</m:t>
                        </m:r>
                      </m:den>
                    </m:f>
                    <m:sSup>
                      <m:sSupPr>
                        <m:ctrlPr>
                          <a:rPr lang="el-GR" altLang="zh-CN" sz="2200" i="1" kern="100" smtClean="0">
                            <a:latin typeface="Cambria Math" panose="02040503050406030204" pitchFamily="18" charset="0"/>
                          </a:rPr>
                        </m:ctrlPr>
                      </m:sSupPr>
                      <m:e>
                        <m:r>
                          <a:rPr lang="en-US" altLang="zh-CN" sz="2200" b="0" i="1" kern="100" smtClean="0">
                            <a:latin typeface="Cambria Math" panose="02040503050406030204" pitchFamily="18" charset="0"/>
                          </a:rPr>
                          <m:t>𝑥</m:t>
                        </m:r>
                      </m:e>
                      <m:sup>
                        <m:r>
                          <a:rPr lang="en-US" altLang="zh-CN" sz="2200" b="0" i="1" kern="100" smtClean="0">
                            <a:latin typeface="Cambria Math" panose="02040503050406030204" pitchFamily="18" charset="0"/>
                          </a:rPr>
                          <m:t>𝑇</m:t>
                        </m:r>
                      </m:sup>
                    </m:sSup>
                    <m:r>
                      <a:rPr lang="en-US" altLang="zh-CN" sz="2200" b="0" i="1" kern="100" smtClean="0">
                        <a:latin typeface="Cambria Math" panose="02040503050406030204" pitchFamily="18" charset="0"/>
                      </a:rPr>
                      <m:t>𝐴𝑥</m:t>
                    </m:r>
                    <m:r>
                      <a:rPr lang="en-US" altLang="zh-CN" sz="2200" b="0" i="1" kern="100" smtClean="0">
                        <a:latin typeface="Cambria Math" panose="02040503050406030204" pitchFamily="18" charset="0"/>
                      </a:rPr>
                      <m:t>+</m:t>
                    </m:r>
                    <m:sSup>
                      <m:sSupPr>
                        <m:ctrlPr>
                          <a:rPr lang="en-US" altLang="zh-CN" sz="2200" b="0" i="1" kern="100" smtClean="0">
                            <a:latin typeface="Cambria Math" panose="02040503050406030204" pitchFamily="18" charset="0"/>
                          </a:rPr>
                        </m:ctrlPr>
                      </m:sSupPr>
                      <m:e>
                        <m:r>
                          <a:rPr lang="en-US" altLang="zh-CN" sz="2200" b="0" i="1" kern="100" smtClean="0">
                            <a:latin typeface="Cambria Math" panose="02040503050406030204" pitchFamily="18" charset="0"/>
                          </a:rPr>
                          <m:t>𝑏</m:t>
                        </m:r>
                      </m:e>
                      <m:sup>
                        <m:r>
                          <a:rPr lang="en-US" altLang="zh-CN" sz="2200" b="0" i="1" kern="100" smtClean="0">
                            <a:latin typeface="Cambria Math" panose="02040503050406030204" pitchFamily="18" charset="0"/>
                          </a:rPr>
                          <m:t>𝑇</m:t>
                        </m:r>
                      </m:sup>
                    </m:sSup>
                    <m:r>
                      <a:rPr lang="en-US" altLang="zh-CN" sz="2200" b="0" i="1" kern="100" smtClean="0">
                        <a:latin typeface="Cambria Math" panose="02040503050406030204" pitchFamily="18" charset="0"/>
                      </a:rPr>
                      <m:t>𝑥</m:t>
                    </m:r>
                  </m:oMath>
                </a14:m>
                <a:r>
                  <a:rPr lang="en-US" altLang="zh-CN" sz="2200" kern="100" dirty="0">
                    <a:latin typeface="Times New Roman" panose="02020603050405020304" pitchFamily="18" charset="0"/>
                  </a:rPr>
                  <a:t>, </a:t>
                </a:r>
                <a14:m>
                  <m:oMath xmlns:m="http://schemas.openxmlformats.org/officeDocument/2006/math">
                    <m:r>
                      <a:rPr lang="en-US" altLang="zh-CN" sz="2200" i="1" kern="100">
                        <a:latin typeface="Cambria Math" panose="02040503050406030204" pitchFamily="18" charset="0"/>
                      </a:rPr>
                      <m:t>𝐴</m:t>
                    </m:r>
                  </m:oMath>
                </a14:m>
                <a:r>
                  <a:rPr lang="zh-CN" altLang="en-US" sz="2200" kern="100" dirty="0">
                    <a:latin typeface="Times New Roman" panose="02020603050405020304" pitchFamily="18" charset="0"/>
                  </a:rPr>
                  <a:t>正定</a:t>
                </a:r>
                <a:endParaRPr lang="en-US" altLang="zh-CN" sz="2200" kern="100" dirty="0">
                  <a:latin typeface="Times New Roman" panose="02020603050405020304" pitchFamily="18" charset="0"/>
                </a:endParaRPr>
              </a:p>
              <a:p>
                <a:pPr algn="just">
                  <a:lnSpc>
                    <a:spcPct val="150000"/>
                  </a:lnSpc>
                </a:pPr>
                <a:r>
                  <a:rPr lang="zh-CN" altLang="en-US" sz="2200" kern="100" dirty="0">
                    <a:latin typeface="Times New Roman" panose="02020603050405020304" pitchFamily="18" charset="0"/>
                  </a:rPr>
                  <a:t>任</a:t>
                </a:r>
                <a:r>
                  <a:rPr lang="zh-CN" altLang="zh-CN" sz="2200" kern="100" dirty="0">
                    <a:latin typeface="Times New Roman" panose="02020603050405020304" pitchFamily="18" charset="0"/>
                  </a:rPr>
                  <a:t>给定初始点</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(1)</m:t>
                        </m:r>
                      </m:sup>
                    </m:sSup>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𝑅</m:t>
                        </m:r>
                      </m:e>
                      <m:sup>
                        <m:r>
                          <a:rPr lang="en-US" altLang="zh-CN" sz="2200" i="1" kern="100">
                            <a:latin typeface="Cambria Math" panose="02040503050406030204" pitchFamily="18" charset="0"/>
                          </a:rPr>
                          <m:t>𝑛</m:t>
                        </m:r>
                      </m:sup>
                    </m:sSup>
                  </m:oMath>
                </a14:m>
                <a:r>
                  <a:rPr lang="zh-CN" altLang="en-US" sz="2200" i="1" kern="100" dirty="0">
                    <a:latin typeface="Cambria Math" panose="02040503050406030204" pitchFamily="18" charset="0"/>
                  </a:rPr>
                  <a:t>，牛顿方向</a:t>
                </a:r>
                <a:endParaRPr lang="en-US" altLang="zh-CN" sz="2200" i="1" kern="100" dirty="0">
                  <a:latin typeface="Cambria Math" panose="02040503050406030204" pitchFamily="18" charset="0"/>
                </a:endParaRPr>
              </a:p>
              <a:p>
                <a:pPr algn="just">
                  <a:lnSpc>
                    <a:spcPct val="150000"/>
                  </a:lnSpc>
                </a:pPr>
                <a14:m>
                  <m:oMathPara xmlns:m="http://schemas.openxmlformats.org/officeDocument/2006/math">
                    <m:oMathParaPr>
                      <m:jc m:val="centerGroup"/>
                    </m:oMathParaPr>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𝑑</m:t>
                          </m:r>
                        </m:e>
                        <m:sup>
                          <m:r>
                            <a:rPr lang="en-US" altLang="zh-CN" sz="2200" i="1" kern="100">
                              <a:latin typeface="Cambria Math" panose="02040503050406030204" pitchFamily="18" charset="0"/>
                            </a:rPr>
                            <m:t>(</m:t>
                          </m:r>
                          <m:r>
                            <a:rPr lang="en-US" altLang="zh-CN" sz="2200" b="0" i="1" kern="100" smtClean="0">
                              <a:latin typeface="Cambria Math" panose="02040503050406030204" pitchFamily="18" charset="0"/>
                            </a:rPr>
                            <m:t>1</m:t>
                          </m:r>
                          <m:r>
                            <a:rPr lang="en-US" altLang="zh-CN" sz="2200" i="1" kern="100">
                              <a:latin typeface="Cambria Math" panose="02040503050406030204" pitchFamily="18" charset="0"/>
                            </a:rPr>
                            <m:t>)</m:t>
                          </m:r>
                        </m:sup>
                      </m:sSup>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b="0" i="1" kern="100" smtClean="0">
                              <a:latin typeface="Cambria Math" panose="02040503050406030204" pitchFamily="18" charset="0"/>
                              <a:ea typeface="Cambria Math" panose="02040503050406030204" pitchFamily="18" charset="0"/>
                            </a:rPr>
                            <m:t>𝐴</m:t>
                          </m:r>
                        </m:e>
                        <m:sup>
                          <m:r>
                            <a:rPr lang="en-US" altLang="zh-CN" sz="2200" i="1" kern="100">
                              <a:latin typeface="Cambria Math" panose="02040503050406030204" pitchFamily="18" charset="0"/>
                            </a:rPr>
                            <m:t>−1</m:t>
                          </m:r>
                        </m:sup>
                      </m:sSup>
                      <m:d>
                        <m:dPr>
                          <m:ctrlPr>
                            <a:rPr lang="en-US" altLang="zh-CN" sz="2200" b="0" i="1" kern="100" smtClean="0">
                              <a:latin typeface="Cambria Math" panose="02040503050406030204" pitchFamily="18" charset="0"/>
                            </a:rPr>
                          </m:ctrlPr>
                        </m:dPr>
                        <m:e>
                          <m:r>
                            <a:rPr lang="en-US" altLang="zh-CN" sz="2200" b="0" i="1" kern="100" smtClean="0">
                              <a:latin typeface="Cambria Math" panose="02040503050406030204" pitchFamily="18" charset="0"/>
                              <a:cs typeface="Cambria Math" panose="02040503050406030204" pitchFamily="18" charset="0"/>
                            </a:rPr>
                            <m:t>𝐴</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d>
                                <m:dPr>
                                  <m:ctrlPr>
                                    <a:rPr lang="en-US" altLang="zh-CN" sz="2200" i="1" kern="100">
                                      <a:latin typeface="Cambria Math" panose="02040503050406030204" pitchFamily="18" charset="0"/>
                                    </a:rPr>
                                  </m:ctrlPr>
                                </m:dPr>
                                <m:e>
                                  <m:r>
                                    <a:rPr lang="en-US" altLang="zh-CN" sz="2200" b="0" i="1" kern="100" smtClean="0">
                                      <a:latin typeface="Cambria Math" panose="02040503050406030204" pitchFamily="18" charset="0"/>
                                    </a:rPr>
                                    <m:t>1</m:t>
                                  </m:r>
                                </m:e>
                              </m:d>
                            </m:sup>
                          </m:sSup>
                          <m:r>
                            <a:rPr lang="en-US" altLang="zh-CN" sz="2200" b="0" i="1" kern="100" smtClean="0">
                              <a:latin typeface="Cambria Math" panose="02040503050406030204" pitchFamily="18" charset="0"/>
                            </a:rPr>
                            <m:t>+</m:t>
                          </m:r>
                          <m:r>
                            <a:rPr lang="en-US" altLang="zh-CN" sz="2200" b="0" i="1" kern="100" smtClean="0">
                              <a:latin typeface="Cambria Math" panose="02040503050406030204" pitchFamily="18" charset="0"/>
                            </a:rPr>
                            <m:t>𝑏</m:t>
                          </m:r>
                        </m:e>
                      </m:d>
                      <m:r>
                        <a:rPr lang="en-US" altLang="zh-CN" sz="2200" b="0" i="1" kern="100" smtClean="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d>
                            <m:dPr>
                              <m:ctrlPr>
                                <a:rPr lang="en-US" altLang="zh-CN" sz="2200" i="1" kern="100">
                                  <a:latin typeface="Cambria Math" panose="02040503050406030204" pitchFamily="18" charset="0"/>
                                </a:rPr>
                              </m:ctrlPr>
                            </m:dPr>
                            <m:e>
                              <m:r>
                                <a:rPr lang="en-US" altLang="zh-CN" sz="2200" i="1" kern="100">
                                  <a:latin typeface="Cambria Math" panose="02040503050406030204" pitchFamily="18" charset="0"/>
                                </a:rPr>
                                <m:t>1</m:t>
                              </m:r>
                            </m:e>
                          </m:d>
                        </m:sup>
                      </m:sSup>
                      <m:r>
                        <a:rPr lang="en-US" altLang="zh-CN" sz="2200" b="0" i="1" kern="100" smtClean="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Cambria Math" panose="02040503050406030204" pitchFamily="18" charset="0"/>
                            </a:rPr>
                            <m:t>𝐴</m:t>
                          </m:r>
                        </m:e>
                        <m:sup>
                          <m:r>
                            <a:rPr lang="en-US" altLang="zh-CN" sz="2200" i="1" kern="100">
                              <a:latin typeface="Cambria Math" panose="02040503050406030204" pitchFamily="18" charset="0"/>
                            </a:rPr>
                            <m:t>−1</m:t>
                          </m:r>
                        </m:sup>
                      </m:sSup>
                      <m:r>
                        <a:rPr lang="en-US" altLang="zh-CN" sz="2200" b="0" i="1" kern="100" smtClean="0">
                          <a:latin typeface="Cambria Math" panose="02040503050406030204" pitchFamily="18" charset="0"/>
                        </a:rPr>
                        <m:t>𝑏</m:t>
                      </m:r>
                    </m:oMath>
                  </m:oMathPara>
                </a14:m>
                <a:endParaRPr lang="zh-CN" altLang="zh-CN" sz="2200" kern="100" dirty="0">
                  <a:latin typeface="Times New Roman" panose="02020603050405020304" pitchFamily="18" charset="0"/>
                </a:endParaRPr>
              </a:p>
              <a:p>
                <a:pPr algn="just">
                  <a:lnSpc>
                    <a:spcPct val="150000"/>
                  </a:lnSpc>
                </a:pPr>
                <a:r>
                  <a:rPr lang="zh-CN" altLang="zh-CN" sz="2200" kern="100" dirty="0">
                    <a:latin typeface="Times New Roman" panose="02020603050405020304" pitchFamily="18" charset="0"/>
                  </a:rPr>
                  <a:t>从</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b="0" i="1" kern="100" smtClean="0">
                            <a:latin typeface="Cambria Math" panose="02040503050406030204" pitchFamily="18" charset="0"/>
                          </a:rPr>
                          <m:t>1</m:t>
                        </m:r>
                        <m:r>
                          <a:rPr lang="en-US" altLang="zh-CN" sz="2200" i="1" kern="100">
                            <a:latin typeface="Cambria Math" panose="02040503050406030204" pitchFamily="18" charset="0"/>
                          </a:rPr>
                          <m:t>)</m:t>
                        </m:r>
                      </m:sup>
                    </m:sSup>
                  </m:oMath>
                </a14:m>
                <a:r>
                  <a:rPr lang="zh-CN" altLang="zh-CN" sz="2200" kern="100" dirty="0">
                    <a:latin typeface="Times New Roman" panose="02020603050405020304" pitchFamily="18" charset="0"/>
                  </a:rPr>
                  <a:t>点出发，沿</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𝑑</m:t>
                        </m:r>
                      </m:e>
                      <m:sup>
                        <m:r>
                          <a:rPr lang="en-US" altLang="zh-CN" sz="2200" i="1" kern="100">
                            <a:latin typeface="Cambria Math" panose="02040503050406030204" pitchFamily="18" charset="0"/>
                          </a:rPr>
                          <m:t>(</m:t>
                        </m:r>
                        <m:r>
                          <a:rPr lang="en-US" altLang="zh-CN" sz="2200" b="0" i="1" kern="100" smtClean="0">
                            <a:latin typeface="Cambria Math" panose="02040503050406030204" pitchFamily="18" charset="0"/>
                          </a:rPr>
                          <m:t>1</m:t>
                        </m:r>
                        <m:r>
                          <a:rPr lang="en-US" altLang="zh-CN" sz="2200" i="1" kern="100">
                            <a:latin typeface="Cambria Math" panose="02040503050406030204" pitchFamily="18" charset="0"/>
                          </a:rPr>
                          <m:t>)</m:t>
                        </m:r>
                      </m:sup>
                    </m:sSup>
                  </m:oMath>
                </a14:m>
                <a:r>
                  <a:rPr lang="zh-CN" altLang="zh-CN" sz="2200" kern="100" dirty="0">
                    <a:latin typeface="Times New Roman" panose="02020603050405020304" pitchFamily="18" charset="0"/>
                  </a:rPr>
                  <a:t>进行一维搜索，即求最优步长</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𝛼</m:t>
                        </m:r>
                      </m:e>
                      <m:sup>
                        <m:r>
                          <a:rPr lang="en-US" altLang="zh-CN" sz="2200" i="1" kern="100">
                            <a:latin typeface="Cambria Math" panose="02040503050406030204" pitchFamily="18" charset="0"/>
                          </a:rPr>
                          <m:t>(</m:t>
                        </m:r>
                        <m:r>
                          <a:rPr lang="en-US" altLang="zh-CN" sz="2200" b="0" i="1" kern="100" smtClean="0">
                            <a:latin typeface="Cambria Math" panose="02040503050406030204" pitchFamily="18" charset="0"/>
                          </a:rPr>
                          <m:t>1</m:t>
                        </m:r>
                        <m:r>
                          <a:rPr lang="en-US" altLang="zh-CN" sz="2200" i="1" kern="100">
                            <a:latin typeface="Cambria Math" panose="02040503050406030204" pitchFamily="18" charset="0"/>
                          </a:rPr>
                          <m:t>)</m:t>
                        </m:r>
                      </m:sup>
                    </m:sSup>
                  </m:oMath>
                </a14:m>
                <a:r>
                  <a:rPr lang="zh-CN" altLang="zh-CN" sz="2200" kern="100" dirty="0">
                    <a:latin typeface="Times New Roman" panose="02020603050405020304" pitchFamily="18" charset="0"/>
                  </a:rPr>
                  <a:t>，使得</a:t>
                </a:r>
              </a:p>
              <a:p>
                <a:pPr algn="just">
                  <a:lnSpc>
                    <a:spcPct val="150000"/>
                  </a:lnSpc>
                </a:pPr>
                <a:r>
                  <a:rPr lang="en-US" altLang="zh-CN" sz="2200" kern="100" dirty="0">
                    <a:latin typeface="Times New Roman" panose="02020603050405020304" pitchFamily="18" charset="0"/>
                  </a:rPr>
                  <a:t>			</a:t>
                </a:r>
                <a14:m>
                  <m:oMath xmlns:m="http://schemas.openxmlformats.org/officeDocument/2006/math">
                    <m:r>
                      <a:rPr lang="en-US" altLang="zh-CN" sz="2200" i="1" kern="100">
                        <a:latin typeface="Cambria Math" panose="02040503050406030204" pitchFamily="18" charset="0"/>
                      </a:rPr>
                      <m:t>𝑓</m:t>
                    </m:r>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b="0" i="1" kern="100" smtClean="0">
                            <a:latin typeface="Cambria Math" panose="02040503050406030204" pitchFamily="18" charset="0"/>
                          </a:rPr>
                          <m:t>1</m:t>
                        </m:r>
                        <m:r>
                          <a:rPr lang="en-US" altLang="zh-CN" sz="2200" i="1" kern="100">
                            <a:latin typeface="Cambria Math" panose="02040503050406030204" pitchFamily="18" charset="0"/>
                          </a:rPr>
                          <m:t>)</m:t>
                        </m:r>
                      </m:sup>
                    </m:sSup>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𝛼</m:t>
                        </m:r>
                      </m:e>
                      <m:sup>
                        <m:r>
                          <a:rPr lang="en-US" altLang="zh-CN" sz="2200" i="1" kern="100">
                            <a:latin typeface="Cambria Math" panose="02040503050406030204" pitchFamily="18" charset="0"/>
                          </a:rPr>
                          <m:t>(</m:t>
                        </m:r>
                        <m:r>
                          <a:rPr lang="en-US" altLang="zh-CN" sz="2200" b="0" i="1" kern="100" smtClean="0">
                            <a:latin typeface="Cambria Math" panose="02040503050406030204" pitchFamily="18" charset="0"/>
                          </a:rPr>
                          <m:t>1</m:t>
                        </m:r>
                        <m:r>
                          <a:rPr lang="en-US" altLang="zh-CN" sz="2200" i="1" kern="100">
                            <a:latin typeface="Cambria Math" panose="02040503050406030204" pitchFamily="18" charset="0"/>
                          </a:rPr>
                          <m:t>)</m:t>
                        </m:r>
                      </m:sup>
                    </m:sSup>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𝑑</m:t>
                        </m:r>
                      </m:e>
                      <m:sup>
                        <m:r>
                          <a:rPr lang="en-US" altLang="zh-CN" sz="2200" i="1" kern="100">
                            <a:latin typeface="Cambria Math" panose="02040503050406030204" pitchFamily="18" charset="0"/>
                          </a:rPr>
                          <m:t>(</m:t>
                        </m:r>
                        <m:r>
                          <a:rPr lang="en-US" altLang="zh-CN" sz="2200" b="0" i="1" kern="100" smtClean="0">
                            <a:latin typeface="Cambria Math" panose="02040503050406030204" pitchFamily="18" charset="0"/>
                          </a:rPr>
                          <m:t>1</m:t>
                        </m:r>
                        <m:r>
                          <a:rPr lang="en-US" altLang="zh-CN" sz="2200" i="1" kern="100">
                            <a:latin typeface="Cambria Math" panose="02040503050406030204" pitchFamily="18" charset="0"/>
                          </a:rPr>
                          <m:t>)</m:t>
                        </m:r>
                      </m:sup>
                    </m:sSup>
                    <m:r>
                      <a:rPr lang="en-US" altLang="zh-CN" sz="2200" i="1" kern="100">
                        <a:latin typeface="Cambria Math" panose="02040503050406030204" pitchFamily="18" charset="0"/>
                      </a:rPr>
                      <m:t>)=</m:t>
                    </m:r>
                    <m:limLow>
                      <m:limLowPr>
                        <m:ctrlPr>
                          <a:rPr lang="zh-CN" altLang="zh-CN" sz="2200" i="1" kern="100">
                            <a:latin typeface="Cambria Math" panose="02040503050406030204" pitchFamily="18" charset="0"/>
                            <a:ea typeface="Cambria Math" panose="02040503050406030204" pitchFamily="18" charset="0"/>
                          </a:rPr>
                        </m:ctrlPr>
                      </m:limLowPr>
                      <m:e>
                        <m:r>
                          <a:rPr lang="en-US" altLang="zh-CN" sz="2200" i="1" kern="100">
                            <a:latin typeface="Cambria Math" panose="02040503050406030204" pitchFamily="18" charset="0"/>
                          </a:rPr>
                          <m:t>𝑚𝑖𝑛</m:t>
                        </m:r>
                      </m:e>
                      <m:lim>
                        <m:r>
                          <a:rPr lang="en-US" altLang="zh-CN" sz="2200" i="1" kern="100">
                            <a:latin typeface="Cambria Math" panose="02040503050406030204" pitchFamily="18" charset="0"/>
                          </a:rPr>
                          <m:t>𝛼</m:t>
                        </m:r>
                        <m:r>
                          <a:rPr lang="en-US" altLang="zh-CN" sz="2200" i="1" kern="100">
                            <a:latin typeface="Cambria Math" panose="02040503050406030204" pitchFamily="18" charset="0"/>
                          </a:rPr>
                          <m:t>&gt;0</m:t>
                        </m:r>
                      </m:lim>
                    </m:limLow>
                    <m:r>
                      <a:rPr lang="en-US" altLang="zh-CN" sz="2200" i="1" kern="100">
                        <a:latin typeface="Cambria Math" panose="02040503050406030204" pitchFamily="18" charset="0"/>
                      </a:rPr>
                      <m:t>𝑓</m:t>
                    </m:r>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b="0" i="1" kern="100" smtClean="0">
                            <a:latin typeface="Cambria Math" panose="02040503050406030204" pitchFamily="18" charset="0"/>
                          </a:rPr>
                          <m:t>1</m:t>
                        </m:r>
                        <m:r>
                          <a:rPr lang="en-US" altLang="zh-CN" sz="2200" i="1" kern="100">
                            <a:latin typeface="Cambria Math" panose="02040503050406030204" pitchFamily="18" charset="0"/>
                          </a:rPr>
                          <m:t>)</m:t>
                        </m:r>
                      </m:sup>
                    </m:sSup>
                    <m:r>
                      <a:rPr lang="en-US" altLang="zh-CN" sz="2200" i="1" kern="100">
                        <a:latin typeface="Cambria Math" panose="02040503050406030204" pitchFamily="18" charset="0"/>
                      </a:rPr>
                      <m:t>+</m:t>
                    </m:r>
                    <m:r>
                      <a:rPr lang="en-US" altLang="zh-CN" sz="2200" i="1" kern="100">
                        <a:latin typeface="Cambria Math" panose="02040503050406030204" pitchFamily="18" charset="0"/>
                      </a:rPr>
                      <m:t>𝛼</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𝑑</m:t>
                        </m:r>
                      </m:e>
                      <m:sup>
                        <m:r>
                          <a:rPr lang="en-US" altLang="zh-CN" sz="2200" i="1" kern="100">
                            <a:latin typeface="Cambria Math" panose="02040503050406030204" pitchFamily="18" charset="0"/>
                          </a:rPr>
                          <m:t>(</m:t>
                        </m:r>
                        <m:r>
                          <a:rPr lang="en-US" altLang="zh-CN" sz="2200" b="0" i="1" kern="100" smtClean="0">
                            <a:latin typeface="Cambria Math" panose="02040503050406030204" pitchFamily="18" charset="0"/>
                          </a:rPr>
                          <m:t>1</m:t>
                        </m:r>
                        <m:r>
                          <a:rPr lang="en-US" altLang="zh-CN" sz="2200" i="1" kern="100">
                            <a:latin typeface="Cambria Math" panose="02040503050406030204" pitchFamily="18" charset="0"/>
                          </a:rPr>
                          <m:t>)</m:t>
                        </m:r>
                      </m:sup>
                    </m:sSup>
                    <m:r>
                      <a:rPr lang="en-US" altLang="zh-CN" sz="2200" i="1" kern="100">
                        <a:latin typeface="Cambria Math" panose="02040503050406030204" pitchFamily="18" charset="0"/>
                      </a:rPr>
                      <m:t>)</m:t>
                    </m:r>
                  </m:oMath>
                </a14:m>
                <a:endParaRPr lang="zh-CN" altLang="zh-CN" sz="2200" kern="100" dirty="0">
                  <a:latin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d>
                        <m:dPr>
                          <m:begChr m:val="⟨"/>
                          <m:endChr m:val="⟩"/>
                          <m:ctrlPr>
                            <a:rPr lang="en-US" altLang="zh-CN" sz="2200" i="1" kern="100" smtClean="0">
                              <a:solidFill>
                                <a:srgbClr val="0070C0"/>
                              </a:solidFill>
                              <a:latin typeface="Cambria Math" panose="02040503050406030204" pitchFamily="18" charset="0"/>
                              <a:ea typeface="Cambria Math" panose="02040503050406030204" pitchFamily="18" charset="0"/>
                            </a:rPr>
                          </m:ctrlPr>
                        </m:dPr>
                        <m:e>
                          <m:r>
                            <m:rPr>
                              <m:sty m:val="p"/>
                            </m:rPr>
                            <a:rPr lang="en-US" altLang="zh-CN" sz="2200" i="1" kern="100">
                              <a:solidFill>
                                <a:srgbClr val="0070C0"/>
                              </a:solidFill>
                              <a:latin typeface="Cambria Math" panose="02040503050406030204" pitchFamily="18" charset="0"/>
                              <a:ea typeface="Cambria Math" panose="02040503050406030204" pitchFamily="18" charset="0"/>
                            </a:rPr>
                            <m:t>∇</m:t>
                          </m:r>
                          <m:r>
                            <a:rPr lang="en-US" altLang="zh-CN" sz="2200" i="1" kern="100">
                              <a:solidFill>
                                <a:srgbClr val="0070C0"/>
                              </a:solidFill>
                              <a:latin typeface="Cambria Math" panose="02040503050406030204" pitchFamily="18" charset="0"/>
                            </a:rPr>
                            <m:t>𝑓</m:t>
                          </m:r>
                          <m:d>
                            <m:dPr>
                              <m:ctrlPr>
                                <a:rPr lang="en-US" altLang="zh-CN" sz="2200" i="1" kern="100">
                                  <a:solidFill>
                                    <a:srgbClr val="0070C0"/>
                                  </a:solidFill>
                                  <a:latin typeface="Cambria Math" panose="02040503050406030204" pitchFamily="18" charset="0"/>
                                </a:rPr>
                              </m:ctrlPr>
                            </m:dPr>
                            <m:e>
                              <m:sSup>
                                <m:sSupPr>
                                  <m:ctrlPr>
                                    <a:rPr lang="zh-CN" altLang="zh-CN" sz="2200" i="1" kern="100">
                                      <a:solidFill>
                                        <a:srgbClr val="0070C0"/>
                                      </a:solidFill>
                                      <a:latin typeface="Cambria Math" panose="02040503050406030204" pitchFamily="18" charset="0"/>
                                      <a:ea typeface="Cambria Math" panose="02040503050406030204" pitchFamily="18" charset="0"/>
                                    </a:rPr>
                                  </m:ctrlPr>
                                </m:sSupPr>
                                <m:e>
                                  <m:r>
                                    <a:rPr lang="en-US" altLang="zh-CN" sz="2200" i="1" kern="100">
                                      <a:solidFill>
                                        <a:srgbClr val="0070C0"/>
                                      </a:solidFill>
                                      <a:latin typeface="Cambria Math" panose="02040503050406030204" pitchFamily="18" charset="0"/>
                                    </a:rPr>
                                    <m:t>𝑥</m:t>
                                  </m:r>
                                </m:e>
                                <m:sup>
                                  <m:d>
                                    <m:dPr>
                                      <m:ctrlPr>
                                        <a:rPr lang="en-US" altLang="zh-CN" sz="2200" i="1" kern="100">
                                          <a:solidFill>
                                            <a:srgbClr val="0070C0"/>
                                          </a:solidFill>
                                          <a:latin typeface="Cambria Math" panose="02040503050406030204" pitchFamily="18" charset="0"/>
                                        </a:rPr>
                                      </m:ctrlPr>
                                    </m:dPr>
                                    <m:e>
                                      <m:r>
                                        <a:rPr lang="en-US" altLang="zh-CN" sz="2200" i="1" kern="100">
                                          <a:solidFill>
                                            <a:srgbClr val="0070C0"/>
                                          </a:solidFill>
                                          <a:latin typeface="Cambria Math" panose="02040503050406030204" pitchFamily="18" charset="0"/>
                                        </a:rPr>
                                        <m:t>1</m:t>
                                      </m:r>
                                    </m:e>
                                  </m:d>
                                </m:sup>
                              </m:sSup>
                              <m:r>
                                <a:rPr lang="en-US" altLang="zh-CN" sz="2200" i="1" kern="100">
                                  <a:solidFill>
                                    <a:srgbClr val="0070C0"/>
                                  </a:solidFill>
                                  <a:latin typeface="Cambria Math" panose="02040503050406030204" pitchFamily="18" charset="0"/>
                                </a:rPr>
                                <m:t>+</m:t>
                              </m:r>
                              <m:sSup>
                                <m:sSupPr>
                                  <m:ctrlPr>
                                    <a:rPr lang="zh-CN" altLang="zh-CN" sz="2200" i="1" kern="100">
                                      <a:solidFill>
                                        <a:srgbClr val="0070C0"/>
                                      </a:solidFill>
                                      <a:latin typeface="Cambria Math" panose="02040503050406030204" pitchFamily="18" charset="0"/>
                                      <a:ea typeface="Cambria Math" panose="02040503050406030204" pitchFamily="18" charset="0"/>
                                    </a:rPr>
                                  </m:ctrlPr>
                                </m:sSupPr>
                                <m:e>
                                  <m:r>
                                    <a:rPr lang="en-US" altLang="zh-CN" sz="2200" i="1" kern="100">
                                      <a:solidFill>
                                        <a:srgbClr val="0070C0"/>
                                      </a:solidFill>
                                      <a:latin typeface="Cambria Math" panose="02040503050406030204" pitchFamily="18" charset="0"/>
                                    </a:rPr>
                                    <m:t>𝛼</m:t>
                                  </m:r>
                                </m:e>
                                <m:sup>
                                  <m:d>
                                    <m:dPr>
                                      <m:ctrlPr>
                                        <a:rPr lang="en-US" altLang="zh-CN" sz="2200" i="1" kern="100">
                                          <a:solidFill>
                                            <a:srgbClr val="0070C0"/>
                                          </a:solidFill>
                                          <a:latin typeface="Cambria Math" panose="02040503050406030204" pitchFamily="18" charset="0"/>
                                        </a:rPr>
                                      </m:ctrlPr>
                                    </m:dPr>
                                    <m:e>
                                      <m:r>
                                        <a:rPr lang="en-US" altLang="zh-CN" sz="2200" i="1" kern="100">
                                          <a:solidFill>
                                            <a:srgbClr val="0070C0"/>
                                          </a:solidFill>
                                          <a:latin typeface="Cambria Math" panose="02040503050406030204" pitchFamily="18" charset="0"/>
                                        </a:rPr>
                                        <m:t>1</m:t>
                                      </m:r>
                                    </m:e>
                                  </m:d>
                                </m:sup>
                              </m:sSup>
                              <m:sSup>
                                <m:sSupPr>
                                  <m:ctrlPr>
                                    <a:rPr lang="zh-CN" altLang="zh-CN" sz="2200" i="1" kern="100">
                                      <a:solidFill>
                                        <a:srgbClr val="0070C0"/>
                                      </a:solidFill>
                                      <a:latin typeface="Cambria Math" panose="02040503050406030204" pitchFamily="18" charset="0"/>
                                      <a:ea typeface="Cambria Math" panose="02040503050406030204" pitchFamily="18" charset="0"/>
                                    </a:rPr>
                                  </m:ctrlPr>
                                </m:sSupPr>
                                <m:e>
                                  <m:r>
                                    <a:rPr lang="en-US" altLang="zh-CN" sz="2200" i="1" kern="100">
                                      <a:solidFill>
                                        <a:srgbClr val="0070C0"/>
                                      </a:solidFill>
                                      <a:latin typeface="Cambria Math" panose="02040503050406030204" pitchFamily="18" charset="0"/>
                                    </a:rPr>
                                    <m:t>𝑑</m:t>
                                  </m:r>
                                </m:e>
                                <m:sup>
                                  <m:d>
                                    <m:dPr>
                                      <m:ctrlPr>
                                        <a:rPr lang="en-US" altLang="zh-CN" sz="2200" i="1" kern="100">
                                          <a:solidFill>
                                            <a:srgbClr val="0070C0"/>
                                          </a:solidFill>
                                          <a:latin typeface="Cambria Math" panose="02040503050406030204" pitchFamily="18" charset="0"/>
                                        </a:rPr>
                                      </m:ctrlPr>
                                    </m:dPr>
                                    <m:e>
                                      <m:r>
                                        <a:rPr lang="en-US" altLang="zh-CN" sz="2200" i="1" kern="100">
                                          <a:solidFill>
                                            <a:srgbClr val="0070C0"/>
                                          </a:solidFill>
                                          <a:latin typeface="Cambria Math" panose="02040503050406030204" pitchFamily="18" charset="0"/>
                                        </a:rPr>
                                        <m:t>1</m:t>
                                      </m:r>
                                    </m:e>
                                  </m:d>
                                </m:sup>
                              </m:sSup>
                            </m:e>
                          </m:d>
                          <m:r>
                            <m:rPr>
                              <m:nor/>
                            </m:rPr>
                            <a:rPr lang="zh-CN" altLang="zh-CN" sz="2200" kern="100" dirty="0">
                              <a:solidFill>
                                <a:srgbClr val="0070C0"/>
                              </a:solidFill>
                              <a:latin typeface="Times New Roman" panose="02020603050405020304" pitchFamily="18" charset="0"/>
                            </a:rPr>
                            <m:t> </m:t>
                          </m:r>
                          <m:r>
                            <a:rPr lang="en-US" altLang="zh-CN" sz="2200" b="0" i="1" kern="100" dirty="0" smtClean="0">
                              <a:solidFill>
                                <a:srgbClr val="0070C0"/>
                              </a:solidFill>
                              <a:latin typeface="Cambria Math" panose="02040503050406030204" pitchFamily="18" charset="0"/>
                            </a:rPr>
                            <m:t>,</m:t>
                          </m:r>
                          <m:sSup>
                            <m:sSupPr>
                              <m:ctrlPr>
                                <a:rPr lang="zh-CN" altLang="zh-CN" sz="2200" i="1" kern="100">
                                  <a:solidFill>
                                    <a:srgbClr val="0070C0"/>
                                  </a:solidFill>
                                  <a:latin typeface="Cambria Math" panose="02040503050406030204" pitchFamily="18" charset="0"/>
                                  <a:ea typeface="Cambria Math" panose="02040503050406030204" pitchFamily="18" charset="0"/>
                                </a:rPr>
                              </m:ctrlPr>
                            </m:sSupPr>
                            <m:e>
                              <m:r>
                                <a:rPr lang="en-US" altLang="zh-CN" sz="2200" i="1" kern="100">
                                  <a:solidFill>
                                    <a:srgbClr val="0070C0"/>
                                  </a:solidFill>
                                  <a:latin typeface="Cambria Math" panose="02040503050406030204" pitchFamily="18" charset="0"/>
                                </a:rPr>
                                <m:t>𝑑</m:t>
                              </m:r>
                            </m:e>
                            <m:sup>
                              <m:d>
                                <m:dPr>
                                  <m:ctrlPr>
                                    <a:rPr lang="en-US" altLang="zh-CN" sz="2200" i="1" kern="100">
                                      <a:solidFill>
                                        <a:srgbClr val="0070C0"/>
                                      </a:solidFill>
                                      <a:latin typeface="Cambria Math" panose="02040503050406030204" pitchFamily="18" charset="0"/>
                                    </a:rPr>
                                  </m:ctrlPr>
                                </m:dPr>
                                <m:e>
                                  <m:r>
                                    <a:rPr lang="en-US" altLang="zh-CN" sz="2200" i="1" kern="100">
                                      <a:solidFill>
                                        <a:srgbClr val="0070C0"/>
                                      </a:solidFill>
                                      <a:latin typeface="Cambria Math" panose="02040503050406030204" pitchFamily="18" charset="0"/>
                                    </a:rPr>
                                    <m:t>1</m:t>
                                  </m:r>
                                </m:e>
                              </m:d>
                            </m:sup>
                          </m:sSup>
                        </m:e>
                      </m:d>
                      <m:r>
                        <a:rPr lang="en-US" altLang="zh-CN" sz="2200" b="0" i="1" kern="100" smtClean="0">
                          <a:solidFill>
                            <a:srgbClr val="0070C0"/>
                          </a:solidFill>
                          <a:latin typeface="Cambria Math" panose="02040503050406030204" pitchFamily="18" charset="0"/>
                          <a:ea typeface="Cambria Math" panose="02040503050406030204" pitchFamily="18" charset="0"/>
                        </a:rPr>
                        <m:t>=0</m:t>
                      </m:r>
                    </m:oMath>
                  </m:oMathPara>
                </a14:m>
                <a:endParaRPr lang="en-US" altLang="zh-CN" sz="2200" kern="100" dirty="0">
                  <a:solidFill>
                    <a:srgbClr val="0070C0"/>
                  </a:solidFill>
                  <a:latin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d>
                        <m:dPr>
                          <m:begChr m:val="⟨"/>
                          <m:endChr m:val="⟩"/>
                          <m:ctrlPr>
                            <a:rPr lang="en-US" altLang="zh-CN" sz="2200" i="1" kern="100" smtClean="0">
                              <a:solidFill>
                                <a:srgbClr val="0070C0"/>
                              </a:solidFill>
                              <a:latin typeface="Cambria Math" panose="02040503050406030204" pitchFamily="18" charset="0"/>
                              <a:ea typeface="Cambria Math" panose="02040503050406030204" pitchFamily="18" charset="0"/>
                            </a:rPr>
                          </m:ctrlPr>
                        </m:dPr>
                        <m:e>
                          <m:r>
                            <a:rPr lang="en-US" altLang="zh-CN" sz="2200" b="0" i="1" kern="100" smtClean="0">
                              <a:solidFill>
                                <a:srgbClr val="0070C0"/>
                              </a:solidFill>
                              <a:latin typeface="Cambria Math" panose="02040503050406030204" pitchFamily="18" charset="0"/>
                              <a:ea typeface="Cambria Math" panose="02040503050406030204" pitchFamily="18" charset="0"/>
                            </a:rPr>
                            <m:t>𝐴</m:t>
                          </m:r>
                          <m:d>
                            <m:dPr>
                              <m:ctrlPr>
                                <a:rPr lang="en-US" altLang="zh-CN" sz="2200" i="1" kern="100">
                                  <a:solidFill>
                                    <a:srgbClr val="0070C0"/>
                                  </a:solidFill>
                                  <a:latin typeface="Cambria Math" panose="02040503050406030204" pitchFamily="18" charset="0"/>
                                </a:rPr>
                              </m:ctrlPr>
                            </m:dPr>
                            <m:e>
                              <m:sSup>
                                <m:sSupPr>
                                  <m:ctrlPr>
                                    <a:rPr lang="zh-CN" altLang="zh-CN" sz="2200" i="1" kern="100">
                                      <a:solidFill>
                                        <a:srgbClr val="0070C0"/>
                                      </a:solidFill>
                                      <a:latin typeface="Cambria Math" panose="02040503050406030204" pitchFamily="18" charset="0"/>
                                      <a:ea typeface="Cambria Math" panose="02040503050406030204" pitchFamily="18" charset="0"/>
                                    </a:rPr>
                                  </m:ctrlPr>
                                </m:sSupPr>
                                <m:e>
                                  <m:r>
                                    <a:rPr lang="en-US" altLang="zh-CN" sz="2200" i="1" kern="100">
                                      <a:solidFill>
                                        <a:srgbClr val="0070C0"/>
                                      </a:solidFill>
                                      <a:latin typeface="Cambria Math" panose="02040503050406030204" pitchFamily="18" charset="0"/>
                                    </a:rPr>
                                    <m:t>𝑥</m:t>
                                  </m:r>
                                </m:e>
                                <m:sup>
                                  <m:d>
                                    <m:dPr>
                                      <m:ctrlPr>
                                        <a:rPr lang="en-US" altLang="zh-CN" sz="2200" i="1" kern="100">
                                          <a:solidFill>
                                            <a:srgbClr val="0070C0"/>
                                          </a:solidFill>
                                          <a:latin typeface="Cambria Math" panose="02040503050406030204" pitchFamily="18" charset="0"/>
                                        </a:rPr>
                                      </m:ctrlPr>
                                    </m:dPr>
                                    <m:e>
                                      <m:r>
                                        <a:rPr lang="en-US" altLang="zh-CN" sz="2200" i="1" kern="100">
                                          <a:solidFill>
                                            <a:srgbClr val="0070C0"/>
                                          </a:solidFill>
                                          <a:latin typeface="Cambria Math" panose="02040503050406030204" pitchFamily="18" charset="0"/>
                                        </a:rPr>
                                        <m:t>1</m:t>
                                      </m:r>
                                    </m:e>
                                  </m:d>
                                </m:sup>
                              </m:sSup>
                              <m:r>
                                <a:rPr lang="en-US" altLang="zh-CN" sz="2200" i="1" kern="100">
                                  <a:solidFill>
                                    <a:srgbClr val="0070C0"/>
                                  </a:solidFill>
                                  <a:latin typeface="Cambria Math" panose="02040503050406030204" pitchFamily="18" charset="0"/>
                                </a:rPr>
                                <m:t>+</m:t>
                              </m:r>
                              <m:sSup>
                                <m:sSupPr>
                                  <m:ctrlPr>
                                    <a:rPr lang="zh-CN" altLang="zh-CN" sz="2200" i="1" kern="100">
                                      <a:solidFill>
                                        <a:srgbClr val="0070C0"/>
                                      </a:solidFill>
                                      <a:latin typeface="Cambria Math" panose="02040503050406030204" pitchFamily="18" charset="0"/>
                                      <a:ea typeface="Cambria Math" panose="02040503050406030204" pitchFamily="18" charset="0"/>
                                    </a:rPr>
                                  </m:ctrlPr>
                                </m:sSupPr>
                                <m:e>
                                  <m:r>
                                    <a:rPr lang="en-US" altLang="zh-CN" sz="2200" i="1" kern="100">
                                      <a:solidFill>
                                        <a:srgbClr val="0070C0"/>
                                      </a:solidFill>
                                      <a:latin typeface="Cambria Math" panose="02040503050406030204" pitchFamily="18" charset="0"/>
                                    </a:rPr>
                                    <m:t>𝛼</m:t>
                                  </m:r>
                                </m:e>
                                <m:sup>
                                  <m:d>
                                    <m:dPr>
                                      <m:ctrlPr>
                                        <a:rPr lang="en-US" altLang="zh-CN" sz="2200" i="1" kern="100">
                                          <a:solidFill>
                                            <a:srgbClr val="0070C0"/>
                                          </a:solidFill>
                                          <a:latin typeface="Cambria Math" panose="02040503050406030204" pitchFamily="18" charset="0"/>
                                        </a:rPr>
                                      </m:ctrlPr>
                                    </m:dPr>
                                    <m:e>
                                      <m:r>
                                        <a:rPr lang="en-US" altLang="zh-CN" sz="2200" i="1" kern="100">
                                          <a:solidFill>
                                            <a:srgbClr val="0070C0"/>
                                          </a:solidFill>
                                          <a:latin typeface="Cambria Math" panose="02040503050406030204" pitchFamily="18" charset="0"/>
                                        </a:rPr>
                                        <m:t>1</m:t>
                                      </m:r>
                                    </m:e>
                                  </m:d>
                                </m:sup>
                              </m:sSup>
                              <m:sSup>
                                <m:sSupPr>
                                  <m:ctrlPr>
                                    <a:rPr lang="zh-CN" altLang="zh-CN" sz="2200" i="1" kern="100">
                                      <a:solidFill>
                                        <a:srgbClr val="0070C0"/>
                                      </a:solidFill>
                                      <a:latin typeface="Cambria Math" panose="02040503050406030204" pitchFamily="18" charset="0"/>
                                      <a:ea typeface="Cambria Math" panose="02040503050406030204" pitchFamily="18" charset="0"/>
                                    </a:rPr>
                                  </m:ctrlPr>
                                </m:sSupPr>
                                <m:e>
                                  <m:r>
                                    <a:rPr lang="en-US" altLang="zh-CN" sz="2200" i="1" kern="100">
                                      <a:solidFill>
                                        <a:srgbClr val="0070C0"/>
                                      </a:solidFill>
                                      <a:latin typeface="Cambria Math" panose="02040503050406030204" pitchFamily="18" charset="0"/>
                                    </a:rPr>
                                    <m:t>𝑑</m:t>
                                  </m:r>
                                </m:e>
                                <m:sup>
                                  <m:d>
                                    <m:dPr>
                                      <m:ctrlPr>
                                        <a:rPr lang="en-US" altLang="zh-CN" sz="2200" i="1" kern="100">
                                          <a:solidFill>
                                            <a:srgbClr val="0070C0"/>
                                          </a:solidFill>
                                          <a:latin typeface="Cambria Math" panose="02040503050406030204" pitchFamily="18" charset="0"/>
                                        </a:rPr>
                                      </m:ctrlPr>
                                    </m:dPr>
                                    <m:e>
                                      <m:r>
                                        <a:rPr lang="en-US" altLang="zh-CN" sz="2200" i="1" kern="100">
                                          <a:solidFill>
                                            <a:srgbClr val="0070C0"/>
                                          </a:solidFill>
                                          <a:latin typeface="Cambria Math" panose="02040503050406030204" pitchFamily="18" charset="0"/>
                                        </a:rPr>
                                        <m:t>1</m:t>
                                      </m:r>
                                    </m:e>
                                  </m:d>
                                </m:sup>
                              </m:sSup>
                            </m:e>
                          </m:d>
                          <m:r>
                            <a:rPr lang="en-US" altLang="zh-CN" sz="2200" b="0" i="1" kern="100" smtClean="0">
                              <a:solidFill>
                                <a:srgbClr val="0070C0"/>
                              </a:solidFill>
                              <a:latin typeface="Cambria Math" panose="02040503050406030204" pitchFamily="18" charset="0"/>
                            </a:rPr>
                            <m:t>+</m:t>
                          </m:r>
                          <m:r>
                            <a:rPr lang="en-US" altLang="zh-CN" sz="2200" b="0" i="1" kern="100" smtClean="0">
                              <a:solidFill>
                                <a:srgbClr val="0070C0"/>
                              </a:solidFill>
                              <a:latin typeface="Cambria Math" panose="02040503050406030204" pitchFamily="18" charset="0"/>
                            </a:rPr>
                            <m:t>𝑏</m:t>
                          </m:r>
                          <m:r>
                            <m:rPr>
                              <m:nor/>
                            </m:rPr>
                            <a:rPr lang="zh-CN" altLang="zh-CN" sz="2200" kern="100" dirty="0">
                              <a:solidFill>
                                <a:srgbClr val="0070C0"/>
                              </a:solidFill>
                              <a:latin typeface="Times New Roman" panose="02020603050405020304" pitchFamily="18" charset="0"/>
                            </a:rPr>
                            <m:t> </m:t>
                          </m:r>
                          <m:r>
                            <a:rPr lang="en-US" altLang="zh-CN" sz="2200" b="0" i="1" kern="100" dirty="0" smtClean="0">
                              <a:solidFill>
                                <a:srgbClr val="0070C0"/>
                              </a:solidFill>
                              <a:latin typeface="Cambria Math" panose="02040503050406030204" pitchFamily="18" charset="0"/>
                            </a:rPr>
                            <m:t>,</m:t>
                          </m:r>
                          <m:sSup>
                            <m:sSupPr>
                              <m:ctrlPr>
                                <a:rPr lang="zh-CN" altLang="zh-CN" sz="2200" i="1" kern="100">
                                  <a:solidFill>
                                    <a:srgbClr val="0070C0"/>
                                  </a:solidFill>
                                  <a:latin typeface="Cambria Math" panose="02040503050406030204" pitchFamily="18" charset="0"/>
                                  <a:ea typeface="Cambria Math" panose="02040503050406030204" pitchFamily="18" charset="0"/>
                                </a:rPr>
                              </m:ctrlPr>
                            </m:sSupPr>
                            <m:e>
                              <m:r>
                                <a:rPr lang="en-US" altLang="zh-CN" sz="2200" i="1" kern="100">
                                  <a:solidFill>
                                    <a:srgbClr val="0070C0"/>
                                  </a:solidFill>
                                  <a:latin typeface="Cambria Math" panose="02040503050406030204" pitchFamily="18" charset="0"/>
                                </a:rPr>
                                <m:t>𝑑</m:t>
                              </m:r>
                            </m:e>
                            <m:sup>
                              <m:d>
                                <m:dPr>
                                  <m:ctrlPr>
                                    <a:rPr lang="en-US" altLang="zh-CN" sz="2200" i="1" kern="100">
                                      <a:solidFill>
                                        <a:srgbClr val="0070C0"/>
                                      </a:solidFill>
                                      <a:latin typeface="Cambria Math" panose="02040503050406030204" pitchFamily="18" charset="0"/>
                                    </a:rPr>
                                  </m:ctrlPr>
                                </m:dPr>
                                <m:e>
                                  <m:r>
                                    <a:rPr lang="en-US" altLang="zh-CN" sz="2200" i="1" kern="100">
                                      <a:solidFill>
                                        <a:srgbClr val="0070C0"/>
                                      </a:solidFill>
                                      <a:latin typeface="Cambria Math" panose="02040503050406030204" pitchFamily="18" charset="0"/>
                                    </a:rPr>
                                    <m:t>1</m:t>
                                  </m:r>
                                </m:e>
                              </m:d>
                            </m:sup>
                          </m:sSup>
                        </m:e>
                      </m:d>
                      <m:r>
                        <a:rPr lang="en-US" altLang="zh-CN" sz="2200" b="0" i="1" kern="100" smtClean="0">
                          <a:solidFill>
                            <a:srgbClr val="0070C0"/>
                          </a:solidFill>
                          <a:latin typeface="Cambria Math" panose="02040503050406030204" pitchFamily="18" charset="0"/>
                          <a:ea typeface="Cambria Math" panose="02040503050406030204" pitchFamily="18" charset="0"/>
                        </a:rPr>
                        <m:t>=0</m:t>
                      </m:r>
                    </m:oMath>
                  </m:oMathPara>
                </a14:m>
                <a:endParaRPr lang="en-US" altLang="zh-CN" sz="2200" kern="100" dirty="0">
                  <a:solidFill>
                    <a:srgbClr val="0070C0"/>
                  </a:solidFill>
                  <a:latin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d>
                        <m:dPr>
                          <m:begChr m:val="⟨"/>
                          <m:endChr m:val="⟩"/>
                          <m:ctrlPr>
                            <a:rPr lang="en-US" altLang="zh-CN" sz="2200" i="1" kern="100" smtClean="0">
                              <a:solidFill>
                                <a:srgbClr val="0070C0"/>
                              </a:solidFill>
                              <a:latin typeface="Cambria Math" panose="02040503050406030204" pitchFamily="18" charset="0"/>
                              <a:ea typeface="Cambria Math" panose="02040503050406030204" pitchFamily="18" charset="0"/>
                            </a:rPr>
                          </m:ctrlPr>
                        </m:dPr>
                        <m:e>
                          <m:r>
                            <a:rPr lang="en-US" altLang="zh-CN" sz="2200" b="0" i="1" kern="100" smtClean="0">
                              <a:solidFill>
                                <a:srgbClr val="0070C0"/>
                              </a:solidFill>
                              <a:latin typeface="Cambria Math" panose="02040503050406030204" pitchFamily="18" charset="0"/>
                              <a:ea typeface="Cambria Math" panose="02040503050406030204" pitchFamily="18" charset="0"/>
                            </a:rPr>
                            <m:t>𝐴</m:t>
                          </m:r>
                          <m:sSup>
                            <m:sSupPr>
                              <m:ctrlPr>
                                <a:rPr lang="zh-CN" altLang="zh-CN" sz="2200" i="1" kern="100">
                                  <a:solidFill>
                                    <a:srgbClr val="0070C0"/>
                                  </a:solidFill>
                                  <a:latin typeface="Cambria Math" panose="02040503050406030204" pitchFamily="18" charset="0"/>
                                  <a:ea typeface="Cambria Math" panose="02040503050406030204" pitchFamily="18" charset="0"/>
                                </a:rPr>
                              </m:ctrlPr>
                            </m:sSupPr>
                            <m:e>
                              <m:r>
                                <a:rPr lang="en-US" altLang="zh-CN" sz="2200" i="1" kern="100">
                                  <a:solidFill>
                                    <a:srgbClr val="0070C0"/>
                                  </a:solidFill>
                                  <a:latin typeface="Cambria Math" panose="02040503050406030204" pitchFamily="18" charset="0"/>
                                </a:rPr>
                                <m:t>𝑥</m:t>
                              </m:r>
                            </m:e>
                            <m:sup>
                              <m:d>
                                <m:dPr>
                                  <m:ctrlPr>
                                    <a:rPr lang="en-US" altLang="zh-CN" sz="2200" i="1" kern="100">
                                      <a:solidFill>
                                        <a:srgbClr val="0070C0"/>
                                      </a:solidFill>
                                      <a:latin typeface="Cambria Math" panose="02040503050406030204" pitchFamily="18" charset="0"/>
                                    </a:rPr>
                                  </m:ctrlPr>
                                </m:dPr>
                                <m:e>
                                  <m:r>
                                    <a:rPr lang="en-US" altLang="zh-CN" sz="2200" i="1" kern="100">
                                      <a:solidFill>
                                        <a:srgbClr val="0070C0"/>
                                      </a:solidFill>
                                      <a:latin typeface="Cambria Math" panose="02040503050406030204" pitchFamily="18" charset="0"/>
                                    </a:rPr>
                                    <m:t>1</m:t>
                                  </m:r>
                                </m:e>
                              </m:d>
                            </m:sup>
                          </m:sSup>
                          <m:r>
                            <a:rPr lang="en-US" altLang="zh-CN" sz="2200" i="1" kern="100">
                              <a:solidFill>
                                <a:srgbClr val="0070C0"/>
                              </a:solidFill>
                              <a:latin typeface="Cambria Math" panose="02040503050406030204" pitchFamily="18" charset="0"/>
                            </a:rPr>
                            <m:t>+</m:t>
                          </m:r>
                          <m:r>
                            <a:rPr lang="en-US" altLang="zh-CN" sz="2200" b="0" i="1" kern="100" smtClean="0">
                              <a:solidFill>
                                <a:srgbClr val="0070C0"/>
                              </a:solidFill>
                              <a:latin typeface="Cambria Math" panose="02040503050406030204" pitchFamily="18" charset="0"/>
                            </a:rPr>
                            <m:t>𝑏</m:t>
                          </m:r>
                          <m:r>
                            <m:rPr>
                              <m:nor/>
                            </m:rPr>
                            <a:rPr lang="zh-CN" altLang="zh-CN" sz="2200" kern="100" dirty="0">
                              <a:solidFill>
                                <a:srgbClr val="0070C0"/>
                              </a:solidFill>
                              <a:latin typeface="Times New Roman" panose="02020603050405020304" pitchFamily="18" charset="0"/>
                            </a:rPr>
                            <m:t> </m:t>
                          </m:r>
                          <m:r>
                            <a:rPr lang="en-US" altLang="zh-CN" sz="2200" b="0" i="1" kern="100" dirty="0" smtClean="0">
                              <a:solidFill>
                                <a:srgbClr val="0070C0"/>
                              </a:solidFill>
                              <a:latin typeface="Cambria Math" panose="02040503050406030204" pitchFamily="18" charset="0"/>
                            </a:rPr>
                            <m:t>,</m:t>
                          </m:r>
                          <m:sSup>
                            <m:sSupPr>
                              <m:ctrlPr>
                                <a:rPr lang="zh-CN" altLang="zh-CN" sz="2200" i="1" kern="100">
                                  <a:solidFill>
                                    <a:srgbClr val="0070C0"/>
                                  </a:solidFill>
                                  <a:latin typeface="Cambria Math" panose="02040503050406030204" pitchFamily="18" charset="0"/>
                                  <a:ea typeface="Cambria Math" panose="02040503050406030204" pitchFamily="18" charset="0"/>
                                </a:rPr>
                              </m:ctrlPr>
                            </m:sSupPr>
                            <m:e>
                              <m:r>
                                <a:rPr lang="en-US" altLang="zh-CN" sz="2200" i="1" kern="100">
                                  <a:solidFill>
                                    <a:srgbClr val="0070C0"/>
                                  </a:solidFill>
                                  <a:latin typeface="Cambria Math" panose="02040503050406030204" pitchFamily="18" charset="0"/>
                                </a:rPr>
                                <m:t>𝑑</m:t>
                              </m:r>
                            </m:e>
                            <m:sup>
                              <m:d>
                                <m:dPr>
                                  <m:ctrlPr>
                                    <a:rPr lang="en-US" altLang="zh-CN" sz="2200" i="1" kern="100">
                                      <a:solidFill>
                                        <a:srgbClr val="0070C0"/>
                                      </a:solidFill>
                                      <a:latin typeface="Cambria Math" panose="02040503050406030204" pitchFamily="18" charset="0"/>
                                    </a:rPr>
                                  </m:ctrlPr>
                                </m:dPr>
                                <m:e>
                                  <m:r>
                                    <a:rPr lang="en-US" altLang="zh-CN" sz="2200" i="1" kern="100">
                                      <a:solidFill>
                                        <a:srgbClr val="0070C0"/>
                                      </a:solidFill>
                                      <a:latin typeface="Cambria Math" panose="02040503050406030204" pitchFamily="18" charset="0"/>
                                    </a:rPr>
                                    <m:t>1</m:t>
                                  </m:r>
                                </m:e>
                              </m:d>
                            </m:sup>
                          </m:sSup>
                        </m:e>
                      </m:d>
                      <m:r>
                        <a:rPr lang="en-US" altLang="zh-CN" sz="2200" b="0" i="1" kern="100" smtClean="0">
                          <a:solidFill>
                            <a:srgbClr val="0070C0"/>
                          </a:solidFill>
                          <a:latin typeface="Cambria Math" panose="02040503050406030204" pitchFamily="18" charset="0"/>
                        </a:rPr>
                        <m:t>+</m:t>
                      </m:r>
                      <m:sSup>
                        <m:sSupPr>
                          <m:ctrlPr>
                            <a:rPr lang="zh-CN" altLang="zh-CN" sz="2200" i="1" kern="100">
                              <a:solidFill>
                                <a:srgbClr val="0070C0"/>
                              </a:solidFill>
                              <a:latin typeface="Cambria Math" panose="02040503050406030204" pitchFamily="18" charset="0"/>
                              <a:ea typeface="Cambria Math" panose="02040503050406030204" pitchFamily="18" charset="0"/>
                            </a:rPr>
                          </m:ctrlPr>
                        </m:sSupPr>
                        <m:e>
                          <m:r>
                            <a:rPr lang="en-US" altLang="zh-CN" sz="2200" i="1" kern="100">
                              <a:solidFill>
                                <a:srgbClr val="0070C0"/>
                              </a:solidFill>
                              <a:latin typeface="Cambria Math" panose="02040503050406030204" pitchFamily="18" charset="0"/>
                            </a:rPr>
                            <m:t>𝛼</m:t>
                          </m:r>
                        </m:e>
                        <m:sup>
                          <m:d>
                            <m:dPr>
                              <m:ctrlPr>
                                <a:rPr lang="en-US" altLang="zh-CN" sz="2200" i="1" kern="100">
                                  <a:solidFill>
                                    <a:srgbClr val="0070C0"/>
                                  </a:solidFill>
                                  <a:latin typeface="Cambria Math" panose="02040503050406030204" pitchFamily="18" charset="0"/>
                                </a:rPr>
                              </m:ctrlPr>
                            </m:dPr>
                            <m:e>
                              <m:r>
                                <a:rPr lang="en-US" altLang="zh-CN" sz="2200" i="1" kern="100">
                                  <a:solidFill>
                                    <a:srgbClr val="0070C0"/>
                                  </a:solidFill>
                                  <a:latin typeface="Cambria Math" panose="02040503050406030204" pitchFamily="18" charset="0"/>
                                </a:rPr>
                                <m:t>1</m:t>
                              </m:r>
                            </m:e>
                          </m:d>
                        </m:sup>
                      </m:sSup>
                      <m:d>
                        <m:dPr>
                          <m:begChr m:val="⟨"/>
                          <m:endChr m:val="⟩"/>
                          <m:ctrlPr>
                            <a:rPr lang="en-US" altLang="zh-CN" sz="2200" i="1" kern="100">
                              <a:solidFill>
                                <a:srgbClr val="0070C0"/>
                              </a:solidFill>
                              <a:latin typeface="Cambria Math" panose="02040503050406030204" pitchFamily="18" charset="0"/>
                              <a:ea typeface="Cambria Math" panose="02040503050406030204" pitchFamily="18" charset="0"/>
                            </a:rPr>
                          </m:ctrlPr>
                        </m:dPr>
                        <m:e>
                          <m:r>
                            <a:rPr lang="en-US" altLang="zh-CN" sz="2200" i="1" kern="100">
                              <a:solidFill>
                                <a:srgbClr val="0070C0"/>
                              </a:solidFill>
                              <a:latin typeface="Cambria Math" panose="02040503050406030204" pitchFamily="18" charset="0"/>
                              <a:ea typeface="Cambria Math" panose="02040503050406030204" pitchFamily="18" charset="0"/>
                            </a:rPr>
                            <m:t>𝐴</m:t>
                          </m:r>
                          <m:sSup>
                            <m:sSupPr>
                              <m:ctrlPr>
                                <a:rPr lang="zh-CN" altLang="zh-CN" sz="2200" i="1" kern="100">
                                  <a:solidFill>
                                    <a:srgbClr val="0070C0"/>
                                  </a:solidFill>
                                  <a:latin typeface="Cambria Math" panose="02040503050406030204" pitchFamily="18" charset="0"/>
                                  <a:ea typeface="Cambria Math" panose="02040503050406030204" pitchFamily="18" charset="0"/>
                                </a:rPr>
                              </m:ctrlPr>
                            </m:sSupPr>
                            <m:e>
                              <m:r>
                                <a:rPr lang="en-US" altLang="zh-CN" sz="2200" b="0" i="1" kern="100" smtClean="0">
                                  <a:solidFill>
                                    <a:srgbClr val="0070C0"/>
                                  </a:solidFill>
                                  <a:latin typeface="Cambria Math" panose="02040503050406030204" pitchFamily="18" charset="0"/>
                                  <a:ea typeface="Cambria Math" panose="02040503050406030204" pitchFamily="18" charset="0"/>
                                </a:rPr>
                                <m:t>𝑑</m:t>
                              </m:r>
                            </m:e>
                            <m:sup>
                              <m:d>
                                <m:dPr>
                                  <m:ctrlPr>
                                    <a:rPr lang="en-US" altLang="zh-CN" sz="2200" i="1" kern="100">
                                      <a:solidFill>
                                        <a:srgbClr val="0070C0"/>
                                      </a:solidFill>
                                      <a:latin typeface="Cambria Math" panose="02040503050406030204" pitchFamily="18" charset="0"/>
                                    </a:rPr>
                                  </m:ctrlPr>
                                </m:dPr>
                                <m:e>
                                  <m:r>
                                    <a:rPr lang="en-US" altLang="zh-CN" sz="2200" i="1" kern="100">
                                      <a:solidFill>
                                        <a:srgbClr val="0070C0"/>
                                      </a:solidFill>
                                      <a:latin typeface="Cambria Math" panose="02040503050406030204" pitchFamily="18" charset="0"/>
                                    </a:rPr>
                                    <m:t>1</m:t>
                                  </m:r>
                                </m:e>
                              </m:d>
                            </m:sup>
                          </m:sSup>
                          <m:r>
                            <m:rPr>
                              <m:nor/>
                            </m:rPr>
                            <a:rPr lang="zh-CN" altLang="zh-CN" sz="2200" kern="100" dirty="0">
                              <a:solidFill>
                                <a:srgbClr val="0070C0"/>
                              </a:solidFill>
                              <a:latin typeface="Times New Roman" panose="02020603050405020304" pitchFamily="18" charset="0"/>
                            </a:rPr>
                            <m:t> </m:t>
                          </m:r>
                          <m:r>
                            <a:rPr lang="en-US" altLang="zh-CN" sz="2200" i="1" kern="100" dirty="0">
                              <a:solidFill>
                                <a:srgbClr val="0070C0"/>
                              </a:solidFill>
                              <a:latin typeface="Cambria Math" panose="02040503050406030204" pitchFamily="18" charset="0"/>
                            </a:rPr>
                            <m:t>,</m:t>
                          </m:r>
                          <m:sSup>
                            <m:sSupPr>
                              <m:ctrlPr>
                                <a:rPr lang="zh-CN" altLang="zh-CN" sz="2200" i="1" kern="100">
                                  <a:solidFill>
                                    <a:srgbClr val="0070C0"/>
                                  </a:solidFill>
                                  <a:latin typeface="Cambria Math" panose="02040503050406030204" pitchFamily="18" charset="0"/>
                                  <a:ea typeface="Cambria Math" panose="02040503050406030204" pitchFamily="18" charset="0"/>
                                </a:rPr>
                              </m:ctrlPr>
                            </m:sSupPr>
                            <m:e>
                              <m:r>
                                <a:rPr lang="en-US" altLang="zh-CN" sz="2200" i="1" kern="100">
                                  <a:solidFill>
                                    <a:srgbClr val="0070C0"/>
                                  </a:solidFill>
                                  <a:latin typeface="Cambria Math" panose="02040503050406030204" pitchFamily="18" charset="0"/>
                                </a:rPr>
                                <m:t>𝑑</m:t>
                              </m:r>
                            </m:e>
                            <m:sup>
                              <m:d>
                                <m:dPr>
                                  <m:ctrlPr>
                                    <a:rPr lang="en-US" altLang="zh-CN" sz="2200" i="1" kern="100">
                                      <a:solidFill>
                                        <a:srgbClr val="0070C0"/>
                                      </a:solidFill>
                                      <a:latin typeface="Cambria Math" panose="02040503050406030204" pitchFamily="18" charset="0"/>
                                    </a:rPr>
                                  </m:ctrlPr>
                                </m:dPr>
                                <m:e>
                                  <m:r>
                                    <a:rPr lang="en-US" altLang="zh-CN" sz="2200" i="1" kern="100">
                                      <a:solidFill>
                                        <a:srgbClr val="0070C0"/>
                                      </a:solidFill>
                                      <a:latin typeface="Cambria Math" panose="02040503050406030204" pitchFamily="18" charset="0"/>
                                    </a:rPr>
                                    <m:t>1</m:t>
                                  </m:r>
                                </m:e>
                              </m:d>
                            </m:sup>
                          </m:sSup>
                        </m:e>
                      </m:d>
                      <m:r>
                        <a:rPr lang="en-US" altLang="zh-CN" sz="2200" b="0" i="1" kern="100" smtClean="0">
                          <a:solidFill>
                            <a:srgbClr val="0070C0"/>
                          </a:solidFill>
                          <a:latin typeface="Cambria Math" panose="02040503050406030204" pitchFamily="18" charset="0"/>
                          <a:ea typeface="Cambria Math" panose="02040503050406030204" pitchFamily="18" charset="0"/>
                        </a:rPr>
                        <m:t>=0</m:t>
                      </m:r>
                    </m:oMath>
                  </m:oMathPara>
                </a14:m>
                <a:endParaRPr lang="en-US" altLang="zh-CN" sz="2200" kern="100" dirty="0">
                  <a:solidFill>
                    <a:srgbClr val="0070C0"/>
                  </a:solidFill>
                  <a:latin typeface="Times New Roman" panose="02020603050405020304" pitchFamily="18" charset="0"/>
                </a:endParaRPr>
              </a:p>
              <a:p>
                <a:pPr algn="ctr">
                  <a:lnSpc>
                    <a:spcPct val="150000"/>
                  </a:lnSpc>
                </a:pPr>
                <a14:m>
                  <m:oMath xmlns:m="http://schemas.openxmlformats.org/officeDocument/2006/math">
                    <m:sSup>
                      <m:sSupPr>
                        <m:ctrlPr>
                          <a:rPr lang="zh-CN" altLang="zh-CN" sz="2200" i="1" kern="100" smtClean="0">
                            <a:solidFill>
                              <a:srgbClr val="0070C0"/>
                            </a:solidFill>
                            <a:latin typeface="Cambria Math" panose="02040503050406030204" pitchFamily="18" charset="0"/>
                            <a:ea typeface="Cambria Math" panose="02040503050406030204" pitchFamily="18" charset="0"/>
                          </a:rPr>
                        </m:ctrlPr>
                      </m:sSupPr>
                      <m:e>
                        <m:r>
                          <a:rPr lang="en-US" altLang="zh-CN" sz="2200" i="1" kern="100">
                            <a:solidFill>
                              <a:srgbClr val="0070C0"/>
                            </a:solidFill>
                            <a:latin typeface="Cambria Math" panose="02040503050406030204" pitchFamily="18" charset="0"/>
                          </a:rPr>
                          <m:t>𝛼</m:t>
                        </m:r>
                      </m:e>
                      <m:sup>
                        <m:d>
                          <m:dPr>
                            <m:ctrlPr>
                              <a:rPr lang="en-US" altLang="zh-CN" sz="2200" i="1" kern="100">
                                <a:solidFill>
                                  <a:srgbClr val="0070C0"/>
                                </a:solidFill>
                                <a:latin typeface="Cambria Math" panose="02040503050406030204" pitchFamily="18" charset="0"/>
                              </a:rPr>
                            </m:ctrlPr>
                          </m:dPr>
                          <m:e>
                            <m:r>
                              <a:rPr lang="en-US" altLang="zh-CN" sz="2200" i="1" kern="100">
                                <a:solidFill>
                                  <a:srgbClr val="0070C0"/>
                                </a:solidFill>
                                <a:latin typeface="Cambria Math" panose="02040503050406030204" pitchFamily="18" charset="0"/>
                              </a:rPr>
                              <m:t>1</m:t>
                            </m:r>
                          </m:e>
                        </m:d>
                      </m:sup>
                    </m:sSup>
                  </m:oMath>
                </a14:m>
                <a:r>
                  <a:rPr lang="en-US" altLang="zh-CN" sz="2200" kern="100" dirty="0">
                    <a:solidFill>
                      <a:srgbClr val="0070C0"/>
                    </a:solidFill>
                    <a:latin typeface="Times New Roman" panose="02020603050405020304" pitchFamily="18" charset="0"/>
                  </a:rPr>
                  <a:t>=1</a:t>
                </a:r>
              </a:p>
              <a:p>
                <a:pPr algn="just">
                  <a:lnSpc>
                    <a:spcPct val="150000"/>
                  </a:lnSpc>
                </a:pPr>
                <a14:m>
                  <m:oMathPara xmlns:m="http://schemas.openxmlformats.org/officeDocument/2006/math">
                    <m:oMathParaPr>
                      <m:jc m:val="left"/>
                    </m:oMathParaPr>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b="0" i="1" kern="100" smtClean="0">
                              <a:latin typeface="Cambria Math" panose="02040503050406030204" pitchFamily="18" charset="0"/>
                            </a:rPr>
                            <m:t>2</m:t>
                          </m:r>
                          <m:r>
                            <a:rPr lang="en-US" altLang="zh-CN" sz="2200" i="1" kern="100">
                              <a:latin typeface="Cambria Math" panose="02040503050406030204" pitchFamily="18" charset="0"/>
                            </a:rPr>
                            <m:t>)</m:t>
                          </m:r>
                        </m:sup>
                      </m:sSup>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𝑥</m:t>
                          </m:r>
                        </m:e>
                        <m:sup>
                          <m:r>
                            <a:rPr lang="en-US" altLang="zh-CN" sz="2200" i="1" kern="100">
                              <a:latin typeface="Cambria Math" panose="02040503050406030204" pitchFamily="18" charset="0"/>
                            </a:rPr>
                            <m:t>(</m:t>
                          </m:r>
                          <m:r>
                            <a:rPr lang="en-US" altLang="zh-CN" sz="2200" b="0" i="1" kern="100" smtClean="0">
                              <a:latin typeface="Cambria Math" panose="02040503050406030204" pitchFamily="18" charset="0"/>
                            </a:rPr>
                            <m:t>1</m:t>
                          </m:r>
                          <m:r>
                            <a:rPr lang="en-US" altLang="zh-CN" sz="2200" i="1" kern="100">
                              <a:latin typeface="Cambria Math" panose="02040503050406030204" pitchFamily="18" charset="0"/>
                            </a:rPr>
                            <m:t>)</m:t>
                          </m:r>
                        </m:sup>
                      </m:sSup>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rPr>
                            <m:t>𝑑</m:t>
                          </m:r>
                        </m:e>
                        <m:sup>
                          <m:r>
                            <a:rPr lang="en-US" altLang="zh-CN" sz="2200" i="1" kern="100">
                              <a:latin typeface="Cambria Math" panose="02040503050406030204" pitchFamily="18" charset="0"/>
                            </a:rPr>
                            <m:t>(</m:t>
                          </m:r>
                          <m:r>
                            <a:rPr lang="en-US" altLang="zh-CN" sz="2200" b="0" i="1" kern="100" smtClean="0">
                              <a:latin typeface="Cambria Math" panose="02040503050406030204" pitchFamily="18" charset="0"/>
                            </a:rPr>
                            <m:t>1</m:t>
                          </m:r>
                          <m:r>
                            <a:rPr lang="en-US" altLang="zh-CN" sz="2200" i="1" kern="100">
                              <a:latin typeface="Cambria Math" panose="02040503050406030204" pitchFamily="18" charset="0"/>
                            </a:rPr>
                            <m:t>)</m:t>
                          </m:r>
                        </m:sup>
                      </m:sSup>
                      <m:r>
                        <a:rPr lang="en-US" altLang="zh-CN" sz="2200" i="1" kern="100">
                          <a:latin typeface="Cambria Math" panose="02040503050406030204" pitchFamily="18" charset="0"/>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Cambria Math" panose="02040503050406030204" pitchFamily="18" charset="0"/>
                            </a:rPr>
                            <m:t>𝐴</m:t>
                          </m:r>
                        </m:e>
                        <m:sup>
                          <m:r>
                            <a:rPr lang="en-US" altLang="zh-CN" sz="2200" i="1" kern="100">
                              <a:latin typeface="Cambria Math" panose="02040503050406030204" pitchFamily="18" charset="0"/>
                            </a:rPr>
                            <m:t>−1</m:t>
                          </m:r>
                        </m:sup>
                      </m:sSup>
                      <m:r>
                        <a:rPr lang="en-US" altLang="zh-CN" sz="2200" i="1" kern="100">
                          <a:latin typeface="Cambria Math" panose="02040503050406030204" pitchFamily="18" charset="0"/>
                        </a:rPr>
                        <m:t>𝑏</m:t>
                      </m:r>
                      <m:r>
                        <a:rPr lang="en-US" altLang="zh-CN" sz="2200" b="0" i="1" kern="100" smtClean="0">
                          <a:latin typeface="Cambria Math" panose="02040503050406030204" pitchFamily="18" charset="0"/>
                        </a:rPr>
                        <m:t>=</m:t>
                      </m:r>
                      <m:sSup>
                        <m:sSupPr>
                          <m:ctrlPr>
                            <a:rPr lang="en-US" altLang="zh-CN" sz="2200" b="0" i="1" kern="100" smtClean="0">
                              <a:latin typeface="Cambria Math" panose="02040503050406030204" pitchFamily="18" charset="0"/>
                            </a:rPr>
                          </m:ctrlPr>
                        </m:sSupPr>
                        <m:e>
                          <m:r>
                            <a:rPr lang="en-US" altLang="zh-CN" sz="2200" b="0" i="1" kern="100" smtClean="0">
                              <a:latin typeface="Cambria Math" panose="02040503050406030204" pitchFamily="18" charset="0"/>
                            </a:rPr>
                            <m:t>𝑥</m:t>
                          </m:r>
                        </m:e>
                        <m:sup>
                          <m:r>
                            <a:rPr lang="en-US" altLang="zh-CN" sz="2200" b="0" i="1" kern="100" smtClean="0">
                              <a:latin typeface="Cambria Math" panose="02040503050406030204" pitchFamily="18" charset="0"/>
                            </a:rPr>
                            <m:t>∗</m:t>
                          </m:r>
                        </m:sup>
                      </m:sSup>
                    </m:oMath>
                  </m:oMathPara>
                </a14:m>
                <a:endParaRPr lang="zh-CN" altLang="en-US" sz="2200" dirty="0"/>
              </a:p>
            </p:txBody>
          </p:sp>
        </mc:Choice>
        <mc:Fallback xmlns="">
          <p:sp>
            <p:nvSpPr>
              <p:cNvPr id="2" name="文本框 1">
                <a:extLst>
                  <a:ext uri="{FF2B5EF4-FFF2-40B4-BE49-F238E27FC236}">
                    <a16:creationId xmlns:a16="http://schemas.microsoft.com/office/drawing/2014/main" id="{C987CE45-1404-1CA2-61B0-A5891A54DA85}"/>
                  </a:ext>
                </a:extLst>
              </p:cNvPr>
              <p:cNvSpPr txBox="1">
                <a:spLocks noRot="1" noChangeAspect="1" noMove="1" noResize="1" noEditPoints="1" noAdjustHandles="1" noChangeArrowheads="1" noChangeShapeType="1" noTextEdit="1"/>
              </p:cNvSpPr>
              <p:nvPr/>
            </p:nvSpPr>
            <p:spPr>
              <a:xfrm>
                <a:off x="179512" y="191414"/>
                <a:ext cx="9217024" cy="6068841"/>
              </a:xfrm>
              <a:prstGeom prst="rect">
                <a:avLst/>
              </a:prstGeom>
              <a:blipFill>
                <a:blip r:embed="rId2"/>
                <a:stretch>
                  <a:fillRect l="-86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932694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06467D14-993F-F16B-39B2-10B7F20E588F}"/>
              </a:ext>
            </a:extLst>
          </p:cNvPr>
          <p:cNvSpPr txBox="1"/>
          <p:nvPr/>
        </p:nvSpPr>
        <p:spPr>
          <a:xfrm>
            <a:off x="197514" y="998730"/>
            <a:ext cx="5154105" cy="461665"/>
          </a:xfrm>
          <a:prstGeom prst="rect">
            <a:avLst/>
          </a:prstGeom>
          <a:noFill/>
        </p:spPr>
        <p:txBody>
          <a:bodyPr wrap="square">
            <a:spAutoFit/>
          </a:bodyPr>
          <a:lstStyle/>
          <a:p>
            <a:pPr algn="just">
              <a:spcBef>
                <a:spcPts val="450"/>
              </a:spcBef>
              <a:spcAft>
                <a:spcPts val="450"/>
              </a:spcAft>
            </a:pPr>
            <a:r>
              <a:rPr lang="zh-CN" altLang="en-US" sz="2400" kern="100" dirty="0">
                <a:latin typeface="Times New Roman" panose="02020603050405020304" pitchFamily="18" charset="0"/>
                <a:ea typeface="黑体" panose="02010609060101010101" pitchFamily="49" charset="-122"/>
              </a:rPr>
              <a:t>三、小结</a:t>
            </a:r>
            <a:endParaRPr lang="zh-CN" altLang="zh-CN" sz="2400" kern="100" dirty="0">
              <a:latin typeface="Times New Roman" panose="02020603050405020304" pitchFamily="18" charset="0"/>
            </a:endParaRPr>
          </a:p>
        </p:txBody>
      </p:sp>
      <p:sp>
        <p:nvSpPr>
          <p:cNvPr id="7" name="文本框 6">
            <a:extLst>
              <a:ext uri="{FF2B5EF4-FFF2-40B4-BE49-F238E27FC236}">
                <a16:creationId xmlns:a16="http://schemas.microsoft.com/office/drawing/2014/main" id="{20CB425A-484F-6D2D-7536-90EFA21D0548}"/>
              </a:ext>
            </a:extLst>
          </p:cNvPr>
          <p:cNvSpPr txBox="1"/>
          <p:nvPr/>
        </p:nvSpPr>
        <p:spPr>
          <a:xfrm>
            <a:off x="107504" y="1460805"/>
            <a:ext cx="9000999" cy="3883755"/>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zh-CN" altLang="zh-CN" sz="2400" kern="100" dirty="0">
                <a:latin typeface="+mn-ea"/>
                <a:ea typeface="+mn-ea"/>
              </a:rPr>
              <a:t>牛顿法的优点是在极小点附近收敛速度快，但是当维数较高时，计算海赛矩阵逆的工作量很大甚至不可能</a:t>
            </a:r>
            <a:r>
              <a:rPr lang="zh-CN" altLang="en-US" sz="2400" kern="100" dirty="0">
                <a:latin typeface="+mn-ea"/>
                <a:ea typeface="+mn-ea"/>
              </a:rPr>
              <a:t>。</a:t>
            </a:r>
            <a:endParaRPr lang="en-US" altLang="zh-CN" sz="2400" kern="100" dirty="0">
              <a:latin typeface="+mn-ea"/>
              <a:ea typeface="+mn-ea"/>
            </a:endParaRPr>
          </a:p>
          <a:p>
            <a:pPr marL="342900" indent="-342900" algn="just">
              <a:lnSpc>
                <a:spcPct val="150000"/>
              </a:lnSpc>
              <a:buFont typeface="Wingdings" panose="05000000000000000000" pitchFamily="2" charset="2"/>
              <a:buChar char="Ø"/>
            </a:pPr>
            <a:r>
              <a:rPr lang="zh-CN" altLang="zh-CN" sz="2400" kern="100" dirty="0">
                <a:latin typeface="+mn-ea"/>
                <a:ea typeface="+mn-ea"/>
              </a:rPr>
              <a:t>在假定目标函数二次可微的条件下，要保证牛顿法收敛，还必须满足目标函数海赛矩阵的逆矩阵正定</a:t>
            </a:r>
            <a:r>
              <a:rPr lang="zh-CN" altLang="en-US" sz="2400" kern="100" dirty="0">
                <a:latin typeface="+mn-ea"/>
                <a:ea typeface="+mn-ea"/>
              </a:rPr>
              <a:t>。</a:t>
            </a:r>
            <a:endParaRPr lang="zh-CN" altLang="zh-CN" sz="2400" kern="100" dirty="0">
              <a:latin typeface="+mn-ea"/>
              <a:ea typeface="+mn-ea"/>
            </a:endParaRPr>
          </a:p>
          <a:p>
            <a:pPr marL="342900" indent="-342900" algn="just">
              <a:lnSpc>
                <a:spcPct val="150000"/>
              </a:lnSpc>
              <a:buFont typeface="Wingdings" panose="05000000000000000000" pitchFamily="2" charset="2"/>
              <a:buChar char="Ø"/>
            </a:pPr>
            <a:r>
              <a:rPr lang="zh-CN" altLang="zh-CN" sz="2400" kern="100" dirty="0">
                <a:latin typeface="+mn-ea"/>
                <a:ea typeface="+mn-ea"/>
              </a:rPr>
              <a:t>在目标函数的极小点附近，牛顿法收敛很快，而在远离极小点时，最速下降法是优良的，因此，最速下降法与牛顿法的适当组合，会比两种方法单独使用都好</a:t>
            </a:r>
            <a:r>
              <a:rPr lang="zh-CN" altLang="en-US" sz="2400" kern="100" dirty="0">
                <a:latin typeface="+mn-ea"/>
                <a:ea typeface="+mn-ea"/>
              </a:rPr>
              <a:t>。</a:t>
            </a:r>
            <a:endParaRPr lang="zh-CN" altLang="zh-CN" sz="2400" dirty="0">
              <a:latin typeface="+mn-ea"/>
              <a:ea typeface="+mn-ea"/>
            </a:endParaRPr>
          </a:p>
        </p:txBody>
      </p:sp>
    </p:spTree>
    <p:extLst>
      <p:ext uri="{BB962C8B-B14F-4D97-AF65-F5344CB8AC3E}">
        <p14:creationId xmlns:p14="http://schemas.microsoft.com/office/powerpoint/2010/main" val="40563225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矩形 1"/>
          <p:cNvSpPr>
            <a:spLocks noChangeArrowheads="1"/>
          </p:cNvSpPr>
          <p:nvPr/>
        </p:nvSpPr>
        <p:spPr bwMode="auto">
          <a:xfrm>
            <a:off x="2933221" y="2943225"/>
            <a:ext cx="2709396"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a:r>
              <a:rPr lang="en-US" altLang="zh-CN" sz="3300" b="1" dirty="0"/>
              <a:t> 8.7  </a:t>
            </a:r>
            <a:r>
              <a:rPr lang="zh-CN" altLang="en-US" sz="3300" b="1" dirty="0"/>
              <a:t>拟牛顿法</a:t>
            </a: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idx="1"/>
          </p:nvPr>
        </p:nvSpPr>
        <p:spPr>
          <a:xfrm>
            <a:off x="683896" y="1754981"/>
            <a:ext cx="7378541" cy="2538413"/>
          </a:xfrm>
        </p:spPr>
        <p:txBody>
          <a:bodyPr>
            <a:noAutofit/>
          </a:bodyPr>
          <a:lstStyle/>
          <a:p>
            <a:pPr algn="just" eaLnBrk="1" latinLnBrk="0" hangingPunct="1">
              <a:lnSpc>
                <a:spcPct val="150000"/>
              </a:lnSpc>
              <a:buFont typeface="Wingdings" panose="05000000000000000000" pitchFamily="2" charset="2"/>
              <a:buNone/>
              <a:defRPr/>
            </a:pPr>
            <a:r>
              <a:rPr lang="zh-CN" altLang="en-US" sz="2400" dirty="0">
                <a:solidFill>
                  <a:schemeClr val="hlink"/>
                </a:solidFill>
                <a:latin typeface="宋体" panose="02010600030101010101" pitchFamily="2" charset="-122"/>
                <a:ea typeface="宋体" panose="02010600030101010101" pitchFamily="2" charset="-122"/>
              </a:rPr>
              <a:t>     拟牛顿法</a:t>
            </a:r>
            <a:r>
              <a:rPr lang="zh-CN" altLang="en-US" sz="2400" dirty="0">
                <a:latin typeface="宋体" panose="02010600030101010101" pitchFamily="2" charset="-122"/>
                <a:ea typeface="宋体" panose="02010600030101010101" pitchFamily="2" charset="-122"/>
              </a:rPr>
              <a:t>也称变尺度法，它是基于牛顿法的思想作了重大改进的一类方法。我们所介绍的变尺度法是由</a:t>
            </a:r>
            <a:r>
              <a:rPr lang="en-US" altLang="en-US" sz="2400" dirty="0" err="1">
                <a:latin typeface="宋体" panose="02010600030101010101" pitchFamily="2" charset="-122"/>
                <a:ea typeface="宋体" panose="02010600030101010101" pitchFamily="2" charset="-122"/>
              </a:rPr>
              <a:t>Davidon</a:t>
            </a:r>
            <a:r>
              <a:rPr lang="zh-CN" altLang="en-US" sz="2400" dirty="0">
                <a:latin typeface="宋体" panose="02010600030101010101" pitchFamily="2" charset="-122"/>
                <a:ea typeface="宋体" panose="02010600030101010101" pitchFamily="2" charset="-122"/>
              </a:rPr>
              <a:t>于</a:t>
            </a:r>
            <a:r>
              <a:rPr lang="en-US" altLang="zh-CN" sz="2400" dirty="0">
                <a:latin typeface="宋体" panose="02010600030101010101" pitchFamily="2" charset="-122"/>
                <a:ea typeface="宋体" panose="02010600030101010101" pitchFamily="2" charset="-122"/>
              </a:rPr>
              <a:t>1959</a:t>
            </a:r>
            <a:r>
              <a:rPr lang="zh-CN" altLang="en-US" sz="2400" dirty="0">
                <a:latin typeface="宋体" panose="02010600030101010101" pitchFamily="2" charset="-122"/>
                <a:ea typeface="宋体" panose="02010600030101010101" pitchFamily="2" charset="-122"/>
              </a:rPr>
              <a:t>年提出又经</a:t>
            </a:r>
            <a:r>
              <a:rPr lang="en-US" altLang="en-US" sz="2400" dirty="0">
                <a:latin typeface="宋体" panose="02010600030101010101" pitchFamily="2" charset="-122"/>
                <a:ea typeface="宋体" panose="02010600030101010101" pitchFamily="2" charset="-122"/>
              </a:rPr>
              <a:t>Fletcher</a:t>
            </a:r>
            <a:r>
              <a:rPr lang="zh-CN" altLang="en-US" sz="2400" dirty="0">
                <a:latin typeface="宋体" panose="02010600030101010101" pitchFamily="2" charset="-122"/>
                <a:ea typeface="宋体" panose="02010600030101010101" pitchFamily="2" charset="-122"/>
              </a:rPr>
              <a:t>和</a:t>
            </a:r>
            <a:r>
              <a:rPr lang="en-US" altLang="en-US" sz="2400" dirty="0">
                <a:latin typeface="宋体" panose="02010600030101010101" pitchFamily="2" charset="-122"/>
                <a:ea typeface="宋体" panose="02010600030101010101" pitchFamily="2" charset="-122"/>
              </a:rPr>
              <a:t>Powell</a:t>
            </a:r>
            <a:r>
              <a:rPr lang="zh-CN" altLang="en-US" sz="2400" dirty="0">
                <a:latin typeface="宋体" panose="02010600030101010101" pitchFamily="2" charset="-122"/>
                <a:ea typeface="宋体" panose="02010600030101010101" pitchFamily="2" charset="-122"/>
              </a:rPr>
              <a:t>加以发展和完善的一种变尺度法，故称为</a:t>
            </a:r>
            <a:r>
              <a:rPr lang="en-US" altLang="en-US" sz="2400" dirty="0">
                <a:latin typeface="宋体" panose="02010600030101010101" pitchFamily="2" charset="-122"/>
                <a:ea typeface="宋体" panose="02010600030101010101" pitchFamily="2" charset="-122"/>
              </a:rPr>
              <a:t>DFP</a:t>
            </a:r>
            <a:r>
              <a:rPr lang="zh-CN" altLang="en-US" sz="2400" dirty="0">
                <a:latin typeface="宋体" panose="02010600030101010101" pitchFamily="2" charset="-122"/>
                <a:ea typeface="宋体" panose="02010600030101010101" pitchFamily="2" charset="-122"/>
              </a:rPr>
              <a:t>变尺度法。</a:t>
            </a:r>
          </a:p>
          <a:p>
            <a:pPr algn="just" eaLnBrk="1" hangingPunct="1">
              <a:lnSpc>
                <a:spcPct val="125000"/>
              </a:lnSpc>
              <a:buFont typeface="Wingdings" panose="05000000000000000000" pitchFamily="2" charset="2"/>
              <a:buNone/>
              <a:defRPr/>
            </a:pPr>
            <a:endParaRPr lang="en-US" altLang="zh-CN" sz="2400" dirty="0">
              <a:latin typeface="宋体" panose="02010600030101010101" pitchFamily="2" charset="-122"/>
              <a:ea typeface="宋体" panose="02010600030101010101" pitchFamily="2" charset="-122"/>
            </a:endParaRPr>
          </a:p>
        </p:txBody>
      </p:sp>
    </p:spTree>
  </p:cSld>
  <p:clrMapOvr>
    <a:masterClrMapping/>
  </p:clrMapOvr>
  <p:transition>
    <p:split orient="vert" dir="in"/>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6675" name="Rectangle 3"/>
              <p:cNvSpPr>
                <a:spLocks noGrp="1" noChangeArrowheads="1"/>
              </p:cNvSpPr>
              <p:nvPr>
                <p:ph idx="1"/>
              </p:nvPr>
            </p:nvSpPr>
            <p:spPr>
              <a:xfrm>
                <a:off x="463364" y="453265"/>
                <a:ext cx="8481060" cy="3010376"/>
              </a:xfrm>
            </p:spPr>
            <p:txBody>
              <a:bodyPr>
                <a:noAutofit/>
              </a:bodyPr>
              <a:lstStyle/>
              <a:p>
                <a:pPr algn="just" eaLnBrk="1" hangingPunct="1">
                  <a:lnSpc>
                    <a:spcPct val="120000"/>
                  </a:lnSpc>
                  <a:buFont typeface="Wingdings" panose="05000000000000000000" pitchFamily="2" charset="2"/>
                  <a:buNone/>
                  <a:defRPr/>
                </a:pPr>
                <a:r>
                  <a:rPr lang="zh-CN" altLang="en-US" sz="2400" dirty="0">
                    <a:latin typeface="宋体" panose="02010600030101010101" pitchFamily="2" charset="-122"/>
                    <a:ea typeface="宋体" panose="02010600030101010101" pitchFamily="2" charset="-122"/>
                  </a:rPr>
                  <a:t>     拟牛顿法的基本思想与牛顿法和梯度法有密切联系。观察梯度法和牛顿法的迭代公式</a:t>
                </a:r>
                <a:endParaRPr lang="en-US" altLang="zh-CN" sz="2400" dirty="0">
                  <a:latin typeface="宋体" panose="02010600030101010101" pitchFamily="2" charset="-122"/>
                  <a:ea typeface="宋体" panose="02010600030101010101" pitchFamily="2" charset="-122"/>
                </a:endParaRPr>
              </a:p>
              <a:p>
                <a:pPr algn="just" eaLnBrk="1" hangingPunct="1">
                  <a:lnSpc>
                    <a:spcPct val="120000"/>
                  </a:lnSpc>
                  <a:buFont typeface="Wingdings" panose="05000000000000000000" pitchFamily="2" charset="2"/>
                  <a:buNone/>
                  <a:defRPr/>
                </a:pPr>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𝑘</m:t>
                                  </m:r>
                                  <m:r>
                                    <a:rPr lang="en-US" altLang="zh-CN" sz="2400" i="1">
                                      <a:latin typeface="Cambria Math" panose="02040503050406030204" pitchFamily="18" charset="0"/>
                                    </a:rPr>
                                    <m:t>+1</m:t>
                                  </m:r>
                                </m:e>
                              </m:d>
                            </m:sup>
                          </m:sSup>
                          <m:r>
                            <a:rPr lang="en-US" altLang="zh-CN" sz="2400" i="1">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𝑘</m:t>
                                  </m:r>
                                </m:e>
                              </m:d>
                            </m:sup>
                          </m:sSup>
                          <m:r>
                            <a:rPr lang="en-US" altLang="zh-CN" sz="2400" i="1">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𝛼</m:t>
                              </m:r>
                            </m:e>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𝑘</m:t>
                                  </m:r>
                                </m:e>
                              </m:d>
                            </m:sup>
                          </m:sSup>
                          <m:r>
                            <a:rPr lang="zh-CN" altLang="en-US" sz="2400" i="1">
                              <a:latin typeface="Cambria Math" panose="02040503050406030204" pitchFamily="18" charset="0"/>
                            </a:rPr>
                            <m:t>𝑔</m:t>
                          </m:r>
                        </m:e>
                        <m:sub>
                          <m:r>
                            <a:rPr lang="zh-CN" altLang="en-US" sz="2400" i="1">
                              <a:latin typeface="Cambria Math" panose="02040503050406030204" pitchFamily="18" charset="0"/>
                            </a:rPr>
                            <m:t>𝑘</m:t>
                          </m:r>
                        </m:sub>
                      </m:sSub>
                    </m:oMath>
                  </m:oMathPara>
                </a14:m>
                <a:endParaRPr lang="en-US" altLang="zh-CN" sz="2400" dirty="0"/>
              </a:p>
              <a:p>
                <a:pPr algn="just">
                  <a:lnSpc>
                    <a:spcPct val="120000"/>
                  </a:lnSpc>
                  <a:buNone/>
                  <a:defRPr/>
                </a:pPr>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𝑘</m:t>
                                  </m:r>
                                  <m:r>
                                    <a:rPr lang="en-US" altLang="zh-CN" sz="2400" i="1">
                                      <a:latin typeface="Cambria Math" panose="02040503050406030204" pitchFamily="18" charset="0"/>
                                    </a:rPr>
                                    <m:t>+1</m:t>
                                  </m:r>
                                </m:e>
                              </m:d>
                            </m:sup>
                          </m:sSup>
                          <m:r>
                            <a:rPr lang="en-US" altLang="zh-CN" sz="2400" i="1">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𝑘</m:t>
                                  </m:r>
                                </m:e>
                              </m:d>
                            </m:sup>
                          </m:sSup>
                          <m:r>
                            <a:rPr lang="en-US" altLang="zh-CN" sz="2400" i="1">
                              <a:latin typeface="Cambria Math" panose="02040503050406030204" pitchFamily="18" charset="0"/>
                            </a:rPr>
                            <m:t>−</m:t>
                          </m:r>
                          <m:sSup>
                            <m:sSupPr>
                              <m:ctrlPr>
                                <a:rPr lang="zh-CN" altLang="en-US" sz="2400" i="1">
                                  <a:latin typeface="Cambria Math" panose="02040503050406030204" pitchFamily="18" charset="0"/>
                                </a:rPr>
                              </m:ctrlPr>
                            </m:sSupPr>
                            <m:e>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𝛼</m:t>
                                  </m:r>
                                </m:e>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𝑘</m:t>
                                      </m:r>
                                    </m:e>
                                  </m:d>
                                </m:sup>
                              </m:sSup>
                              <m:sSub>
                                <m:sSubPr>
                                  <m:ctrlPr>
                                    <a:rPr lang="zh-CN" altLang="en-US" sz="2400" i="1">
                                      <a:latin typeface="Cambria Math" panose="02040503050406030204" pitchFamily="18" charset="0"/>
                                    </a:rPr>
                                  </m:ctrlPr>
                                </m:sSubPr>
                                <m:e>
                                  <m:r>
                                    <a:rPr lang="en-US" altLang="zh-CN" sz="2400" i="1">
                                      <a:latin typeface="Cambria Math" panose="02040503050406030204" pitchFamily="18" charset="0"/>
                                    </a:rPr>
                                    <m:t>𝐻</m:t>
                                  </m:r>
                                </m:e>
                                <m:sub>
                                  <m:r>
                                    <a:rPr lang="zh-CN" altLang="en-US" sz="2400" i="1">
                                      <a:latin typeface="Cambria Math" panose="02040503050406030204" pitchFamily="18" charset="0"/>
                                    </a:rPr>
                                    <m:t>𝑘</m:t>
                                  </m:r>
                                </m:sub>
                              </m:sSub>
                            </m:e>
                            <m:sup>
                              <m:r>
                                <a:rPr lang="en-US" altLang="zh-CN" sz="2400" i="1">
                                  <a:latin typeface="Cambria Math" panose="02040503050406030204" pitchFamily="18" charset="0"/>
                                </a:rPr>
                                <m:t>−1</m:t>
                              </m:r>
                            </m:sup>
                          </m:sSup>
                          <m:r>
                            <a:rPr lang="zh-CN" altLang="en-US" sz="2400" i="1">
                              <a:latin typeface="Cambria Math" panose="02040503050406030204" pitchFamily="18" charset="0"/>
                            </a:rPr>
                            <m:t>𝑔</m:t>
                          </m:r>
                        </m:e>
                        <m:sub>
                          <m:r>
                            <a:rPr lang="zh-CN" altLang="en-US" sz="2400" i="1">
                              <a:latin typeface="Cambria Math" panose="02040503050406030204" pitchFamily="18" charset="0"/>
                            </a:rPr>
                            <m:t>𝑘</m:t>
                          </m:r>
                        </m:sub>
                      </m:sSub>
                    </m:oMath>
                  </m:oMathPara>
                </a14:m>
                <a:endParaRPr lang="zh-CN" altLang="en-US" sz="2400" b="1" dirty="0">
                  <a:solidFill>
                    <a:srgbClr val="800000"/>
                  </a:solidFill>
                  <a:latin typeface="宋体" panose="02010600030101010101" pitchFamily="2" charset="-122"/>
                  <a:ea typeface="宋体" panose="02010600030101010101" pitchFamily="2" charset="-122"/>
                  <a:sym typeface="Symbol" panose="05050102010706020507" pitchFamily="18" charset="2"/>
                </a:endParaRPr>
              </a:p>
              <a:p>
                <a:pPr marL="0" indent="0" algn="just">
                  <a:lnSpc>
                    <a:spcPct val="120000"/>
                  </a:lnSpc>
                  <a:buNone/>
                  <a:defRPr/>
                </a:pPr>
                <a:r>
                  <a:rPr lang="zh-CN" altLang="en-US" sz="2400" dirty="0">
                    <a:latin typeface="宋体" panose="02010600030101010101" pitchFamily="2" charset="-122"/>
                    <a:ea typeface="宋体" panose="02010600030101010101" pitchFamily="2" charset="-122"/>
                  </a:rPr>
                  <a:t>这里</a:t>
                </a:r>
                <a14:m>
                  <m:oMath xmlns:m="http://schemas.openxmlformats.org/officeDocument/2006/math">
                    <m:sSub>
                      <m:sSubPr>
                        <m:ctrlPr>
                          <a:rPr lang="zh-CN" altLang="en-US" sz="2400" i="1">
                            <a:latin typeface="Cambria Math" panose="02040503050406030204" pitchFamily="18" charset="0"/>
                          </a:rPr>
                        </m:ctrlPr>
                      </m:sSubPr>
                      <m:e>
                        <m:r>
                          <a:rPr lang="en-US" altLang="zh-CN" sz="2400" i="1">
                            <a:latin typeface="Cambria Math" panose="02040503050406030204" pitchFamily="18" charset="0"/>
                          </a:rPr>
                          <m:t>𝑔</m:t>
                        </m:r>
                      </m:e>
                      <m:sub>
                        <m:r>
                          <a:rPr lang="zh-CN" altLang="en-US" sz="2400" i="1">
                            <a:latin typeface="Cambria Math" panose="02040503050406030204" pitchFamily="18" charset="0"/>
                          </a:rPr>
                          <m:t>𝑘</m:t>
                        </m:r>
                      </m:sub>
                    </m:sSub>
                    <m:r>
                      <a:rPr lang="en-US" altLang="zh-CN" sz="2400" i="1">
                        <a:latin typeface="Cambria Math" panose="02040503050406030204" pitchFamily="18" charset="0"/>
                      </a:rPr>
                      <m:t>=</m:t>
                    </m:r>
                    <m:r>
                      <a:rPr lang="zh-CN" altLang="en-US" sz="2400" i="1">
                        <a:latin typeface="Cambria Math" panose="02040503050406030204" pitchFamily="18" charset="0"/>
                      </a:rPr>
                      <m:t> </m:t>
                    </m:r>
                    <m:r>
                      <m:rPr>
                        <m:sty m:val="p"/>
                      </m:rPr>
                      <a:rPr lang="en-US" altLang="zh-CN" sz="2400" i="1">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rPr>
                      <m:t>𝑓</m:t>
                    </m:r>
                    <m:d>
                      <m:dPr>
                        <m:ctrlPr>
                          <a:rPr lang="en-US" altLang="zh-CN" sz="2400" i="1">
                            <a:latin typeface="Cambria Math" panose="02040503050406030204" pitchFamily="18" charset="0"/>
                          </a:rPr>
                        </m:ctrlPr>
                      </m:dPr>
                      <m:e>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𝑘</m:t>
                                </m:r>
                              </m:e>
                            </m:d>
                          </m:sup>
                        </m:sSup>
                      </m:e>
                    </m:d>
                    <m:r>
                      <a:rPr lang="en-US" altLang="zh-CN" sz="2400" i="1">
                        <a:latin typeface="Cambria Math" panose="02040503050406030204" pitchFamily="18" charset="0"/>
                      </a:rPr>
                      <m:t>, </m:t>
                    </m:r>
                    <m:sSub>
                      <m:sSubPr>
                        <m:ctrlPr>
                          <a:rPr lang="zh-CN" altLang="en-US" sz="2400" i="1">
                            <a:latin typeface="Cambria Math" panose="02040503050406030204" pitchFamily="18" charset="0"/>
                          </a:rPr>
                        </m:ctrlPr>
                      </m:sSubPr>
                      <m:e>
                        <m:r>
                          <a:rPr lang="en-US" altLang="zh-CN" sz="2400" i="1">
                            <a:latin typeface="Cambria Math" panose="02040503050406030204" pitchFamily="18" charset="0"/>
                          </a:rPr>
                          <m:t>𝐻</m:t>
                        </m:r>
                      </m:e>
                      <m:sub>
                        <m:r>
                          <a:rPr lang="zh-CN" altLang="en-US" sz="2400" i="1">
                            <a:latin typeface="Cambria Math" panose="02040503050406030204" pitchFamily="18" charset="0"/>
                          </a:rPr>
                          <m:t>𝑘</m:t>
                        </m:r>
                      </m:sub>
                    </m:sSub>
                    <m:r>
                      <a:rPr lang="en-US" altLang="zh-CN" sz="2400" i="1">
                        <a:latin typeface="Cambria Math" panose="02040503050406030204" pitchFamily="18" charset="0"/>
                      </a:rPr>
                      <m:t>=</m:t>
                    </m:r>
                    <m:sSup>
                      <m:sSupPr>
                        <m:ctrlPr>
                          <a:rPr lang="en-US" altLang="zh-CN" sz="2400" i="1">
                            <a:latin typeface="Cambria Math" panose="02040503050406030204" pitchFamily="18" charset="0"/>
                          </a:rPr>
                        </m:ctrlPr>
                      </m:sSupPr>
                      <m:e>
                        <m:r>
                          <m:rPr>
                            <m:sty m:val="p"/>
                          </m:rPr>
                          <a:rPr lang="en-US" altLang="zh-CN" sz="2400" i="1">
                            <a:latin typeface="Cambria Math" panose="02040503050406030204" pitchFamily="18" charset="0"/>
                            <a:ea typeface="Cambria Math" panose="02040503050406030204" pitchFamily="18" charset="0"/>
                          </a:rPr>
                          <m:t>∇</m:t>
                        </m:r>
                      </m:e>
                      <m:sup>
                        <m:r>
                          <a:rPr lang="en-US" altLang="zh-CN" sz="2400" i="1">
                            <a:latin typeface="Cambria Math" panose="02040503050406030204" pitchFamily="18" charset="0"/>
                          </a:rPr>
                          <m:t>2</m:t>
                        </m:r>
                      </m:sup>
                    </m:sSup>
                    <m:r>
                      <a:rPr lang="en-US" altLang="zh-CN" i="1">
                        <a:latin typeface="Cambria Math" panose="02040503050406030204" pitchFamily="18" charset="0"/>
                      </a:rPr>
                      <m:t>𝑓</m:t>
                    </m:r>
                    <m:d>
                      <m:dPr>
                        <m:ctrlPr>
                          <a:rPr lang="en-US" altLang="zh-CN" i="1">
                            <a:latin typeface="Cambria Math" panose="02040503050406030204" pitchFamily="18" charset="0"/>
                          </a:rPr>
                        </m:ctrlPr>
                      </m:dPr>
                      <m:e>
                        <m:sSup>
                          <m:sSupPr>
                            <m:ctrlPr>
                              <a:rPr lang="zh-CN" altLang="en-US" i="1">
                                <a:latin typeface="Cambria Math" panose="02040503050406030204" pitchFamily="18" charset="0"/>
                              </a:rPr>
                            </m:ctrlPr>
                          </m:sSupPr>
                          <m:e>
                            <m:r>
                              <a:rPr lang="zh-CN" altLang="en-US" i="1">
                                <a:latin typeface="Cambria Math" panose="02040503050406030204" pitchFamily="18" charset="0"/>
                              </a:rPr>
                              <m:t>𝑥</m:t>
                            </m:r>
                          </m:e>
                          <m:sup>
                            <m:d>
                              <m:dPr>
                                <m:ctrlPr>
                                  <a:rPr lang="zh-CN" altLang="en-US" i="1">
                                    <a:latin typeface="Cambria Math" panose="02040503050406030204" pitchFamily="18" charset="0"/>
                                  </a:rPr>
                                </m:ctrlPr>
                              </m:dPr>
                              <m:e>
                                <m:r>
                                  <a:rPr lang="zh-CN" altLang="en-US" i="1">
                                    <a:latin typeface="Cambria Math" panose="02040503050406030204" pitchFamily="18" charset="0"/>
                                  </a:rPr>
                                  <m:t>𝑘</m:t>
                                </m:r>
                              </m:e>
                            </m:d>
                          </m:sup>
                        </m:sSup>
                      </m:e>
                    </m:d>
                  </m:oMath>
                </a14:m>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p:txBody>
          </p:sp>
        </mc:Choice>
        <mc:Fallback xmlns="">
          <p:sp>
            <p:nvSpPr>
              <p:cNvPr id="156675" name="Rectangle 3"/>
              <p:cNvSpPr>
                <a:spLocks noGrp="1" noRot="1" noChangeAspect="1" noMove="1" noResize="1" noEditPoints="1" noAdjustHandles="1" noChangeArrowheads="1" noChangeShapeType="1" noTextEdit="1"/>
              </p:cNvSpPr>
              <p:nvPr>
                <p:ph idx="1"/>
              </p:nvPr>
            </p:nvSpPr>
            <p:spPr>
              <a:xfrm>
                <a:off x="463364" y="453265"/>
                <a:ext cx="8481060" cy="3010376"/>
              </a:xfrm>
              <a:blipFill>
                <a:blip r:embed="rId2"/>
                <a:stretch>
                  <a:fillRect l="-1078" t="-1215" r="-1150"/>
                </a:stretch>
              </a:blipFill>
            </p:spPr>
            <p:txBody>
              <a:bodyPr/>
              <a:lstStyle/>
              <a:p>
                <a:r>
                  <a:rPr lang="zh-CN" altLang="en-US">
                    <a:noFill/>
                  </a:rPr>
                  <a:t> </a:t>
                </a:r>
              </a:p>
            </p:txBody>
          </p:sp>
        </mc:Fallback>
      </mc:AlternateContent>
      <p:sp>
        <p:nvSpPr>
          <p:cNvPr id="4" name="文本框 3"/>
          <p:cNvSpPr txBox="1"/>
          <p:nvPr/>
        </p:nvSpPr>
        <p:spPr>
          <a:xfrm>
            <a:off x="199576" y="30206"/>
            <a:ext cx="3862388" cy="461665"/>
          </a:xfrm>
          <a:prstGeom prst="rect">
            <a:avLst/>
          </a:prstGeom>
          <a:noFill/>
        </p:spPr>
        <p:txBody>
          <a:bodyPr wrap="square">
            <a:spAutoFit/>
          </a:bodyPr>
          <a:lstStyle/>
          <a:p>
            <a:pPr eaLnBrk="1" hangingPunct="1">
              <a:buFont typeface="Wingdings" panose="05000000000000000000" pitchFamily="2" charset="2"/>
              <a:buNone/>
              <a:defRPr/>
            </a:pPr>
            <a:r>
              <a:rPr lang="zh-CN" altLang="en-US" sz="2400" b="1" dirty="0">
                <a:latin typeface="黑体" panose="02010609060101010101" pitchFamily="49" charset="-122"/>
                <a:ea typeface="黑体" panose="02010609060101010101" pitchFamily="49" charset="-122"/>
                <a:cs typeface="黑体" panose="02010609060101010101" pitchFamily="49" charset="-122"/>
              </a:rPr>
              <a:t>一、</a:t>
            </a:r>
            <a:r>
              <a:rPr lang="en-US" altLang="zh-CN" sz="2400" b="1" dirty="0">
                <a:latin typeface="黑体" panose="02010609060101010101" pitchFamily="49" charset="-122"/>
                <a:ea typeface="黑体" panose="02010609060101010101" pitchFamily="49" charset="-122"/>
                <a:cs typeface="黑体" panose="02010609060101010101" pitchFamily="49" charset="-122"/>
              </a:rPr>
              <a:t> </a:t>
            </a:r>
            <a:r>
              <a:rPr lang="zh-CN" altLang="en-US" sz="2400" b="1" dirty="0">
                <a:latin typeface="黑体" panose="02010609060101010101" pitchFamily="49" charset="-122"/>
                <a:ea typeface="黑体" panose="02010609060101010101" pitchFamily="49" charset="-122"/>
                <a:cs typeface="黑体" panose="02010609060101010101" pitchFamily="49" charset="-122"/>
              </a:rPr>
              <a:t>基本思想</a:t>
            </a:r>
          </a:p>
        </p:txBody>
      </p:sp>
      <mc:AlternateContent xmlns:mc="http://schemas.openxmlformats.org/markup-compatibility/2006" xmlns:a14="http://schemas.microsoft.com/office/drawing/2010/main">
        <mc:Choice Requires="a14">
          <p:sp>
            <p:nvSpPr>
              <p:cNvPr id="6" name="文本框 5"/>
              <p:cNvSpPr txBox="1"/>
              <p:nvPr/>
            </p:nvSpPr>
            <p:spPr>
              <a:xfrm>
                <a:off x="107504" y="3174247"/>
                <a:ext cx="8836920" cy="2268379"/>
              </a:xfrm>
              <a:prstGeom prst="rect">
                <a:avLst/>
              </a:prstGeom>
            </p:spPr>
            <p:txBody>
              <a:bodyPr vert="horz" lIns="68580" tIns="34290" rIns="68580" bIns="34290" rtlCol="0">
                <a:noAutofit/>
              </a:bodyPr>
              <a:lstStyle>
                <a:lvl1pPr marL="228600" indent="-228600" defTabSz="914400">
                  <a:lnSpc>
                    <a:spcPct val="90000"/>
                  </a:lnSpc>
                  <a:spcBef>
                    <a:spcPts val="1000"/>
                  </a:spcBef>
                  <a:buFont typeface="Wingdings" panose="05000000000000000000" pitchFamily="2" charset="2"/>
                  <a:buNone/>
                  <a:defRPr sz="2400">
                    <a:latin typeface="宋体" panose="02010600030101010101" pitchFamily="2" charset="-122"/>
                    <a:ea typeface="宋体" panose="02010600030101010101" pitchFamily="2" charset="-122"/>
                  </a:defRPr>
                </a:lvl1pPr>
                <a:lvl2pPr marL="685800" indent="-228600" defTabSz="914400">
                  <a:lnSpc>
                    <a:spcPct val="90000"/>
                  </a:lnSpc>
                  <a:spcBef>
                    <a:spcPts val="500"/>
                  </a:spcBef>
                  <a:buFont typeface="Arial" panose="020B0604020202020204" pitchFamily="34" charset="0"/>
                  <a:buChar char="•"/>
                  <a:defRPr sz="2400"/>
                </a:lvl2pPr>
                <a:lvl3pPr marL="1143000" indent="-228600" defTabSz="914400">
                  <a:lnSpc>
                    <a:spcPct val="90000"/>
                  </a:lnSpc>
                  <a:spcBef>
                    <a:spcPts val="500"/>
                  </a:spcBef>
                  <a:buFont typeface="Arial" panose="020B0604020202020204" pitchFamily="34" charset="0"/>
                  <a:buChar char="•"/>
                  <a:defRPr sz="2000"/>
                </a:lvl3pPr>
                <a:lvl4pPr marL="1600200" indent="-228600" defTabSz="914400">
                  <a:lnSpc>
                    <a:spcPct val="90000"/>
                  </a:lnSpc>
                  <a:spcBef>
                    <a:spcPts val="500"/>
                  </a:spcBef>
                  <a:buFont typeface="Arial" panose="020B0604020202020204" pitchFamily="34" charset="0"/>
                  <a:buChar char="•"/>
                </a:lvl4pPr>
                <a:lvl5pPr marL="2057400" indent="-228600" defTabSz="914400">
                  <a:lnSpc>
                    <a:spcPct val="90000"/>
                  </a:lnSpc>
                  <a:spcBef>
                    <a:spcPts val="500"/>
                  </a:spcBef>
                  <a:buFont typeface="Arial" panose="020B0604020202020204" pitchFamily="34" charset="0"/>
                  <a:buChar cha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algn="just">
                  <a:lnSpc>
                    <a:spcPct val="120000"/>
                  </a:lnSpc>
                </a:pPr>
                <a:r>
                  <a:rPr lang="zh-CN" altLang="en-US" dirty="0">
                    <a:solidFill>
                      <a:srgbClr val="0070C0"/>
                    </a:solidFill>
                    <a:sym typeface="Symbol" panose="05050102010706020507" pitchFamily="18" charset="2"/>
                  </a:rPr>
                  <a:t>     </a:t>
                </a:r>
                <a:r>
                  <a:rPr lang="zh-CN" altLang="en-US" dirty="0">
                    <a:sym typeface="Symbol" panose="05050102010706020507" pitchFamily="18" charset="2"/>
                  </a:rPr>
                  <a:t>分析比较这两种方法可知：</a:t>
                </a:r>
                <a:endParaRPr lang="en-US" altLang="zh-CN" dirty="0">
                  <a:sym typeface="Symbol" panose="05050102010706020507" pitchFamily="18" charset="2"/>
                </a:endParaRPr>
              </a:p>
              <a:p>
                <a:pPr algn="just">
                  <a:lnSpc>
                    <a:spcPct val="120000"/>
                  </a:lnSpc>
                </a:pPr>
                <a:r>
                  <a:rPr lang="zh-CN" altLang="en-US" dirty="0">
                    <a:sym typeface="Symbol" panose="05050102010706020507" pitchFamily="18" charset="2"/>
                  </a:rPr>
                  <a:t>     梯度法的搜索方向</a:t>
                </a:r>
                <a14:m>
                  <m:oMath xmlns:m="http://schemas.openxmlformats.org/officeDocument/2006/math">
                    <m:sSub>
                      <m:sSubPr>
                        <m:ctrlPr>
                          <a:rPr lang="zh-CN" altLang="en-US" i="1">
                            <a:latin typeface="Cambria Math" panose="02040503050406030204" pitchFamily="18" charset="0"/>
                          </a:rPr>
                        </m:ctrlPr>
                      </m:sSubPr>
                      <m:e>
                        <m:r>
                          <a:rPr lang="en-US" altLang="zh-CN" i="1">
                            <a:latin typeface="Cambria Math" panose="02040503050406030204" pitchFamily="18" charset="0"/>
                          </a:rPr>
                          <m:t>−</m:t>
                        </m:r>
                        <m:r>
                          <a:rPr lang="en-US" altLang="zh-CN" i="1">
                            <a:latin typeface="Cambria Math" panose="02040503050406030204" pitchFamily="18" charset="0"/>
                          </a:rPr>
                          <m:t>𝑔</m:t>
                        </m:r>
                      </m:e>
                      <m:sub>
                        <m:r>
                          <a:rPr lang="zh-CN" altLang="en-US" i="1">
                            <a:latin typeface="Cambria Math" panose="02040503050406030204" pitchFamily="18" charset="0"/>
                          </a:rPr>
                          <m:t>𝑘</m:t>
                        </m:r>
                      </m:sub>
                    </m:sSub>
                  </m:oMath>
                </a14:m>
                <a:r>
                  <a:rPr lang="zh-CN" altLang="en-US" dirty="0">
                    <a:sym typeface="Symbol" panose="05050102010706020507" pitchFamily="18" charset="2"/>
                  </a:rPr>
                  <a:t>，只需计算函数的梯度，计算量小，当迭代点远离最优点时，函数值下降</a:t>
                </a:r>
                <a:r>
                  <a:rPr lang="zh-CN" altLang="en-US" dirty="0"/>
                  <a:t>很快，但当迭代点接近最优点时收敛速度极慢。   </a:t>
                </a:r>
                <a:endParaRPr lang="en-US" altLang="zh-CN" dirty="0"/>
              </a:p>
              <a:p>
                <a:pPr algn="just">
                  <a:lnSpc>
                    <a:spcPct val="120000"/>
                  </a:lnSpc>
                </a:pPr>
                <a:r>
                  <a:rPr lang="en-US" altLang="zh-CN" dirty="0"/>
                  <a:t>     </a:t>
                </a:r>
                <a:r>
                  <a:rPr lang="zh-CN" altLang="en-US" dirty="0"/>
                  <a:t>牛顿法的搜索方向为</a:t>
                </a:r>
                <a14:m>
                  <m:oMath xmlns:m="http://schemas.openxmlformats.org/officeDocument/2006/math">
                    <m:sSub>
                      <m:sSubPr>
                        <m:ctrlPr>
                          <a:rPr lang="zh-CN" altLang="en-US" i="1">
                            <a:latin typeface="Cambria Math" panose="02040503050406030204" pitchFamily="18" charset="0"/>
                          </a:rPr>
                        </m:ctrlPr>
                      </m:sSubPr>
                      <m:e>
                        <m:r>
                          <a:rPr lang="en-US" altLang="zh-CN" i="1">
                            <a:latin typeface="Cambria Math" panose="02040503050406030204" pitchFamily="18" charset="0"/>
                          </a:rPr>
                          <m:t>−</m:t>
                        </m:r>
                        <m:sSup>
                          <m:sSupPr>
                            <m:ctrlPr>
                              <a:rPr lang="zh-CN" altLang="en-US" i="1">
                                <a:latin typeface="Cambria Math" panose="02040503050406030204" pitchFamily="18" charset="0"/>
                              </a:rPr>
                            </m:ctrlPr>
                          </m:sSupPr>
                          <m:e>
                            <m:sSub>
                              <m:sSubPr>
                                <m:ctrlPr>
                                  <a:rPr lang="zh-CN" altLang="en-US" i="1">
                                    <a:latin typeface="Cambria Math" panose="02040503050406030204" pitchFamily="18" charset="0"/>
                                  </a:rPr>
                                </m:ctrlPr>
                              </m:sSubPr>
                              <m:e>
                                <m:r>
                                  <a:rPr lang="en-US" altLang="zh-CN" i="1">
                                    <a:latin typeface="Cambria Math" panose="02040503050406030204" pitchFamily="18" charset="0"/>
                                  </a:rPr>
                                  <m:t>𝐻</m:t>
                                </m:r>
                              </m:e>
                              <m:sub>
                                <m:r>
                                  <a:rPr lang="zh-CN" altLang="en-US" i="1">
                                    <a:latin typeface="Cambria Math" panose="02040503050406030204" pitchFamily="18" charset="0"/>
                                  </a:rPr>
                                  <m:t>𝑘</m:t>
                                </m:r>
                              </m:sub>
                            </m:sSub>
                          </m:e>
                          <m:sup>
                            <m:r>
                              <a:rPr lang="en-US" altLang="zh-CN" i="1">
                                <a:latin typeface="Cambria Math" panose="02040503050406030204" pitchFamily="18" charset="0"/>
                              </a:rPr>
                              <m:t>−1</m:t>
                            </m:r>
                          </m:sup>
                        </m:sSup>
                        <m:r>
                          <a:rPr lang="zh-CN" altLang="en-US" i="1">
                            <a:latin typeface="Cambria Math" panose="02040503050406030204" pitchFamily="18" charset="0"/>
                          </a:rPr>
                          <m:t>𝑔</m:t>
                        </m:r>
                      </m:e>
                      <m:sub>
                        <m:r>
                          <a:rPr lang="zh-CN" altLang="en-US" i="1">
                            <a:latin typeface="Cambria Math" panose="02040503050406030204" pitchFamily="18" charset="0"/>
                          </a:rPr>
                          <m:t>𝑘</m:t>
                        </m:r>
                      </m:sub>
                    </m:sSub>
                    <m:r>
                      <a:rPr lang="zh-CN" altLang="en-US" i="1">
                        <a:latin typeface="Cambria Math" panose="02040503050406030204" pitchFamily="18" charset="0"/>
                      </a:rPr>
                      <m:t> </m:t>
                    </m:r>
                  </m:oMath>
                </a14:m>
                <a:r>
                  <a:rPr lang="zh-CN" altLang="en-US" dirty="0">
                    <a:sym typeface="Symbol" panose="05050102010706020507" pitchFamily="18" charset="2"/>
                  </a:rPr>
                  <a:t>，不仅需要计算梯度，而且要计算海赛矩阵及其逆阵，计算量很大，但牛顿法具有二阶收敛速率，当迭代点接近最优点时，收敛速度很快。</a:t>
                </a:r>
              </a:p>
            </p:txBody>
          </p:sp>
        </mc:Choice>
        <mc:Fallback xmlns="">
          <p:sp>
            <p:nvSpPr>
              <p:cNvPr id="6" name="文本框 5"/>
              <p:cNvSpPr txBox="1">
                <a:spLocks noRot="1" noChangeAspect="1" noMove="1" noResize="1" noEditPoints="1" noAdjustHandles="1" noChangeArrowheads="1" noChangeShapeType="1" noTextEdit="1"/>
              </p:cNvSpPr>
              <p:nvPr/>
            </p:nvSpPr>
            <p:spPr>
              <a:xfrm>
                <a:off x="107504" y="3174247"/>
                <a:ext cx="8836920" cy="2268379"/>
              </a:xfrm>
              <a:prstGeom prst="rect">
                <a:avLst/>
              </a:prstGeom>
              <a:blipFill>
                <a:blip r:embed="rId3"/>
                <a:stretch>
                  <a:fillRect t="-2151" r="-1311" b="-54839"/>
                </a:stretch>
              </a:blipFill>
            </p:spPr>
            <p:txBody>
              <a:bodyPr/>
              <a:lstStyle/>
              <a:p>
                <a:r>
                  <a:rPr lang="zh-CN" altLang="en-US">
                    <a:noFill/>
                  </a:rPr>
                  <a:t> </a:t>
                </a:r>
              </a:p>
            </p:txBody>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4275" name="Rectangle 3"/>
              <p:cNvSpPr>
                <a:spLocks noGrp="1" noChangeArrowheads="1"/>
              </p:cNvSpPr>
              <p:nvPr>
                <p:ph idx="1"/>
              </p:nvPr>
            </p:nvSpPr>
            <p:spPr>
              <a:xfrm>
                <a:off x="107504" y="404664"/>
                <a:ext cx="8928992" cy="6120680"/>
              </a:xfrm>
            </p:spPr>
            <p:txBody>
              <a:bodyPr>
                <a:noAutofit/>
              </a:bodyPr>
              <a:lstStyle/>
              <a:p>
                <a:pPr algn="just" eaLnBrk="1" latinLnBrk="0" hangingPunct="1">
                  <a:lnSpc>
                    <a:spcPct val="150000"/>
                  </a:lnSpc>
                  <a:buFont typeface="Wingdings" panose="05000000000000000000" pitchFamily="2" charset="2"/>
                  <a:buNone/>
                  <a:defRPr/>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考虑迭代格式</a:t>
                </a:r>
                <a:r>
                  <a:rPr lang="en-US" altLang="zh-CN" sz="2400" dirty="0">
                    <a:latin typeface="宋体" panose="02010600030101010101" pitchFamily="2" charset="-122"/>
                    <a:ea typeface="宋体" panose="02010600030101010101" pitchFamily="2" charset="-122"/>
                  </a:rPr>
                  <a:t>  </a:t>
                </a:r>
              </a:p>
              <a:p>
                <a:pPr algn="just" eaLnBrk="1" latinLnBrk="0" hangingPunct="1">
                  <a:lnSpc>
                    <a:spcPct val="150000"/>
                  </a:lnSpc>
                  <a:buNone/>
                  <a:defRPr/>
                </a:pPr>
                <a:r>
                  <a:rPr lang="en-US" altLang="zh-CN" sz="2400" dirty="0">
                    <a:latin typeface="宋体" panose="02010600030101010101" pitchFamily="2" charset="-122"/>
                    <a:ea typeface="宋体" panose="02010600030101010101" pitchFamily="2" charset="-122"/>
                  </a:rPr>
                  <a:t>            </a:t>
                </a:r>
                <a:br>
                  <a:rPr lang="zh-CN" altLang="en-US" sz="2400" dirty="0">
                    <a:latin typeface="宋体" panose="02010600030101010101" pitchFamily="2" charset="-122"/>
                    <a:ea typeface="宋体" panose="02010600030101010101" pitchFamily="2" charset="-122"/>
                    <a:sym typeface="Symbol" panose="05050102010706020507" pitchFamily="18" charset="2"/>
                  </a:rPr>
                </a:br>
                <a:r>
                  <a:rPr lang="zh-CN" altLang="en-US" sz="2400" dirty="0">
                    <a:latin typeface="宋体" panose="02010600030101010101" pitchFamily="2" charset="-122"/>
                    <a:ea typeface="宋体" panose="02010600030101010101" pitchFamily="2" charset="-122"/>
                    <a:sym typeface="Symbol" panose="05050102010706020507" pitchFamily="18" charset="2"/>
                  </a:rPr>
                  <a:t>    </a:t>
                </a:r>
                <a:r>
                  <a:rPr lang="en-US" altLang="zh-CN" sz="2400" dirty="0">
                    <a:latin typeface="宋体" panose="02010600030101010101" pitchFamily="2" charset="-122"/>
                    <a:ea typeface="宋体" panose="02010600030101010101" pitchFamily="2" charset="-122"/>
                    <a:sym typeface="Symbol" panose="05050102010706020507" pitchFamily="18" charset="2"/>
                  </a:rPr>
                  <a:t>	</a:t>
                </a:r>
                <a:r>
                  <a:rPr lang="zh-CN" altLang="en-US" sz="2400" dirty="0">
                    <a:latin typeface="宋体" panose="02010600030101010101" pitchFamily="2" charset="-122"/>
                    <a:ea typeface="宋体" panose="02010600030101010101" pitchFamily="2" charset="-122"/>
                    <a:sym typeface="Symbol" panose="05050102010706020507" pitchFamily="18" charset="2"/>
                  </a:rPr>
                  <a:t>若迭代过程先用梯度法</a:t>
                </a:r>
                <a:r>
                  <a:rPr lang="en-US" altLang="zh-CN" sz="2400" dirty="0">
                    <a:latin typeface="宋体" panose="02010600030101010101" pitchFamily="2" charset="-122"/>
                    <a:ea typeface="宋体" panose="02010600030101010101" pitchFamily="2" charset="-122"/>
                    <a:sym typeface="Symbol" panose="05050102010706020507" pitchFamily="18" charset="2"/>
                  </a:rPr>
                  <a:t>(</a:t>
                </a:r>
                <a14:m>
                  <m:oMath xmlns:m="http://schemas.openxmlformats.org/officeDocument/2006/math">
                    <m:sSub>
                      <m:sSubPr>
                        <m:ctrlPr>
                          <a:rPr lang="zh-CN" altLang="en-US" sz="2400" i="1">
                            <a:latin typeface="Cambria Math" panose="02040503050406030204" pitchFamily="18" charset="0"/>
                          </a:rPr>
                        </m:ctrlPr>
                      </m:sSubPr>
                      <m:e>
                        <m:r>
                          <a:rPr lang="en-US" altLang="zh-CN" sz="2400" i="1">
                            <a:latin typeface="Cambria Math" panose="02040503050406030204" pitchFamily="18" charset="0"/>
                          </a:rPr>
                          <m:t>𝐴</m:t>
                        </m:r>
                      </m:e>
                      <m:sub>
                        <m:r>
                          <a:rPr lang="zh-CN" altLang="en-US" sz="2400" i="1">
                            <a:latin typeface="Cambria Math" panose="02040503050406030204" pitchFamily="18" charset="0"/>
                          </a:rPr>
                          <m:t>𝑘</m:t>
                        </m:r>
                      </m:sub>
                    </m:sSub>
                    <m:r>
                      <a:rPr lang="en-US" altLang="zh-CN" sz="2400">
                        <a:latin typeface="Cambria Math" panose="02040503050406030204" pitchFamily="18" charset="0"/>
                      </a:rPr>
                      <m:t>=</m:t>
                    </m:r>
                    <m:r>
                      <a:rPr lang="en-US" altLang="zh-CN" sz="2400" i="1">
                        <a:latin typeface="Cambria Math" panose="02040503050406030204" pitchFamily="18" charset="0"/>
                      </a:rPr>
                      <m:t>𝐼</m:t>
                    </m:r>
                  </m:oMath>
                </a14:m>
                <a:r>
                  <a:rPr lang="en-US" altLang="zh-CN" sz="2400" dirty="0">
                    <a:latin typeface="宋体" panose="02010600030101010101" pitchFamily="2" charset="-122"/>
                    <a:ea typeface="宋体" panose="02010600030101010101" pitchFamily="2" charset="-122"/>
                    <a:sym typeface="Symbol" panose="05050102010706020507" pitchFamily="18" charset="2"/>
                  </a:rPr>
                  <a:t>)</a:t>
                </a:r>
                <a:r>
                  <a:rPr lang="zh-CN" altLang="en-US" sz="2400" dirty="0">
                    <a:latin typeface="宋体" panose="02010600030101010101" pitchFamily="2" charset="-122"/>
                    <a:ea typeface="宋体" panose="02010600030101010101" pitchFamily="2" charset="-122"/>
                    <a:sym typeface="Symbol" panose="05050102010706020507" pitchFamily="18" charset="2"/>
                  </a:rPr>
                  <a:t>，后用牛顿法</a:t>
                </a:r>
                <a:r>
                  <a:rPr lang="en-US" altLang="zh-CN" sz="2400" dirty="0">
                    <a:latin typeface="宋体" panose="02010600030101010101" pitchFamily="2" charset="-122"/>
                    <a:ea typeface="宋体" panose="02010600030101010101" pitchFamily="2" charset="-122"/>
                    <a:sym typeface="Symbol" panose="05050102010706020507" pitchFamily="18" charset="2"/>
                  </a:rPr>
                  <a:t>(</a:t>
                </a:r>
                <a14:m>
                  <m:oMath xmlns:m="http://schemas.openxmlformats.org/officeDocument/2006/math">
                    <m:sSub>
                      <m:sSubPr>
                        <m:ctrlPr>
                          <a:rPr lang="zh-CN" altLang="en-US" sz="2400" i="1">
                            <a:latin typeface="Cambria Math" panose="02040503050406030204" pitchFamily="18" charset="0"/>
                          </a:rPr>
                        </m:ctrlPr>
                      </m:sSubPr>
                      <m:e>
                        <m:r>
                          <a:rPr lang="en-US" altLang="zh-CN" sz="2400" i="1">
                            <a:latin typeface="Cambria Math" panose="02040503050406030204" pitchFamily="18" charset="0"/>
                          </a:rPr>
                          <m:t>𝐴</m:t>
                        </m:r>
                      </m:e>
                      <m:sub>
                        <m:r>
                          <a:rPr lang="zh-CN" altLang="en-US" sz="2400" i="1">
                            <a:latin typeface="Cambria Math" panose="02040503050406030204" pitchFamily="18" charset="0"/>
                          </a:rPr>
                          <m:t>𝑘</m:t>
                        </m:r>
                      </m:sub>
                    </m:sSub>
                    <m:r>
                      <a:rPr lang="en-US" altLang="zh-CN" sz="2400">
                        <a:latin typeface="Cambria Math" panose="02040503050406030204" pitchFamily="18" charset="0"/>
                      </a:rPr>
                      <m:t>=</m:t>
                    </m:r>
                    <m:r>
                      <a:rPr lang="en-US" altLang="zh-CN" sz="2400" i="1">
                        <a:latin typeface="Cambria Math" panose="02040503050406030204" pitchFamily="18" charset="0"/>
                      </a:rPr>
                      <m:t> </m:t>
                    </m:r>
                    <m:sSup>
                      <m:sSupPr>
                        <m:ctrlPr>
                          <a:rPr lang="zh-CN" altLang="en-US" sz="2400" i="1">
                            <a:latin typeface="Cambria Math" panose="02040503050406030204" pitchFamily="18" charset="0"/>
                          </a:rPr>
                        </m:ctrlPr>
                      </m:sSupPr>
                      <m:e>
                        <m:sSub>
                          <m:sSubPr>
                            <m:ctrlPr>
                              <a:rPr lang="zh-CN" altLang="en-US" sz="2400" i="1">
                                <a:latin typeface="Cambria Math" panose="02040503050406030204" pitchFamily="18" charset="0"/>
                              </a:rPr>
                            </m:ctrlPr>
                          </m:sSubPr>
                          <m:e>
                            <m:r>
                              <a:rPr lang="en-US" altLang="zh-CN" sz="2400" i="1">
                                <a:latin typeface="Cambria Math" panose="02040503050406030204" pitchFamily="18" charset="0"/>
                              </a:rPr>
                              <m:t>𝐻</m:t>
                            </m:r>
                          </m:e>
                          <m:sub>
                            <m:r>
                              <a:rPr lang="zh-CN" altLang="en-US" sz="2400" i="1">
                                <a:latin typeface="Cambria Math" panose="02040503050406030204" pitchFamily="18" charset="0"/>
                              </a:rPr>
                              <m:t>𝑘</m:t>
                            </m:r>
                          </m:sub>
                        </m:sSub>
                      </m:e>
                      <m:sup>
                        <m:r>
                          <a:rPr lang="en-US" altLang="zh-CN" sz="2400" i="1">
                            <a:latin typeface="Cambria Math" panose="02040503050406030204" pitchFamily="18" charset="0"/>
                          </a:rPr>
                          <m:t>−1</m:t>
                        </m:r>
                      </m:sup>
                    </m:sSup>
                  </m:oMath>
                </a14:m>
                <a:r>
                  <a:rPr lang="en-US" altLang="zh-CN" sz="2400" dirty="0">
                    <a:latin typeface="宋体" panose="02010600030101010101" pitchFamily="2" charset="-122"/>
                    <a:ea typeface="宋体" panose="02010600030101010101" pitchFamily="2" charset="-122"/>
                    <a:sym typeface="Symbol" panose="05050102010706020507" pitchFamily="18" charset="2"/>
                  </a:rPr>
                  <a:t>)</a:t>
                </a:r>
                <a:r>
                  <a:rPr lang="zh-CN" altLang="en-US" sz="2400" dirty="0">
                    <a:latin typeface="宋体" panose="02010600030101010101" pitchFamily="2" charset="-122"/>
                    <a:ea typeface="宋体" panose="02010600030101010101" pitchFamily="2" charset="-122"/>
                    <a:sym typeface="Symbol" panose="05050102010706020507" pitchFamily="18" charset="2"/>
                  </a:rPr>
                  <a:t>并避开牛顿法的海赛矩阵的逆矩阵的烦琐计算，则可以得到一种较好的优化方法，这就是拟牛顿法产生的基本构想。</a:t>
                </a:r>
                <a:endParaRPr lang="zh-CN" altLang="en-US" sz="2400" dirty="0">
                  <a:solidFill>
                    <a:schemeClr val="hlink"/>
                  </a:solidFill>
                  <a:latin typeface="宋体" panose="02010600030101010101" pitchFamily="2" charset="-122"/>
                  <a:ea typeface="宋体" panose="02010600030101010101" pitchFamily="2" charset="-122"/>
                  <a:sym typeface="Symbol" panose="05050102010706020507" pitchFamily="18" charset="2"/>
                </a:endParaRPr>
              </a:p>
              <a:p>
                <a:pPr algn="just" eaLnBrk="1" latinLnBrk="0" hangingPunct="1">
                  <a:lnSpc>
                    <a:spcPct val="150000"/>
                  </a:lnSpc>
                  <a:buFont typeface="Wingdings" panose="05000000000000000000" pitchFamily="2" charset="2"/>
                  <a:buNone/>
                  <a:defRPr/>
                </a:pPr>
                <a:r>
                  <a:rPr lang="zh-CN" altLang="en-US" sz="2400" dirty="0">
                    <a:latin typeface="宋体" panose="02010600030101010101" pitchFamily="2" charset="-122"/>
                    <a:ea typeface="宋体" panose="02010600030101010101" pitchFamily="2" charset="-122"/>
                    <a:sym typeface="Symbol" panose="05050102010706020507" pitchFamily="18" charset="2"/>
                  </a:rPr>
                  <a:t>     为此，综合梯度法和牛顿法的优点，提出拟牛顿法的基本思想：</a:t>
                </a:r>
                <a:endParaRPr lang="en-US" altLang="zh-CN" sz="2400" dirty="0">
                  <a:latin typeface="宋体" panose="02010600030101010101" pitchFamily="2" charset="-122"/>
                  <a:ea typeface="宋体" panose="02010600030101010101" pitchFamily="2" charset="-122"/>
                  <a:sym typeface="Symbol" panose="05050102010706020507" pitchFamily="18" charset="2"/>
                </a:endParaRPr>
              </a:p>
              <a:p>
                <a:pPr algn="ctr" eaLnBrk="1" latinLnBrk="0" hangingPunct="1">
                  <a:lnSpc>
                    <a:spcPct val="150000"/>
                  </a:lnSpc>
                  <a:buFont typeface="Wingdings" panose="05000000000000000000" pitchFamily="2" charset="2"/>
                  <a:buNone/>
                  <a:defRPr/>
                </a:pPr>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𝑘</m:t>
                                  </m:r>
                                  <m:r>
                                    <a:rPr lang="en-US" altLang="zh-CN" sz="2400" i="1">
                                      <a:latin typeface="Cambria Math" panose="02040503050406030204" pitchFamily="18" charset="0"/>
                                    </a:rPr>
                                    <m:t>+1</m:t>
                                  </m:r>
                                </m:e>
                              </m:d>
                            </m:sup>
                          </m:sSup>
                          <m:r>
                            <a:rPr lang="en-US" altLang="zh-CN" sz="2400" i="1">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𝑘</m:t>
                                  </m:r>
                                </m:e>
                              </m:d>
                            </m:sup>
                          </m:sSup>
                          <m:r>
                            <a:rPr lang="en-US" altLang="zh-CN" sz="2400" i="1">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𝛼</m:t>
                              </m:r>
                            </m:e>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𝑘</m:t>
                                  </m:r>
                                </m:e>
                              </m:d>
                            </m:sup>
                          </m:sSup>
                          <m:sSub>
                            <m:sSubPr>
                              <m:ctrlPr>
                                <a:rPr lang="zh-CN" altLang="en-US" sz="2400" i="1">
                                  <a:latin typeface="Cambria Math" panose="02040503050406030204" pitchFamily="18" charset="0"/>
                                </a:rPr>
                              </m:ctrlPr>
                            </m:sSubPr>
                            <m:e>
                              <m:r>
                                <a:rPr lang="en-US" altLang="zh-CN" sz="2400" i="1">
                                  <a:latin typeface="Cambria Math" panose="02040503050406030204" pitchFamily="18" charset="0"/>
                                </a:rPr>
                                <m:t>𝐴</m:t>
                              </m:r>
                            </m:e>
                            <m:sub>
                              <m:r>
                                <a:rPr lang="zh-CN" altLang="en-US" sz="2400" i="1">
                                  <a:latin typeface="Cambria Math" panose="02040503050406030204" pitchFamily="18" charset="0"/>
                                </a:rPr>
                                <m:t>𝑘</m:t>
                              </m:r>
                            </m:sub>
                          </m:sSub>
                          <m:r>
                            <a:rPr lang="zh-CN" altLang="en-US" sz="2400" i="1">
                              <a:latin typeface="Cambria Math" panose="02040503050406030204" pitchFamily="18" charset="0"/>
                            </a:rPr>
                            <m:t>𝑔</m:t>
                          </m:r>
                        </m:e>
                        <m:sub>
                          <m:r>
                            <a:rPr lang="zh-CN" altLang="en-US" sz="2400" i="1">
                              <a:latin typeface="Cambria Math" panose="02040503050406030204" pitchFamily="18" charset="0"/>
                            </a:rPr>
                            <m:t>𝑘</m:t>
                          </m:r>
                        </m:sub>
                      </m:sSub>
                    </m:oMath>
                  </m:oMathPara>
                </a14:m>
                <a:endParaRPr lang="en-US" altLang="zh-CN" sz="2400" dirty="0">
                  <a:latin typeface="宋体" panose="02010600030101010101" pitchFamily="2" charset="-122"/>
                  <a:ea typeface="宋体" panose="02010600030101010101" pitchFamily="2" charset="-122"/>
                </a:endParaRPr>
              </a:p>
              <a:p>
                <a:pPr algn="just" eaLnBrk="1" latinLnBrk="0" hangingPunct="1">
                  <a:lnSpc>
                    <a:spcPct val="150000"/>
                  </a:lnSpc>
                  <a:buFont typeface="Wingdings" panose="05000000000000000000" pitchFamily="2" charset="2"/>
                  <a:buNone/>
                  <a:defRPr/>
                </a:pPr>
                <a:r>
                  <a:rPr lang="zh-CN" altLang="en-US" sz="2400" dirty="0">
                    <a:latin typeface="宋体" panose="02010600030101010101" pitchFamily="2" charset="-122"/>
                    <a:ea typeface="宋体" panose="02010600030101010101" pitchFamily="2" charset="-122"/>
                  </a:rPr>
                  <a:t>  式中的</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𝐴</m:t>
                        </m:r>
                      </m:e>
                      <m:sub>
                        <m:r>
                          <a:rPr lang="en-US" altLang="zh-CN" sz="2400" i="1">
                            <a:latin typeface="Cambria Math" panose="02040503050406030204" pitchFamily="18" charset="0"/>
                            <a:ea typeface="宋体" panose="02010600030101010101" pitchFamily="2" charset="-122"/>
                          </a:rPr>
                          <m:t>𝑘</m:t>
                        </m:r>
                      </m:sub>
                    </m:sSub>
                  </m:oMath>
                </a14:m>
                <a:r>
                  <a:rPr lang="zh-CN" altLang="en-US" sz="2400" dirty="0">
                    <a:latin typeface="宋体" panose="02010600030101010101" pitchFamily="2" charset="-122"/>
                    <a:ea typeface="宋体" panose="02010600030101010101" pitchFamily="2" charset="-122"/>
                  </a:rPr>
                  <a:t>为构造的对称矩阵，它是随迭代点的位置的变化而变化的。</a:t>
                </a:r>
              </a:p>
              <a:p>
                <a:pPr algn="just" eaLnBrk="1" latinLnBrk="0" hangingPunct="1">
                  <a:lnSpc>
                    <a:spcPct val="150000"/>
                  </a:lnSpc>
                  <a:buFont typeface="Wingdings" panose="05000000000000000000" pitchFamily="2" charset="2"/>
                  <a:buNone/>
                  <a:defRPr/>
                </a:pPr>
                <a:endParaRPr lang="zh-CN" altLang="en-US" sz="2400" i="1" baseline="30000" dirty="0">
                  <a:latin typeface="宋体" panose="02010600030101010101" pitchFamily="2" charset="-122"/>
                  <a:ea typeface="宋体" panose="02010600030101010101" pitchFamily="2" charset="-122"/>
                  <a:sym typeface="Symbol" panose="05050102010706020507" pitchFamily="18" charset="2"/>
                </a:endParaRPr>
              </a:p>
            </p:txBody>
          </p:sp>
        </mc:Choice>
        <mc:Fallback xmlns="">
          <p:sp>
            <p:nvSpPr>
              <p:cNvPr id="54275" name="Rectangle 3"/>
              <p:cNvSpPr>
                <a:spLocks noGrp="1" noRot="1" noChangeAspect="1" noMove="1" noResize="1" noEditPoints="1" noAdjustHandles="1" noChangeArrowheads="1" noChangeShapeType="1" noTextEdit="1"/>
              </p:cNvSpPr>
              <p:nvPr>
                <p:ph idx="1"/>
              </p:nvPr>
            </p:nvSpPr>
            <p:spPr>
              <a:xfrm>
                <a:off x="107504" y="404664"/>
                <a:ext cx="8928992" cy="6120680"/>
              </a:xfrm>
              <a:blipFill>
                <a:blip r:embed="rId2"/>
                <a:stretch>
                  <a:fillRect r="-109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2987824" y="1124744"/>
                <a:ext cx="3429000" cy="48667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𝑘</m:t>
                                  </m:r>
                                  <m:r>
                                    <a:rPr lang="en-US" altLang="zh-CN" sz="2400" i="1">
                                      <a:latin typeface="Cambria Math" panose="02040503050406030204" pitchFamily="18" charset="0"/>
                                    </a:rPr>
                                    <m:t>+1</m:t>
                                  </m:r>
                                </m:e>
                              </m:d>
                            </m:sup>
                          </m:sSup>
                          <m:r>
                            <a:rPr lang="en-US" altLang="zh-CN" sz="2400" i="1">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𝑘</m:t>
                                  </m:r>
                                </m:e>
                              </m:d>
                            </m:sup>
                          </m:sSup>
                          <m:r>
                            <a:rPr lang="en-US" altLang="zh-CN" sz="2400" i="1">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𝛼</m:t>
                              </m:r>
                            </m:e>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𝑘</m:t>
                                  </m:r>
                                </m:e>
                              </m:d>
                            </m:sup>
                          </m:sSup>
                          <m:sSub>
                            <m:sSubPr>
                              <m:ctrlPr>
                                <a:rPr lang="zh-CN" altLang="en-US" sz="2400" i="1">
                                  <a:latin typeface="Cambria Math" panose="02040503050406030204" pitchFamily="18" charset="0"/>
                                </a:rPr>
                              </m:ctrlPr>
                            </m:sSubPr>
                            <m:e>
                              <m:r>
                                <a:rPr lang="en-US" altLang="zh-CN" sz="2400" i="1">
                                  <a:latin typeface="Cambria Math" panose="02040503050406030204" pitchFamily="18" charset="0"/>
                                </a:rPr>
                                <m:t>𝐴</m:t>
                              </m:r>
                            </m:e>
                            <m:sub>
                              <m:r>
                                <a:rPr lang="zh-CN" altLang="en-US" sz="2400" i="1">
                                  <a:latin typeface="Cambria Math" panose="02040503050406030204" pitchFamily="18" charset="0"/>
                                </a:rPr>
                                <m:t>𝑘</m:t>
                              </m:r>
                            </m:sub>
                          </m:sSub>
                          <m:r>
                            <a:rPr lang="zh-CN" altLang="en-US" sz="2400" i="1">
                              <a:latin typeface="Cambria Math" panose="02040503050406030204" pitchFamily="18" charset="0"/>
                            </a:rPr>
                            <m:t>𝑔</m:t>
                          </m:r>
                        </m:e>
                        <m:sub>
                          <m:r>
                            <a:rPr lang="zh-CN" altLang="en-US" sz="2400" i="1">
                              <a:latin typeface="Cambria Math" panose="02040503050406030204" pitchFamily="18" charset="0"/>
                            </a:rPr>
                            <m:t>𝑘</m:t>
                          </m:r>
                        </m:sub>
                      </m:sSub>
                      <m:r>
                        <a:rPr lang="zh-CN" altLang="en-US" sz="2400" i="1">
                          <a:latin typeface="Cambria Math" panose="02040503050406030204" pitchFamily="18" charset="0"/>
                        </a:rPr>
                        <m:t> </m:t>
                      </m:r>
                    </m:oMath>
                  </m:oMathPara>
                </a14:m>
                <a:endParaRPr lang="zh-CN" altLang="en-US" sz="2400" dirty="0"/>
              </a:p>
            </p:txBody>
          </p:sp>
        </mc:Choice>
        <mc:Fallback xmlns="">
          <p:sp>
            <p:nvSpPr>
              <p:cNvPr id="4" name="文本框 3"/>
              <p:cNvSpPr txBox="1">
                <a:spLocks noRot="1" noChangeAspect="1" noMove="1" noResize="1" noEditPoints="1" noAdjustHandles="1" noChangeArrowheads="1" noChangeShapeType="1" noTextEdit="1"/>
              </p:cNvSpPr>
              <p:nvPr/>
            </p:nvSpPr>
            <p:spPr>
              <a:xfrm>
                <a:off x="2987824" y="1124744"/>
                <a:ext cx="3429000" cy="486672"/>
              </a:xfrm>
              <a:prstGeom prst="rect">
                <a:avLst/>
              </a:prstGeom>
              <a:blipFill>
                <a:blip r:embed="rId3"/>
                <a:stretch>
                  <a:fillRect/>
                </a:stretch>
              </a:blipFill>
            </p:spPr>
            <p:txBody>
              <a:bodyPr/>
              <a:lstStyle/>
              <a:p>
                <a:r>
                  <a:rPr lang="zh-CN" altLang="en-US">
                    <a:noFill/>
                  </a:rPr>
                  <a:t> </a:t>
                </a:r>
              </a:p>
            </p:txBody>
          </p:sp>
        </mc:Fallback>
      </mc:AlternateContent>
    </p:spTree>
  </p:cSld>
  <p:clrMapOvr>
    <a:masterClrMapping/>
  </p:clrMapOvr>
  <p:transition>
    <p:randomBar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60A5D1D6-E002-9CBE-9488-C187A3F4F3A3}"/>
                  </a:ext>
                </a:extLst>
              </p:cNvPr>
              <p:cNvSpPr txBox="1"/>
              <p:nvPr/>
            </p:nvSpPr>
            <p:spPr>
              <a:xfrm>
                <a:off x="755576" y="1196752"/>
                <a:ext cx="7506834" cy="2789290"/>
              </a:xfrm>
              <a:prstGeom prst="rect">
                <a:avLst/>
              </a:prstGeom>
              <a:noFill/>
            </p:spPr>
            <p:txBody>
              <a:bodyPr wrap="square">
                <a:spAutoFit/>
              </a:bodyPr>
              <a:lstStyle/>
              <a:p>
                <a:pPr indent="200025" algn="just">
                  <a:lnSpc>
                    <a:spcPct val="150000"/>
                  </a:lnSpc>
                </a:pPr>
                <a:r>
                  <a:rPr lang="zh-CN" altLang="zh-CN" sz="2400" b="1" kern="100" dirty="0">
                    <a:solidFill>
                      <a:srgbClr val="FF0000"/>
                    </a:solidFill>
                    <a:latin typeface="宋体" panose="02010600030101010101" pitchFamily="2" charset="-122"/>
                    <a:ea typeface="宋体" panose="02010600030101010101" pitchFamily="2" charset="-122"/>
                  </a:rPr>
                  <a:t>如何构造矩阵</a:t>
                </a:r>
                <a14:m>
                  <m:oMath xmlns:m="http://schemas.openxmlformats.org/officeDocument/2006/math">
                    <m:sSub>
                      <m:sSubPr>
                        <m:ctrlPr>
                          <a:rPr lang="zh-CN" altLang="zh-CN" sz="2400" b="1" i="1" kern="100">
                            <a:solidFill>
                              <a:srgbClr val="FF0000"/>
                            </a:solidFill>
                            <a:latin typeface="Cambria Math" panose="02040503050406030204" pitchFamily="18" charset="0"/>
                            <a:ea typeface="Cambria Math" panose="02040503050406030204" pitchFamily="18" charset="0"/>
                          </a:rPr>
                        </m:ctrlPr>
                      </m:sSubPr>
                      <m:e>
                        <m:r>
                          <a:rPr lang="en-US" altLang="zh-CN" sz="2400" b="1" i="1" kern="100">
                            <a:solidFill>
                              <a:srgbClr val="FF0000"/>
                            </a:solidFill>
                            <a:latin typeface="Cambria Math" panose="02040503050406030204" pitchFamily="18" charset="0"/>
                            <a:ea typeface="宋体" panose="02010600030101010101" pitchFamily="2" charset="-122"/>
                          </a:rPr>
                          <m:t>𝑨</m:t>
                        </m:r>
                      </m:e>
                      <m:sub>
                        <m:r>
                          <a:rPr lang="en-US" altLang="zh-CN" sz="2400" b="1" i="1" kern="100">
                            <a:solidFill>
                              <a:srgbClr val="FF0000"/>
                            </a:solidFill>
                            <a:latin typeface="Cambria Math" panose="02040503050406030204" pitchFamily="18" charset="0"/>
                            <a:ea typeface="宋体" panose="02010600030101010101" pitchFamily="2" charset="-122"/>
                          </a:rPr>
                          <m:t>𝒌</m:t>
                        </m:r>
                      </m:sub>
                    </m:sSub>
                  </m:oMath>
                </a14:m>
                <a:r>
                  <a:rPr lang="zh-CN" altLang="zh-CN" sz="2400" b="1" kern="100" dirty="0">
                    <a:solidFill>
                      <a:srgbClr val="FF0000"/>
                    </a:solidFill>
                    <a:latin typeface="宋体" panose="02010600030101010101" pitchFamily="2" charset="-122"/>
                    <a:ea typeface="宋体" panose="02010600030101010101" pitchFamily="2" charset="-122"/>
                  </a:rPr>
                  <a:t>？</a:t>
                </a:r>
              </a:p>
              <a:p>
                <a:pPr indent="200025" algn="just">
                  <a:lnSpc>
                    <a:spcPct val="150000"/>
                  </a:lnSpc>
                </a:pPr>
                <a:r>
                  <a:rPr lang="en-US" altLang="zh-CN" sz="2400" kern="100" dirty="0">
                    <a:latin typeface="宋体" panose="02010600030101010101" pitchFamily="2" charset="-122"/>
                    <a:ea typeface="宋体" panose="02010600030101010101" pitchFamily="2" charset="-122"/>
                  </a:rPr>
                  <a:t>  </a:t>
                </a:r>
                <a:r>
                  <a:rPr lang="zh-CN" altLang="zh-CN" sz="2400" kern="100" dirty="0">
                    <a:latin typeface="宋体" panose="02010600030101010101" pitchFamily="2" charset="-122"/>
                    <a:ea typeface="宋体" panose="02010600030101010101" pitchFamily="2" charset="-122"/>
                  </a:rPr>
                  <a:t>选取初始矩阵</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𝐴</m:t>
                        </m:r>
                      </m:e>
                      <m:sub>
                        <m:r>
                          <a:rPr lang="en-US" altLang="zh-CN" sz="2400" i="1" kern="100">
                            <a:latin typeface="Cambria Math" panose="02040503050406030204" pitchFamily="18" charset="0"/>
                            <a:ea typeface="宋体" panose="02010600030101010101" pitchFamily="2" charset="-122"/>
                          </a:rPr>
                          <m:t>0</m:t>
                        </m:r>
                      </m:sub>
                    </m:sSub>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𝐼</m:t>
                    </m:r>
                    <m:r>
                      <a:rPr lang="en-US" altLang="zh-CN" sz="2400" i="1" kern="100">
                        <a:latin typeface="Cambria Math" panose="02040503050406030204" pitchFamily="18" charset="0"/>
                        <a:ea typeface="宋体" panose="02010600030101010101" pitchFamily="2" charset="-122"/>
                      </a:rPr>
                      <m:t> </m:t>
                    </m:r>
                  </m:oMath>
                </a14:m>
                <a:r>
                  <a:rPr lang="zh-CN" altLang="zh-CN" sz="2400" kern="100" dirty="0">
                    <a:latin typeface="宋体" panose="02010600030101010101" pitchFamily="2" charset="-122"/>
                    <a:ea typeface="宋体" panose="02010600030101010101" pitchFamily="2" charset="-122"/>
                  </a:rPr>
                  <a:t>，以梯度方向快速收敛。而后的矩阵均是在前一构造矩阵的基础上校正得到，令</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𝐴</m:t>
                        </m:r>
                      </m:e>
                      <m:sub>
                        <m:r>
                          <a:rPr lang="en-US" altLang="zh-CN" sz="2400" i="1" kern="100">
                            <a:latin typeface="Cambria Math" panose="02040503050406030204" pitchFamily="18" charset="0"/>
                            <a:ea typeface="宋体" panose="02010600030101010101" pitchFamily="2" charset="-122"/>
                          </a:rPr>
                          <m:t>𝑘</m:t>
                        </m:r>
                        <m:r>
                          <a:rPr lang="en-US" altLang="zh-CN" sz="2400" i="1" kern="100">
                            <a:latin typeface="Cambria Math" panose="02040503050406030204" pitchFamily="18" charset="0"/>
                            <a:ea typeface="宋体" panose="02010600030101010101" pitchFamily="2" charset="-122"/>
                          </a:rPr>
                          <m:t>+1</m:t>
                        </m:r>
                      </m:sub>
                    </m:sSub>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𝐴</m:t>
                        </m:r>
                      </m:e>
                      <m:sub>
                        <m:r>
                          <a:rPr lang="en-US" altLang="zh-CN" sz="2400" i="1" kern="100">
                            <a:latin typeface="Cambria Math" panose="02040503050406030204" pitchFamily="18" charset="0"/>
                            <a:ea typeface="宋体" panose="02010600030101010101" pitchFamily="2" charset="-122"/>
                          </a:rPr>
                          <m:t>𝑘</m:t>
                        </m:r>
                      </m:sub>
                    </m:sSub>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𝐴</m:t>
                        </m:r>
                      </m:e>
                      <m:sub>
                        <m:r>
                          <a:rPr lang="en-US" altLang="zh-CN" sz="2400" i="1" kern="100">
                            <a:latin typeface="Cambria Math" panose="02040503050406030204" pitchFamily="18" charset="0"/>
                            <a:ea typeface="宋体" panose="02010600030101010101" pitchFamily="2" charset="-122"/>
                          </a:rPr>
                          <m:t>𝑘</m:t>
                        </m:r>
                      </m:sub>
                    </m:sSub>
                  </m:oMath>
                </a14:m>
                <a:r>
                  <a:rPr lang="zh-CN" altLang="zh-CN" sz="2400" kern="100" dirty="0">
                    <a:latin typeface="宋体" panose="02010600030101010101" pitchFamily="2" charset="-122"/>
                    <a:ea typeface="宋体" panose="02010600030101010101" pitchFamily="2" charset="-122"/>
                  </a:rPr>
                  <a:t>，其中</a:t>
                </a:r>
                <a14:m>
                  <m:oMath xmlns:m="http://schemas.openxmlformats.org/officeDocument/2006/math">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𝐴</m:t>
                        </m:r>
                      </m:e>
                      <m:sub>
                        <m:r>
                          <a:rPr lang="en-US" altLang="zh-CN" sz="2400" i="1" kern="100">
                            <a:latin typeface="Cambria Math" panose="02040503050406030204" pitchFamily="18" charset="0"/>
                            <a:ea typeface="宋体" panose="02010600030101010101" pitchFamily="2" charset="-122"/>
                          </a:rPr>
                          <m:t>𝑘</m:t>
                        </m:r>
                      </m:sub>
                    </m:sSub>
                  </m:oMath>
                </a14:m>
                <a:r>
                  <a:rPr lang="zh-CN" altLang="zh-CN" sz="2400" kern="100" dirty="0">
                    <a:latin typeface="宋体" panose="02010600030101010101" pitchFamily="2" charset="-122"/>
                    <a:ea typeface="宋体" panose="02010600030101010101" pitchFamily="2" charset="-122"/>
                  </a:rPr>
                  <a:t>称为校正矩阵。只要构造了</a:t>
                </a:r>
                <a14:m>
                  <m:oMath xmlns:m="http://schemas.openxmlformats.org/officeDocument/2006/math">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𝐴</m:t>
                        </m:r>
                      </m:e>
                      <m:sub>
                        <m:r>
                          <a:rPr lang="en-US" altLang="zh-CN" sz="2400" i="1" kern="100">
                            <a:latin typeface="Cambria Math" panose="02040503050406030204" pitchFamily="18" charset="0"/>
                            <a:ea typeface="宋体" panose="02010600030101010101" pitchFamily="2" charset="-122"/>
                          </a:rPr>
                          <m:t>𝑘</m:t>
                        </m:r>
                      </m:sub>
                    </m:sSub>
                  </m:oMath>
                </a14:m>
                <a:r>
                  <a:rPr lang="zh-CN" altLang="zh-CN" sz="2400" kern="100" dirty="0">
                    <a:latin typeface="宋体" panose="02010600030101010101" pitchFamily="2" charset="-122"/>
                    <a:ea typeface="宋体" panose="02010600030101010101" pitchFamily="2" charset="-122"/>
                  </a:rPr>
                  <a:t>，就构造了</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𝐴</m:t>
                        </m:r>
                      </m:e>
                      <m:sub>
                        <m:r>
                          <a:rPr lang="en-US" altLang="zh-CN" sz="2400" i="1" kern="100">
                            <a:latin typeface="Cambria Math" panose="02040503050406030204" pitchFamily="18" charset="0"/>
                            <a:ea typeface="宋体" panose="02010600030101010101" pitchFamily="2" charset="-122"/>
                          </a:rPr>
                          <m:t>𝑘</m:t>
                        </m:r>
                        <m:r>
                          <a:rPr lang="en-US" altLang="zh-CN" sz="2400" i="1" kern="100">
                            <a:latin typeface="Cambria Math" panose="02040503050406030204" pitchFamily="18" charset="0"/>
                            <a:ea typeface="宋体" panose="02010600030101010101" pitchFamily="2" charset="-122"/>
                          </a:rPr>
                          <m:t>+1</m:t>
                        </m:r>
                      </m:sub>
                    </m:sSub>
                    <m:r>
                      <a:rPr lang="en-US" altLang="zh-CN" sz="2400" i="1" kern="100">
                        <a:latin typeface="Cambria Math" panose="02040503050406030204" pitchFamily="18" charset="0"/>
                        <a:ea typeface="宋体" panose="02010600030101010101" pitchFamily="2" charset="-122"/>
                      </a:rPr>
                      <m:t> </m:t>
                    </m:r>
                  </m:oMath>
                </a14:m>
                <a:r>
                  <a:rPr lang="zh-CN" altLang="zh-CN" sz="2400" kern="100" dirty="0">
                    <a:latin typeface="宋体" panose="02010600030101010101" pitchFamily="2" charset="-122"/>
                    <a:ea typeface="宋体" panose="02010600030101010101" pitchFamily="2" charset="-122"/>
                  </a:rPr>
                  <a:t>。</a:t>
                </a:r>
              </a:p>
            </p:txBody>
          </p:sp>
        </mc:Choice>
        <mc:Fallback xmlns="">
          <p:sp>
            <p:nvSpPr>
              <p:cNvPr id="5" name="文本框 4">
                <a:extLst>
                  <a:ext uri="{FF2B5EF4-FFF2-40B4-BE49-F238E27FC236}">
                    <a16:creationId xmlns:a16="http://schemas.microsoft.com/office/drawing/2014/main" id="{60A5D1D6-E002-9CBE-9488-C187A3F4F3A3}"/>
                  </a:ext>
                </a:extLst>
              </p:cNvPr>
              <p:cNvSpPr txBox="1">
                <a:spLocks noRot="1" noChangeAspect="1" noMove="1" noResize="1" noEditPoints="1" noAdjustHandles="1" noChangeArrowheads="1" noChangeShapeType="1" noTextEdit="1"/>
              </p:cNvSpPr>
              <p:nvPr/>
            </p:nvSpPr>
            <p:spPr>
              <a:xfrm>
                <a:off x="755576" y="1196752"/>
                <a:ext cx="7506834" cy="2789290"/>
              </a:xfrm>
              <a:prstGeom prst="rect">
                <a:avLst/>
              </a:prstGeom>
              <a:blipFill>
                <a:blip r:embed="rId2"/>
                <a:stretch>
                  <a:fillRect l="-1300" r="-1219" b="-3493"/>
                </a:stretch>
              </a:blipFill>
            </p:spPr>
            <p:txBody>
              <a:bodyPr/>
              <a:lstStyle/>
              <a:p>
                <a:r>
                  <a:rPr lang="zh-CN" altLang="en-US">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0" name="文本框 9"/>
              <p:cNvSpPr txBox="1"/>
              <p:nvPr/>
            </p:nvSpPr>
            <p:spPr>
              <a:xfrm>
                <a:off x="376952" y="514452"/>
                <a:ext cx="8390096" cy="6121997"/>
              </a:xfrm>
              <a:prstGeom prst="rect">
                <a:avLst/>
              </a:prstGeom>
              <a:noFill/>
            </p:spPr>
            <p:txBody>
              <a:bodyPr wrap="square" rtlCol="0">
                <a:spAutoFit/>
              </a:bodyPr>
              <a:lstStyle/>
              <a:p>
                <a:pPr algn="just">
                  <a:lnSpc>
                    <a:spcPct val="150000"/>
                  </a:lnSpc>
                </a:pPr>
                <a:r>
                  <a:rPr lang="zh-CN" altLang="en-US" sz="2400" b="1" dirty="0">
                    <a:solidFill>
                      <a:srgbClr val="FF0000"/>
                    </a:solidFill>
                    <a:latin typeface="宋体" panose="02010600030101010101" pitchFamily="2" charset="-122"/>
                    <a:ea typeface="宋体" panose="02010600030101010101" pitchFamily="2" charset="-122"/>
                  </a:rPr>
                  <a:t>拟牛顿条件</a:t>
                </a:r>
              </a:p>
              <a:p>
                <a:pPr algn="just" latinLnBrk="0">
                  <a:lnSpc>
                    <a:spcPct val="150000"/>
                  </a:lnSpc>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当</a:t>
                </a: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d>
                  </m:oMath>
                </a14:m>
                <a:r>
                  <a:rPr lang="zh-CN" altLang="en-US" sz="2400" dirty="0">
                    <a:latin typeface="宋体" panose="02010600030101010101" pitchFamily="2" charset="-122"/>
                    <a:ea typeface="宋体" panose="02010600030101010101" pitchFamily="2" charset="-122"/>
                  </a:rPr>
                  <a:t>是二次函数时，其海赛矩阵为常数阵</a:t>
                </a:r>
                <a14:m>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𝐴</m:t>
                    </m:r>
                  </m:oMath>
                </a14:m>
                <a:r>
                  <a:rPr lang="zh-CN" altLang="en-US" sz="2400" dirty="0">
                    <a:latin typeface="宋体" panose="02010600030101010101" pitchFamily="2" charset="-122"/>
                    <a:ea typeface="宋体" panose="02010600030101010101" pitchFamily="2" charset="-122"/>
                  </a:rPr>
                  <a:t>，任两点</a:t>
                </a:r>
                <a14:m>
                  <m:oMath xmlns:m="http://schemas.openxmlformats.org/officeDocument/2006/math">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e>
                        </m:d>
                      </m:sup>
                    </m:sSup>
                  </m:oMath>
                </a14:m>
                <a:r>
                  <a:rPr lang="zh-CN" altLang="en-US" sz="2400" dirty="0">
                    <a:latin typeface="宋体" panose="02010600030101010101" pitchFamily="2" charset="-122"/>
                    <a:ea typeface="宋体" panose="02010600030101010101" pitchFamily="2" charset="-122"/>
                  </a:rPr>
                  <a:t>和</a:t>
                </a:r>
                <a14:m>
                  <m:oMath xmlns:m="http://schemas.openxmlformats.org/officeDocument/2006/math">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r>
                              <a:rPr lang="en-US" altLang="zh-CN" sz="2400" i="1">
                                <a:latin typeface="Cambria Math" panose="02040503050406030204" pitchFamily="18" charset="0"/>
                                <a:ea typeface="宋体" panose="02010600030101010101" pitchFamily="2" charset="-122"/>
                                <a:cs typeface="Cambria Math" panose="02040503050406030204" pitchFamily="18" charset="0"/>
                              </a:rPr>
                              <m:t>+1</m:t>
                            </m:r>
                          </m:e>
                        </m:d>
                      </m:sup>
                    </m:sSup>
                  </m:oMath>
                </a14:m>
                <a:r>
                  <a:rPr lang="zh-CN" altLang="en-US" sz="2400" dirty="0">
                    <a:latin typeface="宋体" panose="02010600030101010101" pitchFamily="2" charset="-122"/>
                    <a:ea typeface="宋体" panose="02010600030101010101" pitchFamily="2" charset="-122"/>
                  </a:rPr>
                  <a:t>处的梯度之差为</a:t>
                </a:r>
              </a:p>
              <a:p>
                <a:pPr algn="just" latinLnBrk="0">
                  <a:lnSpc>
                    <a:spcPct val="150000"/>
                  </a:lnSpc>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r>
                                    <a:rPr lang="en-US" altLang="zh-CN" sz="2400" i="1">
                                      <a:latin typeface="Cambria Math" panose="02040503050406030204" pitchFamily="18" charset="0"/>
                                      <a:ea typeface="宋体" panose="02010600030101010101" pitchFamily="2" charset="-122"/>
                                      <a:cs typeface="Cambria Math" panose="02040503050406030204" pitchFamily="18" charset="0"/>
                                    </a:rPr>
                                    <m:t>+1</m:t>
                                  </m:r>
                                </m:e>
                              </m:d>
                            </m:sup>
                          </m:sSup>
                        </m:e>
                      </m:d>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e>
                              </m:d>
                            </m:sup>
                          </m:sSup>
                        </m:e>
                      </m:d>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𝐴</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r>
                                    <a:rPr lang="en-US" altLang="zh-CN" sz="2400" i="1">
                                      <a:latin typeface="Cambria Math" panose="02040503050406030204" pitchFamily="18" charset="0"/>
                                      <a:ea typeface="宋体" panose="02010600030101010101" pitchFamily="2" charset="-122"/>
                                      <a:cs typeface="Cambria Math" panose="02040503050406030204" pitchFamily="18" charset="0"/>
                                    </a:rPr>
                                    <m:t>+1</m:t>
                                  </m:r>
                                </m:e>
                              </m:d>
                            </m:sup>
                          </m:s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e>
                              </m:d>
                            </m:sup>
                          </m:sSup>
                        </m:e>
                      </m:d>
                    </m:oMath>
                  </m:oMathPara>
                </a14:m>
                <a:endParaRPr lang="en-US" altLang="zh-CN" sz="2400" i="1" dirty="0">
                  <a:latin typeface="Cambria Math" panose="02040503050406030204" pitchFamily="18" charset="0"/>
                  <a:ea typeface="宋体" panose="02010600030101010101" pitchFamily="2" charset="-122"/>
                  <a:cs typeface="Cambria Math" panose="02040503050406030204" pitchFamily="18" charset="0"/>
                </a:endParaRPr>
              </a:p>
              <a:p>
                <a:pPr algn="just" latinLnBrk="0">
                  <a:lnSpc>
                    <a:spcPct val="150000"/>
                  </a:lnSpc>
                </a:pPr>
                <a:r>
                  <a:rPr lang="zh-CN" altLang="en-US" sz="2400" dirty="0">
                    <a:latin typeface="宋体" panose="02010600030101010101" pitchFamily="2" charset="-122"/>
                    <a:ea typeface="宋体" panose="02010600030101010101" pitchFamily="2" charset="-122"/>
                  </a:rPr>
                  <a:t>或</a:t>
                </a:r>
              </a:p>
              <a:p>
                <a:pPr algn="just" latinLnBrk="0">
                  <a:lnSpc>
                    <a:spcPct val="150000"/>
                  </a:lnSpc>
                </a:pPr>
                <a14:m>
                  <m:oMathPara xmlns:m="http://schemas.openxmlformats.org/officeDocument/2006/math">
                    <m:oMathParaPr>
                      <m:jc m:val="centerGroup"/>
                    </m:oMathParaPr>
                    <m:oMath xmlns:m="http://schemas.openxmlformats.org/officeDocument/2006/math">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r>
                                <a:rPr lang="en-US" altLang="zh-CN" sz="2400" i="1">
                                  <a:latin typeface="Cambria Math" panose="02040503050406030204" pitchFamily="18" charset="0"/>
                                  <a:ea typeface="宋体" panose="02010600030101010101" pitchFamily="2" charset="-122"/>
                                  <a:cs typeface="Cambria Math" panose="02040503050406030204" pitchFamily="18" charset="0"/>
                                </a:rPr>
                                <m:t>+1</m:t>
                              </m:r>
                            </m:e>
                          </m:d>
                        </m:sup>
                      </m:s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e>
                          </m:d>
                        </m:sup>
                      </m:s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𝐴</m:t>
                          </m:r>
                        </m:e>
                        <m:sup>
                          <m:r>
                            <a:rPr lang="en-US" altLang="zh-CN" sz="2400" i="1">
                              <a:latin typeface="Cambria Math" panose="02040503050406030204" pitchFamily="18" charset="0"/>
                              <a:ea typeface="宋体" panose="02010600030101010101" pitchFamily="2" charset="-122"/>
                              <a:cs typeface="Cambria Math" panose="02040503050406030204" pitchFamily="18" charset="0"/>
                            </a:rPr>
                            <m:t>−1</m:t>
                          </m:r>
                        </m:sup>
                      </m:sSup>
                      <m:d>
                        <m:dPr>
                          <m:begChr m:val="["/>
                          <m:endChr m:val="]"/>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r>
                                        <a:rPr lang="en-US" altLang="zh-CN" sz="2400" i="1">
                                          <a:latin typeface="Cambria Math" panose="02040503050406030204" pitchFamily="18" charset="0"/>
                                          <a:ea typeface="宋体" panose="02010600030101010101" pitchFamily="2" charset="-122"/>
                                          <a:cs typeface="Cambria Math" panose="02040503050406030204" pitchFamily="18" charset="0"/>
                                        </a:rPr>
                                        <m:t>+1</m:t>
                                      </m:r>
                                    </m:e>
                                  </m:d>
                                </m:sup>
                              </m:sSup>
                            </m:e>
                          </m:d>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e>
                                  </m:d>
                                </m:sup>
                              </m:sSup>
                            </m:e>
                          </m:d>
                        </m:e>
                      </m:d>
                    </m:oMath>
                  </m:oMathPara>
                </a14:m>
                <a:endParaRPr lang="en-US" altLang="zh-CN" sz="2400" i="1" dirty="0">
                  <a:latin typeface="Cambria Math" panose="02040503050406030204" pitchFamily="18" charset="0"/>
                  <a:ea typeface="宋体" panose="02010600030101010101" pitchFamily="2" charset="-122"/>
                  <a:cs typeface="Cambria Math" panose="02040503050406030204" pitchFamily="18" charset="0"/>
                </a:endParaRPr>
              </a:p>
              <a:p>
                <a:pPr algn="just" latinLnBrk="0">
                  <a:lnSpc>
                    <a:spcPct val="150000"/>
                  </a:lnSpc>
                </a:pPr>
                <a:r>
                  <a:rPr lang="zh-CN" altLang="en-US" sz="2400" dirty="0">
                    <a:latin typeface="宋体" panose="02010600030101010101" pitchFamily="2" charset="-122"/>
                    <a:ea typeface="宋体" panose="02010600030101010101" pitchFamily="2" charset="-122"/>
                  </a:rPr>
                  <a:t>    对于非二次函数，若已知</a:t>
                </a:r>
                <a14:m>
                  <m:oMath xmlns:m="http://schemas.openxmlformats.org/officeDocument/2006/math">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𝑥</m:t>
                        </m:r>
                      </m:e>
                      <m:sup>
                        <m:d>
                          <m:dPr>
                            <m:ctrlPr>
                              <a:rPr lang="en-US" altLang="zh-CN" sz="2400" i="1">
                                <a:latin typeface="Cambria Math" panose="02040503050406030204" pitchFamily="18" charset="0"/>
                                <a:cs typeface="Cambria Math" panose="02040503050406030204" pitchFamily="18" charset="0"/>
                              </a:rPr>
                            </m:ctrlPr>
                          </m:dPr>
                          <m:e>
                            <m:r>
                              <a:rPr lang="en-US" altLang="zh-CN" sz="2400" i="1">
                                <a:latin typeface="Cambria Math" panose="02040503050406030204" pitchFamily="18" charset="0"/>
                                <a:cs typeface="Cambria Math" panose="02040503050406030204" pitchFamily="18" charset="0"/>
                              </a:rPr>
                              <m:t>𝑘</m:t>
                            </m:r>
                            <m:r>
                              <a:rPr lang="en-US" altLang="zh-CN" sz="2400" i="1">
                                <a:latin typeface="Cambria Math" panose="02040503050406030204" pitchFamily="18" charset="0"/>
                                <a:cs typeface="Cambria Math" panose="02040503050406030204" pitchFamily="18" charset="0"/>
                              </a:rPr>
                              <m:t>+1</m:t>
                            </m:r>
                          </m:e>
                        </m:d>
                      </m:sup>
                    </m:sSup>
                    <m:r>
                      <a:rPr lang="en-US" altLang="zh-CN" sz="2400" b="0" i="1" smtClean="0">
                        <a:latin typeface="Cambria Math" panose="02040503050406030204" pitchFamily="18" charset="0"/>
                        <a:cs typeface="Cambria Math" panose="02040503050406030204" pitchFamily="18" charset="0"/>
                      </a:rPr>
                      <m:t> </m:t>
                    </m:r>
                    <m:r>
                      <a:rPr lang="zh-CN" altLang="en-US" sz="2400" i="1">
                        <a:latin typeface="Cambria Math" panose="02040503050406030204" pitchFamily="18" charset="0"/>
                        <a:cs typeface="Cambria Math" panose="02040503050406030204" pitchFamily="18" charset="0"/>
                      </a:rPr>
                      <m:t>处</m:t>
                    </m:r>
                  </m:oMath>
                </a14:m>
                <a:r>
                  <a:rPr lang="zh-CN" altLang="en-US" sz="2400" dirty="0">
                    <a:latin typeface="宋体" panose="02010600030101010101" pitchFamily="2" charset="-122"/>
                    <a:ea typeface="宋体" panose="02010600030101010101" pitchFamily="2" charset="-122"/>
                  </a:rPr>
                  <a:t>的一阶和二阶信息，可以对</a:t>
                </a:r>
                <a14:m>
                  <m:oMath xmlns:m="http://schemas.openxmlformats.org/officeDocument/2006/math">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𝑓</m:t>
                    </m:r>
                    <m:d>
                      <m:dPr>
                        <m:ctrlPr>
                          <a:rPr lang="en-US" altLang="zh-CN" sz="2400" i="1">
                            <a:latin typeface="Cambria Math" panose="02040503050406030204" pitchFamily="18" charset="0"/>
                            <a:cs typeface="Cambria Math" panose="02040503050406030204" pitchFamily="18" charset="0"/>
                          </a:rPr>
                        </m:ctrlPr>
                      </m:dPr>
                      <m:e>
                        <m:r>
                          <m:rPr>
                            <m:sty m:val="p"/>
                          </m:rPr>
                          <a:rPr lang="en-US" altLang="zh-CN" sz="2400" i="1">
                            <a:latin typeface="Cambria Math" panose="02040503050406030204" pitchFamily="18" charset="0"/>
                            <a:cs typeface="Cambria Math" panose="02040503050406030204" pitchFamily="18" charset="0"/>
                          </a:rPr>
                          <m:t>x</m:t>
                        </m:r>
                      </m:e>
                    </m:d>
                    <m:r>
                      <a:rPr lang="zh-CN" altLang="en-US" sz="2400" i="1">
                        <a:latin typeface="Cambria Math" panose="02040503050406030204" pitchFamily="18" charset="0"/>
                        <a:cs typeface="Cambria Math" panose="02040503050406030204" pitchFamily="18" charset="0"/>
                      </a:rPr>
                      <m:t>进行</m:t>
                    </m:r>
                  </m:oMath>
                </a14:m>
                <a:r>
                  <a:rPr lang="zh-CN" altLang="en-US" sz="2400" dirty="0">
                    <a:latin typeface="宋体" panose="02010600030101010101" pitchFamily="2" charset="-122"/>
                    <a:ea typeface="宋体" panose="02010600030101010101" pitchFamily="2" charset="-122"/>
                  </a:rPr>
                  <a:t>泰勒展开</a:t>
                </a:r>
                <a:endParaRPr lang="en-US" altLang="zh-CN" sz="2400" dirty="0">
                  <a:latin typeface="宋体" panose="02010600030101010101" pitchFamily="2" charset="-122"/>
                  <a:ea typeface="宋体" panose="02010600030101010101" pitchFamily="2" charset="-122"/>
                </a:endParaRPr>
              </a:p>
              <a:p>
                <a:pPr algn="just" latinLnBrk="0">
                  <a:lnSpc>
                    <a:spcPct val="150000"/>
                  </a:lnSpc>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𝑓</m:t>
                      </m:r>
                      <m:d>
                        <m:dPr>
                          <m:ctrlPr>
                            <a:rPr lang="en-US" altLang="zh-CN" sz="2400" i="1">
                              <a:latin typeface="Cambria Math" panose="02040503050406030204" pitchFamily="18" charset="0"/>
                              <a:cs typeface="Cambria Math" panose="02040503050406030204" pitchFamily="18" charset="0"/>
                            </a:rPr>
                          </m:ctrlPr>
                        </m:dPr>
                        <m:e>
                          <m:r>
                            <m:rPr>
                              <m:sty m:val="p"/>
                            </m:rPr>
                            <a:rPr lang="en-US" altLang="zh-CN" sz="2400" i="1">
                              <a:latin typeface="Cambria Math" panose="02040503050406030204" pitchFamily="18" charset="0"/>
                              <a:cs typeface="Cambria Math" panose="02040503050406030204" pitchFamily="18" charset="0"/>
                            </a:rPr>
                            <m:t>x</m:t>
                          </m:r>
                        </m:e>
                      </m:d>
                      <m:r>
                        <a:rPr lang="en-US" altLang="zh-CN" sz="2400" b="0" i="1" smtClean="0">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m:t>
                      </m:r>
                      <m:r>
                        <a:rPr lang="en-US" altLang="zh-CN" sz="2400" i="1">
                          <a:latin typeface="Cambria Math" panose="02040503050406030204" pitchFamily="18" charset="0"/>
                          <a:cs typeface="Cambria Math" panose="02040503050406030204" pitchFamily="18" charset="0"/>
                        </a:rPr>
                        <m:t>𝑓</m:t>
                      </m:r>
                      <m:d>
                        <m:dPr>
                          <m:ctrlPr>
                            <a:rPr lang="en-US" altLang="zh-CN" sz="2400" i="1">
                              <a:latin typeface="Cambria Math" panose="02040503050406030204" pitchFamily="18" charset="0"/>
                              <a:cs typeface="Cambria Math" panose="02040503050406030204" pitchFamily="18" charset="0"/>
                            </a:rPr>
                          </m:ctrlPr>
                        </m:dPr>
                        <m:e>
                          <m:sSup>
                            <m:sSupPr>
                              <m:ctrlPr>
                                <a:rPr lang="en-US" altLang="zh-CN"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𝑥</m:t>
                              </m:r>
                            </m:e>
                            <m:sup>
                              <m:d>
                                <m:dPr>
                                  <m:ctrlPr>
                                    <a:rPr lang="en-US" altLang="zh-CN" sz="2400" i="1">
                                      <a:latin typeface="Cambria Math" panose="02040503050406030204" pitchFamily="18" charset="0"/>
                                      <a:cs typeface="Cambria Math" panose="02040503050406030204" pitchFamily="18" charset="0"/>
                                    </a:rPr>
                                  </m:ctrlPr>
                                </m:dPr>
                                <m:e>
                                  <m:r>
                                    <a:rPr lang="en-US" altLang="zh-CN" sz="2400" i="1">
                                      <a:latin typeface="Cambria Math" panose="02040503050406030204" pitchFamily="18" charset="0"/>
                                      <a:cs typeface="Cambria Math" panose="02040503050406030204" pitchFamily="18" charset="0"/>
                                    </a:rPr>
                                    <m:t>𝑘</m:t>
                                  </m:r>
                                  <m:r>
                                    <a:rPr lang="en-US" altLang="zh-CN" sz="2400" b="0" i="1" smtClean="0">
                                      <a:latin typeface="Cambria Math" panose="02040503050406030204" pitchFamily="18" charset="0"/>
                                      <a:cs typeface="Cambria Math" panose="02040503050406030204" pitchFamily="18" charset="0"/>
                                    </a:rPr>
                                    <m:t>+1</m:t>
                                  </m:r>
                                </m:e>
                              </m:d>
                            </m:sup>
                          </m:sSup>
                        </m:e>
                      </m:d>
                      <m:r>
                        <a:rPr lang="en-US" altLang="zh-CN" sz="2400" b="0" i="1" smtClean="0">
                          <a:latin typeface="Cambria Math" panose="02040503050406030204" pitchFamily="18" charset="0"/>
                          <a:cs typeface="Cambria Math" panose="02040503050406030204" pitchFamily="18" charset="0"/>
                        </a:rPr>
                        <m:t>+</m:t>
                      </m:r>
                      <m:sSup>
                        <m:sSupPr>
                          <m:ctrlPr>
                            <a:rPr lang="en-US" altLang="zh-CN" sz="2400" i="1">
                              <a:latin typeface="Cambria Math" panose="02040503050406030204" pitchFamily="18" charset="0"/>
                            </a:rPr>
                          </m:ctrlPr>
                        </m:sSupPr>
                        <m:e>
                          <m:r>
                            <m:rPr>
                              <m:sty m:val="p"/>
                            </m:rPr>
                            <a:rPr lang="en-US" altLang="zh-CN" sz="2400" i="1">
                              <a:latin typeface="Cambria Math" panose="02040503050406030204" pitchFamily="18" charset="0"/>
                              <a:ea typeface="Cambria Math" panose="02040503050406030204" pitchFamily="18" charset="0"/>
                            </a:rPr>
                            <m:t>∇</m:t>
                          </m:r>
                        </m:e>
                        <m:sup>
                          <m:r>
                            <a:rPr lang="en-US" altLang="zh-CN" sz="2400" i="1">
                              <a:latin typeface="Cambria Math" panose="02040503050406030204" pitchFamily="18" charset="0"/>
                            </a:rPr>
                            <m:t>2</m:t>
                          </m:r>
                        </m:sup>
                      </m:sSup>
                      <m:r>
                        <a:rPr lang="en-US" altLang="zh-CN" sz="2400" i="1">
                          <a:latin typeface="Cambria Math" panose="02040503050406030204" pitchFamily="18" charset="0"/>
                        </a:rPr>
                        <m:t>𝑓</m:t>
                      </m:r>
                      <m:d>
                        <m:dPr>
                          <m:ctrlPr>
                            <a:rPr lang="en-US" altLang="zh-CN" sz="2400" i="1">
                              <a:latin typeface="Cambria Math" panose="02040503050406030204" pitchFamily="18" charset="0"/>
                            </a:rPr>
                          </m:ctrlPr>
                        </m:dPr>
                        <m:e>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𝑘</m:t>
                                  </m:r>
                                  <m:r>
                                    <a:rPr lang="en-US" altLang="zh-CN" sz="2400" b="0" i="1" smtClean="0">
                                      <a:latin typeface="Cambria Math" panose="02040503050406030204" pitchFamily="18" charset="0"/>
                                    </a:rPr>
                                    <m:t>+1</m:t>
                                  </m:r>
                                </m:e>
                              </m:d>
                            </m:sup>
                          </m:sSup>
                        </m:e>
                      </m:d>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𝑘</m:t>
                                  </m:r>
                                  <m:r>
                                    <a:rPr lang="en-US" altLang="zh-CN" sz="2400" i="1">
                                      <a:latin typeface="Cambria Math" panose="02040503050406030204" pitchFamily="18" charset="0"/>
                                    </a:rPr>
                                    <m:t>+1</m:t>
                                  </m:r>
                                </m:e>
                              </m:d>
                            </m:sup>
                          </m:sSup>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𝑂</m:t>
                      </m:r>
                      <m:r>
                        <a:rPr lang="en-US" altLang="zh-CN" sz="2400" b="0" i="1" smtClean="0">
                          <a:latin typeface="Cambria Math" panose="02040503050406030204" pitchFamily="18" charset="0"/>
                        </a:rPr>
                        <m:t>(</m:t>
                      </m:r>
                      <m:sSubSup>
                        <m:sSubSupPr>
                          <m:ctrlPr>
                            <a:rPr lang="en-US" altLang="zh-CN" sz="2400" b="0" i="1" smtClean="0">
                              <a:latin typeface="Cambria Math" panose="02040503050406030204" pitchFamily="18" charset="0"/>
                            </a:rPr>
                          </m:ctrlPr>
                        </m:sSubSupPr>
                        <m:e>
                          <m:d>
                            <m:dPr>
                              <m:begChr m:val="‖"/>
                              <m:endChr m:val="‖"/>
                              <m:ctrlPr>
                                <a:rPr lang="zh-CN" altLang="zh-CN" sz="2400" i="1">
                                  <a:latin typeface="Cambria Math" panose="02040503050406030204" pitchFamily="18" charset="0"/>
                                </a:rPr>
                              </m:ctrlPr>
                            </m:dPr>
                            <m:e>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𝑘</m:t>
                                      </m:r>
                                      <m:r>
                                        <a:rPr lang="en-US" altLang="zh-CN" sz="2400" i="1">
                                          <a:latin typeface="Cambria Math" panose="02040503050406030204" pitchFamily="18" charset="0"/>
                                        </a:rPr>
                                        <m:t>+1</m:t>
                                      </m:r>
                                    </m:e>
                                  </m:d>
                                </m:sup>
                              </m:sSup>
                            </m:e>
                          </m:d>
                        </m:e>
                        <m:sub>
                          <m:r>
                            <a:rPr lang="en-US" altLang="zh-CN" sz="2400">
                              <a:latin typeface="Cambria Math" panose="02040503050406030204" pitchFamily="18" charset="0"/>
                            </a:rPr>
                            <m:t>2</m:t>
                          </m:r>
                        </m:sub>
                        <m:sup>
                          <m:r>
                            <a:rPr lang="en-US" altLang="zh-CN" sz="2400" b="0" i="1" smtClean="0">
                              <a:latin typeface="Cambria Math" panose="02040503050406030204" pitchFamily="18" charset="0"/>
                            </a:rPr>
                            <m:t>2</m:t>
                          </m:r>
                        </m:sup>
                      </m:sSubSup>
                      <m:r>
                        <a:rPr lang="en-US" altLang="zh-CN" sz="2400" b="0" i="1" smtClean="0">
                          <a:latin typeface="Cambria Math" panose="02040503050406030204" pitchFamily="18" charset="0"/>
                        </a:rPr>
                        <m:t>)</m:t>
                      </m:r>
                    </m:oMath>
                  </m:oMathPara>
                </a14:m>
                <a:endParaRPr lang="en-US" altLang="zh-CN" sz="2400" dirty="0">
                  <a:latin typeface="宋体" panose="02010600030101010101" pitchFamily="2" charset="-122"/>
                  <a:ea typeface="宋体" panose="02010600030101010101" pitchFamily="2" charset="-122"/>
                </a:endParaRPr>
              </a:p>
            </p:txBody>
          </p:sp>
        </mc:Choice>
        <mc:Fallback>
          <p:sp>
            <p:nvSpPr>
              <p:cNvPr id="10" name="文本框 9"/>
              <p:cNvSpPr txBox="1">
                <a:spLocks noRot="1" noChangeAspect="1" noMove="1" noResize="1" noEditPoints="1" noAdjustHandles="1" noChangeArrowheads="1" noChangeShapeType="1" noTextEdit="1"/>
              </p:cNvSpPr>
              <p:nvPr/>
            </p:nvSpPr>
            <p:spPr>
              <a:xfrm>
                <a:off x="376952" y="514452"/>
                <a:ext cx="8390096" cy="6121997"/>
              </a:xfrm>
              <a:prstGeom prst="rect">
                <a:avLst/>
              </a:prstGeom>
              <a:blipFill>
                <a:blip r:embed="rId2"/>
                <a:stretch>
                  <a:fillRect l="-1163" r="-10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816601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8CA213-2CDF-3509-9FC9-B59C3FD60C98}"/>
              </a:ext>
            </a:extLst>
          </p:cNvPr>
          <p:cNvSpPr>
            <a:spLocks noGrp="1"/>
          </p:cNvSpPr>
          <p:nvPr>
            <p:ph type="title"/>
          </p:nvPr>
        </p:nvSpPr>
        <p:spPr/>
        <p:txBody>
          <a:bodyPr/>
          <a:lstStyle/>
          <a:p>
            <a:endParaRPr lang="zh-CN" altLang="en-US"/>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0FCE67F3-8902-A0BA-0252-6601E91644EA}"/>
                  </a:ext>
                </a:extLst>
              </p:cNvPr>
              <p:cNvSpPr>
                <a:spLocks noGrp="1"/>
              </p:cNvSpPr>
              <p:nvPr>
                <p:ph idx="1"/>
              </p:nvPr>
            </p:nvSpPr>
            <p:spPr/>
            <p:txBody>
              <a:bodyPr/>
              <a:lstStyle/>
              <a:p>
                <a:pPr algn="just" latinLnBrk="0">
                  <a:lnSpc>
                    <a:spcPct val="150000"/>
                  </a:lnSpc>
                </a:pPr>
                <a:r>
                  <a:rPr lang="zh-CN" altLang="en-US" dirty="0">
                    <a:latin typeface="宋体" panose="02010600030101010101" pitchFamily="2" charset="-122"/>
                    <a:ea typeface="宋体" panose="02010600030101010101" pitchFamily="2" charset="-122"/>
                  </a:rPr>
                  <a:t>类似于二次函数的情形，令</a:t>
                </a:r>
                <a14:m>
                  <m:oMath xmlns:m="http://schemas.openxmlformats.org/officeDocument/2006/math">
                    <m:sSup>
                      <m:sSupPr>
                        <m:ctrlPr>
                          <a:rPr lang="en-US" altLang="zh-CN" i="1">
                            <a:latin typeface="Cambria Math" panose="02040503050406030204" pitchFamily="18" charset="0"/>
                            <a:ea typeface="宋体" panose="02010600030101010101" pitchFamily="2" charset="-122"/>
                            <a:cs typeface="Cambria Math" panose="02040503050406030204" pitchFamily="18" charset="0"/>
                          </a:rPr>
                        </m:ctrlPr>
                      </m:sSupPr>
                      <m:e>
                        <m:r>
                          <m:rPr>
                            <m:sty m:val="p"/>
                          </m:rPr>
                          <a:rPr lang="en-US" altLang="zh-CN" i="1" smtClean="0">
                            <a:latin typeface="Cambria Math" panose="02040503050406030204" pitchFamily="18" charset="0"/>
                            <a:ea typeface="宋体" panose="02010600030101010101" pitchFamily="2" charset="-122"/>
                            <a:cs typeface="Cambria Math" panose="02040503050406030204" pitchFamily="18" charset="0"/>
                          </a:rPr>
                          <m:t>x</m:t>
                        </m:r>
                        <m:r>
                          <a:rPr lang="en-US" altLang="zh-CN" b="0" i="1" smtClean="0">
                            <a:latin typeface="Cambria Math" panose="02040503050406030204" pitchFamily="18" charset="0"/>
                            <a:ea typeface="宋体" panose="02010600030101010101" pitchFamily="2" charset="-122"/>
                            <a:cs typeface="Cambria Math" panose="02040503050406030204" pitchFamily="18" charset="0"/>
                          </a:rPr>
                          <m:t>=</m:t>
                        </m:r>
                        <m:r>
                          <a:rPr lang="en-US" altLang="zh-CN"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i="1">
                                <a:latin typeface="Cambria Math" panose="02040503050406030204" pitchFamily="18" charset="0"/>
                                <a:ea typeface="宋体" panose="02010600030101010101" pitchFamily="2" charset="-122"/>
                                <a:cs typeface="Cambria Math" panose="02040503050406030204" pitchFamily="18" charset="0"/>
                              </a:rPr>
                            </m:ctrlPr>
                          </m:dPr>
                          <m:e>
                            <m:r>
                              <a:rPr lang="en-US" altLang="zh-CN" i="1">
                                <a:latin typeface="Cambria Math" panose="02040503050406030204" pitchFamily="18" charset="0"/>
                                <a:ea typeface="宋体" panose="02010600030101010101" pitchFamily="2" charset="-122"/>
                                <a:cs typeface="Cambria Math" panose="02040503050406030204" pitchFamily="18" charset="0"/>
                              </a:rPr>
                              <m:t>𝑘</m:t>
                            </m:r>
                          </m:e>
                        </m:d>
                      </m:sup>
                    </m:sSup>
                  </m:oMath>
                </a14:m>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要求其海赛矩阵的逆阵的第</a:t>
                </a:r>
                <a14:m>
                  <m:oMath xmlns:m="http://schemas.openxmlformats.org/officeDocument/2006/math">
                    <m:r>
                      <a:rPr lang="en-US" altLang="zh-CN" i="1">
                        <a:latin typeface="Cambria Math" panose="02040503050406030204" pitchFamily="18" charset="0"/>
                        <a:ea typeface="宋体" panose="02010600030101010101" pitchFamily="2" charset="-122"/>
                        <a:cs typeface="Cambria Math" panose="02040503050406030204" pitchFamily="18" charset="0"/>
                      </a:rPr>
                      <m:t>𝑘</m:t>
                    </m:r>
                    <m:r>
                      <a:rPr lang="en-US" altLang="zh-CN" i="1">
                        <a:latin typeface="Cambria Math" panose="02040503050406030204" pitchFamily="18" charset="0"/>
                        <a:ea typeface="宋体" panose="02010600030101010101" pitchFamily="2" charset="-122"/>
                        <a:cs typeface="Cambria Math" panose="02040503050406030204" pitchFamily="18" charset="0"/>
                      </a:rPr>
                      <m:t>+1</m:t>
                    </m:r>
                  </m:oMath>
                </a14:m>
                <a:r>
                  <a:rPr lang="zh-CN" altLang="en-US" dirty="0">
                    <a:latin typeface="宋体" panose="02010600030101010101" pitchFamily="2" charset="-122"/>
                    <a:ea typeface="宋体" panose="02010600030101010101" pitchFamily="2" charset="-122"/>
                  </a:rPr>
                  <a:t>次近似矩阵</a:t>
                </a:r>
                <a14:m>
                  <m:oMath xmlns:m="http://schemas.openxmlformats.org/officeDocument/2006/math">
                    <m:sSub>
                      <m:sSubPr>
                        <m:ctrlPr>
                          <a:rPr lang="en-US" altLang="zh-CN"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i="1">
                            <a:latin typeface="Cambria Math" panose="02040503050406030204" pitchFamily="18" charset="0"/>
                            <a:ea typeface="宋体" panose="02010600030101010101" pitchFamily="2" charset="-122"/>
                            <a:cs typeface="Cambria Math" panose="02040503050406030204" pitchFamily="18" charset="0"/>
                          </a:rPr>
                          <m:t>𝐴</m:t>
                        </m:r>
                      </m:e>
                      <m:sub>
                        <m:r>
                          <a:rPr lang="en-US" altLang="zh-CN" i="1">
                            <a:latin typeface="Cambria Math" panose="02040503050406030204" pitchFamily="18" charset="0"/>
                            <a:ea typeface="宋体" panose="02010600030101010101" pitchFamily="2" charset="-122"/>
                            <a:cs typeface="Cambria Math" panose="02040503050406030204" pitchFamily="18" charset="0"/>
                          </a:rPr>
                          <m:t>𝑘</m:t>
                        </m:r>
                        <m:r>
                          <a:rPr lang="en-US" altLang="zh-CN" i="1">
                            <a:latin typeface="Cambria Math" panose="02040503050406030204" pitchFamily="18" charset="0"/>
                            <a:ea typeface="宋体" panose="02010600030101010101" pitchFamily="2" charset="-122"/>
                            <a:cs typeface="Cambria Math" panose="02040503050406030204" pitchFamily="18" charset="0"/>
                          </a:rPr>
                          <m:t>+1</m:t>
                        </m:r>
                      </m:sub>
                    </m:sSub>
                  </m:oMath>
                </a14:m>
                <a:r>
                  <a:rPr lang="zh-CN" altLang="en-US" dirty="0">
                    <a:latin typeface="宋体" panose="02010600030101010101" pitchFamily="2" charset="-122"/>
                    <a:ea typeface="宋体" panose="02010600030101010101" pitchFamily="2" charset="-122"/>
                  </a:rPr>
                  <a:t>满足关系式</a:t>
                </a:r>
              </a:p>
              <a:p>
                <a:pPr algn="just" latinLnBrk="0">
                  <a:lnSpc>
                    <a:spcPct val="150000"/>
                  </a:lnSpc>
                </a:pPr>
                <a14:m>
                  <m:oMath xmlns:m="http://schemas.openxmlformats.org/officeDocument/2006/math">
                    <m:sSup>
                      <m:sSupPr>
                        <m:ctrlPr>
                          <a:rPr lang="en-US" altLang="zh-CN"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i="1">
                                <a:latin typeface="Cambria Math" panose="02040503050406030204" pitchFamily="18" charset="0"/>
                                <a:ea typeface="宋体" panose="02010600030101010101" pitchFamily="2" charset="-122"/>
                                <a:cs typeface="Cambria Math" panose="02040503050406030204" pitchFamily="18" charset="0"/>
                              </a:rPr>
                            </m:ctrlPr>
                          </m:dPr>
                          <m:e>
                            <m:r>
                              <a:rPr lang="en-US" altLang="zh-CN" i="1">
                                <a:latin typeface="Cambria Math" panose="02040503050406030204" pitchFamily="18" charset="0"/>
                                <a:ea typeface="宋体" panose="02010600030101010101" pitchFamily="2" charset="-122"/>
                                <a:cs typeface="Cambria Math" panose="02040503050406030204" pitchFamily="18" charset="0"/>
                              </a:rPr>
                              <m:t>𝑘</m:t>
                            </m:r>
                            <m:r>
                              <a:rPr lang="en-US" altLang="zh-CN" i="1">
                                <a:latin typeface="Cambria Math" panose="02040503050406030204" pitchFamily="18" charset="0"/>
                                <a:ea typeface="宋体" panose="02010600030101010101" pitchFamily="2" charset="-122"/>
                                <a:cs typeface="Cambria Math" panose="02040503050406030204" pitchFamily="18" charset="0"/>
                              </a:rPr>
                              <m:t>+1</m:t>
                            </m:r>
                          </m:e>
                        </m:d>
                      </m:sup>
                    </m:sSup>
                    <m:r>
                      <a:rPr lang="en-US" altLang="zh-CN"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i="1">
                                <a:latin typeface="Cambria Math" panose="02040503050406030204" pitchFamily="18" charset="0"/>
                                <a:ea typeface="宋体" panose="02010600030101010101" pitchFamily="2" charset="-122"/>
                                <a:cs typeface="Cambria Math" panose="02040503050406030204" pitchFamily="18" charset="0"/>
                              </a:rPr>
                            </m:ctrlPr>
                          </m:dPr>
                          <m:e>
                            <m:r>
                              <a:rPr lang="en-US" altLang="zh-CN" i="1">
                                <a:latin typeface="Cambria Math" panose="02040503050406030204" pitchFamily="18" charset="0"/>
                                <a:ea typeface="宋体" panose="02010600030101010101" pitchFamily="2" charset="-122"/>
                                <a:cs typeface="Cambria Math" panose="02040503050406030204" pitchFamily="18" charset="0"/>
                              </a:rPr>
                              <m:t>𝑘</m:t>
                            </m:r>
                          </m:e>
                        </m:d>
                      </m:sup>
                    </m:sSup>
                    <m:r>
                      <a:rPr lang="en-US" altLang="zh-CN"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i="1">
                            <a:latin typeface="Cambria Math" panose="02040503050406030204" pitchFamily="18" charset="0"/>
                            <a:ea typeface="宋体" panose="02010600030101010101" pitchFamily="2" charset="-122"/>
                            <a:cs typeface="Cambria Math" panose="02040503050406030204" pitchFamily="18" charset="0"/>
                          </a:rPr>
                          <m:t>𝐴</m:t>
                        </m:r>
                      </m:e>
                      <m:sub>
                        <m:r>
                          <a:rPr lang="en-US" altLang="zh-CN" i="1">
                            <a:latin typeface="Cambria Math" panose="02040503050406030204" pitchFamily="18" charset="0"/>
                            <a:ea typeface="宋体" panose="02010600030101010101" pitchFamily="2" charset="-122"/>
                            <a:cs typeface="Cambria Math" panose="02040503050406030204" pitchFamily="18" charset="0"/>
                          </a:rPr>
                          <m:t>𝑘</m:t>
                        </m:r>
                        <m:r>
                          <a:rPr lang="en-US" altLang="zh-CN" i="1">
                            <a:latin typeface="Cambria Math" panose="02040503050406030204" pitchFamily="18" charset="0"/>
                            <a:ea typeface="宋体" panose="02010600030101010101" pitchFamily="2" charset="-122"/>
                            <a:cs typeface="Cambria Math" panose="02040503050406030204" pitchFamily="18" charset="0"/>
                          </a:rPr>
                          <m:t>+1</m:t>
                        </m:r>
                      </m:sub>
                    </m:sSub>
                    <m:d>
                      <m:dPr>
                        <m:begChr m:val="["/>
                        <m:endChr m:val="]"/>
                        <m:ctrlPr>
                          <a:rPr lang="en-US" altLang="zh-CN" i="1">
                            <a:latin typeface="Cambria Math" panose="02040503050406030204" pitchFamily="18" charset="0"/>
                            <a:ea typeface="宋体" panose="02010600030101010101" pitchFamily="2" charset="-122"/>
                            <a:cs typeface="Cambria Math" panose="02040503050406030204" pitchFamily="18" charset="0"/>
                          </a:rPr>
                        </m:ctrlPr>
                      </m:dPr>
                      <m:e>
                        <m:r>
                          <a:rPr lang="en-US" altLang="zh-CN" i="1">
                            <a:latin typeface="Cambria Math" panose="02040503050406030204" pitchFamily="18" charset="0"/>
                            <a:ea typeface="宋体" panose="02010600030101010101" pitchFamily="2" charset="-122"/>
                            <a:cs typeface="Cambria Math" panose="02040503050406030204" pitchFamily="18" charset="0"/>
                          </a:rPr>
                          <m:t>𝛻</m:t>
                        </m:r>
                        <m:r>
                          <a:rPr lang="en-US" altLang="zh-CN"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i="1">
                                        <a:latin typeface="Cambria Math" panose="02040503050406030204" pitchFamily="18" charset="0"/>
                                        <a:ea typeface="宋体" panose="02010600030101010101" pitchFamily="2" charset="-122"/>
                                        <a:cs typeface="Cambria Math" panose="02040503050406030204" pitchFamily="18" charset="0"/>
                                      </a:rPr>
                                    </m:ctrlPr>
                                  </m:dPr>
                                  <m:e>
                                    <m:r>
                                      <a:rPr lang="en-US" altLang="zh-CN" i="1">
                                        <a:latin typeface="Cambria Math" panose="02040503050406030204" pitchFamily="18" charset="0"/>
                                        <a:ea typeface="宋体" panose="02010600030101010101" pitchFamily="2" charset="-122"/>
                                        <a:cs typeface="Cambria Math" panose="02040503050406030204" pitchFamily="18" charset="0"/>
                                      </a:rPr>
                                      <m:t>𝑘</m:t>
                                    </m:r>
                                    <m:r>
                                      <a:rPr lang="en-US" altLang="zh-CN" i="1">
                                        <a:latin typeface="Cambria Math" panose="02040503050406030204" pitchFamily="18" charset="0"/>
                                        <a:ea typeface="宋体" panose="02010600030101010101" pitchFamily="2" charset="-122"/>
                                        <a:cs typeface="Cambria Math" panose="02040503050406030204" pitchFamily="18" charset="0"/>
                                      </a:rPr>
                                      <m:t>+1</m:t>
                                    </m:r>
                                  </m:e>
                                </m:d>
                              </m:sup>
                            </m:sSup>
                          </m:e>
                        </m:d>
                        <m:r>
                          <a:rPr lang="en-US" altLang="zh-CN" i="1">
                            <a:latin typeface="Cambria Math" panose="02040503050406030204" pitchFamily="18" charset="0"/>
                            <a:ea typeface="宋体" panose="02010600030101010101" pitchFamily="2" charset="-122"/>
                            <a:cs typeface="Cambria Math" panose="02040503050406030204" pitchFamily="18" charset="0"/>
                          </a:rPr>
                          <m:t>−</m:t>
                        </m:r>
                        <m:r>
                          <a:rPr lang="en-US" altLang="zh-CN" i="1">
                            <a:latin typeface="Cambria Math" panose="02040503050406030204" pitchFamily="18" charset="0"/>
                            <a:ea typeface="宋体" panose="02010600030101010101" pitchFamily="2" charset="-122"/>
                            <a:cs typeface="Cambria Math" panose="02040503050406030204" pitchFamily="18" charset="0"/>
                          </a:rPr>
                          <m:t>𝛻</m:t>
                        </m:r>
                        <m:r>
                          <a:rPr lang="en-US" altLang="zh-CN"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i="1">
                                        <a:latin typeface="Cambria Math" panose="02040503050406030204" pitchFamily="18" charset="0"/>
                                        <a:ea typeface="宋体" panose="02010600030101010101" pitchFamily="2" charset="-122"/>
                                        <a:cs typeface="Cambria Math" panose="02040503050406030204" pitchFamily="18" charset="0"/>
                                      </a:rPr>
                                    </m:ctrlPr>
                                  </m:dPr>
                                  <m:e>
                                    <m:r>
                                      <a:rPr lang="en-US" altLang="zh-CN" i="1">
                                        <a:latin typeface="Cambria Math" panose="02040503050406030204" pitchFamily="18" charset="0"/>
                                        <a:ea typeface="宋体" panose="02010600030101010101" pitchFamily="2" charset="-122"/>
                                        <a:cs typeface="Cambria Math" panose="02040503050406030204" pitchFamily="18" charset="0"/>
                                      </a:rPr>
                                      <m:t>𝑘</m:t>
                                    </m:r>
                                  </m:e>
                                </m:d>
                              </m:sup>
                            </m:sSup>
                          </m:e>
                        </m:d>
                      </m:e>
                    </m:d>
                  </m:oMath>
                </a14:m>
                <a:endParaRPr lang="en-US" altLang="zh-CN" i="1" dirty="0">
                  <a:latin typeface="Cambria Math" panose="02040503050406030204" pitchFamily="18" charset="0"/>
                  <a:ea typeface="宋体" panose="02010600030101010101" pitchFamily="2" charset="-122"/>
                  <a:cs typeface="Cambria Math" panose="02040503050406030204" pitchFamily="18" charset="0"/>
                </a:endParaRPr>
              </a:p>
              <a:p>
                <a:pPr algn="just" latinLnBrk="0">
                  <a:lnSpc>
                    <a:spcPct val="150000"/>
                  </a:lnSpc>
                </a:pPr>
                <a:r>
                  <a:rPr lang="zh-CN" altLang="en-US" dirty="0">
                    <a:latin typeface="宋体" panose="02010600030101010101" pitchFamily="2" charset="-122"/>
                    <a:ea typeface="宋体" panose="02010600030101010101" pitchFamily="2" charset="-122"/>
                  </a:rPr>
                  <a:t>这就是常说的拟牛顿条件。</a:t>
                </a:r>
                <a:endParaRPr lang="en-US" altLang="zh-CN" dirty="0">
                  <a:latin typeface="宋体" panose="02010600030101010101" pitchFamily="2" charset="-122"/>
                  <a:ea typeface="宋体" panose="02010600030101010101" pitchFamily="2" charset="-122"/>
                </a:endParaRPr>
              </a:p>
              <a:p>
                <a:endParaRPr lang="zh-CN" altLang="en-US" dirty="0"/>
              </a:p>
            </p:txBody>
          </p:sp>
        </mc:Choice>
        <mc:Fallback>
          <p:sp>
            <p:nvSpPr>
              <p:cNvPr id="3" name="内容占位符 2">
                <a:extLst>
                  <a:ext uri="{FF2B5EF4-FFF2-40B4-BE49-F238E27FC236}">
                    <a16:creationId xmlns:a16="http://schemas.microsoft.com/office/drawing/2014/main" id="{0FCE67F3-8902-A0BA-0252-6601E91644EA}"/>
                  </a:ext>
                </a:extLst>
              </p:cNvPr>
              <p:cNvSpPr>
                <a:spLocks noGrp="1" noRot="1" noChangeAspect="1" noMove="1" noResize="1" noEditPoints="1" noAdjustHandles="1" noChangeArrowheads="1" noChangeShapeType="1" noTextEdit="1"/>
              </p:cNvSpPr>
              <p:nvPr>
                <p:ph idx="1"/>
              </p:nvPr>
            </p:nvSpPr>
            <p:spPr>
              <a:blipFill>
                <a:blip r:embed="rId2"/>
                <a:stretch>
                  <a:fillRect l="-741" r="-111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339778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文本框 9"/>
              <p:cNvSpPr txBox="1"/>
              <p:nvPr/>
            </p:nvSpPr>
            <p:spPr>
              <a:xfrm>
                <a:off x="376952" y="1232756"/>
                <a:ext cx="8390096" cy="5160259"/>
              </a:xfrm>
              <a:prstGeom prst="rect">
                <a:avLst/>
              </a:prstGeom>
              <a:noFill/>
            </p:spPr>
            <p:txBody>
              <a:bodyPr wrap="square" rtlCol="0">
                <a:spAutoFit/>
              </a:bodyPr>
              <a:lstStyle/>
              <a:p>
                <a:pPr algn="just" latinLnBrk="0">
                  <a:lnSpc>
                    <a:spcPct val="150000"/>
                  </a:lnSpc>
                </a:pPr>
                <a:r>
                  <a:rPr lang="zh-CN" altLang="en-US" sz="2400" dirty="0">
                    <a:latin typeface="宋体" panose="02010600030101010101" pitchFamily="2" charset="-122"/>
                    <a:ea typeface="宋体" panose="02010600030101010101" pitchFamily="2" charset="-122"/>
                  </a:rPr>
                  <a:t>    怎样确定满足拟牛顿条件的矩阵</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𝐴</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r>
                          <a:rPr lang="en-US" altLang="zh-CN" sz="2400" i="1">
                            <a:latin typeface="Cambria Math" panose="02040503050406030204" pitchFamily="18" charset="0"/>
                            <a:ea typeface="宋体" panose="02010600030101010101" pitchFamily="2" charset="-122"/>
                            <a:cs typeface="Cambria Math" panose="02040503050406030204" pitchFamily="18" charset="0"/>
                          </a:rPr>
                          <m:t>+1</m:t>
                        </m:r>
                      </m:sub>
                    </m:sSub>
                  </m:oMath>
                </a14:m>
                <a:r>
                  <a:rPr lang="zh-CN" altLang="en-US" sz="2400" dirty="0">
                    <a:latin typeface="宋体" panose="02010600030101010101" pitchFamily="2" charset="-122"/>
                    <a:ea typeface="宋体" panose="02010600030101010101" pitchFamily="2" charset="-122"/>
                  </a:rPr>
                  <a:t>？各种不同的构造方式就形成了不同的拟牛顿法。</a:t>
                </a:r>
              </a:p>
              <a:p>
                <a:pPr algn="just" latinLnBrk="0">
                  <a:lnSpc>
                    <a:spcPct val="150000"/>
                  </a:lnSpc>
                </a:pPr>
                <a:r>
                  <a:rPr lang="zh-CN" altLang="en-US" sz="2400" dirty="0">
                    <a:latin typeface="宋体" panose="02010600030101010101" pitchFamily="2" charset="-122"/>
                    <a:ea typeface="宋体" panose="02010600030101010101" pitchFamily="2" charset="-122"/>
                  </a:rPr>
                  <a:t>    记</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𝑠</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sub>
                    </m:sSub>
                    <m:r>
                      <a:rPr lang="en-US" altLang="zh-CN" sz="24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r>
                              <a:rPr lang="en-US" altLang="zh-CN" sz="2400" i="1">
                                <a:latin typeface="Cambria Math" panose="02040503050406030204" pitchFamily="18" charset="0"/>
                                <a:ea typeface="宋体" panose="02010600030101010101" pitchFamily="2" charset="-122"/>
                                <a:cs typeface="Cambria Math" panose="02040503050406030204" pitchFamily="18" charset="0"/>
                              </a:rPr>
                              <m:t>+1</m:t>
                            </m:r>
                          </m:e>
                        </m:d>
                      </m:sup>
                    </m:sSup>
                    <m:r>
                      <a:rPr lang="en-US" altLang="zh-CN" sz="2400" i="1">
                        <a:latin typeface="Cambria Math" panose="02040503050406030204" pitchFamily="18" charset="0"/>
                        <a:ea typeface="宋体" panose="02010600030101010101" pitchFamily="2" charset="-122"/>
                        <a:cs typeface="Cambria Math" panose="02040503050406030204" pitchFamily="18" charset="0"/>
                      </a:rPr>
                      <m:t>−</m:t>
                    </m:r>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e>
                        </m:d>
                      </m:sup>
                    </m:sSup>
                    <m:r>
                      <a:rPr lang="en-US" altLang="zh-CN" sz="2400" i="1">
                        <a:latin typeface="Cambria Math" panose="02040503050406030204" pitchFamily="18" charset="0"/>
                        <a:ea typeface="宋体" panose="02010600030101010101" pitchFamily="2" charset="-122"/>
                        <a:cs typeface="Cambria Math" panose="02040503050406030204" pitchFamily="18" charset="0"/>
                      </a:rPr>
                      <m:t> </m:t>
                    </m:r>
                    <m:r>
                      <a:rPr lang="zh-CN" altLang="en-US"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 </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𝑦</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sub>
                    </m:sSub>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r>
                                  <a:rPr lang="en-US" altLang="zh-CN" sz="2400" i="1">
                                    <a:latin typeface="Cambria Math" panose="02040503050406030204" pitchFamily="18" charset="0"/>
                                    <a:ea typeface="宋体" panose="02010600030101010101" pitchFamily="2" charset="-122"/>
                                    <a:cs typeface="Cambria Math" panose="02040503050406030204" pitchFamily="18" charset="0"/>
                                  </a:rPr>
                                  <m:t>+1</m:t>
                                </m:r>
                              </m:e>
                            </m:d>
                          </m:sup>
                        </m:sSup>
                      </m:e>
                    </m:d>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m:t>
                    </m:r>
                    <m:r>
                      <a:rPr lang="en-US" altLang="zh-CN" sz="2400" i="1">
                        <a:latin typeface="Cambria Math" panose="02040503050406030204" pitchFamily="18" charset="0"/>
                        <a:ea typeface="宋体" panose="02010600030101010101" pitchFamily="2" charset="-122"/>
                        <a:cs typeface="Cambria Math" panose="02040503050406030204" pitchFamily="18" charset="0"/>
                      </a:rPr>
                      <m:t>𝑓</m:t>
                    </m:r>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sSup>
                          <m:sSup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pPr>
                          <m:e>
                            <m:r>
                              <a:rPr lang="en-US" altLang="zh-CN" sz="2400" i="1">
                                <a:latin typeface="Cambria Math" panose="02040503050406030204" pitchFamily="18" charset="0"/>
                                <a:ea typeface="宋体" panose="02010600030101010101" pitchFamily="2" charset="-122"/>
                                <a:cs typeface="Cambria Math" panose="02040503050406030204" pitchFamily="18" charset="0"/>
                              </a:rPr>
                              <m:t>𝑥</m:t>
                            </m:r>
                          </m:e>
                          <m:sup>
                            <m:d>
                              <m:d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e>
                            </m:d>
                          </m:sup>
                        </m:sSup>
                      </m:e>
                    </m:d>
                  </m:oMath>
                </a14:m>
                <a:r>
                  <a:rPr lang="zh-CN" altLang="en-US" sz="2400" dirty="0">
                    <a:latin typeface="Cambria Math" panose="02040503050406030204" pitchFamily="18" charset="0"/>
                    <a:ea typeface="宋体" panose="02010600030101010101" pitchFamily="2" charset="-122"/>
                    <a:cs typeface="Cambria Math" panose="02040503050406030204" pitchFamily="18" charset="0"/>
                  </a:rPr>
                  <a:t>，拟牛顿条件写为</a:t>
                </a:r>
                <a:endParaRPr lang="en-US" altLang="zh-CN" sz="2400" dirty="0">
                  <a:latin typeface="Cambria Math" panose="02040503050406030204" pitchFamily="18" charset="0"/>
                  <a:ea typeface="宋体" panose="02010600030101010101" pitchFamily="2" charset="-122"/>
                  <a:cs typeface="Cambria Math" panose="02040503050406030204" pitchFamily="18" charset="0"/>
                </a:endParaRPr>
              </a:p>
              <a:p>
                <a:pPr algn="just" latinLnBrk="0">
                  <a:lnSpc>
                    <a:spcPct val="150000"/>
                  </a:lnSpc>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𝑠</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sub>
                      </m:sSub>
                      <m:r>
                        <a:rPr lang="en-US" altLang="zh-CN" sz="2400" i="1">
                          <a:latin typeface="Cambria Math" panose="02040503050406030204" pitchFamily="18" charset="0"/>
                          <a:ea typeface="宋体" panose="02010600030101010101" pitchFamily="2" charset="-122"/>
                          <a:cs typeface="Cambria Math" panose="02040503050406030204" pitchFamily="18" charset="0"/>
                        </a:rPr>
                        <m:t>=</m:t>
                      </m:r>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𝐴</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r>
                            <a:rPr lang="en-US" altLang="zh-CN" sz="2400" i="1">
                              <a:latin typeface="Cambria Math" panose="02040503050406030204" pitchFamily="18" charset="0"/>
                              <a:ea typeface="宋体" panose="02010600030101010101" pitchFamily="2" charset="-122"/>
                              <a:cs typeface="Cambria Math" panose="02040503050406030204" pitchFamily="18" charset="0"/>
                            </a:rPr>
                            <m:t>+1</m:t>
                          </m:r>
                        </m:sub>
                      </m:sSub>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𝑦</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sub>
                      </m:sSub>
                    </m:oMath>
                  </m:oMathPara>
                </a14:m>
                <a:endParaRPr lang="en-US" altLang="zh-CN" sz="2400" dirty="0">
                  <a:latin typeface="宋体" panose="02010600030101010101" pitchFamily="2" charset="-122"/>
                  <a:ea typeface="宋体" panose="02010600030101010101" pitchFamily="2" charset="-122"/>
                </a:endParaRPr>
              </a:p>
              <a:p>
                <a:pPr algn="just">
                  <a:lnSpc>
                    <a:spcPct val="150000"/>
                  </a:lnSpc>
                </a:pPr>
                <a:r>
                  <a:rPr lang="zh-CN" altLang="en-US" sz="2400" dirty="0">
                    <a:latin typeface="宋体" panose="02010600030101010101" pitchFamily="2" charset="-122"/>
                    <a:ea typeface="宋体" panose="02010600030101010101" pitchFamily="2" charset="-122"/>
                  </a:rPr>
                  <a:t>结合</a:t>
                </a:r>
                <a:endParaRPr lang="en-US" altLang="zh-CN" sz="2400" dirty="0">
                  <a:latin typeface="宋体" panose="02010600030101010101" pitchFamily="2" charset="-122"/>
                  <a:ea typeface="宋体" panose="02010600030101010101" pitchFamily="2" charset="-122"/>
                </a:endParaRPr>
              </a:p>
              <a:p>
                <a:pPr algn="ctr">
                  <a:lnSpc>
                    <a:spcPct val="150000"/>
                  </a:lnSpc>
                </a:pPr>
                <a14:m>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1">
                            <a:latin typeface="Cambria Math" panose="02040503050406030204" pitchFamily="18" charset="0"/>
                          </a:rPr>
                          <m:t>𝑘</m:t>
                        </m:r>
                        <m:r>
                          <a:rPr lang="zh-CN" altLang="en-US" sz="2400">
                            <a:latin typeface="Cambria Math" panose="02040503050406030204" pitchFamily="18" charset="0"/>
                          </a:rPr>
                          <m:t>+1</m:t>
                        </m:r>
                      </m:sub>
                    </m:sSub>
                    <m:r>
                      <a:rPr lang="zh-CN" altLang="en-US" sz="2400" i="1">
                        <a:latin typeface="Cambria Math" panose="02040503050406030204" pitchFamily="18" charset="0"/>
                      </a:rPr>
                      <m:t> </m:t>
                    </m:r>
                  </m:oMath>
                </a14:m>
                <a:r>
                  <a:rPr lang="en-US" altLang="zh-CN" sz="2400" dirty="0"/>
                  <a:t>=</a:t>
                </a:r>
                <a:r>
                  <a:rPr lang="zh-CN" altLang="en-US" sz="2400" dirty="0"/>
                  <a:t> </a:t>
                </a:r>
                <a14:m>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1">
                            <a:latin typeface="Cambria Math" panose="02040503050406030204" pitchFamily="18" charset="0"/>
                          </a:rPr>
                          <m:t>𝑘</m:t>
                        </m:r>
                      </m:sub>
                    </m:sSub>
                    <m:r>
                      <a:rPr lang="zh-CN" altLang="en-US" sz="2400" i="1">
                        <a:latin typeface="Cambria Math" panose="02040503050406030204" pitchFamily="18" charset="0"/>
                      </a:rPr>
                      <m:t> </m:t>
                    </m:r>
                  </m:oMath>
                </a14:m>
                <a:r>
                  <a:rPr lang="en-US" altLang="zh-CN" sz="2400" dirty="0"/>
                  <a:t>+</a:t>
                </a:r>
                <a14:m>
                  <m:oMath xmlns:m="http://schemas.openxmlformats.org/officeDocument/2006/math">
                    <m:r>
                      <a:rPr lang="zh-CN" altLang="en-US" sz="2400" i="1">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1">
                            <a:latin typeface="Cambria Math" panose="02040503050406030204" pitchFamily="18" charset="0"/>
                          </a:rPr>
                          <m:t>𝑘</m:t>
                        </m:r>
                      </m:sub>
                    </m:sSub>
                  </m:oMath>
                </a14:m>
                <a:endParaRPr lang="en-US" altLang="zh-CN" sz="2400" dirty="0">
                  <a:latin typeface="宋体" panose="02010600030101010101" pitchFamily="2" charset="-122"/>
                  <a:ea typeface="宋体" panose="02010600030101010101" pitchFamily="2" charset="-122"/>
                </a:endParaRPr>
              </a:p>
              <a:p>
                <a:pPr algn="just">
                  <a:lnSpc>
                    <a:spcPct val="150000"/>
                  </a:lnSpc>
                </a:pPr>
                <a:r>
                  <a:rPr lang="zh-CN" altLang="en-US" sz="2400" dirty="0">
                    <a:latin typeface="宋体" panose="02010600030101010101" pitchFamily="2" charset="-122"/>
                    <a:ea typeface="宋体" panose="02010600030101010101" pitchFamily="2" charset="-122"/>
                  </a:rPr>
                  <a:t>推出</a:t>
                </a:r>
                <a:endParaRPr lang="en-US" altLang="zh-CN" sz="2400" dirty="0">
                  <a:latin typeface="宋体" panose="02010600030101010101" pitchFamily="2" charset="-122"/>
                  <a:ea typeface="宋体" panose="02010600030101010101" pitchFamily="2" charset="-122"/>
                </a:endParaRPr>
              </a:p>
              <a:p>
                <a:pPr algn="just">
                  <a:lnSpc>
                    <a:spcPct val="150000"/>
                  </a:lnSpc>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𝛥</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1">
                              <a:latin typeface="Cambria Math" panose="02040503050406030204" pitchFamily="18" charset="0"/>
                            </a:rPr>
                            <m:t>𝑘</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Sub>
                      <m:r>
                        <a:rPr lang="zh-CN" altLang="en-US" sz="240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𝑠</m:t>
                          </m:r>
                        </m:e>
                        <m:sub>
                          <m:r>
                            <a:rPr lang="zh-CN" altLang="en-US" sz="2400" i="1">
                              <a:latin typeface="Cambria Math" panose="02040503050406030204" pitchFamily="18" charset="0"/>
                            </a:rPr>
                            <m:t>𝑘</m:t>
                          </m:r>
                        </m:sub>
                      </m:sSub>
                      <m:r>
                        <a:rPr lang="zh-CN" altLang="en-US" sz="240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1">
                              <a:latin typeface="Cambria Math" panose="02040503050406030204" pitchFamily="18" charset="0"/>
                            </a:rPr>
                            <m:t>𝑘</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Sub>
                    </m:oMath>
                  </m:oMathPara>
                </a14:m>
                <a:endParaRPr lang="zh-CN" altLang="en-US" sz="2400" dirty="0"/>
              </a:p>
            </p:txBody>
          </p:sp>
        </mc:Choice>
        <mc:Fallback xmlns="">
          <p:sp>
            <p:nvSpPr>
              <p:cNvPr id="10" name="文本框 9"/>
              <p:cNvSpPr txBox="1">
                <a:spLocks noRot="1" noChangeAspect="1" noMove="1" noResize="1" noEditPoints="1" noAdjustHandles="1" noChangeArrowheads="1" noChangeShapeType="1" noTextEdit="1"/>
              </p:cNvSpPr>
              <p:nvPr/>
            </p:nvSpPr>
            <p:spPr>
              <a:xfrm>
                <a:off x="376952" y="1232756"/>
                <a:ext cx="8390096" cy="5160259"/>
              </a:xfrm>
              <a:prstGeom prst="rect">
                <a:avLst/>
              </a:prstGeom>
              <a:blipFill>
                <a:blip r:embed="rId2"/>
                <a:stretch>
                  <a:fillRect l="-1163" r="-1090"/>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E00E764D-4002-955B-6104-A29C303B2E44}"/>
              </a:ext>
            </a:extLst>
          </p:cNvPr>
          <p:cNvSpPr txBox="1"/>
          <p:nvPr/>
        </p:nvSpPr>
        <p:spPr>
          <a:xfrm>
            <a:off x="251520" y="476672"/>
            <a:ext cx="4212469" cy="461665"/>
          </a:xfrm>
          <a:prstGeom prst="rect">
            <a:avLst/>
          </a:prstGeom>
          <a:noFill/>
        </p:spPr>
        <p:txBody>
          <a:bodyPr wrap="square">
            <a:spAutoFit/>
          </a:bodyPr>
          <a:lstStyle/>
          <a:p>
            <a:pPr eaLnBrk="1" hangingPunct="1">
              <a:buFont typeface="Wingdings" panose="05000000000000000000" pitchFamily="2" charset="2"/>
              <a:buNone/>
              <a:defRPr/>
            </a:pPr>
            <a:r>
              <a:rPr lang="zh-CN" altLang="en-US" sz="2400" b="1" dirty="0">
                <a:latin typeface="黑体" panose="02010609060101010101" pitchFamily="49" charset="-122"/>
                <a:ea typeface="黑体" panose="02010609060101010101" pitchFamily="49" charset="-122"/>
              </a:rPr>
              <a:t>二、</a:t>
            </a:r>
            <a:r>
              <a:rPr lang="en-US" altLang="zh-CN" sz="2400" b="1" dirty="0">
                <a:latin typeface="黑体" panose="02010609060101010101" pitchFamily="49" charset="-122"/>
                <a:ea typeface="黑体" panose="02010609060101010101" pitchFamily="49" charset="-122"/>
              </a:rPr>
              <a:t> DFP</a:t>
            </a:r>
            <a:r>
              <a:rPr lang="zh-CN" altLang="en-US" sz="2400" b="1" dirty="0">
                <a:latin typeface="黑体" panose="02010609060101010101" pitchFamily="49" charset="-122"/>
                <a:ea typeface="黑体" panose="02010609060101010101" pitchFamily="49" charset="-122"/>
              </a:rPr>
              <a:t>法的思想与计算步骤</a:t>
            </a:r>
            <a:endParaRPr lang="en-US" altLang="zh-CN" sz="2400" b="1" dirty="0">
              <a:latin typeface="黑体" panose="02010609060101010101" pitchFamily="49" charset="-122"/>
              <a:ea typeface="黑体" panose="02010609060101010101" pitchFamily="49"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 name="文本框 10"/>
              <p:cNvSpPr txBox="1"/>
              <p:nvPr/>
            </p:nvSpPr>
            <p:spPr>
              <a:xfrm>
                <a:off x="821981" y="2487418"/>
                <a:ext cx="7279910" cy="4065024"/>
              </a:xfrm>
              <a:prstGeom prst="rect">
                <a:avLst/>
              </a:prstGeom>
              <a:noFill/>
            </p:spPr>
            <p:txBody>
              <a:bodyPr wrap="square">
                <a:spAutoFit/>
              </a:bodyPr>
              <a:lstStyle/>
              <a:p>
                <a:pPr algn="just">
                  <a:lnSpc>
                    <a:spcPct val="150000"/>
                  </a:lnSpc>
                </a:pPr>
                <a14:m>
                  <m:oMath xmlns:m="http://schemas.openxmlformats.org/officeDocument/2006/math">
                    <m:r>
                      <a:rPr lang="zh-CN" altLang="en-US" sz="2400" smtClean="0">
                        <a:latin typeface="Cambria Math" panose="02040503050406030204" pitchFamily="18" charset="0"/>
                      </a:rPr>
                      <m:t>假设：</m:t>
                    </m:r>
                    <m:r>
                      <a:rPr lang="zh-CN" altLang="en-US" sz="2400" i="1">
                        <a:latin typeface="Cambria Math" panose="02040503050406030204" pitchFamily="18" charset="0"/>
                      </a:rPr>
                      <m:t>𝛥</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1">
                            <a:latin typeface="Cambria Math" panose="02040503050406030204" pitchFamily="18" charset="0"/>
                          </a:rPr>
                          <m:t>𝑘</m:t>
                        </m:r>
                      </m:sub>
                    </m:sSub>
                    <m:r>
                      <a:rPr lang="zh-CN" altLang="en-US" sz="2400">
                        <a:latin typeface="Cambria Math" panose="02040503050406030204" pitchFamily="18" charset="0"/>
                      </a:rPr>
                      <m:t>=</m:t>
                    </m:r>
                    <m:r>
                      <a:rPr lang="zh-CN" altLang="en-US" sz="2400" i="1">
                        <a:latin typeface="Cambria Math" panose="02040503050406030204" pitchFamily="18" charset="0"/>
                      </a:rPr>
                      <m:t>𝑎</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𝑢</m:t>
                        </m:r>
                      </m:e>
                      <m:sub>
                        <m:r>
                          <a:rPr lang="zh-CN" altLang="en-US" sz="2400" i="1">
                            <a:latin typeface="Cambria Math" panose="02040503050406030204" pitchFamily="18" charset="0"/>
                          </a:rPr>
                          <m:t>𝑘</m:t>
                        </m:r>
                      </m:sub>
                    </m:sSub>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𝑢</m:t>
                        </m:r>
                      </m:e>
                      <m:sub>
                        <m:r>
                          <a:rPr lang="en-US" altLang="zh-CN" sz="2400" i="1">
                            <a:latin typeface="Cambria Math" panose="02040503050406030204" pitchFamily="18" charset="0"/>
                          </a:rPr>
                          <m:t>𝑘</m:t>
                        </m:r>
                      </m:sub>
                      <m:sup>
                        <m:r>
                          <a:rPr lang="en-US" altLang="zh-CN" sz="2400" i="1">
                            <a:latin typeface="Cambria Math" panose="02040503050406030204" pitchFamily="18" charset="0"/>
                          </a:rPr>
                          <m:t>𝑇</m:t>
                        </m:r>
                      </m:sup>
                    </m:sSubSup>
                    <m:r>
                      <a:rPr lang="zh-CN" altLang="en-US" sz="2400">
                        <a:latin typeface="Cambria Math" panose="02040503050406030204" pitchFamily="18" charset="0"/>
                      </a:rPr>
                      <m:t>+</m:t>
                    </m:r>
                    <m:r>
                      <a:rPr lang="zh-CN" altLang="en-US" sz="2400" i="1">
                        <a:latin typeface="Cambria Math" panose="02040503050406030204" pitchFamily="18" charset="0"/>
                      </a:rPr>
                      <m:t>𝑏</m:t>
                    </m:r>
                    <m:sSub>
                      <m:sSubPr>
                        <m:ctrlPr>
                          <a:rPr lang="zh-CN" altLang="en-US" sz="2400" i="1">
                            <a:latin typeface="Cambria Math" panose="02040503050406030204" pitchFamily="18" charset="0"/>
                          </a:rPr>
                        </m:ctrlPr>
                      </m:sSubPr>
                      <m:e>
                        <m:r>
                          <a:rPr lang="en-US" altLang="zh-CN" sz="2400" i="1">
                            <a:latin typeface="Cambria Math" panose="02040503050406030204" pitchFamily="18" charset="0"/>
                          </a:rPr>
                          <m:t>𝑣</m:t>
                        </m:r>
                      </m:e>
                      <m:sub>
                        <m:r>
                          <a:rPr lang="zh-CN" altLang="en-US" sz="2400" i="1">
                            <a:latin typeface="Cambria Math" panose="02040503050406030204" pitchFamily="18" charset="0"/>
                          </a:rPr>
                          <m:t>𝑘</m:t>
                        </m:r>
                      </m:sub>
                    </m:sSub>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𝑣</m:t>
                        </m:r>
                      </m:e>
                      <m:sub>
                        <m:r>
                          <a:rPr lang="en-US" altLang="zh-CN" sz="2400" i="1">
                            <a:latin typeface="Cambria Math" panose="02040503050406030204" pitchFamily="18" charset="0"/>
                          </a:rPr>
                          <m:t>𝑘</m:t>
                        </m:r>
                      </m:sub>
                      <m:sup>
                        <m:r>
                          <a:rPr lang="en-US" altLang="zh-CN" sz="2400" i="1">
                            <a:latin typeface="Cambria Math" panose="02040503050406030204" pitchFamily="18" charset="0"/>
                          </a:rPr>
                          <m:t>𝑇</m:t>
                        </m:r>
                      </m:sup>
                    </m:sSubSup>
                    <m:r>
                      <a:rPr lang="en-US" altLang="zh-CN" sz="2400" b="0" i="1" smtClean="0">
                        <a:latin typeface="Cambria Math" panose="02040503050406030204" pitchFamily="18" charset="0"/>
                      </a:rPr>
                      <m:t>(</m:t>
                    </m:r>
                    <m:r>
                      <a:rPr lang="zh-CN" altLang="en-US" sz="2400" i="1">
                        <a:latin typeface="Cambria Math" panose="02040503050406030204" pitchFamily="18" charset="0"/>
                      </a:rPr>
                      <m:t>秩</m:t>
                    </m:r>
                    <m:r>
                      <a:rPr lang="zh-CN" altLang="en-US" sz="2400" i="1" smtClean="0">
                        <a:latin typeface="Cambria Math" panose="02040503050406030204" pitchFamily="18" charset="0"/>
                      </a:rPr>
                      <m:t>二</m:t>
                    </m:r>
                    <m:r>
                      <a:rPr lang="zh-CN" altLang="en-US" sz="2400" i="1">
                        <a:latin typeface="Cambria Math" panose="02040503050406030204" pitchFamily="18" charset="0"/>
                      </a:rPr>
                      <m:t>更新</m:t>
                    </m:r>
                    <m:r>
                      <a:rPr lang="en-US" altLang="zh-CN" sz="2400" b="0" i="1" smtClean="0">
                        <a:latin typeface="Cambria Math" panose="02040503050406030204" pitchFamily="18" charset="0"/>
                      </a:rPr>
                      <m:t>)</m:t>
                    </m:r>
                    <m:r>
                      <a:rPr lang="zh-CN" altLang="en-US" sz="2400">
                        <a:latin typeface="Cambria Math" panose="02040503050406030204" pitchFamily="18" charset="0"/>
                      </a:rPr>
                      <m:t>代入上式</m:t>
                    </m:r>
                  </m:oMath>
                </a14:m>
                <a:r>
                  <a:rPr lang="zh-CN" altLang="en-US" sz="2400" dirty="0">
                    <a:latin typeface="宋体" panose="02010600030101010101" pitchFamily="2" charset="-122"/>
                    <a:ea typeface="宋体" panose="02010600030101010101" pitchFamily="2" charset="-122"/>
                  </a:rPr>
                  <a:t>，得到</a:t>
                </a:r>
                <a:endParaRPr lang="en-US" altLang="zh-CN" sz="2400" dirty="0">
                  <a:latin typeface="宋体" panose="02010600030101010101" pitchFamily="2" charset="-122"/>
                  <a:ea typeface="宋体" panose="02010600030101010101" pitchFamily="2" charset="-122"/>
                </a:endParaRPr>
              </a:p>
              <a:p>
                <a:pPr algn="just">
                  <a:lnSpc>
                    <a:spcPct val="150000"/>
                  </a:lnSpc>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𝑎</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𝑢</m:t>
                          </m:r>
                        </m:e>
                        <m:sub>
                          <m:r>
                            <a:rPr lang="zh-CN" altLang="en-US" sz="2400" i="1">
                              <a:latin typeface="Cambria Math" panose="02040503050406030204" pitchFamily="18" charset="0"/>
                            </a:rPr>
                            <m:t>𝑘</m:t>
                          </m:r>
                        </m:sub>
                      </m:sSub>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𝑢</m:t>
                          </m:r>
                        </m:e>
                        <m:sub>
                          <m:r>
                            <a:rPr lang="en-US" altLang="zh-CN" sz="2400" i="1">
                              <a:latin typeface="Cambria Math" panose="02040503050406030204" pitchFamily="18" charset="0"/>
                            </a:rPr>
                            <m:t>𝑘</m:t>
                          </m:r>
                        </m:sub>
                        <m:sup>
                          <m:r>
                            <a:rPr lang="en-US" altLang="zh-CN" sz="2400" i="1">
                              <a:latin typeface="Cambria Math" panose="02040503050406030204" pitchFamily="18" charset="0"/>
                            </a:rPr>
                            <m:t>𝑇</m:t>
                          </m:r>
                        </m:sup>
                      </m:sSubSup>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Sub>
                      <m:r>
                        <a:rPr lang="zh-CN" altLang="en-US" sz="2400">
                          <a:latin typeface="Cambria Math" panose="02040503050406030204" pitchFamily="18" charset="0"/>
                        </a:rPr>
                        <m:t>+</m:t>
                      </m:r>
                      <m:r>
                        <a:rPr lang="zh-CN" altLang="en-US" sz="2400" i="1">
                          <a:latin typeface="Cambria Math" panose="02040503050406030204" pitchFamily="18" charset="0"/>
                        </a:rPr>
                        <m:t>𝑏</m:t>
                      </m:r>
                      <m:sSub>
                        <m:sSubPr>
                          <m:ctrlPr>
                            <a:rPr lang="zh-CN" altLang="en-US" sz="2400" i="1">
                              <a:latin typeface="Cambria Math" panose="02040503050406030204" pitchFamily="18" charset="0"/>
                            </a:rPr>
                          </m:ctrlPr>
                        </m:sSubPr>
                        <m:e>
                          <m:r>
                            <a:rPr lang="en-US" altLang="zh-CN" sz="2400" i="1">
                              <a:latin typeface="Cambria Math" panose="02040503050406030204" pitchFamily="18" charset="0"/>
                            </a:rPr>
                            <m:t>𝑣</m:t>
                          </m:r>
                        </m:e>
                        <m:sub>
                          <m:r>
                            <a:rPr lang="zh-CN" altLang="en-US" sz="2400" i="1">
                              <a:latin typeface="Cambria Math" panose="02040503050406030204" pitchFamily="18" charset="0"/>
                            </a:rPr>
                            <m:t>𝑘</m:t>
                          </m:r>
                        </m:sub>
                      </m:sSub>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𝑣</m:t>
                          </m:r>
                        </m:e>
                        <m:sub>
                          <m:r>
                            <a:rPr lang="en-US" altLang="zh-CN" sz="2400" i="1">
                              <a:latin typeface="Cambria Math" panose="02040503050406030204" pitchFamily="18" charset="0"/>
                            </a:rPr>
                            <m:t>𝑘</m:t>
                          </m:r>
                        </m:sub>
                        <m:sup>
                          <m:r>
                            <a:rPr lang="en-US" altLang="zh-CN" sz="2400" i="1">
                              <a:latin typeface="Cambria Math" panose="02040503050406030204" pitchFamily="18" charset="0"/>
                            </a:rPr>
                            <m:t>𝑇</m:t>
                          </m:r>
                        </m:sup>
                      </m:sSubSup>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Sub>
                      <m:r>
                        <a:rPr lang="en-US" altLang="zh-CN" sz="2400" dirty="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𝑠</m:t>
                          </m:r>
                        </m:e>
                        <m:sub>
                          <m:r>
                            <a:rPr lang="zh-CN" altLang="en-US" sz="2400" i="1">
                              <a:latin typeface="Cambria Math" panose="02040503050406030204" pitchFamily="18" charset="0"/>
                            </a:rPr>
                            <m:t>𝑘</m:t>
                          </m:r>
                        </m:sub>
                      </m:sSub>
                      <m:r>
                        <a:rPr lang="zh-CN" altLang="en-US" sz="240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1">
                              <a:latin typeface="Cambria Math" panose="02040503050406030204" pitchFamily="18" charset="0"/>
                            </a:rPr>
                            <m:t>𝑘</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Sub>
                    </m:oMath>
                  </m:oMathPara>
                </a14:m>
                <a:endParaRPr lang="zh-CN" altLang="en-US" sz="2400" dirty="0">
                  <a:latin typeface="宋体" panose="02010600030101010101" pitchFamily="2" charset="-122"/>
                  <a:ea typeface="宋体" panose="02010600030101010101" pitchFamily="2" charset="-122"/>
                </a:endParaRPr>
              </a:p>
              <a:p>
                <a:pPr algn="just">
                  <a:lnSpc>
                    <a:spcPct val="150000"/>
                  </a:lnSpc>
                </a:pPr>
                <a:r>
                  <a:rPr lang="zh-CN" altLang="en-US" sz="2400" dirty="0">
                    <a:latin typeface="宋体" panose="02010600030101010101" pitchFamily="2" charset="-122"/>
                    <a:ea typeface="宋体" panose="02010600030101010101" pitchFamily="2" charset="-122"/>
                  </a:rPr>
                  <a:t>注意到</a:t>
                </a:r>
                <a14:m>
                  <m:oMath xmlns:m="http://schemas.openxmlformats.org/officeDocument/2006/math">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𝑢</m:t>
                        </m:r>
                      </m:e>
                      <m:sub>
                        <m:r>
                          <a:rPr lang="en-US" altLang="zh-CN" sz="2400" i="1">
                            <a:latin typeface="Cambria Math" panose="02040503050406030204" pitchFamily="18" charset="0"/>
                          </a:rPr>
                          <m:t>𝑘</m:t>
                        </m:r>
                      </m:sub>
                      <m:sup>
                        <m:r>
                          <a:rPr lang="en-US" altLang="zh-CN" sz="2400" i="1">
                            <a:latin typeface="Cambria Math" panose="02040503050406030204" pitchFamily="18" charset="0"/>
                          </a:rPr>
                          <m:t>𝑇</m:t>
                        </m:r>
                      </m:sup>
                    </m:sSubSup>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Sub>
                  </m:oMath>
                </a14:m>
                <a:r>
                  <a:rPr lang="zh-CN" altLang="en-US" sz="2400" dirty="0">
                    <a:latin typeface="宋体" panose="02010600030101010101" pitchFamily="2" charset="-122"/>
                    <a:ea typeface="宋体" panose="02010600030101010101" pitchFamily="2" charset="-122"/>
                  </a:rPr>
                  <a:t>和</a:t>
                </a:r>
                <a14:m>
                  <m:oMath xmlns:m="http://schemas.openxmlformats.org/officeDocument/2006/math">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𝑣</m:t>
                        </m:r>
                      </m:e>
                      <m:sub>
                        <m:r>
                          <a:rPr lang="en-US" altLang="zh-CN" sz="2400" i="1">
                            <a:latin typeface="Cambria Math" panose="02040503050406030204" pitchFamily="18" charset="0"/>
                          </a:rPr>
                          <m:t>𝑘</m:t>
                        </m:r>
                      </m:sub>
                      <m:sup>
                        <m:r>
                          <a:rPr lang="en-US" altLang="zh-CN" sz="2400" i="1">
                            <a:latin typeface="Cambria Math" panose="02040503050406030204" pitchFamily="18" charset="0"/>
                          </a:rPr>
                          <m:t>𝑇</m:t>
                        </m:r>
                      </m:sup>
                    </m:sSubSup>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Sub>
                  </m:oMath>
                </a14:m>
                <a:r>
                  <a:rPr lang="zh-CN" altLang="en-US" sz="2400" dirty="0">
                    <a:latin typeface="宋体" panose="02010600030101010101" pitchFamily="2" charset="-122"/>
                    <a:ea typeface="宋体" panose="02010600030101010101" pitchFamily="2" charset="-122"/>
                  </a:rPr>
                  <a:t>均为实数，可以令：</a:t>
                </a:r>
              </a:p>
              <a:p>
                <a:pPr algn="just">
                  <a:lnSpc>
                    <a:spcPct val="150000"/>
                  </a:lnSpc>
                </a:pPr>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𝑢</m:t>
                          </m:r>
                        </m:e>
                        <m:sub>
                          <m:r>
                            <a:rPr lang="zh-CN" altLang="en-US" sz="2400" i="1">
                              <a:latin typeface="Cambria Math" panose="02040503050406030204" pitchFamily="18" charset="0"/>
                            </a:rPr>
                            <m:t>𝑘</m:t>
                          </m:r>
                        </m:sub>
                      </m:sSub>
                      <m:r>
                        <a:rPr lang="zh-CN" altLang="en-US" sz="240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𝑠</m:t>
                          </m:r>
                        </m:e>
                        <m:sub>
                          <m:r>
                            <a:rPr lang="zh-CN" altLang="en-US" sz="2400" i="1">
                              <a:latin typeface="Cambria Math" panose="02040503050406030204" pitchFamily="18" charset="0"/>
                            </a:rPr>
                            <m:t>𝑘</m:t>
                          </m:r>
                        </m:sub>
                      </m:sSub>
                      <m:r>
                        <a:rPr lang="zh-CN" altLang="en-US" sz="2400">
                          <a:latin typeface="Cambria Math" panose="02040503050406030204" pitchFamily="18" charset="0"/>
                        </a:rPr>
                        <m:t>　</m:t>
                      </m:r>
                      <m:r>
                        <a:rPr lang="zh-CN" altLang="en-US" sz="2400">
                          <a:latin typeface="Cambria Math" panose="02040503050406030204" pitchFamily="18" charset="0"/>
                        </a:rPr>
                        <m:t>,</m:t>
                      </m:r>
                      <m:r>
                        <a:rPr lang="zh-CN" altLang="en-US" sz="2400">
                          <a:latin typeface="Cambria Math" panose="02040503050406030204" pitchFamily="18" charset="0"/>
                        </a:rPr>
                        <m:t>　</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𝑣</m:t>
                          </m:r>
                        </m:e>
                        <m:sub>
                          <m:r>
                            <a:rPr lang="zh-CN" altLang="en-US" sz="2400" i="1">
                              <a:latin typeface="Cambria Math" panose="02040503050406030204" pitchFamily="18" charset="0"/>
                            </a:rPr>
                            <m:t>𝑘</m:t>
                          </m:r>
                        </m:sub>
                      </m:sSub>
                      <m:r>
                        <a:rPr lang="zh-CN" altLang="en-US" sz="240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1">
                              <a:latin typeface="Cambria Math" panose="02040503050406030204" pitchFamily="18" charset="0"/>
                            </a:rPr>
                            <m:t>𝑘</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Sub>
                    </m:oMath>
                  </m:oMathPara>
                </a14:m>
                <a:endParaRPr lang="zh-CN" altLang="en-US" sz="2400" i="1" dirty="0">
                  <a:latin typeface="宋体" panose="02010600030101010101" pitchFamily="2" charset="-122"/>
                  <a:ea typeface="宋体" panose="02010600030101010101" pitchFamily="2" charset="-122"/>
                </a:endParaRPr>
              </a:p>
              <a:p>
                <a:pPr algn="just">
                  <a:lnSpc>
                    <a:spcPct val="150000"/>
                  </a:lnSpc>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𝑎</m:t>
                      </m:r>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𝑢</m:t>
                          </m:r>
                        </m:e>
                        <m:sub>
                          <m:r>
                            <a:rPr lang="en-US" altLang="zh-CN" sz="2400" i="1">
                              <a:latin typeface="Cambria Math" panose="02040503050406030204" pitchFamily="18" charset="0"/>
                            </a:rPr>
                            <m:t>𝑘</m:t>
                          </m:r>
                        </m:sub>
                        <m:sup>
                          <m:r>
                            <a:rPr lang="en-US" altLang="zh-CN" sz="2400" i="1">
                              <a:latin typeface="Cambria Math" panose="02040503050406030204" pitchFamily="18" charset="0"/>
                            </a:rPr>
                            <m:t>𝑇</m:t>
                          </m:r>
                        </m:sup>
                      </m:sSubSup>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Sub>
                      <m:r>
                        <a:rPr lang="zh-CN" altLang="en-US" sz="2400">
                          <a:latin typeface="Cambria Math" panose="02040503050406030204" pitchFamily="18" charset="0"/>
                        </a:rPr>
                        <m:t>=1</m:t>
                      </m:r>
                      <m:m>
                        <m:mPr>
                          <m:plcHide m:val="on"/>
                          <m:mcs>
                            <m:mc>
                              <m:mcPr>
                                <m:count m:val="2"/>
                                <m:mcJc m:val="center"/>
                              </m:mcPr>
                            </m:mc>
                          </m:mcs>
                          <m:ctrlPr>
                            <a:rPr lang="zh-CN" altLang="en-US" sz="2400" i="1">
                              <a:latin typeface="Cambria Math" panose="02040503050406030204" pitchFamily="18" charset="0"/>
                            </a:rPr>
                          </m:ctrlPr>
                        </m:mPr>
                        <m:mr>
                          <m:e/>
                          <m:e/>
                        </m:mr>
                      </m:m>
                      <m:r>
                        <a:rPr lang="zh-CN" altLang="en-US" sz="2400" i="1">
                          <a:latin typeface="Cambria Math" panose="02040503050406030204" pitchFamily="18" charset="0"/>
                        </a:rPr>
                        <m:t>𝑏</m:t>
                      </m:r>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𝑣</m:t>
                          </m:r>
                        </m:e>
                        <m:sub>
                          <m:r>
                            <a:rPr lang="en-US" altLang="zh-CN" sz="2400" i="1">
                              <a:latin typeface="Cambria Math" panose="02040503050406030204" pitchFamily="18" charset="0"/>
                            </a:rPr>
                            <m:t>𝑘</m:t>
                          </m:r>
                        </m:sub>
                        <m:sup>
                          <m:r>
                            <a:rPr lang="en-US" altLang="zh-CN" sz="2400" i="1">
                              <a:latin typeface="Cambria Math" panose="02040503050406030204" pitchFamily="18" charset="0"/>
                            </a:rPr>
                            <m:t>𝑇</m:t>
                          </m:r>
                        </m:sup>
                      </m:sSubSup>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Sub>
                      <m:r>
                        <a:rPr lang="zh-CN" altLang="en-US" sz="2400">
                          <a:latin typeface="Cambria Math" panose="02040503050406030204" pitchFamily="18" charset="0"/>
                        </a:rPr>
                        <m:t>=−1</m:t>
                      </m:r>
                    </m:oMath>
                  </m:oMathPara>
                </a14:m>
                <a:endParaRPr lang="zh-CN" altLang="en-US" sz="2400" dirty="0">
                  <a:latin typeface="宋体" panose="02010600030101010101" pitchFamily="2" charset="-122"/>
                  <a:ea typeface="宋体" panose="02010600030101010101" pitchFamily="2" charset="-122"/>
                </a:endParaRPr>
              </a:p>
              <a:p>
                <a:pPr algn="just">
                  <a:lnSpc>
                    <a:spcPct val="150000"/>
                  </a:lnSpc>
                </a:pPr>
                <a:r>
                  <a:rPr lang="zh-CN" altLang="en-US" sz="2400" dirty="0">
                    <a:latin typeface="宋体" panose="02010600030101010101" pitchFamily="2" charset="-122"/>
                    <a:ea typeface="宋体" panose="02010600030101010101" pitchFamily="2" charset="-122"/>
                  </a:rPr>
                  <a:t>找到方程的一个解。</a:t>
                </a:r>
              </a:p>
            </p:txBody>
          </p:sp>
        </mc:Choice>
        <mc:Fallback>
          <p:sp>
            <p:nvSpPr>
              <p:cNvPr id="11" name="文本框 10"/>
              <p:cNvSpPr txBox="1">
                <a:spLocks noRot="1" noChangeAspect="1" noMove="1" noResize="1" noEditPoints="1" noAdjustHandles="1" noChangeArrowheads="1" noChangeShapeType="1" noTextEdit="1"/>
              </p:cNvSpPr>
              <p:nvPr/>
            </p:nvSpPr>
            <p:spPr>
              <a:xfrm>
                <a:off x="821981" y="2487418"/>
                <a:ext cx="7279910" cy="4065024"/>
              </a:xfrm>
              <a:prstGeom prst="rect">
                <a:avLst/>
              </a:prstGeom>
              <a:blipFill>
                <a:blip r:embed="rId2"/>
                <a:stretch>
                  <a:fillRect l="-1340" r="-1256" b="-2399"/>
                </a:stretch>
              </a:blipFill>
            </p:spPr>
            <p:txBody>
              <a:bodyPr/>
              <a:lstStyle/>
              <a:p>
                <a:r>
                  <a:rPr lang="zh-CN" altLang="en-US">
                    <a:noFill/>
                  </a:rPr>
                  <a:t> </a:t>
                </a:r>
              </a:p>
            </p:txBody>
          </p:sp>
        </mc:Fallback>
      </mc:AlternateContent>
      <p:grpSp>
        <p:nvGrpSpPr>
          <p:cNvPr id="3" name="组合 2"/>
          <p:cNvGrpSpPr/>
          <p:nvPr/>
        </p:nvGrpSpPr>
        <p:grpSpPr>
          <a:xfrm>
            <a:off x="467544" y="1053443"/>
            <a:ext cx="8352928" cy="1127375"/>
            <a:chOff x="188" y="1004"/>
            <a:chExt cx="14933" cy="2368"/>
          </a:xfrm>
        </p:grpSpPr>
        <mc:AlternateContent xmlns:mc="http://schemas.openxmlformats.org/markup-compatibility/2006" xmlns:a14="http://schemas.microsoft.com/office/drawing/2010/main">
          <mc:Choice Requires="a14">
            <p:sp>
              <p:nvSpPr>
                <p:cNvPr id="33794" name="Text Box 8"/>
                <p:cNvSpPr txBox="1">
                  <a:spLocks noChangeArrowheads="1"/>
                </p:cNvSpPr>
                <p:nvPr/>
              </p:nvSpPr>
              <p:spPr bwMode="auto">
                <a:xfrm>
                  <a:off x="2459" y="1004"/>
                  <a:ext cx="5973" cy="97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𝐴</m:t>
                          </m:r>
                        </m:e>
                        <m:sub>
                          <m:r>
                            <a:rPr lang="zh-CN" altLang="en-US" i="1">
                              <a:latin typeface="Cambria Math" panose="02040503050406030204" pitchFamily="18" charset="0"/>
                            </a:rPr>
                            <m:t>𝑘</m:t>
                          </m:r>
                          <m:r>
                            <a:rPr lang="zh-CN" altLang="en-US">
                              <a:latin typeface="Cambria Math" panose="02040503050406030204" pitchFamily="18" charset="0"/>
                            </a:rPr>
                            <m:t>+1</m:t>
                          </m:r>
                        </m:sub>
                      </m:sSub>
                      <m:r>
                        <a:rPr lang="zh-CN" altLang="en-US" i="1">
                          <a:latin typeface="Cambria Math" panose="02040503050406030204" pitchFamily="18" charset="0"/>
                        </a:rPr>
                        <m:t> </m:t>
                      </m:r>
                    </m:oMath>
                  </a14:m>
                  <a:r>
                    <a:rPr lang="en-US" altLang="zh-CN" dirty="0"/>
                    <a:t>=</a:t>
                  </a:r>
                  <a:r>
                    <a:rPr lang="zh-CN" altLang="en-US" dirty="0"/>
                    <a:t> </a:t>
                  </a:r>
                  <a14:m>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𝐴</m:t>
                          </m:r>
                        </m:e>
                        <m:sub>
                          <m:r>
                            <a:rPr lang="zh-CN" altLang="en-US" i="1">
                              <a:latin typeface="Cambria Math" panose="02040503050406030204" pitchFamily="18" charset="0"/>
                            </a:rPr>
                            <m:t>𝑘</m:t>
                          </m:r>
                        </m:sub>
                      </m:sSub>
                      <m:r>
                        <a:rPr lang="zh-CN" altLang="en-US" i="1">
                          <a:latin typeface="Cambria Math" panose="02040503050406030204" pitchFamily="18" charset="0"/>
                        </a:rPr>
                        <m:t> </m:t>
                      </m:r>
                    </m:oMath>
                  </a14:m>
                  <a:r>
                    <a:rPr lang="en-US" altLang="zh-CN" dirty="0"/>
                    <a:t>+</a:t>
                  </a:r>
                  <a14:m>
                    <m:oMath xmlns:m="http://schemas.openxmlformats.org/officeDocument/2006/math">
                      <m:r>
                        <a:rPr lang="zh-CN" altLang="en-US" i="1">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𝐴</m:t>
                          </m:r>
                        </m:e>
                        <m:sub>
                          <m:r>
                            <a:rPr lang="zh-CN" altLang="en-US" i="1">
                              <a:latin typeface="Cambria Math" panose="02040503050406030204" pitchFamily="18" charset="0"/>
                            </a:rPr>
                            <m:t>𝑘</m:t>
                          </m:r>
                        </m:sub>
                      </m:sSub>
                      <m:r>
                        <a:rPr lang="zh-CN" altLang="en-US" i="1">
                          <a:latin typeface="Cambria Math" panose="02040503050406030204" pitchFamily="18" charset="0"/>
                        </a:rPr>
                        <m:t> </m:t>
                      </m:r>
                    </m:oMath>
                  </a14:m>
                  <a:endParaRPr lang="en-US" altLang="zh-CN" dirty="0"/>
                </a:p>
              </p:txBody>
            </p:sp>
          </mc:Choice>
          <mc:Fallback xmlns="">
            <p:sp>
              <p:nvSpPr>
                <p:cNvPr id="33794" name="Text Box 8"/>
                <p:cNvSpPr txBox="1">
                  <a:spLocks noRot="1" noChangeAspect="1" noMove="1" noResize="1" noEditPoints="1" noAdjustHandles="1" noChangeArrowheads="1" noChangeShapeType="1" noTextEdit="1"/>
                </p:cNvSpPr>
                <p:nvPr/>
              </p:nvSpPr>
              <p:spPr bwMode="auto">
                <a:xfrm>
                  <a:off x="2459" y="1004"/>
                  <a:ext cx="5973" cy="970"/>
                </a:xfrm>
                <a:prstGeom prst="rect">
                  <a:avLst/>
                </a:prstGeom>
                <a:blipFill>
                  <a:blip r:embed="rId3"/>
                  <a:stretch>
                    <a:fillRect l="-387" t="-9211" b="-3026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3796" name="AutoShape 17"/>
            <p:cNvSpPr/>
            <p:nvPr/>
          </p:nvSpPr>
          <p:spPr bwMode="auto">
            <a:xfrm>
              <a:off x="6874" y="1886"/>
              <a:ext cx="455" cy="1248"/>
            </a:xfrm>
            <a:prstGeom prst="rightBrace">
              <a:avLst>
                <a:gd name="adj1" fmla="val 22835"/>
                <a:gd name="adj2" fmla="val 50000"/>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zh-CN" altLang="en-US"/>
            </a:p>
          </p:txBody>
        </p:sp>
        <mc:AlternateContent xmlns:mc="http://schemas.openxmlformats.org/markup-compatibility/2006" xmlns:a14="http://schemas.microsoft.com/office/drawing/2010/main">
          <mc:Choice Requires="a14">
            <p:sp>
              <p:nvSpPr>
                <p:cNvPr id="7" name="文本框 6"/>
                <p:cNvSpPr txBox="1"/>
                <p:nvPr/>
              </p:nvSpPr>
              <p:spPr>
                <a:xfrm>
                  <a:off x="1081" y="2402"/>
                  <a:ext cx="7560" cy="97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𝑠</m:t>
                            </m:r>
                          </m:e>
                          <m:sub>
                            <m:r>
                              <a:rPr lang="zh-CN" altLang="en-US" sz="2400" i="1">
                                <a:latin typeface="Cambria Math" panose="02040503050406030204" pitchFamily="18" charset="0"/>
                              </a:rPr>
                              <m:t>𝑘</m:t>
                            </m:r>
                          </m:sub>
                        </m:sSub>
                        <m:r>
                          <a:rPr lang="zh-CN" altLang="en-US" sz="240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1">
                                <a:latin typeface="Cambria Math" panose="02040503050406030204" pitchFamily="18" charset="0"/>
                              </a:rPr>
                              <m:t>𝑘</m:t>
                            </m:r>
                            <m:r>
                              <a:rPr lang="zh-CN" altLang="en-US" sz="2400">
                                <a:latin typeface="Cambria Math" panose="02040503050406030204" pitchFamily="18" charset="0"/>
                              </a:rPr>
                              <m:t>+1</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Sub>
                      </m:oMath>
                    </m:oMathPara>
                  </a14:m>
                  <a:endParaRPr lang="zh-CN" altLang="en-US" sz="2400" dirty="0">
                    <a:latin typeface="宋体" panose="02010600030101010101" pitchFamily="2" charset="-122"/>
                    <a:ea typeface="宋体" panose="02010600030101010101" pitchFamily="2" charset="-122"/>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1081" y="2402"/>
                  <a:ext cx="7560" cy="970"/>
                </a:xfrm>
                <a:prstGeom prst="rect">
                  <a:avLst/>
                </a:prstGeom>
                <a:blipFill>
                  <a:blip r:embed="rId4"/>
                  <a:stretch>
                    <a:fillRect b="-118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7333" y="2021"/>
                  <a:ext cx="7788" cy="97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𝛥</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1">
                                <a:latin typeface="Cambria Math" panose="02040503050406030204" pitchFamily="18" charset="0"/>
                              </a:rPr>
                              <m:t>𝑘</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Sub>
                        <m:r>
                          <a:rPr lang="zh-CN" altLang="en-US" sz="240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𝑠</m:t>
                            </m:r>
                          </m:e>
                          <m:sub>
                            <m:r>
                              <a:rPr lang="zh-CN" altLang="en-US" sz="2400" i="1">
                                <a:latin typeface="Cambria Math" panose="02040503050406030204" pitchFamily="18" charset="0"/>
                              </a:rPr>
                              <m:t>𝑘</m:t>
                            </m:r>
                          </m:sub>
                        </m:sSub>
                        <m:r>
                          <a:rPr lang="zh-CN" altLang="en-US" sz="240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1">
                                <a:latin typeface="Cambria Math" panose="02040503050406030204" pitchFamily="18" charset="0"/>
                              </a:rPr>
                              <m:t>𝑘</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Sub>
                      </m:oMath>
                    </m:oMathPara>
                  </a14:m>
                  <a:endParaRPr lang="zh-CN" altLang="en-US" sz="2400" dirty="0"/>
                </a:p>
              </p:txBody>
            </p:sp>
          </mc:Choice>
          <mc:Fallback xmlns="">
            <p:sp>
              <p:nvSpPr>
                <p:cNvPr id="8" name="文本框 7"/>
                <p:cNvSpPr txBox="1">
                  <a:spLocks noRot="1" noChangeAspect="1" noMove="1" noResize="1" noEditPoints="1" noAdjustHandles="1" noChangeArrowheads="1" noChangeShapeType="1" noTextEdit="1"/>
                </p:cNvSpPr>
                <p:nvPr/>
              </p:nvSpPr>
              <p:spPr>
                <a:xfrm>
                  <a:off x="7333" y="2021"/>
                  <a:ext cx="7788" cy="970"/>
                </a:xfrm>
                <a:prstGeom prst="rect">
                  <a:avLst/>
                </a:prstGeom>
                <a:blipFill>
                  <a:blip r:embed="rId5"/>
                  <a:stretch>
                    <a:fillRect b="-10526"/>
                  </a:stretch>
                </a:blipFill>
              </p:spPr>
              <p:txBody>
                <a:bodyPr/>
                <a:lstStyle/>
                <a:p>
                  <a:r>
                    <a:rPr lang="zh-CN" altLang="en-US">
                      <a:noFill/>
                    </a:rPr>
                    <a:t> </a:t>
                  </a:r>
                </a:p>
              </p:txBody>
            </p:sp>
          </mc:Fallback>
        </mc:AlternateContent>
        <p:sp>
          <p:nvSpPr>
            <p:cNvPr id="9" name="箭头: 右 8"/>
            <p:cNvSpPr/>
            <p:nvPr/>
          </p:nvSpPr>
          <p:spPr>
            <a:xfrm>
              <a:off x="7587" y="2333"/>
              <a:ext cx="845" cy="2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 name="文本框 1"/>
            <p:cNvSpPr txBox="1"/>
            <p:nvPr/>
          </p:nvSpPr>
          <p:spPr>
            <a:xfrm>
              <a:off x="188" y="2112"/>
              <a:ext cx="2608" cy="970"/>
            </a:xfrm>
            <a:prstGeom prst="rect">
              <a:avLst/>
            </a:prstGeom>
            <a:noFill/>
          </p:spPr>
          <p:txBody>
            <a:bodyPr wrap="square" rtlCol="0">
              <a:spAutoFit/>
            </a:bodyPr>
            <a:lstStyle/>
            <a:p>
              <a:r>
                <a:rPr lang="zh-CN" altLang="en-US" sz="2400" dirty="0">
                  <a:latin typeface="宋体" panose="02010600030101010101" pitchFamily="2" charset="-122"/>
                  <a:ea typeface="宋体" panose="02010600030101010101" pitchFamily="2" charset="-122"/>
                </a:rPr>
                <a:t>出发点：</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AutoShape 17"/>
          <p:cNvSpPr>
            <a:spLocks noChangeArrowheads="1"/>
          </p:cNvSpPr>
          <p:nvPr/>
        </p:nvSpPr>
        <p:spPr bwMode="auto">
          <a:xfrm>
            <a:off x="3923928" y="3719112"/>
            <a:ext cx="432197" cy="323850"/>
          </a:xfrm>
          <a:prstGeom prst="downArrow">
            <a:avLst>
              <a:gd name="adj1" fmla="val 50000"/>
              <a:gd name="adj2" fmla="val 25000"/>
            </a:avLst>
          </a:prstGeom>
          <a:solidFill>
            <a:schemeClr val="accent1"/>
          </a:solidFill>
          <a:ln w="9525">
            <a:solidFill>
              <a:schemeClr val="tx1"/>
            </a:solidFill>
            <a:miter lim="800000"/>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zh-CN" altLang="en-US">
              <a:latin typeface="宋体" panose="02010600030101010101" pitchFamily="2" charset="-122"/>
            </a:endParaRPr>
          </a:p>
        </p:txBody>
      </p:sp>
      <mc:AlternateContent xmlns:mc="http://schemas.openxmlformats.org/markup-compatibility/2006" xmlns:a14="http://schemas.microsoft.com/office/drawing/2010/main">
        <mc:Choice Requires="a14">
          <p:sp>
            <p:nvSpPr>
              <p:cNvPr id="7" name="文本框 6"/>
              <p:cNvSpPr txBox="1"/>
              <p:nvPr/>
            </p:nvSpPr>
            <p:spPr>
              <a:xfrm>
                <a:off x="2034210" y="1863233"/>
                <a:ext cx="4510454" cy="17796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sz="2400" i="1">
                              <a:latin typeface="Cambria Math" panose="02040503050406030204" pitchFamily="18" charset="0"/>
                            </a:rPr>
                          </m:ctrlPr>
                        </m:mPr>
                        <m:mr>
                          <m:e>
                            <m:r>
                              <a:rPr lang="en-US" altLang="zh-CN" sz="2400" i="1">
                                <a:latin typeface="Cambria Math" panose="02040503050406030204" pitchFamily="18" charset="0"/>
                              </a:rPr>
                              <m:t>𝑎</m:t>
                            </m:r>
                            <m:r>
                              <a:rPr lang="zh-CN" altLang="en-US" sz="240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a:latin typeface="Cambria Math" panose="02040503050406030204" pitchFamily="18" charset="0"/>
                                  </a:rPr>
                                  <m:t>1</m:t>
                                </m:r>
                              </m:num>
                              <m:den>
                                <m:sSubSup>
                                  <m:sSubSupPr>
                                    <m:ctrlPr>
                                      <a:rPr lang="zh-CN" altLang="en-US" sz="2400" i="1">
                                        <a:latin typeface="Cambria Math" panose="02040503050406030204" pitchFamily="18" charset="0"/>
                                      </a:rPr>
                                    </m:ctrlPr>
                                  </m:sSubSupPr>
                                  <m:e>
                                    <m:r>
                                      <a:rPr lang="zh-CN" altLang="en-US" sz="2400" i="1">
                                        <a:latin typeface="Cambria Math" panose="02040503050406030204" pitchFamily="18" charset="0"/>
                                      </a:rPr>
                                      <m:t>𝑠</m:t>
                                    </m:r>
                                  </m:e>
                                  <m:sub>
                                    <m:r>
                                      <a:rPr lang="zh-CN" altLang="en-US" sz="2400" i="1">
                                        <a:latin typeface="Cambria Math" panose="02040503050406030204" pitchFamily="18" charset="0"/>
                                      </a:rPr>
                                      <m:t>𝑘</m:t>
                                    </m:r>
                                  </m:sub>
                                  <m:sup>
                                    <m:r>
                                      <a:rPr lang="zh-CN" altLang="en-US" sz="2400" i="1">
                                        <a:latin typeface="Cambria Math" panose="02040503050406030204" pitchFamily="18" charset="0"/>
                                      </a:rPr>
                                      <m:t>𝑇</m:t>
                                    </m:r>
                                  </m:sup>
                                </m:sSubSup>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Sub>
                              </m:den>
                            </m:f>
                            <m:r>
                              <a:rPr lang="zh-CN" altLang="en-US" sz="2400">
                                <a:latin typeface="Cambria Math" panose="02040503050406030204" pitchFamily="18" charset="0"/>
                              </a:rPr>
                              <m:t>　　　</m:t>
                            </m:r>
                            <m:r>
                              <a:rPr lang="en-US" altLang="zh-CN" sz="2400" i="1">
                                <a:latin typeface="Cambria Math" panose="02040503050406030204" pitchFamily="18" charset="0"/>
                              </a:rPr>
                              <m:t>𝑏</m:t>
                            </m:r>
                            <m:r>
                              <a:rPr lang="en-US" altLang="zh-CN" sz="2400" i="1">
                                <a:latin typeface="Cambria Math" panose="02040503050406030204" pitchFamily="18" charset="0"/>
                              </a:rPr>
                              <m:t>=</m:t>
                            </m:r>
                            <m:r>
                              <a:rPr lang="zh-CN" altLang="en-US" sz="240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a:latin typeface="Cambria Math" panose="02040503050406030204" pitchFamily="18" charset="0"/>
                                  </a:rPr>
                                  <m:t>1</m:t>
                                </m:r>
                              </m:num>
                              <m:den>
                                <m:sSubSup>
                                  <m:sSubSupPr>
                                    <m:ctrlPr>
                                      <a:rPr lang="zh-CN" altLang="en-US" sz="2400" i="1">
                                        <a:latin typeface="Cambria Math" panose="02040503050406030204" pitchFamily="18" charset="0"/>
                                      </a:rPr>
                                    </m:ctrlPr>
                                  </m:sSubSup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up>
                                    <m:r>
                                      <a:rPr lang="zh-CN" altLang="en-US" sz="2400" i="1">
                                        <a:latin typeface="Cambria Math" panose="02040503050406030204" pitchFamily="18" charset="0"/>
                                      </a:rPr>
                                      <m:t>𝑇</m:t>
                                    </m:r>
                                  </m:sup>
                                </m:sSubSup>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1">
                                        <a:latin typeface="Cambria Math" panose="02040503050406030204" pitchFamily="18" charset="0"/>
                                      </a:rPr>
                                      <m:t>𝑘</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Sub>
                              </m:den>
                            </m:f>
                          </m:e>
                        </m:mr>
                        <m:mr>
                          <m:e>
                            <m:r>
                              <a:rPr lang="zh-CN" altLang="en-US" sz="2400">
                                <a:latin typeface="Cambria Math" panose="02040503050406030204" pitchFamily="18" charset="0"/>
                              </a:rPr>
                              <m:t>得：</m:t>
                            </m:r>
                            <m:r>
                              <a:rPr lang="zh-CN" altLang="en-US" sz="2400" i="1">
                                <a:latin typeface="Cambria Math" panose="02040503050406030204" pitchFamily="18" charset="0"/>
                              </a:rPr>
                              <m:t>𝛥</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1">
                                    <a:latin typeface="Cambria Math" panose="02040503050406030204" pitchFamily="18" charset="0"/>
                                  </a:rPr>
                                  <m:t>𝑘</m:t>
                                </m:r>
                              </m:sub>
                            </m:sSub>
                            <m:r>
                              <a:rPr lang="zh-CN" altLang="en-US" sz="240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𝑠</m:t>
                                    </m:r>
                                  </m:e>
                                  <m:sub>
                                    <m:r>
                                      <a:rPr lang="zh-CN" altLang="en-US" sz="2400" i="1">
                                        <a:latin typeface="Cambria Math" panose="02040503050406030204" pitchFamily="18" charset="0"/>
                                      </a:rPr>
                                      <m:t>𝑘</m:t>
                                    </m:r>
                                  </m:sub>
                                </m:sSub>
                                <m:sSubSup>
                                  <m:sSubSupPr>
                                    <m:ctrlPr>
                                      <a:rPr lang="zh-CN" altLang="en-US" sz="2400" i="1">
                                        <a:latin typeface="Cambria Math" panose="02040503050406030204" pitchFamily="18" charset="0"/>
                                      </a:rPr>
                                    </m:ctrlPr>
                                  </m:sSubSupPr>
                                  <m:e>
                                    <m:r>
                                      <a:rPr lang="zh-CN" altLang="en-US" sz="2400" i="1">
                                        <a:latin typeface="Cambria Math" panose="02040503050406030204" pitchFamily="18" charset="0"/>
                                      </a:rPr>
                                      <m:t>𝑠</m:t>
                                    </m:r>
                                  </m:e>
                                  <m:sub>
                                    <m:r>
                                      <a:rPr lang="zh-CN" altLang="en-US" sz="2400" i="1">
                                        <a:latin typeface="Cambria Math" panose="02040503050406030204" pitchFamily="18" charset="0"/>
                                      </a:rPr>
                                      <m:t>𝑘</m:t>
                                    </m:r>
                                  </m:sub>
                                  <m:sup>
                                    <m:r>
                                      <a:rPr lang="zh-CN" altLang="en-US" sz="2400" i="1">
                                        <a:latin typeface="Cambria Math" panose="02040503050406030204" pitchFamily="18" charset="0"/>
                                      </a:rPr>
                                      <m:t>𝑇</m:t>
                                    </m:r>
                                  </m:sup>
                                </m:sSubSup>
                              </m:num>
                              <m:den>
                                <m:sSubSup>
                                  <m:sSubSupPr>
                                    <m:ctrlPr>
                                      <a:rPr lang="zh-CN" altLang="en-US" sz="2400" i="1">
                                        <a:latin typeface="Cambria Math" panose="02040503050406030204" pitchFamily="18" charset="0"/>
                                      </a:rPr>
                                    </m:ctrlPr>
                                  </m:sSubSupPr>
                                  <m:e>
                                    <m:r>
                                      <a:rPr lang="zh-CN" altLang="en-US" sz="2400" i="1">
                                        <a:latin typeface="Cambria Math" panose="02040503050406030204" pitchFamily="18" charset="0"/>
                                      </a:rPr>
                                      <m:t>𝑠</m:t>
                                    </m:r>
                                  </m:e>
                                  <m:sub>
                                    <m:r>
                                      <a:rPr lang="zh-CN" altLang="en-US" sz="2400" i="1">
                                        <a:latin typeface="Cambria Math" panose="02040503050406030204" pitchFamily="18" charset="0"/>
                                      </a:rPr>
                                      <m:t>𝑘</m:t>
                                    </m:r>
                                  </m:sub>
                                  <m:sup>
                                    <m:r>
                                      <a:rPr lang="zh-CN" altLang="en-US" sz="2400" i="1">
                                        <a:latin typeface="Cambria Math" panose="02040503050406030204" pitchFamily="18" charset="0"/>
                                      </a:rPr>
                                      <m:t>𝑇</m:t>
                                    </m:r>
                                  </m:sup>
                                </m:sSubSup>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Sub>
                              </m:den>
                            </m:f>
                            <m:r>
                              <a:rPr lang="zh-CN" altLang="en-US" sz="240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1">
                                        <a:latin typeface="Cambria Math" panose="02040503050406030204" pitchFamily="18" charset="0"/>
                                      </a:rPr>
                                      <m:t>𝑘</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Sub>
                                <m:sSubSup>
                                  <m:sSubSupPr>
                                    <m:ctrlPr>
                                      <a:rPr lang="zh-CN" altLang="en-US" sz="2400" i="1">
                                        <a:latin typeface="Cambria Math" panose="02040503050406030204" pitchFamily="18" charset="0"/>
                                      </a:rPr>
                                    </m:ctrlPr>
                                  </m:sSubSup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up>
                                    <m:r>
                                      <a:rPr lang="zh-CN" altLang="en-US" sz="2400" i="1">
                                        <a:latin typeface="Cambria Math" panose="02040503050406030204" pitchFamily="18" charset="0"/>
                                      </a:rPr>
                                      <m:t>𝑇</m:t>
                                    </m:r>
                                  </m:sup>
                                </m:sSubSup>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1">
                                        <a:latin typeface="Cambria Math" panose="02040503050406030204" pitchFamily="18" charset="0"/>
                                      </a:rPr>
                                      <m:t>𝑘</m:t>
                                    </m:r>
                                  </m:sub>
                                </m:sSub>
                              </m:num>
                              <m:den>
                                <m:sSubSup>
                                  <m:sSubSupPr>
                                    <m:ctrlPr>
                                      <a:rPr lang="zh-CN" altLang="en-US" sz="2400" i="1">
                                        <a:latin typeface="Cambria Math" panose="02040503050406030204" pitchFamily="18" charset="0"/>
                                      </a:rPr>
                                    </m:ctrlPr>
                                  </m:sSubSup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up>
                                    <m:r>
                                      <a:rPr lang="zh-CN" altLang="en-US" sz="2400" i="1">
                                        <a:latin typeface="Cambria Math" panose="02040503050406030204" pitchFamily="18" charset="0"/>
                                      </a:rPr>
                                      <m:t>𝑇</m:t>
                                    </m:r>
                                  </m:sup>
                                </m:sSubSup>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1">
                                        <a:latin typeface="Cambria Math" panose="02040503050406030204" pitchFamily="18" charset="0"/>
                                      </a:rPr>
                                      <m:t>𝑘</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Sub>
                              </m:den>
                            </m:f>
                          </m:e>
                        </m:mr>
                      </m:m>
                    </m:oMath>
                  </m:oMathPara>
                </a14:m>
                <a:endParaRPr lang="zh-CN" altLang="en-US" sz="2400" dirty="0">
                  <a:latin typeface="宋体" panose="02010600030101010101" pitchFamily="2" charset="-122"/>
                  <a:ea typeface="宋体" panose="02010600030101010101" pitchFamily="2" charset="-122"/>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2034210" y="1863233"/>
                <a:ext cx="4510454" cy="1779654"/>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1941251" y="4239082"/>
                <a:ext cx="4695733" cy="93801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1">
                              <a:latin typeface="Cambria Math" panose="02040503050406030204" pitchFamily="18" charset="0"/>
                            </a:rPr>
                            <m:t>𝑘</m:t>
                          </m:r>
                          <m:r>
                            <a:rPr lang="zh-CN" altLang="en-US" sz="2400">
                              <a:latin typeface="Cambria Math" panose="02040503050406030204" pitchFamily="18" charset="0"/>
                            </a:rPr>
                            <m:t>+1</m:t>
                          </m:r>
                        </m:sub>
                      </m:sSub>
                      <m:r>
                        <a:rPr lang="zh-CN" altLang="en-US" sz="240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1">
                              <a:latin typeface="Cambria Math" panose="02040503050406030204" pitchFamily="18" charset="0"/>
                            </a:rPr>
                            <m:t>𝑘</m:t>
                          </m:r>
                        </m:sub>
                      </m:sSub>
                      <m:r>
                        <a:rPr lang="zh-CN" altLang="en-US" sz="240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𝑠</m:t>
                              </m:r>
                            </m:e>
                            <m:sub>
                              <m:r>
                                <a:rPr lang="zh-CN" altLang="en-US" sz="2400" i="1">
                                  <a:latin typeface="Cambria Math" panose="02040503050406030204" pitchFamily="18" charset="0"/>
                                </a:rPr>
                                <m:t>𝑘</m:t>
                              </m:r>
                            </m:sub>
                          </m:sSub>
                          <m:sSubSup>
                            <m:sSubSupPr>
                              <m:ctrlPr>
                                <a:rPr lang="zh-CN" altLang="en-US" sz="2400" i="1">
                                  <a:latin typeface="Cambria Math" panose="02040503050406030204" pitchFamily="18" charset="0"/>
                                </a:rPr>
                              </m:ctrlPr>
                            </m:sSubSupPr>
                            <m:e>
                              <m:r>
                                <a:rPr lang="zh-CN" altLang="en-US" sz="2400" i="1">
                                  <a:latin typeface="Cambria Math" panose="02040503050406030204" pitchFamily="18" charset="0"/>
                                </a:rPr>
                                <m:t>𝑠</m:t>
                              </m:r>
                            </m:e>
                            <m:sub>
                              <m:r>
                                <a:rPr lang="zh-CN" altLang="en-US" sz="2400" i="1">
                                  <a:latin typeface="Cambria Math" panose="02040503050406030204" pitchFamily="18" charset="0"/>
                                </a:rPr>
                                <m:t>𝑘</m:t>
                              </m:r>
                            </m:sub>
                            <m:sup>
                              <m:r>
                                <a:rPr lang="zh-CN" altLang="en-US" sz="2400" i="1">
                                  <a:latin typeface="Cambria Math" panose="02040503050406030204" pitchFamily="18" charset="0"/>
                                </a:rPr>
                                <m:t>𝑇</m:t>
                              </m:r>
                            </m:sup>
                          </m:sSubSup>
                        </m:num>
                        <m:den>
                          <m:sSubSup>
                            <m:sSubSupPr>
                              <m:ctrlPr>
                                <a:rPr lang="zh-CN" altLang="en-US" sz="2400" i="1">
                                  <a:latin typeface="Cambria Math" panose="02040503050406030204" pitchFamily="18" charset="0"/>
                                </a:rPr>
                              </m:ctrlPr>
                            </m:sSubSupPr>
                            <m:e>
                              <m:r>
                                <a:rPr lang="zh-CN" altLang="en-US" sz="2400" i="1">
                                  <a:latin typeface="Cambria Math" panose="02040503050406030204" pitchFamily="18" charset="0"/>
                                </a:rPr>
                                <m:t>𝑠</m:t>
                              </m:r>
                            </m:e>
                            <m:sub>
                              <m:r>
                                <a:rPr lang="zh-CN" altLang="en-US" sz="2400" i="1">
                                  <a:latin typeface="Cambria Math" panose="02040503050406030204" pitchFamily="18" charset="0"/>
                                </a:rPr>
                                <m:t>𝑘</m:t>
                              </m:r>
                            </m:sub>
                            <m:sup>
                              <m:r>
                                <a:rPr lang="zh-CN" altLang="en-US" sz="2400" i="1">
                                  <a:latin typeface="Cambria Math" panose="02040503050406030204" pitchFamily="18" charset="0"/>
                                </a:rPr>
                                <m:t>𝑇</m:t>
                              </m:r>
                            </m:sup>
                          </m:sSubSup>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Sub>
                        </m:den>
                      </m:f>
                      <m:r>
                        <a:rPr lang="zh-CN" altLang="en-US" sz="240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1">
                                  <a:latin typeface="Cambria Math" panose="02040503050406030204" pitchFamily="18" charset="0"/>
                                </a:rPr>
                                <m:t>𝑘</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Sub>
                          <m:sSubSup>
                            <m:sSubSupPr>
                              <m:ctrlPr>
                                <a:rPr lang="zh-CN" altLang="en-US" sz="2400" i="1">
                                  <a:latin typeface="Cambria Math" panose="02040503050406030204" pitchFamily="18" charset="0"/>
                                </a:rPr>
                              </m:ctrlPr>
                            </m:sSubSup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up>
                              <m:r>
                                <a:rPr lang="zh-CN" altLang="en-US" sz="2400" i="1">
                                  <a:latin typeface="Cambria Math" panose="02040503050406030204" pitchFamily="18" charset="0"/>
                                </a:rPr>
                                <m:t>𝑇</m:t>
                              </m:r>
                            </m:sup>
                          </m:sSubSup>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1">
                                  <a:latin typeface="Cambria Math" panose="02040503050406030204" pitchFamily="18" charset="0"/>
                                </a:rPr>
                                <m:t>𝑘</m:t>
                              </m:r>
                            </m:sub>
                          </m:sSub>
                        </m:num>
                        <m:den>
                          <m:sSubSup>
                            <m:sSubSupPr>
                              <m:ctrlPr>
                                <a:rPr lang="zh-CN" altLang="en-US" sz="2400" i="1">
                                  <a:latin typeface="Cambria Math" panose="02040503050406030204" pitchFamily="18" charset="0"/>
                                </a:rPr>
                              </m:ctrlPr>
                            </m:sSubSup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up>
                              <m:r>
                                <a:rPr lang="zh-CN" altLang="en-US" sz="2400" i="1">
                                  <a:latin typeface="Cambria Math" panose="02040503050406030204" pitchFamily="18" charset="0"/>
                                </a:rPr>
                                <m:t>𝑇</m:t>
                              </m:r>
                            </m:sup>
                          </m:sSubSup>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1">
                                  <a:latin typeface="Cambria Math" panose="02040503050406030204" pitchFamily="18" charset="0"/>
                                </a:rPr>
                                <m:t>𝑘</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Sub>
                        </m:den>
                      </m:f>
                    </m:oMath>
                  </m:oMathPara>
                </a14:m>
                <a:endParaRPr lang="zh-CN" altLang="en-US" sz="2400" dirty="0">
                  <a:latin typeface="宋体" panose="02010600030101010101" pitchFamily="2" charset="-122"/>
                  <a:ea typeface="宋体" panose="02010600030101010101" pitchFamily="2" charset="-122"/>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1941251" y="4239082"/>
                <a:ext cx="4695733" cy="938014"/>
              </a:xfrm>
              <a:prstGeom prst="rect">
                <a:avLst/>
              </a:prstGeom>
              <a:blipFill>
                <a:blip r:embed="rId3"/>
                <a:stretch>
                  <a:fillRect/>
                </a:stretch>
              </a:blipFill>
            </p:spPr>
            <p:txBody>
              <a:bodyPr/>
              <a:lstStyle/>
              <a:p>
                <a:r>
                  <a:rPr lang="zh-CN" altLang="en-US">
                    <a:noFill/>
                  </a:rPr>
                  <a:t> </a:t>
                </a:r>
              </a:p>
            </p:txBody>
          </p:sp>
        </mc:Fallback>
      </mc:AlternateContent>
      <p:sp>
        <p:nvSpPr>
          <p:cNvPr id="2" name="文本框 1"/>
          <p:cNvSpPr txBox="1"/>
          <p:nvPr/>
        </p:nvSpPr>
        <p:spPr>
          <a:xfrm>
            <a:off x="575556" y="1700808"/>
            <a:ext cx="1458654" cy="461665"/>
          </a:xfrm>
          <a:prstGeom prst="rect">
            <a:avLst/>
          </a:prstGeom>
          <a:noFill/>
        </p:spPr>
        <p:txBody>
          <a:bodyPr wrap="square" rtlCol="0">
            <a:spAutoFit/>
          </a:bodyPr>
          <a:lstStyle/>
          <a:p>
            <a:r>
              <a:rPr lang="zh-CN" altLang="en-US" sz="2400" dirty="0">
                <a:latin typeface="宋体" panose="02010600030101010101" pitchFamily="2" charset="-122"/>
                <a:ea typeface="宋体" panose="02010600030101010101" pitchFamily="2" charset="-122"/>
              </a:rPr>
              <a:t>求得：</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D9F11C68-0ACD-3FB3-8053-2B00CF2B43C4}"/>
                  </a:ext>
                </a:extLst>
              </p:cNvPr>
              <p:cNvSpPr txBox="1"/>
              <p:nvPr/>
            </p:nvSpPr>
            <p:spPr>
              <a:xfrm>
                <a:off x="737574" y="5373216"/>
                <a:ext cx="4122458" cy="461665"/>
              </a:xfrm>
              <a:prstGeom prst="rect">
                <a:avLst/>
              </a:prstGeom>
              <a:noFill/>
            </p:spPr>
            <p:txBody>
              <a:bodyPr wrap="square" rtlCol="0">
                <a:spAutoFit/>
              </a:bodyPr>
              <a:lstStyle/>
              <a:p>
                <a:r>
                  <a:rPr lang="zh-CN" altLang="en-US" sz="2400" dirty="0">
                    <a:solidFill>
                      <a:srgbClr val="FF0000"/>
                    </a:solidFill>
                    <a:latin typeface="宋体" panose="02010600030101010101" pitchFamily="2" charset="-122"/>
                    <a:ea typeface="宋体" panose="02010600030101010101" pitchFamily="2" charset="-122"/>
                  </a:rPr>
                  <a:t>注意</a:t>
                </a:r>
                <a:r>
                  <a:rPr lang="zh-CN" altLang="en-US" sz="2400" dirty="0">
                    <a:latin typeface="宋体" panose="02010600030101010101" pitchFamily="2" charset="-122"/>
                    <a:ea typeface="宋体" panose="02010600030101010101" pitchFamily="2" charset="-122"/>
                  </a:rPr>
                  <a:t>：</a:t>
                </a:r>
                <a:r>
                  <a:rPr lang="zh-CN" altLang="zh-CN" sz="2400" kern="100" dirty="0">
                    <a:latin typeface="宋体" panose="02010600030101010101" pitchFamily="2" charset="-122"/>
                    <a:ea typeface="宋体" panose="02010600030101010101" pitchFamily="2" charset="-122"/>
                  </a:rPr>
                  <a:t> </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𝐴</m:t>
                        </m:r>
                      </m:e>
                      <m:sub>
                        <m:r>
                          <a:rPr lang="en-US" altLang="zh-CN" sz="2400" i="1" kern="100">
                            <a:latin typeface="Cambria Math" panose="02040503050406030204" pitchFamily="18" charset="0"/>
                            <a:ea typeface="宋体" panose="02010600030101010101" pitchFamily="2" charset="-122"/>
                          </a:rPr>
                          <m:t>𝑘</m:t>
                        </m:r>
                      </m:sub>
                    </m:sSub>
                  </m:oMath>
                </a14:m>
                <a:r>
                  <a:rPr lang="zh-CN" altLang="en-US" sz="2400" dirty="0">
                    <a:latin typeface="宋体" panose="02010600030101010101" pitchFamily="2" charset="-122"/>
                    <a:ea typeface="宋体" panose="02010600030101010101" pitchFamily="2" charset="-122"/>
                  </a:rPr>
                  <a:t>是实对称矩阵。</a:t>
                </a:r>
              </a:p>
            </p:txBody>
          </p:sp>
        </mc:Choice>
        <mc:Fallback xmlns="">
          <p:sp>
            <p:nvSpPr>
              <p:cNvPr id="3" name="文本框 2">
                <a:extLst>
                  <a:ext uri="{FF2B5EF4-FFF2-40B4-BE49-F238E27FC236}">
                    <a16:creationId xmlns:a16="http://schemas.microsoft.com/office/drawing/2014/main" id="{D9F11C68-0ACD-3FB3-8053-2B00CF2B43C4}"/>
                  </a:ext>
                </a:extLst>
              </p:cNvPr>
              <p:cNvSpPr txBox="1">
                <a:spLocks noRot="1" noChangeAspect="1" noMove="1" noResize="1" noEditPoints="1" noAdjustHandles="1" noChangeArrowheads="1" noChangeShapeType="1" noTextEdit="1"/>
              </p:cNvSpPr>
              <p:nvPr/>
            </p:nvSpPr>
            <p:spPr>
              <a:xfrm>
                <a:off x="737574" y="5373216"/>
                <a:ext cx="4122458" cy="461665"/>
              </a:xfrm>
              <a:prstGeom prst="rect">
                <a:avLst/>
              </a:prstGeom>
              <a:blipFill>
                <a:blip r:embed="rId4"/>
                <a:stretch>
                  <a:fillRect l="-2367" t="-14474" b="-25000"/>
                </a:stretch>
              </a:blipFill>
            </p:spPr>
            <p:txBody>
              <a:bodyPr/>
              <a:lstStyle/>
              <a:p>
                <a:r>
                  <a:rPr lang="zh-CN" altLang="en-US">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8" name="Text Box 4"/>
          <p:cNvSpPr txBox="1">
            <a:spLocks noChangeArrowheads="1"/>
          </p:cNvSpPr>
          <p:nvPr/>
        </p:nvSpPr>
        <p:spPr bwMode="auto">
          <a:xfrm>
            <a:off x="809930" y="352951"/>
            <a:ext cx="126989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Tx/>
              <a:buNone/>
              <a:defRPr/>
            </a:pPr>
            <a:r>
              <a:rPr lang="en-US" altLang="zh-CN" sz="2400" b="1" dirty="0">
                <a:solidFill>
                  <a:srgbClr val="0070C0"/>
                </a:solidFill>
                <a:latin typeface="宋体" panose="02010600030101010101" pitchFamily="2" charset="-122"/>
                <a:ea typeface="宋体" panose="02010600030101010101" pitchFamily="2" charset="-122"/>
              </a:rPr>
              <a:t>DFP</a:t>
            </a:r>
            <a:r>
              <a:rPr lang="zh-CN" altLang="en-US" sz="2400" b="1" dirty="0">
                <a:solidFill>
                  <a:srgbClr val="0070C0"/>
                </a:solidFill>
                <a:latin typeface="宋体" panose="02010600030101010101" pitchFamily="2" charset="-122"/>
                <a:ea typeface="宋体" panose="02010600030101010101" pitchFamily="2" charset="-122"/>
              </a:rPr>
              <a:t>算法</a:t>
            </a:r>
          </a:p>
        </p:txBody>
      </p:sp>
      <mc:AlternateContent xmlns:mc="http://schemas.openxmlformats.org/markup-compatibility/2006" xmlns:a14="http://schemas.microsoft.com/office/drawing/2010/main">
        <mc:Choice Requires="a14">
          <p:sp>
            <p:nvSpPr>
              <p:cNvPr id="139269" name="Text Box 5"/>
              <p:cNvSpPr txBox="1">
                <a:spLocks noChangeArrowheads="1"/>
              </p:cNvSpPr>
              <p:nvPr/>
            </p:nvSpPr>
            <p:spPr bwMode="auto">
              <a:xfrm>
                <a:off x="539552" y="958804"/>
                <a:ext cx="8331508" cy="494039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lgn="just" latinLnBrk="0">
                  <a:lnSpc>
                    <a:spcPct val="150000"/>
                  </a:lnSpc>
                  <a:buFontTx/>
                  <a:buNone/>
                  <a:defRPr/>
                </a:pPr>
                <a:r>
                  <a:rPr lang="en-US" altLang="zh-CN" sz="2400" dirty="0">
                    <a:latin typeface="宋体" panose="02010600030101010101" pitchFamily="2" charset="-122"/>
                    <a:ea typeface="宋体" panose="02010600030101010101" pitchFamily="2" charset="-122"/>
                  </a:rPr>
                  <a:t>1.</a:t>
                </a:r>
                <a:r>
                  <a:rPr lang="zh-CN" altLang="en-US" sz="2400" dirty="0">
                    <a:latin typeface="宋体" panose="02010600030101010101" pitchFamily="2" charset="-122"/>
                    <a:ea typeface="宋体" panose="02010600030101010101" pitchFamily="2" charset="-122"/>
                  </a:rPr>
                  <a:t>任取初始点</a:t>
                </a:r>
                <a14:m>
                  <m:oMath xmlns:m="http://schemas.openxmlformats.org/officeDocument/2006/math">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𝑥</m:t>
                        </m:r>
                      </m:e>
                      <m:sup>
                        <m:r>
                          <a:rPr lang="en-US" altLang="zh-CN" sz="2400" i="1">
                            <a:latin typeface="Cambria Math" panose="02040503050406030204" pitchFamily="18" charset="0"/>
                          </a:rPr>
                          <m:t>(0)</m:t>
                        </m:r>
                      </m:sup>
                    </m:sSup>
                  </m:oMath>
                </a14:m>
                <a:r>
                  <a:rPr lang="zh-CN" altLang="en-US" sz="2400" dirty="0">
                    <a:latin typeface="宋体" panose="02010600030101010101" pitchFamily="2" charset="-122"/>
                    <a:ea typeface="宋体" panose="02010600030101010101" pitchFamily="2" charset="-122"/>
                  </a:rPr>
                  <a:t>、精度</a:t>
                </a:r>
                <a14:m>
                  <m:oMath xmlns:m="http://schemas.openxmlformats.org/officeDocument/2006/math">
                    <m:r>
                      <m:rPr>
                        <m:sty m:val="p"/>
                      </m:rPr>
                      <a:rPr lang="en-US" altLang="zh-CN" sz="2400" dirty="0">
                        <a:latin typeface="Cambria Math" panose="02040503050406030204" pitchFamily="18" charset="0"/>
                        <a:ea typeface="宋体" panose="02010600030101010101" pitchFamily="2" charset="-122"/>
                        <a:cs typeface="Cambria Math" panose="02040503050406030204" pitchFamily="18" charset="0"/>
                      </a:rPr>
                      <m:t>ε</m:t>
                    </m:r>
                    <m:r>
                      <a:rPr lang="zh-CN" altLang="en-US" sz="2400" i="1" dirty="0">
                        <a:latin typeface="Cambria Math" panose="02040503050406030204" pitchFamily="18" charset="0"/>
                        <a:ea typeface="宋体" panose="02010600030101010101" pitchFamily="2" charset="-122"/>
                        <a:cs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rPr>
                  <a:t>计算</a:t>
                </a:r>
                <a14:m>
                  <m:oMath xmlns:m="http://schemas.openxmlformats.org/officeDocument/2006/math">
                    <m:d>
                      <m:dPr>
                        <m:begChr m:val=""/>
                        <m:ctrlPr>
                          <a:rPr lang="zh-CN" altLang="en-US" sz="2400" i="1">
                            <a:latin typeface="Cambria Math" panose="02040503050406030204" pitchFamily="18" charset="0"/>
                          </a:rPr>
                        </m:ctrlPr>
                      </m:dPr>
                      <m:e>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𝑔</m:t>
                            </m:r>
                          </m:e>
                          <m:sub>
                            <m:r>
                              <a:rPr lang="zh-CN" altLang="en-US" sz="2400">
                                <a:latin typeface="Cambria Math" panose="02040503050406030204" pitchFamily="18" charset="0"/>
                              </a:rPr>
                              <m:t>0</m:t>
                            </m:r>
                          </m:sub>
                        </m:sSub>
                        <m:r>
                          <a:rPr lang="en-US" altLang="zh-CN" sz="2400">
                            <a:latin typeface="Cambria Math" panose="02040503050406030204" pitchFamily="18" charset="0"/>
                          </a:rPr>
                          <m:t>=</m:t>
                        </m:r>
                        <m:r>
                          <m:rPr>
                            <m:sty m:val="p"/>
                          </m:rPr>
                          <a:rPr lang="zh-CN" altLang="en-US" sz="2400">
                            <a:latin typeface="Cambria Math" panose="02040503050406030204" pitchFamily="18" charset="0"/>
                          </a:rPr>
                          <m:t>∇</m:t>
                        </m:r>
                        <m:r>
                          <a:rPr lang="zh-CN" altLang="en-US" sz="2400" i="1">
                            <a:latin typeface="Cambria Math" panose="02040503050406030204" pitchFamily="18" charset="0"/>
                          </a:rPr>
                          <m:t>𝑓</m:t>
                        </m:r>
                        <m:r>
                          <a:rPr lang="zh-CN" altLang="en-US" sz="2400">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d>
                              <m:dPr>
                                <m:ctrlPr>
                                  <a:rPr lang="zh-CN" altLang="en-US" sz="2400" i="1">
                                    <a:latin typeface="Cambria Math" panose="02040503050406030204" pitchFamily="18" charset="0"/>
                                  </a:rPr>
                                </m:ctrlPr>
                              </m:dPr>
                              <m:e>
                                <m:r>
                                  <a:rPr lang="zh-CN" altLang="en-US" sz="2400">
                                    <a:latin typeface="Cambria Math" panose="02040503050406030204" pitchFamily="18" charset="0"/>
                                  </a:rPr>
                                  <m:t>0</m:t>
                                </m:r>
                              </m:e>
                            </m:d>
                          </m:sup>
                        </m:sSup>
                      </m:e>
                    </m:d>
                  </m:oMath>
                </a14:m>
                <a:r>
                  <a:rPr lang="zh-CN" altLang="en-US" sz="2400" dirty="0">
                    <a:latin typeface="宋体" panose="02010600030101010101" pitchFamily="2" charset="-122"/>
                    <a:ea typeface="宋体" panose="02010600030101010101" pitchFamily="2" charset="-122"/>
                  </a:rPr>
                  <a:t>及其模</a:t>
                </a:r>
                <a14:m>
                  <m:oMath xmlns:m="http://schemas.openxmlformats.org/officeDocument/2006/math">
                    <m:sSub>
                      <m:sSubPr>
                        <m:ctrlPr>
                          <a:rPr lang="en-US" altLang="zh-CN" sz="2400" i="1">
                            <a:latin typeface="Cambria Math" panose="02040503050406030204" pitchFamily="18" charset="0"/>
                          </a:rPr>
                        </m:ctrlPr>
                      </m:sSubPr>
                      <m:e>
                        <m:r>
                          <a:rPr lang="zh-CN" altLang="en-US" sz="240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𝑔</m:t>
                            </m:r>
                          </m:e>
                          <m:sub>
                            <m:r>
                              <a:rPr lang="zh-CN" altLang="en-US" sz="2400">
                                <a:latin typeface="Cambria Math" panose="02040503050406030204" pitchFamily="18" charset="0"/>
                              </a:rPr>
                              <m:t>0</m:t>
                            </m:r>
                          </m:sub>
                        </m:sSub>
                        <m:r>
                          <a:rPr lang="zh-CN" altLang="en-US" sz="2400">
                            <a:latin typeface="Cambria Math" panose="02040503050406030204" pitchFamily="18" charset="0"/>
                          </a:rPr>
                          <m:t>‖</m:t>
                        </m:r>
                      </m:e>
                      <m:sub>
                        <m:r>
                          <a:rPr lang="en-US" altLang="zh-CN" sz="2400" i="1">
                            <a:latin typeface="Cambria Math" panose="02040503050406030204" pitchFamily="18" charset="0"/>
                          </a:rPr>
                          <m:t>2</m:t>
                        </m:r>
                      </m:sub>
                    </m:sSub>
                  </m:oMath>
                </a14:m>
                <a:r>
                  <a:rPr lang="zh-CN" altLang="en-US" sz="2400" dirty="0">
                    <a:latin typeface="宋体" panose="02010600030101010101" pitchFamily="2" charset="-122"/>
                    <a:ea typeface="宋体" panose="02010600030101010101" pitchFamily="2" charset="-122"/>
                  </a:rPr>
                  <a:t>，若</a:t>
                </a:r>
                <a14:m>
                  <m:oMath xmlns:m="http://schemas.openxmlformats.org/officeDocument/2006/math">
                    <m:sSub>
                      <m:sSubPr>
                        <m:ctrlPr>
                          <a:rPr lang="en-US" altLang="zh-CN" sz="2400" i="1">
                            <a:latin typeface="Cambria Math" panose="02040503050406030204" pitchFamily="18" charset="0"/>
                          </a:rPr>
                        </m:ctrlPr>
                      </m:sSubPr>
                      <m:e>
                        <m:r>
                          <a:rPr lang="zh-CN" altLang="en-US" sz="240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𝑔</m:t>
                            </m:r>
                          </m:e>
                          <m:sub>
                            <m:r>
                              <a:rPr lang="zh-CN" altLang="en-US" sz="2400">
                                <a:latin typeface="Cambria Math" panose="02040503050406030204" pitchFamily="18" charset="0"/>
                              </a:rPr>
                              <m:t>0</m:t>
                            </m:r>
                          </m:sub>
                        </m:sSub>
                        <m:r>
                          <a:rPr lang="zh-CN" altLang="en-US" sz="2400">
                            <a:latin typeface="Cambria Math" panose="02040503050406030204" pitchFamily="18" charset="0"/>
                          </a:rPr>
                          <m:t>‖</m:t>
                        </m:r>
                      </m:e>
                      <m:sub>
                        <m:r>
                          <a:rPr lang="en-US" altLang="zh-CN" sz="2400" i="1">
                            <a:latin typeface="Cambria Math" panose="02040503050406030204" pitchFamily="18" charset="0"/>
                          </a:rPr>
                          <m:t>2</m:t>
                        </m:r>
                      </m:sub>
                    </m:sSub>
                    <m:r>
                      <a:rPr lang="zh-CN" altLang="en-US" sz="2400">
                        <a:latin typeface="Cambria Math" panose="02040503050406030204" pitchFamily="18" charset="0"/>
                      </a:rPr>
                      <m:t>≤</m:t>
                    </m:r>
                    <m:r>
                      <a:rPr lang="zh-CN" altLang="en-US" sz="2400" i="1">
                        <a:latin typeface="Cambria Math" panose="02040503050406030204" pitchFamily="18" charset="0"/>
                      </a:rPr>
                      <m:t>𝜀</m:t>
                    </m:r>
                  </m:oMath>
                </a14:m>
                <a:r>
                  <a:rPr lang="zh-CN" altLang="en-US" sz="2400" dirty="0">
                    <a:latin typeface="宋体" panose="02010600030101010101" pitchFamily="2" charset="-122"/>
                    <a:ea typeface="宋体" panose="02010600030101010101" pitchFamily="2" charset="-122"/>
                  </a:rPr>
                  <a:t> 转步骤</a:t>
                </a:r>
                <a:r>
                  <a:rPr lang="en-US" altLang="zh-CN" sz="2400" dirty="0">
                    <a:latin typeface="宋体" panose="02010600030101010101" pitchFamily="2" charset="-122"/>
                    <a:ea typeface="宋体" panose="02010600030101010101" pitchFamily="2" charset="-122"/>
                  </a:rPr>
                  <a:t>7</a:t>
                </a:r>
                <a:r>
                  <a:rPr lang="zh-CN" altLang="en-US" sz="2400" dirty="0">
                    <a:latin typeface="宋体" panose="02010600030101010101" pitchFamily="2" charset="-122"/>
                    <a:ea typeface="宋体" panose="02010600030101010101" pitchFamily="2" charset="-122"/>
                  </a:rPr>
                  <a:t>，否则进行下一步。</a:t>
                </a:r>
                <a:endParaRPr lang="en-US" altLang="zh-CN" sz="2400" dirty="0">
                  <a:latin typeface="宋体" panose="02010600030101010101" pitchFamily="2" charset="-122"/>
                  <a:ea typeface="宋体" panose="02010600030101010101" pitchFamily="2" charset="-122"/>
                </a:endParaRPr>
              </a:p>
              <a:p>
                <a:pPr algn="just">
                  <a:lnSpc>
                    <a:spcPct val="150000"/>
                  </a:lnSpc>
                  <a:defRPr/>
                </a:pPr>
                <a:r>
                  <a:rPr lang="en-US" altLang="zh-CN" sz="2400" dirty="0">
                    <a:latin typeface="宋体" panose="02010600030101010101" pitchFamily="2" charset="-122"/>
                    <a:ea typeface="宋体" panose="02010600030101010101" pitchFamily="2" charset="-122"/>
                  </a:rPr>
                  <a:t>2.</a:t>
                </a:r>
                <a:r>
                  <a:rPr lang="zh-CN" altLang="en-US" sz="2400" dirty="0">
                    <a:latin typeface="宋体" panose="02010600030101010101" pitchFamily="2" charset="-122"/>
                    <a:ea typeface="宋体" panose="02010600030101010101" pitchFamily="2" charset="-122"/>
                  </a:rPr>
                  <a:t>置</a:t>
                </a:r>
                <a14:m>
                  <m:oMath xmlns:m="http://schemas.openxmlformats.org/officeDocument/2006/math">
                    <m:r>
                      <a:rPr lang="zh-CN" altLang="en-US" sz="2400" i="1">
                        <a:latin typeface="Cambria Math" panose="02040503050406030204" pitchFamily="18" charset="0"/>
                      </a:rPr>
                      <m:t>𝑘</m:t>
                    </m:r>
                    <m:r>
                      <a:rPr lang="en-US" altLang="zh-CN" sz="2400" dirty="0">
                        <a:latin typeface="Cambria Math" panose="02040503050406030204" pitchFamily="18" charset="0"/>
                        <a:ea typeface="宋体" panose="02010600030101010101" pitchFamily="2" charset="-122"/>
                        <a:cs typeface="Cambria Math" panose="02040503050406030204" pitchFamily="18" charset="0"/>
                      </a:rPr>
                      <m:t>=0</m:t>
                    </m:r>
                  </m:oMath>
                </a14:m>
                <a:r>
                  <a:rPr lang="zh-CN" altLang="en-US" sz="2400" dirty="0">
                    <a:latin typeface="宋体" panose="02010600030101010101" pitchFamily="2" charset="-122"/>
                    <a:ea typeface="宋体" panose="02010600030101010101" pitchFamily="2" charset="-122"/>
                  </a:rPr>
                  <a:t>，取</a:t>
                </a:r>
                <a14:m>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1">
                            <a:latin typeface="Cambria Math" panose="02040503050406030204" pitchFamily="18" charset="0"/>
                          </a:rPr>
                          <m:t>𝑘</m:t>
                        </m:r>
                      </m:sub>
                    </m:sSub>
                    <m:r>
                      <a:rPr lang="en-US" altLang="zh-CN" sz="2400">
                        <a:latin typeface="Cambria Math" panose="02040503050406030204" pitchFamily="18" charset="0"/>
                        <a:cs typeface="Cambria Math" panose="02040503050406030204" pitchFamily="18" charset="0"/>
                      </a:rPr>
                      <m:t>=</m:t>
                    </m:r>
                  </m:oMath>
                </a14:m>
                <a:r>
                  <a:rPr lang="en-US" altLang="zh-CN" sz="2400" dirty="0"/>
                  <a:t> </a:t>
                </a:r>
                <a14:m>
                  <m:oMath xmlns:m="http://schemas.openxmlformats.org/officeDocument/2006/math">
                    <m:r>
                      <a:rPr lang="en-US" altLang="zh-CN" sz="2400" i="1">
                        <a:latin typeface="Cambria Math" panose="02040503050406030204" pitchFamily="18" charset="0"/>
                      </a:rPr>
                      <m:t>𝐼</m:t>
                    </m:r>
                  </m:oMath>
                </a14:m>
                <a:endParaRPr lang="en-US" altLang="zh-CN" sz="2400" dirty="0">
                  <a:latin typeface="宋体" panose="02010600030101010101" pitchFamily="2" charset="-122"/>
                  <a:ea typeface="宋体" panose="02010600030101010101" pitchFamily="2" charset="-122"/>
                </a:endParaRPr>
              </a:p>
              <a:p>
                <a:pPr algn="just">
                  <a:lnSpc>
                    <a:spcPct val="150000"/>
                  </a:lnSpc>
                  <a:defRPr/>
                </a:pPr>
                <a:r>
                  <a:rPr lang="en-US" altLang="zh-CN" sz="2400" dirty="0">
                    <a:latin typeface="宋体" panose="02010600030101010101" pitchFamily="2" charset="-122"/>
                    <a:ea typeface="宋体" panose="02010600030101010101" pitchFamily="2" charset="-122"/>
                  </a:rPr>
                  <a:t>3.</a:t>
                </a:r>
                <a:r>
                  <a:rPr lang="zh-CN" altLang="en-US" sz="2400" dirty="0">
                    <a:latin typeface="宋体" panose="02010600030101010101" pitchFamily="2" charset="-122"/>
                    <a:ea typeface="宋体" panose="02010600030101010101" pitchFamily="2" charset="-122"/>
                  </a:rPr>
                  <a:t>计算迭代方向</a:t>
                </a:r>
                <a14:m>
                  <m:oMath xmlns:m="http://schemas.openxmlformats.org/officeDocument/2006/math">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𝑑</m:t>
                        </m:r>
                      </m:e>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𝑘</m:t>
                            </m:r>
                          </m:e>
                        </m:d>
                      </m:sup>
                    </m:sSup>
                    <m:r>
                      <a:rPr lang="zh-CN" altLang="en-US" sz="240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1">
                            <a:latin typeface="Cambria Math" panose="02040503050406030204" pitchFamily="18" charset="0"/>
                          </a:rPr>
                          <m:t>𝑘</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𝑔</m:t>
                        </m:r>
                      </m:e>
                      <m:sub>
                        <m:r>
                          <a:rPr lang="zh-CN" altLang="en-US" sz="2400" i="1">
                            <a:latin typeface="Cambria Math" panose="02040503050406030204" pitchFamily="18" charset="0"/>
                          </a:rPr>
                          <m:t>𝑘</m:t>
                        </m:r>
                      </m:sub>
                    </m:sSub>
                  </m:oMath>
                </a14:m>
                <a:r>
                  <a:rPr lang="zh-CN" altLang="en-US" sz="2400" dirty="0">
                    <a:latin typeface="宋体" panose="02010600030101010101" pitchFamily="2" charset="-122"/>
                    <a:ea typeface="宋体" panose="02010600030101010101" pitchFamily="2" charset="-122"/>
                  </a:rPr>
                  <a:t>，沿</a:t>
                </a:r>
                <a14:m>
                  <m:oMath xmlns:m="http://schemas.openxmlformats.org/officeDocument/2006/math">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𝑑</m:t>
                        </m:r>
                      </m:e>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𝑘</m:t>
                            </m:r>
                          </m:e>
                        </m:d>
                      </m:sup>
                    </m:sSup>
                  </m:oMath>
                </a14:m>
                <a:r>
                  <a:rPr lang="zh-CN" altLang="en-US" sz="2400" dirty="0">
                    <a:latin typeface="宋体" panose="02010600030101010101" pitchFamily="2" charset="-122"/>
                    <a:ea typeface="宋体" panose="02010600030101010101" pitchFamily="2" charset="-122"/>
                  </a:rPr>
                  <a:t>方向做一维搜索，求最优步长</a:t>
                </a:r>
                <a14:m>
                  <m:oMath xmlns:m="http://schemas.openxmlformats.org/officeDocument/2006/math">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𝛼</m:t>
                        </m:r>
                      </m:e>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𝑘</m:t>
                            </m:r>
                          </m:e>
                        </m:d>
                      </m:sup>
                    </m:sSup>
                  </m:oMath>
                </a14:m>
                <a:r>
                  <a:rPr lang="zh-CN" altLang="en-US" sz="2400" dirty="0">
                    <a:latin typeface="宋体" panose="02010600030101010101" pitchFamily="2" charset="-122"/>
                    <a:ea typeface="宋体" panose="02010600030101010101" pitchFamily="2" charset="-122"/>
                  </a:rPr>
                  <a:t>，使得</a:t>
                </a:r>
                <a:endParaRPr lang="en-US" altLang="zh-CN" sz="2400" dirty="0">
                  <a:latin typeface="宋体" panose="02010600030101010101" pitchFamily="2" charset="-122"/>
                  <a:ea typeface="宋体" panose="02010600030101010101" pitchFamily="2" charset="-122"/>
                </a:endParaRPr>
              </a:p>
              <a:p>
                <a:pPr algn="just">
                  <a:lnSpc>
                    <a:spcPct val="150000"/>
                  </a:lnSpc>
                  <a:defRPr/>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𝑓</m:t>
                      </m:r>
                      <m:r>
                        <a:rPr lang="zh-CN" altLang="en-US" sz="2400">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𝑘</m:t>
                              </m:r>
                            </m:e>
                          </m:d>
                        </m:sup>
                      </m:sSup>
                      <m:r>
                        <a:rPr lang="zh-CN" altLang="en-US" sz="2400">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𝛼</m:t>
                          </m:r>
                        </m:e>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𝑘</m:t>
                              </m:r>
                            </m:e>
                          </m:d>
                        </m:sup>
                      </m:sSup>
                      <m:sSup>
                        <m:sSupPr>
                          <m:ctrlPr>
                            <a:rPr lang="zh-CN" altLang="en-US" sz="2400" i="1">
                              <a:latin typeface="Cambria Math" panose="02040503050406030204" pitchFamily="18" charset="0"/>
                              <a:cs typeface="Cambria Math" panose="02040503050406030204" pitchFamily="18" charset="0"/>
                            </a:rPr>
                          </m:ctrlPr>
                        </m:sSupPr>
                        <m:e>
                          <m:r>
                            <a:rPr lang="en-US" altLang="zh-CN" sz="2400" i="1">
                              <a:latin typeface="Cambria Math" panose="02040503050406030204" pitchFamily="18" charset="0"/>
                              <a:cs typeface="Cambria Math" panose="02040503050406030204" pitchFamily="18" charset="0"/>
                            </a:rPr>
                            <m:t>𝑑</m:t>
                          </m:r>
                        </m:e>
                        <m:sup>
                          <m:d>
                            <m:dPr>
                              <m:ctrlPr>
                                <a:rPr lang="zh-CN" altLang="en-US" sz="2400" i="1">
                                  <a:latin typeface="Cambria Math" panose="02040503050406030204" pitchFamily="18" charset="0"/>
                                  <a:cs typeface="Cambria Math" panose="02040503050406030204" pitchFamily="18" charset="0"/>
                                </a:rPr>
                              </m:ctrlPr>
                            </m:dPr>
                            <m:e>
                              <m:r>
                                <a:rPr lang="en-US" altLang="zh-CN" sz="2400" i="1">
                                  <a:latin typeface="Cambria Math" panose="02040503050406030204" pitchFamily="18" charset="0"/>
                                  <a:cs typeface="Cambria Math" panose="02040503050406030204" pitchFamily="18" charset="0"/>
                                </a:rPr>
                                <m:t>𝑘</m:t>
                              </m:r>
                            </m:e>
                          </m:d>
                        </m:sup>
                      </m:sSup>
                      <m:r>
                        <a:rPr lang="zh-CN" altLang="en-US" sz="2400">
                          <a:latin typeface="Cambria Math" panose="02040503050406030204" pitchFamily="18" charset="0"/>
                        </a:rPr>
                        <m:t>)=</m:t>
                      </m:r>
                      <m:limLow>
                        <m:limLowPr>
                          <m:ctrlPr>
                            <a:rPr lang="zh-CN" altLang="zh-CN" sz="2400" i="1" kern="100">
                              <a:latin typeface="Cambria Math" panose="02040503050406030204" pitchFamily="18" charset="0"/>
                              <a:ea typeface="Cambria Math" panose="02040503050406030204" pitchFamily="18" charset="0"/>
                            </a:rPr>
                          </m:ctrlPr>
                        </m:limLowPr>
                        <m:e>
                          <m:r>
                            <a:rPr lang="en-US" altLang="zh-CN" sz="2400" i="1" kern="100">
                              <a:latin typeface="Cambria Math" panose="02040503050406030204" pitchFamily="18" charset="0"/>
                            </a:rPr>
                            <m:t>𝑚𝑖𝑛</m:t>
                          </m:r>
                        </m:e>
                        <m:lim>
                          <m:r>
                            <a:rPr lang="en-US" altLang="zh-CN" sz="2400" i="1" kern="100">
                              <a:latin typeface="Cambria Math" panose="02040503050406030204" pitchFamily="18" charset="0"/>
                            </a:rPr>
                            <m:t>𝛼</m:t>
                          </m:r>
                          <m:r>
                            <a:rPr lang="en-US" altLang="zh-CN" sz="2400" i="1" kern="100">
                              <a:latin typeface="Cambria Math" panose="02040503050406030204" pitchFamily="18" charset="0"/>
                              <a:ea typeface="Cambria Math" panose="02040503050406030204" pitchFamily="18" charset="0"/>
                            </a:rPr>
                            <m:t>≥</m:t>
                          </m:r>
                          <m:r>
                            <a:rPr lang="en-US" altLang="zh-CN" sz="2400" i="1" kern="100">
                              <a:latin typeface="Cambria Math" panose="02040503050406030204" pitchFamily="18" charset="0"/>
                            </a:rPr>
                            <m:t>0</m:t>
                          </m:r>
                        </m:lim>
                      </m:limLow>
                      <m:r>
                        <a:rPr lang="en-US" altLang="zh-CN" sz="2400" i="1" kern="100">
                          <a:latin typeface="Cambria Math" panose="02040503050406030204" pitchFamily="18" charset="0"/>
                        </a:rPr>
                        <m:t>𝑓</m:t>
                      </m:r>
                      <m:r>
                        <a:rPr lang="en-US" altLang="zh-CN" sz="2400" i="1" kern="100">
                          <a:latin typeface="Cambria Math" panose="02040503050406030204" pitchFamily="18" charset="0"/>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𝑥</m:t>
                          </m:r>
                        </m:e>
                        <m:sup>
                          <m:r>
                            <a:rPr lang="en-US" altLang="zh-CN" sz="2400" i="1" kern="100">
                              <a:latin typeface="Cambria Math" panose="02040503050406030204" pitchFamily="18" charset="0"/>
                            </a:rPr>
                            <m:t>(</m:t>
                          </m:r>
                          <m:r>
                            <a:rPr lang="en-US" altLang="zh-CN" sz="2400" i="1" kern="100">
                              <a:latin typeface="Cambria Math" panose="02040503050406030204" pitchFamily="18" charset="0"/>
                            </a:rPr>
                            <m:t>𝑘</m:t>
                          </m:r>
                          <m:r>
                            <a:rPr lang="en-US" altLang="zh-CN" sz="2400" i="1" kern="100">
                              <a:latin typeface="Cambria Math" panose="02040503050406030204" pitchFamily="18" charset="0"/>
                            </a:rPr>
                            <m:t>)</m:t>
                          </m:r>
                        </m:sup>
                      </m:sSup>
                      <m:r>
                        <a:rPr lang="en-US" altLang="zh-CN" sz="2400" i="1" kern="100">
                          <a:latin typeface="Cambria Math" panose="02040503050406030204" pitchFamily="18" charset="0"/>
                        </a:rPr>
                        <m:t>+</m:t>
                      </m:r>
                      <m:r>
                        <a:rPr lang="en-US" altLang="zh-CN" sz="2400" i="1" kern="100">
                          <a:latin typeface="Cambria Math" panose="02040503050406030204" pitchFamily="18" charset="0"/>
                        </a:rPr>
                        <m:t>𝛼</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𝑑</m:t>
                          </m:r>
                        </m:e>
                        <m:sup>
                          <m:r>
                            <a:rPr lang="en-US" altLang="zh-CN" sz="2400" i="1" kern="100">
                              <a:latin typeface="Cambria Math" panose="02040503050406030204" pitchFamily="18" charset="0"/>
                            </a:rPr>
                            <m:t>(</m:t>
                          </m:r>
                          <m:r>
                            <a:rPr lang="en-US" altLang="zh-CN" sz="2400" i="1" kern="100">
                              <a:latin typeface="Cambria Math" panose="02040503050406030204" pitchFamily="18" charset="0"/>
                            </a:rPr>
                            <m:t>𝑘</m:t>
                          </m:r>
                          <m:r>
                            <a:rPr lang="en-US" altLang="zh-CN" sz="2400" i="1" kern="100">
                              <a:latin typeface="Cambria Math" panose="02040503050406030204" pitchFamily="18" charset="0"/>
                            </a:rPr>
                            <m:t>)</m:t>
                          </m:r>
                        </m:sup>
                      </m:sSup>
                      <m:r>
                        <a:rPr lang="en-US" altLang="zh-CN" sz="2400" i="1" kern="100">
                          <a:latin typeface="Cambria Math" panose="02040503050406030204" pitchFamily="18" charset="0"/>
                        </a:rPr>
                        <m:t>)</m:t>
                      </m:r>
                    </m:oMath>
                  </m:oMathPara>
                </a14:m>
                <a:endParaRPr lang="en-US" altLang="zh-CN" sz="2400" dirty="0">
                  <a:latin typeface="宋体" panose="02010600030101010101" pitchFamily="2" charset="-122"/>
                  <a:ea typeface="宋体" panose="02010600030101010101" pitchFamily="2" charset="-122"/>
                </a:endParaRPr>
              </a:p>
              <a:p>
                <a:pPr algn="just">
                  <a:lnSpc>
                    <a:spcPct val="150000"/>
                  </a:lnSpc>
                  <a:defRPr/>
                </a:pPr>
                <a:r>
                  <a:rPr lang="zh-CN" altLang="en-US" sz="2400" dirty="0">
                    <a:latin typeface="宋体" panose="02010600030101010101" pitchFamily="2" charset="-122"/>
                    <a:ea typeface="宋体" panose="02010600030101010101" pitchFamily="2" charset="-122"/>
                  </a:rPr>
                  <a:t>  确定下一个迭代点</a:t>
                </a:r>
                <a:endParaRPr lang="en-US" altLang="zh-CN" sz="2400" dirty="0">
                  <a:latin typeface="宋体" panose="02010600030101010101" pitchFamily="2" charset="-122"/>
                  <a:ea typeface="宋体" panose="02010600030101010101" pitchFamily="2" charset="-122"/>
                </a:endParaRPr>
              </a:p>
              <a:p>
                <a:pPr algn="just">
                  <a:lnSpc>
                    <a:spcPct val="150000"/>
                  </a:lnSpc>
                  <a:defRPr/>
                </a:pPr>
                <a14:m>
                  <m:oMathPara xmlns:m="http://schemas.openxmlformats.org/officeDocument/2006/math">
                    <m:oMathParaPr>
                      <m:jc m:val="centerGroup"/>
                    </m:oMathParaPr>
                    <m:oMath xmlns:m="http://schemas.openxmlformats.org/officeDocument/2006/math">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𝑘</m:t>
                              </m:r>
                              <m:r>
                                <a:rPr lang="zh-CN" altLang="en-US" sz="2400">
                                  <a:latin typeface="Cambria Math" panose="02040503050406030204" pitchFamily="18" charset="0"/>
                                </a:rPr>
                                <m:t>+1</m:t>
                              </m:r>
                            </m:e>
                          </m:d>
                        </m:sup>
                      </m:sSup>
                      <m:r>
                        <a:rPr lang="zh-CN" altLang="en-US" sz="2400">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𝑘</m:t>
                              </m:r>
                            </m:e>
                          </m:d>
                        </m:sup>
                      </m:sSup>
                      <m:r>
                        <a:rPr lang="zh-CN" altLang="en-US" sz="2400">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𝛼</m:t>
                          </m:r>
                        </m:e>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𝑘</m:t>
                              </m:r>
                            </m:e>
                          </m:d>
                        </m:sup>
                      </m:sSup>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𝑑</m:t>
                          </m:r>
                        </m:e>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𝑘</m:t>
                              </m:r>
                            </m:e>
                          </m:d>
                        </m:sup>
                      </m:sSup>
                    </m:oMath>
                  </m:oMathPara>
                </a14:m>
                <a:endParaRPr lang="zh-CN" altLang="en-US" sz="2400" dirty="0">
                  <a:latin typeface="宋体" panose="02010600030101010101" pitchFamily="2" charset="-122"/>
                  <a:ea typeface="宋体" panose="02010600030101010101" pitchFamily="2" charset="-122"/>
                </a:endParaRPr>
              </a:p>
            </p:txBody>
          </p:sp>
        </mc:Choice>
        <mc:Fallback xmlns="">
          <p:sp>
            <p:nvSpPr>
              <p:cNvPr id="139269" name="Text Box 5"/>
              <p:cNvSpPr txBox="1">
                <a:spLocks noRot="1" noChangeAspect="1" noMove="1" noResize="1" noEditPoints="1" noAdjustHandles="1" noChangeArrowheads="1" noChangeShapeType="1" noTextEdit="1"/>
              </p:cNvSpPr>
              <p:nvPr/>
            </p:nvSpPr>
            <p:spPr bwMode="auto">
              <a:xfrm>
                <a:off x="539552" y="958804"/>
                <a:ext cx="8331508" cy="4940391"/>
              </a:xfrm>
              <a:prstGeom prst="rect">
                <a:avLst/>
              </a:prstGeom>
              <a:blipFill>
                <a:blip r:embed="rId2"/>
                <a:stretch>
                  <a:fillRect l="-1171" r="-109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 Box 4">
                <a:extLst>
                  <a:ext uri="{FF2B5EF4-FFF2-40B4-BE49-F238E27FC236}">
                    <a16:creationId xmlns:a16="http://schemas.microsoft.com/office/drawing/2014/main" id="{2DA83AED-A824-995A-7A6B-07C01F0DBF50}"/>
                  </a:ext>
                </a:extLst>
              </p:cNvPr>
              <p:cNvSpPr txBox="1">
                <a:spLocks noChangeArrowheads="1"/>
              </p:cNvSpPr>
              <p:nvPr/>
            </p:nvSpPr>
            <p:spPr bwMode="auto">
              <a:xfrm>
                <a:off x="575719" y="404664"/>
                <a:ext cx="8388769" cy="583929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lgn="just" latinLnBrk="0">
                  <a:lnSpc>
                    <a:spcPct val="150000"/>
                  </a:lnSpc>
                  <a:defRPr/>
                </a:pPr>
                <a:r>
                  <a:rPr lang="en-US" altLang="zh-CN" sz="2400" dirty="0">
                    <a:latin typeface="宋体" panose="02010600030101010101" pitchFamily="2" charset="-122"/>
                    <a:ea typeface="宋体" panose="02010600030101010101" pitchFamily="2" charset="-122"/>
                  </a:rPr>
                  <a:t>4.</a:t>
                </a:r>
                <a:r>
                  <a:rPr lang="zh-CN" altLang="en-US" sz="2400" dirty="0">
                    <a:latin typeface="宋体" panose="02010600030101010101" pitchFamily="2" charset="-122"/>
                    <a:ea typeface="宋体" panose="02010600030101010101" pitchFamily="2" charset="-122"/>
                  </a:rPr>
                  <a:t>计算</a:t>
                </a:r>
                <a14:m>
                  <m:oMath xmlns:m="http://schemas.openxmlformats.org/officeDocument/2006/math">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𝑘</m:t>
                            </m:r>
                            <m:r>
                              <a:rPr lang="zh-CN" altLang="en-US" sz="2400">
                                <a:latin typeface="Cambria Math" panose="02040503050406030204" pitchFamily="18" charset="0"/>
                              </a:rPr>
                              <m:t>+1</m:t>
                            </m:r>
                          </m:e>
                        </m:d>
                      </m:sup>
                    </m:sSup>
                  </m:oMath>
                </a14:m>
                <a:r>
                  <a:rPr lang="zh-CN" altLang="en-US" sz="2400" dirty="0">
                    <a:latin typeface="宋体" panose="02010600030101010101" pitchFamily="2" charset="-122"/>
                    <a:ea typeface="宋体" panose="02010600030101010101" pitchFamily="2" charset="-122"/>
                  </a:rPr>
                  <a:t>的梯度</a:t>
                </a:r>
                <a14:m>
                  <m:oMath xmlns:m="http://schemas.openxmlformats.org/officeDocument/2006/math">
                    <m:d>
                      <m:dPr>
                        <m:begChr m:val=""/>
                        <m:ctrlPr>
                          <a:rPr lang="zh-CN" altLang="en-US" sz="2400" i="1">
                            <a:latin typeface="Cambria Math" panose="02040503050406030204" pitchFamily="18" charset="0"/>
                          </a:rPr>
                        </m:ctrlPr>
                      </m:dPr>
                      <m:e>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𝑔</m:t>
                            </m:r>
                          </m:e>
                          <m:sub>
                            <m:r>
                              <a:rPr lang="en-US" altLang="zh-CN" sz="2400" i="1">
                                <a:latin typeface="Cambria Math" panose="02040503050406030204" pitchFamily="18" charset="0"/>
                              </a:rPr>
                              <m:t>𝑘</m:t>
                            </m:r>
                            <m:r>
                              <a:rPr lang="en-US" altLang="zh-CN" sz="2400" i="1">
                                <a:latin typeface="Cambria Math" panose="02040503050406030204" pitchFamily="18" charset="0"/>
                              </a:rPr>
                              <m:t>+1</m:t>
                            </m:r>
                          </m:sub>
                        </m:sSub>
                        <m:r>
                          <a:rPr lang="en-US" altLang="zh-CN" sz="2400">
                            <a:latin typeface="Cambria Math" panose="02040503050406030204" pitchFamily="18" charset="0"/>
                          </a:rPr>
                          <m:t>=</m:t>
                        </m:r>
                        <m:r>
                          <m:rPr>
                            <m:sty m:val="p"/>
                          </m:rPr>
                          <a:rPr lang="zh-CN" altLang="en-US" sz="2400">
                            <a:latin typeface="Cambria Math" panose="02040503050406030204" pitchFamily="18" charset="0"/>
                          </a:rPr>
                          <m:t>∇</m:t>
                        </m:r>
                        <m:r>
                          <a:rPr lang="zh-CN" altLang="en-US" sz="2400" i="1">
                            <a:latin typeface="Cambria Math" panose="02040503050406030204" pitchFamily="18" charset="0"/>
                          </a:rPr>
                          <m:t>𝑓</m:t>
                        </m:r>
                        <m:r>
                          <a:rPr lang="zh-CN" altLang="en-US" sz="2400">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𝑘</m:t>
                                </m:r>
                                <m:r>
                                  <a:rPr lang="zh-CN" altLang="en-US" sz="2400">
                                    <a:latin typeface="Cambria Math" panose="02040503050406030204" pitchFamily="18" charset="0"/>
                                  </a:rPr>
                                  <m:t>+1</m:t>
                                </m:r>
                              </m:e>
                            </m:d>
                          </m:sup>
                        </m:sSup>
                      </m:e>
                    </m:d>
                  </m:oMath>
                </a14:m>
                <a:r>
                  <a:rPr lang="zh-CN" altLang="en-US" sz="2400" dirty="0">
                    <a:latin typeface="宋体" panose="02010600030101010101" pitchFamily="2" charset="-122"/>
                    <a:ea typeface="宋体" panose="02010600030101010101" pitchFamily="2" charset="-122"/>
                  </a:rPr>
                  <a:t>及其模 </a:t>
                </a:r>
                <a14:m>
                  <m:oMath xmlns:m="http://schemas.openxmlformats.org/officeDocument/2006/math">
                    <m:sSub>
                      <m:sSubPr>
                        <m:ctrlPr>
                          <a:rPr lang="en-US" altLang="zh-CN" sz="2400" i="1">
                            <a:latin typeface="Cambria Math" panose="02040503050406030204" pitchFamily="18" charset="0"/>
                          </a:rPr>
                        </m:ctrlPr>
                      </m:sSubPr>
                      <m:e>
                        <m:r>
                          <a:rPr lang="zh-CN" altLang="en-US" sz="240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𝑔</m:t>
                            </m:r>
                          </m:e>
                          <m:sub>
                            <m:r>
                              <a:rPr lang="zh-CN" altLang="en-US" sz="2400" i="1">
                                <a:latin typeface="Cambria Math" panose="02040503050406030204" pitchFamily="18" charset="0"/>
                              </a:rPr>
                              <m:t>𝑘</m:t>
                            </m:r>
                            <m:r>
                              <a:rPr lang="zh-CN" altLang="en-US" sz="2400">
                                <a:latin typeface="Cambria Math" panose="02040503050406030204" pitchFamily="18" charset="0"/>
                              </a:rPr>
                              <m:t>+1</m:t>
                            </m:r>
                          </m:sub>
                        </m:sSub>
                        <m:r>
                          <a:rPr lang="zh-CN" altLang="en-US" sz="2400">
                            <a:latin typeface="Cambria Math" panose="02040503050406030204" pitchFamily="18" charset="0"/>
                          </a:rPr>
                          <m:t>‖</m:t>
                        </m:r>
                      </m:e>
                      <m:sub>
                        <m:r>
                          <a:rPr lang="en-US" altLang="zh-CN" sz="2400" i="1">
                            <a:latin typeface="Cambria Math" panose="02040503050406030204" pitchFamily="18" charset="0"/>
                          </a:rPr>
                          <m:t>2</m:t>
                        </m:r>
                      </m:sub>
                    </m:sSub>
                  </m:oMath>
                </a14:m>
                <a:r>
                  <a:rPr lang="zh-CN" altLang="en-US" sz="2400" dirty="0">
                    <a:latin typeface="宋体" panose="02010600030101010101" pitchFamily="2" charset="-122"/>
                    <a:ea typeface="宋体" panose="02010600030101010101" pitchFamily="2" charset="-122"/>
                  </a:rPr>
                  <a:t>，若</a:t>
                </a:r>
                <a14:m>
                  <m:oMath xmlns:m="http://schemas.openxmlformats.org/officeDocument/2006/math">
                    <m:sSub>
                      <m:sSubPr>
                        <m:ctrlPr>
                          <a:rPr lang="en-US" altLang="zh-CN" sz="2400" i="1">
                            <a:latin typeface="Cambria Math" panose="02040503050406030204" pitchFamily="18" charset="0"/>
                          </a:rPr>
                        </m:ctrlPr>
                      </m:sSubPr>
                      <m:e>
                        <m:r>
                          <a:rPr lang="zh-CN" altLang="en-US" sz="240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𝑔</m:t>
                            </m:r>
                          </m:e>
                          <m:sub>
                            <m:r>
                              <a:rPr lang="zh-CN" altLang="en-US" sz="2400" i="1">
                                <a:latin typeface="Cambria Math" panose="02040503050406030204" pitchFamily="18" charset="0"/>
                              </a:rPr>
                              <m:t>𝑘</m:t>
                            </m:r>
                            <m:r>
                              <a:rPr lang="zh-CN" altLang="en-US" sz="2400">
                                <a:latin typeface="Cambria Math" panose="02040503050406030204" pitchFamily="18" charset="0"/>
                              </a:rPr>
                              <m:t>+1</m:t>
                            </m:r>
                          </m:sub>
                        </m:sSub>
                        <m:r>
                          <a:rPr lang="zh-CN" altLang="en-US" sz="2400">
                            <a:latin typeface="Cambria Math" panose="02040503050406030204" pitchFamily="18" charset="0"/>
                          </a:rPr>
                          <m:t>‖</m:t>
                        </m:r>
                      </m:e>
                      <m:sub>
                        <m:r>
                          <a:rPr lang="en-US" altLang="zh-CN" sz="2400" i="1">
                            <a:latin typeface="Cambria Math" panose="02040503050406030204" pitchFamily="18" charset="0"/>
                          </a:rPr>
                          <m:t>2</m:t>
                        </m:r>
                      </m:sub>
                    </m:sSub>
                    <m:r>
                      <a:rPr lang="zh-CN" altLang="en-US" sz="2400">
                        <a:latin typeface="Cambria Math" panose="02040503050406030204" pitchFamily="18" charset="0"/>
                      </a:rPr>
                      <m:t>≤</m:t>
                    </m:r>
                    <m:r>
                      <a:rPr lang="zh-CN" altLang="en-US" sz="2400" i="1">
                        <a:latin typeface="Cambria Math" panose="02040503050406030204" pitchFamily="18" charset="0"/>
                      </a:rPr>
                      <m:t>𝜀</m:t>
                    </m:r>
                  </m:oMath>
                </a14:m>
                <a:r>
                  <a:rPr lang="zh-CN" altLang="en-US" sz="2400" dirty="0">
                    <a:latin typeface="宋体" panose="02010600030101010101" pitchFamily="2" charset="-122"/>
                    <a:ea typeface="宋体" panose="02010600030101010101" pitchFamily="2" charset="-122"/>
                  </a:rPr>
                  <a:t> 则转步骤</a:t>
                </a:r>
                <a:r>
                  <a:rPr lang="en-US" altLang="zh-CN" sz="2400" b="1" dirty="0">
                    <a:latin typeface="宋体" panose="02010600030101010101" pitchFamily="2" charset="-122"/>
                    <a:ea typeface="宋体" panose="02010600030101010101" pitchFamily="2" charset="-122"/>
                  </a:rPr>
                  <a:t>7</a:t>
                </a:r>
                <a:r>
                  <a:rPr lang="zh-CN" altLang="en-US" sz="2400" dirty="0">
                    <a:latin typeface="宋体" panose="02010600030101010101" pitchFamily="2" charset="-122"/>
                    <a:ea typeface="宋体" panose="02010600030101010101" pitchFamily="2" charset="-122"/>
                  </a:rPr>
                  <a:t>，否则转下一步。</a:t>
                </a:r>
                <a:endParaRPr lang="en-US" altLang="zh-CN" sz="2400" dirty="0">
                  <a:latin typeface="宋体" panose="02010600030101010101" pitchFamily="2" charset="-122"/>
                  <a:ea typeface="宋体" panose="02010600030101010101" pitchFamily="2" charset="-122"/>
                </a:endParaRPr>
              </a:p>
              <a:p>
                <a:pPr algn="just">
                  <a:lnSpc>
                    <a:spcPct val="150000"/>
                  </a:lnSpc>
                  <a:defRPr/>
                </a:pPr>
                <a:r>
                  <a:rPr lang="en-US" altLang="zh-CN" sz="2400" dirty="0">
                    <a:latin typeface="宋体" panose="02010600030101010101" pitchFamily="2" charset="-122"/>
                    <a:ea typeface="宋体" panose="02010600030101010101" pitchFamily="2" charset="-122"/>
                  </a:rPr>
                  <a:t>5.</a:t>
                </a:r>
                <a:r>
                  <a:rPr lang="zh-CN" altLang="en-US" sz="2400" dirty="0">
                    <a:latin typeface="宋体" panose="02010600030101010101" pitchFamily="2" charset="-122"/>
                    <a:ea typeface="宋体" panose="02010600030101010101" pitchFamily="2" charset="-122"/>
                  </a:rPr>
                  <a:t>计算位移矢量</a:t>
                </a:r>
                <a14:m>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𝑠</m:t>
                        </m:r>
                      </m:e>
                      <m:sub>
                        <m:r>
                          <a:rPr lang="zh-CN" altLang="en-US" sz="2400" i="1">
                            <a:latin typeface="Cambria Math" panose="02040503050406030204" pitchFamily="18" charset="0"/>
                          </a:rPr>
                          <m:t>𝑘</m:t>
                        </m:r>
                      </m:sub>
                    </m:sSub>
                  </m:oMath>
                </a14:m>
                <a:r>
                  <a:rPr lang="zh-CN" altLang="en-US" sz="2400" dirty="0">
                    <a:latin typeface="宋体" panose="02010600030101010101" pitchFamily="2" charset="-122"/>
                    <a:ea typeface="宋体" panose="02010600030101010101" pitchFamily="2" charset="-122"/>
                  </a:rPr>
                  <a:t>和梯度矢量</a:t>
                </a:r>
                <a14:m>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Sub>
                  </m:oMath>
                </a14:m>
                <a:endParaRPr lang="zh-CN" altLang="en-US" sz="2400" dirty="0">
                  <a:latin typeface="宋体" panose="02010600030101010101" pitchFamily="2" charset="-122"/>
                  <a:ea typeface="宋体" panose="02010600030101010101" pitchFamily="2" charset="-122"/>
                </a:endParaRPr>
              </a:p>
              <a:p>
                <a:pPr algn="ctr" latinLnBrk="0">
                  <a:lnSpc>
                    <a:spcPct val="150000"/>
                  </a:lnSpc>
                  <a:defRPr/>
                </a:pPr>
                <a14:m>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𝑠</m:t>
                        </m:r>
                      </m:e>
                      <m:sub>
                        <m:r>
                          <a:rPr lang="zh-CN" altLang="en-US" sz="2400" i="1">
                            <a:latin typeface="Cambria Math" panose="02040503050406030204" pitchFamily="18" charset="0"/>
                          </a:rPr>
                          <m:t>𝑘</m:t>
                        </m:r>
                      </m:sub>
                    </m:sSub>
                    <m:r>
                      <a:rPr lang="zh-CN" altLang="en-US" sz="2400">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𝑘</m:t>
                            </m:r>
                            <m:r>
                              <a:rPr lang="zh-CN" altLang="en-US" sz="2400">
                                <a:latin typeface="Cambria Math" panose="02040503050406030204" pitchFamily="18" charset="0"/>
                              </a:rPr>
                              <m:t>+1</m:t>
                            </m:r>
                          </m:e>
                        </m:d>
                      </m:sup>
                    </m:sSup>
                    <m:r>
                      <a:rPr lang="zh-CN" altLang="en-US" sz="2400">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d>
                          <m:dPr>
                            <m:ctrlPr>
                              <a:rPr lang="zh-CN" altLang="en-US" sz="2400" i="1">
                                <a:latin typeface="Cambria Math" panose="02040503050406030204" pitchFamily="18" charset="0"/>
                              </a:rPr>
                            </m:ctrlPr>
                          </m:dPr>
                          <m:e>
                            <m:r>
                              <a:rPr lang="zh-CN" altLang="en-US" sz="2400" i="1">
                                <a:latin typeface="Cambria Math" panose="02040503050406030204" pitchFamily="18" charset="0"/>
                              </a:rPr>
                              <m:t>𝑘</m:t>
                            </m:r>
                          </m:e>
                        </m:d>
                      </m:sup>
                    </m:sSup>
                  </m:oMath>
                </a14:m>
                <a:r>
                  <a:rPr lang="zh-CN" altLang="en-US" sz="2400" dirty="0">
                    <a:latin typeface="宋体" panose="02010600030101010101" pitchFamily="2" charset="-122"/>
                    <a:ea typeface="宋体" panose="02010600030101010101" pitchFamily="2" charset="-122"/>
                  </a:rPr>
                  <a:t>       </a:t>
                </a:r>
                <a14:m>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Sub>
                    <m:r>
                      <a:rPr lang="zh-CN" altLang="en-US" sz="240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𝑔</m:t>
                        </m:r>
                      </m:e>
                      <m:sub>
                        <m:r>
                          <a:rPr lang="zh-CN" altLang="en-US" sz="2400" i="1">
                            <a:latin typeface="Cambria Math" panose="02040503050406030204" pitchFamily="18" charset="0"/>
                          </a:rPr>
                          <m:t>𝑘</m:t>
                        </m:r>
                        <m:r>
                          <a:rPr lang="zh-CN" altLang="en-US" sz="2400">
                            <a:latin typeface="Cambria Math" panose="02040503050406030204" pitchFamily="18" charset="0"/>
                          </a:rPr>
                          <m:t>+1</m:t>
                        </m:r>
                      </m:sub>
                    </m:sSub>
                    <m:r>
                      <a:rPr lang="zh-CN" altLang="en-US" sz="240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𝑔</m:t>
                        </m:r>
                      </m:e>
                      <m:sub>
                        <m:r>
                          <a:rPr lang="zh-CN" altLang="en-US" sz="2400" i="1">
                            <a:latin typeface="Cambria Math" panose="02040503050406030204" pitchFamily="18" charset="0"/>
                          </a:rPr>
                          <m:t>𝑘</m:t>
                        </m:r>
                      </m:sub>
                    </m:sSub>
                  </m:oMath>
                </a14:m>
                <a:endParaRPr lang="en-US" altLang="zh-CN" sz="2400" dirty="0">
                  <a:latin typeface="宋体" panose="02010600030101010101" pitchFamily="2" charset="-122"/>
                  <a:ea typeface="宋体" panose="02010600030101010101" pitchFamily="2" charset="-122"/>
                </a:endParaRPr>
              </a:p>
              <a:p>
                <a:pPr algn="just">
                  <a:lnSpc>
                    <a:spcPct val="150000"/>
                  </a:lnSpc>
                  <a:defRPr/>
                </a:pPr>
                <a:r>
                  <a:rPr lang="zh-CN" altLang="en-US" sz="2400" dirty="0">
                    <a:latin typeface="宋体" panose="02010600030101010101" pitchFamily="2" charset="-122"/>
                    <a:ea typeface="宋体" panose="02010600030101010101" pitchFamily="2" charset="-122"/>
                  </a:rPr>
                  <a:t>  按</a:t>
                </a:r>
                <a:r>
                  <a:rPr lang="en-US" altLang="zh-CN" sz="2400" dirty="0">
                    <a:latin typeface="宋体" panose="02010600030101010101" pitchFamily="2" charset="-122"/>
                    <a:ea typeface="宋体" panose="02010600030101010101" pitchFamily="2" charset="-122"/>
                  </a:rPr>
                  <a:t>DFP</a:t>
                </a:r>
                <a:r>
                  <a:rPr lang="zh-CN" altLang="en-US" sz="2400" dirty="0">
                    <a:latin typeface="宋体" panose="02010600030101010101" pitchFamily="2" charset="-122"/>
                    <a:ea typeface="宋体" panose="02010600030101010101" pitchFamily="2" charset="-122"/>
                  </a:rPr>
                  <a:t>公式计算构造矩阵</a:t>
                </a:r>
              </a:p>
              <a:p>
                <a:pPr algn="just" latinLnBrk="0">
                  <a:lnSpc>
                    <a:spcPct val="150000"/>
                  </a:lnSpc>
                  <a:defRPr/>
                </a:pPr>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1">
                              <a:latin typeface="Cambria Math" panose="02040503050406030204" pitchFamily="18" charset="0"/>
                            </a:rPr>
                            <m:t>𝑘</m:t>
                          </m:r>
                          <m:r>
                            <a:rPr lang="zh-CN" altLang="en-US" sz="2400">
                              <a:latin typeface="Cambria Math" panose="02040503050406030204" pitchFamily="18" charset="0"/>
                            </a:rPr>
                            <m:t>+1</m:t>
                          </m:r>
                        </m:sub>
                      </m:sSub>
                      <m:r>
                        <a:rPr lang="zh-CN" altLang="en-US" sz="240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1">
                              <a:latin typeface="Cambria Math" panose="02040503050406030204" pitchFamily="18" charset="0"/>
                            </a:rPr>
                            <m:t>𝑘</m:t>
                          </m:r>
                        </m:sub>
                      </m:sSub>
                      <m:r>
                        <a:rPr lang="zh-CN" altLang="en-US" sz="240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𝑠</m:t>
                              </m:r>
                            </m:e>
                            <m:sub>
                              <m:r>
                                <a:rPr lang="zh-CN" altLang="en-US" sz="2400" i="1">
                                  <a:latin typeface="Cambria Math" panose="02040503050406030204" pitchFamily="18" charset="0"/>
                                </a:rPr>
                                <m:t>𝑘</m:t>
                              </m:r>
                            </m:sub>
                          </m:sSub>
                          <m:sSubSup>
                            <m:sSubSupPr>
                              <m:ctrlPr>
                                <a:rPr lang="zh-CN" altLang="en-US" sz="2400" i="1">
                                  <a:latin typeface="Cambria Math" panose="02040503050406030204" pitchFamily="18" charset="0"/>
                                </a:rPr>
                              </m:ctrlPr>
                            </m:sSubSupPr>
                            <m:e>
                              <m:r>
                                <a:rPr lang="zh-CN" altLang="en-US" sz="2400" i="1">
                                  <a:latin typeface="Cambria Math" panose="02040503050406030204" pitchFamily="18" charset="0"/>
                                </a:rPr>
                                <m:t>𝑠</m:t>
                              </m:r>
                            </m:e>
                            <m:sub>
                              <m:r>
                                <a:rPr lang="zh-CN" altLang="en-US" sz="2400" i="1">
                                  <a:latin typeface="Cambria Math" panose="02040503050406030204" pitchFamily="18" charset="0"/>
                                </a:rPr>
                                <m:t>𝑘</m:t>
                              </m:r>
                            </m:sub>
                            <m:sup>
                              <m:r>
                                <a:rPr lang="zh-CN" altLang="en-US" sz="2400" i="1">
                                  <a:latin typeface="Cambria Math" panose="02040503050406030204" pitchFamily="18" charset="0"/>
                                </a:rPr>
                                <m:t>𝑇</m:t>
                              </m:r>
                            </m:sup>
                          </m:sSubSup>
                        </m:num>
                        <m:den>
                          <m:sSubSup>
                            <m:sSubSupPr>
                              <m:ctrlPr>
                                <a:rPr lang="zh-CN" altLang="en-US" sz="2400" i="1">
                                  <a:latin typeface="Cambria Math" panose="02040503050406030204" pitchFamily="18" charset="0"/>
                                </a:rPr>
                              </m:ctrlPr>
                            </m:sSubSupPr>
                            <m:e>
                              <m:r>
                                <a:rPr lang="zh-CN" altLang="en-US" sz="2400" i="1">
                                  <a:latin typeface="Cambria Math" panose="02040503050406030204" pitchFamily="18" charset="0"/>
                                </a:rPr>
                                <m:t>𝑠</m:t>
                              </m:r>
                            </m:e>
                            <m:sub>
                              <m:r>
                                <a:rPr lang="zh-CN" altLang="en-US" sz="2400" i="1">
                                  <a:latin typeface="Cambria Math" panose="02040503050406030204" pitchFamily="18" charset="0"/>
                                </a:rPr>
                                <m:t>𝑘</m:t>
                              </m:r>
                            </m:sub>
                            <m:sup>
                              <m:r>
                                <a:rPr lang="zh-CN" altLang="en-US" sz="2400" i="1">
                                  <a:latin typeface="Cambria Math" panose="02040503050406030204" pitchFamily="18" charset="0"/>
                                </a:rPr>
                                <m:t>𝑇</m:t>
                              </m:r>
                            </m:sup>
                          </m:sSubSup>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Sub>
                        </m:den>
                      </m:f>
                      <m:r>
                        <a:rPr lang="zh-CN" altLang="en-US" sz="2400">
                          <a:latin typeface="Cambria Math" panose="02040503050406030204" pitchFamily="18" charset="0"/>
                        </a:rPr>
                        <m:t>−</m:t>
                      </m:r>
                      <m:f>
                        <m:fPr>
                          <m:ctrlPr>
                            <a:rPr lang="zh-CN" altLang="en-US" sz="2400" i="1">
                              <a:latin typeface="Cambria Math" panose="02040503050406030204" pitchFamily="18" charset="0"/>
                            </a:rPr>
                          </m:ctrlPr>
                        </m:fPr>
                        <m:num>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1">
                                  <a:latin typeface="Cambria Math" panose="02040503050406030204" pitchFamily="18" charset="0"/>
                                </a:rPr>
                                <m:t>𝑘</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Sub>
                          <m:sSubSup>
                            <m:sSubSupPr>
                              <m:ctrlPr>
                                <a:rPr lang="zh-CN" altLang="en-US" sz="2400" i="1">
                                  <a:latin typeface="Cambria Math" panose="02040503050406030204" pitchFamily="18" charset="0"/>
                                </a:rPr>
                              </m:ctrlPr>
                            </m:sSubSup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up>
                              <m:r>
                                <a:rPr lang="zh-CN" altLang="en-US" sz="2400" i="1">
                                  <a:latin typeface="Cambria Math" panose="02040503050406030204" pitchFamily="18" charset="0"/>
                                </a:rPr>
                                <m:t>𝑇</m:t>
                              </m:r>
                            </m:sup>
                          </m:sSubSup>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1">
                                  <a:latin typeface="Cambria Math" panose="02040503050406030204" pitchFamily="18" charset="0"/>
                                </a:rPr>
                                <m:t>𝑘</m:t>
                              </m:r>
                            </m:sub>
                          </m:sSub>
                        </m:num>
                        <m:den>
                          <m:sSubSup>
                            <m:sSubSupPr>
                              <m:ctrlPr>
                                <a:rPr lang="zh-CN" altLang="en-US" sz="2400" i="1">
                                  <a:latin typeface="Cambria Math" panose="02040503050406030204" pitchFamily="18" charset="0"/>
                                </a:rPr>
                              </m:ctrlPr>
                            </m:sSubSup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up>
                              <m:r>
                                <a:rPr lang="zh-CN" altLang="en-US" sz="2400" i="1">
                                  <a:latin typeface="Cambria Math" panose="02040503050406030204" pitchFamily="18" charset="0"/>
                                </a:rPr>
                                <m:t>𝑇</m:t>
                              </m:r>
                            </m:sup>
                          </m:sSubSup>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1">
                                  <a:latin typeface="Cambria Math" panose="02040503050406030204" pitchFamily="18" charset="0"/>
                                </a:rPr>
                                <m:t>𝑘</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𝑦</m:t>
                              </m:r>
                            </m:e>
                            <m:sub>
                              <m:r>
                                <a:rPr lang="zh-CN" altLang="en-US" sz="2400" i="1">
                                  <a:latin typeface="Cambria Math" panose="02040503050406030204" pitchFamily="18" charset="0"/>
                                </a:rPr>
                                <m:t>𝑘</m:t>
                              </m:r>
                            </m:sub>
                          </m:sSub>
                        </m:den>
                      </m:f>
                    </m:oMath>
                  </m:oMathPara>
                </a14:m>
                <a:endParaRPr lang="en-US" altLang="zh-CN" sz="2400" dirty="0">
                  <a:latin typeface="宋体" panose="02010600030101010101" pitchFamily="2" charset="-122"/>
                  <a:ea typeface="宋体" panose="02010600030101010101" pitchFamily="2" charset="-122"/>
                </a:endParaRPr>
              </a:p>
              <a:p>
                <a:pPr algn="just">
                  <a:lnSpc>
                    <a:spcPct val="150000"/>
                  </a:lnSpc>
                  <a:defRPr/>
                </a:pPr>
                <a:r>
                  <a:rPr lang="en-US" altLang="zh-CN" sz="2400" dirty="0">
                    <a:latin typeface="宋体" panose="02010600030101010101" pitchFamily="2" charset="-122"/>
                    <a:ea typeface="宋体" panose="02010600030101010101" pitchFamily="2" charset="-122"/>
                  </a:rPr>
                  <a:t>6.</a:t>
                </a:r>
                <a:r>
                  <a:rPr lang="zh-CN" altLang="en-US" sz="2400" dirty="0">
                    <a:latin typeface="宋体" panose="02010600030101010101" pitchFamily="2" charset="-122"/>
                    <a:ea typeface="宋体" panose="02010600030101010101" pitchFamily="2" charset="-122"/>
                  </a:rPr>
                  <a:t>置</a:t>
                </a:r>
                <a14:m>
                  <m:oMath xmlns:m="http://schemas.openxmlformats.org/officeDocument/2006/math">
                    <m:r>
                      <a:rPr lang="en-US" altLang="zh-CN" sz="2400" i="1" kern="100">
                        <a:latin typeface="Cambria Math" panose="02040503050406030204" pitchFamily="18" charset="0"/>
                      </a:rPr>
                      <m:t>𝑘</m:t>
                    </m:r>
                    <m:r>
                      <a:rPr lang="en-US" altLang="zh-CN" sz="2400" kern="100">
                        <a:latin typeface="Cambria Math" panose="02040503050406030204" pitchFamily="18" charset="0"/>
                      </a:rPr>
                      <m:t>: = </m:t>
                    </m:r>
                    <m:r>
                      <a:rPr lang="en-US" altLang="zh-CN" sz="2400" i="1" kern="100">
                        <a:latin typeface="Cambria Math" panose="02040503050406030204" pitchFamily="18" charset="0"/>
                      </a:rPr>
                      <m:t>𝑘</m:t>
                    </m:r>
                    <m:r>
                      <a:rPr lang="en-US" altLang="zh-CN" sz="2400" kern="100">
                        <a:latin typeface="Cambria Math" panose="02040503050406030204" pitchFamily="18" charset="0"/>
                      </a:rPr>
                      <m:t>+</m:t>
                    </m:r>
                    <m:r>
                      <a:rPr lang="en-US" altLang="zh-CN" sz="2400" i="1" kern="100">
                        <a:latin typeface="Cambria Math" panose="02040503050406030204" pitchFamily="18" charset="0"/>
                      </a:rPr>
                      <m:t>1</m:t>
                    </m:r>
                  </m:oMath>
                </a14:m>
                <a:r>
                  <a:rPr lang="zh-CN" altLang="en-US" sz="2400" dirty="0">
                    <a:latin typeface="宋体" panose="02010600030101010101" pitchFamily="2" charset="-122"/>
                    <a:ea typeface="宋体" panose="02010600030101010101" pitchFamily="2" charset="-122"/>
                  </a:rPr>
                  <a:t>。若</a:t>
                </a:r>
                <a14:m>
                  <m:oMath xmlns:m="http://schemas.openxmlformats.org/officeDocument/2006/math">
                    <m:r>
                      <a:rPr lang="en-US" altLang="zh-CN" sz="2400" i="1" kern="100">
                        <a:latin typeface="Cambria Math" panose="02040503050406030204" pitchFamily="18" charset="0"/>
                      </a:rPr>
                      <m:t>𝑘</m:t>
                    </m:r>
                    <m:r>
                      <a:rPr lang="en-US" altLang="zh-CN" sz="2400" i="1" kern="100">
                        <a:latin typeface="Cambria Math" panose="02040503050406030204" pitchFamily="18" charset="0"/>
                      </a:rPr>
                      <m:t>&lt;</m:t>
                    </m:r>
                    <m:r>
                      <a:rPr lang="en-US" altLang="zh-CN" sz="2400" i="1" kern="100">
                        <a:latin typeface="Cambria Math" panose="02040503050406030204" pitchFamily="18" charset="0"/>
                      </a:rPr>
                      <m:t>𝑛</m:t>
                    </m:r>
                  </m:oMath>
                </a14:m>
                <a:r>
                  <a:rPr lang="en-US" altLang="zh-CN" sz="2400" dirty="0">
                    <a:latin typeface="宋体" panose="02010600030101010101" pitchFamily="2" charset="-122"/>
                    <a:ea typeface="宋体" panose="02010600030101010101" pitchFamily="2" charset="-122"/>
                  </a:rPr>
                  <a:t>(</a:t>
                </a:r>
                <a14:m>
                  <m:oMath xmlns:m="http://schemas.openxmlformats.org/officeDocument/2006/math">
                    <m:r>
                      <a:rPr lang="en-US" altLang="zh-CN" sz="2400" i="1" kern="100">
                        <a:latin typeface="Cambria Math" panose="02040503050406030204" pitchFamily="18" charset="0"/>
                      </a:rPr>
                      <m:t>𝑛</m:t>
                    </m:r>
                  </m:oMath>
                </a14:m>
                <a:r>
                  <a:rPr lang="zh-CN" altLang="en-US" sz="2400" dirty="0">
                    <a:latin typeface="宋体" panose="02010600030101010101" pitchFamily="2" charset="-122"/>
                    <a:ea typeface="宋体" panose="02010600030101010101" pitchFamily="2" charset="-122"/>
                  </a:rPr>
                  <a:t>为优化问题的维数</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返回步骤</a:t>
                </a:r>
                <a:r>
                  <a:rPr lang="en-US" altLang="zh-CN" sz="2400" b="1" dirty="0">
                    <a:latin typeface="宋体" panose="02010600030101010101" pitchFamily="2" charset="-122"/>
                    <a:ea typeface="宋体" panose="02010600030101010101" pitchFamily="2" charset="-122"/>
                  </a:rPr>
                  <a:t>3</a:t>
                </a:r>
                <a:r>
                  <a:rPr lang="zh-CN" altLang="en-US" sz="2400" dirty="0">
                    <a:latin typeface="宋体" panose="02010600030101010101" pitchFamily="2" charset="-122"/>
                    <a:ea typeface="宋体" panose="02010600030101010101" pitchFamily="2" charset="-122"/>
                  </a:rPr>
                  <a:t>，否则返回步骤</a:t>
                </a:r>
                <a:r>
                  <a:rPr lang="en-US" altLang="zh-CN" sz="2400" b="1" dirty="0">
                    <a:latin typeface="宋体" panose="02010600030101010101" pitchFamily="2" charset="-122"/>
                    <a:ea typeface="宋体" panose="02010600030101010101" pitchFamily="2" charset="-122"/>
                  </a:rPr>
                  <a:t>2</a:t>
                </a:r>
                <a:r>
                  <a:rPr lang="zh-CN" altLang="en-US" sz="2400" b="1" dirty="0">
                    <a:latin typeface="宋体" panose="02010600030101010101" pitchFamily="2" charset="-122"/>
                    <a:ea typeface="宋体" panose="02010600030101010101" pitchFamily="2" charset="-122"/>
                  </a:rPr>
                  <a:t>。</a:t>
                </a:r>
                <a:endParaRPr lang="en-US" altLang="zh-CN" sz="2400" b="1" dirty="0">
                  <a:latin typeface="宋体" panose="02010600030101010101" pitchFamily="2" charset="-122"/>
                  <a:ea typeface="宋体" panose="02010600030101010101" pitchFamily="2" charset="-122"/>
                </a:endParaRPr>
              </a:p>
              <a:p>
                <a:pPr algn="just">
                  <a:lnSpc>
                    <a:spcPct val="150000"/>
                  </a:lnSpc>
                  <a:defRPr/>
                </a:pPr>
                <a:r>
                  <a:rPr lang="en-US" altLang="zh-CN" sz="2400" dirty="0">
                    <a:latin typeface="宋体" panose="02010600030101010101" pitchFamily="2" charset="-122"/>
                    <a:ea typeface="宋体" panose="02010600030101010101" pitchFamily="2" charset="-122"/>
                  </a:rPr>
                  <a:t>7.</a:t>
                </a:r>
                <a:r>
                  <a:rPr lang="zh-CN" altLang="en-US" sz="2400" dirty="0">
                    <a:latin typeface="宋体" panose="02010600030101010101" pitchFamily="2" charset="-122"/>
                    <a:ea typeface="宋体" panose="02010600030101010101" pitchFamily="2" charset="-122"/>
                  </a:rPr>
                  <a:t>输出最优解</a:t>
                </a:r>
                <a14:m>
                  <m:oMath xmlns:m="http://schemas.openxmlformats.org/officeDocument/2006/math">
                    <m:r>
                      <a:rPr lang="en-US" altLang="zh-CN" sz="2400">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𝑥</m:t>
                        </m:r>
                      </m:e>
                      <m:sup>
                        <m:r>
                          <a:rPr lang="en-US" altLang="zh-CN" sz="2400" i="1">
                            <a:latin typeface="Cambria Math" panose="02040503050406030204" pitchFamily="18" charset="0"/>
                          </a:rPr>
                          <m:t>∗</m:t>
                        </m:r>
                      </m:sup>
                    </m:sSup>
                    <m:r>
                      <a:rPr lang="en-US" altLang="zh-CN" sz="2400" i="1">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𝑓</m:t>
                        </m:r>
                      </m:e>
                      <m:sup>
                        <m:r>
                          <a:rPr lang="en-US" altLang="zh-CN" sz="2400" i="1">
                            <a:latin typeface="Cambria Math" panose="02040503050406030204" pitchFamily="18" charset="0"/>
                          </a:rPr>
                          <m:t>∗</m:t>
                        </m:r>
                      </m:sup>
                    </m:sSup>
                    <m:r>
                      <a:rPr lang="en-US" altLang="zh-CN" sz="2400">
                        <a:latin typeface="Cambria Math" panose="02040503050406030204" pitchFamily="18" charset="0"/>
                      </a:rPr>
                      <m:t>)</m:t>
                    </m:r>
                    <m:r>
                      <a:rPr lang="en-US" altLang="zh-CN" sz="2400" i="1">
                        <a:latin typeface="Cambria Math" panose="02040503050406030204" pitchFamily="18" charset="0"/>
                      </a:rPr>
                      <m:t> </m:t>
                    </m:r>
                  </m:oMath>
                </a14:m>
                <a:r>
                  <a:rPr lang="zh-CN" altLang="en-US" sz="2400" dirty="0">
                    <a:latin typeface="宋体" panose="02010600030101010101" pitchFamily="2" charset="-122"/>
                    <a:ea typeface="宋体" panose="02010600030101010101" pitchFamily="2" charset="-122"/>
                  </a:rPr>
                  <a:t>，终止计算。</a:t>
                </a:r>
              </a:p>
            </p:txBody>
          </p:sp>
        </mc:Choice>
        <mc:Fallback xmlns="">
          <p:sp>
            <p:nvSpPr>
              <p:cNvPr id="2" name="Text Box 4">
                <a:extLst>
                  <a:ext uri="{FF2B5EF4-FFF2-40B4-BE49-F238E27FC236}">
                    <a16:creationId xmlns:a16="http://schemas.microsoft.com/office/drawing/2014/main" id="{2DA83AED-A824-995A-7A6B-07C01F0DBF50}"/>
                  </a:ext>
                </a:extLst>
              </p:cNvPr>
              <p:cNvSpPr txBox="1">
                <a:spLocks noRot="1" noChangeAspect="1" noMove="1" noResize="1" noEditPoints="1" noAdjustHandles="1" noChangeArrowheads="1" noChangeShapeType="1" noTextEdit="1"/>
              </p:cNvSpPr>
              <p:nvPr/>
            </p:nvSpPr>
            <p:spPr bwMode="auto">
              <a:xfrm>
                <a:off x="575719" y="404664"/>
                <a:ext cx="8388769" cy="5839291"/>
              </a:xfrm>
              <a:prstGeom prst="rect">
                <a:avLst/>
              </a:prstGeom>
              <a:blipFill>
                <a:blip r:embed="rId2"/>
                <a:stretch>
                  <a:fillRect l="-1089" r="-1089" b="-114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extLst>
      <p:ext uri="{BB962C8B-B14F-4D97-AF65-F5344CB8AC3E}">
        <p14:creationId xmlns:p14="http://schemas.microsoft.com/office/powerpoint/2010/main" val="37503051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6" name="Text Box 4">
            <a:extLst>
              <a:ext uri="{FF2B5EF4-FFF2-40B4-BE49-F238E27FC236}">
                <a16:creationId xmlns:a16="http://schemas.microsoft.com/office/drawing/2014/main" id="{A83DB365-E031-4B9B-876D-D5D65D8E52D2}"/>
              </a:ext>
            </a:extLst>
          </p:cNvPr>
          <p:cNvSpPr txBox="1">
            <a:spLocks noChangeArrowheads="1"/>
          </p:cNvSpPr>
          <p:nvPr/>
        </p:nvSpPr>
        <p:spPr bwMode="auto">
          <a:xfrm>
            <a:off x="508446" y="474037"/>
            <a:ext cx="41889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Tx/>
              <a:buNone/>
              <a:defRPr/>
            </a:pPr>
            <a:r>
              <a:rPr lang="zh-CN" altLang="en-US" sz="2400" b="1" u="sng" dirty="0">
                <a:solidFill>
                  <a:schemeClr val="hlink"/>
                </a:solidFill>
                <a:latin typeface="宋体" panose="02010600030101010101" pitchFamily="2" charset="-122"/>
                <a:ea typeface="宋体" panose="02010600030101010101" pitchFamily="2" charset="-122"/>
              </a:rPr>
              <a:t>例题</a:t>
            </a: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用</a:t>
            </a:r>
            <a:r>
              <a:rPr lang="en-US" altLang="zh-CN" sz="2400" dirty="0">
                <a:latin typeface="宋体" panose="02010600030101010101" pitchFamily="2" charset="-122"/>
                <a:ea typeface="宋体" panose="02010600030101010101" pitchFamily="2" charset="-122"/>
              </a:rPr>
              <a:t>DFP</a:t>
            </a:r>
            <a:r>
              <a:rPr lang="zh-CN" altLang="en-US" sz="2400" dirty="0">
                <a:latin typeface="宋体" panose="02010600030101010101" pitchFamily="2" charset="-122"/>
                <a:ea typeface="宋体" panose="02010600030101010101" pitchFamily="2" charset="-122"/>
              </a:rPr>
              <a:t>尺度法求目标函数</a:t>
            </a:r>
          </a:p>
        </p:txBody>
      </p:sp>
      <mc:AlternateContent xmlns:mc="http://schemas.openxmlformats.org/markup-compatibility/2006" xmlns:a14="http://schemas.microsoft.com/office/drawing/2010/main">
        <mc:Choice Requires="a14">
          <p:sp>
            <p:nvSpPr>
              <p:cNvPr id="37890" name="Text Box 5">
                <a:extLst>
                  <a:ext uri="{FF2B5EF4-FFF2-40B4-BE49-F238E27FC236}">
                    <a16:creationId xmlns:a16="http://schemas.microsoft.com/office/drawing/2014/main" id="{889796BE-D6EE-4FC5-9525-89E3196DD8DE}"/>
                  </a:ext>
                </a:extLst>
              </p:cNvPr>
              <p:cNvSpPr txBox="1">
                <a:spLocks noChangeArrowheads="1"/>
              </p:cNvSpPr>
              <p:nvPr/>
            </p:nvSpPr>
            <p:spPr bwMode="auto">
              <a:xfrm>
                <a:off x="1194900" y="1625522"/>
                <a:ext cx="7789312" cy="48667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zh-CN" altLang="en-US" dirty="0">
                    <a:latin typeface="宋体" panose="02010600030101010101" pitchFamily="2" charset="-122"/>
                  </a:rPr>
                  <a:t>的最优解。已知初始点</a:t>
                </a:r>
                <a14:m>
                  <m:oMath xmlns:m="http://schemas.openxmlformats.org/officeDocument/2006/math">
                    <m:sSup>
                      <m:sSupPr>
                        <m:ctrlPr>
                          <a:rPr lang="zh-CN" altLang="en-US" i="1" smtClean="0">
                            <a:latin typeface="Cambria Math" panose="02040503050406030204" pitchFamily="18" charset="0"/>
                          </a:rPr>
                        </m:ctrlPr>
                      </m:sSupPr>
                      <m:e>
                        <m:r>
                          <a:rPr lang="zh-CN" altLang="en-US" i="1">
                            <a:latin typeface="Cambria Math" panose="02040503050406030204" pitchFamily="18" charset="0"/>
                          </a:rPr>
                          <m:t>𝑥</m:t>
                        </m:r>
                      </m:e>
                      <m:sup>
                        <m:d>
                          <m:dPr>
                            <m:ctrlPr>
                              <a:rPr lang="zh-CN" altLang="en-US" i="1">
                                <a:latin typeface="Cambria Math" panose="02040503050406030204" pitchFamily="18" charset="0"/>
                              </a:rPr>
                            </m:ctrlPr>
                          </m:dPr>
                          <m:e>
                            <m:r>
                              <a:rPr lang="zh-CN" altLang="en-US" i="0">
                                <a:latin typeface="Cambria Math" panose="02040503050406030204" pitchFamily="18" charset="0"/>
                              </a:rPr>
                              <m:t>0</m:t>
                            </m:r>
                          </m:e>
                        </m:d>
                      </m:sup>
                    </m:sSup>
                    <m:r>
                      <a:rPr lang="zh-CN" altLang="en-US" i="0">
                        <a:latin typeface="Cambria Math" panose="02040503050406030204" pitchFamily="18" charset="0"/>
                      </a:rPr>
                      <m:t>=</m:t>
                    </m:r>
                    <m:sSup>
                      <m:sSupPr>
                        <m:ctrlPr>
                          <a:rPr lang="zh-CN" altLang="en-US" i="1">
                            <a:latin typeface="Cambria Math" panose="02040503050406030204" pitchFamily="18" charset="0"/>
                          </a:rPr>
                        </m:ctrlPr>
                      </m:sSupPr>
                      <m:e>
                        <m:d>
                          <m:dPr>
                            <m:begChr m:val="["/>
                            <m:endChr m:val="]"/>
                            <m:ctrlPr>
                              <a:rPr lang="zh-CN" altLang="en-US" i="1">
                                <a:latin typeface="Cambria Math" panose="02040503050406030204" pitchFamily="18" charset="0"/>
                              </a:rPr>
                            </m:ctrlPr>
                          </m:dPr>
                          <m:e>
                            <m:r>
                              <a:rPr lang="zh-CN" altLang="en-US" i="0">
                                <a:latin typeface="Cambria Math" panose="02040503050406030204" pitchFamily="18" charset="0"/>
                              </a:rPr>
                              <m:t>8</m:t>
                            </m:r>
                            <m:r>
                              <a:rPr lang="en-US" altLang="zh-CN" b="0" i="1" smtClean="0">
                                <a:latin typeface="Cambria Math" panose="02040503050406030204" pitchFamily="18" charset="0"/>
                              </a:rPr>
                              <m:t>  </m:t>
                            </m:r>
                            <m:r>
                              <a:rPr lang="zh-CN" altLang="en-US" i="0">
                                <a:latin typeface="Cambria Math" panose="02040503050406030204" pitchFamily="18" charset="0"/>
                              </a:rPr>
                              <m:t>9</m:t>
                            </m:r>
                          </m:e>
                        </m:d>
                      </m:e>
                      <m:sup>
                        <m:r>
                          <a:rPr lang="zh-CN" altLang="en-US" i="1">
                            <a:latin typeface="Cambria Math" panose="02040503050406030204" pitchFamily="18" charset="0"/>
                          </a:rPr>
                          <m:t>𝑇</m:t>
                        </m:r>
                      </m:sup>
                    </m:sSup>
                  </m:oMath>
                </a14:m>
                <a:r>
                  <a:rPr lang="zh-CN" altLang="en-US" dirty="0">
                    <a:latin typeface="宋体" panose="02010600030101010101" pitchFamily="2" charset="-122"/>
                  </a:rPr>
                  <a:t> ，迭代精度</a:t>
                </a:r>
                <a:r>
                  <a:rPr lang="en-US" altLang="zh-CN" dirty="0">
                    <a:latin typeface="宋体" panose="02010600030101010101" pitchFamily="2" charset="-122"/>
                  </a:rPr>
                  <a:t>ε=0.01</a:t>
                </a:r>
              </a:p>
            </p:txBody>
          </p:sp>
        </mc:Choice>
        <mc:Fallback xmlns="">
          <p:sp>
            <p:nvSpPr>
              <p:cNvPr id="37890" name="Text Box 5">
                <a:extLst>
                  <a:ext uri="{FF2B5EF4-FFF2-40B4-BE49-F238E27FC236}">
                    <a16:creationId xmlns:a16="http://schemas.microsoft.com/office/drawing/2014/main" id="{889796BE-D6EE-4FC5-9525-89E3196DD8DE}"/>
                  </a:ext>
                </a:extLst>
              </p:cNvPr>
              <p:cNvSpPr txBox="1">
                <a:spLocks noRot="1" noChangeAspect="1" noMove="1" noResize="1" noEditPoints="1" noAdjustHandles="1" noChangeArrowheads="1" noChangeShapeType="1" noTextEdit="1"/>
              </p:cNvSpPr>
              <p:nvPr/>
            </p:nvSpPr>
            <p:spPr bwMode="auto">
              <a:xfrm>
                <a:off x="1194900" y="1625522"/>
                <a:ext cx="7789312" cy="486672"/>
              </a:xfrm>
              <a:prstGeom prst="rect">
                <a:avLst/>
              </a:prstGeom>
              <a:blipFill>
                <a:blip r:embed="rId2"/>
                <a:stretch>
                  <a:fillRect l="-1174" t="-8861" r="-235" b="-2531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41322" name="Text Box 10">
            <a:extLst>
              <a:ext uri="{FF2B5EF4-FFF2-40B4-BE49-F238E27FC236}">
                <a16:creationId xmlns:a16="http://schemas.microsoft.com/office/drawing/2014/main" id="{385C3230-542F-4785-B9D4-71709AE1090D}"/>
              </a:ext>
            </a:extLst>
          </p:cNvPr>
          <p:cNvSpPr txBox="1">
            <a:spLocks noChangeArrowheads="1"/>
          </p:cNvSpPr>
          <p:nvPr/>
        </p:nvSpPr>
        <p:spPr bwMode="auto">
          <a:xfrm>
            <a:off x="412384" y="2255157"/>
            <a:ext cx="265008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Tx/>
              <a:buNone/>
              <a:defRPr/>
            </a:pPr>
            <a:r>
              <a:rPr lang="zh-CN" altLang="en-US" sz="2400" b="1" u="sng" dirty="0">
                <a:solidFill>
                  <a:schemeClr val="hlink"/>
                </a:solidFill>
                <a:latin typeface="宋体" panose="02010600030101010101" pitchFamily="2" charset="-122"/>
                <a:ea typeface="宋体" panose="02010600030101010101" pitchFamily="2" charset="-122"/>
              </a:rPr>
              <a:t>解：</a:t>
            </a:r>
            <a:r>
              <a:rPr lang="zh-CN" altLang="en-US" sz="2400" dirty="0">
                <a:latin typeface="宋体" panose="02010600030101010101" pitchFamily="2" charset="-122"/>
                <a:ea typeface="宋体" panose="02010600030101010101" pitchFamily="2" charset="-122"/>
              </a:rPr>
              <a:t>第一次迭代：</a:t>
            </a:r>
          </a:p>
        </p:txBody>
      </p:sp>
      <p:sp>
        <p:nvSpPr>
          <p:cNvPr id="37904" name="Rectangle 23">
            <a:extLst>
              <a:ext uri="{FF2B5EF4-FFF2-40B4-BE49-F238E27FC236}">
                <a16:creationId xmlns:a16="http://schemas.microsoft.com/office/drawing/2014/main" id="{B82AB929-DC58-4117-A448-5220669E041E}"/>
              </a:ext>
            </a:extLst>
          </p:cNvPr>
          <p:cNvSpPr>
            <a:spLocks noChangeArrowheads="1"/>
          </p:cNvSpPr>
          <p:nvPr/>
        </p:nvSpPr>
        <p:spPr bwMode="auto">
          <a:xfrm>
            <a:off x="2411413" y="4493568"/>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zh-CN" altLang="en-US">
              <a:latin typeface="宋体" panose="02010600030101010101" pitchFamily="2" charset="-122"/>
            </a:endParaRPr>
          </a:p>
        </p:txBody>
      </p:sp>
      <p:sp>
        <p:nvSpPr>
          <p:cNvPr id="37905" name="Rectangle 24">
            <a:extLst>
              <a:ext uri="{FF2B5EF4-FFF2-40B4-BE49-F238E27FC236}">
                <a16:creationId xmlns:a16="http://schemas.microsoft.com/office/drawing/2014/main" id="{E9CD0016-C8BB-4C81-954D-8879C45C289C}"/>
              </a:ext>
            </a:extLst>
          </p:cNvPr>
          <p:cNvSpPr>
            <a:spLocks noChangeArrowheads="1"/>
          </p:cNvSpPr>
          <p:nvPr/>
        </p:nvSpPr>
        <p:spPr bwMode="auto">
          <a:xfrm>
            <a:off x="36513" y="3774431"/>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zh-CN" altLang="en-US">
              <a:latin typeface="宋体" panose="02010600030101010101" pitchFamily="2" charset="-122"/>
            </a:endParaRPr>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D5E89507-A431-4746-A819-87D65739DE9D}"/>
                  </a:ext>
                </a:extLst>
              </p:cNvPr>
              <p:cNvSpPr txBox="1"/>
              <p:nvPr/>
            </p:nvSpPr>
            <p:spPr>
              <a:xfrm>
                <a:off x="2148437" y="1081937"/>
                <a:ext cx="4572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smtClean="0">
                          <a:latin typeface="Cambria Math" panose="02040503050406030204" pitchFamily="18" charset="0"/>
                        </a:rPr>
                        <m:t>𝑓</m:t>
                      </m:r>
                      <m:r>
                        <a:rPr lang="zh-CN" altLang="en-US" sz="2400" i="0">
                          <a:latin typeface="Cambria Math" panose="02040503050406030204" pitchFamily="18" charset="0"/>
                        </a:rPr>
                        <m:t>(</m:t>
                      </m:r>
                      <m:r>
                        <a:rPr lang="zh-CN" altLang="en-US" sz="2400" i="1">
                          <a:latin typeface="Cambria Math" panose="02040503050406030204" pitchFamily="18" charset="0"/>
                        </a:rPr>
                        <m:t>𝑥</m:t>
                      </m:r>
                      <m:r>
                        <a:rPr lang="zh-CN" altLang="en-US" sz="2400" i="0">
                          <a:latin typeface="Cambria Math" panose="02040503050406030204" pitchFamily="18" charset="0"/>
                        </a:rPr>
                        <m:t>)=4</m:t>
                      </m:r>
                      <m:sSup>
                        <m:sSupPr>
                          <m:ctrlPr>
                            <a:rPr lang="zh-CN" altLang="en-US" sz="2400" i="1">
                              <a:latin typeface="Cambria Math" panose="02040503050406030204" pitchFamily="18" charset="0"/>
                            </a:rPr>
                          </m:ctrlPr>
                        </m:sSupPr>
                        <m:e>
                          <m:d>
                            <m:dPr>
                              <m:ctrlPr>
                                <a:rPr lang="zh-CN" altLang="en-US" sz="2400" i="1">
                                  <a:latin typeface="Cambria Math" panose="02040503050406030204" pitchFamily="18" charset="0"/>
                                </a:rPr>
                              </m:ctrlPr>
                            </m:dPr>
                            <m:e>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𝑥</m:t>
                                  </m:r>
                                </m:e>
                                <m:sub>
                                  <m:r>
                                    <a:rPr lang="zh-CN" altLang="en-US" sz="2400" i="0">
                                      <a:latin typeface="Cambria Math" panose="02040503050406030204" pitchFamily="18" charset="0"/>
                                    </a:rPr>
                                    <m:t>1</m:t>
                                  </m:r>
                                </m:sub>
                              </m:sSub>
                              <m:r>
                                <a:rPr lang="zh-CN" altLang="en-US" sz="2400" i="0">
                                  <a:latin typeface="Cambria Math" panose="02040503050406030204" pitchFamily="18" charset="0"/>
                                </a:rPr>
                                <m:t>−5</m:t>
                              </m:r>
                            </m:e>
                          </m:d>
                        </m:e>
                        <m:sup>
                          <m:r>
                            <a:rPr lang="zh-CN" altLang="en-US" sz="2400" i="0">
                              <a:latin typeface="Cambria Math" panose="02040503050406030204" pitchFamily="18" charset="0"/>
                            </a:rPr>
                            <m:t>2</m:t>
                          </m:r>
                        </m:sup>
                      </m:sSup>
                      <m:r>
                        <a:rPr lang="zh-CN" altLang="en-US" sz="2400" i="0">
                          <a:latin typeface="Cambria Math" panose="02040503050406030204" pitchFamily="18" charset="0"/>
                        </a:rPr>
                        <m:t>+</m:t>
                      </m:r>
                      <m:sSup>
                        <m:sSupPr>
                          <m:ctrlPr>
                            <a:rPr lang="zh-CN" altLang="en-US" sz="2400" i="1">
                              <a:latin typeface="Cambria Math" panose="02040503050406030204" pitchFamily="18" charset="0"/>
                            </a:rPr>
                          </m:ctrlPr>
                        </m:sSupPr>
                        <m:e>
                          <m:d>
                            <m:dPr>
                              <m:ctrlPr>
                                <a:rPr lang="zh-CN" altLang="en-US" sz="2400" i="1">
                                  <a:latin typeface="Cambria Math" panose="02040503050406030204" pitchFamily="18" charset="0"/>
                                </a:rPr>
                              </m:ctrlPr>
                            </m:dPr>
                            <m:e>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𝑥</m:t>
                                  </m:r>
                                </m:e>
                                <m:sub>
                                  <m:r>
                                    <a:rPr lang="zh-CN" altLang="en-US" sz="2400" i="0">
                                      <a:latin typeface="Cambria Math" panose="02040503050406030204" pitchFamily="18" charset="0"/>
                                    </a:rPr>
                                    <m:t>2</m:t>
                                  </m:r>
                                </m:sub>
                              </m:sSub>
                              <m:r>
                                <a:rPr lang="zh-CN" altLang="en-US" sz="2400" i="0">
                                  <a:latin typeface="Cambria Math" panose="02040503050406030204" pitchFamily="18" charset="0"/>
                                </a:rPr>
                                <m:t>−6</m:t>
                              </m:r>
                            </m:e>
                          </m:d>
                        </m:e>
                        <m:sup>
                          <m:r>
                            <a:rPr lang="zh-CN" altLang="en-US" sz="2400" i="0">
                              <a:latin typeface="Cambria Math" panose="02040503050406030204" pitchFamily="18" charset="0"/>
                            </a:rPr>
                            <m:t>2</m:t>
                          </m:r>
                        </m:sup>
                      </m:sSup>
                    </m:oMath>
                  </m:oMathPara>
                </a14:m>
                <a:endParaRPr lang="zh-CN" altLang="en-US" sz="2400" dirty="0">
                  <a:latin typeface="宋体" panose="02010600030101010101" pitchFamily="2" charset="-122"/>
                  <a:ea typeface="宋体" panose="02010600030101010101" pitchFamily="2" charset="-122"/>
                </a:endParaRPr>
              </a:p>
            </p:txBody>
          </p:sp>
        </mc:Choice>
        <mc:Fallback xmlns="">
          <p:sp>
            <p:nvSpPr>
              <p:cNvPr id="20" name="文本框 19">
                <a:extLst>
                  <a:ext uri="{FF2B5EF4-FFF2-40B4-BE49-F238E27FC236}">
                    <a16:creationId xmlns:a16="http://schemas.microsoft.com/office/drawing/2014/main" id="{D5E89507-A431-4746-A819-87D65739DE9D}"/>
                  </a:ext>
                </a:extLst>
              </p:cNvPr>
              <p:cNvSpPr txBox="1">
                <a:spLocks noRot="1" noChangeAspect="1" noMove="1" noResize="1" noEditPoints="1" noAdjustHandles="1" noChangeArrowheads="1" noChangeShapeType="1" noTextEdit="1"/>
              </p:cNvSpPr>
              <p:nvPr/>
            </p:nvSpPr>
            <p:spPr>
              <a:xfrm>
                <a:off x="2148437" y="1081937"/>
                <a:ext cx="4572000" cy="461665"/>
              </a:xfrm>
              <a:prstGeom prst="rect">
                <a:avLst/>
              </a:prstGeom>
              <a:blipFill>
                <a:blip r:embed="rId3"/>
                <a:stretch>
                  <a:fillRect b="-197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94C8ED74-2309-404A-A711-F811B03EF07D}"/>
                  </a:ext>
                </a:extLst>
              </p:cNvPr>
              <p:cNvSpPr txBox="1"/>
              <p:nvPr/>
            </p:nvSpPr>
            <p:spPr>
              <a:xfrm>
                <a:off x="1737426" y="2782800"/>
                <a:ext cx="6236217" cy="10022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smtClean="0">
                              <a:latin typeface="Cambria Math" panose="02040503050406030204" pitchFamily="18" charset="0"/>
                            </a:rPr>
                          </m:ctrlPr>
                        </m:sSubPr>
                        <m:e>
                          <m:r>
                            <a:rPr lang="zh-CN" altLang="en-US" sz="2400" i="1">
                              <a:latin typeface="Cambria Math" panose="02040503050406030204" pitchFamily="18" charset="0"/>
                            </a:rPr>
                            <m:t>𝑔</m:t>
                          </m:r>
                        </m:e>
                        <m:sub>
                          <m:r>
                            <a:rPr lang="zh-CN" altLang="en-US" sz="2400" i="0">
                              <a:latin typeface="Cambria Math" panose="02040503050406030204" pitchFamily="18" charset="0"/>
                            </a:rPr>
                            <m:t>0</m:t>
                          </m:r>
                        </m:sub>
                      </m:sSub>
                      <m:r>
                        <a:rPr lang="zh-CN" altLang="en-US" sz="2400" i="0">
                          <a:latin typeface="Cambria Math" panose="02040503050406030204" pitchFamily="18" charset="0"/>
                        </a:rPr>
                        <m:t>=</m:t>
                      </m:r>
                      <m:r>
                        <m:rPr>
                          <m:sty m:val="p"/>
                        </m:rPr>
                        <a:rPr lang="zh-CN" altLang="en-US" sz="2400" i="0">
                          <a:latin typeface="Cambria Math" panose="02040503050406030204" pitchFamily="18" charset="0"/>
                        </a:rPr>
                        <m:t>∇</m:t>
                      </m:r>
                      <m:r>
                        <a:rPr lang="zh-CN" altLang="en-US" sz="2400" i="1">
                          <a:latin typeface="Cambria Math" panose="02040503050406030204" pitchFamily="18" charset="0"/>
                        </a:rPr>
                        <m:t>𝑓</m:t>
                      </m:r>
                      <m:r>
                        <a:rPr lang="zh-CN" altLang="en-US" sz="2400" i="0">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d>
                            <m:dPr>
                              <m:ctrlPr>
                                <a:rPr lang="zh-CN" altLang="en-US" sz="2400" i="1">
                                  <a:latin typeface="Cambria Math" panose="02040503050406030204" pitchFamily="18" charset="0"/>
                                </a:rPr>
                              </m:ctrlPr>
                            </m:dPr>
                            <m:e>
                              <m:r>
                                <a:rPr lang="zh-CN" altLang="en-US" sz="2400" i="0">
                                  <a:latin typeface="Cambria Math" panose="02040503050406030204" pitchFamily="18" charset="0"/>
                                </a:rPr>
                                <m:t>0</m:t>
                              </m:r>
                            </m:e>
                          </m:d>
                        </m:sup>
                      </m:sSup>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d>
                            <m:dPr>
                              <m:begChr m:val="["/>
                              <m:endChr m:val="]"/>
                              <m:ctrlPr>
                                <a:rPr lang="zh-CN" altLang="en-US" sz="2400" i="1">
                                  <a:latin typeface="Cambria Math" panose="02040503050406030204" pitchFamily="18" charset="0"/>
                                </a:rPr>
                              </m:ctrlPr>
                            </m:dPr>
                            <m:e>
                              <m:m>
                                <m:mPr>
                                  <m:plcHide m:val="on"/>
                                  <m:mcs>
                                    <m:mc>
                                      <m:mcPr>
                                        <m:count m:val="1"/>
                                        <m:mcJc m:val="center"/>
                                      </m:mcPr>
                                    </m:mc>
                                  </m:mcs>
                                  <m:ctrlPr>
                                    <a:rPr lang="zh-CN" altLang="en-US" sz="2400" i="1">
                                      <a:latin typeface="Cambria Math" panose="02040503050406030204" pitchFamily="18" charset="0"/>
                                    </a:rPr>
                                  </m:ctrlPr>
                                </m:mPr>
                                <m:mr>
                                  <m:e>
                                    <m:d>
                                      <m:dPr>
                                        <m:begChr m:val=""/>
                                        <m:ctrlPr>
                                          <a:rPr lang="zh-CN" altLang="en-US" sz="2400" i="1">
                                            <a:latin typeface="Cambria Math" panose="02040503050406030204" pitchFamily="18" charset="0"/>
                                          </a:rPr>
                                        </m:ctrlPr>
                                      </m:dPr>
                                      <m:e>
                                        <m:r>
                                          <a:rPr lang="zh-CN" altLang="en-US" sz="2400" i="0">
                                            <a:latin typeface="Cambria Math" panose="02040503050406030204" pitchFamily="18" charset="0"/>
                                          </a:rPr>
                                          <m:t>8(</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𝑥</m:t>
                                            </m:r>
                                          </m:e>
                                          <m:sub>
                                            <m:r>
                                              <a:rPr lang="zh-CN" altLang="en-US" sz="2400" i="0">
                                                <a:latin typeface="Cambria Math" panose="02040503050406030204" pitchFamily="18" charset="0"/>
                                              </a:rPr>
                                              <m:t>1</m:t>
                                            </m:r>
                                          </m:sub>
                                        </m:sSub>
                                        <m:r>
                                          <a:rPr lang="zh-CN" altLang="en-US" sz="2400" i="0">
                                            <a:latin typeface="Cambria Math" panose="02040503050406030204" pitchFamily="18" charset="0"/>
                                          </a:rPr>
                                          <m:t>−5</m:t>
                                        </m:r>
                                      </m:e>
                                    </m:d>
                                  </m:e>
                                </m:mr>
                                <m:mr>
                                  <m:e>
                                    <m:d>
                                      <m:dPr>
                                        <m:begChr m:val=""/>
                                        <m:ctrlPr>
                                          <a:rPr lang="zh-CN" altLang="en-US" sz="2400" i="1">
                                            <a:latin typeface="Cambria Math" panose="02040503050406030204" pitchFamily="18" charset="0"/>
                                          </a:rPr>
                                        </m:ctrlPr>
                                      </m:dPr>
                                      <m:e>
                                        <m:r>
                                          <a:rPr lang="zh-CN" altLang="en-US" sz="2400" i="0">
                                            <a:latin typeface="Cambria Math" panose="02040503050406030204" pitchFamily="18" charset="0"/>
                                          </a:rPr>
                                          <m:t>2(</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𝑥</m:t>
                                            </m:r>
                                          </m:e>
                                          <m:sub>
                                            <m:r>
                                              <a:rPr lang="zh-CN" altLang="en-US" sz="2400" i="0">
                                                <a:latin typeface="Cambria Math" panose="02040503050406030204" pitchFamily="18" charset="0"/>
                                              </a:rPr>
                                              <m:t>2</m:t>
                                            </m:r>
                                          </m:sub>
                                        </m:sSub>
                                        <m:r>
                                          <a:rPr lang="zh-CN" altLang="en-US" sz="2400" i="0">
                                            <a:latin typeface="Cambria Math" panose="02040503050406030204" pitchFamily="18" charset="0"/>
                                          </a:rPr>
                                          <m:t>−6</m:t>
                                        </m:r>
                                      </m:e>
                                    </m:d>
                                  </m:e>
                                </m:mr>
                              </m:m>
                            </m:e>
                          </m:d>
                        </m:e>
                        <m:sub>
                          <m:d>
                            <m:dPr>
                              <m:ctrlPr>
                                <a:rPr lang="zh-CN" altLang="en-US" sz="2400" i="1">
                                  <a:latin typeface="Cambria Math" panose="02040503050406030204" pitchFamily="18" charset="0"/>
                                </a:rPr>
                              </m:ctrlPr>
                            </m:dPr>
                            <m:e>
                              <m:r>
                                <a:rPr lang="zh-CN" altLang="en-US" sz="2400" i="0">
                                  <a:latin typeface="Cambria Math" panose="02040503050406030204" pitchFamily="18" charset="0"/>
                                </a:rPr>
                                <m:t>8,9</m:t>
                              </m:r>
                            </m:e>
                          </m:d>
                        </m:sub>
                      </m:sSub>
                      <m:r>
                        <a:rPr lang="zh-CN" altLang="en-US" sz="2400" i="0">
                          <a:latin typeface="Cambria Math" panose="02040503050406030204" pitchFamily="18" charset="0"/>
                        </a:rPr>
                        <m:t>=</m:t>
                      </m:r>
                      <m:d>
                        <m:dPr>
                          <m:begChr m:val="["/>
                          <m:endChr m:val="]"/>
                          <m:ctrlPr>
                            <a:rPr lang="zh-CN" altLang="en-US" sz="2400" i="1">
                              <a:latin typeface="Cambria Math" panose="02040503050406030204" pitchFamily="18" charset="0"/>
                            </a:rPr>
                          </m:ctrlPr>
                        </m:dPr>
                        <m:e>
                          <m:m>
                            <m:mPr>
                              <m:plcHide m:val="on"/>
                              <m:mcs>
                                <m:mc>
                                  <m:mcPr>
                                    <m:count m:val="1"/>
                                    <m:mcJc m:val="center"/>
                                  </m:mcPr>
                                </m:mc>
                              </m:mcs>
                              <m:ctrlPr>
                                <a:rPr lang="zh-CN" altLang="en-US" sz="2400" i="1">
                                  <a:latin typeface="Cambria Math" panose="02040503050406030204" pitchFamily="18" charset="0"/>
                                </a:rPr>
                              </m:ctrlPr>
                            </m:mPr>
                            <m:mr>
                              <m:e>
                                <m:r>
                                  <a:rPr lang="zh-CN" altLang="en-US" sz="2400" i="0">
                                    <a:latin typeface="Cambria Math" panose="02040503050406030204" pitchFamily="18" charset="0"/>
                                  </a:rPr>
                                  <m:t>24</m:t>
                                </m:r>
                              </m:e>
                            </m:mr>
                            <m:mr>
                              <m:e>
                                <m:r>
                                  <a:rPr lang="zh-CN" altLang="en-US" sz="2400" i="0">
                                    <a:latin typeface="Cambria Math" panose="02040503050406030204" pitchFamily="18" charset="0"/>
                                  </a:rPr>
                                  <m:t>6</m:t>
                                </m:r>
                              </m:e>
                            </m:mr>
                          </m:m>
                        </m:e>
                      </m:d>
                    </m:oMath>
                  </m:oMathPara>
                </a14:m>
                <a:endParaRPr lang="zh-CN" altLang="en-US" sz="2400" dirty="0">
                  <a:latin typeface="宋体" panose="02010600030101010101" pitchFamily="2" charset="-122"/>
                  <a:ea typeface="宋体" panose="02010600030101010101" pitchFamily="2" charset="-122"/>
                </a:endParaRPr>
              </a:p>
            </p:txBody>
          </p:sp>
        </mc:Choice>
        <mc:Fallback xmlns="">
          <p:sp>
            <p:nvSpPr>
              <p:cNvPr id="24" name="文本框 23">
                <a:extLst>
                  <a:ext uri="{FF2B5EF4-FFF2-40B4-BE49-F238E27FC236}">
                    <a16:creationId xmlns:a16="http://schemas.microsoft.com/office/drawing/2014/main" id="{94C8ED74-2309-404A-A711-F811B03EF07D}"/>
                  </a:ext>
                </a:extLst>
              </p:cNvPr>
              <p:cNvSpPr txBox="1">
                <a:spLocks noRot="1" noChangeAspect="1" noMove="1" noResize="1" noEditPoints="1" noAdjustHandles="1" noChangeArrowheads="1" noChangeShapeType="1" noTextEdit="1"/>
              </p:cNvSpPr>
              <p:nvPr/>
            </p:nvSpPr>
            <p:spPr>
              <a:xfrm>
                <a:off x="1737426" y="2782800"/>
                <a:ext cx="6236217" cy="100226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5F69239C-0A1D-4985-A7C5-DF98584BB5CC}"/>
                  </a:ext>
                </a:extLst>
              </p:cNvPr>
              <p:cNvSpPr txBox="1"/>
              <p:nvPr/>
            </p:nvSpPr>
            <p:spPr>
              <a:xfrm>
                <a:off x="1055076" y="3882041"/>
                <a:ext cx="4572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smtClean="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𝑔</m:t>
                          </m:r>
                        </m:e>
                        <m:sub>
                          <m:r>
                            <a:rPr lang="zh-CN" altLang="en-US" sz="2400" i="0">
                              <a:latin typeface="Cambria Math" panose="02040503050406030204" pitchFamily="18" charset="0"/>
                            </a:rPr>
                            <m:t>0</m:t>
                          </m:r>
                        </m:sub>
                      </m:sSub>
                      <m:r>
                        <a:rPr lang="zh-CN" altLang="en-US" sz="2400" i="0">
                          <a:latin typeface="Cambria Math" panose="02040503050406030204" pitchFamily="18" charset="0"/>
                        </a:rPr>
                        <m:t>‖&gt;</m:t>
                      </m:r>
                      <m:r>
                        <a:rPr lang="zh-CN" altLang="en-US" sz="2400" i="1">
                          <a:latin typeface="Cambria Math" panose="02040503050406030204" pitchFamily="18" charset="0"/>
                        </a:rPr>
                        <m:t>𝜀</m:t>
                      </m:r>
                    </m:oMath>
                  </m:oMathPara>
                </a14:m>
                <a:endParaRPr lang="zh-CN" altLang="en-US" sz="2400" dirty="0">
                  <a:latin typeface="宋体" panose="02010600030101010101" pitchFamily="2" charset="-122"/>
                  <a:ea typeface="宋体" panose="02010600030101010101" pitchFamily="2" charset="-122"/>
                </a:endParaRPr>
              </a:p>
            </p:txBody>
          </p:sp>
        </mc:Choice>
        <mc:Fallback xmlns="">
          <p:sp>
            <p:nvSpPr>
              <p:cNvPr id="26" name="文本框 25">
                <a:extLst>
                  <a:ext uri="{FF2B5EF4-FFF2-40B4-BE49-F238E27FC236}">
                    <a16:creationId xmlns:a16="http://schemas.microsoft.com/office/drawing/2014/main" id="{5F69239C-0A1D-4985-A7C5-DF98584BB5CC}"/>
                  </a:ext>
                </a:extLst>
              </p:cNvPr>
              <p:cNvSpPr txBox="1">
                <a:spLocks noRot="1" noChangeAspect="1" noMove="1" noResize="1" noEditPoints="1" noAdjustHandles="1" noChangeArrowheads="1" noChangeShapeType="1" noTextEdit="1"/>
              </p:cNvSpPr>
              <p:nvPr/>
            </p:nvSpPr>
            <p:spPr>
              <a:xfrm>
                <a:off x="1055076" y="3882041"/>
                <a:ext cx="4572000" cy="461665"/>
              </a:xfrm>
              <a:prstGeom prst="rect">
                <a:avLst/>
              </a:prstGeom>
              <a:blipFill>
                <a:blip r:embed="rId5"/>
                <a:stretch>
                  <a:fillRect b="-197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2EE2E36D-2BF6-4054-B9EB-4FAD306F197C}"/>
                  </a:ext>
                </a:extLst>
              </p:cNvPr>
              <p:cNvSpPr txBox="1"/>
              <p:nvPr/>
            </p:nvSpPr>
            <p:spPr>
              <a:xfrm>
                <a:off x="1515391" y="4688334"/>
                <a:ext cx="4572000" cy="7081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2400" i="1" smtClean="0">
                              <a:latin typeface="Cambria Math" panose="02040503050406030204" pitchFamily="18" charset="0"/>
                            </a:rPr>
                          </m:ctrlPr>
                        </m:sSupPr>
                        <m:e>
                          <m:r>
                            <a:rPr lang="zh-CN" altLang="en-US" sz="2400" i="1">
                              <a:latin typeface="Cambria Math" panose="02040503050406030204" pitchFamily="18" charset="0"/>
                            </a:rPr>
                            <m:t>𝑑</m:t>
                          </m:r>
                        </m:e>
                        <m:sup>
                          <m:d>
                            <m:dPr>
                              <m:ctrlPr>
                                <a:rPr lang="zh-CN" altLang="en-US" sz="2400" i="1">
                                  <a:latin typeface="Cambria Math" panose="02040503050406030204" pitchFamily="18" charset="0"/>
                                </a:rPr>
                              </m:ctrlPr>
                            </m:dPr>
                            <m:e>
                              <m:r>
                                <a:rPr lang="zh-CN" altLang="en-US" sz="2400" i="0">
                                  <a:latin typeface="Cambria Math" panose="02040503050406030204" pitchFamily="18" charset="0"/>
                                </a:rPr>
                                <m:t>0</m:t>
                              </m:r>
                            </m:e>
                          </m:d>
                        </m:sup>
                      </m:sSup>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0">
                              <a:latin typeface="Cambria Math" panose="02040503050406030204" pitchFamily="18" charset="0"/>
                            </a:rPr>
                            <m:t>0</m:t>
                          </m:r>
                        </m:sub>
                      </m:sSub>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𝑔</m:t>
                          </m:r>
                        </m:e>
                        <m:sub>
                          <m:r>
                            <a:rPr lang="zh-CN" altLang="en-US" sz="2400" i="0">
                              <a:latin typeface="Cambria Math" panose="02040503050406030204" pitchFamily="18" charset="0"/>
                            </a:rPr>
                            <m:t>0</m:t>
                          </m:r>
                        </m:sub>
                      </m:sSub>
                      <m:r>
                        <a:rPr lang="zh-CN" altLang="en-US" sz="2400" i="0">
                          <a:latin typeface="Cambria Math" panose="02040503050406030204" pitchFamily="18" charset="0"/>
                        </a:rPr>
                        <m:t>=</m:t>
                      </m:r>
                      <m:d>
                        <m:dPr>
                          <m:begChr m:val="["/>
                          <m:endChr m:val="]"/>
                          <m:ctrlPr>
                            <a:rPr lang="zh-CN" altLang="en-US" sz="2400" i="1">
                              <a:latin typeface="Cambria Math" panose="02040503050406030204" pitchFamily="18" charset="0"/>
                            </a:rPr>
                          </m:ctrlPr>
                        </m:dPr>
                        <m:e>
                          <m:m>
                            <m:mPr>
                              <m:plcHide m:val="on"/>
                              <m:mcs>
                                <m:mc>
                                  <m:mcPr>
                                    <m:count m:val="1"/>
                                    <m:mcJc m:val="center"/>
                                  </m:mcPr>
                                </m:mc>
                              </m:mcs>
                              <m:ctrlPr>
                                <a:rPr lang="zh-CN" altLang="en-US" sz="2400" i="1">
                                  <a:latin typeface="Cambria Math" panose="02040503050406030204" pitchFamily="18" charset="0"/>
                                </a:rPr>
                              </m:ctrlPr>
                            </m:mPr>
                            <m:mr>
                              <m:e>
                                <m:r>
                                  <a:rPr lang="zh-CN" altLang="en-US" sz="2400" i="0">
                                    <a:latin typeface="Cambria Math" panose="02040503050406030204" pitchFamily="18" charset="0"/>
                                  </a:rPr>
                                  <m:t>−24</m:t>
                                </m:r>
                              </m:e>
                            </m:mr>
                            <m:mr>
                              <m:e>
                                <m:r>
                                  <a:rPr lang="zh-CN" altLang="en-US" sz="2400" i="0">
                                    <a:latin typeface="Cambria Math" panose="02040503050406030204" pitchFamily="18" charset="0"/>
                                  </a:rPr>
                                  <m:t>−6</m:t>
                                </m:r>
                              </m:e>
                            </m:mr>
                          </m:m>
                        </m:e>
                      </m:d>
                    </m:oMath>
                  </m:oMathPara>
                </a14:m>
                <a:endParaRPr lang="zh-CN" altLang="en-US" sz="2400" dirty="0">
                  <a:latin typeface="宋体" panose="02010600030101010101" pitchFamily="2" charset="-122"/>
                  <a:ea typeface="宋体" panose="02010600030101010101" pitchFamily="2" charset="-122"/>
                </a:endParaRPr>
              </a:p>
            </p:txBody>
          </p:sp>
        </mc:Choice>
        <mc:Fallback xmlns="">
          <p:sp>
            <p:nvSpPr>
              <p:cNvPr id="28" name="文本框 27">
                <a:extLst>
                  <a:ext uri="{FF2B5EF4-FFF2-40B4-BE49-F238E27FC236}">
                    <a16:creationId xmlns:a16="http://schemas.microsoft.com/office/drawing/2014/main" id="{2EE2E36D-2BF6-4054-B9EB-4FAD306F197C}"/>
                  </a:ext>
                </a:extLst>
              </p:cNvPr>
              <p:cNvSpPr txBox="1">
                <a:spLocks noRot="1" noChangeAspect="1" noMove="1" noResize="1" noEditPoints="1" noAdjustHandles="1" noChangeArrowheads="1" noChangeShapeType="1" noTextEdit="1"/>
              </p:cNvSpPr>
              <p:nvPr/>
            </p:nvSpPr>
            <p:spPr>
              <a:xfrm>
                <a:off x="1515391" y="4688334"/>
                <a:ext cx="4572000" cy="708143"/>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378C4F62-FDDC-40E1-B65F-EA2A402741A9}"/>
                  </a:ext>
                </a:extLst>
              </p:cNvPr>
              <p:cNvSpPr txBox="1"/>
              <p:nvPr/>
            </p:nvSpPr>
            <p:spPr>
              <a:xfrm>
                <a:off x="-90488" y="5685376"/>
                <a:ext cx="4572000" cy="48667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2400" i="1" smtClean="0">
                              <a:latin typeface="Cambria Math" panose="02040503050406030204" pitchFamily="18" charset="0"/>
                            </a:rPr>
                          </m:ctrlPr>
                        </m:sSupPr>
                        <m:e>
                          <m:r>
                            <a:rPr lang="zh-CN" altLang="en-US" sz="2400" i="1">
                              <a:latin typeface="Cambria Math" panose="02040503050406030204" pitchFamily="18" charset="0"/>
                            </a:rPr>
                            <m:t>𝑥</m:t>
                          </m:r>
                        </m:e>
                        <m:sup>
                          <m:d>
                            <m:dPr>
                              <m:ctrlPr>
                                <a:rPr lang="zh-CN" altLang="en-US" sz="2400" i="1">
                                  <a:latin typeface="Cambria Math" panose="02040503050406030204" pitchFamily="18" charset="0"/>
                                </a:rPr>
                              </m:ctrlPr>
                            </m:dPr>
                            <m:e>
                              <m:r>
                                <a:rPr lang="zh-CN" altLang="en-US" sz="2400" i="0">
                                  <a:latin typeface="Cambria Math" panose="02040503050406030204" pitchFamily="18" charset="0"/>
                                </a:rPr>
                                <m:t>1</m:t>
                              </m:r>
                            </m:e>
                          </m:d>
                        </m:sup>
                      </m:sSup>
                      <m:r>
                        <a:rPr lang="zh-CN" altLang="en-US" sz="2400" i="0">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d>
                            <m:dPr>
                              <m:ctrlPr>
                                <a:rPr lang="zh-CN" altLang="en-US" sz="2400" i="1">
                                  <a:latin typeface="Cambria Math" panose="02040503050406030204" pitchFamily="18" charset="0"/>
                                </a:rPr>
                              </m:ctrlPr>
                            </m:dPr>
                            <m:e>
                              <m:r>
                                <a:rPr lang="zh-CN" altLang="en-US" sz="2400" i="0">
                                  <a:latin typeface="Cambria Math" panose="02040503050406030204" pitchFamily="18" charset="0"/>
                                </a:rPr>
                                <m:t>0</m:t>
                              </m:r>
                            </m:e>
                          </m:d>
                        </m:sup>
                      </m:sSup>
                      <m:r>
                        <a:rPr lang="zh-CN" altLang="en-US" sz="2400" i="0">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𝛼</m:t>
                          </m:r>
                        </m:e>
                        <m:sup>
                          <m:d>
                            <m:dPr>
                              <m:ctrlPr>
                                <a:rPr lang="zh-CN" altLang="en-US" sz="2400" i="1">
                                  <a:latin typeface="Cambria Math" panose="02040503050406030204" pitchFamily="18" charset="0"/>
                                </a:rPr>
                              </m:ctrlPr>
                            </m:dPr>
                            <m:e>
                              <m:r>
                                <a:rPr lang="zh-CN" altLang="en-US" sz="2400" i="0">
                                  <a:latin typeface="Cambria Math" panose="02040503050406030204" pitchFamily="18" charset="0"/>
                                </a:rPr>
                                <m:t>0</m:t>
                              </m:r>
                            </m:e>
                          </m:d>
                        </m:sup>
                      </m:sSup>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𝑑</m:t>
                          </m:r>
                        </m:e>
                        <m:sup>
                          <m:d>
                            <m:dPr>
                              <m:ctrlPr>
                                <a:rPr lang="zh-CN" altLang="en-US" sz="2400" i="1">
                                  <a:latin typeface="Cambria Math" panose="02040503050406030204" pitchFamily="18" charset="0"/>
                                </a:rPr>
                              </m:ctrlPr>
                            </m:dPr>
                            <m:e>
                              <m:r>
                                <a:rPr lang="zh-CN" altLang="en-US" sz="2400" i="0">
                                  <a:latin typeface="Cambria Math" panose="02040503050406030204" pitchFamily="18" charset="0"/>
                                </a:rPr>
                                <m:t>0</m:t>
                              </m:r>
                            </m:e>
                          </m:d>
                        </m:sup>
                      </m:sSup>
                    </m:oMath>
                  </m:oMathPara>
                </a14:m>
                <a:endParaRPr lang="zh-CN" altLang="en-US" sz="2400" dirty="0">
                  <a:latin typeface="宋体" panose="02010600030101010101" pitchFamily="2" charset="-122"/>
                  <a:ea typeface="宋体" panose="02010600030101010101" pitchFamily="2" charset="-122"/>
                </a:endParaRPr>
              </a:p>
            </p:txBody>
          </p:sp>
        </mc:Choice>
        <mc:Fallback xmlns="">
          <p:sp>
            <p:nvSpPr>
              <p:cNvPr id="30" name="文本框 29">
                <a:extLst>
                  <a:ext uri="{FF2B5EF4-FFF2-40B4-BE49-F238E27FC236}">
                    <a16:creationId xmlns:a16="http://schemas.microsoft.com/office/drawing/2014/main" id="{378C4F62-FDDC-40E1-B65F-EA2A402741A9}"/>
                  </a:ext>
                </a:extLst>
              </p:cNvPr>
              <p:cNvSpPr txBox="1">
                <a:spLocks noRot="1" noChangeAspect="1" noMove="1" noResize="1" noEditPoints="1" noAdjustHandles="1" noChangeArrowheads="1" noChangeShapeType="1" noTextEdit="1"/>
              </p:cNvSpPr>
              <p:nvPr/>
            </p:nvSpPr>
            <p:spPr>
              <a:xfrm>
                <a:off x="-90488" y="5685376"/>
                <a:ext cx="4572000" cy="486672"/>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AFB5A8B1-7632-4FE7-8E0D-710431C3A373}"/>
                  </a:ext>
                </a:extLst>
              </p:cNvPr>
              <p:cNvSpPr txBox="1"/>
              <p:nvPr/>
            </p:nvSpPr>
            <p:spPr>
              <a:xfrm>
                <a:off x="3560884" y="5591243"/>
                <a:ext cx="4572000" cy="80220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smtClean="0">
                          <a:latin typeface="Cambria Math" panose="02040503050406030204" pitchFamily="18" charset="0"/>
                        </a:rPr>
                        <m:t>=</m:t>
                      </m:r>
                      <m:d>
                        <m:dPr>
                          <m:begChr m:val="["/>
                          <m:endChr m:val="]"/>
                          <m:ctrlPr>
                            <a:rPr lang="zh-CN" altLang="en-US" sz="2400" i="1">
                              <a:latin typeface="Cambria Math" panose="02040503050406030204" pitchFamily="18" charset="0"/>
                            </a:rPr>
                          </m:ctrlPr>
                        </m:dPr>
                        <m:e>
                          <m:m>
                            <m:mPr>
                              <m:plcHide m:val="on"/>
                              <m:mcs>
                                <m:mc>
                                  <m:mcPr>
                                    <m:count m:val="1"/>
                                    <m:mcJc m:val="center"/>
                                  </m:mcPr>
                                </m:mc>
                              </m:mcs>
                              <m:ctrlPr>
                                <a:rPr lang="zh-CN" altLang="en-US" sz="2400" i="1">
                                  <a:latin typeface="Cambria Math" panose="02040503050406030204" pitchFamily="18" charset="0"/>
                                </a:rPr>
                              </m:ctrlPr>
                            </m:mPr>
                            <m:mr>
                              <m:e>
                                <m:r>
                                  <a:rPr lang="zh-CN" altLang="en-US" sz="2400" i="0">
                                    <a:latin typeface="Cambria Math" panose="02040503050406030204" pitchFamily="18" charset="0"/>
                                  </a:rPr>
                                  <m:t>8</m:t>
                                </m:r>
                              </m:e>
                            </m:mr>
                            <m:mr>
                              <m:e>
                                <m:r>
                                  <a:rPr lang="zh-CN" altLang="en-US" sz="2400" i="0">
                                    <a:latin typeface="Cambria Math" panose="02040503050406030204" pitchFamily="18" charset="0"/>
                                  </a:rPr>
                                  <m:t>9</m:t>
                                </m:r>
                              </m:e>
                            </m:mr>
                          </m:m>
                        </m:e>
                      </m:d>
                      <m:r>
                        <a:rPr lang="zh-CN" altLang="en-US" sz="2400" i="0">
                          <a:latin typeface="Cambria Math" panose="02040503050406030204" pitchFamily="18" charset="0"/>
                        </a:rPr>
                        <m:t>+</m:t>
                      </m:r>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𝛼</m:t>
                          </m:r>
                        </m:e>
                        <m:sub>
                          <m:r>
                            <a:rPr lang="zh-CN" altLang="en-US" sz="2400" i="0">
                              <a:latin typeface="Cambria Math" panose="02040503050406030204" pitchFamily="18" charset="0"/>
                            </a:rPr>
                            <m:t>0</m:t>
                          </m:r>
                        </m:sub>
                      </m:sSub>
                      <m:d>
                        <m:dPr>
                          <m:begChr m:val="["/>
                          <m:endChr m:val="]"/>
                          <m:ctrlPr>
                            <a:rPr lang="zh-CN" altLang="en-US" sz="2400" i="1">
                              <a:latin typeface="Cambria Math" panose="02040503050406030204" pitchFamily="18" charset="0"/>
                            </a:rPr>
                          </m:ctrlPr>
                        </m:dPr>
                        <m:e>
                          <m:m>
                            <m:mPr>
                              <m:plcHide m:val="on"/>
                              <m:mcs>
                                <m:mc>
                                  <m:mcPr>
                                    <m:count m:val="1"/>
                                    <m:mcJc m:val="center"/>
                                  </m:mcPr>
                                </m:mc>
                              </m:mcs>
                              <m:ctrlPr>
                                <a:rPr lang="zh-CN" altLang="en-US" sz="2400" i="1">
                                  <a:latin typeface="Cambria Math" panose="02040503050406030204" pitchFamily="18" charset="0"/>
                                </a:rPr>
                              </m:ctrlPr>
                            </m:mPr>
                            <m:mr>
                              <m:e>
                                <m:r>
                                  <a:rPr lang="zh-CN" altLang="en-US" sz="2400" i="0">
                                    <a:latin typeface="Cambria Math" panose="02040503050406030204" pitchFamily="18" charset="0"/>
                                  </a:rPr>
                                  <m:t>−24</m:t>
                                </m:r>
                              </m:e>
                            </m:mr>
                            <m:mr>
                              <m:e>
                                <m:r>
                                  <a:rPr lang="zh-CN" altLang="en-US" sz="2400" i="0">
                                    <a:latin typeface="Cambria Math" panose="02040503050406030204" pitchFamily="18" charset="0"/>
                                  </a:rPr>
                                  <m:t>−6</m:t>
                                </m:r>
                              </m:e>
                            </m:mr>
                          </m:m>
                        </m:e>
                      </m:d>
                      <m:r>
                        <a:rPr lang="zh-CN" altLang="en-US" sz="2400" i="0">
                          <a:latin typeface="Cambria Math" panose="02040503050406030204" pitchFamily="18" charset="0"/>
                        </a:rPr>
                        <m:t>=</m:t>
                      </m:r>
                      <m:d>
                        <m:dPr>
                          <m:begChr m:val="["/>
                          <m:endChr m:val="]"/>
                          <m:ctrlPr>
                            <a:rPr lang="zh-CN" altLang="en-US" sz="2400" i="1">
                              <a:latin typeface="Cambria Math" panose="02040503050406030204" pitchFamily="18" charset="0"/>
                            </a:rPr>
                          </m:ctrlPr>
                        </m:dPr>
                        <m:e>
                          <m:m>
                            <m:mPr>
                              <m:plcHide m:val="on"/>
                              <m:mcs>
                                <m:mc>
                                  <m:mcPr>
                                    <m:count m:val="1"/>
                                    <m:mcJc m:val="center"/>
                                  </m:mcPr>
                                </m:mc>
                              </m:mcs>
                              <m:ctrlPr>
                                <a:rPr lang="zh-CN" altLang="en-US" sz="2400" i="1">
                                  <a:latin typeface="Cambria Math" panose="02040503050406030204" pitchFamily="18" charset="0"/>
                                </a:rPr>
                              </m:ctrlPr>
                            </m:mPr>
                            <m:mr>
                              <m:e>
                                <m:r>
                                  <a:rPr lang="zh-CN" altLang="en-US" sz="2400" i="0">
                                    <a:latin typeface="Cambria Math" panose="02040503050406030204" pitchFamily="18" charset="0"/>
                                  </a:rPr>
                                  <m:t>8−24</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𝛼</m:t>
                                    </m:r>
                                  </m:e>
                                  <m:sup>
                                    <m:d>
                                      <m:dPr>
                                        <m:ctrlPr>
                                          <a:rPr lang="zh-CN" altLang="en-US" sz="2400" i="1">
                                            <a:latin typeface="Cambria Math" panose="02040503050406030204" pitchFamily="18" charset="0"/>
                                          </a:rPr>
                                        </m:ctrlPr>
                                      </m:dPr>
                                      <m:e>
                                        <m:r>
                                          <a:rPr lang="zh-CN" altLang="en-US" sz="2400" i="0">
                                            <a:latin typeface="Cambria Math" panose="02040503050406030204" pitchFamily="18" charset="0"/>
                                          </a:rPr>
                                          <m:t>0</m:t>
                                        </m:r>
                                      </m:e>
                                    </m:d>
                                  </m:sup>
                                </m:sSup>
                              </m:e>
                            </m:mr>
                            <m:mr>
                              <m:e>
                                <m:r>
                                  <a:rPr lang="zh-CN" altLang="en-US" sz="2400" i="0">
                                    <a:latin typeface="Cambria Math" panose="02040503050406030204" pitchFamily="18" charset="0"/>
                                  </a:rPr>
                                  <m:t>9−6</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𝛼</m:t>
                                    </m:r>
                                  </m:e>
                                  <m:sup>
                                    <m:d>
                                      <m:dPr>
                                        <m:ctrlPr>
                                          <a:rPr lang="zh-CN" altLang="en-US" sz="2400" i="1">
                                            <a:latin typeface="Cambria Math" panose="02040503050406030204" pitchFamily="18" charset="0"/>
                                          </a:rPr>
                                        </m:ctrlPr>
                                      </m:dPr>
                                      <m:e>
                                        <m:r>
                                          <a:rPr lang="zh-CN" altLang="en-US" sz="2400" i="0">
                                            <a:latin typeface="Cambria Math" panose="02040503050406030204" pitchFamily="18" charset="0"/>
                                          </a:rPr>
                                          <m:t>0</m:t>
                                        </m:r>
                                      </m:e>
                                    </m:d>
                                  </m:sup>
                                </m:sSup>
                              </m:e>
                            </m:mr>
                          </m:m>
                        </m:e>
                      </m:d>
                    </m:oMath>
                  </m:oMathPara>
                </a14:m>
                <a:endParaRPr lang="zh-CN" altLang="en-US" sz="2400" dirty="0">
                  <a:latin typeface="宋体" panose="02010600030101010101" pitchFamily="2" charset="-122"/>
                  <a:ea typeface="宋体" panose="02010600030101010101" pitchFamily="2" charset="-122"/>
                </a:endParaRPr>
              </a:p>
            </p:txBody>
          </p:sp>
        </mc:Choice>
        <mc:Fallback xmlns="">
          <p:sp>
            <p:nvSpPr>
              <p:cNvPr id="32" name="文本框 31">
                <a:extLst>
                  <a:ext uri="{FF2B5EF4-FFF2-40B4-BE49-F238E27FC236}">
                    <a16:creationId xmlns:a16="http://schemas.microsoft.com/office/drawing/2014/main" id="{AFB5A8B1-7632-4FE7-8E0D-710431C3A373}"/>
                  </a:ext>
                </a:extLst>
              </p:cNvPr>
              <p:cNvSpPr txBox="1">
                <a:spLocks noRot="1" noChangeAspect="1" noMove="1" noResize="1" noEditPoints="1" noAdjustHandles="1" noChangeArrowheads="1" noChangeShapeType="1" noTextEdit="1"/>
              </p:cNvSpPr>
              <p:nvPr/>
            </p:nvSpPr>
            <p:spPr>
              <a:xfrm>
                <a:off x="3560884" y="5591243"/>
                <a:ext cx="4572000" cy="802207"/>
              </a:xfrm>
              <a:prstGeom prst="rect">
                <a:avLst/>
              </a:prstGeom>
              <a:blipFill>
                <a:blip r:embed="rId8"/>
                <a:stretch>
                  <a:fillRect/>
                </a:stretch>
              </a:blipFill>
            </p:spPr>
            <p:txBody>
              <a:bodyPr/>
              <a:lstStyle/>
              <a:p>
                <a:r>
                  <a:rPr lang="zh-CN" alt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40" name="Text Box 4">
            <a:extLst>
              <a:ext uri="{FF2B5EF4-FFF2-40B4-BE49-F238E27FC236}">
                <a16:creationId xmlns:a16="http://schemas.microsoft.com/office/drawing/2014/main" id="{84466B3D-5CFF-478F-BD69-BAA968B0060F}"/>
              </a:ext>
            </a:extLst>
          </p:cNvPr>
          <p:cNvSpPr txBox="1">
            <a:spLocks noChangeArrowheads="1"/>
          </p:cNvSpPr>
          <p:nvPr/>
        </p:nvSpPr>
        <p:spPr bwMode="auto">
          <a:xfrm>
            <a:off x="-191602" y="644842"/>
            <a:ext cx="495520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Tx/>
              <a:buNone/>
              <a:defRPr/>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式中最优步长用解析法来求：</a:t>
            </a:r>
          </a:p>
        </p:txBody>
      </p:sp>
      <p:sp>
        <p:nvSpPr>
          <p:cNvPr id="38916" name="Text Box 7">
            <a:extLst>
              <a:ext uri="{FF2B5EF4-FFF2-40B4-BE49-F238E27FC236}">
                <a16:creationId xmlns:a16="http://schemas.microsoft.com/office/drawing/2014/main" id="{82AAFE0F-F803-4D95-982E-FBF5EFB8E346}"/>
              </a:ext>
            </a:extLst>
          </p:cNvPr>
          <p:cNvSpPr txBox="1">
            <a:spLocks noChangeArrowheads="1"/>
          </p:cNvSpPr>
          <p:nvPr/>
        </p:nvSpPr>
        <p:spPr bwMode="auto">
          <a:xfrm>
            <a:off x="550158" y="2299819"/>
            <a:ext cx="61863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zh-CN" altLang="en-US">
                <a:latin typeface="宋体" panose="02010600030101010101" pitchFamily="2" charset="-122"/>
              </a:rPr>
              <a:t>为求极小，将上式对</a:t>
            </a:r>
            <a:r>
              <a:rPr lang="en-US" altLang="zh-CN">
                <a:latin typeface="宋体" panose="02010600030101010101" pitchFamily="2" charset="-122"/>
              </a:rPr>
              <a:t>α</a:t>
            </a:r>
            <a:r>
              <a:rPr lang="zh-CN" altLang="en-US">
                <a:latin typeface="宋体" panose="02010600030101010101" pitchFamily="2" charset="-122"/>
              </a:rPr>
              <a:t>求导，并令导数等于</a:t>
            </a:r>
            <a:r>
              <a:rPr lang="en-US" altLang="zh-CN">
                <a:latin typeface="宋体" panose="02010600030101010101" pitchFamily="2" charset="-122"/>
              </a:rPr>
              <a:t>0</a:t>
            </a:r>
          </a:p>
        </p:txBody>
      </p:sp>
      <p:sp>
        <p:nvSpPr>
          <p:cNvPr id="142346" name="Text Box 10">
            <a:extLst>
              <a:ext uri="{FF2B5EF4-FFF2-40B4-BE49-F238E27FC236}">
                <a16:creationId xmlns:a16="http://schemas.microsoft.com/office/drawing/2014/main" id="{FEC633B0-E922-4951-B321-3A2663700413}"/>
              </a:ext>
            </a:extLst>
          </p:cNvPr>
          <p:cNvSpPr txBox="1">
            <a:spLocks noChangeArrowheads="1"/>
          </p:cNvSpPr>
          <p:nvPr/>
        </p:nvSpPr>
        <p:spPr bwMode="auto">
          <a:xfrm>
            <a:off x="557094" y="3043025"/>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Tx/>
              <a:buNone/>
              <a:defRPr/>
            </a:pPr>
            <a:r>
              <a:rPr lang="zh-CN" altLang="en-US" sz="2400" dirty="0">
                <a:latin typeface="宋体" panose="02010600030101010101" pitchFamily="2" charset="-122"/>
                <a:ea typeface="宋体" panose="02010600030101010101" pitchFamily="2" charset="-122"/>
              </a:rPr>
              <a:t>得：</a:t>
            </a:r>
          </a:p>
        </p:txBody>
      </p:sp>
      <p:sp>
        <p:nvSpPr>
          <p:cNvPr id="142349" name="Text Box 13">
            <a:extLst>
              <a:ext uri="{FF2B5EF4-FFF2-40B4-BE49-F238E27FC236}">
                <a16:creationId xmlns:a16="http://schemas.microsoft.com/office/drawing/2014/main" id="{E5A4BAE4-1D47-4480-AE40-B0E931157E5D}"/>
              </a:ext>
            </a:extLst>
          </p:cNvPr>
          <p:cNvSpPr txBox="1">
            <a:spLocks noChangeArrowheads="1"/>
          </p:cNvSpPr>
          <p:nvPr/>
        </p:nvSpPr>
        <p:spPr bwMode="auto">
          <a:xfrm>
            <a:off x="550158" y="3891098"/>
            <a:ext cx="110799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Tx/>
              <a:buNone/>
              <a:defRPr/>
            </a:pPr>
            <a:r>
              <a:rPr lang="zh-CN" altLang="en-US" sz="2400" dirty="0">
                <a:latin typeface="宋体" panose="02010600030101010101" pitchFamily="2" charset="-122"/>
                <a:ea typeface="宋体" panose="02010600030101010101" pitchFamily="2" charset="-122"/>
              </a:rPr>
              <a:t>于是：</a:t>
            </a: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66368C95-CCA6-4C67-ABCE-CFE7FBB91002}"/>
                  </a:ext>
                </a:extLst>
              </p:cNvPr>
              <p:cNvSpPr txBox="1"/>
              <p:nvPr/>
            </p:nvSpPr>
            <p:spPr>
              <a:xfrm>
                <a:off x="1011297" y="1454991"/>
                <a:ext cx="7432552" cy="48667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smtClean="0">
                          <a:effectLst/>
                          <a:latin typeface="Cambria Math" panose="02040503050406030204" pitchFamily="18" charset="0"/>
                        </a:rPr>
                        <m:t>𝑓</m:t>
                      </m:r>
                      <m:r>
                        <a:rPr lang="zh-CN" altLang="en-US" sz="2400" i="0">
                          <a:effectLst/>
                          <a:latin typeface="Cambria Math" panose="02040503050406030204" pitchFamily="18" charset="0"/>
                        </a:rPr>
                        <m:t>(</m:t>
                      </m:r>
                      <m:sSup>
                        <m:sSupPr>
                          <m:ctrlPr>
                            <a:rPr lang="zh-CN" altLang="en-US" sz="2400" i="1">
                              <a:effectLst/>
                              <a:latin typeface="Cambria Math" panose="02040503050406030204" pitchFamily="18" charset="0"/>
                            </a:rPr>
                          </m:ctrlPr>
                        </m:sSupPr>
                        <m:e>
                          <m:r>
                            <a:rPr lang="zh-CN" altLang="en-US" sz="2400" i="1">
                              <a:effectLst/>
                              <a:latin typeface="Cambria Math" panose="02040503050406030204" pitchFamily="18" charset="0"/>
                            </a:rPr>
                            <m:t>𝑥</m:t>
                          </m:r>
                        </m:e>
                        <m:sup>
                          <m:d>
                            <m:dPr>
                              <m:ctrlPr>
                                <a:rPr lang="zh-CN" altLang="en-US" sz="2400" i="1">
                                  <a:effectLst/>
                                  <a:latin typeface="Cambria Math" panose="02040503050406030204" pitchFamily="18" charset="0"/>
                                </a:rPr>
                              </m:ctrlPr>
                            </m:dPr>
                            <m:e>
                              <m:r>
                                <a:rPr lang="zh-CN" altLang="en-US" sz="2400" i="0">
                                  <a:effectLst/>
                                  <a:latin typeface="Cambria Math" panose="02040503050406030204" pitchFamily="18" charset="0"/>
                                </a:rPr>
                                <m:t>1</m:t>
                              </m:r>
                            </m:e>
                          </m:d>
                        </m:sup>
                      </m:sSup>
                      <m:r>
                        <a:rPr lang="zh-CN" altLang="en-US" sz="2400" i="0">
                          <a:effectLst/>
                          <a:latin typeface="Cambria Math" panose="02040503050406030204" pitchFamily="18" charset="0"/>
                        </a:rPr>
                        <m:t>)=</m:t>
                      </m:r>
                      <m:r>
                        <a:rPr lang="zh-CN" altLang="en-US" sz="2400" i="1">
                          <a:effectLst/>
                          <a:latin typeface="Cambria Math" panose="02040503050406030204" pitchFamily="18" charset="0"/>
                        </a:rPr>
                        <m:t>𝜑</m:t>
                      </m:r>
                      <m:r>
                        <a:rPr lang="zh-CN" altLang="en-US" sz="2400" i="0">
                          <a:effectLst/>
                          <a:latin typeface="Cambria Math" panose="02040503050406030204" pitchFamily="18" charset="0"/>
                        </a:rPr>
                        <m:t>(</m:t>
                      </m:r>
                      <m:r>
                        <a:rPr lang="zh-CN" altLang="en-US" sz="2400" i="1">
                          <a:effectLst/>
                          <a:latin typeface="Cambria Math" panose="02040503050406030204" pitchFamily="18" charset="0"/>
                        </a:rPr>
                        <m:t>𝛼</m:t>
                      </m:r>
                      <m:r>
                        <a:rPr lang="zh-CN" altLang="en-US" sz="2400" i="0">
                          <a:effectLst/>
                          <a:latin typeface="Cambria Math" panose="02040503050406030204" pitchFamily="18" charset="0"/>
                        </a:rPr>
                        <m:t>)=4</m:t>
                      </m:r>
                      <m:sSup>
                        <m:sSupPr>
                          <m:ctrlPr>
                            <a:rPr lang="zh-CN" altLang="en-US" sz="2400" i="1">
                              <a:effectLst/>
                              <a:latin typeface="Cambria Math" panose="02040503050406030204" pitchFamily="18" charset="0"/>
                            </a:rPr>
                          </m:ctrlPr>
                        </m:sSupPr>
                        <m:e>
                          <m:d>
                            <m:dPr>
                              <m:begChr m:val="["/>
                              <m:endChr m:val="]"/>
                              <m:ctrlPr>
                                <a:rPr lang="zh-CN" altLang="en-US" sz="2400" i="1">
                                  <a:effectLst/>
                                  <a:latin typeface="Cambria Math" panose="02040503050406030204" pitchFamily="18" charset="0"/>
                                </a:rPr>
                              </m:ctrlPr>
                            </m:dPr>
                            <m:e>
                              <m:d>
                                <m:dPr>
                                  <m:endChr m:val=""/>
                                  <m:ctrlPr>
                                    <a:rPr lang="zh-CN" altLang="en-US" sz="2400" i="1">
                                      <a:effectLst/>
                                      <a:latin typeface="Cambria Math" panose="02040503050406030204" pitchFamily="18" charset="0"/>
                                    </a:rPr>
                                  </m:ctrlPr>
                                </m:dPr>
                                <m:e>
                                  <m:r>
                                    <a:rPr lang="zh-CN" altLang="en-US" sz="2400" i="0">
                                      <a:effectLst/>
                                      <a:latin typeface="Cambria Math" panose="02040503050406030204" pitchFamily="18" charset="0"/>
                                    </a:rPr>
                                    <m:t>8−24</m:t>
                                  </m:r>
                                  <m:r>
                                    <a:rPr lang="zh-CN" altLang="en-US" sz="2400" i="1">
                                      <a:effectLst/>
                                      <a:latin typeface="Cambria Math" panose="02040503050406030204" pitchFamily="18" charset="0"/>
                                    </a:rPr>
                                    <m:t>𝛼</m:t>
                                  </m:r>
                                  <m:r>
                                    <a:rPr lang="zh-CN" altLang="en-US" sz="2400" i="0">
                                      <a:effectLst/>
                                      <a:latin typeface="Cambria Math" panose="02040503050406030204" pitchFamily="18" charset="0"/>
                                    </a:rPr>
                                    <m:t>)−5</m:t>
                                  </m:r>
                                </m:e>
                              </m:d>
                            </m:e>
                          </m:d>
                        </m:e>
                        <m:sup>
                          <m:r>
                            <a:rPr lang="zh-CN" altLang="en-US" sz="2400" i="0">
                              <a:effectLst/>
                              <a:latin typeface="Cambria Math" panose="02040503050406030204" pitchFamily="18" charset="0"/>
                            </a:rPr>
                            <m:t>2</m:t>
                          </m:r>
                        </m:sup>
                      </m:sSup>
                      <m:r>
                        <a:rPr lang="zh-CN" altLang="en-US" sz="2400" i="0">
                          <a:effectLst/>
                          <a:latin typeface="Cambria Math" panose="02040503050406030204" pitchFamily="18" charset="0"/>
                        </a:rPr>
                        <m:t>+</m:t>
                      </m:r>
                      <m:sSup>
                        <m:sSupPr>
                          <m:ctrlPr>
                            <a:rPr lang="zh-CN" altLang="en-US" sz="2400" i="1">
                              <a:effectLst/>
                              <a:latin typeface="Cambria Math" panose="02040503050406030204" pitchFamily="18" charset="0"/>
                            </a:rPr>
                          </m:ctrlPr>
                        </m:sSupPr>
                        <m:e>
                          <m:d>
                            <m:dPr>
                              <m:begChr m:val="["/>
                              <m:endChr m:val="]"/>
                              <m:ctrlPr>
                                <a:rPr lang="zh-CN" altLang="en-US" sz="2400" i="1">
                                  <a:effectLst/>
                                  <a:latin typeface="Cambria Math" panose="02040503050406030204" pitchFamily="18" charset="0"/>
                                </a:rPr>
                              </m:ctrlPr>
                            </m:dPr>
                            <m:e>
                              <m:d>
                                <m:dPr>
                                  <m:ctrlPr>
                                    <a:rPr lang="zh-CN" altLang="en-US" sz="2400" i="1">
                                      <a:effectLst/>
                                      <a:latin typeface="Cambria Math" panose="02040503050406030204" pitchFamily="18" charset="0"/>
                                    </a:rPr>
                                  </m:ctrlPr>
                                </m:dPr>
                                <m:e>
                                  <m:r>
                                    <a:rPr lang="zh-CN" altLang="en-US" sz="2400" i="0">
                                      <a:effectLst/>
                                      <a:latin typeface="Cambria Math" panose="02040503050406030204" pitchFamily="18" charset="0"/>
                                    </a:rPr>
                                    <m:t>9−6</m:t>
                                  </m:r>
                                  <m:r>
                                    <a:rPr lang="zh-CN" altLang="en-US" sz="2400" i="1">
                                      <a:effectLst/>
                                      <a:latin typeface="Cambria Math" panose="02040503050406030204" pitchFamily="18" charset="0"/>
                                    </a:rPr>
                                    <m:t>𝛼</m:t>
                                  </m:r>
                                </m:e>
                              </m:d>
                              <m:r>
                                <a:rPr lang="en-US" altLang="zh-CN" sz="2400" b="0" i="1" smtClean="0">
                                  <a:effectLst/>
                                  <a:latin typeface="Cambria Math" panose="02040503050406030204" pitchFamily="18" charset="0"/>
                                </a:rPr>
                                <m:t>−6</m:t>
                              </m:r>
                            </m:e>
                          </m:d>
                        </m:e>
                        <m:sup>
                          <m:r>
                            <a:rPr lang="zh-CN" altLang="en-US" sz="2400" i="0">
                              <a:effectLst/>
                              <a:latin typeface="Cambria Math" panose="02040503050406030204" pitchFamily="18" charset="0"/>
                            </a:rPr>
                            <m:t>2</m:t>
                          </m:r>
                        </m:sup>
                      </m:sSup>
                    </m:oMath>
                  </m:oMathPara>
                </a14:m>
                <a:endParaRPr lang="zh-CN" altLang="en-US" sz="2400" dirty="0">
                  <a:effectLst/>
                  <a:latin typeface="宋体" panose="02010600030101010101" pitchFamily="2" charset="-122"/>
                  <a:ea typeface="宋体" panose="02010600030101010101" pitchFamily="2" charset="-122"/>
                </a:endParaRPr>
              </a:p>
            </p:txBody>
          </p:sp>
        </mc:Choice>
        <mc:Fallback xmlns="">
          <p:sp>
            <p:nvSpPr>
              <p:cNvPr id="15" name="文本框 14">
                <a:extLst>
                  <a:ext uri="{FF2B5EF4-FFF2-40B4-BE49-F238E27FC236}">
                    <a16:creationId xmlns:a16="http://schemas.microsoft.com/office/drawing/2014/main" id="{66368C95-CCA6-4C67-ABCE-CFE7FBB91002}"/>
                  </a:ext>
                </a:extLst>
              </p:cNvPr>
              <p:cNvSpPr txBox="1">
                <a:spLocks noRot="1" noChangeAspect="1" noMove="1" noResize="1" noEditPoints="1" noAdjustHandles="1" noChangeArrowheads="1" noChangeShapeType="1" noTextEdit="1"/>
              </p:cNvSpPr>
              <p:nvPr/>
            </p:nvSpPr>
            <p:spPr>
              <a:xfrm>
                <a:off x="1011297" y="1454991"/>
                <a:ext cx="7432552" cy="486672"/>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94169587-D7D6-4EDE-9A3F-3552B7B97AB0}"/>
                  </a:ext>
                </a:extLst>
              </p:cNvPr>
              <p:cNvSpPr txBox="1"/>
              <p:nvPr/>
            </p:nvSpPr>
            <p:spPr>
              <a:xfrm>
                <a:off x="1165186" y="2976878"/>
                <a:ext cx="4572000" cy="78380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2400" i="1" smtClean="0">
                              <a:effectLst/>
                              <a:latin typeface="Cambria Math" panose="02040503050406030204" pitchFamily="18" charset="0"/>
                            </a:rPr>
                          </m:ctrlPr>
                        </m:sSupPr>
                        <m:e>
                          <m:r>
                            <a:rPr lang="zh-CN" altLang="en-US" sz="2400" i="1">
                              <a:effectLst/>
                              <a:latin typeface="Cambria Math" panose="02040503050406030204" pitchFamily="18" charset="0"/>
                            </a:rPr>
                            <m:t>𝛼</m:t>
                          </m:r>
                        </m:e>
                        <m:sup>
                          <m:d>
                            <m:dPr>
                              <m:ctrlPr>
                                <a:rPr lang="zh-CN" altLang="en-US" sz="2400" i="1">
                                  <a:effectLst/>
                                  <a:latin typeface="Cambria Math" panose="02040503050406030204" pitchFamily="18" charset="0"/>
                                </a:rPr>
                              </m:ctrlPr>
                            </m:dPr>
                            <m:e>
                              <m:r>
                                <a:rPr lang="zh-CN" altLang="en-US" sz="2400" i="0">
                                  <a:effectLst/>
                                  <a:latin typeface="Cambria Math" panose="02040503050406030204" pitchFamily="18" charset="0"/>
                                </a:rPr>
                                <m:t>0</m:t>
                              </m:r>
                            </m:e>
                          </m:d>
                        </m:sup>
                      </m:sSup>
                      <m:r>
                        <a:rPr lang="zh-CN" altLang="en-US" sz="2400" i="0">
                          <a:effectLst/>
                          <a:latin typeface="Cambria Math" panose="02040503050406030204" pitchFamily="18" charset="0"/>
                        </a:rPr>
                        <m:t>=</m:t>
                      </m:r>
                      <m:f>
                        <m:fPr>
                          <m:ctrlPr>
                            <a:rPr lang="en-US" altLang="zh-CN" sz="2400" i="1" smtClean="0">
                              <a:effectLst/>
                              <a:latin typeface="Cambria Math" panose="02040503050406030204" pitchFamily="18" charset="0"/>
                            </a:rPr>
                          </m:ctrlPr>
                        </m:fPr>
                        <m:num>
                          <m:r>
                            <a:rPr lang="en-US" altLang="zh-CN" sz="2400" b="0" i="1" smtClean="0">
                              <a:effectLst/>
                              <a:latin typeface="Cambria Math" panose="02040503050406030204" pitchFamily="18" charset="0"/>
                            </a:rPr>
                            <m:t>17</m:t>
                          </m:r>
                        </m:num>
                        <m:den>
                          <m:r>
                            <a:rPr lang="en-US" altLang="zh-CN" sz="2400" b="0" i="1" smtClean="0">
                              <a:effectLst/>
                              <a:latin typeface="Cambria Math" panose="02040503050406030204" pitchFamily="18" charset="0"/>
                            </a:rPr>
                            <m:t>130</m:t>
                          </m:r>
                        </m:den>
                      </m:f>
                      <m:r>
                        <a:rPr lang="zh-CN" altLang="en-US" sz="2400" i="1" smtClean="0">
                          <a:effectLst/>
                          <a:latin typeface="Cambria Math" panose="02040503050406030204" pitchFamily="18" charset="0"/>
                        </a:rPr>
                        <m:t>≈</m:t>
                      </m:r>
                      <m:r>
                        <a:rPr lang="zh-CN" altLang="en-US" sz="2400" i="0">
                          <a:effectLst/>
                          <a:latin typeface="Cambria Math" panose="02040503050406030204" pitchFamily="18" charset="0"/>
                        </a:rPr>
                        <m:t>0.13077</m:t>
                      </m:r>
                    </m:oMath>
                  </m:oMathPara>
                </a14:m>
                <a:endParaRPr lang="zh-CN" altLang="en-US" sz="2400" dirty="0">
                  <a:effectLst/>
                  <a:latin typeface="宋体" panose="02010600030101010101" pitchFamily="2" charset="-122"/>
                  <a:ea typeface="宋体" panose="02010600030101010101" pitchFamily="2" charset="-122"/>
                </a:endParaRPr>
              </a:p>
            </p:txBody>
          </p:sp>
        </mc:Choice>
        <mc:Fallback xmlns="">
          <p:sp>
            <p:nvSpPr>
              <p:cNvPr id="17" name="文本框 16">
                <a:extLst>
                  <a:ext uri="{FF2B5EF4-FFF2-40B4-BE49-F238E27FC236}">
                    <a16:creationId xmlns:a16="http://schemas.microsoft.com/office/drawing/2014/main" id="{94169587-D7D6-4EDE-9A3F-3552B7B97AB0}"/>
                  </a:ext>
                </a:extLst>
              </p:cNvPr>
              <p:cNvSpPr txBox="1">
                <a:spLocks noRot="1" noChangeAspect="1" noMove="1" noResize="1" noEditPoints="1" noAdjustHandles="1" noChangeArrowheads="1" noChangeShapeType="1" noTextEdit="1"/>
              </p:cNvSpPr>
              <p:nvPr/>
            </p:nvSpPr>
            <p:spPr>
              <a:xfrm>
                <a:off x="1165186" y="2976878"/>
                <a:ext cx="4572000" cy="78380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027B1E3A-16FC-40DE-8C45-8591D331EED7}"/>
                  </a:ext>
                </a:extLst>
              </p:cNvPr>
              <p:cNvSpPr txBox="1"/>
              <p:nvPr/>
            </p:nvSpPr>
            <p:spPr>
              <a:xfrm>
                <a:off x="1243013" y="3872385"/>
                <a:ext cx="4572000" cy="7156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2400" i="1" smtClean="0">
                              <a:effectLst/>
                              <a:latin typeface="Cambria Math" panose="02040503050406030204" pitchFamily="18" charset="0"/>
                            </a:rPr>
                          </m:ctrlPr>
                        </m:sSupPr>
                        <m:e>
                          <m:r>
                            <a:rPr lang="zh-CN" altLang="en-US" sz="2400" i="1">
                              <a:effectLst/>
                              <a:latin typeface="Cambria Math" panose="02040503050406030204" pitchFamily="18" charset="0"/>
                            </a:rPr>
                            <m:t>𝑥</m:t>
                          </m:r>
                        </m:e>
                        <m:sup>
                          <m:d>
                            <m:dPr>
                              <m:ctrlPr>
                                <a:rPr lang="zh-CN" altLang="en-US" sz="2400" i="1">
                                  <a:effectLst/>
                                  <a:latin typeface="Cambria Math" panose="02040503050406030204" pitchFamily="18" charset="0"/>
                                </a:rPr>
                              </m:ctrlPr>
                            </m:dPr>
                            <m:e>
                              <m:r>
                                <a:rPr lang="zh-CN" altLang="en-US" sz="2400" i="0">
                                  <a:effectLst/>
                                  <a:latin typeface="Cambria Math" panose="02040503050406030204" pitchFamily="18" charset="0"/>
                                </a:rPr>
                                <m:t>1</m:t>
                              </m:r>
                            </m:e>
                          </m:d>
                        </m:sup>
                      </m:sSup>
                      <m:r>
                        <a:rPr lang="zh-CN" altLang="en-US" sz="2400" i="0">
                          <a:effectLst/>
                          <a:latin typeface="Cambria Math" panose="02040503050406030204" pitchFamily="18" charset="0"/>
                        </a:rPr>
                        <m:t>=</m:t>
                      </m:r>
                      <m:d>
                        <m:dPr>
                          <m:begChr m:val="["/>
                          <m:endChr m:val="]"/>
                          <m:ctrlPr>
                            <a:rPr lang="zh-CN" altLang="en-US" sz="2400" i="1">
                              <a:effectLst/>
                              <a:latin typeface="Cambria Math" panose="02040503050406030204" pitchFamily="18" charset="0"/>
                            </a:rPr>
                          </m:ctrlPr>
                        </m:dPr>
                        <m:e>
                          <m:m>
                            <m:mPr>
                              <m:plcHide m:val="on"/>
                              <m:mcs>
                                <m:mc>
                                  <m:mcPr>
                                    <m:count m:val="1"/>
                                    <m:mcJc m:val="center"/>
                                  </m:mcPr>
                                </m:mc>
                              </m:mcs>
                              <m:ctrlPr>
                                <a:rPr lang="zh-CN" altLang="en-US" sz="2400" i="1">
                                  <a:effectLst/>
                                  <a:latin typeface="Cambria Math" panose="02040503050406030204" pitchFamily="18" charset="0"/>
                                </a:rPr>
                              </m:ctrlPr>
                            </m:mPr>
                            <m:mr>
                              <m:e>
                                <m:r>
                                  <a:rPr lang="zh-CN" altLang="en-US" sz="2400" i="0">
                                    <a:effectLst/>
                                    <a:latin typeface="Cambria Math" panose="02040503050406030204" pitchFamily="18" charset="0"/>
                                  </a:rPr>
                                  <m:t>4.86152</m:t>
                                </m:r>
                              </m:e>
                            </m:mr>
                            <m:mr>
                              <m:e>
                                <m:r>
                                  <a:rPr lang="zh-CN" altLang="en-US" sz="2400" i="0">
                                    <a:effectLst/>
                                    <a:latin typeface="Cambria Math" panose="02040503050406030204" pitchFamily="18" charset="0"/>
                                  </a:rPr>
                                  <m:t>8.21538</m:t>
                                </m:r>
                              </m:e>
                            </m:mr>
                          </m:m>
                        </m:e>
                      </m:d>
                    </m:oMath>
                  </m:oMathPara>
                </a14:m>
                <a:endParaRPr lang="zh-CN" altLang="en-US" sz="2400" dirty="0">
                  <a:effectLst/>
                  <a:latin typeface="宋体" panose="02010600030101010101" pitchFamily="2" charset="-122"/>
                  <a:ea typeface="宋体" panose="02010600030101010101" pitchFamily="2" charset="-122"/>
                </a:endParaRPr>
              </a:p>
            </p:txBody>
          </p:sp>
        </mc:Choice>
        <mc:Fallback xmlns="">
          <p:sp>
            <p:nvSpPr>
              <p:cNvPr id="19" name="文本框 18">
                <a:extLst>
                  <a:ext uri="{FF2B5EF4-FFF2-40B4-BE49-F238E27FC236}">
                    <a16:creationId xmlns:a16="http://schemas.microsoft.com/office/drawing/2014/main" id="{027B1E3A-16FC-40DE-8C45-8591D331EED7}"/>
                  </a:ext>
                </a:extLst>
              </p:cNvPr>
              <p:cNvSpPr txBox="1">
                <a:spLocks noRot="1" noChangeAspect="1" noMove="1" noResize="1" noEditPoints="1" noAdjustHandles="1" noChangeArrowheads="1" noChangeShapeType="1" noTextEdit="1"/>
              </p:cNvSpPr>
              <p:nvPr/>
            </p:nvSpPr>
            <p:spPr>
              <a:xfrm>
                <a:off x="1243013" y="3872385"/>
                <a:ext cx="4572000" cy="71564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E3B66353-D278-4920-984D-89695E77077D}"/>
                  </a:ext>
                </a:extLst>
              </p:cNvPr>
              <p:cNvSpPr txBox="1"/>
              <p:nvPr/>
            </p:nvSpPr>
            <p:spPr>
              <a:xfrm>
                <a:off x="1995854" y="4859806"/>
                <a:ext cx="4572000" cy="7081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smtClean="0">
                              <a:effectLst/>
                              <a:latin typeface="Cambria Math" panose="02040503050406030204" pitchFamily="18" charset="0"/>
                            </a:rPr>
                          </m:ctrlPr>
                        </m:sSubPr>
                        <m:e>
                          <m:r>
                            <a:rPr lang="zh-CN" altLang="en-US" sz="2400" i="1">
                              <a:effectLst/>
                              <a:latin typeface="Cambria Math" panose="02040503050406030204" pitchFamily="18" charset="0"/>
                            </a:rPr>
                            <m:t>𝑔</m:t>
                          </m:r>
                        </m:e>
                        <m:sub>
                          <m:r>
                            <a:rPr lang="zh-CN" altLang="en-US" sz="2400" i="0">
                              <a:effectLst/>
                              <a:latin typeface="Cambria Math" panose="02040503050406030204" pitchFamily="18" charset="0"/>
                            </a:rPr>
                            <m:t>1</m:t>
                          </m:r>
                        </m:sub>
                      </m:sSub>
                      <m:r>
                        <a:rPr lang="zh-CN" altLang="en-US" sz="2400" i="0">
                          <a:effectLst/>
                          <a:latin typeface="Cambria Math" panose="02040503050406030204" pitchFamily="18" charset="0"/>
                        </a:rPr>
                        <m:t>=</m:t>
                      </m:r>
                      <m:r>
                        <m:rPr>
                          <m:sty m:val="p"/>
                        </m:rPr>
                        <a:rPr lang="zh-CN" altLang="en-US" sz="2400" i="0">
                          <a:effectLst/>
                          <a:latin typeface="Cambria Math" panose="02040503050406030204" pitchFamily="18" charset="0"/>
                        </a:rPr>
                        <m:t>∇</m:t>
                      </m:r>
                      <m:r>
                        <a:rPr lang="zh-CN" altLang="en-US" sz="2400" i="1">
                          <a:effectLst/>
                          <a:latin typeface="Cambria Math" panose="02040503050406030204" pitchFamily="18" charset="0"/>
                        </a:rPr>
                        <m:t>𝑓</m:t>
                      </m:r>
                      <m:r>
                        <a:rPr lang="zh-CN" altLang="en-US" sz="2400" i="0">
                          <a:effectLst/>
                          <a:latin typeface="Cambria Math" panose="02040503050406030204" pitchFamily="18" charset="0"/>
                        </a:rPr>
                        <m:t>(</m:t>
                      </m:r>
                      <m:sSup>
                        <m:sSupPr>
                          <m:ctrlPr>
                            <a:rPr lang="zh-CN" altLang="en-US" sz="2400" i="1">
                              <a:effectLst/>
                              <a:latin typeface="Cambria Math" panose="02040503050406030204" pitchFamily="18" charset="0"/>
                            </a:rPr>
                          </m:ctrlPr>
                        </m:sSupPr>
                        <m:e>
                          <m:r>
                            <a:rPr lang="zh-CN" altLang="en-US" sz="2400" i="1">
                              <a:effectLst/>
                              <a:latin typeface="Cambria Math" panose="02040503050406030204" pitchFamily="18" charset="0"/>
                            </a:rPr>
                            <m:t>𝑥</m:t>
                          </m:r>
                        </m:e>
                        <m:sup>
                          <m:d>
                            <m:dPr>
                              <m:ctrlPr>
                                <a:rPr lang="zh-CN" altLang="en-US" sz="2400" i="1">
                                  <a:effectLst/>
                                  <a:latin typeface="Cambria Math" panose="02040503050406030204" pitchFamily="18" charset="0"/>
                                </a:rPr>
                              </m:ctrlPr>
                            </m:dPr>
                            <m:e>
                              <m:r>
                                <a:rPr lang="zh-CN" altLang="en-US" sz="2400" i="0">
                                  <a:effectLst/>
                                  <a:latin typeface="Cambria Math" panose="02040503050406030204" pitchFamily="18" charset="0"/>
                                </a:rPr>
                                <m:t>1</m:t>
                              </m:r>
                            </m:e>
                          </m:d>
                        </m:sup>
                      </m:sSup>
                      <m:r>
                        <a:rPr lang="zh-CN" altLang="en-US" sz="2400" i="0">
                          <a:effectLst/>
                          <a:latin typeface="Cambria Math" panose="02040503050406030204" pitchFamily="18" charset="0"/>
                        </a:rPr>
                        <m:t>)=</m:t>
                      </m:r>
                      <m:d>
                        <m:dPr>
                          <m:begChr m:val="["/>
                          <m:endChr m:val="]"/>
                          <m:ctrlPr>
                            <a:rPr lang="zh-CN" altLang="en-US" sz="2400" i="1">
                              <a:effectLst/>
                              <a:latin typeface="Cambria Math" panose="02040503050406030204" pitchFamily="18" charset="0"/>
                            </a:rPr>
                          </m:ctrlPr>
                        </m:dPr>
                        <m:e>
                          <m:m>
                            <m:mPr>
                              <m:plcHide m:val="on"/>
                              <m:mcs>
                                <m:mc>
                                  <m:mcPr>
                                    <m:count m:val="1"/>
                                    <m:mcJc m:val="center"/>
                                  </m:mcPr>
                                </m:mc>
                              </m:mcs>
                              <m:ctrlPr>
                                <a:rPr lang="zh-CN" altLang="en-US" sz="2400" i="1">
                                  <a:effectLst/>
                                  <a:latin typeface="Cambria Math" panose="02040503050406030204" pitchFamily="18" charset="0"/>
                                </a:rPr>
                              </m:ctrlPr>
                            </m:mPr>
                            <m:mr>
                              <m:e>
                                <m:r>
                                  <a:rPr lang="zh-CN" altLang="en-US" sz="2400" i="0">
                                    <a:effectLst/>
                                    <a:latin typeface="Cambria Math" panose="02040503050406030204" pitchFamily="18" charset="0"/>
                                  </a:rPr>
                                  <m:t>−0.10784</m:t>
                                </m:r>
                              </m:e>
                            </m:mr>
                            <m:mr>
                              <m:e>
                                <m:r>
                                  <a:rPr lang="zh-CN" altLang="en-US" sz="2400" i="0">
                                    <a:effectLst/>
                                    <a:latin typeface="Cambria Math" panose="02040503050406030204" pitchFamily="18" charset="0"/>
                                  </a:rPr>
                                  <m:t>4.43076</m:t>
                                </m:r>
                              </m:e>
                            </m:mr>
                          </m:m>
                        </m:e>
                      </m:d>
                    </m:oMath>
                  </m:oMathPara>
                </a14:m>
                <a:endParaRPr lang="zh-CN" altLang="en-US" sz="2400" dirty="0">
                  <a:effectLst/>
                  <a:latin typeface="宋体" panose="02010600030101010101" pitchFamily="2" charset="-122"/>
                  <a:ea typeface="宋体" panose="02010600030101010101" pitchFamily="2" charset="-122"/>
                </a:endParaRPr>
              </a:p>
            </p:txBody>
          </p:sp>
        </mc:Choice>
        <mc:Fallback xmlns="">
          <p:sp>
            <p:nvSpPr>
              <p:cNvPr id="21" name="文本框 20">
                <a:extLst>
                  <a:ext uri="{FF2B5EF4-FFF2-40B4-BE49-F238E27FC236}">
                    <a16:creationId xmlns:a16="http://schemas.microsoft.com/office/drawing/2014/main" id="{E3B66353-D278-4920-984D-89695E77077D}"/>
                  </a:ext>
                </a:extLst>
              </p:cNvPr>
              <p:cNvSpPr txBox="1">
                <a:spLocks noRot="1" noChangeAspect="1" noMove="1" noResize="1" noEditPoints="1" noAdjustHandles="1" noChangeArrowheads="1" noChangeShapeType="1" noTextEdit="1"/>
              </p:cNvSpPr>
              <p:nvPr/>
            </p:nvSpPr>
            <p:spPr>
              <a:xfrm>
                <a:off x="1995854" y="4859806"/>
                <a:ext cx="4572000" cy="708143"/>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0AC1492A-388E-4467-802B-09CB696F59D2}"/>
                  </a:ext>
                </a:extLst>
              </p:cNvPr>
              <p:cNvSpPr txBox="1"/>
              <p:nvPr/>
            </p:nvSpPr>
            <p:spPr>
              <a:xfrm>
                <a:off x="1433147" y="5982325"/>
                <a:ext cx="4572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smtClean="0">
                          <a:effectLst/>
                          <a:latin typeface="Cambria Math" panose="02040503050406030204" pitchFamily="18" charset="0"/>
                        </a:rPr>
                        <m:t>‖</m:t>
                      </m:r>
                      <m:sSub>
                        <m:sSubPr>
                          <m:ctrlPr>
                            <a:rPr lang="zh-CN" altLang="en-US" sz="2400" i="1">
                              <a:effectLst/>
                              <a:latin typeface="Cambria Math" panose="02040503050406030204" pitchFamily="18" charset="0"/>
                            </a:rPr>
                          </m:ctrlPr>
                        </m:sSubPr>
                        <m:e>
                          <m:r>
                            <a:rPr lang="zh-CN" altLang="en-US" sz="2400" i="1">
                              <a:effectLst/>
                              <a:latin typeface="Cambria Math" panose="02040503050406030204" pitchFamily="18" charset="0"/>
                            </a:rPr>
                            <m:t>𝑔</m:t>
                          </m:r>
                        </m:e>
                        <m:sub>
                          <m:r>
                            <a:rPr lang="zh-CN" altLang="en-US" sz="2400" i="0">
                              <a:effectLst/>
                              <a:latin typeface="Cambria Math" panose="02040503050406030204" pitchFamily="18" charset="0"/>
                            </a:rPr>
                            <m:t>1</m:t>
                          </m:r>
                        </m:sub>
                      </m:sSub>
                      <m:r>
                        <a:rPr lang="zh-CN" altLang="en-US" sz="2400" i="0">
                          <a:effectLst/>
                          <a:latin typeface="Cambria Math" panose="02040503050406030204" pitchFamily="18" charset="0"/>
                        </a:rPr>
                        <m:t>‖=4.56716&gt;</m:t>
                      </m:r>
                      <m:r>
                        <a:rPr lang="zh-CN" altLang="en-US" sz="2400" i="1">
                          <a:effectLst/>
                          <a:latin typeface="Cambria Math" panose="02040503050406030204" pitchFamily="18" charset="0"/>
                        </a:rPr>
                        <m:t>𝜀</m:t>
                      </m:r>
                    </m:oMath>
                  </m:oMathPara>
                </a14:m>
                <a:endParaRPr lang="zh-CN" altLang="en-US" sz="2400" dirty="0">
                  <a:effectLst/>
                  <a:latin typeface="宋体" panose="02010600030101010101" pitchFamily="2" charset="-122"/>
                  <a:ea typeface="宋体" panose="02010600030101010101" pitchFamily="2" charset="-122"/>
                </a:endParaRPr>
              </a:p>
            </p:txBody>
          </p:sp>
        </mc:Choice>
        <mc:Fallback xmlns="">
          <p:sp>
            <p:nvSpPr>
              <p:cNvPr id="23" name="文本框 22">
                <a:extLst>
                  <a:ext uri="{FF2B5EF4-FFF2-40B4-BE49-F238E27FC236}">
                    <a16:creationId xmlns:a16="http://schemas.microsoft.com/office/drawing/2014/main" id="{0AC1492A-388E-4467-802B-09CB696F59D2}"/>
                  </a:ext>
                </a:extLst>
              </p:cNvPr>
              <p:cNvSpPr txBox="1">
                <a:spLocks noRot="1" noChangeAspect="1" noMove="1" noResize="1" noEditPoints="1" noAdjustHandles="1" noChangeArrowheads="1" noChangeShapeType="1" noTextEdit="1"/>
              </p:cNvSpPr>
              <p:nvPr/>
            </p:nvSpPr>
            <p:spPr>
              <a:xfrm>
                <a:off x="1433147" y="5982325"/>
                <a:ext cx="4572000" cy="461665"/>
              </a:xfrm>
              <a:prstGeom prst="rect">
                <a:avLst/>
              </a:prstGeom>
              <a:blipFill>
                <a:blip r:embed="rId6"/>
                <a:stretch>
                  <a:fillRect b="-19737"/>
                </a:stretch>
              </a:blipFill>
            </p:spPr>
            <p:txBody>
              <a:bodyPr/>
              <a:lstStyle/>
              <a:p>
                <a:r>
                  <a:rPr lang="zh-CN" altLang="en-US">
                    <a:noFill/>
                  </a:rPr>
                  <a:t> </a:t>
                </a:r>
              </a:p>
            </p:txBody>
          </p:sp>
        </mc:Fallback>
      </mc:AlternateContent>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4" name="Text Box 4">
            <a:extLst>
              <a:ext uri="{FF2B5EF4-FFF2-40B4-BE49-F238E27FC236}">
                <a16:creationId xmlns:a16="http://schemas.microsoft.com/office/drawing/2014/main" id="{CAD216C4-77BC-4E1D-B3D9-CB7AA217A714}"/>
              </a:ext>
            </a:extLst>
          </p:cNvPr>
          <p:cNvSpPr txBox="1">
            <a:spLocks noChangeArrowheads="1"/>
          </p:cNvSpPr>
          <p:nvPr/>
        </p:nvSpPr>
        <p:spPr bwMode="auto">
          <a:xfrm>
            <a:off x="517159" y="779572"/>
            <a:ext cx="20313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Tx/>
              <a:buNone/>
              <a:defRPr/>
            </a:pPr>
            <a:r>
              <a:rPr lang="zh-CN" altLang="en-US" sz="2400" dirty="0">
                <a:latin typeface="宋体" panose="02010600030101010101" pitchFamily="2" charset="-122"/>
                <a:ea typeface="宋体" panose="02010600030101010101" pitchFamily="2" charset="-122"/>
              </a:rPr>
              <a:t>第二次迭代：</a:t>
            </a:r>
          </a:p>
        </p:txBody>
      </p:sp>
      <mc:AlternateContent xmlns:mc="http://schemas.openxmlformats.org/markup-compatibility/2006" xmlns:a14="http://schemas.microsoft.com/office/drawing/2010/main">
        <mc:Choice Requires="a14">
          <p:sp>
            <p:nvSpPr>
              <p:cNvPr id="143365" name="Text Box 5">
                <a:extLst>
                  <a:ext uri="{FF2B5EF4-FFF2-40B4-BE49-F238E27FC236}">
                    <a16:creationId xmlns:a16="http://schemas.microsoft.com/office/drawing/2014/main" id="{009C740B-B799-4A08-B06C-FDE56D66B7A0}"/>
                  </a:ext>
                </a:extLst>
              </p:cNvPr>
              <p:cNvSpPr txBox="1">
                <a:spLocks noChangeArrowheads="1"/>
              </p:cNvSpPr>
              <p:nvPr/>
            </p:nvSpPr>
            <p:spPr bwMode="auto">
              <a:xfrm>
                <a:off x="1065113" y="1320226"/>
                <a:ext cx="3464025" cy="48667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a:buFontTx/>
                  <a:buNone/>
                  <a:defRPr/>
                </a:pPr>
                <a:r>
                  <a:rPr lang="zh-CN" altLang="en-US" sz="2400" dirty="0">
                    <a:effectLst/>
                    <a:latin typeface="宋体" panose="02010600030101010101" pitchFamily="2" charset="-122"/>
                    <a:ea typeface="宋体" panose="02010600030101010101" pitchFamily="2" charset="-122"/>
                  </a:rPr>
                  <a:t>确定</a:t>
                </a:r>
                <a14:m>
                  <m:oMath xmlns:m="http://schemas.openxmlformats.org/officeDocument/2006/math">
                    <m:sSup>
                      <m:sSupPr>
                        <m:ctrlPr>
                          <a:rPr lang="zh-CN" altLang="en-US" sz="2400" i="1" smtClean="0">
                            <a:effectLst/>
                            <a:latin typeface="Cambria Math" panose="02040503050406030204" pitchFamily="18" charset="0"/>
                          </a:rPr>
                        </m:ctrlPr>
                      </m:sSupPr>
                      <m:e>
                        <m:r>
                          <a:rPr lang="zh-CN" altLang="en-US" sz="2400" i="1">
                            <a:effectLst/>
                            <a:latin typeface="Cambria Math" panose="02040503050406030204" pitchFamily="18" charset="0"/>
                          </a:rPr>
                          <m:t>𝑥</m:t>
                        </m:r>
                      </m:e>
                      <m:sup>
                        <m:d>
                          <m:dPr>
                            <m:ctrlPr>
                              <a:rPr lang="zh-CN" altLang="en-US" sz="2400" i="1">
                                <a:effectLst/>
                                <a:latin typeface="Cambria Math" panose="02040503050406030204" pitchFamily="18" charset="0"/>
                              </a:rPr>
                            </m:ctrlPr>
                          </m:dPr>
                          <m:e>
                            <m:r>
                              <a:rPr lang="zh-CN" altLang="en-US" sz="2400" i="0">
                                <a:effectLst/>
                                <a:latin typeface="Cambria Math" panose="02040503050406030204" pitchFamily="18" charset="0"/>
                              </a:rPr>
                              <m:t>1</m:t>
                            </m:r>
                          </m:e>
                        </m:d>
                      </m:sup>
                    </m:sSup>
                  </m:oMath>
                </a14:m>
                <a:r>
                  <a:rPr lang="zh-CN" altLang="en-US" sz="2400" dirty="0">
                    <a:effectLst/>
                    <a:latin typeface="宋体" panose="02010600030101010101" pitchFamily="2" charset="-122"/>
                    <a:ea typeface="宋体" panose="02010600030101010101" pitchFamily="2" charset="-122"/>
                  </a:rPr>
                  <a:t>点的拟牛顿方向</a:t>
                </a:r>
              </a:p>
            </p:txBody>
          </p:sp>
        </mc:Choice>
        <mc:Fallback xmlns="">
          <p:sp>
            <p:nvSpPr>
              <p:cNvPr id="143365" name="Text Box 5">
                <a:extLst>
                  <a:ext uri="{FF2B5EF4-FFF2-40B4-BE49-F238E27FC236}">
                    <a16:creationId xmlns:a16="http://schemas.microsoft.com/office/drawing/2014/main" id="{009C740B-B799-4A08-B06C-FDE56D66B7A0}"/>
                  </a:ext>
                </a:extLst>
              </p:cNvPr>
              <p:cNvSpPr txBox="1">
                <a:spLocks noRot="1" noChangeAspect="1" noMove="1" noResize="1" noEditPoints="1" noAdjustHandles="1" noChangeArrowheads="1" noChangeShapeType="1" noTextEdit="1"/>
              </p:cNvSpPr>
              <p:nvPr/>
            </p:nvSpPr>
            <p:spPr bwMode="auto">
              <a:xfrm>
                <a:off x="1065113" y="1320226"/>
                <a:ext cx="3464025" cy="486672"/>
              </a:xfrm>
              <a:prstGeom prst="rect">
                <a:avLst/>
              </a:prstGeom>
              <a:blipFill>
                <a:blip r:embed="rId2"/>
                <a:stretch>
                  <a:fillRect l="-2817" t="-8861" r="-1761" b="-2531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43374" name="Text Box 14">
            <a:extLst>
              <a:ext uri="{FF2B5EF4-FFF2-40B4-BE49-F238E27FC236}">
                <a16:creationId xmlns:a16="http://schemas.microsoft.com/office/drawing/2014/main" id="{A986E6AB-1562-4E5A-BDEC-9C60C5BDDB01}"/>
              </a:ext>
            </a:extLst>
          </p:cNvPr>
          <p:cNvSpPr txBox="1">
            <a:spLocks noChangeArrowheads="1"/>
          </p:cNvSpPr>
          <p:nvPr/>
        </p:nvSpPr>
        <p:spPr bwMode="auto">
          <a:xfrm>
            <a:off x="992188" y="3786457"/>
            <a:ext cx="341632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Tx/>
              <a:buNone/>
              <a:defRPr/>
            </a:pPr>
            <a:r>
              <a:rPr lang="zh-CN" altLang="en-US" sz="2400" dirty="0">
                <a:latin typeface="宋体" panose="02010600030101010101" pitchFamily="2" charset="-122"/>
                <a:ea typeface="宋体" panose="02010600030101010101" pitchFamily="2" charset="-122"/>
              </a:rPr>
              <a:t>按</a:t>
            </a:r>
            <a:r>
              <a:rPr lang="en-US" altLang="zh-CN" sz="2400" dirty="0">
                <a:latin typeface="宋体" panose="02010600030101010101" pitchFamily="2" charset="-122"/>
                <a:ea typeface="宋体" panose="02010600030101010101" pitchFamily="2" charset="-122"/>
              </a:rPr>
              <a:t>DFP</a:t>
            </a:r>
            <a:r>
              <a:rPr lang="zh-CN" altLang="en-US" sz="2400" dirty="0">
                <a:latin typeface="宋体" panose="02010600030101010101" pitchFamily="2" charset="-122"/>
                <a:ea typeface="宋体" panose="02010600030101010101" pitchFamily="2" charset="-122"/>
              </a:rPr>
              <a:t>公式计算构造矩阵</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C22693F3-CA58-45B3-A75F-6DA5967E7376}"/>
                  </a:ext>
                </a:extLst>
              </p:cNvPr>
              <p:cNvSpPr txBox="1"/>
              <p:nvPr/>
            </p:nvSpPr>
            <p:spPr>
              <a:xfrm>
                <a:off x="1714197" y="4417718"/>
                <a:ext cx="4572000" cy="93801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smtClean="0">
                              <a:effectLst/>
                              <a:latin typeface="Cambria Math" panose="02040503050406030204" pitchFamily="18" charset="0"/>
                            </a:rPr>
                          </m:ctrlPr>
                        </m:sSubPr>
                        <m:e>
                          <m:r>
                            <a:rPr lang="zh-CN" altLang="en-US" sz="2400" i="1">
                              <a:effectLst/>
                              <a:latin typeface="Cambria Math" panose="02040503050406030204" pitchFamily="18" charset="0"/>
                            </a:rPr>
                            <m:t>𝐴</m:t>
                          </m:r>
                        </m:e>
                        <m:sub>
                          <m:r>
                            <a:rPr lang="zh-CN" altLang="en-US" sz="2400" i="1">
                              <a:effectLst/>
                              <a:latin typeface="Cambria Math" panose="02040503050406030204" pitchFamily="18" charset="0"/>
                            </a:rPr>
                            <m:t>𝑘</m:t>
                          </m:r>
                          <m:r>
                            <a:rPr lang="zh-CN" altLang="en-US" sz="2400" i="0">
                              <a:effectLst/>
                              <a:latin typeface="Cambria Math" panose="02040503050406030204" pitchFamily="18" charset="0"/>
                            </a:rPr>
                            <m:t>+1</m:t>
                          </m:r>
                        </m:sub>
                      </m:sSub>
                      <m:r>
                        <a:rPr lang="zh-CN" altLang="en-US" sz="2400" i="0">
                          <a:effectLst/>
                          <a:latin typeface="Cambria Math" panose="02040503050406030204" pitchFamily="18" charset="0"/>
                        </a:rPr>
                        <m:t>=</m:t>
                      </m:r>
                      <m:sSub>
                        <m:sSubPr>
                          <m:ctrlPr>
                            <a:rPr lang="zh-CN" altLang="en-US" sz="2400" i="1">
                              <a:effectLst/>
                              <a:latin typeface="Cambria Math" panose="02040503050406030204" pitchFamily="18" charset="0"/>
                            </a:rPr>
                          </m:ctrlPr>
                        </m:sSubPr>
                        <m:e>
                          <m:r>
                            <a:rPr lang="zh-CN" altLang="en-US" sz="2400" i="1">
                              <a:effectLst/>
                              <a:latin typeface="Cambria Math" panose="02040503050406030204" pitchFamily="18" charset="0"/>
                            </a:rPr>
                            <m:t>𝐴</m:t>
                          </m:r>
                        </m:e>
                        <m:sub>
                          <m:r>
                            <a:rPr lang="zh-CN" altLang="en-US" sz="2400" i="1">
                              <a:effectLst/>
                              <a:latin typeface="Cambria Math" panose="02040503050406030204" pitchFamily="18" charset="0"/>
                            </a:rPr>
                            <m:t>𝑘</m:t>
                          </m:r>
                        </m:sub>
                      </m:sSub>
                      <m:r>
                        <a:rPr lang="zh-CN" altLang="en-US" sz="2400" i="0">
                          <a:effectLst/>
                          <a:latin typeface="Cambria Math" panose="02040503050406030204" pitchFamily="18" charset="0"/>
                        </a:rPr>
                        <m:t>+</m:t>
                      </m:r>
                      <m:f>
                        <m:fPr>
                          <m:ctrlPr>
                            <a:rPr lang="zh-CN" altLang="en-US" sz="2400" i="1">
                              <a:effectLst/>
                              <a:latin typeface="Cambria Math" panose="02040503050406030204" pitchFamily="18" charset="0"/>
                            </a:rPr>
                          </m:ctrlPr>
                        </m:fPr>
                        <m:num>
                          <m:sSub>
                            <m:sSubPr>
                              <m:ctrlPr>
                                <a:rPr lang="zh-CN" altLang="en-US" sz="2400" i="1">
                                  <a:effectLst/>
                                  <a:latin typeface="Cambria Math" panose="02040503050406030204" pitchFamily="18" charset="0"/>
                                </a:rPr>
                              </m:ctrlPr>
                            </m:sSubPr>
                            <m:e>
                              <m:r>
                                <a:rPr lang="zh-CN" altLang="en-US" sz="2400" i="1">
                                  <a:effectLst/>
                                  <a:latin typeface="Cambria Math" panose="02040503050406030204" pitchFamily="18" charset="0"/>
                                </a:rPr>
                                <m:t>𝑠</m:t>
                              </m:r>
                            </m:e>
                            <m:sub>
                              <m:r>
                                <a:rPr lang="zh-CN" altLang="en-US" sz="2400" i="1">
                                  <a:effectLst/>
                                  <a:latin typeface="Cambria Math" panose="02040503050406030204" pitchFamily="18" charset="0"/>
                                </a:rPr>
                                <m:t>𝑘</m:t>
                              </m:r>
                            </m:sub>
                          </m:sSub>
                          <m:sSubSup>
                            <m:sSubSupPr>
                              <m:ctrlPr>
                                <a:rPr lang="zh-CN" altLang="en-US" sz="2400" i="1">
                                  <a:effectLst/>
                                  <a:latin typeface="Cambria Math" panose="02040503050406030204" pitchFamily="18" charset="0"/>
                                </a:rPr>
                              </m:ctrlPr>
                            </m:sSubSupPr>
                            <m:e>
                              <m:r>
                                <a:rPr lang="zh-CN" altLang="en-US" sz="2400" i="1">
                                  <a:effectLst/>
                                  <a:latin typeface="Cambria Math" panose="02040503050406030204" pitchFamily="18" charset="0"/>
                                </a:rPr>
                                <m:t>𝑠</m:t>
                              </m:r>
                            </m:e>
                            <m:sub>
                              <m:r>
                                <a:rPr lang="zh-CN" altLang="en-US" sz="2400" i="1">
                                  <a:effectLst/>
                                  <a:latin typeface="Cambria Math" panose="02040503050406030204" pitchFamily="18" charset="0"/>
                                </a:rPr>
                                <m:t>𝑘</m:t>
                              </m:r>
                            </m:sub>
                            <m:sup>
                              <m:r>
                                <a:rPr lang="zh-CN" altLang="en-US" sz="2400" i="1">
                                  <a:effectLst/>
                                  <a:latin typeface="Cambria Math" panose="02040503050406030204" pitchFamily="18" charset="0"/>
                                </a:rPr>
                                <m:t>𝑇</m:t>
                              </m:r>
                            </m:sup>
                          </m:sSubSup>
                        </m:num>
                        <m:den>
                          <m:sSubSup>
                            <m:sSubSupPr>
                              <m:ctrlPr>
                                <a:rPr lang="zh-CN" altLang="en-US" sz="2400" i="1">
                                  <a:effectLst/>
                                  <a:latin typeface="Cambria Math" panose="02040503050406030204" pitchFamily="18" charset="0"/>
                                </a:rPr>
                              </m:ctrlPr>
                            </m:sSubSupPr>
                            <m:e>
                              <m:r>
                                <a:rPr lang="zh-CN" altLang="en-US" sz="2400" i="1">
                                  <a:effectLst/>
                                  <a:latin typeface="Cambria Math" panose="02040503050406030204" pitchFamily="18" charset="0"/>
                                </a:rPr>
                                <m:t>𝑠</m:t>
                              </m:r>
                            </m:e>
                            <m:sub>
                              <m:r>
                                <a:rPr lang="zh-CN" altLang="en-US" sz="2400" i="1">
                                  <a:effectLst/>
                                  <a:latin typeface="Cambria Math" panose="02040503050406030204" pitchFamily="18" charset="0"/>
                                </a:rPr>
                                <m:t>𝑘</m:t>
                              </m:r>
                            </m:sub>
                            <m:sup>
                              <m:r>
                                <a:rPr lang="zh-CN" altLang="en-US" sz="2400" i="1">
                                  <a:effectLst/>
                                  <a:latin typeface="Cambria Math" panose="02040503050406030204" pitchFamily="18" charset="0"/>
                                </a:rPr>
                                <m:t>𝑇</m:t>
                              </m:r>
                            </m:sup>
                          </m:sSubSup>
                          <m:sSub>
                            <m:sSubPr>
                              <m:ctrlPr>
                                <a:rPr lang="zh-CN" altLang="en-US" sz="2400" i="1">
                                  <a:effectLst/>
                                  <a:latin typeface="Cambria Math" panose="02040503050406030204" pitchFamily="18" charset="0"/>
                                </a:rPr>
                              </m:ctrlPr>
                            </m:sSubPr>
                            <m:e>
                              <m:r>
                                <a:rPr lang="zh-CN" altLang="en-US" sz="2400" i="1">
                                  <a:effectLst/>
                                  <a:latin typeface="Cambria Math" panose="02040503050406030204" pitchFamily="18" charset="0"/>
                                </a:rPr>
                                <m:t>𝑦</m:t>
                              </m:r>
                            </m:e>
                            <m:sub>
                              <m:r>
                                <a:rPr lang="zh-CN" altLang="en-US" sz="2400" i="1">
                                  <a:effectLst/>
                                  <a:latin typeface="Cambria Math" panose="02040503050406030204" pitchFamily="18" charset="0"/>
                                </a:rPr>
                                <m:t>𝑘</m:t>
                              </m:r>
                            </m:sub>
                          </m:sSub>
                        </m:den>
                      </m:f>
                      <m:r>
                        <a:rPr lang="zh-CN" altLang="en-US" sz="2400" i="0">
                          <a:effectLst/>
                          <a:latin typeface="Cambria Math" panose="02040503050406030204" pitchFamily="18" charset="0"/>
                        </a:rPr>
                        <m:t>−</m:t>
                      </m:r>
                      <m:f>
                        <m:fPr>
                          <m:ctrlPr>
                            <a:rPr lang="zh-CN" altLang="en-US" sz="2400" i="1">
                              <a:effectLst/>
                              <a:latin typeface="Cambria Math" panose="02040503050406030204" pitchFamily="18" charset="0"/>
                            </a:rPr>
                          </m:ctrlPr>
                        </m:fPr>
                        <m:num>
                          <m:sSub>
                            <m:sSubPr>
                              <m:ctrlPr>
                                <a:rPr lang="zh-CN" altLang="en-US" sz="2400" i="1">
                                  <a:effectLst/>
                                  <a:latin typeface="Cambria Math" panose="02040503050406030204" pitchFamily="18" charset="0"/>
                                </a:rPr>
                              </m:ctrlPr>
                            </m:sSubPr>
                            <m:e>
                              <m:r>
                                <a:rPr lang="zh-CN" altLang="en-US" sz="2400" i="1">
                                  <a:effectLst/>
                                  <a:latin typeface="Cambria Math" panose="02040503050406030204" pitchFamily="18" charset="0"/>
                                </a:rPr>
                                <m:t>𝐴</m:t>
                              </m:r>
                            </m:e>
                            <m:sub>
                              <m:r>
                                <a:rPr lang="zh-CN" altLang="en-US" sz="2400" i="1">
                                  <a:effectLst/>
                                  <a:latin typeface="Cambria Math" panose="02040503050406030204" pitchFamily="18" charset="0"/>
                                </a:rPr>
                                <m:t>𝑘</m:t>
                              </m:r>
                            </m:sub>
                          </m:sSub>
                          <m:sSub>
                            <m:sSubPr>
                              <m:ctrlPr>
                                <a:rPr lang="zh-CN" altLang="en-US" sz="2400" i="1">
                                  <a:effectLst/>
                                  <a:latin typeface="Cambria Math" panose="02040503050406030204" pitchFamily="18" charset="0"/>
                                </a:rPr>
                              </m:ctrlPr>
                            </m:sSubPr>
                            <m:e>
                              <m:r>
                                <a:rPr lang="zh-CN" altLang="en-US" sz="2400" i="1">
                                  <a:effectLst/>
                                  <a:latin typeface="Cambria Math" panose="02040503050406030204" pitchFamily="18" charset="0"/>
                                </a:rPr>
                                <m:t>𝑦</m:t>
                              </m:r>
                            </m:e>
                            <m:sub>
                              <m:r>
                                <a:rPr lang="zh-CN" altLang="en-US" sz="2400" i="1">
                                  <a:effectLst/>
                                  <a:latin typeface="Cambria Math" panose="02040503050406030204" pitchFamily="18" charset="0"/>
                                </a:rPr>
                                <m:t>𝑘</m:t>
                              </m:r>
                            </m:sub>
                          </m:sSub>
                          <m:sSubSup>
                            <m:sSubSupPr>
                              <m:ctrlPr>
                                <a:rPr lang="zh-CN" altLang="en-US" sz="2400" i="1">
                                  <a:effectLst/>
                                  <a:latin typeface="Cambria Math" panose="02040503050406030204" pitchFamily="18" charset="0"/>
                                </a:rPr>
                              </m:ctrlPr>
                            </m:sSubSupPr>
                            <m:e>
                              <m:r>
                                <a:rPr lang="zh-CN" altLang="en-US" sz="2400" i="1">
                                  <a:effectLst/>
                                  <a:latin typeface="Cambria Math" panose="02040503050406030204" pitchFamily="18" charset="0"/>
                                </a:rPr>
                                <m:t>𝑦</m:t>
                              </m:r>
                            </m:e>
                            <m:sub>
                              <m:r>
                                <a:rPr lang="zh-CN" altLang="en-US" sz="2400" i="1">
                                  <a:effectLst/>
                                  <a:latin typeface="Cambria Math" panose="02040503050406030204" pitchFamily="18" charset="0"/>
                                </a:rPr>
                                <m:t>𝑘</m:t>
                              </m:r>
                            </m:sub>
                            <m:sup>
                              <m:r>
                                <a:rPr lang="zh-CN" altLang="en-US" sz="2400" i="1">
                                  <a:effectLst/>
                                  <a:latin typeface="Cambria Math" panose="02040503050406030204" pitchFamily="18" charset="0"/>
                                </a:rPr>
                                <m:t>𝑇</m:t>
                              </m:r>
                            </m:sup>
                          </m:sSubSup>
                          <m:sSub>
                            <m:sSubPr>
                              <m:ctrlPr>
                                <a:rPr lang="zh-CN" altLang="en-US" sz="2400" i="1">
                                  <a:effectLst/>
                                  <a:latin typeface="Cambria Math" panose="02040503050406030204" pitchFamily="18" charset="0"/>
                                </a:rPr>
                              </m:ctrlPr>
                            </m:sSubPr>
                            <m:e>
                              <m:r>
                                <a:rPr lang="zh-CN" altLang="en-US" sz="2400" i="1">
                                  <a:effectLst/>
                                  <a:latin typeface="Cambria Math" panose="02040503050406030204" pitchFamily="18" charset="0"/>
                                </a:rPr>
                                <m:t>𝐴</m:t>
                              </m:r>
                            </m:e>
                            <m:sub>
                              <m:r>
                                <a:rPr lang="zh-CN" altLang="en-US" sz="2400" i="1">
                                  <a:effectLst/>
                                  <a:latin typeface="Cambria Math" panose="02040503050406030204" pitchFamily="18" charset="0"/>
                                </a:rPr>
                                <m:t>𝑘</m:t>
                              </m:r>
                            </m:sub>
                          </m:sSub>
                        </m:num>
                        <m:den>
                          <m:sSubSup>
                            <m:sSubSupPr>
                              <m:ctrlPr>
                                <a:rPr lang="zh-CN" altLang="en-US" sz="2400" i="1">
                                  <a:effectLst/>
                                  <a:latin typeface="Cambria Math" panose="02040503050406030204" pitchFamily="18" charset="0"/>
                                </a:rPr>
                              </m:ctrlPr>
                            </m:sSubSupPr>
                            <m:e>
                              <m:r>
                                <a:rPr lang="zh-CN" altLang="en-US" sz="2400" i="1">
                                  <a:effectLst/>
                                  <a:latin typeface="Cambria Math" panose="02040503050406030204" pitchFamily="18" charset="0"/>
                                </a:rPr>
                                <m:t>𝑦</m:t>
                              </m:r>
                            </m:e>
                            <m:sub>
                              <m:r>
                                <a:rPr lang="zh-CN" altLang="en-US" sz="2400" i="1">
                                  <a:effectLst/>
                                  <a:latin typeface="Cambria Math" panose="02040503050406030204" pitchFamily="18" charset="0"/>
                                </a:rPr>
                                <m:t>𝑘</m:t>
                              </m:r>
                            </m:sub>
                            <m:sup>
                              <m:r>
                                <a:rPr lang="zh-CN" altLang="en-US" sz="2400" i="1">
                                  <a:effectLst/>
                                  <a:latin typeface="Cambria Math" panose="02040503050406030204" pitchFamily="18" charset="0"/>
                                </a:rPr>
                                <m:t>𝑇</m:t>
                              </m:r>
                            </m:sup>
                          </m:sSubSup>
                          <m:sSub>
                            <m:sSubPr>
                              <m:ctrlPr>
                                <a:rPr lang="zh-CN" altLang="en-US" sz="2400" i="1">
                                  <a:effectLst/>
                                  <a:latin typeface="Cambria Math" panose="02040503050406030204" pitchFamily="18" charset="0"/>
                                </a:rPr>
                              </m:ctrlPr>
                            </m:sSubPr>
                            <m:e>
                              <m:r>
                                <a:rPr lang="zh-CN" altLang="en-US" sz="2400" i="1">
                                  <a:effectLst/>
                                  <a:latin typeface="Cambria Math" panose="02040503050406030204" pitchFamily="18" charset="0"/>
                                </a:rPr>
                                <m:t>𝐴</m:t>
                              </m:r>
                            </m:e>
                            <m:sub>
                              <m:r>
                                <a:rPr lang="zh-CN" altLang="en-US" sz="2400" i="1">
                                  <a:effectLst/>
                                  <a:latin typeface="Cambria Math" panose="02040503050406030204" pitchFamily="18" charset="0"/>
                                </a:rPr>
                                <m:t>𝑘</m:t>
                              </m:r>
                            </m:sub>
                          </m:sSub>
                          <m:sSub>
                            <m:sSubPr>
                              <m:ctrlPr>
                                <a:rPr lang="zh-CN" altLang="en-US" sz="2400" i="1">
                                  <a:effectLst/>
                                  <a:latin typeface="Cambria Math" panose="02040503050406030204" pitchFamily="18" charset="0"/>
                                </a:rPr>
                              </m:ctrlPr>
                            </m:sSubPr>
                            <m:e>
                              <m:r>
                                <a:rPr lang="zh-CN" altLang="en-US" sz="2400" i="1">
                                  <a:effectLst/>
                                  <a:latin typeface="Cambria Math" panose="02040503050406030204" pitchFamily="18" charset="0"/>
                                </a:rPr>
                                <m:t>𝑦</m:t>
                              </m:r>
                            </m:e>
                            <m:sub>
                              <m:r>
                                <a:rPr lang="zh-CN" altLang="en-US" sz="2400" i="1">
                                  <a:effectLst/>
                                  <a:latin typeface="Cambria Math" panose="02040503050406030204" pitchFamily="18" charset="0"/>
                                </a:rPr>
                                <m:t>𝑘</m:t>
                              </m:r>
                            </m:sub>
                          </m:sSub>
                        </m:den>
                      </m:f>
                    </m:oMath>
                  </m:oMathPara>
                </a14:m>
                <a:endParaRPr lang="zh-CN" altLang="en-US" sz="2400" dirty="0">
                  <a:effectLst/>
                  <a:latin typeface="宋体" panose="02010600030101010101" pitchFamily="2" charset="-122"/>
                  <a:ea typeface="宋体" panose="02010600030101010101" pitchFamily="2" charset="-122"/>
                </a:endParaRPr>
              </a:p>
            </p:txBody>
          </p:sp>
        </mc:Choice>
        <mc:Fallback xmlns="">
          <p:sp>
            <p:nvSpPr>
              <p:cNvPr id="2" name="文本框 1">
                <a:extLst>
                  <a:ext uri="{FF2B5EF4-FFF2-40B4-BE49-F238E27FC236}">
                    <a16:creationId xmlns:a16="http://schemas.microsoft.com/office/drawing/2014/main" id="{C22693F3-CA58-45B3-A75F-6DA5967E7376}"/>
                  </a:ext>
                </a:extLst>
              </p:cNvPr>
              <p:cNvSpPr txBox="1">
                <a:spLocks noRot="1" noChangeAspect="1" noMove="1" noResize="1" noEditPoints="1" noAdjustHandles="1" noChangeArrowheads="1" noChangeShapeType="1" noTextEdit="1"/>
              </p:cNvSpPr>
              <p:nvPr/>
            </p:nvSpPr>
            <p:spPr>
              <a:xfrm>
                <a:off x="1714197" y="4417718"/>
                <a:ext cx="4572000" cy="93801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F7237C81-CCFA-4F2F-9768-4176DF9090AE}"/>
                  </a:ext>
                </a:extLst>
              </p:cNvPr>
              <p:cNvSpPr txBox="1"/>
              <p:nvPr/>
            </p:nvSpPr>
            <p:spPr>
              <a:xfrm>
                <a:off x="1626577" y="2901216"/>
                <a:ext cx="4572000" cy="7156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smtClean="0">
                              <a:effectLst/>
                              <a:latin typeface="Cambria Math" panose="02040503050406030204" pitchFamily="18" charset="0"/>
                            </a:rPr>
                          </m:ctrlPr>
                        </m:sSubPr>
                        <m:e>
                          <m:r>
                            <a:rPr lang="zh-CN" altLang="en-US" sz="2400" i="1">
                              <a:effectLst/>
                              <a:latin typeface="Cambria Math" panose="02040503050406030204" pitchFamily="18" charset="0"/>
                            </a:rPr>
                            <m:t>𝑦</m:t>
                          </m:r>
                        </m:e>
                        <m:sub>
                          <m:r>
                            <a:rPr lang="zh-CN" altLang="en-US" sz="2400" i="0">
                              <a:effectLst/>
                              <a:latin typeface="Cambria Math" panose="02040503050406030204" pitchFamily="18" charset="0"/>
                            </a:rPr>
                            <m:t>0</m:t>
                          </m:r>
                        </m:sub>
                      </m:sSub>
                      <m:r>
                        <a:rPr lang="zh-CN" altLang="en-US" sz="2400" i="0">
                          <a:effectLst/>
                          <a:latin typeface="Cambria Math" panose="02040503050406030204" pitchFamily="18" charset="0"/>
                        </a:rPr>
                        <m:t>=</m:t>
                      </m:r>
                      <m:sSub>
                        <m:sSubPr>
                          <m:ctrlPr>
                            <a:rPr lang="zh-CN" altLang="en-US" sz="2400" i="1">
                              <a:effectLst/>
                              <a:latin typeface="Cambria Math" panose="02040503050406030204" pitchFamily="18" charset="0"/>
                            </a:rPr>
                          </m:ctrlPr>
                        </m:sSubPr>
                        <m:e>
                          <m:r>
                            <a:rPr lang="zh-CN" altLang="en-US" sz="2400" i="1">
                              <a:effectLst/>
                              <a:latin typeface="Cambria Math" panose="02040503050406030204" pitchFamily="18" charset="0"/>
                            </a:rPr>
                            <m:t>𝑔</m:t>
                          </m:r>
                        </m:e>
                        <m:sub>
                          <m:r>
                            <a:rPr lang="zh-CN" altLang="en-US" sz="2400" i="0">
                              <a:effectLst/>
                              <a:latin typeface="Cambria Math" panose="02040503050406030204" pitchFamily="18" charset="0"/>
                            </a:rPr>
                            <m:t>1</m:t>
                          </m:r>
                        </m:sub>
                      </m:sSub>
                      <m:r>
                        <a:rPr lang="zh-CN" altLang="en-US" sz="2400" i="0">
                          <a:effectLst/>
                          <a:latin typeface="Cambria Math" panose="02040503050406030204" pitchFamily="18" charset="0"/>
                        </a:rPr>
                        <m:t>−</m:t>
                      </m:r>
                      <m:sSub>
                        <m:sSubPr>
                          <m:ctrlPr>
                            <a:rPr lang="zh-CN" altLang="en-US" sz="2400" i="1">
                              <a:effectLst/>
                              <a:latin typeface="Cambria Math" panose="02040503050406030204" pitchFamily="18" charset="0"/>
                            </a:rPr>
                          </m:ctrlPr>
                        </m:sSubPr>
                        <m:e>
                          <m:r>
                            <a:rPr lang="zh-CN" altLang="en-US" sz="2400" i="1">
                              <a:effectLst/>
                              <a:latin typeface="Cambria Math" panose="02040503050406030204" pitchFamily="18" charset="0"/>
                            </a:rPr>
                            <m:t>𝑔</m:t>
                          </m:r>
                        </m:e>
                        <m:sub>
                          <m:r>
                            <a:rPr lang="zh-CN" altLang="en-US" sz="2400" i="0">
                              <a:effectLst/>
                              <a:latin typeface="Cambria Math" panose="02040503050406030204" pitchFamily="18" charset="0"/>
                            </a:rPr>
                            <m:t>0</m:t>
                          </m:r>
                        </m:sub>
                      </m:sSub>
                      <m:r>
                        <a:rPr lang="zh-CN" altLang="en-US" sz="2400" i="0">
                          <a:effectLst/>
                          <a:latin typeface="Cambria Math" panose="02040503050406030204" pitchFamily="18" charset="0"/>
                        </a:rPr>
                        <m:t>=</m:t>
                      </m:r>
                      <m:d>
                        <m:dPr>
                          <m:begChr m:val="["/>
                          <m:endChr m:val="]"/>
                          <m:ctrlPr>
                            <a:rPr lang="zh-CN" altLang="en-US" sz="2400" i="1">
                              <a:effectLst/>
                              <a:latin typeface="Cambria Math" panose="02040503050406030204" pitchFamily="18" charset="0"/>
                            </a:rPr>
                          </m:ctrlPr>
                        </m:dPr>
                        <m:e>
                          <m:m>
                            <m:mPr>
                              <m:plcHide m:val="on"/>
                              <m:mcs>
                                <m:mc>
                                  <m:mcPr>
                                    <m:count m:val="1"/>
                                    <m:mcJc m:val="center"/>
                                  </m:mcPr>
                                </m:mc>
                              </m:mcs>
                              <m:ctrlPr>
                                <a:rPr lang="zh-CN" altLang="en-US" sz="2400" i="1">
                                  <a:effectLst/>
                                  <a:latin typeface="Cambria Math" panose="02040503050406030204" pitchFamily="18" charset="0"/>
                                </a:rPr>
                              </m:ctrlPr>
                            </m:mPr>
                            <m:mr>
                              <m:e>
                                <m:r>
                                  <a:rPr lang="zh-CN" altLang="en-US" sz="2400" i="0">
                                    <a:effectLst/>
                                    <a:latin typeface="Cambria Math" panose="02040503050406030204" pitchFamily="18" charset="0"/>
                                  </a:rPr>
                                  <m:t>−25.10784</m:t>
                                </m:r>
                              </m:e>
                            </m:mr>
                            <m:mr>
                              <m:e>
                                <m:r>
                                  <a:rPr lang="zh-CN" altLang="en-US" sz="2400" i="0">
                                    <a:effectLst/>
                                    <a:latin typeface="Cambria Math" panose="02040503050406030204" pitchFamily="18" charset="0"/>
                                  </a:rPr>
                                  <m:t>−1.56924</m:t>
                                </m:r>
                              </m:e>
                            </m:mr>
                          </m:m>
                        </m:e>
                      </m:d>
                    </m:oMath>
                  </m:oMathPara>
                </a14:m>
                <a:endParaRPr lang="zh-CN" altLang="en-US" sz="2400" dirty="0">
                  <a:effectLst/>
                  <a:latin typeface="宋体" panose="02010600030101010101" pitchFamily="2" charset="-122"/>
                  <a:ea typeface="宋体" panose="02010600030101010101" pitchFamily="2" charset="-122"/>
                </a:endParaRPr>
              </a:p>
            </p:txBody>
          </p:sp>
        </mc:Choice>
        <mc:Fallback xmlns="">
          <p:sp>
            <p:nvSpPr>
              <p:cNvPr id="15" name="文本框 14">
                <a:extLst>
                  <a:ext uri="{FF2B5EF4-FFF2-40B4-BE49-F238E27FC236}">
                    <a16:creationId xmlns:a16="http://schemas.microsoft.com/office/drawing/2014/main" id="{F7237C81-CCFA-4F2F-9768-4176DF9090AE}"/>
                  </a:ext>
                </a:extLst>
              </p:cNvPr>
              <p:cNvSpPr txBox="1">
                <a:spLocks noRot="1" noChangeAspect="1" noMove="1" noResize="1" noEditPoints="1" noAdjustHandles="1" noChangeArrowheads="1" noChangeShapeType="1" noTextEdit="1"/>
              </p:cNvSpPr>
              <p:nvPr/>
            </p:nvSpPr>
            <p:spPr>
              <a:xfrm>
                <a:off x="1626577" y="2901216"/>
                <a:ext cx="4572000" cy="71564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0D26EB74-3682-4DA2-A775-3FB91AAD1EE8}"/>
                  </a:ext>
                </a:extLst>
              </p:cNvPr>
              <p:cNvSpPr txBox="1"/>
              <p:nvPr/>
            </p:nvSpPr>
            <p:spPr>
              <a:xfrm>
                <a:off x="1714197" y="2023477"/>
                <a:ext cx="4572000" cy="7081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smtClean="0">
                              <a:effectLst/>
                              <a:latin typeface="Cambria Math" panose="02040503050406030204" pitchFamily="18" charset="0"/>
                            </a:rPr>
                          </m:ctrlPr>
                        </m:sSubPr>
                        <m:e>
                          <m:r>
                            <a:rPr lang="zh-CN" altLang="en-US" sz="2400" i="1">
                              <a:effectLst/>
                              <a:latin typeface="Cambria Math" panose="02040503050406030204" pitchFamily="18" charset="0"/>
                            </a:rPr>
                            <m:t>𝑠</m:t>
                          </m:r>
                        </m:e>
                        <m:sub>
                          <m:r>
                            <a:rPr lang="zh-CN" altLang="en-US" sz="2400" i="0">
                              <a:effectLst/>
                              <a:latin typeface="Cambria Math" panose="02040503050406030204" pitchFamily="18" charset="0"/>
                            </a:rPr>
                            <m:t>0</m:t>
                          </m:r>
                        </m:sub>
                      </m:sSub>
                      <m:r>
                        <a:rPr lang="zh-CN" altLang="en-US" sz="2400" i="0">
                          <a:effectLst/>
                          <a:latin typeface="Cambria Math" panose="02040503050406030204" pitchFamily="18" charset="0"/>
                        </a:rPr>
                        <m:t>=</m:t>
                      </m:r>
                      <m:sSup>
                        <m:sSupPr>
                          <m:ctrlPr>
                            <a:rPr lang="zh-CN" altLang="en-US" sz="2400" i="1">
                              <a:effectLst/>
                              <a:latin typeface="Cambria Math" panose="02040503050406030204" pitchFamily="18" charset="0"/>
                            </a:rPr>
                          </m:ctrlPr>
                        </m:sSupPr>
                        <m:e>
                          <m:r>
                            <a:rPr lang="zh-CN" altLang="en-US" sz="2400" i="1">
                              <a:effectLst/>
                              <a:latin typeface="Cambria Math" panose="02040503050406030204" pitchFamily="18" charset="0"/>
                            </a:rPr>
                            <m:t>𝑥</m:t>
                          </m:r>
                        </m:e>
                        <m:sup>
                          <m:d>
                            <m:dPr>
                              <m:ctrlPr>
                                <a:rPr lang="zh-CN" altLang="en-US" sz="2400" i="1">
                                  <a:effectLst/>
                                  <a:latin typeface="Cambria Math" panose="02040503050406030204" pitchFamily="18" charset="0"/>
                                </a:rPr>
                              </m:ctrlPr>
                            </m:dPr>
                            <m:e>
                              <m:r>
                                <a:rPr lang="zh-CN" altLang="en-US" sz="2400" i="0">
                                  <a:effectLst/>
                                  <a:latin typeface="Cambria Math" panose="02040503050406030204" pitchFamily="18" charset="0"/>
                                </a:rPr>
                                <m:t>1</m:t>
                              </m:r>
                            </m:e>
                          </m:d>
                        </m:sup>
                      </m:sSup>
                      <m:r>
                        <a:rPr lang="zh-CN" altLang="en-US" sz="2400" i="0">
                          <a:effectLst/>
                          <a:latin typeface="Cambria Math" panose="02040503050406030204" pitchFamily="18" charset="0"/>
                        </a:rPr>
                        <m:t>−</m:t>
                      </m:r>
                      <m:sSup>
                        <m:sSupPr>
                          <m:ctrlPr>
                            <a:rPr lang="zh-CN" altLang="en-US" sz="2400" i="1">
                              <a:effectLst/>
                              <a:latin typeface="Cambria Math" panose="02040503050406030204" pitchFamily="18" charset="0"/>
                            </a:rPr>
                          </m:ctrlPr>
                        </m:sSupPr>
                        <m:e>
                          <m:r>
                            <a:rPr lang="zh-CN" altLang="en-US" sz="2400" i="1">
                              <a:effectLst/>
                              <a:latin typeface="Cambria Math" panose="02040503050406030204" pitchFamily="18" charset="0"/>
                            </a:rPr>
                            <m:t>𝑥</m:t>
                          </m:r>
                        </m:e>
                        <m:sup>
                          <m:d>
                            <m:dPr>
                              <m:ctrlPr>
                                <a:rPr lang="zh-CN" altLang="en-US" sz="2400" i="1">
                                  <a:effectLst/>
                                  <a:latin typeface="Cambria Math" panose="02040503050406030204" pitchFamily="18" charset="0"/>
                                </a:rPr>
                              </m:ctrlPr>
                            </m:dPr>
                            <m:e>
                              <m:r>
                                <a:rPr lang="zh-CN" altLang="en-US" sz="2400" i="0">
                                  <a:effectLst/>
                                  <a:latin typeface="Cambria Math" panose="02040503050406030204" pitchFamily="18" charset="0"/>
                                </a:rPr>
                                <m:t>0</m:t>
                              </m:r>
                            </m:e>
                          </m:d>
                        </m:sup>
                      </m:sSup>
                      <m:r>
                        <a:rPr lang="zh-CN" altLang="en-US" sz="2400" i="0">
                          <a:effectLst/>
                          <a:latin typeface="Cambria Math" panose="02040503050406030204" pitchFamily="18" charset="0"/>
                        </a:rPr>
                        <m:t>=</m:t>
                      </m:r>
                      <m:d>
                        <m:dPr>
                          <m:begChr m:val="["/>
                          <m:endChr m:val="]"/>
                          <m:ctrlPr>
                            <a:rPr lang="zh-CN" altLang="en-US" sz="2400" i="1">
                              <a:effectLst/>
                              <a:latin typeface="Cambria Math" panose="02040503050406030204" pitchFamily="18" charset="0"/>
                            </a:rPr>
                          </m:ctrlPr>
                        </m:dPr>
                        <m:e>
                          <m:m>
                            <m:mPr>
                              <m:plcHide m:val="on"/>
                              <m:mcs>
                                <m:mc>
                                  <m:mcPr>
                                    <m:count m:val="1"/>
                                    <m:mcJc m:val="center"/>
                                  </m:mcPr>
                                </m:mc>
                              </m:mcs>
                              <m:ctrlPr>
                                <a:rPr lang="zh-CN" altLang="en-US" sz="2400" i="1">
                                  <a:effectLst/>
                                  <a:latin typeface="Cambria Math" panose="02040503050406030204" pitchFamily="18" charset="0"/>
                                </a:rPr>
                              </m:ctrlPr>
                            </m:mPr>
                            <m:mr>
                              <m:e>
                                <m:r>
                                  <a:rPr lang="zh-CN" altLang="en-US" sz="2400" i="0">
                                    <a:effectLst/>
                                    <a:latin typeface="Cambria Math" panose="02040503050406030204" pitchFamily="18" charset="0"/>
                                  </a:rPr>
                                  <m:t>−3.13848</m:t>
                                </m:r>
                              </m:e>
                            </m:mr>
                            <m:mr>
                              <m:e>
                                <m:r>
                                  <a:rPr lang="zh-CN" altLang="en-US" sz="2400" i="0">
                                    <a:effectLst/>
                                    <a:latin typeface="Cambria Math" panose="02040503050406030204" pitchFamily="18" charset="0"/>
                                  </a:rPr>
                                  <m:t>−0.78462</m:t>
                                </m:r>
                              </m:e>
                            </m:mr>
                          </m:m>
                        </m:e>
                      </m:d>
                    </m:oMath>
                  </m:oMathPara>
                </a14:m>
                <a:endParaRPr lang="zh-CN" altLang="en-US" sz="2400" dirty="0">
                  <a:effectLst/>
                  <a:latin typeface="宋体" panose="02010600030101010101" pitchFamily="2" charset="-122"/>
                  <a:ea typeface="宋体" panose="02010600030101010101" pitchFamily="2" charset="-122"/>
                </a:endParaRPr>
              </a:p>
            </p:txBody>
          </p:sp>
        </mc:Choice>
        <mc:Fallback xmlns="">
          <p:sp>
            <p:nvSpPr>
              <p:cNvPr id="17" name="文本框 16">
                <a:extLst>
                  <a:ext uri="{FF2B5EF4-FFF2-40B4-BE49-F238E27FC236}">
                    <a16:creationId xmlns:a16="http://schemas.microsoft.com/office/drawing/2014/main" id="{0D26EB74-3682-4DA2-A775-3FB91AAD1EE8}"/>
                  </a:ext>
                </a:extLst>
              </p:cNvPr>
              <p:cNvSpPr txBox="1">
                <a:spLocks noRot="1" noChangeAspect="1" noMove="1" noResize="1" noEditPoints="1" noAdjustHandles="1" noChangeArrowheads="1" noChangeShapeType="1" noTextEdit="1"/>
              </p:cNvSpPr>
              <p:nvPr/>
            </p:nvSpPr>
            <p:spPr>
              <a:xfrm>
                <a:off x="1714197" y="2023477"/>
                <a:ext cx="4572000" cy="708143"/>
              </a:xfrm>
              <a:prstGeom prst="rect">
                <a:avLst/>
              </a:prstGeom>
              <a:blipFill>
                <a:blip r:embed="rId5"/>
                <a:stretch>
                  <a:fillRect/>
                </a:stretch>
              </a:blipFill>
            </p:spPr>
            <p:txBody>
              <a:bodyPr/>
              <a:lstStyle/>
              <a:p>
                <a:r>
                  <a:rPr lang="zh-CN" altLang="en-US">
                    <a:noFill/>
                  </a:rPr>
                  <a:t> </a:t>
                </a:r>
              </a:p>
            </p:txBody>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8" name="Text Box 4">
            <a:extLst>
              <a:ext uri="{FF2B5EF4-FFF2-40B4-BE49-F238E27FC236}">
                <a16:creationId xmlns:a16="http://schemas.microsoft.com/office/drawing/2014/main" id="{D5332049-0DE9-4469-BB9F-0E459C8AF597}"/>
              </a:ext>
            </a:extLst>
          </p:cNvPr>
          <p:cNvSpPr txBox="1">
            <a:spLocks noChangeArrowheads="1"/>
          </p:cNvSpPr>
          <p:nvPr/>
        </p:nvSpPr>
        <p:spPr bwMode="auto">
          <a:xfrm>
            <a:off x="817900" y="879645"/>
            <a:ext cx="20313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Tx/>
              <a:buNone/>
              <a:defRPr/>
            </a:pPr>
            <a:r>
              <a:rPr lang="zh-CN" altLang="en-US" sz="2400" dirty="0">
                <a:latin typeface="宋体" panose="02010600030101010101" pitchFamily="2" charset="-122"/>
                <a:ea typeface="宋体" panose="02010600030101010101" pitchFamily="2" charset="-122"/>
              </a:rPr>
              <a:t>将数据代入得</a:t>
            </a:r>
          </a:p>
        </p:txBody>
      </p:sp>
      <p:sp>
        <p:nvSpPr>
          <p:cNvPr id="144391" name="Text Box 7">
            <a:extLst>
              <a:ext uri="{FF2B5EF4-FFF2-40B4-BE49-F238E27FC236}">
                <a16:creationId xmlns:a16="http://schemas.microsoft.com/office/drawing/2014/main" id="{9337EFF9-8BB7-4D56-AD3D-723FCC3EE030}"/>
              </a:ext>
            </a:extLst>
          </p:cNvPr>
          <p:cNvSpPr txBox="1">
            <a:spLocks noChangeArrowheads="1"/>
          </p:cNvSpPr>
          <p:nvPr/>
        </p:nvSpPr>
        <p:spPr bwMode="auto">
          <a:xfrm>
            <a:off x="885825" y="2460625"/>
            <a:ext cx="233910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Tx/>
              <a:buNone/>
              <a:defRPr/>
            </a:pPr>
            <a:r>
              <a:rPr lang="zh-CN" altLang="en-US" sz="2400">
                <a:latin typeface="宋体" panose="02010600030101010101" pitchFamily="2" charset="-122"/>
                <a:ea typeface="宋体" panose="02010600030101010101" pitchFamily="2" charset="-122"/>
              </a:rPr>
              <a:t>则拟牛顿方向为</a:t>
            </a:r>
          </a:p>
        </p:txBody>
      </p:sp>
      <mc:AlternateContent xmlns:mc="http://schemas.openxmlformats.org/markup-compatibility/2006" xmlns:a14="http://schemas.microsoft.com/office/drawing/2010/main">
        <mc:Choice Requires="a14">
          <p:sp>
            <p:nvSpPr>
              <p:cNvPr id="144393" name="Text Box 9">
                <a:extLst>
                  <a:ext uri="{FF2B5EF4-FFF2-40B4-BE49-F238E27FC236}">
                    <a16:creationId xmlns:a16="http://schemas.microsoft.com/office/drawing/2014/main" id="{E1F68841-7E07-4069-81F5-971D9C440F93}"/>
                  </a:ext>
                </a:extLst>
              </p:cNvPr>
              <p:cNvSpPr txBox="1">
                <a:spLocks noChangeArrowheads="1"/>
              </p:cNvSpPr>
              <p:nvPr/>
            </p:nvSpPr>
            <p:spPr bwMode="auto">
              <a:xfrm>
                <a:off x="898525" y="4019550"/>
                <a:ext cx="4702506" cy="48667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a:buFontTx/>
                  <a:buNone/>
                  <a:defRPr/>
                </a:pPr>
                <a:r>
                  <a:rPr lang="zh-CN" altLang="en-US" sz="2400" dirty="0">
                    <a:effectLst/>
                    <a:latin typeface="宋体" panose="02010600030101010101" pitchFamily="2" charset="-122"/>
                    <a:ea typeface="宋体" panose="02010600030101010101" pitchFamily="2" charset="-122"/>
                  </a:rPr>
                  <a:t>沿</a:t>
                </a:r>
                <a14:m>
                  <m:oMath xmlns:m="http://schemas.openxmlformats.org/officeDocument/2006/math">
                    <m:sSup>
                      <m:sSupPr>
                        <m:ctrlPr>
                          <a:rPr lang="zh-CN" altLang="en-US" sz="2400" i="1" smtClean="0">
                            <a:effectLst/>
                            <a:latin typeface="Cambria Math" panose="02040503050406030204" pitchFamily="18" charset="0"/>
                          </a:rPr>
                        </m:ctrlPr>
                      </m:sSupPr>
                      <m:e>
                        <m:r>
                          <a:rPr lang="zh-CN" altLang="en-US" sz="2400" i="1">
                            <a:effectLst/>
                            <a:latin typeface="Cambria Math" panose="02040503050406030204" pitchFamily="18" charset="0"/>
                          </a:rPr>
                          <m:t>𝑑</m:t>
                        </m:r>
                      </m:e>
                      <m:sup>
                        <m:d>
                          <m:dPr>
                            <m:ctrlPr>
                              <a:rPr lang="zh-CN" altLang="en-US" sz="2400" i="1">
                                <a:effectLst/>
                                <a:latin typeface="Cambria Math" panose="02040503050406030204" pitchFamily="18" charset="0"/>
                              </a:rPr>
                            </m:ctrlPr>
                          </m:dPr>
                          <m:e>
                            <m:r>
                              <a:rPr lang="zh-CN" altLang="en-US" sz="2400" i="0">
                                <a:effectLst/>
                                <a:latin typeface="Cambria Math" panose="02040503050406030204" pitchFamily="18" charset="0"/>
                              </a:rPr>
                              <m:t>1</m:t>
                            </m:r>
                          </m:e>
                        </m:d>
                      </m:sup>
                    </m:sSup>
                  </m:oMath>
                </a14:m>
                <a:r>
                  <a:rPr lang="zh-CN" altLang="en-US" sz="2400" dirty="0">
                    <a:effectLst/>
                    <a:latin typeface="宋体" panose="02010600030101010101" pitchFamily="2" charset="-122"/>
                    <a:ea typeface="宋体" panose="02010600030101010101" pitchFamily="2" charset="-122"/>
                  </a:rPr>
                  <a:t>方向进行一维搜索求最优点</a:t>
                </a:r>
              </a:p>
            </p:txBody>
          </p:sp>
        </mc:Choice>
        <mc:Fallback xmlns="">
          <p:sp>
            <p:nvSpPr>
              <p:cNvPr id="144393" name="Text Box 9">
                <a:extLst>
                  <a:ext uri="{FF2B5EF4-FFF2-40B4-BE49-F238E27FC236}">
                    <a16:creationId xmlns:a16="http://schemas.microsoft.com/office/drawing/2014/main" id="{E1F68841-7E07-4069-81F5-971D9C440F93}"/>
                  </a:ext>
                </a:extLst>
              </p:cNvPr>
              <p:cNvSpPr txBox="1">
                <a:spLocks noRot="1" noChangeAspect="1" noMove="1" noResize="1" noEditPoints="1" noAdjustHandles="1" noChangeArrowheads="1" noChangeShapeType="1" noTextEdit="1"/>
              </p:cNvSpPr>
              <p:nvPr/>
            </p:nvSpPr>
            <p:spPr bwMode="auto">
              <a:xfrm>
                <a:off x="898525" y="4019550"/>
                <a:ext cx="4702506" cy="486672"/>
              </a:xfrm>
              <a:prstGeom prst="rect">
                <a:avLst/>
              </a:prstGeom>
              <a:blipFill>
                <a:blip r:embed="rId2"/>
                <a:stretch>
                  <a:fillRect l="-1943" t="-8750" r="-1036" b="-2375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44396" name="Text Box 12">
            <a:extLst>
              <a:ext uri="{FF2B5EF4-FFF2-40B4-BE49-F238E27FC236}">
                <a16:creationId xmlns:a16="http://schemas.microsoft.com/office/drawing/2014/main" id="{9093FAB5-C44F-4D25-9667-166AAFF26AA8}"/>
              </a:ext>
            </a:extLst>
          </p:cNvPr>
          <p:cNvSpPr txBox="1">
            <a:spLocks noChangeArrowheads="1"/>
          </p:cNvSpPr>
          <p:nvPr/>
        </p:nvSpPr>
        <p:spPr bwMode="auto">
          <a:xfrm>
            <a:off x="898525" y="4595813"/>
            <a:ext cx="233910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Tx/>
              <a:buNone/>
              <a:defRPr/>
            </a:pPr>
            <a:r>
              <a:rPr lang="zh-CN" altLang="en-US" sz="2400" dirty="0">
                <a:latin typeface="宋体" panose="02010600030101010101" pitchFamily="2" charset="-122"/>
                <a:ea typeface="宋体" panose="02010600030101010101" pitchFamily="2" charset="-122"/>
              </a:rPr>
              <a:t>求一维搜索步长</a:t>
            </a: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AF1A0FFE-C673-4C1B-9B23-F6B4E12D46B1}"/>
                  </a:ext>
                </a:extLst>
              </p:cNvPr>
              <p:cNvSpPr txBox="1"/>
              <p:nvPr/>
            </p:nvSpPr>
            <p:spPr>
              <a:xfrm>
                <a:off x="2488223" y="1527861"/>
                <a:ext cx="4572000" cy="7081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smtClean="0">
                              <a:effectLst/>
                              <a:latin typeface="Cambria Math" panose="02040503050406030204" pitchFamily="18" charset="0"/>
                            </a:rPr>
                          </m:ctrlPr>
                        </m:sSubPr>
                        <m:e>
                          <m:r>
                            <a:rPr lang="zh-CN" altLang="en-US" sz="2400" i="1">
                              <a:effectLst/>
                              <a:latin typeface="Cambria Math" panose="02040503050406030204" pitchFamily="18" charset="0"/>
                            </a:rPr>
                            <m:t>𝐴</m:t>
                          </m:r>
                        </m:e>
                        <m:sub>
                          <m:r>
                            <a:rPr lang="zh-CN" altLang="en-US" sz="2400" i="0">
                              <a:effectLst/>
                              <a:latin typeface="Cambria Math" panose="02040503050406030204" pitchFamily="18" charset="0"/>
                            </a:rPr>
                            <m:t>1</m:t>
                          </m:r>
                        </m:sub>
                      </m:sSub>
                      <m:r>
                        <a:rPr lang="zh-CN" altLang="en-US" sz="2400" i="0">
                          <a:effectLst/>
                          <a:latin typeface="Cambria Math" panose="02040503050406030204" pitchFamily="18" charset="0"/>
                        </a:rPr>
                        <m:t>=</m:t>
                      </m:r>
                      <m:d>
                        <m:dPr>
                          <m:begChr m:val="["/>
                          <m:endChr m:val="]"/>
                          <m:ctrlPr>
                            <a:rPr lang="zh-CN" altLang="en-US" sz="2400" i="1">
                              <a:effectLst/>
                              <a:latin typeface="Cambria Math" panose="02040503050406030204" pitchFamily="18" charset="0"/>
                            </a:rPr>
                          </m:ctrlPr>
                        </m:dPr>
                        <m:e>
                          <m:m>
                            <m:mPr>
                              <m:plcHide m:val="on"/>
                              <m:mcs>
                                <m:mc>
                                  <m:mcPr>
                                    <m:count m:val="2"/>
                                    <m:mcJc m:val="center"/>
                                  </m:mcPr>
                                </m:mc>
                              </m:mcs>
                              <m:ctrlPr>
                                <a:rPr lang="zh-CN" altLang="en-US" sz="2400" i="1">
                                  <a:effectLst/>
                                  <a:latin typeface="Cambria Math" panose="02040503050406030204" pitchFamily="18" charset="0"/>
                                </a:rPr>
                              </m:ctrlPr>
                            </m:mPr>
                            <m:mr>
                              <m:e>
                                <m:r>
                                  <a:rPr lang="zh-CN" altLang="en-US" sz="2400" i="0">
                                    <a:effectLst/>
                                    <a:latin typeface="Cambria Math" panose="02040503050406030204" pitchFamily="18" charset="0"/>
                                  </a:rPr>
                                  <m:t>0.12697</m:t>
                                </m:r>
                              </m:e>
                              <m:e>
                                <m:r>
                                  <a:rPr lang="zh-CN" altLang="en-US" sz="2400" i="0">
                                    <a:effectLst/>
                                    <a:latin typeface="Cambria Math" panose="02040503050406030204" pitchFamily="18" charset="0"/>
                                  </a:rPr>
                                  <m:t>−0.031487</m:t>
                                </m:r>
                              </m:e>
                            </m:mr>
                            <m:mr>
                              <m:e>
                                <m:r>
                                  <a:rPr lang="zh-CN" altLang="en-US" sz="2400" i="0">
                                    <a:effectLst/>
                                    <a:latin typeface="Cambria Math" panose="02040503050406030204" pitchFamily="18" charset="0"/>
                                  </a:rPr>
                                  <m:t>−0.031487</m:t>
                                </m:r>
                              </m:e>
                              <m:e>
                                <m:r>
                                  <a:rPr lang="zh-CN" altLang="en-US" sz="2400" i="0">
                                    <a:effectLst/>
                                    <a:latin typeface="Cambria Math" panose="02040503050406030204" pitchFamily="18" charset="0"/>
                                  </a:rPr>
                                  <m:t>1.003801</m:t>
                                </m:r>
                              </m:e>
                            </m:mr>
                          </m:m>
                        </m:e>
                      </m:d>
                    </m:oMath>
                  </m:oMathPara>
                </a14:m>
                <a:endParaRPr lang="zh-CN" altLang="en-US" sz="2400" dirty="0">
                  <a:effectLst/>
                  <a:latin typeface="宋体" panose="02010600030101010101" pitchFamily="2" charset="-122"/>
                  <a:ea typeface="宋体" panose="02010600030101010101" pitchFamily="2" charset="-122"/>
                </a:endParaRPr>
              </a:p>
            </p:txBody>
          </p:sp>
        </mc:Choice>
        <mc:Fallback xmlns="">
          <p:sp>
            <p:nvSpPr>
              <p:cNvPr id="13" name="文本框 12">
                <a:extLst>
                  <a:ext uri="{FF2B5EF4-FFF2-40B4-BE49-F238E27FC236}">
                    <a16:creationId xmlns:a16="http://schemas.microsoft.com/office/drawing/2014/main" id="{AF1A0FFE-C673-4C1B-9B23-F6B4E12D46B1}"/>
                  </a:ext>
                </a:extLst>
              </p:cNvPr>
              <p:cNvSpPr txBox="1">
                <a:spLocks noRot="1" noChangeAspect="1" noMove="1" noResize="1" noEditPoints="1" noAdjustHandles="1" noChangeArrowheads="1" noChangeShapeType="1" noTextEdit="1"/>
              </p:cNvSpPr>
              <p:nvPr/>
            </p:nvSpPr>
            <p:spPr>
              <a:xfrm>
                <a:off x="2488223" y="1527861"/>
                <a:ext cx="4572000" cy="708143"/>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7FFC764D-E46C-4A0F-B08F-97098E493985}"/>
                  </a:ext>
                </a:extLst>
              </p:cNvPr>
              <p:cNvSpPr txBox="1"/>
              <p:nvPr/>
            </p:nvSpPr>
            <p:spPr>
              <a:xfrm>
                <a:off x="2286000" y="3163030"/>
                <a:ext cx="4572000" cy="7081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2400" i="1" smtClean="0">
                              <a:effectLst/>
                              <a:latin typeface="Cambria Math" panose="02040503050406030204" pitchFamily="18" charset="0"/>
                            </a:rPr>
                          </m:ctrlPr>
                        </m:sSupPr>
                        <m:e>
                          <m:r>
                            <a:rPr lang="zh-CN" altLang="en-US" sz="2400" i="1">
                              <a:effectLst/>
                              <a:latin typeface="Cambria Math" panose="02040503050406030204" pitchFamily="18" charset="0"/>
                            </a:rPr>
                            <m:t>𝑑</m:t>
                          </m:r>
                        </m:e>
                        <m:sup>
                          <m:d>
                            <m:dPr>
                              <m:ctrlPr>
                                <a:rPr lang="zh-CN" altLang="en-US" sz="2400" i="1">
                                  <a:effectLst/>
                                  <a:latin typeface="Cambria Math" panose="02040503050406030204" pitchFamily="18" charset="0"/>
                                </a:rPr>
                              </m:ctrlPr>
                            </m:dPr>
                            <m:e>
                              <m:r>
                                <a:rPr lang="zh-CN" altLang="en-US" sz="2400" i="0">
                                  <a:effectLst/>
                                  <a:latin typeface="Cambria Math" panose="02040503050406030204" pitchFamily="18" charset="0"/>
                                </a:rPr>
                                <m:t>1</m:t>
                              </m:r>
                            </m:e>
                          </m:d>
                        </m:sup>
                      </m:sSup>
                      <m:r>
                        <a:rPr lang="zh-CN" altLang="en-US" sz="2400" i="0">
                          <a:effectLst/>
                          <a:latin typeface="Cambria Math" panose="02040503050406030204" pitchFamily="18" charset="0"/>
                        </a:rPr>
                        <m:t>=−</m:t>
                      </m:r>
                      <m:sSub>
                        <m:sSubPr>
                          <m:ctrlPr>
                            <a:rPr lang="zh-CN" altLang="en-US" sz="2400" i="1">
                              <a:effectLst/>
                              <a:latin typeface="Cambria Math" panose="02040503050406030204" pitchFamily="18" charset="0"/>
                            </a:rPr>
                          </m:ctrlPr>
                        </m:sSubPr>
                        <m:e>
                          <m:r>
                            <a:rPr lang="zh-CN" altLang="en-US" sz="2400" i="1">
                              <a:effectLst/>
                              <a:latin typeface="Cambria Math" panose="02040503050406030204" pitchFamily="18" charset="0"/>
                            </a:rPr>
                            <m:t>𝐴</m:t>
                          </m:r>
                        </m:e>
                        <m:sub>
                          <m:r>
                            <a:rPr lang="zh-CN" altLang="en-US" sz="2400" i="0">
                              <a:effectLst/>
                              <a:latin typeface="Cambria Math" panose="02040503050406030204" pitchFamily="18" charset="0"/>
                            </a:rPr>
                            <m:t>1</m:t>
                          </m:r>
                        </m:sub>
                      </m:sSub>
                      <m:sSub>
                        <m:sSubPr>
                          <m:ctrlPr>
                            <a:rPr lang="zh-CN" altLang="en-US" sz="2400" i="1">
                              <a:effectLst/>
                              <a:latin typeface="Cambria Math" panose="02040503050406030204" pitchFamily="18" charset="0"/>
                            </a:rPr>
                          </m:ctrlPr>
                        </m:sSubPr>
                        <m:e>
                          <m:r>
                            <a:rPr lang="zh-CN" altLang="en-US" sz="2400" i="1">
                              <a:effectLst/>
                              <a:latin typeface="Cambria Math" panose="02040503050406030204" pitchFamily="18" charset="0"/>
                            </a:rPr>
                            <m:t>𝑔</m:t>
                          </m:r>
                        </m:e>
                        <m:sub>
                          <m:r>
                            <a:rPr lang="zh-CN" altLang="en-US" sz="2400" i="0">
                              <a:effectLst/>
                              <a:latin typeface="Cambria Math" panose="02040503050406030204" pitchFamily="18" charset="0"/>
                            </a:rPr>
                            <m:t>1</m:t>
                          </m:r>
                        </m:sub>
                      </m:sSub>
                      <m:r>
                        <a:rPr lang="zh-CN" altLang="en-US" sz="2400" i="0">
                          <a:effectLst/>
                          <a:latin typeface="Cambria Math" panose="02040503050406030204" pitchFamily="18" charset="0"/>
                        </a:rPr>
                        <m:t>=</m:t>
                      </m:r>
                      <m:d>
                        <m:dPr>
                          <m:begChr m:val="["/>
                          <m:endChr m:val="]"/>
                          <m:ctrlPr>
                            <a:rPr lang="zh-CN" altLang="en-US" sz="2400" i="1">
                              <a:effectLst/>
                              <a:latin typeface="Cambria Math" panose="02040503050406030204" pitchFamily="18" charset="0"/>
                            </a:rPr>
                          </m:ctrlPr>
                        </m:dPr>
                        <m:e>
                          <m:m>
                            <m:mPr>
                              <m:plcHide m:val="on"/>
                              <m:mcs>
                                <m:mc>
                                  <m:mcPr>
                                    <m:count m:val="1"/>
                                    <m:mcJc m:val="center"/>
                                  </m:mcPr>
                                </m:mc>
                              </m:mcs>
                              <m:ctrlPr>
                                <a:rPr lang="zh-CN" altLang="en-US" sz="2400" i="1">
                                  <a:effectLst/>
                                  <a:latin typeface="Cambria Math" panose="02040503050406030204" pitchFamily="18" charset="0"/>
                                </a:rPr>
                              </m:ctrlPr>
                            </m:mPr>
                            <m:mr>
                              <m:e>
                                <m:r>
                                  <a:rPr lang="zh-CN" altLang="en-US" sz="2400" i="0">
                                    <a:effectLst/>
                                    <a:latin typeface="Cambria Math" panose="02040503050406030204" pitchFamily="18" charset="0"/>
                                  </a:rPr>
                                  <m:t>0.28017</m:t>
                                </m:r>
                              </m:e>
                            </m:mr>
                            <m:mr>
                              <m:e>
                                <m:r>
                                  <a:rPr lang="zh-CN" altLang="en-US" sz="2400" i="0">
                                    <a:effectLst/>
                                    <a:latin typeface="Cambria Math" panose="02040503050406030204" pitchFamily="18" charset="0"/>
                                  </a:rPr>
                                  <m:t>−4.48248</m:t>
                                </m:r>
                              </m:e>
                            </m:mr>
                          </m:m>
                        </m:e>
                      </m:d>
                    </m:oMath>
                  </m:oMathPara>
                </a14:m>
                <a:endParaRPr lang="zh-CN" altLang="en-US" sz="2400" dirty="0">
                  <a:effectLst/>
                  <a:latin typeface="宋体" panose="02010600030101010101" pitchFamily="2" charset="-122"/>
                  <a:ea typeface="宋体" panose="02010600030101010101" pitchFamily="2" charset="-122"/>
                </a:endParaRPr>
              </a:p>
            </p:txBody>
          </p:sp>
        </mc:Choice>
        <mc:Fallback xmlns="">
          <p:sp>
            <p:nvSpPr>
              <p:cNvPr id="15" name="文本框 14">
                <a:extLst>
                  <a:ext uri="{FF2B5EF4-FFF2-40B4-BE49-F238E27FC236}">
                    <a16:creationId xmlns:a16="http://schemas.microsoft.com/office/drawing/2014/main" id="{7FFC764D-E46C-4A0F-B08F-97098E493985}"/>
                  </a:ext>
                </a:extLst>
              </p:cNvPr>
              <p:cNvSpPr txBox="1">
                <a:spLocks noRot="1" noChangeAspect="1" noMove="1" noResize="1" noEditPoints="1" noAdjustHandles="1" noChangeArrowheads="1" noChangeShapeType="1" noTextEdit="1"/>
              </p:cNvSpPr>
              <p:nvPr/>
            </p:nvSpPr>
            <p:spPr>
              <a:xfrm>
                <a:off x="2286000" y="3163030"/>
                <a:ext cx="4572000" cy="70814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F34FBD00-0B17-4837-8F9D-897C71536D12}"/>
                  </a:ext>
                </a:extLst>
              </p:cNvPr>
              <p:cNvSpPr txBox="1"/>
              <p:nvPr/>
            </p:nvSpPr>
            <p:spPr>
              <a:xfrm>
                <a:off x="1833563" y="5136175"/>
                <a:ext cx="4572000" cy="48667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2400" i="1" smtClean="0">
                              <a:effectLst/>
                              <a:latin typeface="Cambria Math" panose="02040503050406030204" pitchFamily="18" charset="0"/>
                            </a:rPr>
                          </m:ctrlPr>
                        </m:sSupPr>
                        <m:e>
                          <m:r>
                            <a:rPr lang="zh-CN" altLang="en-US" sz="2400" i="1">
                              <a:effectLst/>
                              <a:latin typeface="Cambria Math" panose="02040503050406030204" pitchFamily="18" charset="0"/>
                            </a:rPr>
                            <m:t>𝛼</m:t>
                          </m:r>
                        </m:e>
                        <m:sup>
                          <m:d>
                            <m:dPr>
                              <m:ctrlPr>
                                <a:rPr lang="zh-CN" altLang="en-US" sz="2400" i="1">
                                  <a:effectLst/>
                                  <a:latin typeface="Cambria Math" panose="02040503050406030204" pitchFamily="18" charset="0"/>
                                </a:rPr>
                              </m:ctrlPr>
                            </m:dPr>
                            <m:e>
                              <m:r>
                                <a:rPr lang="zh-CN" altLang="en-US" sz="2400" i="0">
                                  <a:effectLst/>
                                  <a:latin typeface="Cambria Math" panose="02040503050406030204" pitchFamily="18" charset="0"/>
                                </a:rPr>
                                <m:t>1</m:t>
                              </m:r>
                            </m:e>
                          </m:d>
                        </m:sup>
                      </m:sSup>
                      <m:r>
                        <a:rPr lang="zh-CN" altLang="en-US" sz="2400" i="0">
                          <a:effectLst/>
                          <a:latin typeface="Cambria Math" panose="02040503050406030204" pitchFamily="18" charset="0"/>
                        </a:rPr>
                        <m:t>=0</m:t>
                      </m:r>
                      <m:r>
                        <a:rPr lang="en-US" altLang="zh-CN" sz="2400" b="0" i="0" smtClean="0">
                          <a:effectLst/>
                          <a:latin typeface="Cambria Math" panose="02040503050406030204" pitchFamily="18" charset="0"/>
                        </a:rPr>
                        <m:t>.</m:t>
                      </m:r>
                      <m:r>
                        <a:rPr lang="zh-CN" altLang="en-US" sz="2400" i="0">
                          <a:effectLst/>
                          <a:latin typeface="Cambria Math" panose="02040503050406030204" pitchFamily="18" charset="0"/>
                        </a:rPr>
                        <m:t>4942</m:t>
                      </m:r>
                    </m:oMath>
                  </m:oMathPara>
                </a14:m>
                <a:endParaRPr lang="zh-CN" altLang="en-US" sz="2400" dirty="0">
                  <a:effectLst/>
                  <a:latin typeface="宋体" panose="02010600030101010101" pitchFamily="2" charset="-122"/>
                  <a:ea typeface="宋体" panose="02010600030101010101" pitchFamily="2" charset="-122"/>
                </a:endParaRPr>
              </a:p>
            </p:txBody>
          </p:sp>
        </mc:Choice>
        <mc:Fallback xmlns="">
          <p:sp>
            <p:nvSpPr>
              <p:cNvPr id="17" name="文本框 16">
                <a:extLst>
                  <a:ext uri="{FF2B5EF4-FFF2-40B4-BE49-F238E27FC236}">
                    <a16:creationId xmlns:a16="http://schemas.microsoft.com/office/drawing/2014/main" id="{F34FBD00-0B17-4837-8F9D-897C71536D12}"/>
                  </a:ext>
                </a:extLst>
              </p:cNvPr>
              <p:cNvSpPr txBox="1">
                <a:spLocks noRot="1" noChangeAspect="1" noMove="1" noResize="1" noEditPoints="1" noAdjustHandles="1" noChangeArrowheads="1" noChangeShapeType="1" noTextEdit="1"/>
              </p:cNvSpPr>
              <p:nvPr/>
            </p:nvSpPr>
            <p:spPr>
              <a:xfrm>
                <a:off x="1833563" y="5136175"/>
                <a:ext cx="4572000" cy="486672"/>
              </a:xfrm>
              <a:prstGeom prst="rect">
                <a:avLst/>
              </a:prstGeom>
              <a:blipFill>
                <a:blip r:embed="rId5"/>
                <a:stretch>
                  <a:fillRect/>
                </a:stretch>
              </a:blipFill>
            </p:spPr>
            <p:txBody>
              <a:bodyPr/>
              <a:lstStyle/>
              <a:p>
                <a:r>
                  <a:rPr lang="zh-CN" altLang="en-US">
                    <a:noFill/>
                  </a:rPr>
                  <a:t> </a:t>
                </a:r>
              </a:p>
            </p:txBody>
          </p:sp>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5" name="Text Box 7">
            <a:extLst>
              <a:ext uri="{FF2B5EF4-FFF2-40B4-BE49-F238E27FC236}">
                <a16:creationId xmlns:a16="http://schemas.microsoft.com/office/drawing/2014/main" id="{9F714EE2-E71F-4B04-9B5E-9E983723D386}"/>
              </a:ext>
            </a:extLst>
          </p:cNvPr>
          <p:cNvSpPr txBox="1">
            <a:spLocks noChangeArrowheads="1"/>
          </p:cNvSpPr>
          <p:nvPr/>
        </p:nvSpPr>
        <p:spPr bwMode="auto">
          <a:xfrm>
            <a:off x="755650" y="784836"/>
            <a:ext cx="793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Tx/>
              <a:buNone/>
              <a:defRPr/>
            </a:pPr>
            <a:r>
              <a:rPr lang="zh-CN" altLang="en-US" sz="2400" dirty="0">
                <a:latin typeface="宋体" panose="02010600030101010101" pitchFamily="2" charset="-122"/>
                <a:ea typeface="宋体" panose="02010600030101010101" pitchFamily="2" charset="-122"/>
              </a:rPr>
              <a:t>则：</a:t>
            </a:r>
          </a:p>
        </p:txBody>
      </p:sp>
      <p:sp>
        <p:nvSpPr>
          <p:cNvPr id="145416" name="Text Box 8">
            <a:extLst>
              <a:ext uri="{FF2B5EF4-FFF2-40B4-BE49-F238E27FC236}">
                <a16:creationId xmlns:a16="http://schemas.microsoft.com/office/drawing/2014/main" id="{C4FCFA04-9A31-4A1C-90D1-E5919D2B677D}"/>
              </a:ext>
            </a:extLst>
          </p:cNvPr>
          <p:cNvSpPr txBox="1">
            <a:spLocks noChangeArrowheads="1"/>
          </p:cNvSpPr>
          <p:nvPr/>
        </p:nvSpPr>
        <p:spPr bwMode="auto">
          <a:xfrm>
            <a:off x="755650" y="3716338"/>
            <a:ext cx="44935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FontTx/>
              <a:buNone/>
              <a:defRPr/>
            </a:pPr>
            <a:r>
              <a:rPr lang="zh-CN" altLang="en-US" sz="2400" dirty="0">
                <a:latin typeface="宋体" panose="02010600030101010101" pitchFamily="2" charset="-122"/>
                <a:ea typeface="宋体" panose="02010600030101010101" pitchFamily="2" charset="-122"/>
              </a:rPr>
              <a:t>迭代即可结束，输出近似最优解</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115E8550-B1A6-41E6-A233-7D7AC2D9C8EF}"/>
                  </a:ext>
                </a:extLst>
              </p:cNvPr>
              <p:cNvSpPr txBox="1"/>
              <p:nvPr/>
            </p:nvSpPr>
            <p:spPr>
              <a:xfrm>
                <a:off x="1152525" y="1069188"/>
                <a:ext cx="4572000" cy="7081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en-US" sz="2400" i="1" smtClean="0">
                              <a:effectLst/>
                              <a:latin typeface="Cambria Math" panose="02040503050406030204" pitchFamily="18" charset="0"/>
                            </a:rPr>
                          </m:ctrlPr>
                        </m:sSupPr>
                        <m:e>
                          <m:r>
                            <a:rPr lang="zh-CN" altLang="en-US" sz="2400" i="1">
                              <a:effectLst/>
                              <a:latin typeface="Cambria Math" panose="02040503050406030204" pitchFamily="18" charset="0"/>
                            </a:rPr>
                            <m:t>𝑥</m:t>
                          </m:r>
                        </m:e>
                        <m:sup>
                          <m:d>
                            <m:dPr>
                              <m:ctrlPr>
                                <a:rPr lang="zh-CN" altLang="en-US" sz="2400" i="1">
                                  <a:effectLst/>
                                  <a:latin typeface="Cambria Math" panose="02040503050406030204" pitchFamily="18" charset="0"/>
                                </a:rPr>
                              </m:ctrlPr>
                            </m:dPr>
                            <m:e>
                              <m:r>
                                <a:rPr lang="zh-CN" altLang="en-US" sz="2400" i="0">
                                  <a:effectLst/>
                                  <a:latin typeface="Cambria Math" panose="02040503050406030204" pitchFamily="18" charset="0"/>
                                </a:rPr>
                                <m:t>2</m:t>
                              </m:r>
                            </m:e>
                          </m:d>
                        </m:sup>
                      </m:sSup>
                      <m:r>
                        <a:rPr lang="zh-CN" altLang="en-US" sz="2400" i="0">
                          <a:effectLst/>
                          <a:latin typeface="Cambria Math" panose="02040503050406030204" pitchFamily="18" charset="0"/>
                        </a:rPr>
                        <m:t>=</m:t>
                      </m:r>
                      <m:d>
                        <m:dPr>
                          <m:begChr m:val="["/>
                          <m:endChr m:val="]"/>
                          <m:ctrlPr>
                            <a:rPr lang="zh-CN" altLang="en-US" sz="2400" i="1">
                              <a:effectLst/>
                              <a:latin typeface="Cambria Math" panose="02040503050406030204" pitchFamily="18" charset="0"/>
                            </a:rPr>
                          </m:ctrlPr>
                        </m:dPr>
                        <m:e>
                          <m:m>
                            <m:mPr>
                              <m:plcHide m:val="on"/>
                              <m:mcs>
                                <m:mc>
                                  <m:mcPr>
                                    <m:count m:val="1"/>
                                    <m:mcJc m:val="center"/>
                                  </m:mcPr>
                                </m:mc>
                              </m:mcs>
                              <m:ctrlPr>
                                <a:rPr lang="zh-CN" altLang="en-US" sz="2400" i="1">
                                  <a:effectLst/>
                                  <a:latin typeface="Cambria Math" panose="02040503050406030204" pitchFamily="18" charset="0"/>
                                </a:rPr>
                              </m:ctrlPr>
                            </m:mPr>
                            <m:mr>
                              <m:e>
                                <m:r>
                                  <a:rPr lang="zh-CN" altLang="en-US" sz="2400" i="0">
                                    <a:effectLst/>
                                    <a:latin typeface="Cambria Math" panose="02040503050406030204" pitchFamily="18" charset="0"/>
                                  </a:rPr>
                                  <m:t>4.99998</m:t>
                                </m:r>
                              </m:e>
                            </m:mr>
                            <m:mr>
                              <m:e>
                                <m:r>
                                  <a:rPr lang="zh-CN" altLang="en-US" sz="2400" i="0">
                                    <a:effectLst/>
                                    <a:latin typeface="Cambria Math" panose="02040503050406030204" pitchFamily="18" charset="0"/>
                                  </a:rPr>
                                  <m:t>6.00014</m:t>
                                </m:r>
                              </m:e>
                            </m:mr>
                          </m:m>
                        </m:e>
                      </m:d>
                    </m:oMath>
                  </m:oMathPara>
                </a14:m>
                <a:endParaRPr lang="zh-CN" altLang="en-US" sz="2400" dirty="0">
                  <a:effectLst/>
                  <a:latin typeface="宋体" panose="02010600030101010101" pitchFamily="2" charset="-122"/>
                  <a:ea typeface="宋体" panose="02010600030101010101" pitchFamily="2" charset="-122"/>
                </a:endParaRPr>
              </a:p>
            </p:txBody>
          </p:sp>
        </mc:Choice>
        <mc:Fallback xmlns="">
          <p:sp>
            <p:nvSpPr>
              <p:cNvPr id="11" name="文本框 10">
                <a:extLst>
                  <a:ext uri="{FF2B5EF4-FFF2-40B4-BE49-F238E27FC236}">
                    <a16:creationId xmlns:a16="http://schemas.microsoft.com/office/drawing/2014/main" id="{115E8550-B1A6-41E6-A233-7D7AC2D9C8EF}"/>
                  </a:ext>
                </a:extLst>
              </p:cNvPr>
              <p:cNvSpPr txBox="1">
                <a:spLocks noRot="1" noChangeAspect="1" noMove="1" noResize="1" noEditPoints="1" noAdjustHandles="1" noChangeArrowheads="1" noChangeShapeType="1" noTextEdit="1"/>
              </p:cNvSpPr>
              <p:nvPr/>
            </p:nvSpPr>
            <p:spPr>
              <a:xfrm>
                <a:off x="1152525" y="1069188"/>
                <a:ext cx="4572000" cy="708143"/>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00DD6232-351E-45C8-A180-D9773BEB0651}"/>
                  </a:ext>
                </a:extLst>
              </p:cNvPr>
              <p:cNvSpPr txBox="1"/>
              <p:nvPr/>
            </p:nvSpPr>
            <p:spPr>
              <a:xfrm>
                <a:off x="2022230" y="1970523"/>
                <a:ext cx="4572000" cy="7081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smtClean="0">
                              <a:effectLst/>
                              <a:latin typeface="Cambria Math" panose="02040503050406030204" pitchFamily="18" charset="0"/>
                            </a:rPr>
                          </m:ctrlPr>
                        </m:sSubPr>
                        <m:e>
                          <m:r>
                            <a:rPr lang="zh-CN" altLang="en-US" sz="2400" i="1">
                              <a:effectLst/>
                              <a:latin typeface="Cambria Math" panose="02040503050406030204" pitchFamily="18" charset="0"/>
                            </a:rPr>
                            <m:t>𝑔</m:t>
                          </m:r>
                        </m:e>
                        <m:sub>
                          <m:r>
                            <a:rPr lang="zh-CN" altLang="en-US" sz="2400" i="0">
                              <a:effectLst/>
                              <a:latin typeface="Cambria Math" panose="02040503050406030204" pitchFamily="18" charset="0"/>
                            </a:rPr>
                            <m:t>2</m:t>
                          </m:r>
                        </m:sub>
                      </m:sSub>
                      <m:r>
                        <a:rPr lang="zh-CN" altLang="en-US" sz="2400" i="0">
                          <a:effectLst/>
                          <a:latin typeface="Cambria Math" panose="02040503050406030204" pitchFamily="18" charset="0"/>
                        </a:rPr>
                        <m:t>=</m:t>
                      </m:r>
                      <m:r>
                        <m:rPr>
                          <m:sty m:val="p"/>
                        </m:rPr>
                        <a:rPr lang="zh-CN" altLang="en-US" sz="2400" i="0">
                          <a:effectLst/>
                          <a:latin typeface="Cambria Math" panose="02040503050406030204" pitchFamily="18" charset="0"/>
                        </a:rPr>
                        <m:t>∇</m:t>
                      </m:r>
                      <m:r>
                        <a:rPr lang="zh-CN" altLang="en-US" sz="2400" i="1">
                          <a:effectLst/>
                          <a:latin typeface="Cambria Math" panose="02040503050406030204" pitchFamily="18" charset="0"/>
                        </a:rPr>
                        <m:t>𝑓</m:t>
                      </m:r>
                      <m:r>
                        <a:rPr lang="zh-CN" altLang="en-US" sz="2400" i="0">
                          <a:effectLst/>
                          <a:latin typeface="Cambria Math" panose="02040503050406030204" pitchFamily="18" charset="0"/>
                        </a:rPr>
                        <m:t>(</m:t>
                      </m:r>
                      <m:sSup>
                        <m:sSupPr>
                          <m:ctrlPr>
                            <a:rPr lang="zh-CN" altLang="en-US" sz="2400" i="1">
                              <a:effectLst/>
                              <a:latin typeface="Cambria Math" panose="02040503050406030204" pitchFamily="18" charset="0"/>
                            </a:rPr>
                          </m:ctrlPr>
                        </m:sSupPr>
                        <m:e>
                          <m:r>
                            <a:rPr lang="zh-CN" altLang="en-US" sz="2400" i="1">
                              <a:effectLst/>
                              <a:latin typeface="Cambria Math" panose="02040503050406030204" pitchFamily="18" charset="0"/>
                            </a:rPr>
                            <m:t>𝑥</m:t>
                          </m:r>
                        </m:e>
                        <m:sup>
                          <m:d>
                            <m:dPr>
                              <m:ctrlPr>
                                <a:rPr lang="zh-CN" altLang="en-US" sz="2400" i="1">
                                  <a:effectLst/>
                                  <a:latin typeface="Cambria Math" panose="02040503050406030204" pitchFamily="18" charset="0"/>
                                </a:rPr>
                              </m:ctrlPr>
                            </m:dPr>
                            <m:e>
                              <m:r>
                                <a:rPr lang="zh-CN" altLang="en-US" sz="2400" i="0">
                                  <a:effectLst/>
                                  <a:latin typeface="Cambria Math" panose="02040503050406030204" pitchFamily="18" charset="0"/>
                                </a:rPr>
                                <m:t>2</m:t>
                              </m:r>
                            </m:e>
                          </m:d>
                        </m:sup>
                      </m:sSup>
                      <m:r>
                        <a:rPr lang="zh-CN" altLang="en-US" sz="2400" i="0">
                          <a:effectLst/>
                          <a:latin typeface="Cambria Math" panose="02040503050406030204" pitchFamily="18" charset="0"/>
                        </a:rPr>
                        <m:t>)=</m:t>
                      </m:r>
                      <m:d>
                        <m:dPr>
                          <m:begChr m:val="["/>
                          <m:endChr m:val="]"/>
                          <m:ctrlPr>
                            <a:rPr lang="zh-CN" altLang="en-US" sz="2400" i="1">
                              <a:effectLst/>
                              <a:latin typeface="Cambria Math" panose="02040503050406030204" pitchFamily="18" charset="0"/>
                            </a:rPr>
                          </m:ctrlPr>
                        </m:dPr>
                        <m:e>
                          <m:m>
                            <m:mPr>
                              <m:plcHide m:val="on"/>
                              <m:mcs>
                                <m:mc>
                                  <m:mcPr>
                                    <m:count m:val="1"/>
                                    <m:mcJc m:val="center"/>
                                  </m:mcPr>
                                </m:mc>
                              </m:mcs>
                              <m:ctrlPr>
                                <a:rPr lang="zh-CN" altLang="en-US" sz="2400" i="1">
                                  <a:effectLst/>
                                  <a:latin typeface="Cambria Math" panose="02040503050406030204" pitchFamily="18" charset="0"/>
                                </a:rPr>
                              </m:ctrlPr>
                            </m:mPr>
                            <m:mr>
                              <m:e>
                                <m:r>
                                  <a:rPr lang="zh-CN" altLang="en-US" sz="2400" i="0">
                                    <a:effectLst/>
                                    <a:latin typeface="Cambria Math" panose="02040503050406030204" pitchFamily="18" charset="0"/>
                                  </a:rPr>
                                  <m:t>−0.00016</m:t>
                                </m:r>
                              </m:e>
                            </m:mr>
                            <m:mr>
                              <m:e>
                                <m:r>
                                  <a:rPr lang="zh-CN" altLang="en-US" sz="2400" i="0">
                                    <a:effectLst/>
                                    <a:latin typeface="Cambria Math" panose="02040503050406030204" pitchFamily="18" charset="0"/>
                                  </a:rPr>
                                  <m:t>0.00028</m:t>
                                </m:r>
                              </m:e>
                            </m:mr>
                          </m:m>
                        </m:e>
                      </m:d>
                    </m:oMath>
                  </m:oMathPara>
                </a14:m>
                <a:endParaRPr lang="zh-CN" altLang="en-US" sz="2400" dirty="0">
                  <a:effectLst/>
                  <a:latin typeface="宋体" panose="02010600030101010101" pitchFamily="2" charset="-122"/>
                  <a:ea typeface="宋体" panose="02010600030101010101" pitchFamily="2" charset="-122"/>
                </a:endParaRPr>
              </a:p>
            </p:txBody>
          </p:sp>
        </mc:Choice>
        <mc:Fallback xmlns="">
          <p:sp>
            <p:nvSpPr>
              <p:cNvPr id="13" name="文本框 12">
                <a:extLst>
                  <a:ext uri="{FF2B5EF4-FFF2-40B4-BE49-F238E27FC236}">
                    <a16:creationId xmlns:a16="http://schemas.microsoft.com/office/drawing/2014/main" id="{00DD6232-351E-45C8-A180-D9773BEB0651}"/>
                  </a:ext>
                </a:extLst>
              </p:cNvPr>
              <p:cNvSpPr txBox="1">
                <a:spLocks noRot="1" noChangeAspect="1" noMove="1" noResize="1" noEditPoints="1" noAdjustHandles="1" noChangeArrowheads="1" noChangeShapeType="1" noTextEdit="1"/>
              </p:cNvSpPr>
              <p:nvPr/>
            </p:nvSpPr>
            <p:spPr>
              <a:xfrm>
                <a:off x="2022230" y="1970523"/>
                <a:ext cx="4572000" cy="708143"/>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B2CF94EF-D56F-43CA-9FBF-7FE537D12C3D}"/>
                  </a:ext>
                </a:extLst>
              </p:cNvPr>
              <p:cNvSpPr txBox="1"/>
              <p:nvPr/>
            </p:nvSpPr>
            <p:spPr>
              <a:xfrm>
                <a:off x="1441939" y="3013337"/>
                <a:ext cx="4572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smtClean="0">
                          <a:effectLst/>
                          <a:latin typeface="Cambria Math" panose="02040503050406030204" pitchFamily="18" charset="0"/>
                        </a:rPr>
                        <m:t>‖</m:t>
                      </m:r>
                      <m:sSub>
                        <m:sSubPr>
                          <m:ctrlPr>
                            <a:rPr lang="zh-CN" altLang="en-US" sz="2400" i="1">
                              <a:effectLst/>
                              <a:latin typeface="Cambria Math" panose="02040503050406030204" pitchFamily="18" charset="0"/>
                            </a:rPr>
                          </m:ctrlPr>
                        </m:sSubPr>
                        <m:e>
                          <m:r>
                            <a:rPr lang="zh-CN" altLang="en-US" sz="2400" i="1">
                              <a:effectLst/>
                              <a:latin typeface="Cambria Math" panose="02040503050406030204" pitchFamily="18" charset="0"/>
                            </a:rPr>
                            <m:t>𝑔</m:t>
                          </m:r>
                        </m:e>
                        <m:sub>
                          <m:r>
                            <a:rPr lang="zh-CN" altLang="en-US" sz="2400" i="0">
                              <a:effectLst/>
                              <a:latin typeface="Cambria Math" panose="02040503050406030204" pitchFamily="18" charset="0"/>
                            </a:rPr>
                            <m:t>2</m:t>
                          </m:r>
                        </m:sub>
                      </m:sSub>
                      <m:r>
                        <a:rPr lang="zh-CN" altLang="en-US" sz="2400" i="0">
                          <a:effectLst/>
                          <a:latin typeface="Cambria Math" panose="02040503050406030204" pitchFamily="18" charset="0"/>
                        </a:rPr>
                        <m:t>‖=0.00032&lt;</m:t>
                      </m:r>
                      <m:r>
                        <a:rPr lang="zh-CN" altLang="en-US" sz="2400" i="1">
                          <a:effectLst/>
                          <a:latin typeface="Cambria Math" panose="02040503050406030204" pitchFamily="18" charset="0"/>
                        </a:rPr>
                        <m:t>𝜀</m:t>
                      </m:r>
                    </m:oMath>
                  </m:oMathPara>
                </a14:m>
                <a:endParaRPr lang="zh-CN" altLang="en-US" sz="2400" dirty="0">
                  <a:effectLst/>
                  <a:latin typeface="宋体" panose="02010600030101010101" pitchFamily="2" charset="-122"/>
                  <a:ea typeface="宋体" panose="02010600030101010101" pitchFamily="2" charset="-122"/>
                </a:endParaRPr>
              </a:p>
            </p:txBody>
          </p:sp>
        </mc:Choice>
        <mc:Fallback xmlns="">
          <p:sp>
            <p:nvSpPr>
              <p:cNvPr id="15" name="文本框 14">
                <a:extLst>
                  <a:ext uri="{FF2B5EF4-FFF2-40B4-BE49-F238E27FC236}">
                    <a16:creationId xmlns:a16="http://schemas.microsoft.com/office/drawing/2014/main" id="{B2CF94EF-D56F-43CA-9FBF-7FE537D12C3D}"/>
                  </a:ext>
                </a:extLst>
              </p:cNvPr>
              <p:cNvSpPr txBox="1">
                <a:spLocks noRot="1" noChangeAspect="1" noMove="1" noResize="1" noEditPoints="1" noAdjustHandles="1" noChangeArrowheads="1" noChangeShapeType="1" noTextEdit="1"/>
              </p:cNvSpPr>
              <p:nvPr/>
            </p:nvSpPr>
            <p:spPr>
              <a:xfrm>
                <a:off x="1441939" y="3013337"/>
                <a:ext cx="4572000" cy="461665"/>
              </a:xfrm>
              <a:prstGeom prst="rect">
                <a:avLst/>
              </a:prstGeom>
              <a:blipFill>
                <a:blip r:embed="rId4"/>
                <a:stretch>
                  <a:fillRect b="-197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BA8DB4D4-1F71-4969-AFFC-8754E67F7F52}"/>
                  </a:ext>
                </a:extLst>
              </p:cNvPr>
              <p:cNvSpPr txBox="1"/>
              <p:nvPr/>
            </p:nvSpPr>
            <p:spPr>
              <a:xfrm>
                <a:off x="1549400" y="4453733"/>
                <a:ext cx="4572000" cy="70814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𝑥</m:t>
                          </m:r>
                        </m:e>
                        <m:sup>
                          <m:r>
                            <a:rPr lang="en-US" altLang="zh-CN" sz="2400" i="1">
                              <a:latin typeface="Cambria Math" panose="02040503050406030204" pitchFamily="18" charset="0"/>
                            </a:rPr>
                            <m:t>∗</m:t>
                          </m:r>
                        </m:sup>
                      </m:sSup>
                      <m:r>
                        <a:rPr lang="zh-CN" altLang="en-US" sz="2400" i="0">
                          <a:effectLst/>
                          <a:latin typeface="Cambria Math" panose="02040503050406030204" pitchFamily="18" charset="0"/>
                        </a:rPr>
                        <m:t>=</m:t>
                      </m:r>
                      <m:sSup>
                        <m:sSupPr>
                          <m:ctrlPr>
                            <a:rPr lang="zh-CN" altLang="en-US" sz="2400" i="1">
                              <a:effectLst/>
                              <a:latin typeface="Cambria Math" panose="02040503050406030204" pitchFamily="18" charset="0"/>
                            </a:rPr>
                          </m:ctrlPr>
                        </m:sSupPr>
                        <m:e>
                          <m:r>
                            <a:rPr lang="zh-CN" altLang="en-US" sz="2400" i="1">
                              <a:effectLst/>
                              <a:latin typeface="Cambria Math" panose="02040503050406030204" pitchFamily="18" charset="0"/>
                            </a:rPr>
                            <m:t>𝑥</m:t>
                          </m:r>
                        </m:e>
                        <m:sup>
                          <m:d>
                            <m:dPr>
                              <m:ctrlPr>
                                <a:rPr lang="zh-CN" altLang="en-US" sz="2400" i="1">
                                  <a:effectLst/>
                                  <a:latin typeface="Cambria Math" panose="02040503050406030204" pitchFamily="18" charset="0"/>
                                </a:rPr>
                              </m:ctrlPr>
                            </m:dPr>
                            <m:e>
                              <m:r>
                                <a:rPr lang="zh-CN" altLang="en-US" sz="2400" i="0">
                                  <a:effectLst/>
                                  <a:latin typeface="Cambria Math" panose="02040503050406030204" pitchFamily="18" charset="0"/>
                                </a:rPr>
                                <m:t>2</m:t>
                              </m:r>
                            </m:e>
                          </m:d>
                        </m:sup>
                      </m:sSup>
                      <m:r>
                        <a:rPr lang="zh-CN" altLang="en-US" sz="2400" i="0">
                          <a:effectLst/>
                          <a:latin typeface="Cambria Math" panose="02040503050406030204" pitchFamily="18" charset="0"/>
                        </a:rPr>
                        <m:t>=</m:t>
                      </m:r>
                      <m:d>
                        <m:dPr>
                          <m:begChr m:val="["/>
                          <m:endChr m:val="]"/>
                          <m:ctrlPr>
                            <a:rPr lang="zh-CN" altLang="en-US" sz="2400" i="1">
                              <a:effectLst/>
                              <a:latin typeface="Cambria Math" panose="02040503050406030204" pitchFamily="18" charset="0"/>
                            </a:rPr>
                          </m:ctrlPr>
                        </m:dPr>
                        <m:e>
                          <m:m>
                            <m:mPr>
                              <m:plcHide m:val="on"/>
                              <m:mcs>
                                <m:mc>
                                  <m:mcPr>
                                    <m:count m:val="1"/>
                                    <m:mcJc m:val="center"/>
                                  </m:mcPr>
                                </m:mc>
                              </m:mcs>
                              <m:ctrlPr>
                                <a:rPr lang="zh-CN" altLang="en-US" sz="2400" i="1">
                                  <a:effectLst/>
                                  <a:latin typeface="Cambria Math" panose="02040503050406030204" pitchFamily="18" charset="0"/>
                                </a:rPr>
                              </m:ctrlPr>
                            </m:mPr>
                            <m:mr>
                              <m:e>
                                <m:r>
                                  <a:rPr lang="zh-CN" altLang="en-US" sz="2400" i="0">
                                    <a:effectLst/>
                                    <a:latin typeface="Cambria Math" panose="02040503050406030204" pitchFamily="18" charset="0"/>
                                  </a:rPr>
                                  <m:t>4.99998</m:t>
                                </m:r>
                              </m:e>
                            </m:mr>
                            <m:mr>
                              <m:e>
                                <m:r>
                                  <a:rPr lang="zh-CN" altLang="en-US" sz="2400" i="0">
                                    <a:effectLst/>
                                    <a:latin typeface="Cambria Math" panose="02040503050406030204" pitchFamily="18" charset="0"/>
                                  </a:rPr>
                                  <m:t>6.00014</m:t>
                                </m:r>
                              </m:e>
                            </m:mr>
                          </m:m>
                        </m:e>
                      </m:d>
                    </m:oMath>
                  </m:oMathPara>
                </a14:m>
                <a:endParaRPr lang="zh-CN" altLang="en-US" sz="2400" dirty="0">
                  <a:effectLst/>
                  <a:latin typeface="宋体" panose="02010600030101010101" pitchFamily="2" charset="-122"/>
                  <a:ea typeface="宋体" panose="02010600030101010101" pitchFamily="2" charset="-122"/>
                </a:endParaRPr>
              </a:p>
            </p:txBody>
          </p:sp>
        </mc:Choice>
        <mc:Fallback xmlns="">
          <p:sp>
            <p:nvSpPr>
              <p:cNvPr id="17" name="文本框 16">
                <a:extLst>
                  <a:ext uri="{FF2B5EF4-FFF2-40B4-BE49-F238E27FC236}">
                    <a16:creationId xmlns:a16="http://schemas.microsoft.com/office/drawing/2014/main" id="{BA8DB4D4-1F71-4969-AFFC-8754E67F7F52}"/>
                  </a:ext>
                </a:extLst>
              </p:cNvPr>
              <p:cNvSpPr txBox="1">
                <a:spLocks noRot="1" noChangeAspect="1" noMove="1" noResize="1" noEditPoints="1" noAdjustHandles="1" noChangeArrowheads="1" noChangeShapeType="1" noTextEdit="1"/>
              </p:cNvSpPr>
              <p:nvPr/>
            </p:nvSpPr>
            <p:spPr>
              <a:xfrm>
                <a:off x="1549400" y="4453733"/>
                <a:ext cx="4572000" cy="708143"/>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B61B9B41-A7B4-40B1-9889-68207F543FC0}"/>
                  </a:ext>
                </a:extLst>
              </p:cNvPr>
              <p:cNvSpPr txBox="1"/>
              <p:nvPr/>
            </p:nvSpPr>
            <p:spPr>
              <a:xfrm>
                <a:off x="1723291" y="5386641"/>
                <a:ext cx="4572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sz="2400" i="1" smtClean="0">
                              <a:effectLst/>
                              <a:latin typeface="Cambria Math" panose="02040503050406030204" pitchFamily="18" charset="0"/>
                            </a:rPr>
                          </m:ctrlPr>
                        </m:sSupPr>
                        <m:e>
                          <m:r>
                            <a:rPr lang="en-US" altLang="zh-CN" sz="2400" b="0" i="1" smtClean="0">
                              <a:effectLst/>
                              <a:latin typeface="Cambria Math" panose="02040503050406030204" pitchFamily="18" charset="0"/>
                            </a:rPr>
                            <m:t>𝑓</m:t>
                          </m:r>
                        </m:e>
                        <m:sup>
                          <m:r>
                            <a:rPr lang="en-US" altLang="zh-CN" sz="2400" b="0" i="1" smtClean="0">
                              <a:effectLst/>
                              <a:latin typeface="Cambria Math" panose="02040503050406030204" pitchFamily="18" charset="0"/>
                            </a:rPr>
                            <m:t>∗</m:t>
                          </m:r>
                        </m:sup>
                      </m:sSup>
                      <m:r>
                        <a:rPr lang="zh-CN" altLang="en-US" sz="2400" i="0">
                          <a:effectLst/>
                          <a:latin typeface="Cambria Math" panose="02040503050406030204" pitchFamily="18" charset="0"/>
                        </a:rPr>
                        <m:t>=</m:t>
                      </m:r>
                      <m:r>
                        <a:rPr lang="zh-CN" altLang="en-US" sz="2400" i="1">
                          <a:effectLst/>
                          <a:latin typeface="Cambria Math" panose="02040503050406030204" pitchFamily="18" charset="0"/>
                        </a:rPr>
                        <m:t>𝑓</m:t>
                      </m:r>
                      <m:r>
                        <a:rPr lang="zh-CN" altLang="en-US" sz="2400" i="0">
                          <a:effectLst/>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b="0" i="1" smtClean="0">
                              <a:latin typeface="Cambria Math" panose="02040503050406030204" pitchFamily="18" charset="0"/>
                            </a:rPr>
                            <m:t>𝑥</m:t>
                          </m:r>
                        </m:e>
                        <m:sup>
                          <m:r>
                            <a:rPr lang="en-US" altLang="zh-CN" sz="2400" i="1">
                              <a:latin typeface="Cambria Math" panose="02040503050406030204" pitchFamily="18" charset="0"/>
                            </a:rPr>
                            <m:t>∗</m:t>
                          </m:r>
                        </m:sup>
                      </m:sSup>
                      <m:r>
                        <a:rPr lang="zh-CN" altLang="en-US" sz="2400" i="0">
                          <a:effectLst/>
                          <a:latin typeface="Cambria Math" panose="02040503050406030204" pitchFamily="18" charset="0"/>
                        </a:rPr>
                        <m:t>)=2.1×</m:t>
                      </m:r>
                      <m:sSup>
                        <m:sSupPr>
                          <m:ctrlPr>
                            <a:rPr lang="zh-CN" altLang="en-US" sz="2400" i="1">
                              <a:effectLst/>
                              <a:latin typeface="Cambria Math" panose="02040503050406030204" pitchFamily="18" charset="0"/>
                            </a:rPr>
                          </m:ctrlPr>
                        </m:sSupPr>
                        <m:e>
                          <m:r>
                            <a:rPr lang="zh-CN" altLang="en-US" sz="2400" i="0">
                              <a:effectLst/>
                              <a:latin typeface="Cambria Math" panose="02040503050406030204" pitchFamily="18" charset="0"/>
                            </a:rPr>
                            <m:t>10</m:t>
                          </m:r>
                        </m:e>
                        <m:sup>
                          <m:r>
                            <a:rPr lang="zh-CN" altLang="en-US" sz="2400" i="0">
                              <a:effectLst/>
                              <a:latin typeface="Cambria Math" panose="02040503050406030204" pitchFamily="18" charset="0"/>
                            </a:rPr>
                            <m:t>−8</m:t>
                          </m:r>
                        </m:sup>
                      </m:sSup>
                    </m:oMath>
                  </m:oMathPara>
                </a14:m>
                <a:endParaRPr lang="zh-CN" altLang="en-US" sz="2400" dirty="0">
                  <a:effectLst/>
                  <a:latin typeface="宋体" panose="02010600030101010101" pitchFamily="2" charset="-122"/>
                  <a:ea typeface="宋体" panose="02010600030101010101" pitchFamily="2" charset="-122"/>
                </a:endParaRPr>
              </a:p>
            </p:txBody>
          </p:sp>
        </mc:Choice>
        <mc:Fallback xmlns="">
          <p:sp>
            <p:nvSpPr>
              <p:cNvPr id="19" name="文本框 18">
                <a:extLst>
                  <a:ext uri="{FF2B5EF4-FFF2-40B4-BE49-F238E27FC236}">
                    <a16:creationId xmlns:a16="http://schemas.microsoft.com/office/drawing/2014/main" id="{B61B9B41-A7B4-40B1-9889-68207F543FC0}"/>
                  </a:ext>
                </a:extLst>
              </p:cNvPr>
              <p:cNvSpPr txBox="1">
                <a:spLocks noRot="1" noChangeAspect="1" noMove="1" noResize="1" noEditPoints="1" noAdjustHandles="1" noChangeArrowheads="1" noChangeShapeType="1" noTextEdit="1"/>
              </p:cNvSpPr>
              <p:nvPr/>
            </p:nvSpPr>
            <p:spPr>
              <a:xfrm>
                <a:off x="1723291" y="5386641"/>
                <a:ext cx="4572000" cy="461665"/>
              </a:xfrm>
              <a:prstGeom prst="rect">
                <a:avLst/>
              </a:prstGeom>
              <a:blipFill>
                <a:blip r:embed="rId6"/>
                <a:stretch>
                  <a:fillRect b="-21333"/>
                </a:stretch>
              </a:blipFill>
            </p:spPr>
            <p:txBody>
              <a:bodyPr/>
              <a:lstStyle/>
              <a:p>
                <a:r>
                  <a:rPr lang="zh-CN" altLang="en-US">
                    <a:noFill/>
                  </a:rPr>
                  <a:t> </a:t>
                </a:r>
              </a:p>
            </p:txBody>
          </p:sp>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6" name="Text Box 4"/>
          <p:cNvSpPr txBox="1">
            <a:spLocks noChangeArrowheads="1"/>
          </p:cNvSpPr>
          <p:nvPr/>
        </p:nvSpPr>
        <p:spPr bwMode="auto">
          <a:xfrm>
            <a:off x="259725" y="1034641"/>
            <a:ext cx="461665" cy="2083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p>
            <a:pPr>
              <a:buFontTx/>
              <a:buNone/>
              <a:defRPr/>
            </a:pPr>
            <a:r>
              <a:rPr lang="en-US" altLang="zh-CN" b="1" dirty="0"/>
              <a:t>DFP</a:t>
            </a:r>
            <a:r>
              <a:rPr lang="zh-CN" altLang="en-US" b="1" dirty="0"/>
              <a:t>法的算法流程图</a:t>
            </a:r>
          </a:p>
        </p:txBody>
      </p:sp>
      <p:sp>
        <p:nvSpPr>
          <p:cNvPr id="43015" name="Rectangle 11"/>
          <p:cNvSpPr>
            <a:spLocks noChangeArrowheads="1"/>
          </p:cNvSpPr>
          <p:nvPr/>
        </p:nvSpPr>
        <p:spPr bwMode="auto">
          <a:xfrm>
            <a:off x="1421824" y="319168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zh-CN" altLang="en-US" sz="1800"/>
          </a:p>
        </p:txBody>
      </p:sp>
      <p:sp>
        <p:nvSpPr>
          <p:cNvPr id="43019" name="Rectangle 15"/>
          <p:cNvSpPr>
            <a:spLocks noChangeArrowheads="1"/>
          </p:cNvSpPr>
          <p:nvPr/>
        </p:nvSpPr>
        <p:spPr bwMode="auto">
          <a:xfrm>
            <a:off x="1421824" y="705658"/>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zh-CN" altLang="en-US" sz="1800"/>
          </a:p>
        </p:txBody>
      </p:sp>
      <p:sp>
        <p:nvSpPr>
          <p:cNvPr id="43021" name="Rectangle 17"/>
          <p:cNvSpPr>
            <a:spLocks noChangeArrowheads="1"/>
          </p:cNvSpPr>
          <p:nvPr/>
        </p:nvSpPr>
        <p:spPr bwMode="auto">
          <a:xfrm>
            <a:off x="1421824" y="319168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zh-CN" altLang="en-US" sz="1800"/>
          </a:p>
        </p:txBody>
      </p:sp>
      <p:sp>
        <p:nvSpPr>
          <p:cNvPr id="43027" name="Rectangle 24"/>
          <p:cNvSpPr>
            <a:spLocks noChangeArrowheads="1"/>
          </p:cNvSpPr>
          <p:nvPr/>
        </p:nvSpPr>
        <p:spPr bwMode="auto">
          <a:xfrm>
            <a:off x="1421824" y="317382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zh-CN" altLang="en-US" sz="1800"/>
          </a:p>
        </p:txBody>
      </p:sp>
      <p:grpSp>
        <p:nvGrpSpPr>
          <p:cNvPr id="2" name="组合 1">
            <a:extLst>
              <a:ext uri="{FF2B5EF4-FFF2-40B4-BE49-F238E27FC236}">
                <a16:creationId xmlns:a16="http://schemas.microsoft.com/office/drawing/2014/main" id="{E48B7DC3-54DE-1BC8-8EEC-FBE829A8A7E7}"/>
              </a:ext>
            </a:extLst>
          </p:cNvPr>
          <p:cNvGrpSpPr/>
          <p:nvPr/>
        </p:nvGrpSpPr>
        <p:grpSpPr>
          <a:xfrm>
            <a:off x="5996888" y="1258232"/>
            <a:ext cx="1133475" cy="457200"/>
            <a:chOff x="8086090" y="4395490"/>
            <a:chExt cx="1511300" cy="609600"/>
          </a:xfrm>
        </p:grpSpPr>
        <p:sp>
          <p:nvSpPr>
            <p:cNvPr id="43023" name="AutoShape 19"/>
            <p:cNvSpPr>
              <a:spLocks noChangeArrowheads="1"/>
            </p:cNvSpPr>
            <p:nvPr/>
          </p:nvSpPr>
          <p:spPr bwMode="auto">
            <a:xfrm>
              <a:off x="8086090" y="4395490"/>
              <a:ext cx="1511300" cy="609600"/>
            </a:xfrm>
            <a:prstGeom prst="flowChartDecision">
              <a:avLst/>
            </a:prstGeom>
            <a:solidFill>
              <a:srgbClr val="CCFFCC"/>
            </a:solidFill>
            <a:ln w="28575">
              <a:solidFill>
                <a:srgbClr val="00FF00"/>
              </a:solidFill>
              <a:miter lim="800000"/>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zh-CN" altLang="en-US" sz="1800"/>
            </a:p>
          </p:txBody>
        </p:sp>
        <mc:AlternateContent xmlns:mc="http://schemas.openxmlformats.org/markup-compatibility/2006" xmlns:a14="http://schemas.microsoft.com/office/drawing/2010/main">
          <mc:Choice Requires="a14">
            <p:sp>
              <p:nvSpPr>
                <p:cNvPr id="43028" name="Text Box 25"/>
                <p:cNvSpPr txBox="1">
                  <a:spLocks noChangeArrowheads="1"/>
                </p:cNvSpPr>
                <p:nvPr/>
              </p:nvSpPr>
              <p:spPr bwMode="auto">
                <a:xfrm>
                  <a:off x="8337993" y="4478309"/>
                  <a:ext cx="1204091" cy="430887"/>
                </a:xfrm>
                <a:prstGeom prst="rect">
                  <a:avLst/>
                </a:prstGeom>
                <a:noFill/>
                <a:ln>
                  <a:noFill/>
                </a:ln>
                <a:extLst>
                  <a:ext uri="{909E8E84-426E-40DD-AFC4-6F175D3DCCD1}">
                    <a14:hiddenFill>
                      <a:solidFill>
                        <a:srgbClr val="FFFFFF"/>
                      </a:solidFill>
                    </a14:hiddenFill>
                  </a:ext>
                  <a:ext uri="{91240B29-F687-4F45-9708-019B960494DF}">
                    <a14:hiddenLine w="2857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14:m>
                    <m:oMathPara xmlns:m="http://schemas.openxmlformats.org/officeDocument/2006/math">
                      <m:oMathParaPr>
                        <m:jc m:val="centerGroup"/>
                      </m:oMathParaPr>
                      <m:oMath xmlns:m="http://schemas.openxmlformats.org/officeDocument/2006/math">
                        <m:r>
                          <a:rPr lang="en-US" altLang="zh-CN" sz="1500" i="1" kern="100">
                            <a:latin typeface="Cambria Math" panose="02040503050406030204" pitchFamily="18" charset="0"/>
                          </a:rPr>
                          <m:t>𝑘</m:t>
                        </m:r>
                        <m:r>
                          <a:rPr lang="en-US" altLang="zh-CN" sz="1500" i="1" kern="100">
                            <a:latin typeface="Cambria Math" panose="02040503050406030204" pitchFamily="18" charset="0"/>
                          </a:rPr>
                          <m:t>&lt;</m:t>
                        </m:r>
                        <m:r>
                          <a:rPr lang="en-US" altLang="zh-CN" sz="1500" i="1" kern="100">
                            <a:latin typeface="Cambria Math" panose="02040503050406030204" pitchFamily="18" charset="0"/>
                          </a:rPr>
                          <m:t>𝑛</m:t>
                        </m:r>
                        <m:r>
                          <a:rPr lang="en-US" altLang="zh-CN" sz="1500">
                            <a:solidFill>
                              <a:srgbClr val="000000"/>
                            </a:solidFill>
                            <a:latin typeface="Cambria Math" panose="02040503050406030204" pitchFamily="18" charset="0"/>
                            <a:cs typeface="Cambria Math" panose="02040503050406030204" pitchFamily="18" charset="0"/>
                          </a:rPr>
                          <m:t>？</m:t>
                        </m:r>
                      </m:oMath>
                    </m:oMathPara>
                  </a14:m>
                  <a:endParaRPr lang="zh-CN" altLang="en-US" sz="1500" dirty="0">
                    <a:solidFill>
                      <a:srgbClr val="000000"/>
                    </a:solidFill>
                  </a:endParaRPr>
                </a:p>
              </p:txBody>
            </p:sp>
          </mc:Choice>
          <mc:Fallback xmlns="">
            <p:sp>
              <p:nvSpPr>
                <p:cNvPr id="43028" name="Text Box 25"/>
                <p:cNvSpPr txBox="1">
                  <a:spLocks noRot="1" noChangeAspect="1" noMove="1" noResize="1" noEditPoints="1" noAdjustHandles="1" noChangeArrowheads="1" noChangeShapeType="1" noTextEdit="1"/>
                </p:cNvSpPr>
                <p:nvPr/>
              </p:nvSpPr>
              <p:spPr bwMode="auto">
                <a:xfrm>
                  <a:off x="8337993" y="4478309"/>
                  <a:ext cx="1204091" cy="430887"/>
                </a:xfrm>
                <a:prstGeom prst="rect">
                  <a:avLst/>
                </a:prstGeom>
                <a:blipFill>
                  <a:blip r:embed="rId2"/>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p>
                  <a:r>
                    <a:rPr lang="zh-CN" altLang="en-US">
                      <a:noFill/>
                    </a:rPr>
                    <a:t> </a:t>
                  </a:r>
                </a:p>
              </p:txBody>
            </p:sp>
          </mc:Fallback>
        </mc:AlternateContent>
      </p:grpSp>
      <p:sp>
        <p:nvSpPr>
          <p:cNvPr id="43029" name="Rectangle 27"/>
          <p:cNvSpPr>
            <a:spLocks noChangeArrowheads="1"/>
          </p:cNvSpPr>
          <p:nvPr/>
        </p:nvSpPr>
        <p:spPr bwMode="auto">
          <a:xfrm>
            <a:off x="4784404" y="1621510"/>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sz="1800"/>
          </a:p>
        </p:txBody>
      </p:sp>
      <p:sp>
        <p:nvSpPr>
          <p:cNvPr id="43031" name="Rectangle 29"/>
          <p:cNvSpPr>
            <a:spLocks noChangeArrowheads="1"/>
          </p:cNvSpPr>
          <p:nvPr/>
        </p:nvSpPr>
        <p:spPr bwMode="auto">
          <a:xfrm>
            <a:off x="1421824" y="66398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zh-CN" altLang="en-US" sz="1800"/>
          </a:p>
        </p:txBody>
      </p:sp>
      <p:sp>
        <p:nvSpPr>
          <p:cNvPr id="43036" name="Rectangle 34"/>
          <p:cNvSpPr>
            <a:spLocks noChangeArrowheads="1"/>
          </p:cNvSpPr>
          <p:nvPr/>
        </p:nvSpPr>
        <p:spPr bwMode="auto">
          <a:xfrm>
            <a:off x="1421824" y="310595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zh-CN" altLang="en-US" sz="1800"/>
          </a:p>
        </p:txBody>
      </p:sp>
      <p:sp>
        <p:nvSpPr>
          <p:cNvPr id="43040" name="Line 40"/>
          <p:cNvSpPr>
            <a:spLocks noChangeShapeType="1"/>
          </p:cNvSpPr>
          <p:nvPr/>
        </p:nvSpPr>
        <p:spPr bwMode="auto">
          <a:xfrm>
            <a:off x="3289886" y="3627854"/>
            <a:ext cx="0" cy="279797"/>
          </a:xfrm>
          <a:prstGeom prst="line">
            <a:avLst/>
          </a:prstGeom>
          <a:noFill/>
          <a:ln w="28575">
            <a:solidFill>
              <a:srgbClr val="00FF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3041" name="Line 41"/>
          <p:cNvSpPr>
            <a:spLocks noChangeShapeType="1"/>
          </p:cNvSpPr>
          <p:nvPr/>
        </p:nvSpPr>
        <p:spPr bwMode="auto">
          <a:xfrm>
            <a:off x="3300552" y="4905373"/>
            <a:ext cx="2" cy="307633"/>
          </a:xfrm>
          <a:prstGeom prst="line">
            <a:avLst/>
          </a:prstGeom>
          <a:noFill/>
          <a:ln w="28575">
            <a:solidFill>
              <a:srgbClr val="00FF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3045" name="Line 46"/>
          <p:cNvSpPr>
            <a:spLocks noChangeShapeType="1"/>
          </p:cNvSpPr>
          <p:nvPr/>
        </p:nvSpPr>
        <p:spPr bwMode="auto">
          <a:xfrm>
            <a:off x="4072299" y="5459027"/>
            <a:ext cx="2525666" cy="1598"/>
          </a:xfrm>
          <a:prstGeom prst="line">
            <a:avLst/>
          </a:prstGeom>
          <a:noFill/>
          <a:ln w="28575">
            <a:solidFill>
              <a:srgbClr val="00FF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46" name="Line 47"/>
          <p:cNvSpPr>
            <a:spLocks noChangeShapeType="1"/>
          </p:cNvSpPr>
          <p:nvPr/>
        </p:nvSpPr>
        <p:spPr bwMode="auto">
          <a:xfrm flipH="1" flipV="1">
            <a:off x="6586227" y="5219836"/>
            <a:ext cx="11737" cy="237594"/>
          </a:xfrm>
          <a:prstGeom prst="line">
            <a:avLst/>
          </a:prstGeom>
          <a:noFill/>
          <a:ln w="28575">
            <a:solidFill>
              <a:srgbClr val="00FF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3047" name="Line 48"/>
          <p:cNvSpPr>
            <a:spLocks noChangeShapeType="1"/>
          </p:cNvSpPr>
          <p:nvPr/>
        </p:nvSpPr>
        <p:spPr bwMode="auto">
          <a:xfrm flipV="1">
            <a:off x="6563625" y="1715433"/>
            <a:ext cx="0" cy="304352"/>
          </a:xfrm>
          <a:prstGeom prst="line">
            <a:avLst/>
          </a:prstGeom>
          <a:noFill/>
          <a:ln w="28575">
            <a:solidFill>
              <a:srgbClr val="00FF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3048" name="Line 49"/>
          <p:cNvSpPr>
            <a:spLocks noChangeShapeType="1"/>
          </p:cNvSpPr>
          <p:nvPr/>
        </p:nvSpPr>
        <p:spPr bwMode="auto">
          <a:xfrm flipV="1">
            <a:off x="6568312" y="2334462"/>
            <a:ext cx="0" cy="216694"/>
          </a:xfrm>
          <a:prstGeom prst="line">
            <a:avLst/>
          </a:prstGeom>
          <a:noFill/>
          <a:ln w="28575">
            <a:solidFill>
              <a:srgbClr val="00FF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3058" name="Line 59"/>
          <p:cNvSpPr>
            <a:spLocks noChangeShapeType="1"/>
          </p:cNvSpPr>
          <p:nvPr/>
        </p:nvSpPr>
        <p:spPr bwMode="auto">
          <a:xfrm>
            <a:off x="4946044" y="1462167"/>
            <a:ext cx="1031469" cy="25606"/>
          </a:xfrm>
          <a:prstGeom prst="line">
            <a:avLst/>
          </a:prstGeom>
          <a:noFill/>
          <a:ln w="28575">
            <a:solidFill>
              <a:srgbClr val="00FF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59" name="Line 60"/>
          <p:cNvSpPr>
            <a:spLocks noChangeShapeType="1"/>
          </p:cNvSpPr>
          <p:nvPr/>
        </p:nvSpPr>
        <p:spPr bwMode="auto">
          <a:xfrm>
            <a:off x="4987037" y="1483803"/>
            <a:ext cx="20833" cy="2729971"/>
          </a:xfrm>
          <a:prstGeom prst="line">
            <a:avLst/>
          </a:prstGeom>
          <a:noFill/>
          <a:ln w="28575">
            <a:solidFill>
              <a:srgbClr val="00FF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43060" name="Line 61"/>
          <p:cNvSpPr>
            <a:spLocks noChangeShapeType="1"/>
          </p:cNvSpPr>
          <p:nvPr/>
        </p:nvSpPr>
        <p:spPr bwMode="auto">
          <a:xfrm flipH="1">
            <a:off x="4437468" y="4225410"/>
            <a:ext cx="554192" cy="1"/>
          </a:xfrm>
          <a:prstGeom prst="line">
            <a:avLst/>
          </a:prstGeom>
          <a:noFill/>
          <a:ln w="28575">
            <a:solidFill>
              <a:srgbClr val="00FF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3064" name="Text Box 65"/>
          <p:cNvSpPr txBox="1">
            <a:spLocks noChangeArrowheads="1"/>
          </p:cNvSpPr>
          <p:nvPr/>
        </p:nvSpPr>
        <p:spPr bwMode="auto">
          <a:xfrm rot="10800000" flipV="1">
            <a:off x="5671065" y="1200685"/>
            <a:ext cx="2381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dirty="0"/>
              <a:t>Y</a:t>
            </a:r>
          </a:p>
        </p:txBody>
      </p:sp>
      <p:sp>
        <p:nvSpPr>
          <p:cNvPr id="43065" name="Text Box 66"/>
          <p:cNvSpPr txBox="1">
            <a:spLocks noChangeArrowheads="1"/>
          </p:cNvSpPr>
          <p:nvPr/>
        </p:nvSpPr>
        <p:spPr bwMode="auto">
          <a:xfrm>
            <a:off x="6556236" y="1000150"/>
            <a:ext cx="30970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350" dirty="0"/>
              <a:t>N</a:t>
            </a:r>
          </a:p>
        </p:txBody>
      </p:sp>
      <p:grpSp>
        <p:nvGrpSpPr>
          <p:cNvPr id="8" name="组合 7">
            <a:extLst>
              <a:ext uri="{FF2B5EF4-FFF2-40B4-BE49-F238E27FC236}">
                <a16:creationId xmlns:a16="http://schemas.microsoft.com/office/drawing/2014/main" id="{7B3DDD36-996C-D064-BB8B-733AD697AA70}"/>
              </a:ext>
            </a:extLst>
          </p:cNvPr>
          <p:cNvGrpSpPr/>
          <p:nvPr/>
        </p:nvGrpSpPr>
        <p:grpSpPr>
          <a:xfrm>
            <a:off x="2151123" y="3846230"/>
            <a:ext cx="2298859" cy="1777708"/>
            <a:chOff x="2599055" y="3573463"/>
            <a:chExt cx="3065145" cy="2370277"/>
          </a:xfrm>
        </p:grpSpPr>
        <p:sp>
          <p:nvSpPr>
            <p:cNvPr id="43013" name="AutoShape 8"/>
            <p:cNvSpPr>
              <a:spLocks noChangeArrowheads="1"/>
            </p:cNvSpPr>
            <p:nvPr/>
          </p:nvSpPr>
          <p:spPr bwMode="auto">
            <a:xfrm>
              <a:off x="2711450" y="3573463"/>
              <a:ext cx="2952750" cy="1439862"/>
            </a:xfrm>
            <a:prstGeom prst="flowChartProcess">
              <a:avLst/>
            </a:prstGeom>
            <a:solidFill>
              <a:srgbClr val="CCFFCC"/>
            </a:solidFill>
            <a:ln w="28575">
              <a:solidFill>
                <a:srgbClr val="00FF00"/>
              </a:solidFill>
              <a:miter lim="800000"/>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endParaRPr lang="zh-CN" altLang="zh-CN" sz="1800"/>
            </a:p>
          </p:txBody>
        </p:sp>
        <mc:AlternateContent xmlns:mc="http://schemas.openxmlformats.org/markup-compatibility/2006" xmlns:a14="http://schemas.microsoft.com/office/drawing/2010/main">
          <mc:Choice Requires="a14">
            <p:sp>
              <p:nvSpPr>
                <p:cNvPr id="12" name="文本框 11"/>
                <p:cNvSpPr txBox="1"/>
                <p:nvPr/>
              </p:nvSpPr>
              <p:spPr>
                <a:xfrm>
                  <a:off x="2599055" y="3624728"/>
                  <a:ext cx="3065145" cy="2319012"/>
                </a:xfrm>
                <a:prstGeom prst="rect">
                  <a:avLst/>
                </a:prstGeom>
                <a:noFill/>
              </p:spPr>
              <p:txBody>
                <a:bodyPr wrap="square" rtlCol="0">
                  <a:spAutoFit/>
                </a:bodyPr>
                <a:lstStyle/>
                <a:p>
                  <a:pPr latinLnBrk="0">
                    <a:lnSpc>
                      <a:spcPct val="150000"/>
                    </a:lnSpc>
                  </a:pPr>
                  <a14:m>
                    <m:oMathPara xmlns:m="http://schemas.openxmlformats.org/officeDocument/2006/math">
                      <m:oMathParaPr>
                        <m:jc m:val="centerGroup"/>
                      </m:oMathParaPr>
                      <m:oMath xmlns:m="http://schemas.openxmlformats.org/officeDocument/2006/math">
                        <m:sSup>
                          <m:sSupPr>
                            <m:ctrlPr>
                              <a:rPr lang="zh-CN" altLang="en-US" b="1" i="1">
                                <a:latin typeface="Cambria Math" panose="02040503050406030204" pitchFamily="18" charset="0"/>
                              </a:rPr>
                            </m:ctrlPr>
                          </m:sSupPr>
                          <m:e>
                            <m:r>
                              <a:rPr lang="zh-CN" altLang="en-US" b="1" i="1">
                                <a:latin typeface="Cambria Math" panose="02040503050406030204" pitchFamily="18" charset="0"/>
                              </a:rPr>
                              <m:t>𝒅</m:t>
                            </m:r>
                          </m:e>
                          <m:sup>
                            <m:d>
                              <m:dPr>
                                <m:ctrlPr>
                                  <a:rPr lang="zh-CN" altLang="en-US" b="1" i="1">
                                    <a:latin typeface="Cambria Math" panose="02040503050406030204" pitchFamily="18" charset="0"/>
                                  </a:rPr>
                                </m:ctrlPr>
                              </m:dPr>
                              <m:e>
                                <m:r>
                                  <a:rPr lang="zh-CN" altLang="en-US" b="1" i="1">
                                    <a:latin typeface="Cambria Math" panose="02040503050406030204" pitchFamily="18" charset="0"/>
                                  </a:rPr>
                                  <m:t>𝒌</m:t>
                                </m:r>
                              </m:e>
                            </m:d>
                          </m:sup>
                        </m:sSup>
                        <m:r>
                          <a:rPr lang="zh-CN" altLang="en-US" b="1">
                            <a:latin typeface="Cambria Math" panose="02040503050406030204" pitchFamily="18" charset="0"/>
                          </a:rPr>
                          <m:t>=−</m:t>
                        </m:r>
                        <m:sSub>
                          <m:sSubPr>
                            <m:ctrlPr>
                              <a:rPr lang="zh-CN" altLang="en-US" b="1" i="1">
                                <a:latin typeface="Cambria Math" panose="02040503050406030204" pitchFamily="18" charset="0"/>
                              </a:rPr>
                            </m:ctrlPr>
                          </m:sSubPr>
                          <m:e>
                            <m:r>
                              <a:rPr lang="zh-CN" altLang="en-US" b="1" i="1">
                                <a:latin typeface="Cambria Math" panose="02040503050406030204" pitchFamily="18" charset="0"/>
                              </a:rPr>
                              <m:t>𝑨</m:t>
                            </m:r>
                          </m:e>
                          <m:sub>
                            <m:r>
                              <a:rPr lang="zh-CN" altLang="en-US" b="1" i="1">
                                <a:latin typeface="Cambria Math" panose="02040503050406030204" pitchFamily="18" charset="0"/>
                              </a:rPr>
                              <m:t>𝒌</m:t>
                            </m:r>
                          </m:sub>
                        </m:sSub>
                        <m:sSub>
                          <m:sSubPr>
                            <m:ctrlPr>
                              <a:rPr lang="zh-CN" altLang="en-US" b="1" i="1">
                                <a:latin typeface="Cambria Math" panose="02040503050406030204" pitchFamily="18" charset="0"/>
                              </a:rPr>
                            </m:ctrlPr>
                          </m:sSubPr>
                          <m:e>
                            <m:r>
                              <a:rPr lang="zh-CN" altLang="en-US" b="1" i="1">
                                <a:latin typeface="Cambria Math" panose="02040503050406030204" pitchFamily="18" charset="0"/>
                              </a:rPr>
                              <m:t>𝒈</m:t>
                            </m:r>
                          </m:e>
                          <m:sub>
                            <m:r>
                              <a:rPr lang="zh-CN" altLang="en-US" b="1" i="1">
                                <a:latin typeface="Cambria Math" panose="02040503050406030204" pitchFamily="18" charset="0"/>
                              </a:rPr>
                              <m:t>𝒌</m:t>
                            </m:r>
                          </m:sub>
                        </m:sSub>
                      </m:oMath>
                    </m:oMathPara>
                  </a14:m>
                  <a:endParaRPr lang="en-US" altLang="zh-CN" b="1" i="1" dirty="0">
                    <a:latin typeface="Cambria Math" panose="02040503050406030204" pitchFamily="18" charset="0"/>
                    <a:cs typeface="Cambria Math" panose="02040503050406030204" pitchFamily="18" charset="0"/>
                  </a:endParaRPr>
                </a:p>
                <a:p>
                  <a:pPr algn="ctr">
                    <a:lnSpc>
                      <a:spcPct val="150000"/>
                    </a:lnSpc>
                    <a:buFontTx/>
                    <a:buNone/>
                    <a:defRPr/>
                  </a:pPr>
                  <a:r>
                    <a:rPr lang="zh-CN" altLang="en-US" b="1" dirty="0">
                      <a:solidFill>
                        <a:srgbClr val="000000"/>
                      </a:solidFill>
                      <a:latin typeface="Times New Roman" panose="02020603050405020304" pitchFamily="18" charset="0"/>
                    </a:rPr>
                    <a:t>求</a:t>
                  </a:r>
                  <a:r>
                    <a:rPr lang="zh-CN" altLang="en-US" b="1" dirty="0">
                      <a:solidFill>
                        <a:srgbClr val="FF0000"/>
                      </a:solidFill>
                      <a:latin typeface="Times New Roman" panose="02020603050405020304" pitchFamily="18" charset="0"/>
                    </a:rPr>
                    <a:t>最优步长</a:t>
                  </a:r>
                  <a:r>
                    <a:rPr lang="zh-CN" altLang="en-US" b="1" i="1" dirty="0">
                      <a:solidFill>
                        <a:srgbClr val="000000"/>
                      </a:solidFill>
                      <a:latin typeface="Times New Roman" panose="02020603050405020304" pitchFamily="18" charset="0"/>
                      <a:sym typeface="Symbol" panose="05050102010706020507" pitchFamily="18" charset="2"/>
                    </a:rPr>
                    <a:t></a:t>
                  </a:r>
                  <a:r>
                    <a:rPr lang="en-US" altLang="zh-CN" b="1" i="1" baseline="30000" dirty="0">
                      <a:solidFill>
                        <a:srgbClr val="000000"/>
                      </a:solidFill>
                      <a:latin typeface="Times New Roman" panose="02020603050405020304" pitchFamily="18" charset="0"/>
                    </a:rPr>
                    <a:t>(</a:t>
                  </a:r>
                  <a:r>
                    <a:rPr lang="en-US" altLang="en-US" b="1" i="1" baseline="30000" dirty="0">
                      <a:solidFill>
                        <a:srgbClr val="000000"/>
                      </a:solidFill>
                      <a:latin typeface="Times New Roman" panose="02020603050405020304" pitchFamily="18" charset="0"/>
                    </a:rPr>
                    <a:t>k</a:t>
                  </a:r>
                  <a:r>
                    <a:rPr lang="en-US" altLang="zh-CN" b="1" i="1" baseline="30000" dirty="0">
                      <a:solidFill>
                        <a:srgbClr val="000000"/>
                      </a:solidFill>
                      <a:latin typeface="Times New Roman" panose="02020603050405020304" pitchFamily="18" charset="0"/>
                    </a:rPr>
                    <a:t>)</a:t>
                  </a:r>
                  <a:r>
                    <a:rPr lang="zh-CN" altLang="en-US" b="1" dirty="0">
                      <a:solidFill>
                        <a:srgbClr val="000000"/>
                      </a:solidFill>
                      <a:latin typeface="Times New Roman" panose="02020603050405020304" pitchFamily="18" charset="0"/>
                    </a:rPr>
                    <a:t>。</a:t>
                  </a:r>
                </a:p>
                <a:p>
                  <a:pPr algn="ctr">
                    <a:lnSpc>
                      <a:spcPct val="150000"/>
                    </a:lnSpc>
                    <a:buFontTx/>
                    <a:buNone/>
                    <a:defRPr/>
                  </a:pPr>
                  <a:r>
                    <a:rPr lang="en-US" altLang="en-US" b="1" i="1" dirty="0">
                      <a:solidFill>
                        <a:srgbClr val="000000"/>
                      </a:solidFill>
                      <a:latin typeface="Times New Roman" panose="02020603050405020304" pitchFamily="18" charset="0"/>
                    </a:rPr>
                    <a:t>x</a:t>
                  </a:r>
                  <a:r>
                    <a:rPr lang="en-US" altLang="en-US" b="1" i="1" baseline="30000" dirty="0">
                      <a:solidFill>
                        <a:srgbClr val="000000"/>
                      </a:solidFill>
                      <a:latin typeface="Times New Roman" panose="02020603050405020304" pitchFamily="18" charset="0"/>
                    </a:rPr>
                    <a:t>(k+1)</a:t>
                  </a:r>
                  <a:r>
                    <a:rPr lang="en-US" altLang="en-US" b="1" i="1" dirty="0">
                      <a:solidFill>
                        <a:srgbClr val="000000"/>
                      </a:solidFill>
                      <a:latin typeface="Times New Roman" panose="02020603050405020304" pitchFamily="18" charset="0"/>
                    </a:rPr>
                    <a:t>=</a:t>
                  </a:r>
                  <a:r>
                    <a:rPr lang="en-US" altLang="en-US" b="1" i="1" baseline="30000" dirty="0">
                      <a:solidFill>
                        <a:srgbClr val="000000"/>
                      </a:solidFill>
                      <a:latin typeface="Times New Roman" panose="02020603050405020304" pitchFamily="18" charset="0"/>
                    </a:rPr>
                    <a:t> </a:t>
                  </a:r>
                  <a:r>
                    <a:rPr lang="en-US" altLang="en-US" b="1" i="1" dirty="0">
                      <a:solidFill>
                        <a:srgbClr val="000000"/>
                      </a:solidFill>
                      <a:latin typeface="Times New Roman" panose="02020603050405020304" pitchFamily="18" charset="0"/>
                    </a:rPr>
                    <a:t>x</a:t>
                  </a:r>
                  <a:r>
                    <a:rPr lang="en-US" altLang="en-US" b="1" i="1" baseline="30000" dirty="0">
                      <a:solidFill>
                        <a:srgbClr val="000000"/>
                      </a:solidFill>
                      <a:latin typeface="Times New Roman" panose="02020603050405020304" pitchFamily="18" charset="0"/>
                    </a:rPr>
                    <a:t>(k)</a:t>
                  </a:r>
                  <a:r>
                    <a:rPr lang="en-US" altLang="zh-CN" b="1" i="1" baseline="30000" dirty="0">
                      <a:solidFill>
                        <a:srgbClr val="000000"/>
                      </a:solidFill>
                      <a:latin typeface="Times New Roman" panose="02020603050405020304" pitchFamily="18" charset="0"/>
                    </a:rPr>
                    <a:t>+</a:t>
                  </a:r>
                  <a:r>
                    <a:rPr lang="en-US" altLang="en-US" b="1" i="1" dirty="0">
                      <a:solidFill>
                        <a:srgbClr val="000000"/>
                      </a:solidFill>
                      <a:latin typeface="Times New Roman" panose="02020603050405020304" pitchFamily="18" charset="0"/>
                    </a:rPr>
                    <a:t> </a:t>
                  </a:r>
                  <a:r>
                    <a:rPr lang="en-US" altLang="zh-CN" b="1" i="1" dirty="0">
                      <a:solidFill>
                        <a:srgbClr val="000000"/>
                      </a:solidFill>
                      <a:latin typeface="Times New Roman" panose="02020603050405020304" pitchFamily="18" charset="0"/>
                      <a:sym typeface="Symbol" panose="05050102010706020507" pitchFamily="18" charset="2"/>
                    </a:rPr>
                    <a:t></a:t>
                  </a:r>
                  <a:r>
                    <a:rPr lang="en-US" altLang="zh-CN" b="1" i="1" baseline="30000" dirty="0">
                      <a:solidFill>
                        <a:srgbClr val="000000"/>
                      </a:solidFill>
                      <a:latin typeface="Times New Roman" panose="02020603050405020304" pitchFamily="18" charset="0"/>
                    </a:rPr>
                    <a:t>(</a:t>
                  </a:r>
                  <a:r>
                    <a:rPr lang="en-US" altLang="en-US" b="1" i="1" baseline="30000" dirty="0">
                      <a:solidFill>
                        <a:srgbClr val="000000"/>
                      </a:solidFill>
                      <a:latin typeface="Times New Roman" panose="02020603050405020304" pitchFamily="18" charset="0"/>
                    </a:rPr>
                    <a:t>k</a:t>
                  </a:r>
                  <a:r>
                    <a:rPr lang="en-US" altLang="zh-CN" b="1" i="1" baseline="30000" dirty="0">
                      <a:solidFill>
                        <a:srgbClr val="000000"/>
                      </a:solidFill>
                      <a:latin typeface="Times New Roman" panose="02020603050405020304" pitchFamily="18" charset="0"/>
                    </a:rPr>
                    <a:t>)</a:t>
                  </a:r>
                  <a:r>
                    <a:rPr lang="en-US" altLang="zh-CN" dirty="0">
                      <a:effectLst>
                        <a:outerShdw blurRad="38100" dist="38100" dir="2700000" algn="tl">
                          <a:srgbClr val="000000"/>
                        </a:outerShdw>
                      </a:effectLst>
                    </a:rPr>
                    <a:t> </a:t>
                  </a:r>
                  <a:r>
                    <a:rPr lang="en-US" altLang="en-US" b="1" i="1" dirty="0">
                      <a:solidFill>
                        <a:srgbClr val="000000"/>
                      </a:solidFill>
                      <a:latin typeface="Times New Roman" panose="02020603050405020304" pitchFamily="18" charset="0"/>
                    </a:rPr>
                    <a:t>d</a:t>
                  </a:r>
                  <a:r>
                    <a:rPr lang="en-US" altLang="zh-CN" b="1" i="1" baseline="30000" dirty="0">
                      <a:solidFill>
                        <a:srgbClr val="000000"/>
                      </a:solidFill>
                      <a:latin typeface="Times New Roman" panose="02020603050405020304" pitchFamily="18" charset="0"/>
                    </a:rPr>
                    <a:t>(k)</a:t>
                  </a:r>
                  <a:endParaRPr lang="en-US" altLang="zh-CN" b="1" i="1" dirty="0">
                    <a:solidFill>
                      <a:srgbClr val="000000"/>
                    </a:solidFill>
                    <a:latin typeface="Times New Roman" panose="02020603050405020304" pitchFamily="18" charset="0"/>
                  </a:endParaRPr>
                </a:p>
                <a:p>
                  <a:pPr latinLnBrk="0">
                    <a:lnSpc>
                      <a:spcPct val="150000"/>
                    </a:lnSpc>
                  </a:pPr>
                  <a:endParaRPr lang="zh-CN" altLang="en-US" dirty="0"/>
                </a:p>
              </p:txBody>
            </p:sp>
          </mc:Choice>
          <mc:Fallback xmlns="">
            <p:sp>
              <p:nvSpPr>
                <p:cNvPr id="12" name="文本框 11"/>
                <p:cNvSpPr txBox="1">
                  <a:spLocks noRot="1" noChangeAspect="1" noMove="1" noResize="1" noEditPoints="1" noAdjustHandles="1" noChangeArrowheads="1" noChangeShapeType="1" noTextEdit="1"/>
                </p:cNvSpPr>
                <p:nvPr/>
              </p:nvSpPr>
              <p:spPr>
                <a:xfrm>
                  <a:off x="2599055" y="3624728"/>
                  <a:ext cx="3065145" cy="2319012"/>
                </a:xfrm>
                <a:prstGeom prst="rect">
                  <a:avLst/>
                </a:prstGeom>
                <a:blipFill>
                  <a:blip r:embed="rId3"/>
                  <a:stretch>
                    <a:fillRect/>
                  </a:stretch>
                </a:blipFill>
              </p:spPr>
              <p:txBody>
                <a:bodyPr/>
                <a:lstStyle/>
                <a:p>
                  <a:r>
                    <a:rPr lang="zh-CN" altLang="en-US">
                      <a:noFill/>
                    </a:rPr>
                    <a:t> </a:t>
                  </a:r>
                </a:p>
              </p:txBody>
            </p:sp>
          </mc:Fallback>
        </mc:AlternateContent>
      </p:grpSp>
      <p:grpSp>
        <p:nvGrpSpPr>
          <p:cNvPr id="30" name="组合 29">
            <a:extLst>
              <a:ext uri="{FF2B5EF4-FFF2-40B4-BE49-F238E27FC236}">
                <a16:creationId xmlns:a16="http://schemas.microsoft.com/office/drawing/2014/main" id="{F746B313-1FAF-0277-EF4F-506753611D1E}"/>
              </a:ext>
            </a:extLst>
          </p:cNvPr>
          <p:cNvGrpSpPr/>
          <p:nvPr/>
        </p:nvGrpSpPr>
        <p:grpSpPr>
          <a:xfrm>
            <a:off x="2273141" y="5192896"/>
            <a:ext cx="2298859" cy="740868"/>
            <a:chOff x="3368074" y="5765272"/>
            <a:chExt cx="2801390" cy="987824"/>
          </a:xfrm>
        </p:grpSpPr>
        <p:sp>
          <p:nvSpPr>
            <p:cNvPr id="43014" name="AutoShape 9"/>
            <p:cNvSpPr>
              <a:spLocks noChangeArrowheads="1"/>
            </p:cNvSpPr>
            <p:nvPr/>
          </p:nvSpPr>
          <p:spPr bwMode="auto">
            <a:xfrm>
              <a:off x="3368074" y="5765272"/>
              <a:ext cx="2160588" cy="609600"/>
            </a:xfrm>
            <a:prstGeom prst="flowChartProcess">
              <a:avLst/>
            </a:prstGeom>
            <a:solidFill>
              <a:srgbClr val="CCFFCC"/>
            </a:solidFill>
            <a:ln w="28575">
              <a:solidFill>
                <a:srgbClr val="00FF00"/>
              </a:solidFill>
              <a:miter lim="800000"/>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zh-CN" altLang="en-US" sz="1800"/>
            </a:p>
          </p:txBody>
        </p:sp>
        <mc:AlternateContent xmlns:mc="http://schemas.openxmlformats.org/markup-compatibility/2006" xmlns:a14="http://schemas.microsoft.com/office/drawing/2010/main">
          <mc:Choice Requires="a14">
            <p:sp>
              <p:nvSpPr>
                <p:cNvPr id="14" name="文本框 13"/>
                <p:cNvSpPr txBox="1"/>
                <p:nvPr/>
              </p:nvSpPr>
              <p:spPr>
                <a:xfrm>
                  <a:off x="3505630" y="5845327"/>
                  <a:ext cx="2663834" cy="90776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𝑔</m:t>
                                </m:r>
                              </m:e>
                              <m:sub>
                                <m:r>
                                  <a:rPr lang="en-US" altLang="zh-CN" i="1">
                                    <a:latin typeface="Cambria Math" panose="02040503050406030204" pitchFamily="18" charset="0"/>
                                  </a:rPr>
                                  <m:t>𝑘</m:t>
                                </m:r>
                                <m:r>
                                  <a:rPr lang="en-US" altLang="zh-CN" i="1">
                                    <a:latin typeface="Cambria Math" panose="02040503050406030204" pitchFamily="18" charset="0"/>
                                  </a:rPr>
                                  <m:t>+1</m:t>
                                </m:r>
                              </m:sub>
                            </m:sSub>
                            <m:r>
                              <a:rPr lang="en-US" altLang="zh-CN">
                                <a:latin typeface="Cambria Math" panose="02040503050406030204" pitchFamily="18" charset="0"/>
                              </a:rPr>
                              <m:t>=</m:t>
                            </m:r>
                            <m:r>
                              <m:rPr>
                                <m:sty m:val="p"/>
                              </m:rPr>
                              <a:rPr lang="zh-CN" altLang="en-US">
                                <a:latin typeface="Cambria Math" panose="02040503050406030204" pitchFamily="18" charset="0"/>
                              </a:rPr>
                              <m:t>∇</m:t>
                            </m:r>
                            <m:r>
                              <a:rPr lang="zh-CN" altLang="en-US" i="1">
                                <a:latin typeface="Cambria Math" panose="02040503050406030204" pitchFamily="18" charset="0"/>
                              </a:rPr>
                              <m:t>𝑓</m:t>
                            </m:r>
                            <m:r>
                              <a:rPr lang="zh-CN" altLang="en-US">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𝑥</m:t>
                                </m:r>
                              </m:e>
                              <m:sup>
                                <m:d>
                                  <m:dPr>
                                    <m:ctrlPr>
                                      <a:rPr lang="zh-CN" altLang="en-US" i="1">
                                        <a:latin typeface="Cambria Math" panose="02040503050406030204" pitchFamily="18" charset="0"/>
                                      </a:rPr>
                                    </m:ctrlPr>
                                  </m:dPr>
                                  <m:e>
                                    <m:r>
                                      <a:rPr lang="zh-CN" altLang="en-US" i="1">
                                        <a:latin typeface="Cambria Math" panose="02040503050406030204" pitchFamily="18" charset="0"/>
                                      </a:rPr>
                                      <m:t>𝑘</m:t>
                                    </m:r>
                                    <m:r>
                                      <a:rPr lang="zh-CN" altLang="en-US">
                                        <a:latin typeface="Cambria Math" panose="02040503050406030204" pitchFamily="18" charset="0"/>
                                      </a:rPr>
                                      <m:t>+1</m:t>
                                    </m:r>
                                  </m:e>
                                </m:d>
                              </m:sup>
                            </m:sSup>
                          </m:e>
                        </m:d>
                      </m:oMath>
                    </m:oMathPara>
                  </a14:m>
                  <a:endParaRPr lang="zh-CN" altLang="en-US" dirty="0"/>
                </a:p>
              </p:txBody>
            </p:sp>
          </mc:Choice>
          <mc:Fallback xmlns="">
            <p:sp>
              <p:nvSpPr>
                <p:cNvPr id="14" name="文本框 13"/>
                <p:cNvSpPr txBox="1">
                  <a:spLocks noRot="1" noChangeAspect="1" noMove="1" noResize="1" noEditPoints="1" noAdjustHandles="1" noChangeArrowheads="1" noChangeShapeType="1" noTextEdit="1"/>
                </p:cNvSpPr>
                <p:nvPr/>
              </p:nvSpPr>
              <p:spPr>
                <a:xfrm>
                  <a:off x="3505630" y="5845327"/>
                  <a:ext cx="2663834" cy="907769"/>
                </a:xfrm>
                <a:prstGeom prst="rect">
                  <a:avLst/>
                </a:prstGeom>
                <a:blipFill>
                  <a:blip r:embed="rId4"/>
                  <a:stretch>
                    <a:fillRect t="-91892" r="-26741" b="-99099"/>
                  </a:stretch>
                </a:blipFill>
              </p:spPr>
              <p:txBody>
                <a:bodyPr/>
                <a:lstStyle/>
                <a:p>
                  <a:r>
                    <a:rPr lang="zh-CN" altLang="en-US">
                      <a:noFill/>
                    </a:rPr>
                    <a:t> </a:t>
                  </a:r>
                </a:p>
              </p:txBody>
            </p:sp>
          </mc:Fallback>
        </mc:AlternateContent>
      </p:grpSp>
      <p:grpSp>
        <p:nvGrpSpPr>
          <p:cNvPr id="3" name="组合 2">
            <a:extLst>
              <a:ext uri="{FF2B5EF4-FFF2-40B4-BE49-F238E27FC236}">
                <a16:creationId xmlns:a16="http://schemas.microsoft.com/office/drawing/2014/main" id="{2078EDDB-2638-DEBC-27B4-1969DAE0826B}"/>
              </a:ext>
            </a:extLst>
          </p:cNvPr>
          <p:cNvGrpSpPr/>
          <p:nvPr/>
        </p:nvGrpSpPr>
        <p:grpSpPr>
          <a:xfrm>
            <a:off x="5780194" y="4657720"/>
            <a:ext cx="1566863" cy="769760"/>
            <a:chOff x="7751763" y="3214689"/>
            <a:chExt cx="2089150" cy="1026347"/>
          </a:xfrm>
        </p:grpSpPr>
        <p:sp>
          <p:nvSpPr>
            <p:cNvPr id="43042" name="AutoShape 43"/>
            <p:cNvSpPr>
              <a:spLocks noChangeArrowheads="1"/>
            </p:cNvSpPr>
            <p:nvPr/>
          </p:nvSpPr>
          <p:spPr bwMode="auto">
            <a:xfrm>
              <a:off x="7751763" y="3214689"/>
              <a:ext cx="2089150" cy="790575"/>
            </a:xfrm>
            <a:prstGeom prst="flowChartDecision">
              <a:avLst/>
            </a:prstGeom>
            <a:solidFill>
              <a:srgbClr val="CCFFCC"/>
            </a:solidFill>
            <a:ln w="28575">
              <a:solidFill>
                <a:srgbClr val="00FF00"/>
              </a:solidFill>
              <a:miter lim="800000"/>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zh-CN" altLang="en-US" sz="1800"/>
            </a:p>
          </p:txBody>
        </p:sp>
        <mc:AlternateContent xmlns:mc="http://schemas.openxmlformats.org/markup-compatibility/2006" xmlns:a14="http://schemas.microsoft.com/office/drawing/2010/main">
          <mc:Choice Requires="a14">
            <p:sp>
              <p:nvSpPr>
                <p:cNvPr id="16" name="文本框 15"/>
                <p:cNvSpPr txBox="1"/>
                <p:nvPr/>
              </p:nvSpPr>
              <p:spPr>
                <a:xfrm>
                  <a:off x="8040370" y="3387725"/>
                  <a:ext cx="1602739" cy="85331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zh-CN" altLang="en-US">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𝑔</m:t>
                                </m:r>
                              </m:e>
                              <m:sub>
                                <m:r>
                                  <a:rPr lang="zh-CN" altLang="en-US" i="1">
                                    <a:latin typeface="Cambria Math" panose="02040503050406030204" pitchFamily="18" charset="0"/>
                                  </a:rPr>
                                  <m:t>𝑘</m:t>
                                </m:r>
                                <m:r>
                                  <a:rPr lang="zh-CN" altLang="en-US">
                                    <a:latin typeface="Cambria Math" panose="02040503050406030204" pitchFamily="18" charset="0"/>
                                  </a:rPr>
                                  <m:t>+1</m:t>
                                </m:r>
                              </m:sub>
                            </m:sSub>
                            <m:r>
                              <a:rPr lang="zh-CN" altLang="en-US">
                                <a:latin typeface="Cambria Math" panose="02040503050406030204" pitchFamily="18" charset="0"/>
                              </a:rPr>
                              <m:t>‖</m:t>
                            </m:r>
                          </m:e>
                          <m:sub>
                            <m:r>
                              <a:rPr lang="en-US" altLang="zh-CN" i="1">
                                <a:latin typeface="Cambria Math" panose="02040503050406030204" pitchFamily="18" charset="0"/>
                              </a:rPr>
                              <m:t>2</m:t>
                            </m:r>
                          </m:sub>
                        </m:sSub>
                        <m:r>
                          <a:rPr lang="zh-CN" altLang="en-US">
                            <a:latin typeface="Cambria Math" panose="02040503050406030204" pitchFamily="18" charset="0"/>
                          </a:rPr>
                          <m:t>≤</m:t>
                        </m:r>
                        <m:r>
                          <a:rPr lang="zh-CN" altLang="en-US" i="1">
                            <a:latin typeface="Cambria Math" panose="02040503050406030204" pitchFamily="18" charset="0"/>
                          </a:rPr>
                          <m:t>𝜀</m:t>
                        </m:r>
                        <m:r>
                          <a:rPr lang="en-US" altLang="zh-CN" i="1">
                            <a:latin typeface="Cambria Math" panose="02040503050406030204" pitchFamily="18" charset="0"/>
                            <a:cs typeface="Cambria Math" panose="02040503050406030204" pitchFamily="18" charset="0"/>
                          </a:rPr>
                          <m:t>?</m:t>
                        </m:r>
                      </m:oMath>
                    </m:oMathPara>
                  </a14:m>
                  <a:endParaRPr lang="zh-CN" altLang="en-US" dirty="0"/>
                </a:p>
              </p:txBody>
            </p:sp>
          </mc:Choice>
          <mc:Fallback xmlns="">
            <p:sp>
              <p:nvSpPr>
                <p:cNvPr id="16" name="文本框 15"/>
                <p:cNvSpPr txBox="1">
                  <a:spLocks noRot="1" noChangeAspect="1" noMove="1" noResize="1" noEditPoints="1" noAdjustHandles="1" noChangeArrowheads="1" noChangeShapeType="1" noTextEdit="1"/>
                </p:cNvSpPr>
                <p:nvPr/>
              </p:nvSpPr>
              <p:spPr>
                <a:xfrm>
                  <a:off x="8040370" y="3387725"/>
                  <a:ext cx="1602739" cy="853311"/>
                </a:xfrm>
                <a:prstGeom prst="rect">
                  <a:avLst/>
                </a:prstGeom>
                <a:blipFill>
                  <a:blip r:embed="rId5"/>
                  <a:stretch>
                    <a:fillRect/>
                  </a:stretch>
                </a:blipFill>
              </p:spPr>
              <p:txBody>
                <a:bodyPr/>
                <a:lstStyle/>
                <a:p>
                  <a:r>
                    <a:rPr lang="zh-CN" altLang="en-US">
                      <a:noFill/>
                    </a:rPr>
                    <a:t> </a:t>
                  </a:r>
                </a:p>
              </p:txBody>
            </p:sp>
          </mc:Fallback>
        </mc:AlternateContent>
      </p:grpSp>
      <p:grpSp>
        <p:nvGrpSpPr>
          <p:cNvPr id="4" name="组合 3">
            <a:extLst>
              <a:ext uri="{FF2B5EF4-FFF2-40B4-BE49-F238E27FC236}">
                <a16:creationId xmlns:a16="http://schemas.microsoft.com/office/drawing/2014/main" id="{3FFE52C1-9960-26F4-AC4B-07B254868F7F}"/>
              </a:ext>
            </a:extLst>
          </p:cNvPr>
          <p:cNvGrpSpPr/>
          <p:nvPr/>
        </p:nvGrpSpPr>
        <p:grpSpPr>
          <a:xfrm>
            <a:off x="5354741" y="2551156"/>
            <a:ext cx="2239132" cy="2379321"/>
            <a:chOff x="6938612" y="172658"/>
            <a:chExt cx="3106886" cy="3284459"/>
          </a:xfrm>
        </p:grpSpPr>
        <p:sp>
          <p:nvSpPr>
            <p:cNvPr id="43024" name="AutoShape 20"/>
            <p:cNvSpPr>
              <a:spLocks noChangeArrowheads="1"/>
            </p:cNvSpPr>
            <p:nvPr/>
          </p:nvSpPr>
          <p:spPr bwMode="auto">
            <a:xfrm>
              <a:off x="7284245" y="172658"/>
              <a:ext cx="2735490" cy="2513202"/>
            </a:xfrm>
            <a:prstGeom prst="flowChartProcess">
              <a:avLst/>
            </a:prstGeom>
            <a:solidFill>
              <a:srgbClr val="CCFFCC"/>
            </a:solidFill>
            <a:ln w="28575">
              <a:solidFill>
                <a:srgbClr val="00FF00"/>
              </a:solidFill>
              <a:miter lim="800000"/>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zh-CN" altLang="en-US" sz="1800"/>
            </a:p>
          </p:txBody>
        </p:sp>
        <mc:AlternateContent xmlns:mc="http://schemas.openxmlformats.org/markup-compatibility/2006" xmlns:a14="http://schemas.microsoft.com/office/drawing/2010/main">
          <mc:Choice Requires="a14">
            <p:sp>
              <p:nvSpPr>
                <p:cNvPr id="17" name="文本框 16"/>
                <p:cNvSpPr txBox="1"/>
                <p:nvPr/>
              </p:nvSpPr>
              <p:spPr>
                <a:xfrm>
                  <a:off x="6938612" y="207554"/>
                  <a:ext cx="3106886" cy="3249563"/>
                </a:xfrm>
                <a:prstGeom prst="rect">
                  <a:avLst/>
                </a:prstGeom>
                <a:noFill/>
              </p:spPr>
              <p:txBody>
                <a:bodyPr wrap="square" rtlCol="0">
                  <a:spAutoFit/>
                </a:bodyPr>
                <a:lstStyle/>
                <a:p>
                  <a:pPr latinLnBrk="0">
                    <a:lnSpc>
                      <a:spcPct val="110000"/>
                    </a:lnSpc>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𝑠</m:t>
                        </m:r>
                        <m:r>
                          <a:rPr lang="zh-CN" altLang="en-US">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𝑥</m:t>
                            </m:r>
                          </m:e>
                          <m:sup>
                            <m:d>
                              <m:dPr>
                                <m:ctrlPr>
                                  <a:rPr lang="zh-CN" altLang="en-US" i="1">
                                    <a:latin typeface="Cambria Math" panose="02040503050406030204" pitchFamily="18" charset="0"/>
                                  </a:rPr>
                                </m:ctrlPr>
                              </m:dPr>
                              <m:e>
                                <m:r>
                                  <a:rPr lang="zh-CN" altLang="en-US" i="1">
                                    <a:latin typeface="Cambria Math" panose="02040503050406030204" pitchFamily="18" charset="0"/>
                                  </a:rPr>
                                  <m:t>𝑘</m:t>
                                </m:r>
                                <m:r>
                                  <a:rPr lang="zh-CN" altLang="en-US">
                                    <a:latin typeface="Cambria Math" panose="02040503050406030204" pitchFamily="18" charset="0"/>
                                  </a:rPr>
                                  <m:t>+1</m:t>
                                </m:r>
                              </m:e>
                            </m:d>
                          </m:sup>
                        </m:sSup>
                        <m:r>
                          <a:rPr lang="zh-CN" altLang="en-US">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𝑥</m:t>
                            </m:r>
                          </m:e>
                          <m:sup>
                            <m:d>
                              <m:dPr>
                                <m:ctrlPr>
                                  <a:rPr lang="zh-CN" altLang="en-US" i="1">
                                    <a:latin typeface="Cambria Math" panose="02040503050406030204" pitchFamily="18" charset="0"/>
                                  </a:rPr>
                                </m:ctrlPr>
                              </m:dPr>
                              <m:e>
                                <m:r>
                                  <a:rPr lang="zh-CN" altLang="en-US" i="1">
                                    <a:latin typeface="Cambria Math" panose="02040503050406030204" pitchFamily="18" charset="0"/>
                                  </a:rPr>
                                  <m:t>𝑘</m:t>
                                </m:r>
                              </m:e>
                            </m:d>
                          </m:sup>
                        </m:sSup>
                      </m:oMath>
                    </m:oMathPara>
                  </a14:m>
                  <a:endParaRPr lang="en-US" altLang="zh-CN" i="1" dirty="0">
                    <a:latin typeface="Cambria Math" panose="02040503050406030204" pitchFamily="18" charset="0"/>
                    <a:cs typeface="Cambria Math" panose="02040503050406030204" pitchFamily="18" charset="0"/>
                  </a:endParaRPr>
                </a:p>
                <a:p>
                  <a:pPr latinLnBrk="0">
                    <a:lnSpc>
                      <a:spcPct val="110000"/>
                    </a:lnSpc>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𝑦</m:t>
                        </m:r>
                        <m:r>
                          <a:rPr lang="zh-CN" altLang="en-US">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𝑔</m:t>
                            </m:r>
                          </m:e>
                          <m:sub>
                            <m:r>
                              <a:rPr lang="zh-CN" altLang="en-US" i="1">
                                <a:latin typeface="Cambria Math" panose="02040503050406030204" pitchFamily="18" charset="0"/>
                              </a:rPr>
                              <m:t>𝑘</m:t>
                            </m:r>
                            <m:r>
                              <a:rPr lang="zh-CN" altLang="en-US">
                                <a:latin typeface="Cambria Math" panose="02040503050406030204" pitchFamily="18" charset="0"/>
                              </a:rPr>
                              <m:t>+1</m:t>
                            </m:r>
                          </m:sub>
                        </m:sSub>
                        <m:r>
                          <a:rPr lang="zh-CN" altLang="en-US">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𝑔</m:t>
                            </m:r>
                          </m:e>
                          <m:sub>
                            <m:r>
                              <a:rPr lang="zh-CN" altLang="en-US" i="1">
                                <a:latin typeface="Cambria Math" panose="02040503050406030204" pitchFamily="18" charset="0"/>
                              </a:rPr>
                              <m:t>𝑘</m:t>
                            </m:r>
                          </m:sub>
                        </m:sSub>
                      </m:oMath>
                    </m:oMathPara>
                  </a14:m>
                  <a:endParaRPr lang="en-US" altLang="zh-CN" i="1" dirty="0">
                    <a:latin typeface="Cambria Math" panose="02040503050406030204" pitchFamily="18" charset="0"/>
                    <a:cs typeface="Cambria Math" panose="02040503050406030204" pitchFamily="18" charset="0"/>
                  </a:endParaRPr>
                </a:p>
                <a:p>
                  <a:pPr latinLnBrk="0">
                    <a:lnSpc>
                      <a:spcPct val="11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𝑀</m:t>
                        </m:r>
                        <m:r>
                          <a:rPr lang="en-US" altLang="zh-CN" b="0" i="1" smtClean="0">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r>
                              <a:rPr lang="en-US" altLang="zh-CN" i="1">
                                <a:latin typeface="Cambria Math" panose="02040503050406030204" pitchFamily="18" charset="0"/>
                                <a:cs typeface="Cambria Math" panose="02040503050406030204" pitchFamily="18" charset="0"/>
                              </a:rPr>
                              <m:t>𝑠</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𝑠</m:t>
                                </m:r>
                              </m:e>
                              <m:sup>
                                <m:r>
                                  <a:rPr lang="en-US" altLang="zh-CN" i="1">
                                    <a:latin typeface="Cambria Math" panose="02040503050406030204" pitchFamily="18" charset="0"/>
                                    <a:cs typeface="Cambria Math" panose="02040503050406030204" pitchFamily="18" charset="0"/>
                                  </a:rPr>
                                  <m:t>𝑇</m:t>
                                </m:r>
                              </m:sup>
                            </m:sSup>
                          </m:num>
                          <m:den>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𝑠</m:t>
                                </m:r>
                              </m:e>
                              <m:sup>
                                <m:r>
                                  <a:rPr lang="en-US" altLang="zh-CN" i="1">
                                    <a:latin typeface="Cambria Math" panose="02040503050406030204" pitchFamily="18" charset="0"/>
                                    <a:cs typeface="Cambria Math" panose="02040503050406030204" pitchFamily="18" charset="0"/>
                                  </a:rPr>
                                  <m:t>𝑇</m:t>
                                </m:r>
                              </m:sup>
                            </m:sSup>
                            <m:r>
                              <a:rPr lang="en-US" altLang="zh-CN" i="1">
                                <a:latin typeface="Cambria Math" panose="02040503050406030204" pitchFamily="18" charset="0"/>
                                <a:cs typeface="Cambria Math" panose="02040503050406030204" pitchFamily="18" charset="0"/>
                              </a:rPr>
                              <m:t>𝑦</m:t>
                            </m:r>
                          </m:den>
                        </m:f>
                      </m:oMath>
                    </m:oMathPara>
                  </a14:m>
                  <a:endParaRPr lang="en-US" altLang="zh-CN" i="1" dirty="0">
                    <a:latin typeface="Cambria Math" panose="02040503050406030204" pitchFamily="18" charset="0"/>
                    <a:cs typeface="Cambria Math" panose="02040503050406030204" pitchFamily="18" charset="0"/>
                  </a:endParaRPr>
                </a:p>
                <a:p>
                  <a:pPr latinLnBrk="0">
                    <a:lnSpc>
                      <a:spcPct val="110000"/>
                    </a:lnSpc>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cs typeface="Cambria Math" panose="02040503050406030204" pitchFamily="18" charset="0"/>
                          </a:rPr>
                          <m:t>𝑁</m:t>
                        </m:r>
                        <m:r>
                          <a:rPr lang="en-US" altLang="zh-CN" b="0" i="1" smtClean="0">
                            <a:latin typeface="Cambria Math" panose="02040503050406030204" pitchFamily="18" charset="0"/>
                            <a:cs typeface="Cambria Math" panose="02040503050406030204" pitchFamily="18" charset="0"/>
                          </a:rPr>
                          <m:t>=</m:t>
                        </m:r>
                        <m:f>
                          <m:fPr>
                            <m:ctrlPr>
                              <a:rPr lang="en-US" altLang="zh-CN" i="1">
                                <a:latin typeface="Cambria Math" panose="02040503050406030204" pitchFamily="18" charset="0"/>
                                <a:cs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𝐴</m:t>
                                </m:r>
                              </m:e>
                              <m:sub>
                                <m:r>
                                  <a:rPr lang="zh-CN" altLang="en-US" i="1">
                                    <a:latin typeface="Cambria Math" panose="02040503050406030204" pitchFamily="18" charset="0"/>
                                  </a:rPr>
                                  <m:t>𝑘</m:t>
                                </m:r>
                              </m:sub>
                            </m:sSub>
                            <m:r>
                              <a:rPr lang="en-US" altLang="zh-CN" i="1">
                                <a:latin typeface="Cambria Math" panose="02040503050406030204" pitchFamily="18" charset="0"/>
                                <a:cs typeface="Cambria Math" panose="02040503050406030204" pitchFamily="18" charset="0"/>
                              </a:rPr>
                              <m:t>𝑦</m:t>
                            </m:r>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𝑦</m:t>
                                </m:r>
                              </m:e>
                              <m:sup>
                                <m:r>
                                  <a:rPr lang="en-US" altLang="zh-CN" i="1">
                                    <a:latin typeface="Cambria Math" panose="02040503050406030204" pitchFamily="18" charset="0"/>
                                    <a:cs typeface="Cambria Math" panose="02040503050406030204" pitchFamily="18" charset="0"/>
                                  </a:rPr>
                                  <m:t>𝑇</m:t>
                                </m:r>
                              </m:sup>
                            </m:sSup>
                            <m:sSub>
                              <m:sSubPr>
                                <m:ctrlPr>
                                  <a:rPr lang="zh-CN" altLang="en-US" i="1">
                                    <a:latin typeface="Cambria Math" panose="02040503050406030204" pitchFamily="18" charset="0"/>
                                  </a:rPr>
                                </m:ctrlPr>
                              </m:sSubPr>
                              <m:e>
                                <m:r>
                                  <a:rPr lang="zh-CN" altLang="en-US" i="1">
                                    <a:latin typeface="Cambria Math" panose="02040503050406030204" pitchFamily="18" charset="0"/>
                                  </a:rPr>
                                  <m:t>𝐴</m:t>
                                </m:r>
                              </m:e>
                              <m:sub>
                                <m:r>
                                  <a:rPr lang="zh-CN" altLang="en-US" i="1">
                                    <a:latin typeface="Cambria Math" panose="02040503050406030204" pitchFamily="18" charset="0"/>
                                  </a:rPr>
                                  <m:t>𝑘</m:t>
                                </m:r>
                              </m:sub>
                            </m:sSub>
                          </m:num>
                          <m:den>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𝑠</m:t>
                                </m:r>
                              </m:e>
                              <m:sup>
                                <m:r>
                                  <a:rPr lang="en-US" altLang="zh-CN" i="1">
                                    <a:latin typeface="Cambria Math" panose="02040503050406030204" pitchFamily="18" charset="0"/>
                                    <a:cs typeface="Cambria Math" panose="02040503050406030204" pitchFamily="18" charset="0"/>
                                  </a:rPr>
                                  <m:t>𝑇</m:t>
                                </m:r>
                              </m:sup>
                            </m:sSup>
                            <m:r>
                              <a:rPr lang="en-US" altLang="zh-CN" i="1">
                                <a:latin typeface="Cambria Math" panose="02040503050406030204" pitchFamily="18" charset="0"/>
                                <a:cs typeface="Cambria Math" panose="02040503050406030204" pitchFamily="18" charset="0"/>
                              </a:rPr>
                              <m:t>𝑦</m:t>
                            </m:r>
                          </m:den>
                        </m:f>
                      </m:oMath>
                    </m:oMathPara>
                  </a14:m>
                  <a:endParaRPr lang="en-US" altLang="zh-CN" i="1" dirty="0">
                    <a:latin typeface="Cambria Math" panose="02040503050406030204" pitchFamily="18" charset="0"/>
                    <a:cs typeface="Cambria Math" panose="02040503050406030204" pitchFamily="18" charset="0"/>
                  </a:endParaRPr>
                </a:p>
                <a:p>
                  <a:pPr latinLnBrk="0">
                    <a:lnSpc>
                      <a:spcPct val="110000"/>
                    </a:lnSpc>
                  </a:pPr>
                  <a14:m>
                    <m:oMathPara xmlns:m="http://schemas.openxmlformats.org/officeDocument/2006/math">
                      <m:oMathParaPr>
                        <m:jc m:val="centerGroup"/>
                      </m:oMathParaPr>
                      <m:oMath xmlns:m="http://schemas.openxmlformats.org/officeDocument/2006/math">
                        <m:sSub>
                          <m:sSubPr>
                            <m:ctrlPr>
                              <a:rPr lang="zh-CN" altLang="en-US" i="1">
                                <a:latin typeface="Cambria Math" panose="02040503050406030204" pitchFamily="18" charset="0"/>
                              </a:rPr>
                            </m:ctrlPr>
                          </m:sSubPr>
                          <m:e>
                            <m:r>
                              <a:rPr lang="zh-CN" altLang="en-US" i="1">
                                <a:latin typeface="Cambria Math" panose="02040503050406030204" pitchFamily="18" charset="0"/>
                              </a:rPr>
                              <m:t>𝐴</m:t>
                            </m:r>
                          </m:e>
                          <m:sub>
                            <m:r>
                              <a:rPr lang="zh-CN" altLang="en-US" i="1">
                                <a:latin typeface="Cambria Math" panose="02040503050406030204" pitchFamily="18" charset="0"/>
                              </a:rPr>
                              <m:t>𝑘</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𝐴</m:t>
                            </m:r>
                          </m:e>
                          <m:sub>
                            <m:r>
                              <a:rPr lang="zh-CN" altLang="en-US" i="1">
                                <a:latin typeface="Cambria Math" panose="02040503050406030204" pitchFamily="18" charset="0"/>
                              </a:rPr>
                              <m:t>𝑘</m:t>
                            </m:r>
                          </m:sub>
                        </m:sSub>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𝑀</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𝑁</m:t>
                        </m:r>
                      </m:oMath>
                    </m:oMathPara>
                  </a14:m>
                  <a:endParaRPr lang="en-US" altLang="zh-CN" i="1" dirty="0">
                    <a:latin typeface="Cambria Math" panose="02040503050406030204" pitchFamily="18" charset="0"/>
                    <a:cs typeface="Cambria Math" panose="02040503050406030204" pitchFamily="18" charset="0"/>
                  </a:endParaRPr>
                </a:p>
              </p:txBody>
            </p:sp>
          </mc:Choice>
          <mc:Fallback xmlns="">
            <p:sp>
              <p:nvSpPr>
                <p:cNvPr id="17" name="文本框 16"/>
                <p:cNvSpPr txBox="1">
                  <a:spLocks noRot="1" noChangeAspect="1" noMove="1" noResize="1" noEditPoints="1" noAdjustHandles="1" noChangeArrowheads="1" noChangeShapeType="1" noTextEdit="1"/>
                </p:cNvSpPr>
                <p:nvPr/>
              </p:nvSpPr>
              <p:spPr>
                <a:xfrm>
                  <a:off x="6938612" y="207554"/>
                  <a:ext cx="3106886" cy="3249563"/>
                </a:xfrm>
                <a:prstGeom prst="rect">
                  <a:avLst/>
                </a:prstGeom>
                <a:blipFill>
                  <a:blip r:embed="rId6"/>
                  <a:stretch>
                    <a:fillRect/>
                  </a:stretch>
                </a:blipFill>
              </p:spPr>
              <p:txBody>
                <a:bodyPr/>
                <a:lstStyle/>
                <a:p>
                  <a:r>
                    <a:rPr lang="zh-CN" altLang="en-US">
                      <a:noFill/>
                    </a:rPr>
                    <a:t> </a:t>
                  </a:r>
                </a:p>
              </p:txBody>
            </p:sp>
          </mc:Fallback>
        </mc:AlternateContent>
      </p:grpSp>
      <p:sp>
        <p:nvSpPr>
          <p:cNvPr id="11" name="AutoShape 13">
            <a:extLst>
              <a:ext uri="{FF2B5EF4-FFF2-40B4-BE49-F238E27FC236}">
                <a16:creationId xmlns:a16="http://schemas.microsoft.com/office/drawing/2014/main" id="{C23BDFFF-8626-9269-5979-BAC6179B54C5}"/>
              </a:ext>
            </a:extLst>
          </p:cNvPr>
          <p:cNvSpPr>
            <a:spLocks noChangeArrowheads="1"/>
          </p:cNvSpPr>
          <p:nvPr/>
        </p:nvSpPr>
        <p:spPr bwMode="auto">
          <a:xfrm>
            <a:off x="5915082" y="2021924"/>
            <a:ext cx="1348978" cy="301228"/>
          </a:xfrm>
          <a:prstGeom prst="flowChartProcess">
            <a:avLst/>
          </a:prstGeom>
          <a:solidFill>
            <a:srgbClr val="CCFFCC"/>
          </a:solidFill>
          <a:ln w="28575" cap="sq">
            <a:solidFill>
              <a:srgbClr val="00FF00"/>
            </a:solidFill>
            <a:miter lim="800000"/>
            <a:headEnd/>
            <a:tailEnd/>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en-US" altLang="zh-CN" sz="1500" b="1" i="1">
                <a:solidFill>
                  <a:srgbClr val="000000"/>
                </a:solidFill>
                <a:latin typeface="Times New Roman" panose="02020603050405020304" pitchFamily="18" charset="0"/>
              </a:rPr>
              <a:t>k=k+1</a:t>
            </a:r>
            <a:endParaRPr lang="en-US" altLang="zh-CN" sz="1500" b="1" i="1" baseline="30000">
              <a:solidFill>
                <a:srgbClr val="000000"/>
              </a:solidFill>
              <a:latin typeface="Times New Roman" panose="02020603050405020304" pitchFamily="18" charset="0"/>
            </a:endParaRPr>
          </a:p>
        </p:txBody>
      </p:sp>
      <p:sp>
        <p:nvSpPr>
          <p:cNvPr id="18" name="Line 48">
            <a:extLst>
              <a:ext uri="{FF2B5EF4-FFF2-40B4-BE49-F238E27FC236}">
                <a16:creationId xmlns:a16="http://schemas.microsoft.com/office/drawing/2014/main" id="{CB39FB6F-E9BF-3D84-2FB2-8CEFCB03B1D3}"/>
              </a:ext>
            </a:extLst>
          </p:cNvPr>
          <p:cNvSpPr>
            <a:spLocks noChangeShapeType="1"/>
          </p:cNvSpPr>
          <p:nvPr/>
        </p:nvSpPr>
        <p:spPr bwMode="auto">
          <a:xfrm flipH="1">
            <a:off x="4147952" y="2609880"/>
            <a:ext cx="659543" cy="5818"/>
          </a:xfrm>
          <a:prstGeom prst="line">
            <a:avLst/>
          </a:prstGeom>
          <a:noFill/>
          <a:ln w="28575">
            <a:solidFill>
              <a:srgbClr val="00FF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9" name="Line 59">
            <a:extLst>
              <a:ext uri="{FF2B5EF4-FFF2-40B4-BE49-F238E27FC236}">
                <a16:creationId xmlns:a16="http://schemas.microsoft.com/office/drawing/2014/main" id="{C9673D71-D574-0929-58FB-3BA09FBD9D0C}"/>
              </a:ext>
            </a:extLst>
          </p:cNvPr>
          <p:cNvSpPr>
            <a:spLocks noChangeShapeType="1"/>
          </p:cNvSpPr>
          <p:nvPr/>
        </p:nvSpPr>
        <p:spPr bwMode="auto">
          <a:xfrm flipV="1">
            <a:off x="4680012" y="1066735"/>
            <a:ext cx="1849520" cy="25606"/>
          </a:xfrm>
          <a:prstGeom prst="line">
            <a:avLst/>
          </a:prstGeom>
          <a:noFill/>
          <a:ln w="28575">
            <a:solidFill>
              <a:srgbClr val="00FF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 name="Line 60">
            <a:extLst>
              <a:ext uri="{FF2B5EF4-FFF2-40B4-BE49-F238E27FC236}">
                <a16:creationId xmlns:a16="http://schemas.microsoft.com/office/drawing/2014/main" id="{1E8CD364-FB66-C104-1F69-6E8CBA9D058F}"/>
              </a:ext>
            </a:extLst>
          </p:cNvPr>
          <p:cNvSpPr>
            <a:spLocks noChangeShapeType="1"/>
          </p:cNvSpPr>
          <p:nvPr/>
        </p:nvSpPr>
        <p:spPr bwMode="auto">
          <a:xfrm>
            <a:off x="4756715" y="1097716"/>
            <a:ext cx="23120" cy="1507081"/>
          </a:xfrm>
          <a:prstGeom prst="line">
            <a:avLst/>
          </a:prstGeom>
          <a:noFill/>
          <a:ln w="28575">
            <a:solidFill>
              <a:srgbClr val="00FF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 name="Line 60">
            <a:extLst>
              <a:ext uri="{FF2B5EF4-FFF2-40B4-BE49-F238E27FC236}">
                <a16:creationId xmlns:a16="http://schemas.microsoft.com/office/drawing/2014/main" id="{E8D84710-7B6C-7F31-3E96-F433FBFB63B9}"/>
              </a:ext>
            </a:extLst>
          </p:cNvPr>
          <p:cNvSpPr>
            <a:spLocks noChangeShapeType="1"/>
          </p:cNvSpPr>
          <p:nvPr/>
        </p:nvSpPr>
        <p:spPr bwMode="auto">
          <a:xfrm>
            <a:off x="6529532" y="1066736"/>
            <a:ext cx="15910" cy="200195"/>
          </a:xfrm>
          <a:prstGeom prst="line">
            <a:avLst/>
          </a:prstGeom>
          <a:noFill/>
          <a:ln w="28575">
            <a:solidFill>
              <a:srgbClr val="00FF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 name="Line 48">
            <a:extLst>
              <a:ext uri="{FF2B5EF4-FFF2-40B4-BE49-F238E27FC236}">
                <a16:creationId xmlns:a16="http://schemas.microsoft.com/office/drawing/2014/main" id="{9E7DDA52-5822-07CC-577A-35DF78044F96}"/>
              </a:ext>
            </a:extLst>
          </p:cNvPr>
          <p:cNvSpPr>
            <a:spLocks noChangeShapeType="1"/>
          </p:cNvSpPr>
          <p:nvPr/>
        </p:nvSpPr>
        <p:spPr bwMode="auto">
          <a:xfrm flipH="1" flipV="1">
            <a:off x="6549145" y="4371759"/>
            <a:ext cx="7091" cy="269909"/>
          </a:xfrm>
          <a:prstGeom prst="line">
            <a:avLst/>
          </a:prstGeom>
          <a:noFill/>
          <a:ln w="28575">
            <a:solidFill>
              <a:srgbClr val="00FF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3" name="Text Box 66">
            <a:extLst>
              <a:ext uri="{FF2B5EF4-FFF2-40B4-BE49-F238E27FC236}">
                <a16:creationId xmlns:a16="http://schemas.microsoft.com/office/drawing/2014/main" id="{BF9AF6F0-D8F4-DB76-99CC-2F4E835C5908}"/>
              </a:ext>
            </a:extLst>
          </p:cNvPr>
          <p:cNvSpPr txBox="1">
            <a:spLocks noChangeArrowheads="1"/>
          </p:cNvSpPr>
          <p:nvPr/>
        </p:nvSpPr>
        <p:spPr bwMode="auto">
          <a:xfrm>
            <a:off x="6589570" y="4436191"/>
            <a:ext cx="30970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350" dirty="0"/>
              <a:t>N</a:t>
            </a:r>
          </a:p>
        </p:txBody>
      </p:sp>
      <p:sp>
        <p:nvSpPr>
          <p:cNvPr id="15" name="Line 23">
            <a:extLst>
              <a:ext uri="{FF2B5EF4-FFF2-40B4-BE49-F238E27FC236}">
                <a16:creationId xmlns:a16="http://schemas.microsoft.com/office/drawing/2014/main" id="{5811FBE5-3D28-610E-487B-A24E0B00AEC3}"/>
              </a:ext>
            </a:extLst>
          </p:cNvPr>
          <p:cNvSpPr>
            <a:spLocks noChangeShapeType="1"/>
          </p:cNvSpPr>
          <p:nvPr/>
        </p:nvSpPr>
        <p:spPr bwMode="auto">
          <a:xfrm>
            <a:off x="7321683" y="5016708"/>
            <a:ext cx="272189" cy="11540"/>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AutoShape 9">
            <a:extLst>
              <a:ext uri="{FF2B5EF4-FFF2-40B4-BE49-F238E27FC236}">
                <a16:creationId xmlns:a16="http://schemas.microsoft.com/office/drawing/2014/main" id="{114C431E-A115-8483-043B-B81D677293AD}"/>
              </a:ext>
            </a:extLst>
          </p:cNvPr>
          <p:cNvSpPr>
            <a:spLocks noChangeArrowheads="1"/>
          </p:cNvSpPr>
          <p:nvPr/>
        </p:nvSpPr>
        <p:spPr bwMode="auto">
          <a:xfrm>
            <a:off x="7460344" y="4755436"/>
            <a:ext cx="1546622" cy="542925"/>
          </a:xfrm>
          <a:prstGeom prst="flowChartInputOutput">
            <a:avLst/>
          </a:prstGeom>
          <a:solidFill>
            <a:srgbClr val="CCFFCC"/>
          </a:solidFill>
          <a:ln w="28575" cap="sq">
            <a:solidFill>
              <a:srgbClr val="00FF00"/>
            </a:solidFill>
            <a:miter lim="800000"/>
            <a:headEnd/>
            <a:tailEnd/>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en-US" altLang="en-US" sz="1500" b="1" i="1" dirty="0">
                <a:solidFill>
                  <a:srgbClr val="000000"/>
                </a:solidFill>
                <a:latin typeface="Times New Roman" panose="02020603050405020304" pitchFamily="18" charset="0"/>
              </a:rPr>
              <a:t>x*=x</a:t>
            </a:r>
            <a:r>
              <a:rPr lang="en-US" altLang="en-US" sz="1500" b="1" i="1" baseline="30000" dirty="0">
                <a:solidFill>
                  <a:srgbClr val="000000"/>
                </a:solidFill>
                <a:latin typeface="Times New Roman" panose="02020603050405020304" pitchFamily="18" charset="0"/>
              </a:rPr>
              <a:t>(k+1)</a:t>
            </a:r>
            <a:endParaRPr lang="en-US" altLang="en-US" sz="1500" b="1" i="1" dirty="0">
              <a:solidFill>
                <a:srgbClr val="000000"/>
              </a:solidFill>
              <a:latin typeface="Times New Roman" panose="02020603050405020304" pitchFamily="18" charset="0"/>
            </a:endParaRPr>
          </a:p>
          <a:p>
            <a:pPr algn="ctr">
              <a:buFont typeface="Wingdings" panose="05000000000000000000" pitchFamily="2" charset="2"/>
              <a:buNone/>
            </a:pPr>
            <a:r>
              <a:rPr lang="en-US" altLang="en-US" sz="1500" b="1" i="1" dirty="0">
                <a:solidFill>
                  <a:srgbClr val="000000"/>
                </a:solidFill>
                <a:latin typeface="Times New Roman" panose="02020603050405020304" pitchFamily="18" charset="0"/>
              </a:rPr>
              <a:t>f*=f(x</a:t>
            </a:r>
            <a:r>
              <a:rPr lang="en-US" altLang="en-US" sz="1500" b="1" i="1" baseline="30000" dirty="0">
                <a:solidFill>
                  <a:srgbClr val="000000"/>
                </a:solidFill>
                <a:latin typeface="Times New Roman" panose="02020603050405020304" pitchFamily="18" charset="0"/>
              </a:rPr>
              <a:t>(k+1)</a:t>
            </a:r>
            <a:r>
              <a:rPr lang="en-US" altLang="en-US" sz="1500" b="1" i="1" dirty="0">
                <a:solidFill>
                  <a:srgbClr val="000000"/>
                </a:solidFill>
                <a:latin typeface="Times New Roman" panose="02020603050405020304" pitchFamily="18" charset="0"/>
              </a:rPr>
              <a:t>)</a:t>
            </a:r>
            <a:endParaRPr lang="en-US" altLang="zh-CN" sz="1500" dirty="0">
              <a:solidFill>
                <a:srgbClr val="000000"/>
              </a:solidFill>
              <a:latin typeface="Times New Roman" panose="02020603050405020304" pitchFamily="18" charset="0"/>
            </a:endParaRPr>
          </a:p>
        </p:txBody>
      </p:sp>
      <p:grpSp>
        <p:nvGrpSpPr>
          <p:cNvPr id="29" name="组合 28">
            <a:extLst>
              <a:ext uri="{FF2B5EF4-FFF2-40B4-BE49-F238E27FC236}">
                <a16:creationId xmlns:a16="http://schemas.microsoft.com/office/drawing/2014/main" id="{ADFD6298-8AA3-6A8B-93F7-A034DBB62E47}"/>
              </a:ext>
            </a:extLst>
          </p:cNvPr>
          <p:cNvGrpSpPr/>
          <p:nvPr/>
        </p:nvGrpSpPr>
        <p:grpSpPr>
          <a:xfrm>
            <a:off x="2227494" y="965860"/>
            <a:ext cx="2322018" cy="2042713"/>
            <a:chOff x="3083214" y="497489"/>
            <a:chExt cx="3096025" cy="2723618"/>
          </a:xfrm>
        </p:grpSpPr>
        <p:sp>
          <p:nvSpPr>
            <p:cNvPr id="43010" name="AutoShape 5"/>
            <p:cNvSpPr>
              <a:spLocks noChangeArrowheads="1"/>
            </p:cNvSpPr>
            <p:nvPr/>
          </p:nvSpPr>
          <p:spPr bwMode="auto">
            <a:xfrm>
              <a:off x="3083214" y="1241074"/>
              <a:ext cx="2879725" cy="576263"/>
            </a:xfrm>
            <a:prstGeom prst="parallelogram">
              <a:avLst>
                <a:gd name="adj" fmla="val 124931"/>
              </a:avLst>
            </a:prstGeom>
            <a:solidFill>
              <a:srgbClr val="CCFFCC"/>
            </a:solidFill>
            <a:ln w="28575">
              <a:solidFill>
                <a:srgbClr val="00FF00"/>
              </a:solidFill>
              <a:miter lim="800000"/>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zh-CN" altLang="en-US" sz="1800"/>
            </a:p>
          </p:txBody>
        </p:sp>
        <p:sp>
          <p:nvSpPr>
            <p:cNvPr id="43038" name="Line 36"/>
            <p:cNvSpPr>
              <a:spLocks noChangeShapeType="1"/>
            </p:cNvSpPr>
            <p:nvPr/>
          </p:nvSpPr>
          <p:spPr bwMode="auto">
            <a:xfrm>
              <a:off x="4523076" y="952149"/>
              <a:ext cx="0" cy="288925"/>
            </a:xfrm>
            <a:prstGeom prst="line">
              <a:avLst/>
            </a:prstGeom>
            <a:noFill/>
            <a:ln w="28575">
              <a:solidFill>
                <a:srgbClr val="00FF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43039" name="Line 39"/>
            <p:cNvSpPr>
              <a:spLocks noChangeShapeType="1"/>
            </p:cNvSpPr>
            <p:nvPr/>
          </p:nvSpPr>
          <p:spPr bwMode="auto">
            <a:xfrm>
              <a:off x="4451638" y="1817336"/>
              <a:ext cx="0" cy="360362"/>
            </a:xfrm>
            <a:prstGeom prst="line">
              <a:avLst/>
            </a:prstGeom>
            <a:noFill/>
            <a:ln w="28575">
              <a:solidFill>
                <a:srgbClr val="00FF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xmlns:a14="http://schemas.microsoft.com/office/drawing/2010/main">
          <mc:Choice Requires="a14">
            <p:sp>
              <p:nvSpPr>
                <p:cNvPr id="9" name="文本框 8"/>
                <p:cNvSpPr txBox="1"/>
                <p:nvPr/>
              </p:nvSpPr>
              <p:spPr>
                <a:xfrm>
                  <a:off x="3647727" y="1340768"/>
                  <a:ext cx="1752600" cy="886568"/>
                </a:xfrm>
                <a:prstGeom prst="rect">
                  <a:avLst/>
                </a:prstGeom>
                <a:noFill/>
              </p:spPr>
              <p:txBody>
                <a:bodyPr wrap="square" rtlCol="0">
                  <a:spAutoFit/>
                </a:bodyPr>
                <a:lstStyle/>
                <a:p>
                  <a:r>
                    <a:rPr lang="zh-CN" altLang="en-US"/>
                    <a:t>输入：</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𝑥</m:t>
                          </m:r>
                        </m:e>
                        <m:sup>
                          <m:d>
                            <m:dPr>
                              <m:ctrlPr>
                                <a:rPr lang="en-US" altLang="zh-CN" i="1">
                                  <a:latin typeface="Cambria Math" panose="02040503050406030204" pitchFamily="18" charset="0"/>
                                  <a:cs typeface="Cambria Math" panose="02040503050406030204" pitchFamily="18" charset="0"/>
                                </a:rPr>
                              </m:ctrlPr>
                            </m:dPr>
                            <m:e>
                              <m:r>
                                <a:rPr lang="en-US" altLang="zh-CN" i="1">
                                  <a:latin typeface="Cambria Math" panose="02040503050406030204" pitchFamily="18" charset="0"/>
                                  <a:cs typeface="Cambria Math" panose="02040503050406030204" pitchFamily="18" charset="0"/>
                                </a:rPr>
                                <m:t>0</m:t>
                              </m:r>
                            </m:e>
                          </m:d>
                        </m:sup>
                      </m:sSup>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𝑛</m:t>
                      </m:r>
                      <m:r>
                        <a:rPr lang="en-US" altLang="zh-CN" i="1">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𝜀</m:t>
                      </m:r>
                    </m:oMath>
                  </a14:m>
                  <a:endParaRPr lang="zh-CN" altLang="en-US"/>
                </a:p>
              </p:txBody>
            </p:sp>
          </mc:Choice>
          <mc:Fallback xmlns="">
            <p:sp>
              <p:nvSpPr>
                <p:cNvPr id="9" name="文本框 8"/>
                <p:cNvSpPr txBox="1">
                  <a:spLocks noRot="1" noChangeAspect="1" noMove="1" noResize="1" noEditPoints="1" noAdjustHandles="1" noChangeArrowheads="1" noChangeShapeType="1" noTextEdit="1"/>
                </p:cNvSpPr>
                <p:nvPr/>
              </p:nvSpPr>
              <p:spPr>
                <a:xfrm>
                  <a:off x="3647727" y="1340768"/>
                  <a:ext cx="1752600" cy="886568"/>
                </a:xfrm>
                <a:prstGeom prst="rect">
                  <a:avLst/>
                </a:prstGeom>
                <a:blipFill>
                  <a:blip r:embed="rId7"/>
                  <a:stretch>
                    <a:fillRect l="-4186" t="-4587"/>
                  </a:stretch>
                </a:blipFill>
              </p:spPr>
              <p:txBody>
                <a:bodyPr/>
                <a:lstStyle/>
                <a:p>
                  <a:r>
                    <a:rPr lang="zh-CN" altLang="en-US">
                      <a:noFill/>
                    </a:rPr>
                    <a:t> </a:t>
                  </a:r>
                </a:p>
              </p:txBody>
            </p:sp>
          </mc:Fallback>
        </mc:AlternateContent>
        <p:grpSp>
          <p:nvGrpSpPr>
            <p:cNvPr id="5" name="组合 4">
              <a:extLst>
                <a:ext uri="{FF2B5EF4-FFF2-40B4-BE49-F238E27FC236}">
                  <a16:creationId xmlns:a16="http://schemas.microsoft.com/office/drawing/2014/main" id="{08CF0377-01D9-7BB3-C9E2-1490999B7214}"/>
                </a:ext>
              </a:extLst>
            </p:cNvPr>
            <p:cNvGrpSpPr/>
            <p:nvPr/>
          </p:nvGrpSpPr>
          <p:grpSpPr>
            <a:xfrm>
              <a:off x="3299747" y="2032918"/>
              <a:ext cx="2879492" cy="1188189"/>
              <a:chOff x="2927984" y="1988820"/>
              <a:chExt cx="2879492" cy="1188189"/>
            </a:xfrm>
          </p:grpSpPr>
          <p:sp>
            <p:nvSpPr>
              <p:cNvPr id="6" name="AutoShape 7">
                <a:extLst>
                  <a:ext uri="{FF2B5EF4-FFF2-40B4-BE49-F238E27FC236}">
                    <a16:creationId xmlns:a16="http://schemas.microsoft.com/office/drawing/2014/main" id="{A3984CF9-2EA4-DF7D-947E-BDD515B554DD}"/>
                  </a:ext>
                </a:extLst>
              </p:cNvPr>
              <p:cNvSpPr>
                <a:spLocks noChangeArrowheads="1"/>
              </p:cNvSpPr>
              <p:nvPr/>
            </p:nvSpPr>
            <p:spPr bwMode="auto">
              <a:xfrm>
                <a:off x="3000376" y="2133601"/>
                <a:ext cx="2303463" cy="936625"/>
              </a:xfrm>
              <a:prstGeom prst="flowChartProcess">
                <a:avLst/>
              </a:prstGeom>
              <a:solidFill>
                <a:srgbClr val="CCFFCC"/>
              </a:solidFill>
              <a:ln w="28575">
                <a:solidFill>
                  <a:srgbClr val="00FF00"/>
                </a:solidFill>
                <a:miter lim="800000"/>
              </a:ln>
            </p:spPr>
            <p:txBody>
              <a:bodyPr wrap="none"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zh-CN" altLang="en-US" sz="1800"/>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71A77901-CA36-4E2D-83B8-5F9B22D72A19}"/>
                      </a:ext>
                    </a:extLst>
                  </p:cNvPr>
                  <p:cNvSpPr txBox="1"/>
                  <p:nvPr/>
                </p:nvSpPr>
                <p:spPr>
                  <a:xfrm>
                    <a:off x="2927984" y="1988820"/>
                    <a:ext cx="2879492" cy="1188189"/>
                  </a:xfrm>
                  <a:prstGeom prst="rect">
                    <a:avLst/>
                  </a:prstGeom>
                  <a:noFill/>
                </p:spPr>
                <p:txBody>
                  <a:bodyPr wrap="square" rtlCol="0">
                    <a:spAutoFit/>
                  </a:bodyPr>
                  <a:lstStyle/>
                  <a:p>
                    <a:pPr latinLnBrk="0">
                      <a:lnSpc>
                        <a:spcPct val="150000"/>
                      </a:lnSpc>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cs typeface="Cambria Math" panose="02040503050406030204" pitchFamily="18" charset="0"/>
                            </a:rPr>
                            <m:t>𝑘</m:t>
                          </m:r>
                          <m:r>
                            <a:rPr lang="en-US" altLang="zh-CN" b="0" i="1" smtClean="0">
                              <a:latin typeface="Cambria Math" panose="02040503050406030204" pitchFamily="18" charset="0"/>
                              <a:cs typeface="Cambria Math" panose="02040503050406030204" pitchFamily="18" charset="0"/>
                            </a:rPr>
                            <m:t>=</m:t>
                          </m:r>
                          <m:r>
                            <a:rPr lang="en-US" altLang="zh-CN" i="1" smtClean="0">
                              <a:latin typeface="Cambria Math" panose="02040503050406030204" pitchFamily="18" charset="0"/>
                              <a:cs typeface="Cambria Math" panose="02040503050406030204" pitchFamily="18" charset="0"/>
                            </a:rPr>
                            <m:t>0</m:t>
                          </m:r>
                          <m:r>
                            <a:rPr lang="en-US" altLang="zh-CN" b="0" i="1" smtClean="0">
                              <a:latin typeface="Cambria Math" panose="02040503050406030204" pitchFamily="18" charset="0"/>
                              <a:cs typeface="Cambria Math" panose="02040503050406030204" pitchFamily="18" charset="0"/>
                            </a:rPr>
                            <m:t>,  </m:t>
                          </m:r>
                          <m:sSub>
                            <m:sSubPr>
                              <m:ctrlPr>
                                <a:rPr lang="zh-CN" altLang="en-US" i="1">
                                  <a:latin typeface="Cambria Math" panose="02040503050406030204" pitchFamily="18" charset="0"/>
                                </a:rPr>
                              </m:ctrlPr>
                            </m:sSubPr>
                            <m:e>
                              <m:r>
                                <a:rPr lang="zh-CN" altLang="en-US" i="1">
                                  <a:latin typeface="Cambria Math" panose="02040503050406030204" pitchFamily="18" charset="0"/>
                                </a:rPr>
                                <m:t>𝐴</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cs typeface="Cambria Math" panose="02040503050406030204" pitchFamily="18" charset="0"/>
                            </a:rPr>
                            <m:t>=</m:t>
                          </m:r>
                          <m:r>
                            <a:rPr lang="en-US" altLang="zh-CN" i="1">
                              <a:latin typeface="Cambria Math" panose="02040503050406030204" pitchFamily="18" charset="0"/>
                              <a:cs typeface="Cambria Math" panose="02040503050406030204" pitchFamily="18" charset="0"/>
                            </a:rPr>
                            <m:t>𝐼</m:t>
                          </m:r>
                        </m:oMath>
                      </m:oMathPara>
                    </a14:m>
                    <a:endParaRPr lang="en-US" altLang="zh-CN" i="1" dirty="0">
                      <a:latin typeface="Cambria Math" panose="02040503050406030204" pitchFamily="18" charset="0"/>
                      <a:cs typeface="Cambria Math" panose="02040503050406030204" pitchFamily="18" charset="0"/>
                    </a:endParaRPr>
                  </a:p>
                  <a:p>
                    <a:pPr latinLnBrk="0">
                      <a:lnSpc>
                        <a:spcPct val="150000"/>
                      </a:lnSpc>
                    </a:pPr>
                    <a:r>
                      <a:rPr lang="zh-CN" altLang="en-US" dirty="0"/>
                      <a:t>计算：</a:t>
                    </a:r>
                    <a14:m>
                      <m:oMath xmlns:m="http://schemas.openxmlformats.org/officeDocument/2006/math">
                        <m:sSub>
                          <m:sSubPr>
                            <m:ctrlPr>
                              <a:rPr lang="zh-CN" altLang="en-US" sz="1600" i="1">
                                <a:latin typeface="Cambria Math" panose="02040503050406030204" pitchFamily="18" charset="0"/>
                              </a:rPr>
                            </m:ctrlPr>
                          </m:sSubPr>
                          <m:e>
                            <m:r>
                              <a:rPr lang="en-US" altLang="zh-CN" sz="1600" b="0" i="1" smtClean="0">
                                <a:latin typeface="Cambria Math" panose="02040503050406030204" pitchFamily="18" charset="0"/>
                              </a:rPr>
                              <m:t>𝑔</m:t>
                            </m:r>
                          </m:e>
                          <m:sub>
                            <m:r>
                              <a:rPr lang="en-US" altLang="zh-CN" sz="1600" b="0" i="1" smtClean="0">
                                <a:latin typeface="Cambria Math" panose="02040503050406030204" pitchFamily="18" charset="0"/>
                              </a:rPr>
                              <m:t>0</m:t>
                            </m:r>
                          </m:sub>
                        </m:sSub>
                        <m:r>
                          <a:rPr lang="en-US" altLang="zh-CN" sz="1600" b="0" i="1" smtClean="0">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m:t>
                        </m:r>
                        <m:r>
                          <a:rPr lang="en-US" altLang="zh-CN" sz="1600" i="1">
                            <a:latin typeface="Cambria Math" panose="02040503050406030204" pitchFamily="18" charset="0"/>
                            <a:cs typeface="Cambria Math" panose="02040503050406030204" pitchFamily="18" charset="0"/>
                          </a:rPr>
                          <m:t>𝑓</m:t>
                        </m:r>
                        <m:d>
                          <m:dPr>
                            <m:ctrlPr>
                              <a:rPr lang="en-US" altLang="zh-CN" sz="1600" i="1">
                                <a:latin typeface="Cambria Math" panose="02040503050406030204" pitchFamily="18" charset="0"/>
                                <a:cs typeface="Cambria Math" panose="02040503050406030204" pitchFamily="18" charset="0"/>
                              </a:rPr>
                            </m:ctrlPr>
                          </m:dPr>
                          <m:e>
                            <m:sSup>
                              <m:sSupPr>
                                <m:ctrlPr>
                                  <a:rPr lang="en-US" altLang="zh-CN" sz="1600" i="1">
                                    <a:latin typeface="Cambria Math" panose="02040503050406030204" pitchFamily="18" charset="0"/>
                                    <a:cs typeface="Cambria Math" panose="02040503050406030204" pitchFamily="18" charset="0"/>
                                  </a:rPr>
                                </m:ctrlPr>
                              </m:sSupPr>
                              <m:e>
                                <m:r>
                                  <a:rPr lang="en-US" altLang="zh-CN" sz="1600" i="1">
                                    <a:latin typeface="Cambria Math" panose="02040503050406030204" pitchFamily="18" charset="0"/>
                                    <a:cs typeface="Cambria Math" panose="02040503050406030204" pitchFamily="18" charset="0"/>
                                  </a:rPr>
                                  <m:t>𝑥</m:t>
                                </m:r>
                              </m:e>
                              <m:sup>
                                <m:d>
                                  <m:dPr>
                                    <m:ctrlPr>
                                      <a:rPr lang="en-US" altLang="zh-CN" sz="1600" i="1">
                                        <a:latin typeface="Cambria Math" panose="02040503050406030204" pitchFamily="18" charset="0"/>
                                        <a:cs typeface="Cambria Math" panose="02040503050406030204" pitchFamily="18" charset="0"/>
                                      </a:rPr>
                                    </m:ctrlPr>
                                  </m:dPr>
                                  <m:e>
                                    <m:r>
                                      <a:rPr lang="en-US" altLang="zh-CN" sz="1600" i="1">
                                        <a:latin typeface="Cambria Math" panose="02040503050406030204" pitchFamily="18" charset="0"/>
                                        <a:cs typeface="Cambria Math" panose="02040503050406030204" pitchFamily="18" charset="0"/>
                                      </a:rPr>
                                      <m:t>0</m:t>
                                    </m:r>
                                  </m:e>
                                </m:d>
                              </m:sup>
                            </m:sSup>
                          </m:e>
                        </m:d>
                      </m:oMath>
                    </a14:m>
                    <a:endParaRPr lang="zh-CN" altLang="en-US" sz="1600" dirty="0"/>
                  </a:p>
                </p:txBody>
              </p:sp>
            </mc:Choice>
            <mc:Fallback xmlns="">
              <p:sp>
                <p:nvSpPr>
                  <p:cNvPr id="7" name="文本框 6">
                    <a:extLst>
                      <a:ext uri="{FF2B5EF4-FFF2-40B4-BE49-F238E27FC236}">
                        <a16:creationId xmlns:a16="http://schemas.microsoft.com/office/drawing/2014/main" id="{71A77901-CA36-4E2D-83B8-5F9B22D72A19}"/>
                      </a:ext>
                    </a:extLst>
                  </p:cNvPr>
                  <p:cNvSpPr txBox="1">
                    <a:spLocks noRot="1" noChangeAspect="1" noMove="1" noResize="1" noEditPoints="1" noAdjustHandles="1" noChangeArrowheads="1" noChangeShapeType="1" noTextEdit="1"/>
                  </p:cNvSpPr>
                  <p:nvPr/>
                </p:nvSpPr>
                <p:spPr>
                  <a:xfrm>
                    <a:off x="2927984" y="1988820"/>
                    <a:ext cx="2879492" cy="1188189"/>
                  </a:xfrm>
                  <a:prstGeom prst="rect">
                    <a:avLst/>
                  </a:prstGeom>
                  <a:blipFill>
                    <a:blip r:embed="rId8"/>
                    <a:stretch>
                      <a:fillRect l="-2260" b="-8844"/>
                    </a:stretch>
                  </a:blipFill>
                </p:spPr>
                <p:txBody>
                  <a:bodyPr/>
                  <a:lstStyle/>
                  <a:p>
                    <a:r>
                      <a:rPr lang="zh-CN" altLang="en-US">
                        <a:noFill/>
                      </a:rPr>
                      <a:t> </a:t>
                    </a:r>
                  </a:p>
                </p:txBody>
              </p:sp>
            </mc:Fallback>
          </mc:AlternateContent>
        </p:grpSp>
        <p:sp>
          <p:nvSpPr>
            <p:cNvPr id="27" name="AutoShape 5">
              <a:extLst>
                <a:ext uri="{FF2B5EF4-FFF2-40B4-BE49-F238E27FC236}">
                  <a16:creationId xmlns:a16="http://schemas.microsoft.com/office/drawing/2014/main" id="{0A7523D7-EEF6-CF5B-D550-5262D5DE2674}"/>
                </a:ext>
              </a:extLst>
            </p:cNvPr>
            <p:cNvSpPr>
              <a:spLocks noChangeArrowheads="1"/>
            </p:cNvSpPr>
            <p:nvPr/>
          </p:nvSpPr>
          <p:spPr bwMode="auto">
            <a:xfrm>
              <a:off x="4057239" y="497489"/>
              <a:ext cx="1016000" cy="423863"/>
            </a:xfrm>
            <a:prstGeom prst="flowChartPreparation">
              <a:avLst/>
            </a:prstGeom>
            <a:solidFill>
              <a:srgbClr val="CCFFCC"/>
            </a:solidFill>
            <a:ln w="28575" cap="sq">
              <a:solidFill>
                <a:srgbClr val="00FF00"/>
              </a:solidFill>
              <a:miter lim="800000"/>
              <a:headEnd/>
              <a:tailEnd/>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zh-CN" altLang="en-US" sz="1500" b="1" dirty="0">
                  <a:solidFill>
                    <a:srgbClr val="000000"/>
                  </a:solidFill>
                  <a:latin typeface="Times New Roman" panose="02020603050405020304" pitchFamily="18" charset="0"/>
                </a:rPr>
                <a:t>入口</a:t>
              </a:r>
              <a:endParaRPr lang="zh-CN" altLang="en-US" sz="1500" dirty="0">
                <a:solidFill>
                  <a:srgbClr val="000000"/>
                </a:solidFill>
                <a:latin typeface="Times New Roman" panose="02020603050405020304" pitchFamily="18" charset="0"/>
              </a:endParaRPr>
            </a:p>
          </p:txBody>
        </p:sp>
      </p:grpSp>
      <p:sp>
        <p:nvSpPr>
          <p:cNvPr id="28" name="Text Box 65">
            <a:extLst>
              <a:ext uri="{FF2B5EF4-FFF2-40B4-BE49-F238E27FC236}">
                <a16:creationId xmlns:a16="http://schemas.microsoft.com/office/drawing/2014/main" id="{1EAB4B32-4642-8AB0-78F6-98196C0C18AB}"/>
              </a:ext>
            </a:extLst>
          </p:cNvPr>
          <p:cNvSpPr txBox="1">
            <a:spLocks noChangeArrowheads="1"/>
          </p:cNvSpPr>
          <p:nvPr/>
        </p:nvSpPr>
        <p:spPr bwMode="auto">
          <a:xfrm rot="10800000" flipV="1">
            <a:off x="7341498" y="4698731"/>
            <a:ext cx="2381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en-US" altLang="zh-CN" sz="1800" dirty="0"/>
              <a:t>Y</a:t>
            </a:r>
          </a:p>
        </p:txBody>
      </p:sp>
      <p:sp>
        <p:nvSpPr>
          <p:cNvPr id="31" name="Line 19">
            <a:extLst>
              <a:ext uri="{FF2B5EF4-FFF2-40B4-BE49-F238E27FC236}">
                <a16:creationId xmlns:a16="http://schemas.microsoft.com/office/drawing/2014/main" id="{2175571D-BB4E-520E-2703-E2255E784D42}"/>
              </a:ext>
            </a:extLst>
          </p:cNvPr>
          <p:cNvSpPr>
            <a:spLocks noChangeShapeType="1"/>
          </p:cNvSpPr>
          <p:nvPr/>
        </p:nvSpPr>
        <p:spPr bwMode="auto">
          <a:xfrm>
            <a:off x="3294652" y="2942874"/>
            <a:ext cx="2072" cy="159057"/>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08" name="Text Box 26">
            <a:extLst>
              <a:ext uri="{FF2B5EF4-FFF2-40B4-BE49-F238E27FC236}">
                <a16:creationId xmlns:a16="http://schemas.microsoft.com/office/drawing/2014/main" id="{6613DDBD-3C1E-F8CA-5483-A9BF5E040557}"/>
              </a:ext>
            </a:extLst>
          </p:cNvPr>
          <p:cNvSpPr txBox="1">
            <a:spLocks noChangeArrowheads="1"/>
          </p:cNvSpPr>
          <p:nvPr/>
        </p:nvSpPr>
        <p:spPr bwMode="auto">
          <a:xfrm>
            <a:off x="2172183" y="3117295"/>
            <a:ext cx="278923"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9056" tIns="34529" rIns="69056" bIns="34529"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spcBef>
                <a:spcPct val="50000"/>
              </a:spcBef>
              <a:buFont typeface="Wingdings" panose="05000000000000000000" pitchFamily="2" charset="2"/>
              <a:buNone/>
            </a:pPr>
            <a:r>
              <a:rPr lang="en-US" altLang="en-US" sz="1500" b="1" dirty="0">
                <a:latin typeface="Times New Roman" panose="02020603050405020304" pitchFamily="18" charset="0"/>
              </a:rPr>
              <a:t>Y</a:t>
            </a:r>
            <a:endParaRPr lang="en-US" altLang="zh-CN" sz="1500"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43009" name="AutoShape 8">
                <a:extLst>
                  <a:ext uri="{FF2B5EF4-FFF2-40B4-BE49-F238E27FC236}">
                    <a16:creationId xmlns:a16="http://schemas.microsoft.com/office/drawing/2014/main" id="{64EE928C-8ACF-15CB-73B5-D90C7ACC5300}"/>
                  </a:ext>
                </a:extLst>
              </p:cNvPr>
              <p:cNvSpPr>
                <a:spLocks noChangeArrowheads="1"/>
              </p:cNvSpPr>
              <p:nvPr/>
            </p:nvSpPr>
            <p:spPr bwMode="auto">
              <a:xfrm>
                <a:off x="2554708" y="3088658"/>
                <a:ext cx="1460897" cy="537666"/>
              </a:xfrm>
              <a:prstGeom prst="flowChartDecision">
                <a:avLst/>
              </a:prstGeom>
              <a:solidFill>
                <a:srgbClr val="CCFFCC"/>
              </a:solidFill>
              <a:ln w="28575" cap="sq">
                <a:solidFill>
                  <a:srgbClr val="00FF00"/>
                </a:solidFill>
                <a:miter lim="800000"/>
              </a:ln>
              <a:effectLst/>
              <a:extLst>
                <a:ext uri="{AF507438-7753-43E0-B8FC-AC1667EBCBE1}">
                  <a14:hiddenEffects>
                    <a:effectLst>
                      <a:outerShdw dist="35921" dir="2700000" algn="ctr" rotWithShape="0">
                        <a:schemeClr val="bg2"/>
                      </a:outerShdw>
                    </a:effectLst>
                  </a14:hiddenEffects>
                </a:ext>
              </a:extLst>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a:buFontTx/>
                  <a:buNone/>
                  <a:defRPr/>
                </a:pPr>
                <a14:m>
                  <m:oMathPara xmlns:m="http://schemas.openxmlformats.org/officeDocument/2006/math">
                    <m:oMathParaPr>
                      <m:jc m:val="centerGroup"/>
                    </m:oMathParaPr>
                    <m:oMath xmlns:m="http://schemas.openxmlformats.org/officeDocument/2006/math">
                      <m:sSub>
                        <m:sSubPr>
                          <m:ctrlPr>
                            <a:rPr lang="en-US" altLang="zh-CN" sz="1350" i="1" kern="100">
                              <a:latin typeface="Cambria Math" panose="02040503050406030204" pitchFamily="18" charset="0"/>
                              <a:ea typeface="Cambria Math" panose="02040503050406030204" pitchFamily="18" charset="0"/>
                            </a:rPr>
                          </m:ctrlPr>
                        </m:sSubPr>
                        <m:e>
                          <m:d>
                            <m:dPr>
                              <m:begChr m:val="‖"/>
                              <m:endChr m:val="‖"/>
                              <m:ctrlPr>
                                <a:rPr lang="zh-CN" altLang="zh-CN" sz="1350" i="1" kern="100">
                                  <a:latin typeface="Cambria Math" panose="02040503050406030204" pitchFamily="18" charset="0"/>
                                  <a:ea typeface="Cambria Math" panose="02040503050406030204" pitchFamily="18" charset="0"/>
                                </a:rPr>
                              </m:ctrlPr>
                            </m:dPr>
                            <m:e>
                              <m:sSub>
                                <m:sSubPr>
                                  <m:ctrlPr>
                                    <a:rPr lang="zh-CN" altLang="zh-CN" sz="1350" i="1" kern="100">
                                      <a:latin typeface="Cambria Math" panose="02040503050406030204" pitchFamily="18" charset="0"/>
                                      <a:ea typeface="Cambria Math" panose="02040503050406030204" pitchFamily="18" charset="0"/>
                                    </a:rPr>
                                  </m:ctrlPr>
                                </m:sSubPr>
                                <m:e>
                                  <m:r>
                                    <a:rPr lang="en-US" altLang="zh-CN" sz="1350" i="1" kern="100">
                                      <a:latin typeface="Cambria Math" panose="02040503050406030204" pitchFamily="18" charset="0"/>
                                    </a:rPr>
                                    <m:t>𝑔</m:t>
                                  </m:r>
                                </m:e>
                                <m:sub>
                                  <m:r>
                                    <a:rPr lang="en-US" altLang="zh-CN" sz="1350" i="1" kern="100">
                                      <a:latin typeface="Cambria Math" panose="02040503050406030204" pitchFamily="18" charset="0"/>
                                    </a:rPr>
                                    <m:t>0</m:t>
                                  </m:r>
                                </m:sub>
                              </m:sSub>
                            </m:e>
                          </m:d>
                        </m:e>
                        <m:sub>
                          <m:r>
                            <a:rPr lang="en-US" altLang="zh-CN" sz="1350" i="1" kern="100">
                              <a:latin typeface="Cambria Math" panose="02040503050406030204" pitchFamily="18" charset="0"/>
                              <a:ea typeface="Cambria Math" panose="02040503050406030204" pitchFamily="18" charset="0"/>
                            </a:rPr>
                            <m:t>2</m:t>
                          </m:r>
                        </m:sub>
                      </m:sSub>
                      <m:r>
                        <a:rPr lang="en-US" altLang="zh-CN" sz="1350" i="1" kern="100">
                          <a:latin typeface="Cambria Math" panose="02040503050406030204" pitchFamily="18" charset="0"/>
                          <a:ea typeface="Cambria Math" panose="02040503050406030204" pitchFamily="18" charset="0"/>
                        </a:rPr>
                        <m:t>≤</m:t>
                      </m:r>
                      <m:r>
                        <a:rPr lang="en-US" altLang="zh-CN" sz="1350" i="1" kern="100">
                          <a:latin typeface="Cambria Math" panose="02040503050406030204" pitchFamily="18" charset="0"/>
                        </a:rPr>
                        <m:t>𝜀</m:t>
                      </m:r>
                    </m:oMath>
                  </m:oMathPara>
                </a14:m>
                <a:endParaRPr lang="zh-CN" altLang="en-US" sz="1350" b="1" i="1" dirty="0">
                  <a:solidFill>
                    <a:srgbClr val="000000"/>
                  </a:solidFill>
                  <a:latin typeface="Times New Roman" panose="02020603050405020304" pitchFamily="18" charset="0"/>
                  <a:sym typeface="Symbol" panose="05050102010706020507" pitchFamily="18" charset="2"/>
                </a:endParaRPr>
              </a:p>
            </p:txBody>
          </p:sp>
        </mc:Choice>
        <mc:Fallback xmlns="">
          <p:sp>
            <p:nvSpPr>
              <p:cNvPr id="43009" name="AutoShape 8">
                <a:extLst>
                  <a:ext uri="{FF2B5EF4-FFF2-40B4-BE49-F238E27FC236}">
                    <a16:creationId xmlns:a16="http://schemas.microsoft.com/office/drawing/2014/main" id="{64EE928C-8ACF-15CB-73B5-D90C7ACC5300}"/>
                  </a:ext>
                </a:extLst>
              </p:cNvPr>
              <p:cNvSpPr>
                <a:spLocks noRot="1" noChangeAspect="1" noMove="1" noResize="1" noEditPoints="1" noAdjustHandles="1" noChangeArrowheads="1" noChangeShapeType="1" noTextEdit="1"/>
              </p:cNvSpPr>
              <p:nvPr/>
            </p:nvSpPr>
            <p:spPr bwMode="auto">
              <a:xfrm>
                <a:off x="2554708" y="3088658"/>
                <a:ext cx="1460897" cy="537666"/>
              </a:xfrm>
              <a:prstGeom prst="flowChartDecision">
                <a:avLst/>
              </a:prstGeom>
              <a:blipFill>
                <a:blip r:embed="rId9"/>
                <a:stretch>
                  <a:fillRect/>
                </a:stretch>
              </a:blipFill>
              <a:ln w="28575" cap="sq">
                <a:solidFill>
                  <a:srgbClr val="00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43012" name="Text Box 25">
            <a:extLst>
              <a:ext uri="{FF2B5EF4-FFF2-40B4-BE49-F238E27FC236}">
                <a16:creationId xmlns:a16="http://schemas.microsoft.com/office/drawing/2014/main" id="{16F55B8D-5F5A-C895-B5A1-766AFEDE5B68}"/>
              </a:ext>
            </a:extLst>
          </p:cNvPr>
          <p:cNvSpPr txBox="1">
            <a:spLocks noChangeArrowheads="1"/>
          </p:cNvSpPr>
          <p:nvPr/>
        </p:nvSpPr>
        <p:spPr bwMode="auto">
          <a:xfrm>
            <a:off x="2974574" y="3594233"/>
            <a:ext cx="278923"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9056" tIns="34529" rIns="69056" bIns="34529"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spcBef>
                <a:spcPct val="50000"/>
              </a:spcBef>
              <a:buFont typeface="Wingdings" panose="05000000000000000000" pitchFamily="2" charset="2"/>
              <a:buNone/>
            </a:pPr>
            <a:r>
              <a:rPr lang="en-US" altLang="en-US" sz="1500" b="1" dirty="0">
                <a:latin typeface="Times New Roman" panose="02020603050405020304" pitchFamily="18" charset="0"/>
              </a:rPr>
              <a:t>N</a:t>
            </a:r>
            <a:endParaRPr lang="en-US" altLang="zh-CN" sz="1500" dirty="0">
              <a:latin typeface="Times New Roman" panose="02020603050405020304" pitchFamily="18" charset="0"/>
            </a:endParaRPr>
          </a:p>
        </p:txBody>
      </p:sp>
      <p:sp>
        <p:nvSpPr>
          <p:cNvPr id="43016" name="AutoShape 9">
            <a:extLst>
              <a:ext uri="{FF2B5EF4-FFF2-40B4-BE49-F238E27FC236}">
                <a16:creationId xmlns:a16="http://schemas.microsoft.com/office/drawing/2014/main" id="{FACBFA14-38A5-EFFE-73D4-B82B58AA4B4E}"/>
              </a:ext>
            </a:extLst>
          </p:cNvPr>
          <p:cNvSpPr>
            <a:spLocks noChangeArrowheads="1"/>
          </p:cNvSpPr>
          <p:nvPr/>
        </p:nvSpPr>
        <p:spPr bwMode="auto">
          <a:xfrm>
            <a:off x="636904" y="3181109"/>
            <a:ext cx="1546622" cy="542925"/>
          </a:xfrm>
          <a:prstGeom prst="flowChartInputOutput">
            <a:avLst/>
          </a:prstGeom>
          <a:solidFill>
            <a:srgbClr val="CCFFCC"/>
          </a:solidFill>
          <a:ln w="28575" cap="sq">
            <a:solidFill>
              <a:srgbClr val="00FF00"/>
            </a:solidFill>
            <a:miter lim="800000"/>
            <a:headEnd/>
            <a:tailEnd/>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en-US" altLang="en-US" sz="1500" b="1" i="1" dirty="0">
                <a:solidFill>
                  <a:srgbClr val="000000"/>
                </a:solidFill>
                <a:latin typeface="Times New Roman" panose="02020603050405020304" pitchFamily="18" charset="0"/>
              </a:rPr>
              <a:t>x*=x</a:t>
            </a:r>
            <a:r>
              <a:rPr lang="en-US" altLang="en-US" sz="1500" b="1" i="1" baseline="30000" dirty="0">
                <a:solidFill>
                  <a:srgbClr val="000000"/>
                </a:solidFill>
                <a:latin typeface="Times New Roman" panose="02020603050405020304" pitchFamily="18" charset="0"/>
              </a:rPr>
              <a:t>(0)</a:t>
            </a:r>
            <a:endParaRPr lang="en-US" altLang="en-US" sz="1500" b="1" i="1" dirty="0">
              <a:solidFill>
                <a:srgbClr val="000000"/>
              </a:solidFill>
              <a:latin typeface="Times New Roman" panose="02020603050405020304" pitchFamily="18" charset="0"/>
            </a:endParaRPr>
          </a:p>
          <a:p>
            <a:pPr algn="ctr">
              <a:buFont typeface="Wingdings" panose="05000000000000000000" pitchFamily="2" charset="2"/>
              <a:buNone/>
            </a:pPr>
            <a:r>
              <a:rPr lang="en-US" altLang="en-US" sz="1500" b="1" i="1" dirty="0">
                <a:solidFill>
                  <a:srgbClr val="000000"/>
                </a:solidFill>
                <a:latin typeface="Times New Roman" panose="02020603050405020304" pitchFamily="18" charset="0"/>
              </a:rPr>
              <a:t>f*=f(x</a:t>
            </a:r>
            <a:r>
              <a:rPr lang="en-US" altLang="en-US" sz="1500" b="1" i="1" baseline="30000" dirty="0">
                <a:solidFill>
                  <a:srgbClr val="000000"/>
                </a:solidFill>
                <a:latin typeface="Times New Roman" panose="02020603050405020304" pitchFamily="18" charset="0"/>
              </a:rPr>
              <a:t>(0)</a:t>
            </a:r>
            <a:r>
              <a:rPr lang="en-US" altLang="en-US" sz="1500" b="1" i="1" dirty="0">
                <a:solidFill>
                  <a:srgbClr val="000000"/>
                </a:solidFill>
                <a:latin typeface="Times New Roman" panose="02020603050405020304" pitchFamily="18" charset="0"/>
              </a:rPr>
              <a:t>)</a:t>
            </a:r>
            <a:endParaRPr lang="en-US" altLang="zh-CN" sz="1500" dirty="0">
              <a:solidFill>
                <a:srgbClr val="000000"/>
              </a:solidFill>
              <a:latin typeface="Times New Roman" panose="02020603050405020304" pitchFamily="18" charset="0"/>
            </a:endParaRPr>
          </a:p>
        </p:txBody>
      </p:sp>
      <p:sp>
        <p:nvSpPr>
          <p:cNvPr id="43018" name="AutoShape 10">
            <a:extLst>
              <a:ext uri="{FF2B5EF4-FFF2-40B4-BE49-F238E27FC236}">
                <a16:creationId xmlns:a16="http://schemas.microsoft.com/office/drawing/2014/main" id="{D4E386ED-FE3A-C59F-CCC6-481025320894}"/>
              </a:ext>
            </a:extLst>
          </p:cNvPr>
          <p:cNvSpPr>
            <a:spLocks noChangeArrowheads="1"/>
          </p:cNvSpPr>
          <p:nvPr/>
        </p:nvSpPr>
        <p:spPr bwMode="auto">
          <a:xfrm>
            <a:off x="761703" y="5645773"/>
            <a:ext cx="952500" cy="258365"/>
          </a:xfrm>
          <a:prstGeom prst="flowChartTerminator">
            <a:avLst/>
          </a:prstGeom>
          <a:solidFill>
            <a:srgbClr val="CCFFCC"/>
          </a:solidFill>
          <a:ln w="28575" cap="sq">
            <a:solidFill>
              <a:srgbClr val="00FF00"/>
            </a:solidFill>
            <a:miter lim="800000"/>
            <a:headEnd/>
            <a:tailEnd/>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zh-CN" altLang="en-US" sz="1500" b="1" dirty="0">
                <a:solidFill>
                  <a:srgbClr val="000000"/>
                </a:solidFill>
                <a:latin typeface="Times New Roman" panose="02020603050405020304" pitchFamily="18" charset="0"/>
              </a:rPr>
              <a:t>出口</a:t>
            </a:r>
            <a:endParaRPr lang="zh-CN" altLang="en-US" sz="1500" dirty="0">
              <a:solidFill>
                <a:srgbClr val="000000"/>
              </a:solidFill>
              <a:latin typeface="Times New Roman" panose="02020603050405020304" pitchFamily="18" charset="0"/>
            </a:endParaRPr>
          </a:p>
        </p:txBody>
      </p:sp>
      <p:sp>
        <p:nvSpPr>
          <p:cNvPr id="43020" name="Line 20">
            <a:extLst>
              <a:ext uri="{FF2B5EF4-FFF2-40B4-BE49-F238E27FC236}">
                <a16:creationId xmlns:a16="http://schemas.microsoft.com/office/drawing/2014/main" id="{F4F7F9D2-4256-1B92-4228-362B78CCB80D}"/>
              </a:ext>
            </a:extLst>
          </p:cNvPr>
          <p:cNvSpPr>
            <a:spLocks noChangeShapeType="1"/>
          </p:cNvSpPr>
          <p:nvPr/>
        </p:nvSpPr>
        <p:spPr bwMode="auto">
          <a:xfrm flipH="1">
            <a:off x="2041189" y="3359001"/>
            <a:ext cx="510233" cy="2290"/>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022" name="Line 24">
            <a:extLst>
              <a:ext uri="{FF2B5EF4-FFF2-40B4-BE49-F238E27FC236}">
                <a16:creationId xmlns:a16="http://schemas.microsoft.com/office/drawing/2014/main" id="{47E196F6-E5BF-37FA-E833-1ACFB8C775E2}"/>
              </a:ext>
            </a:extLst>
          </p:cNvPr>
          <p:cNvSpPr>
            <a:spLocks noChangeShapeType="1"/>
          </p:cNvSpPr>
          <p:nvPr/>
        </p:nvSpPr>
        <p:spPr bwMode="auto">
          <a:xfrm flipH="1">
            <a:off x="1237954" y="3724034"/>
            <a:ext cx="5957" cy="1921739"/>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Line 60">
            <a:extLst>
              <a:ext uri="{FF2B5EF4-FFF2-40B4-BE49-F238E27FC236}">
                <a16:creationId xmlns:a16="http://schemas.microsoft.com/office/drawing/2014/main" id="{43C7247C-DD2D-2A6B-1FE6-4D58E3CBA508}"/>
              </a:ext>
            </a:extLst>
          </p:cNvPr>
          <p:cNvSpPr>
            <a:spLocks noChangeShapeType="1"/>
          </p:cNvSpPr>
          <p:nvPr/>
        </p:nvSpPr>
        <p:spPr bwMode="auto">
          <a:xfrm>
            <a:off x="8118100" y="5298361"/>
            <a:ext cx="0" cy="408303"/>
          </a:xfrm>
          <a:prstGeom prst="line">
            <a:avLst/>
          </a:prstGeom>
          <a:noFill/>
          <a:ln w="28575">
            <a:solidFill>
              <a:srgbClr val="00FF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 name="Line 61">
            <a:extLst>
              <a:ext uri="{FF2B5EF4-FFF2-40B4-BE49-F238E27FC236}">
                <a16:creationId xmlns:a16="http://schemas.microsoft.com/office/drawing/2014/main" id="{D012EDB8-6FDA-8314-B834-336C78A1F183}"/>
              </a:ext>
            </a:extLst>
          </p:cNvPr>
          <p:cNvSpPr>
            <a:spLocks noChangeShapeType="1"/>
          </p:cNvSpPr>
          <p:nvPr/>
        </p:nvSpPr>
        <p:spPr bwMode="auto">
          <a:xfrm flipH="1">
            <a:off x="1690148" y="5705063"/>
            <a:ext cx="6416216" cy="72266"/>
          </a:xfrm>
          <a:prstGeom prst="line">
            <a:avLst/>
          </a:prstGeom>
          <a:noFill/>
          <a:ln w="28575">
            <a:solidFill>
              <a:srgbClr val="00FF00"/>
            </a:solidFill>
            <a:round/>
            <a:tailEnd type="stealth" w="lg" len="lg"/>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26192987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C358D8B8-39B3-1E00-40E5-861ADD4AE337}"/>
                  </a:ext>
                </a:extLst>
              </p:cNvPr>
              <p:cNvSpPr txBox="1"/>
              <p:nvPr/>
            </p:nvSpPr>
            <p:spPr>
              <a:xfrm>
                <a:off x="611560" y="-19396"/>
                <a:ext cx="7920880" cy="6877396"/>
              </a:xfrm>
              <a:prstGeom prst="rect">
                <a:avLst/>
              </a:prstGeom>
              <a:noFill/>
            </p:spPr>
            <p:txBody>
              <a:bodyPr wrap="square">
                <a:spAutoFit/>
              </a:bodyPr>
              <a:lstStyle/>
              <a:p>
                <a:pPr algn="just" latinLnBrk="0">
                  <a:lnSpc>
                    <a:spcPct val="150000"/>
                  </a:lnSpc>
                </a:pPr>
                <a:r>
                  <a:rPr lang="zh-CN" altLang="en-US" sz="2400" dirty="0">
                    <a:latin typeface="宋体" panose="02010600030101010101" pitchFamily="2" charset="-122"/>
                  </a:rPr>
                  <a:t>如果考虑二阶梯度的逆矩阵，拟牛顿条件可以写为</a:t>
                </a:r>
                <a:endParaRPr lang="en-US" altLang="zh-CN" sz="2400" dirty="0">
                  <a:latin typeface="宋体" panose="02010600030101010101" pitchFamily="2" charset="-122"/>
                </a:endParaRPr>
              </a:p>
              <a:p>
                <a:pPr algn="just" latinLnBrk="0">
                  <a:lnSpc>
                    <a:spcPct val="150000"/>
                  </a:lnSpc>
                </a:pPr>
                <a14:m>
                  <m:oMathPara xmlns:m="http://schemas.openxmlformats.org/officeDocument/2006/math">
                    <m:oMathParaPr>
                      <m:jc m:val="centerGroup"/>
                    </m:oMathParaPr>
                    <m:oMath xmlns:m="http://schemas.openxmlformats.org/officeDocument/2006/math">
                      <m:sSub>
                        <m:sSubPr>
                          <m:ctrlPr>
                            <a:rPr lang="en-US" altLang="zh-CN" sz="2400"/>
                          </m:ctrlPr>
                        </m:sSubPr>
                        <m:e>
                          <m:sSub>
                            <m:sSubPr>
                              <m:ctrlPr>
                                <a:rPr lang="en-US" altLang="zh-CN" sz="2400"/>
                              </m:ctrlPr>
                            </m:sSubPr>
                            <m:e>
                              <m:r>
                                <a:rPr lang="en-US" altLang="zh-CN" sz="2400"/>
                                <m:t>𝐵</m:t>
                              </m:r>
                            </m:e>
                            <m:sub>
                              <m:r>
                                <a:rPr lang="en-US" altLang="zh-CN" sz="2400"/>
                                <m:t>𝑘</m:t>
                              </m:r>
                              <m:r>
                                <a:rPr lang="en-US" altLang="zh-CN" sz="2400"/>
                                <m:t>+1</m:t>
                              </m:r>
                            </m:sub>
                          </m:sSub>
                          <m:r>
                            <a:rPr lang="en-US" altLang="zh-CN" sz="2400"/>
                            <m:t>𝑠</m:t>
                          </m:r>
                        </m:e>
                        <m:sub>
                          <m:r>
                            <a:rPr lang="en-US" altLang="zh-CN" sz="2400"/>
                            <m:t>𝑘</m:t>
                          </m:r>
                        </m:sub>
                      </m:sSub>
                      <m:r>
                        <a:rPr lang="en-US" altLang="zh-CN" sz="2400"/>
                        <m:t>=</m:t>
                      </m:r>
                      <m:sSub>
                        <m:sSubPr>
                          <m:ctrlPr>
                            <a:rPr lang="en-US" altLang="zh-CN" sz="2400"/>
                          </m:ctrlPr>
                        </m:sSubPr>
                        <m:e>
                          <m:r>
                            <a:rPr lang="en-US" altLang="zh-CN" sz="2400"/>
                            <m:t>𝑦</m:t>
                          </m:r>
                        </m:e>
                        <m:sub>
                          <m:r>
                            <a:rPr lang="en-US" altLang="zh-CN" sz="2400"/>
                            <m:t>𝑘</m:t>
                          </m:r>
                        </m:sub>
                      </m:sSub>
                    </m:oMath>
                  </m:oMathPara>
                </a14:m>
                <a:endParaRPr lang="en-US" altLang="zh-CN" sz="2400" dirty="0">
                  <a:latin typeface="宋体" panose="02010600030101010101" pitchFamily="2" charset="-122"/>
                </a:endParaRPr>
              </a:p>
              <a:p>
                <a:pPr algn="just">
                  <a:lnSpc>
                    <a:spcPct val="150000"/>
                  </a:lnSpc>
                </a:pPr>
                <a:r>
                  <a:rPr lang="zh-CN" altLang="en-US" sz="2400" dirty="0">
                    <a:latin typeface="宋体" panose="02010600030101010101" pitchFamily="2" charset="-122"/>
                  </a:rPr>
                  <a:t>结合</a:t>
                </a:r>
                <a:endParaRPr lang="en-US" altLang="zh-CN" sz="2400" dirty="0">
                  <a:latin typeface="宋体" panose="02010600030101010101" pitchFamily="2" charset="-122"/>
                </a:endParaRPr>
              </a:p>
              <a:p>
                <a:pPr algn="ctr">
                  <a:lnSpc>
                    <a:spcPct val="150000"/>
                  </a:lnSpc>
                </a:pPr>
                <a14:m>
                  <m:oMath xmlns:m="http://schemas.openxmlformats.org/officeDocument/2006/math">
                    <m:sSub>
                      <m:sSubPr>
                        <m:ctrlPr>
                          <a:rPr lang="zh-CN" altLang="en-US" sz="2400"/>
                        </m:ctrlPr>
                      </m:sSubPr>
                      <m:e>
                        <m:r>
                          <a:rPr lang="en-US" altLang="zh-CN" sz="2400"/>
                          <m:t>𝐵</m:t>
                        </m:r>
                      </m:e>
                      <m:sub>
                        <m:r>
                          <a:rPr lang="zh-CN" altLang="en-US" sz="2400"/>
                          <m:t>𝑘</m:t>
                        </m:r>
                        <m:r>
                          <a:rPr lang="zh-CN" altLang="en-US" sz="2400"/>
                          <m:t>+1</m:t>
                        </m:r>
                      </m:sub>
                    </m:sSub>
                    <m:r>
                      <a:rPr lang="zh-CN" altLang="en-US" sz="2400"/>
                      <m:t> </m:t>
                    </m:r>
                  </m:oMath>
                </a14:m>
                <a:r>
                  <a:rPr lang="en-US" altLang="zh-CN" sz="2400" dirty="0">
                    <a:latin typeface="宋体" panose="02010600030101010101" pitchFamily="2" charset="-122"/>
                  </a:rPr>
                  <a:t>=</a:t>
                </a:r>
                <a:r>
                  <a:rPr lang="zh-CN" altLang="en-US" sz="2400" dirty="0">
                    <a:latin typeface="宋体" panose="02010600030101010101" pitchFamily="2" charset="-122"/>
                  </a:rPr>
                  <a:t> </a:t>
                </a:r>
                <a14:m>
                  <m:oMath xmlns:m="http://schemas.openxmlformats.org/officeDocument/2006/math">
                    <m:sSub>
                      <m:sSubPr>
                        <m:ctrlPr>
                          <a:rPr lang="zh-CN" altLang="en-US" sz="2400"/>
                        </m:ctrlPr>
                      </m:sSubPr>
                      <m:e>
                        <m:r>
                          <a:rPr lang="en-US" altLang="zh-CN" sz="2400"/>
                          <m:t>𝐵</m:t>
                        </m:r>
                      </m:e>
                      <m:sub>
                        <m:r>
                          <a:rPr lang="zh-CN" altLang="en-US" sz="2400"/>
                          <m:t>𝑘</m:t>
                        </m:r>
                      </m:sub>
                    </m:sSub>
                    <m:r>
                      <a:rPr lang="zh-CN" altLang="en-US" sz="2400"/>
                      <m:t> </m:t>
                    </m:r>
                  </m:oMath>
                </a14:m>
                <a:r>
                  <a:rPr lang="en-US" altLang="zh-CN" sz="2400" dirty="0">
                    <a:latin typeface="宋体" panose="02010600030101010101" pitchFamily="2" charset="-122"/>
                  </a:rPr>
                  <a:t>+</a:t>
                </a:r>
                <a14:m>
                  <m:oMath xmlns:m="http://schemas.openxmlformats.org/officeDocument/2006/math">
                    <m:r>
                      <a:rPr lang="zh-CN" altLang="en-US" sz="2400"/>
                      <m:t>∆</m:t>
                    </m:r>
                    <m:sSub>
                      <m:sSubPr>
                        <m:ctrlPr>
                          <a:rPr lang="zh-CN" altLang="en-US" sz="2400"/>
                        </m:ctrlPr>
                      </m:sSubPr>
                      <m:e>
                        <m:r>
                          <a:rPr lang="en-US" altLang="zh-CN" sz="2400"/>
                          <m:t>𝐵</m:t>
                        </m:r>
                      </m:e>
                      <m:sub>
                        <m:r>
                          <a:rPr lang="zh-CN" altLang="en-US" sz="2400"/>
                          <m:t>𝑘</m:t>
                        </m:r>
                      </m:sub>
                    </m:sSub>
                  </m:oMath>
                </a14:m>
                <a:endParaRPr lang="en-US" altLang="zh-CN" sz="2400" dirty="0">
                  <a:latin typeface="宋体" panose="02010600030101010101" pitchFamily="2" charset="-122"/>
                </a:endParaRPr>
              </a:p>
              <a:p>
                <a:pPr algn="just">
                  <a:lnSpc>
                    <a:spcPct val="150000"/>
                  </a:lnSpc>
                </a:pPr>
                <a:r>
                  <a:rPr lang="zh-CN" altLang="en-US" sz="2400" dirty="0">
                    <a:latin typeface="宋体" panose="02010600030101010101" pitchFamily="2" charset="-122"/>
                  </a:rPr>
                  <a:t>推出</a:t>
                </a:r>
                <a:endParaRPr lang="en-US" altLang="zh-CN" sz="2400" dirty="0">
                  <a:latin typeface="宋体" panose="02010600030101010101" pitchFamily="2" charset="-122"/>
                </a:endParaRPr>
              </a:p>
              <a:p>
                <a:pPr algn="just">
                  <a:lnSpc>
                    <a:spcPct val="150000"/>
                  </a:lnSpc>
                </a:pPr>
                <a14:m>
                  <m:oMathPara xmlns:m="http://schemas.openxmlformats.org/officeDocument/2006/math">
                    <m:oMathParaPr>
                      <m:jc m:val="centerGroup"/>
                    </m:oMathParaPr>
                    <m:oMath xmlns:m="http://schemas.openxmlformats.org/officeDocument/2006/math">
                      <m:r>
                        <a:rPr lang="zh-CN" altLang="en-US" sz="2400"/>
                        <m:t>𝛥</m:t>
                      </m:r>
                      <m:sSub>
                        <m:sSubPr>
                          <m:ctrlPr>
                            <a:rPr lang="zh-CN" altLang="en-US" sz="2400"/>
                          </m:ctrlPr>
                        </m:sSubPr>
                        <m:e>
                          <m:r>
                            <a:rPr lang="en-US" altLang="zh-CN" sz="2400"/>
                            <m:t>𝐵</m:t>
                          </m:r>
                        </m:e>
                        <m:sub>
                          <m:r>
                            <a:rPr lang="zh-CN" altLang="en-US" sz="2400"/>
                            <m:t>𝑘</m:t>
                          </m:r>
                        </m:sub>
                      </m:sSub>
                      <m:sSub>
                        <m:sSubPr>
                          <m:ctrlPr>
                            <a:rPr lang="zh-CN" altLang="en-US" sz="2400"/>
                          </m:ctrlPr>
                        </m:sSubPr>
                        <m:e>
                          <m:r>
                            <a:rPr lang="en-US" altLang="zh-CN" sz="2400"/>
                            <m:t>𝑠</m:t>
                          </m:r>
                        </m:e>
                        <m:sub>
                          <m:r>
                            <a:rPr lang="zh-CN" altLang="en-US" sz="2400"/>
                            <m:t>𝑘</m:t>
                          </m:r>
                        </m:sub>
                      </m:sSub>
                      <m:r>
                        <a:rPr lang="zh-CN" altLang="en-US" sz="2400"/>
                        <m:t>=</m:t>
                      </m:r>
                      <m:sSub>
                        <m:sSubPr>
                          <m:ctrlPr>
                            <a:rPr lang="zh-CN" altLang="en-US" sz="2400"/>
                          </m:ctrlPr>
                        </m:sSubPr>
                        <m:e>
                          <m:r>
                            <a:rPr lang="en-US" altLang="zh-CN" sz="2400"/>
                            <m:t>𝑦</m:t>
                          </m:r>
                        </m:e>
                        <m:sub>
                          <m:r>
                            <a:rPr lang="zh-CN" altLang="en-US" sz="2400"/>
                            <m:t>𝑘</m:t>
                          </m:r>
                        </m:sub>
                      </m:sSub>
                      <m:r>
                        <a:rPr lang="zh-CN" altLang="en-US" sz="2400"/>
                        <m:t>−</m:t>
                      </m:r>
                      <m:sSub>
                        <m:sSubPr>
                          <m:ctrlPr>
                            <a:rPr lang="zh-CN" altLang="en-US" sz="2400"/>
                          </m:ctrlPr>
                        </m:sSubPr>
                        <m:e>
                          <m:r>
                            <a:rPr lang="en-US" altLang="zh-CN" sz="2400"/>
                            <m:t>𝐵</m:t>
                          </m:r>
                        </m:e>
                        <m:sub>
                          <m:r>
                            <a:rPr lang="zh-CN" altLang="en-US" sz="2400"/>
                            <m:t>𝑘</m:t>
                          </m:r>
                        </m:sub>
                      </m:sSub>
                      <m:sSub>
                        <m:sSubPr>
                          <m:ctrlPr>
                            <a:rPr lang="zh-CN" altLang="en-US" sz="2400"/>
                          </m:ctrlPr>
                        </m:sSubPr>
                        <m:e>
                          <m:r>
                            <a:rPr lang="en-US" altLang="zh-CN" sz="2400"/>
                            <m:t>𝑠</m:t>
                          </m:r>
                        </m:e>
                        <m:sub>
                          <m:r>
                            <a:rPr lang="zh-CN" altLang="en-US" sz="2400"/>
                            <m:t>𝑘</m:t>
                          </m:r>
                        </m:sub>
                      </m:sSub>
                    </m:oMath>
                  </m:oMathPara>
                </a14:m>
                <a:endParaRPr lang="en-US" altLang="zh-CN" sz="2400" dirty="0">
                  <a:latin typeface="宋体" panose="02010600030101010101" pitchFamily="2" charset="-122"/>
                </a:endParaRPr>
              </a:p>
              <a:p>
                <a:pPr algn="just">
                  <a:lnSpc>
                    <a:spcPct val="150000"/>
                  </a:lnSpc>
                </a:pPr>
                <a:r>
                  <a:rPr lang="zh-CN" altLang="en-US" sz="2400" dirty="0">
                    <a:latin typeface="宋体" panose="02010600030101010101" pitchFamily="2" charset="-122"/>
                  </a:rPr>
                  <a:t>假设</a:t>
                </a:r>
                <a14:m>
                  <m:oMath xmlns:m="http://schemas.openxmlformats.org/officeDocument/2006/math">
                    <m:r>
                      <a:rPr lang="zh-CN" altLang="en-US" sz="2400"/>
                      <m:t>𝛥</m:t>
                    </m:r>
                    <m:sSub>
                      <m:sSubPr>
                        <m:ctrlPr>
                          <a:rPr lang="zh-CN" altLang="en-US" sz="2400"/>
                        </m:ctrlPr>
                      </m:sSubPr>
                      <m:e>
                        <m:r>
                          <m:rPr>
                            <m:sty m:val="p"/>
                          </m:rPr>
                          <a:rPr lang="en-US" altLang="zh-CN" sz="2400"/>
                          <m:t>B</m:t>
                        </m:r>
                      </m:e>
                      <m:sub>
                        <m:r>
                          <a:rPr lang="zh-CN" altLang="en-US" sz="2400"/>
                          <m:t>𝑘</m:t>
                        </m:r>
                      </m:sub>
                    </m:sSub>
                    <m:r>
                      <a:rPr lang="zh-CN" altLang="en-US" sz="2400"/>
                      <m:t>=</m:t>
                    </m:r>
                    <m:r>
                      <a:rPr lang="zh-CN" altLang="en-US" sz="2400"/>
                      <m:t>𝑎</m:t>
                    </m:r>
                    <m:sSub>
                      <m:sSubPr>
                        <m:ctrlPr>
                          <a:rPr lang="zh-CN" altLang="en-US" sz="2400"/>
                        </m:ctrlPr>
                      </m:sSubPr>
                      <m:e>
                        <m:r>
                          <a:rPr lang="zh-CN" altLang="en-US" sz="2400"/>
                          <m:t>𝑢</m:t>
                        </m:r>
                      </m:e>
                      <m:sub>
                        <m:r>
                          <a:rPr lang="zh-CN" altLang="en-US" sz="2400"/>
                          <m:t>𝑘</m:t>
                        </m:r>
                      </m:sub>
                    </m:sSub>
                    <m:sSubSup>
                      <m:sSubSupPr>
                        <m:ctrlPr>
                          <a:rPr lang="en-US" altLang="zh-CN" sz="2400"/>
                        </m:ctrlPr>
                      </m:sSubSupPr>
                      <m:e>
                        <m:r>
                          <a:rPr lang="en-US" altLang="zh-CN" sz="2400"/>
                          <m:t>𝑢</m:t>
                        </m:r>
                      </m:e>
                      <m:sub>
                        <m:r>
                          <a:rPr lang="en-US" altLang="zh-CN" sz="2400"/>
                          <m:t>𝑘</m:t>
                        </m:r>
                      </m:sub>
                      <m:sup>
                        <m:r>
                          <a:rPr lang="en-US" altLang="zh-CN" sz="2400"/>
                          <m:t>𝑇</m:t>
                        </m:r>
                      </m:sup>
                    </m:sSubSup>
                    <m:r>
                      <a:rPr lang="zh-CN" altLang="en-US" sz="2400"/>
                      <m:t>+</m:t>
                    </m:r>
                    <m:r>
                      <a:rPr lang="zh-CN" altLang="en-US" sz="2400"/>
                      <m:t>𝑏</m:t>
                    </m:r>
                    <m:sSub>
                      <m:sSubPr>
                        <m:ctrlPr>
                          <a:rPr lang="zh-CN" altLang="en-US" sz="2400"/>
                        </m:ctrlPr>
                      </m:sSubPr>
                      <m:e>
                        <m:r>
                          <a:rPr lang="en-US" altLang="zh-CN" sz="2400"/>
                          <m:t>𝑣</m:t>
                        </m:r>
                      </m:e>
                      <m:sub>
                        <m:r>
                          <a:rPr lang="zh-CN" altLang="en-US" sz="2400"/>
                          <m:t>𝑘</m:t>
                        </m:r>
                      </m:sub>
                    </m:sSub>
                    <m:sSubSup>
                      <m:sSubSupPr>
                        <m:ctrlPr>
                          <a:rPr lang="en-US" altLang="zh-CN" sz="2400"/>
                        </m:ctrlPr>
                      </m:sSubSupPr>
                      <m:e>
                        <m:r>
                          <a:rPr lang="en-US" altLang="zh-CN" sz="2400"/>
                          <m:t>𝑣</m:t>
                        </m:r>
                      </m:e>
                      <m:sub>
                        <m:r>
                          <a:rPr lang="en-US" altLang="zh-CN" sz="2400"/>
                          <m:t>𝑘</m:t>
                        </m:r>
                      </m:sub>
                      <m:sup>
                        <m:r>
                          <a:rPr lang="en-US" altLang="zh-CN" sz="2400"/>
                          <m:t>𝑇</m:t>
                        </m:r>
                      </m:sup>
                    </m:sSubSup>
                  </m:oMath>
                </a14:m>
                <a:r>
                  <a:rPr lang="zh-CN" altLang="en-US" sz="2400" dirty="0">
                    <a:latin typeface="宋体" panose="02010600030101010101" pitchFamily="2" charset="-122"/>
                  </a:rPr>
                  <a:t>，可得</a:t>
                </a:r>
                <a14:m>
                  <m:oMath xmlns:m="http://schemas.openxmlformats.org/officeDocument/2006/math">
                    <m:r>
                      <a:rPr lang="zh-CN" altLang="en-US" sz="2400"/>
                      <m:t>𝑎</m:t>
                    </m:r>
                    <m:sSub>
                      <m:sSubPr>
                        <m:ctrlPr>
                          <a:rPr lang="zh-CN" altLang="en-US" sz="2400"/>
                        </m:ctrlPr>
                      </m:sSubPr>
                      <m:e>
                        <m:r>
                          <a:rPr lang="zh-CN" altLang="en-US" sz="2400"/>
                          <m:t>𝑢</m:t>
                        </m:r>
                      </m:e>
                      <m:sub>
                        <m:r>
                          <a:rPr lang="zh-CN" altLang="en-US" sz="2400"/>
                          <m:t>𝑘</m:t>
                        </m:r>
                      </m:sub>
                    </m:sSub>
                    <m:sSubSup>
                      <m:sSubSupPr>
                        <m:ctrlPr>
                          <a:rPr lang="en-US" altLang="zh-CN" sz="2400"/>
                        </m:ctrlPr>
                      </m:sSubSupPr>
                      <m:e>
                        <m:r>
                          <a:rPr lang="en-US" altLang="zh-CN" sz="2400"/>
                          <m:t>𝑢</m:t>
                        </m:r>
                      </m:e>
                      <m:sub>
                        <m:r>
                          <a:rPr lang="en-US" altLang="zh-CN" sz="2400"/>
                          <m:t>𝑘</m:t>
                        </m:r>
                      </m:sub>
                      <m:sup>
                        <m:r>
                          <a:rPr lang="en-US" altLang="zh-CN" sz="2400"/>
                          <m:t>𝑇</m:t>
                        </m:r>
                      </m:sup>
                    </m:sSubSup>
                    <m:sSub>
                      <m:sSubPr>
                        <m:ctrlPr>
                          <a:rPr lang="zh-CN" altLang="en-US" sz="2400"/>
                        </m:ctrlPr>
                      </m:sSubPr>
                      <m:e>
                        <m:r>
                          <m:rPr>
                            <m:sty m:val="p"/>
                          </m:rPr>
                          <a:rPr lang="en-US" altLang="zh-CN" sz="2400"/>
                          <m:t>s</m:t>
                        </m:r>
                      </m:e>
                      <m:sub>
                        <m:r>
                          <a:rPr lang="zh-CN" altLang="en-US" sz="2400"/>
                          <m:t>𝑘</m:t>
                        </m:r>
                      </m:sub>
                    </m:sSub>
                    <m:r>
                      <a:rPr lang="zh-CN" altLang="en-US" sz="2400"/>
                      <m:t>+</m:t>
                    </m:r>
                    <m:r>
                      <a:rPr lang="zh-CN" altLang="en-US" sz="2400"/>
                      <m:t>𝑏</m:t>
                    </m:r>
                    <m:sSub>
                      <m:sSubPr>
                        <m:ctrlPr>
                          <a:rPr lang="zh-CN" altLang="en-US" sz="2400"/>
                        </m:ctrlPr>
                      </m:sSubPr>
                      <m:e>
                        <m:r>
                          <a:rPr lang="en-US" altLang="zh-CN" sz="2400"/>
                          <m:t>𝑣</m:t>
                        </m:r>
                      </m:e>
                      <m:sub>
                        <m:r>
                          <a:rPr lang="zh-CN" altLang="en-US" sz="2400"/>
                          <m:t>𝑘</m:t>
                        </m:r>
                      </m:sub>
                    </m:sSub>
                    <m:sSubSup>
                      <m:sSubSupPr>
                        <m:ctrlPr>
                          <a:rPr lang="en-US" altLang="zh-CN" sz="2400"/>
                        </m:ctrlPr>
                      </m:sSubSupPr>
                      <m:e>
                        <m:r>
                          <a:rPr lang="en-US" altLang="zh-CN" sz="2400"/>
                          <m:t>𝑣</m:t>
                        </m:r>
                      </m:e>
                      <m:sub>
                        <m:r>
                          <a:rPr lang="en-US" altLang="zh-CN" sz="2400"/>
                          <m:t>𝑘</m:t>
                        </m:r>
                      </m:sub>
                      <m:sup>
                        <m:r>
                          <a:rPr lang="en-US" altLang="zh-CN" sz="2400"/>
                          <m:t>𝑇</m:t>
                        </m:r>
                      </m:sup>
                    </m:sSubSup>
                    <m:sSub>
                      <m:sSubPr>
                        <m:ctrlPr>
                          <a:rPr lang="zh-CN" altLang="en-US" sz="2400"/>
                        </m:ctrlPr>
                      </m:sSubPr>
                      <m:e>
                        <m:r>
                          <a:rPr lang="en-US" altLang="zh-CN" sz="2400"/>
                          <m:t>𝑠</m:t>
                        </m:r>
                      </m:e>
                      <m:sub>
                        <m:r>
                          <a:rPr lang="zh-CN" altLang="en-US" sz="2400"/>
                          <m:t>𝑘</m:t>
                        </m:r>
                      </m:sub>
                    </m:sSub>
                    <m:r>
                      <a:rPr lang="en-US" altLang="zh-CN" sz="2400" dirty="0"/>
                      <m:t>=</m:t>
                    </m:r>
                    <m:sSub>
                      <m:sSubPr>
                        <m:ctrlPr>
                          <a:rPr lang="zh-CN" altLang="en-US" sz="2400"/>
                        </m:ctrlPr>
                      </m:sSubPr>
                      <m:e>
                        <m:r>
                          <a:rPr lang="en-US" altLang="zh-CN" sz="2400"/>
                          <m:t>𝑦</m:t>
                        </m:r>
                      </m:e>
                      <m:sub>
                        <m:r>
                          <a:rPr lang="zh-CN" altLang="en-US" sz="2400"/>
                          <m:t>𝑘</m:t>
                        </m:r>
                      </m:sub>
                    </m:sSub>
                    <m:r>
                      <a:rPr lang="zh-CN" altLang="en-US" sz="2400"/>
                      <m:t>−</m:t>
                    </m:r>
                    <m:sSub>
                      <m:sSubPr>
                        <m:ctrlPr>
                          <a:rPr lang="zh-CN" altLang="en-US" sz="2400"/>
                        </m:ctrlPr>
                      </m:sSubPr>
                      <m:e>
                        <m:r>
                          <a:rPr lang="en-US" altLang="zh-CN" sz="2400"/>
                          <m:t>𝐵</m:t>
                        </m:r>
                      </m:e>
                      <m:sub>
                        <m:r>
                          <a:rPr lang="zh-CN" altLang="en-US" sz="2400"/>
                          <m:t>𝑘</m:t>
                        </m:r>
                      </m:sub>
                    </m:sSub>
                    <m:sSub>
                      <m:sSubPr>
                        <m:ctrlPr>
                          <a:rPr lang="zh-CN" altLang="en-US" sz="2400"/>
                        </m:ctrlPr>
                      </m:sSubPr>
                      <m:e>
                        <m:r>
                          <a:rPr lang="en-US" altLang="zh-CN" sz="2400"/>
                          <m:t>𝑠</m:t>
                        </m:r>
                      </m:e>
                      <m:sub>
                        <m:r>
                          <a:rPr lang="zh-CN" altLang="en-US" sz="2400"/>
                          <m:t>𝑘</m:t>
                        </m:r>
                      </m:sub>
                    </m:sSub>
                  </m:oMath>
                </a14:m>
                <a:endParaRPr lang="zh-CN" altLang="en-US" sz="2400" dirty="0">
                  <a:latin typeface="宋体" panose="02010600030101010101" pitchFamily="2" charset="-122"/>
                </a:endParaRPr>
              </a:p>
              <a:p>
                <a:pPr algn="just">
                  <a:lnSpc>
                    <a:spcPct val="150000"/>
                  </a:lnSpc>
                </a:pPr>
                <a:r>
                  <a:rPr lang="zh-CN" altLang="en-US" sz="2400" dirty="0">
                    <a:latin typeface="宋体" panose="02010600030101010101" pitchFamily="2" charset="-122"/>
                  </a:rPr>
                  <a:t>注意到</a:t>
                </a:r>
                <a14:m>
                  <m:oMath xmlns:m="http://schemas.openxmlformats.org/officeDocument/2006/math">
                    <m:sSubSup>
                      <m:sSubSupPr>
                        <m:ctrlPr>
                          <a:rPr lang="en-US" altLang="zh-CN" sz="2400"/>
                        </m:ctrlPr>
                      </m:sSubSupPr>
                      <m:e>
                        <m:r>
                          <a:rPr lang="en-US" altLang="zh-CN" sz="2400"/>
                          <m:t>𝑢</m:t>
                        </m:r>
                      </m:e>
                      <m:sub>
                        <m:r>
                          <a:rPr lang="en-US" altLang="zh-CN" sz="2400"/>
                          <m:t>𝑘</m:t>
                        </m:r>
                      </m:sub>
                      <m:sup>
                        <m:r>
                          <a:rPr lang="en-US" altLang="zh-CN" sz="2400"/>
                          <m:t>𝑇</m:t>
                        </m:r>
                      </m:sup>
                    </m:sSubSup>
                    <m:sSub>
                      <m:sSubPr>
                        <m:ctrlPr>
                          <a:rPr lang="zh-CN" altLang="en-US" sz="2400"/>
                        </m:ctrlPr>
                      </m:sSubPr>
                      <m:e>
                        <m:r>
                          <a:rPr lang="en-US" altLang="zh-CN" sz="2400"/>
                          <m:t>𝑠</m:t>
                        </m:r>
                      </m:e>
                      <m:sub>
                        <m:r>
                          <a:rPr lang="zh-CN" altLang="en-US" sz="2400"/>
                          <m:t>𝑘</m:t>
                        </m:r>
                      </m:sub>
                    </m:sSub>
                  </m:oMath>
                </a14:m>
                <a:r>
                  <a:rPr lang="zh-CN" altLang="en-US" sz="2400" dirty="0">
                    <a:latin typeface="宋体" panose="02010600030101010101" pitchFamily="2" charset="-122"/>
                  </a:rPr>
                  <a:t>和</a:t>
                </a:r>
                <a14:m>
                  <m:oMath xmlns:m="http://schemas.openxmlformats.org/officeDocument/2006/math">
                    <m:sSubSup>
                      <m:sSubSupPr>
                        <m:ctrlPr>
                          <a:rPr lang="en-US" altLang="zh-CN" sz="2400"/>
                        </m:ctrlPr>
                      </m:sSubSupPr>
                      <m:e>
                        <m:r>
                          <a:rPr lang="en-US" altLang="zh-CN" sz="2400"/>
                          <m:t>𝑣</m:t>
                        </m:r>
                      </m:e>
                      <m:sub>
                        <m:r>
                          <a:rPr lang="en-US" altLang="zh-CN" sz="2400"/>
                          <m:t>𝑘</m:t>
                        </m:r>
                      </m:sub>
                      <m:sup>
                        <m:r>
                          <a:rPr lang="en-US" altLang="zh-CN" sz="2400"/>
                          <m:t>𝑇</m:t>
                        </m:r>
                      </m:sup>
                    </m:sSubSup>
                    <m:sSub>
                      <m:sSubPr>
                        <m:ctrlPr>
                          <a:rPr lang="zh-CN" altLang="en-US" sz="2400"/>
                        </m:ctrlPr>
                      </m:sSubPr>
                      <m:e>
                        <m:r>
                          <a:rPr lang="en-US" altLang="zh-CN" sz="2400"/>
                          <m:t>𝑠</m:t>
                        </m:r>
                      </m:e>
                      <m:sub>
                        <m:r>
                          <a:rPr lang="zh-CN" altLang="en-US" sz="2400"/>
                          <m:t>𝑘</m:t>
                        </m:r>
                      </m:sub>
                    </m:sSub>
                  </m:oMath>
                </a14:m>
                <a:r>
                  <a:rPr lang="zh-CN" altLang="en-US" sz="2400" dirty="0">
                    <a:latin typeface="宋体" panose="02010600030101010101" pitchFamily="2" charset="-122"/>
                  </a:rPr>
                  <a:t>均为实数，可以令：</a:t>
                </a:r>
              </a:p>
              <a:p>
                <a:pPr algn="just">
                  <a:lnSpc>
                    <a:spcPct val="150000"/>
                  </a:lnSpc>
                </a:pPr>
                <a14:m>
                  <m:oMathPara xmlns:m="http://schemas.openxmlformats.org/officeDocument/2006/math">
                    <m:oMathParaPr>
                      <m:jc m:val="centerGroup"/>
                    </m:oMathParaPr>
                    <m:oMath xmlns:m="http://schemas.openxmlformats.org/officeDocument/2006/math">
                      <m:sSub>
                        <m:sSubPr>
                          <m:ctrlPr>
                            <a:rPr lang="zh-CN" altLang="en-US" sz="2400"/>
                          </m:ctrlPr>
                        </m:sSubPr>
                        <m:e>
                          <m:r>
                            <a:rPr lang="zh-CN" altLang="en-US" sz="2400"/>
                            <m:t>𝑢</m:t>
                          </m:r>
                        </m:e>
                        <m:sub>
                          <m:r>
                            <a:rPr lang="zh-CN" altLang="en-US" sz="2400"/>
                            <m:t>𝑘</m:t>
                          </m:r>
                        </m:sub>
                      </m:sSub>
                      <m:r>
                        <a:rPr lang="zh-CN" altLang="en-US" sz="2400"/>
                        <m:t>=</m:t>
                      </m:r>
                      <m:sSub>
                        <m:sSubPr>
                          <m:ctrlPr>
                            <a:rPr lang="zh-CN" altLang="en-US" sz="2400"/>
                          </m:ctrlPr>
                        </m:sSubPr>
                        <m:e>
                          <m:r>
                            <a:rPr lang="en-US" altLang="zh-CN" sz="2400"/>
                            <m:t>𝑦</m:t>
                          </m:r>
                        </m:e>
                        <m:sub>
                          <m:r>
                            <a:rPr lang="zh-CN" altLang="en-US" sz="2400"/>
                            <m:t>𝑘</m:t>
                          </m:r>
                        </m:sub>
                      </m:sSub>
                      <m:r>
                        <a:rPr lang="zh-CN" altLang="en-US" sz="2400"/>
                        <m:t>　,　</m:t>
                      </m:r>
                      <m:sSub>
                        <m:sSubPr>
                          <m:ctrlPr>
                            <a:rPr lang="zh-CN" altLang="en-US" sz="2400"/>
                          </m:ctrlPr>
                        </m:sSubPr>
                        <m:e>
                          <m:r>
                            <a:rPr lang="zh-CN" altLang="en-US" sz="2400"/>
                            <m:t>𝑣</m:t>
                          </m:r>
                        </m:e>
                        <m:sub>
                          <m:r>
                            <a:rPr lang="zh-CN" altLang="en-US" sz="2400"/>
                            <m:t>𝑘</m:t>
                          </m:r>
                        </m:sub>
                      </m:sSub>
                      <m:r>
                        <a:rPr lang="zh-CN" altLang="en-US" sz="2400"/>
                        <m:t>=</m:t>
                      </m:r>
                      <m:sSub>
                        <m:sSubPr>
                          <m:ctrlPr>
                            <a:rPr lang="zh-CN" altLang="en-US" sz="2400"/>
                          </m:ctrlPr>
                        </m:sSubPr>
                        <m:e>
                          <m:r>
                            <a:rPr lang="en-US" altLang="zh-CN" sz="2400"/>
                            <m:t>𝐵</m:t>
                          </m:r>
                        </m:e>
                        <m:sub>
                          <m:r>
                            <a:rPr lang="zh-CN" altLang="en-US" sz="2400"/>
                            <m:t>𝑘</m:t>
                          </m:r>
                        </m:sub>
                      </m:sSub>
                      <m:sSub>
                        <m:sSubPr>
                          <m:ctrlPr>
                            <a:rPr lang="zh-CN" altLang="en-US" sz="2400"/>
                          </m:ctrlPr>
                        </m:sSubPr>
                        <m:e>
                          <m:r>
                            <a:rPr lang="en-US" altLang="zh-CN" sz="2400"/>
                            <m:t>𝑠</m:t>
                          </m:r>
                        </m:e>
                        <m:sub>
                          <m:r>
                            <a:rPr lang="zh-CN" altLang="en-US" sz="2400"/>
                            <m:t>𝑘</m:t>
                          </m:r>
                        </m:sub>
                      </m:sSub>
                    </m:oMath>
                  </m:oMathPara>
                </a14:m>
                <a:endParaRPr lang="zh-CN" altLang="en-US" sz="2400" dirty="0">
                  <a:latin typeface="宋体" panose="02010600030101010101" pitchFamily="2" charset="-122"/>
                </a:endParaRPr>
              </a:p>
              <a:p>
                <a:pPr algn="just">
                  <a:lnSpc>
                    <a:spcPct val="150000"/>
                  </a:lnSpc>
                </a:pPr>
                <a14:m>
                  <m:oMathPara xmlns:m="http://schemas.openxmlformats.org/officeDocument/2006/math">
                    <m:oMathParaPr>
                      <m:jc m:val="centerGroup"/>
                    </m:oMathParaPr>
                    <m:oMath xmlns:m="http://schemas.openxmlformats.org/officeDocument/2006/math">
                      <m:r>
                        <a:rPr lang="zh-CN" altLang="en-US" sz="2400"/>
                        <m:t>𝑎</m:t>
                      </m:r>
                      <m:sSubSup>
                        <m:sSubSupPr>
                          <m:ctrlPr>
                            <a:rPr lang="en-US" altLang="zh-CN" sz="2400"/>
                          </m:ctrlPr>
                        </m:sSubSupPr>
                        <m:e>
                          <m:r>
                            <a:rPr lang="en-US" altLang="zh-CN" sz="2400"/>
                            <m:t>𝑢</m:t>
                          </m:r>
                        </m:e>
                        <m:sub>
                          <m:r>
                            <a:rPr lang="en-US" altLang="zh-CN" sz="2400"/>
                            <m:t>𝑘</m:t>
                          </m:r>
                        </m:sub>
                        <m:sup>
                          <m:r>
                            <a:rPr lang="en-US" altLang="zh-CN" sz="2400"/>
                            <m:t>𝑇</m:t>
                          </m:r>
                        </m:sup>
                      </m:sSubSup>
                      <m:sSub>
                        <m:sSubPr>
                          <m:ctrlPr>
                            <a:rPr lang="zh-CN" altLang="en-US" sz="2400"/>
                          </m:ctrlPr>
                        </m:sSubPr>
                        <m:e>
                          <m:r>
                            <a:rPr lang="en-US" altLang="zh-CN" sz="2400"/>
                            <m:t>𝑠</m:t>
                          </m:r>
                        </m:e>
                        <m:sub>
                          <m:r>
                            <a:rPr lang="zh-CN" altLang="en-US" sz="2400"/>
                            <m:t>𝑘</m:t>
                          </m:r>
                        </m:sub>
                      </m:sSub>
                      <m:r>
                        <a:rPr lang="zh-CN" altLang="en-US" sz="2400"/>
                        <m:t>=1</m:t>
                      </m:r>
                      <m:m>
                        <m:mPr>
                          <m:plcHide m:val="on"/>
                          <m:mcs>
                            <m:mc>
                              <m:mcPr>
                                <m:count m:val="2"/>
                                <m:mcJc m:val="center"/>
                              </m:mcPr>
                            </m:mc>
                          </m:mcs>
                          <m:ctrlPr>
                            <a:rPr lang="zh-CN" altLang="en-US" sz="2400"/>
                          </m:ctrlPr>
                        </m:mPr>
                        <m:mr>
                          <m:e/>
                          <m:e/>
                        </m:mr>
                      </m:m>
                      <m:r>
                        <a:rPr lang="zh-CN" altLang="en-US" sz="2400"/>
                        <m:t>𝑏</m:t>
                      </m:r>
                      <m:sSubSup>
                        <m:sSubSupPr>
                          <m:ctrlPr>
                            <a:rPr lang="en-US" altLang="zh-CN" sz="2400"/>
                          </m:ctrlPr>
                        </m:sSubSupPr>
                        <m:e>
                          <m:r>
                            <a:rPr lang="en-US" altLang="zh-CN" sz="2400"/>
                            <m:t>𝑣</m:t>
                          </m:r>
                        </m:e>
                        <m:sub>
                          <m:r>
                            <a:rPr lang="en-US" altLang="zh-CN" sz="2400"/>
                            <m:t>𝑘</m:t>
                          </m:r>
                        </m:sub>
                        <m:sup>
                          <m:r>
                            <a:rPr lang="en-US" altLang="zh-CN" sz="2400"/>
                            <m:t>𝑇</m:t>
                          </m:r>
                        </m:sup>
                      </m:sSubSup>
                      <m:sSub>
                        <m:sSubPr>
                          <m:ctrlPr>
                            <a:rPr lang="zh-CN" altLang="en-US" sz="2400"/>
                          </m:ctrlPr>
                        </m:sSubPr>
                        <m:e>
                          <m:r>
                            <a:rPr lang="en-US" altLang="zh-CN" sz="2400"/>
                            <m:t>𝑠</m:t>
                          </m:r>
                        </m:e>
                        <m:sub>
                          <m:r>
                            <a:rPr lang="zh-CN" altLang="en-US" sz="2400"/>
                            <m:t>𝑘</m:t>
                          </m:r>
                        </m:sub>
                      </m:sSub>
                      <m:r>
                        <a:rPr lang="zh-CN" altLang="en-US" sz="2400"/>
                        <m:t>=−1</m:t>
                      </m:r>
                    </m:oMath>
                  </m:oMathPara>
                </a14:m>
                <a:endParaRPr lang="zh-CN" altLang="en-US" sz="2400" dirty="0">
                  <a:latin typeface="宋体" panose="02010600030101010101" pitchFamily="2" charset="-122"/>
                </a:endParaRPr>
              </a:p>
              <a:p>
                <a:pPr algn="just">
                  <a:lnSpc>
                    <a:spcPct val="150000"/>
                  </a:lnSpc>
                </a:pPr>
                <a:r>
                  <a:rPr lang="zh-CN" altLang="en-US" sz="2400" dirty="0">
                    <a:latin typeface="宋体" panose="02010600030101010101" pitchFamily="2" charset="-122"/>
                  </a:rPr>
                  <a:t>找到方程的一个解。</a:t>
                </a:r>
              </a:p>
            </p:txBody>
          </p:sp>
        </mc:Choice>
        <mc:Fallback>
          <p:sp>
            <p:nvSpPr>
              <p:cNvPr id="3" name="文本框 2">
                <a:extLst>
                  <a:ext uri="{FF2B5EF4-FFF2-40B4-BE49-F238E27FC236}">
                    <a16:creationId xmlns:a16="http://schemas.microsoft.com/office/drawing/2014/main" id="{C358D8B8-39B3-1E00-40E5-861ADD4AE337}"/>
                  </a:ext>
                </a:extLst>
              </p:cNvPr>
              <p:cNvSpPr txBox="1">
                <a:spLocks noRot="1" noChangeAspect="1" noMove="1" noResize="1" noEditPoints="1" noAdjustHandles="1" noChangeArrowheads="1" noChangeShapeType="1" noTextEdit="1"/>
              </p:cNvSpPr>
              <p:nvPr/>
            </p:nvSpPr>
            <p:spPr>
              <a:xfrm>
                <a:off x="611560" y="-19396"/>
                <a:ext cx="7920880" cy="6877396"/>
              </a:xfrm>
              <a:prstGeom prst="rect">
                <a:avLst/>
              </a:prstGeom>
              <a:blipFill>
                <a:blip r:embed="rId2"/>
                <a:stretch>
                  <a:fillRect l="-1154" b="-106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262783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C5E36C96-DD28-DE1E-B0E3-A2399F689100}"/>
                  </a:ext>
                </a:extLst>
              </p:cNvPr>
              <p:cNvSpPr txBox="1"/>
              <p:nvPr/>
            </p:nvSpPr>
            <p:spPr>
              <a:xfrm>
                <a:off x="899592" y="404664"/>
                <a:ext cx="7632848" cy="494827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m>
                        <m:mPr>
                          <m:plcHide m:val="on"/>
                          <m:mcs>
                            <m:mc>
                              <m:mcPr>
                                <m:count m:val="1"/>
                                <m:mcJc m:val="center"/>
                              </m:mcPr>
                            </m:mc>
                          </m:mcs>
                          <m:ctrlPr>
                            <a:rPr lang="zh-CN" altLang="en-US" sz="2400" smtClean="0">
                              <a:latin typeface="宋体" panose="02010600030101010101" pitchFamily="2" charset="-122"/>
                            </a:rPr>
                          </m:ctrlPr>
                        </m:mPr>
                        <m:mr>
                          <m:e>
                            <m:r>
                              <a:rPr lang="en-US" altLang="zh-CN" sz="2400">
                                <a:latin typeface="宋体" panose="02010600030101010101" pitchFamily="2" charset="-122"/>
                              </a:rPr>
                              <m:t>𝑎</m:t>
                            </m:r>
                            <m:r>
                              <a:rPr lang="zh-CN" altLang="en-US" sz="2400">
                                <a:latin typeface="宋体" panose="02010600030101010101" pitchFamily="2" charset="-122"/>
                              </a:rPr>
                              <m:t>=</m:t>
                            </m:r>
                            <m:f>
                              <m:fPr>
                                <m:ctrlPr>
                                  <a:rPr lang="zh-CN" altLang="en-US" sz="2400">
                                    <a:latin typeface="宋体" panose="02010600030101010101" pitchFamily="2" charset="-122"/>
                                  </a:rPr>
                                </m:ctrlPr>
                              </m:fPr>
                              <m:num>
                                <m:r>
                                  <a:rPr lang="zh-CN" altLang="en-US" sz="2400">
                                    <a:latin typeface="宋体" panose="02010600030101010101" pitchFamily="2" charset="-122"/>
                                  </a:rPr>
                                  <m:t>1</m:t>
                                </m:r>
                              </m:num>
                              <m:den>
                                <m:sSubSup>
                                  <m:sSubSupPr>
                                    <m:ctrlPr>
                                      <a:rPr lang="zh-CN" altLang="en-US" sz="2400">
                                        <a:latin typeface="宋体" panose="02010600030101010101" pitchFamily="2" charset="-122"/>
                                      </a:rPr>
                                    </m:ctrlPr>
                                  </m:sSubSupPr>
                                  <m:e>
                                    <m:r>
                                      <a:rPr lang="zh-CN" altLang="en-US" sz="2400">
                                        <a:latin typeface="宋体" panose="02010600030101010101" pitchFamily="2" charset="-122"/>
                                      </a:rPr>
                                      <m:t>𝑠</m:t>
                                    </m:r>
                                  </m:e>
                                  <m:sub>
                                    <m:r>
                                      <a:rPr lang="zh-CN" altLang="en-US" sz="2400">
                                        <a:latin typeface="宋体" panose="02010600030101010101" pitchFamily="2" charset="-122"/>
                                      </a:rPr>
                                      <m:t>𝑘</m:t>
                                    </m:r>
                                  </m:sub>
                                  <m:sup>
                                    <m:r>
                                      <a:rPr lang="zh-CN" altLang="en-US" sz="2400">
                                        <a:latin typeface="宋体" panose="02010600030101010101" pitchFamily="2" charset="-122"/>
                                      </a:rPr>
                                      <m:t>𝑇</m:t>
                                    </m:r>
                                  </m:sup>
                                </m:sSubSup>
                                <m:sSub>
                                  <m:sSubPr>
                                    <m:ctrlPr>
                                      <a:rPr lang="zh-CN" altLang="en-US" sz="2400">
                                        <a:latin typeface="宋体" panose="02010600030101010101" pitchFamily="2" charset="-122"/>
                                      </a:rPr>
                                    </m:ctrlPr>
                                  </m:sSubPr>
                                  <m:e>
                                    <m:r>
                                      <m:rPr>
                                        <m:sty m:val="p"/>
                                      </m:rPr>
                                      <a:rPr lang="en-US" altLang="zh-CN" sz="2400" b="0" i="0" smtClean="0">
                                        <a:latin typeface="Cambria Math" panose="02040503050406030204" pitchFamily="18" charset="0"/>
                                      </a:rPr>
                                      <m:t>y</m:t>
                                    </m:r>
                                  </m:e>
                                  <m:sub>
                                    <m:r>
                                      <a:rPr lang="zh-CN" altLang="en-US" sz="2400">
                                        <a:latin typeface="宋体" panose="02010600030101010101" pitchFamily="2" charset="-122"/>
                                      </a:rPr>
                                      <m:t>𝑘</m:t>
                                    </m:r>
                                  </m:sub>
                                </m:sSub>
                              </m:den>
                            </m:f>
                            <m:r>
                              <a:rPr lang="zh-CN" altLang="en-US" sz="2400">
                                <a:latin typeface="宋体" panose="02010600030101010101" pitchFamily="2" charset="-122"/>
                              </a:rPr>
                              <m:t>　　　</m:t>
                            </m:r>
                            <m:r>
                              <a:rPr lang="en-US" altLang="zh-CN" sz="2400">
                                <a:latin typeface="宋体" panose="02010600030101010101" pitchFamily="2" charset="-122"/>
                              </a:rPr>
                              <m:t>𝑏</m:t>
                            </m:r>
                            <m:r>
                              <a:rPr lang="en-US" altLang="zh-CN" sz="2400">
                                <a:latin typeface="宋体" panose="02010600030101010101" pitchFamily="2" charset="-122"/>
                              </a:rPr>
                              <m:t>=</m:t>
                            </m:r>
                            <m:r>
                              <a:rPr lang="zh-CN" altLang="en-US" sz="2400">
                                <a:latin typeface="宋体" panose="02010600030101010101" pitchFamily="2" charset="-122"/>
                              </a:rPr>
                              <m:t>−</m:t>
                            </m:r>
                            <m:f>
                              <m:fPr>
                                <m:ctrlPr>
                                  <a:rPr lang="zh-CN" altLang="en-US" sz="2400">
                                    <a:latin typeface="宋体" panose="02010600030101010101" pitchFamily="2" charset="-122"/>
                                  </a:rPr>
                                </m:ctrlPr>
                              </m:fPr>
                              <m:num>
                                <m:r>
                                  <a:rPr lang="zh-CN" altLang="en-US" sz="2400">
                                    <a:latin typeface="宋体" panose="02010600030101010101" pitchFamily="2" charset="-122"/>
                                  </a:rPr>
                                  <m:t>1</m:t>
                                </m:r>
                              </m:num>
                              <m:den>
                                <m:sSubSup>
                                  <m:sSubSupPr>
                                    <m:ctrlPr>
                                      <a:rPr lang="zh-CN" altLang="en-US" sz="2400">
                                        <a:latin typeface="宋体" panose="02010600030101010101" pitchFamily="2" charset="-122"/>
                                      </a:rPr>
                                    </m:ctrlPr>
                                  </m:sSubSupPr>
                                  <m:e>
                                    <m:r>
                                      <m:rPr>
                                        <m:sty m:val="p"/>
                                      </m:rPr>
                                      <a:rPr lang="en-US" altLang="zh-CN" sz="2400" b="0" i="0" smtClean="0">
                                        <a:latin typeface="Cambria Math" panose="02040503050406030204" pitchFamily="18" charset="0"/>
                                      </a:rPr>
                                      <m:t>s</m:t>
                                    </m:r>
                                  </m:e>
                                  <m:sub>
                                    <m:r>
                                      <a:rPr lang="zh-CN" altLang="en-US" sz="2400">
                                        <a:latin typeface="宋体" panose="02010600030101010101" pitchFamily="2" charset="-122"/>
                                      </a:rPr>
                                      <m:t>𝑘</m:t>
                                    </m:r>
                                  </m:sub>
                                  <m:sup>
                                    <m:r>
                                      <a:rPr lang="zh-CN" altLang="en-US" sz="2400">
                                        <a:latin typeface="宋体" panose="02010600030101010101" pitchFamily="2" charset="-122"/>
                                      </a:rPr>
                                      <m:t>𝑇</m:t>
                                    </m:r>
                                  </m:sup>
                                </m:sSubSup>
                                <m:sSub>
                                  <m:sSubPr>
                                    <m:ctrlPr>
                                      <a:rPr lang="zh-CN" altLang="en-US" sz="2400">
                                        <a:latin typeface="宋体" panose="02010600030101010101" pitchFamily="2" charset="-122"/>
                                      </a:rPr>
                                    </m:ctrlPr>
                                  </m:sSubPr>
                                  <m:e>
                                    <m:r>
                                      <m:rPr>
                                        <m:sty m:val="p"/>
                                      </m:rPr>
                                      <a:rPr lang="en-US" altLang="zh-CN" sz="2400" b="0" i="0" smtClean="0">
                                        <a:latin typeface="Cambria Math" panose="02040503050406030204" pitchFamily="18" charset="0"/>
                                      </a:rPr>
                                      <m:t>B</m:t>
                                    </m:r>
                                  </m:e>
                                  <m:sub>
                                    <m:r>
                                      <a:rPr lang="zh-CN" altLang="en-US" sz="2400">
                                        <a:latin typeface="宋体" panose="02010600030101010101" pitchFamily="2" charset="-122"/>
                                      </a:rPr>
                                      <m:t>𝑘</m:t>
                                    </m:r>
                                  </m:sub>
                                </m:sSub>
                                <m:sSub>
                                  <m:sSubPr>
                                    <m:ctrlPr>
                                      <a:rPr lang="zh-CN" altLang="en-US" sz="2400">
                                        <a:latin typeface="宋体" panose="02010600030101010101" pitchFamily="2" charset="-122"/>
                                      </a:rPr>
                                    </m:ctrlPr>
                                  </m:sSubPr>
                                  <m:e>
                                    <m:r>
                                      <m:rPr>
                                        <m:sty m:val="p"/>
                                      </m:rPr>
                                      <a:rPr lang="en-US" altLang="zh-CN" sz="2400" b="0" i="0" smtClean="0">
                                        <a:latin typeface="Cambria Math" panose="02040503050406030204" pitchFamily="18" charset="0"/>
                                      </a:rPr>
                                      <m:t>s</m:t>
                                    </m:r>
                                  </m:e>
                                  <m:sub>
                                    <m:r>
                                      <a:rPr lang="zh-CN" altLang="en-US" sz="2400">
                                        <a:latin typeface="宋体" panose="02010600030101010101" pitchFamily="2" charset="-122"/>
                                      </a:rPr>
                                      <m:t>𝑘</m:t>
                                    </m:r>
                                  </m:sub>
                                </m:sSub>
                              </m:den>
                            </m:f>
                          </m:e>
                        </m:mr>
                        <m:mr>
                          <m:e>
                            <m:r>
                              <a:rPr lang="zh-CN" altLang="en-US" sz="2400">
                                <a:latin typeface="宋体" panose="02010600030101010101" pitchFamily="2" charset="-122"/>
                              </a:rPr>
                              <m:t>得：</m:t>
                            </m:r>
                            <m:r>
                              <a:rPr lang="zh-CN" altLang="en-US" sz="2400">
                                <a:latin typeface="宋体" panose="02010600030101010101" pitchFamily="2" charset="-122"/>
                              </a:rPr>
                              <m:t>𝛥</m:t>
                            </m:r>
                            <m:sSub>
                              <m:sSubPr>
                                <m:ctrlPr>
                                  <a:rPr lang="zh-CN" altLang="en-US" sz="2400">
                                    <a:latin typeface="宋体" panose="02010600030101010101" pitchFamily="2" charset="-122"/>
                                  </a:rPr>
                                </m:ctrlPr>
                              </m:sSubPr>
                              <m:e>
                                <m:r>
                                  <m:rPr>
                                    <m:sty m:val="p"/>
                                  </m:rPr>
                                  <a:rPr lang="en-US" altLang="zh-CN" sz="2400" b="0" i="0" smtClean="0">
                                    <a:latin typeface="Cambria Math" panose="02040503050406030204" pitchFamily="18" charset="0"/>
                                  </a:rPr>
                                  <m:t>B</m:t>
                                </m:r>
                              </m:e>
                              <m:sub>
                                <m:r>
                                  <a:rPr lang="zh-CN" altLang="en-US" sz="2400">
                                    <a:latin typeface="宋体" panose="02010600030101010101" pitchFamily="2" charset="-122"/>
                                  </a:rPr>
                                  <m:t>𝑘</m:t>
                                </m:r>
                              </m:sub>
                            </m:sSub>
                            <m:r>
                              <a:rPr lang="zh-CN" altLang="en-US" sz="2400">
                                <a:latin typeface="宋体" panose="02010600030101010101" pitchFamily="2" charset="-122"/>
                              </a:rPr>
                              <m:t>=</m:t>
                            </m:r>
                            <m:f>
                              <m:fPr>
                                <m:ctrlPr>
                                  <a:rPr lang="zh-CN" altLang="en-US" sz="2400">
                                    <a:latin typeface="宋体" panose="02010600030101010101" pitchFamily="2" charset="-122"/>
                                  </a:rPr>
                                </m:ctrlPr>
                              </m:fPr>
                              <m:num>
                                <m:sSub>
                                  <m:sSubPr>
                                    <m:ctrlPr>
                                      <a:rPr lang="zh-CN" altLang="en-US" sz="2400">
                                        <a:latin typeface="宋体" panose="02010600030101010101" pitchFamily="2" charset="-122"/>
                                      </a:rPr>
                                    </m:ctrlPr>
                                  </m:sSubPr>
                                  <m:e>
                                    <m:r>
                                      <m:rPr>
                                        <m:sty m:val="p"/>
                                      </m:rPr>
                                      <a:rPr lang="en-US" altLang="zh-CN" sz="2400" b="0" i="0" smtClean="0">
                                        <a:latin typeface="Cambria Math" panose="02040503050406030204" pitchFamily="18" charset="0"/>
                                      </a:rPr>
                                      <m:t>y</m:t>
                                    </m:r>
                                  </m:e>
                                  <m:sub>
                                    <m:r>
                                      <a:rPr lang="zh-CN" altLang="en-US" sz="2400">
                                        <a:latin typeface="宋体" panose="02010600030101010101" pitchFamily="2" charset="-122"/>
                                      </a:rPr>
                                      <m:t>𝑘</m:t>
                                    </m:r>
                                  </m:sub>
                                </m:sSub>
                                <m:sSubSup>
                                  <m:sSubSupPr>
                                    <m:ctrlPr>
                                      <a:rPr lang="zh-CN" altLang="en-US" sz="2400">
                                        <a:latin typeface="宋体" panose="02010600030101010101" pitchFamily="2" charset="-122"/>
                                      </a:rPr>
                                    </m:ctrlPr>
                                  </m:sSubSupPr>
                                  <m:e>
                                    <m:r>
                                      <m:rPr>
                                        <m:sty m:val="p"/>
                                      </m:rPr>
                                      <a:rPr lang="en-US" altLang="zh-CN" sz="2400" b="0" i="0" smtClean="0">
                                        <a:latin typeface="Cambria Math" panose="02040503050406030204" pitchFamily="18" charset="0"/>
                                      </a:rPr>
                                      <m:t>y</m:t>
                                    </m:r>
                                  </m:e>
                                  <m:sub>
                                    <m:r>
                                      <a:rPr lang="zh-CN" altLang="en-US" sz="2400">
                                        <a:latin typeface="宋体" panose="02010600030101010101" pitchFamily="2" charset="-122"/>
                                      </a:rPr>
                                      <m:t>𝑘</m:t>
                                    </m:r>
                                  </m:sub>
                                  <m:sup>
                                    <m:r>
                                      <a:rPr lang="zh-CN" altLang="en-US" sz="2400">
                                        <a:latin typeface="宋体" panose="02010600030101010101" pitchFamily="2" charset="-122"/>
                                      </a:rPr>
                                      <m:t>𝑇</m:t>
                                    </m:r>
                                  </m:sup>
                                </m:sSubSup>
                              </m:num>
                              <m:den>
                                <m:sSubSup>
                                  <m:sSubSupPr>
                                    <m:ctrlPr>
                                      <a:rPr lang="zh-CN" altLang="en-US" sz="2400">
                                        <a:latin typeface="宋体" panose="02010600030101010101" pitchFamily="2" charset="-122"/>
                                      </a:rPr>
                                    </m:ctrlPr>
                                  </m:sSubSupPr>
                                  <m:e>
                                    <m:r>
                                      <a:rPr lang="zh-CN" altLang="en-US" sz="2400">
                                        <a:latin typeface="宋体" panose="02010600030101010101" pitchFamily="2" charset="-122"/>
                                      </a:rPr>
                                      <m:t>𝑠</m:t>
                                    </m:r>
                                  </m:e>
                                  <m:sub>
                                    <m:r>
                                      <a:rPr lang="zh-CN" altLang="en-US" sz="2400">
                                        <a:latin typeface="宋体" panose="02010600030101010101" pitchFamily="2" charset="-122"/>
                                      </a:rPr>
                                      <m:t>𝑘</m:t>
                                    </m:r>
                                  </m:sub>
                                  <m:sup>
                                    <m:r>
                                      <a:rPr lang="zh-CN" altLang="en-US" sz="2400">
                                        <a:latin typeface="宋体" panose="02010600030101010101" pitchFamily="2" charset="-122"/>
                                      </a:rPr>
                                      <m:t>𝑇</m:t>
                                    </m:r>
                                  </m:sup>
                                </m:sSubSup>
                                <m:sSub>
                                  <m:sSubPr>
                                    <m:ctrlPr>
                                      <a:rPr lang="zh-CN" altLang="en-US" sz="2400">
                                        <a:latin typeface="宋体" panose="02010600030101010101" pitchFamily="2" charset="-122"/>
                                      </a:rPr>
                                    </m:ctrlPr>
                                  </m:sSubPr>
                                  <m:e>
                                    <m:r>
                                      <m:rPr>
                                        <m:sty m:val="p"/>
                                      </m:rPr>
                                      <a:rPr lang="en-US" altLang="zh-CN" sz="2400" b="0" i="0" smtClean="0">
                                        <a:latin typeface="Cambria Math" panose="02040503050406030204" pitchFamily="18" charset="0"/>
                                      </a:rPr>
                                      <m:t>y</m:t>
                                    </m:r>
                                  </m:e>
                                  <m:sub>
                                    <m:r>
                                      <a:rPr lang="zh-CN" altLang="en-US" sz="2400">
                                        <a:latin typeface="宋体" panose="02010600030101010101" pitchFamily="2" charset="-122"/>
                                      </a:rPr>
                                      <m:t>𝑘</m:t>
                                    </m:r>
                                  </m:sub>
                                </m:sSub>
                              </m:den>
                            </m:f>
                            <m:r>
                              <a:rPr lang="zh-CN" altLang="en-US" sz="2400">
                                <a:latin typeface="宋体" panose="02010600030101010101" pitchFamily="2" charset="-122"/>
                              </a:rPr>
                              <m:t>−</m:t>
                            </m:r>
                            <m:f>
                              <m:fPr>
                                <m:ctrlPr>
                                  <a:rPr lang="zh-CN" altLang="en-US" sz="2400">
                                    <a:latin typeface="宋体" panose="02010600030101010101" pitchFamily="2" charset="-122"/>
                                  </a:rPr>
                                </m:ctrlPr>
                              </m:fPr>
                              <m:num>
                                <m:sSub>
                                  <m:sSubPr>
                                    <m:ctrlPr>
                                      <a:rPr lang="zh-CN" altLang="en-US" sz="2400">
                                        <a:latin typeface="宋体" panose="02010600030101010101" pitchFamily="2" charset="-122"/>
                                      </a:rPr>
                                    </m:ctrlPr>
                                  </m:sSubPr>
                                  <m:e>
                                    <m:r>
                                      <m:rPr>
                                        <m:sty m:val="p"/>
                                      </m:rPr>
                                      <a:rPr lang="en-US" altLang="zh-CN" sz="2400" b="0" i="0" smtClean="0">
                                        <a:latin typeface="Cambria Math" panose="02040503050406030204" pitchFamily="18" charset="0"/>
                                      </a:rPr>
                                      <m:t>B</m:t>
                                    </m:r>
                                  </m:e>
                                  <m:sub>
                                    <m:r>
                                      <a:rPr lang="zh-CN" altLang="en-US" sz="2400">
                                        <a:latin typeface="宋体" panose="02010600030101010101" pitchFamily="2" charset="-122"/>
                                      </a:rPr>
                                      <m:t>𝑘</m:t>
                                    </m:r>
                                  </m:sub>
                                </m:sSub>
                                <m:sSub>
                                  <m:sSubPr>
                                    <m:ctrlPr>
                                      <a:rPr lang="zh-CN" altLang="en-US" sz="2400">
                                        <a:latin typeface="宋体" panose="02010600030101010101" pitchFamily="2" charset="-122"/>
                                      </a:rPr>
                                    </m:ctrlPr>
                                  </m:sSubPr>
                                  <m:e>
                                    <m:r>
                                      <m:rPr>
                                        <m:sty m:val="p"/>
                                      </m:rPr>
                                      <a:rPr lang="en-US" altLang="zh-CN" sz="2400" b="0" i="0" smtClean="0">
                                        <a:latin typeface="Cambria Math" panose="02040503050406030204" pitchFamily="18" charset="0"/>
                                      </a:rPr>
                                      <m:t>s</m:t>
                                    </m:r>
                                  </m:e>
                                  <m:sub>
                                    <m:r>
                                      <a:rPr lang="zh-CN" altLang="en-US" sz="2400">
                                        <a:latin typeface="宋体" panose="02010600030101010101" pitchFamily="2" charset="-122"/>
                                      </a:rPr>
                                      <m:t>𝑘</m:t>
                                    </m:r>
                                  </m:sub>
                                </m:sSub>
                                <m:sSubSup>
                                  <m:sSubSupPr>
                                    <m:ctrlPr>
                                      <a:rPr lang="zh-CN" altLang="en-US" sz="2400">
                                        <a:latin typeface="宋体" panose="02010600030101010101" pitchFamily="2" charset="-122"/>
                                      </a:rPr>
                                    </m:ctrlPr>
                                  </m:sSubSupPr>
                                  <m:e>
                                    <m:r>
                                      <m:rPr>
                                        <m:sty m:val="p"/>
                                      </m:rPr>
                                      <a:rPr lang="en-US" altLang="zh-CN" sz="2400" b="0" i="0" smtClean="0">
                                        <a:latin typeface="Cambria Math" panose="02040503050406030204" pitchFamily="18" charset="0"/>
                                      </a:rPr>
                                      <m:t>s</m:t>
                                    </m:r>
                                  </m:e>
                                  <m:sub>
                                    <m:r>
                                      <a:rPr lang="zh-CN" altLang="en-US" sz="2400">
                                        <a:latin typeface="宋体" panose="02010600030101010101" pitchFamily="2" charset="-122"/>
                                      </a:rPr>
                                      <m:t>𝑘</m:t>
                                    </m:r>
                                  </m:sub>
                                  <m:sup>
                                    <m:r>
                                      <a:rPr lang="zh-CN" altLang="en-US" sz="2400">
                                        <a:latin typeface="宋体" panose="02010600030101010101" pitchFamily="2" charset="-122"/>
                                      </a:rPr>
                                      <m:t>𝑇</m:t>
                                    </m:r>
                                  </m:sup>
                                </m:sSubSup>
                                <m:sSub>
                                  <m:sSubPr>
                                    <m:ctrlPr>
                                      <a:rPr lang="zh-CN" altLang="en-US" sz="2400">
                                        <a:latin typeface="宋体" panose="02010600030101010101" pitchFamily="2" charset="-122"/>
                                      </a:rPr>
                                    </m:ctrlPr>
                                  </m:sSubPr>
                                  <m:e>
                                    <m:r>
                                      <m:rPr>
                                        <m:sty m:val="p"/>
                                      </m:rPr>
                                      <a:rPr lang="en-US" altLang="zh-CN" sz="2400" b="0" i="0" smtClean="0">
                                        <a:latin typeface="Cambria Math" panose="02040503050406030204" pitchFamily="18" charset="0"/>
                                      </a:rPr>
                                      <m:t>B</m:t>
                                    </m:r>
                                  </m:e>
                                  <m:sub>
                                    <m:r>
                                      <a:rPr lang="zh-CN" altLang="en-US" sz="2400">
                                        <a:latin typeface="宋体" panose="02010600030101010101" pitchFamily="2" charset="-122"/>
                                      </a:rPr>
                                      <m:t>𝑘</m:t>
                                    </m:r>
                                  </m:sub>
                                </m:sSub>
                              </m:num>
                              <m:den>
                                <m:sSubSup>
                                  <m:sSubSupPr>
                                    <m:ctrlPr>
                                      <a:rPr lang="zh-CN" altLang="en-US" sz="2400">
                                        <a:latin typeface="宋体" panose="02010600030101010101" pitchFamily="2" charset="-122"/>
                                      </a:rPr>
                                    </m:ctrlPr>
                                  </m:sSubSupPr>
                                  <m:e>
                                    <m:r>
                                      <m:rPr>
                                        <m:sty m:val="p"/>
                                      </m:rPr>
                                      <a:rPr lang="en-US" altLang="zh-CN" sz="2400" b="0" i="0" smtClean="0">
                                        <a:latin typeface="Cambria Math" panose="02040503050406030204" pitchFamily="18" charset="0"/>
                                      </a:rPr>
                                      <m:t>s</m:t>
                                    </m:r>
                                  </m:e>
                                  <m:sub>
                                    <m:r>
                                      <a:rPr lang="zh-CN" altLang="en-US" sz="2400">
                                        <a:latin typeface="宋体" panose="02010600030101010101" pitchFamily="2" charset="-122"/>
                                      </a:rPr>
                                      <m:t>𝑘</m:t>
                                    </m:r>
                                  </m:sub>
                                  <m:sup>
                                    <m:r>
                                      <a:rPr lang="zh-CN" altLang="en-US" sz="2400">
                                        <a:latin typeface="宋体" panose="02010600030101010101" pitchFamily="2" charset="-122"/>
                                      </a:rPr>
                                      <m:t>𝑇</m:t>
                                    </m:r>
                                  </m:sup>
                                </m:sSubSup>
                                <m:sSub>
                                  <m:sSubPr>
                                    <m:ctrlPr>
                                      <a:rPr lang="zh-CN" altLang="en-US" sz="2400">
                                        <a:latin typeface="宋体" panose="02010600030101010101" pitchFamily="2" charset="-122"/>
                                      </a:rPr>
                                    </m:ctrlPr>
                                  </m:sSubPr>
                                  <m:e>
                                    <m:r>
                                      <a:rPr lang="zh-CN" altLang="en-US" sz="2400">
                                        <a:latin typeface="宋体" panose="02010600030101010101" pitchFamily="2" charset="-122"/>
                                      </a:rPr>
                                      <m:t>𝐴</m:t>
                                    </m:r>
                                  </m:e>
                                  <m:sub>
                                    <m:r>
                                      <a:rPr lang="zh-CN" altLang="en-US" sz="2400">
                                        <a:latin typeface="宋体" panose="02010600030101010101" pitchFamily="2" charset="-122"/>
                                      </a:rPr>
                                      <m:t>𝑘</m:t>
                                    </m:r>
                                  </m:sub>
                                </m:sSub>
                                <m:sSub>
                                  <m:sSubPr>
                                    <m:ctrlPr>
                                      <a:rPr lang="zh-CN" altLang="en-US" sz="2400">
                                        <a:latin typeface="宋体" panose="02010600030101010101" pitchFamily="2" charset="-122"/>
                                      </a:rPr>
                                    </m:ctrlPr>
                                  </m:sSubPr>
                                  <m:e>
                                    <m:r>
                                      <m:rPr>
                                        <m:sty m:val="p"/>
                                      </m:rPr>
                                      <a:rPr lang="en-US" altLang="zh-CN" sz="2400" b="0" i="0" smtClean="0">
                                        <a:latin typeface="Cambria Math" panose="02040503050406030204" pitchFamily="18" charset="0"/>
                                      </a:rPr>
                                      <m:t>s</m:t>
                                    </m:r>
                                  </m:e>
                                  <m:sub>
                                    <m:r>
                                      <a:rPr lang="zh-CN" altLang="en-US" sz="2400">
                                        <a:latin typeface="宋体" panose="02010600030101010101" pitchFamily="2" charset="-122"/>
                                      </a:rPr>
                                      <m:t>𝑘</m:t>
                                    </m:r>
                                  </m:sub>
                                </m:sSub>
                              </m:den>
                            </m:f>
                          </m:e>
                        </m:mr>
                      </m:m>
                    </m:oMath>
                  </m:oMathPara>
                </a14:m>
                <a:endParaRPr lang="en-US" altLang="zh-CN" sz="2400" dirty="0">
                  <a:latin typeface="宋体" panose="02010600030101010101" pitchFamily="2" charset="-122"/>
                </a:endParaRPr>
              </a:p>
              <a:p>
                <a:pPr/>
                <a:endParaRPr lang="en-US" altLang="zh-CN" sz="2400" dirty="0">
                  <a:latin typeface="宋体" panose="02010600030101010101" pitchFamily="2" charset="-122"/>
                </a:endParaRPr>
              </a:p>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根据</m:t>
                      </m:r>
                      <m:r>
                        <a:rPr lang="zh-CN" altLang="en-US" sz="2400" i="1">
                          <a:latin typeface="Cambria Math" panose="02040503050406030204" pitchFamily="18" charset="0"/>
                        </a:rPr>
                        <m:t> </m:t>
                      </m:r>
                      <m:r>
                        <a:rPr lang="en-US" altLang="zh-CN" sz="2400" i="1">
                          <a:latin typeface="Cambria Math" panose="02040503050406030204" pitchFamily="18" charset="0"/>
                        </a:rPr>
                        <m:t>𝑆</m:t>
                      </m:r>
                      <m:r>
                        <a:rPr lang="en-US" altLang="zh-CN" sz="2400" i="1" smtClean="0">
                          <a:latin typeface="Cambria Math" panose="02040503050406030204" pitchFamily="18" charset="0"/>
                        </a:rPr>
                        <m:t>𝑀𝑊</m:t>
                      </m:r>
                      <m:r>
                        <a:rPr lang="en-US" altLang="zh-CN" sz="2400" i="1" smtClean="0">
                          <a:latin typeface="Cambria Math" panose="02040503050406030204" pitchFamily="18" charset="0"/>
                        </a:rPr>
                        <m:t> </m:t>
                      </m:r>
                      <m:r>
                        <a:rPr lang="zh-CN" altLang="en-US" sz="2400" i="1" smtClean="0">
                          <a:latin typeface="Cambria Math" panose="02040503050406030204" pitchFamily="18" charset="0"/>
                        </a:rPr>
                        <m:t>公式</m:t>
                      </m:r>
                      <m:r>
                        <a:rPr lang="en-US" altLang="zh-CN" sz="2400" b="0" i="1" smtClean="0">
                          <a:latin typeface="Cambria Math" panose="02040503050406030204" pitchFamily="18" charset="0"/>
                        </a:rPr>
                        <m:t>,</m:t>
                      </m:r>
                      <m:r>
                        <a:rPr lang="zh-CN" altLang="en-US" sz="2400" i="1">
                          <a:latin typeface="Cambria Math" panose="02040503050406030204" pitchFamily="18" charset="0"/>
                        </a:rPr>
                        <m:t>假设</m:t>
                      </m:r>
                      <m:r>
                        <a:rPr lang="zh-CN" altLang="en-US" sz="2400" i="1">
                          <a:latin typeface="Cambria Math" panose="02040503050406030204" pitchFamily="18" charset="0"/>
                        </a:rPr>
                        <m:t> </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𝐴</m:t>
                          </m:r>
                        </m:e>
                        <m:sub>
                          <m:r>
                            <a:rPr lang="en-US" altLang="zh-CN" sz="2400" b="0" i="1" smtClean="0">
                              <a:latin typeface="Cambria Math" panose="02040503050406030204" pitchFamily="18" charset="0"/>
                            </a:rPr>
                            <m:t>𝑘</m:t>
                          </m:r>
                        </m:sub>
                      </m:sSub>
                      <m:r>
                        <a:rPr lang="en-US" altLang="zh-CN" sz="2400" b="0" i="1" smtClean="0">
                          <a:latin typeface="Cambria Math" panose="02040503050406030204" pitchFamily="18" charset="0"/>
                        </a:rPr>
                        <m:t>=</m:t>
                      </m:r>
                      <m:sSubSup>
                        <m:sSubSupPr>
                          <m:ctrlPr>
                            <a:rPr lang="en-US" altLang="zh-CN" sz="2400" b="0" i="1" smtClean="0">
                              <a:latin typeface="Cambria Math" panose="02040503050406030204" pitchFamily="18" charset="0"/>
                            </a:rPr>
                          </m:ctrlPr>
                        </m:sSubSupPr>
                        <m:e>
                          <m:r>
                            <a:rPr lang="en-US" altLang="zh-CN" sz="2400" i="1">
                              <a:latin typeface="Cambria Math" panose="02040503050406030204" pitchFamily="18" charset="0"/>
                            </a:rPr>
                            <m:t>𝐵</m:t>
                          </m:r>
                        </m:e>
                        <m:sub>
                          <m:r>
                            <a:rPr lang="en-US" altLang="zh-CN" sz="2400" i="1">
                              <a:latin typeface="Cambria Math" panose="02040503050406030204" pitchFamily="18" charset="0"/>
                            </a:rPr>
                            <m:t>𝑘</m:t>
                          </m:r>
                        </m:sub>
                        <m:sup>
                          <m:r>
                            <a:rPr lang="en-US" altLang="zh-CN" sz="2400" b="0" i="1" smtClean="0">
                              <a:latin typeface="Cambria Math" panose="02040503050406030204" pitchFamily="18" charset="0"/>
                            </a:rPr>
                            <m:t>−1</m:t>
                          </m:r>
                        </m:sup>
                      </m:sSubSup>
                      <m:r>
                        <a:rPr lang="zh-CN" altLang="en-US" sz="2400" i="1">
                          <a:latin typeface="Cambria Math" panose="02040503050406030204" pitchFamily="18" charset="0"/>
                        </a:rPr>
                        <m:t>，可立即推出基于</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𝐴</m:t>
                          </m:r>
                        </m:e>
                        <m:sub>
                          <m:r>
                            <a:rPr lang="en-US" altLang="zh-CN" sz="2400" b="0" i="1" smtClean="0">
                              <a:latin typeface="Cambria Math" panose="02040503050406030204" pitchFamily="18" charset="0"/>
                            </a:rPr>
                            <m:t>𝑘</m:t>
                          </m:r>
                        </m:sub>
                      </m:sSub>
                      <m:r>
                        <a:rPr lang="en-US" altLang="zh-CN" sz="2400" i="1">
                          <a:latin typeface="Cambria Math" panose="02040503050406030204" pitchFamily="18" charset="0"/>
                        </a:rPr>
                        <m:t> </m:t>
                      </m:r>
                      <m:r>
                        <a:rPr lang="zh-CN" altLang="en-US" sz="2400" i="1">
                          <a:latin typeface="Cambria Math" panose="02040503050406030204" pitchFamily="18" charset="0"/>
                        </a:rPr>
                        <m:t>的</m:t>
                      </m:r>
                      <m:r>
                        <a:rPr lang="zh-CN" altLang="en-US" sz="2400" i="1">
                          <a:latin typeface="Cambria Math" panose="02040503050406030204" pitchFamily="18" charset="0"/>
                        </a:rPr>
                        <m:t> </m:t>
                      </m:r>
                      <m:r>
                        <a:rPr lang="en-US" altLang="zh-CN" sz="2400" i="1">
                          <a:latin typeface="Cambria Math" panose="02040503050406030204" pitchFamily="18" charset="0"/>
                        </a:rPr>
                        <m:t>𝐵𝐹𝐺𝑆</m:t>
                      </m:r>
                      <m:r>
                        <a:rPr lang="en-US" altLang="zh-CN" sz="2400" i="1">
                          <a:latin typeface="Cambria Math" panose="02040503050406030204" pitchFamily="18" charset="0"/>
                        </a:rPr>
                        <m:t> </m:t>
                      </m:r>
                      <m:r>
                        <a:rPr lang="zh-CN" altLang="en-US" sz="2400" i="1">
                          <a:latin typeface="Cambria Math" panose="02040503050406030204" pitchFamily="18" charset="0"/>
                        </a:rPr>
                        <m:t>公式：</m:t>
                      </m:r>
                    </m:oMath>
                  </m:oMathPara>
                </a14:m>
                <a:endParaRPr lang="en-US" altLang="zh-CN" sz="24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𝐴</m:t>
                          </m:r>
                        </m:e>
                        <m:sub>
                          <m:r>
                            <a:rPr lang="en-US" altLang="zh-CN" sz="2400" b="0" i="1" smtClean="0">
                              <a:latin typeface="Cambria Math" panose="02040503050406030204" pitchFamily="18" charset="0"/>
                            </a:rPr>
                            <m:t>𝑘</m:t>
                          </m:r>
                        </m:sub>
                      </m:sSub>
                      <m:r>
                        <a:rPr lang="en-US" altLang="zh-CN" sz="2400" i="1">
                          <a:latin typeface="Cambria Math" panose="02040503050406030204" pitchFamily="18" charset="0"/>
                        </a:rPr>
                        <m:t>=</m:t>
                      </m:r>
                      <m:sSup>
                        <m:sSupPr>
                          <m:ctrlPr>
                            <a:rPr lang="en-US" altLang="zh-CN" sz="2400" i="1">
                              <a:latin typeface="Cambria Math" panose="02040503050406030204" pitchFamily="18" charset="0"/>
                            </a:rPr>
                          </m:ctrlPr>
                        </m:sSupPr>
                        <m:e>
                          <m:d>
                            <m:dPr>
                              <m:ctrlPr>
                                <a:rPr lang="en-US" altLang="zh-CN" sz="2400" i="1">
                                  <a:latin typeface="Cambria Math" panose="02040503050406030204" pitchFamily="18" charset="0"/>
                                </a:rPr>
                              </m:ctrlPr>
                            </m:dPr>
                            <m:e>
                              <m:r>
                                <a:rPr lang="en-US" altLang="zh-CN" sz="2400" i="1">
                                  <a:latin typeface="Cambria Math" panose="02040503050406030204" pitchFamily="18" charset="0"/>
                                </a:rPr>
                                <m:t>𝐼</m:t>
                              </m:r>
                              <m:r>
                                <a:rPr lang="en-US" altLang="zh-CN" sz="2400" i="1">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i="1" smtClean="0">
                                      <a:latin typeface="Cambria Math" panose="02040503050406030204" pitchFamily="18" charset="0"/>
                                    </a:rPr>
                                    <m:t>𝜌</m:t>
                                  </m:r>
                                </m:e>
                                <m:sub>
                                  <m:r>
                                    <a:rPr lang="en-US" altLang="zh-CN" sz="2400" b="0" i="1" smtClean="0">
                                      <a:latin typeface="Cambria Math" panose="02040503050406030204" pitchFamily="18" charset="0"/>
                                    </a:rPr>
                                    <m:t>𝑘</m:t>
                                  </m:r>
                                </m:sub>
                              </m:sSub>
                              <m:sSub>
                                <m:sSubPr>
                                  <m:ctrlPr>
                                    <a:rPr lang="en-US" altLang="zh-CN" sz="2400" b="0" i="1" smtClean="0">
                                      <a:latin typeface="Cambria Math" panose="02040503050406030204" pitchFamily="18" charset="0"/>
                                    </a:rPr>
                                  </m:ctrlPr>
                                </m:sSubPr>
                                <m:e>
                                  <m:r>
                                    <a:rPr lang="en-US" altLang="zh-CN" sz="2400" i="1">
                                      <a:latin typeface="Cambria Math" panose="02040503050406030204" pitchFamily="18" charset="0"/>
                                    </a:rPr>
                                    <m:t>𝑦</m:t>
                                  </m:r>
                                </m:e>
                                <m:sub>
                                  <m:r>
                                    <a:rPr lang="en-US" altLang="zh-CN" sz="2400" b="0" i="1" smtClean="0">
                                      <a:latin typeface="Cambria Math" panose="02040503050406030204" pitchFamily="18" charset="0"/>
                                    </a:rPr>
                                    <m:t>𝑘</m:t>
                                  </m:r>
                                </m:sub>
                              </m:sSub>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𝑠</m:t>
                                  </m:r>
                                </m:e>
                                <m:sub>
                                  <m:r>
                                    <a:rPr lang="en-US" altLang="zh-CN" sz="2400" b="0" i="1" smtClean="0">
                                      <a:latin typeface="Cambria Math" panose="02040503050406030204" pitchFamily="18" charset="0"/>
                                    </a:rPr>
                                    <m:t>𝑘</m:t>
                                  </m:r>
                                </m:sub>
                                <m:sup>
                                  <m:r>
                                    <a:rPr lang="en-US" altLang="zh-CN" sz="2400" b="0" i="1" smtClean="0">
                                      <a:latin typeface="Cambria Math" panose="02040503050406030204" pitchFamily="18" charset="0"/>
                                    </a:rPr>
                                    <m:t>𝑇</m:t>
                                  </m:r>
                                </m:sup>
                              </m:sSubSup>
                            </m:e>
                          </m:d>
                        </m:e>
                        <m:sup>
                          <m:r>
                            <a:rPr lang="en-US" altLang="zh-CN" sz="2400" b="0" i="1" smtClean="0">
                              <a:latin typeface="Cambria Math" panose="02040503050406030204" pitchFamily="18" charset="0"/>
                            </a:rPr>
                            <m:t>𝑇</m:t>
                          </m:r>
                        </m:sup>
                      </m:sSup>
                      <m:r>
                        <a:rPr lang="en-US" altLang="zh-CN" sz="2400" i="1">
                          <a:latin typeface="Cambria Math" panose="02040503050406030204" pitchFamily="18" charset="0"/>
                        </a:rPr>
                        <m:t> </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𝐴</m:t>
                          </m:r>
                        </m:e>
                        <m:sub>
                          <m:r>
                            <a:rPr lang="en-US" altLang="zh-CN" sz="2400" b="0" i="1" smtClean="0">
                              <a:latin typeface="Cambria Math" panose="02040503050406030204" pitchFamily="18" charset="0"/>
                            </a:rPr>
                            <m:t>𝑘</m:t>
                          </m:r>
                        </m:sub>
                      </m:sSub>
                      <m:d>
                        <m:dPr>
                          <m:ctrlPr>
                            <a:rPr lang="en-US" altLang="zh-CN" sz="2400" b="0" i="1" smtClean="0">
                              <a:latin typeface="Cambria Math" panose="02040503050406030204" pitchFamily="18" charset="0"/>
                            </a:rPr>
                          </m:ctrlPr>
                        </m:dPr>
                        <m:e>
                          <m:r>
                            <a:rPr lang="en-US" altLang="zh-CN" sz="2400" i="1">
                              <a:latin typeface="Cambria Math" panose="02040503050406030204" pitchFamily="18" charset="0"/>
                            </a:rPr>
                            <m:t>𝐼</m:t>
                          </m:r>
                          <m:r>
                            <a:rPr lang="en-US" altLang="zh-CN" sz="2400" i="1">
                              <a:latin typeface="Cambria Math" panose="02040503050406030204" pitchFamily="18" charset="0"/>
                            </a:rPr>
                            <m:t>-</m:t>
                          </m:r>
                          <m:sSub>
                            <m:sSubPr>
                              <m:ctrlPr>
                                <a:rPr lang="en-US" altLang="zh-CN" sz="2400" i="1" smtClean="0">
                                  <a:latin typeface="Cambria Math" panose="02040503050406030204" pitchFamily="18" charset="0"/>
                                </a:rPr>
                              </m:ctrlPr>
                            </m:sSubPr>
                            <m:e>
                              <m:r>
                                <a:rPr lang="en-US" altLang="zh-CN" sz="2400" i="1" smtClean="0">
                                  <a:latin typeface="Cambria Math" panose="02040503050406030204" pitchFamily="18" charset="0"/>
                                </a:rPr>
                                <m:t>𝜌</m:t>
                              </m:r>
                            </m:e>
                            <m:sub>
                              <m:r>
                                <a:rPr lang="en-US" altLang="zh-CN" sz="2400" b="0" i="1" smtClean="0">
                                  <a:latin typeface="Cambria Math" panose="02040503050406030204" pitchFamily="18" charset="0"/>
                                </a:rPr>
                                <m:t>𝑘</m:t>
                              </m:r>
                            </m:sub>
                          </m:sSub>
                          <m:r>
                            <a:rPr lang="en-US" altLang="zh-CN" sz="2400" i="1">
                              <a:latin typeface="Cambria Math" panose="02040503050406030204" pitchFamily="18" charset="0"/>
                            </a:rPr>
                            <m:t> </m:t>
                          </m:r>
                          <m:sSub>
                            <m:sSubPr>
                              <m:ctrlPr>
                                <a:rPr lang="en-US" altLang="zh-CN" sz="2400" b="0" i="1" smtClean="0">
                                  <a:latin typeface="Cambria Math" panose="02040503050406030204" pitchFamily="18" charset="0"/>
                                </a:rPr>
                              </m:ctrlPr>
                            </m:sSubPr>
                            <m:e>
                              <m:r>
                                <a:rPr lang="en-US" altLang="zh-CN" sz="2400" i="1">
                                  <a:latin typeface="Cambria Math" panose="02040503050406030204" pitchFamily="18" charset="0"/>
                                </a:rPr>
                                <m:t>𝑦</m:t>
                              </m:r>
                            </m:e>
                            <m:sub>
                              <m:r>
                                <a:rPr lang="en-US" altLang="zh-CN" sz="2400" b="0" i="1" smtClean="0">
                                  <a:latin typeface="Cambria Math" panose="02040503050406030204" pitchFamily="18" charset="0"/>
                                </a:rPr>
                                <m:t>𝑘</m:t>
                              </m:r>
                            </m:sub>
                          </m:sSub>
                          <m:sSup>
                            <m:sSupPr>
                              <m:ctrlPr>
                                <a:rPr lang="en-US" altLang="zh-CN" sz="2400" b="0" i="1" smtClean="0">
                                  <a:latin typeface="Cambria Math" panose="02040503050406030204" pitchFamily="18" charset="0"/>
                                </a:rPr>
                              </m:ctrlPr>
                            </m:sSupPr>
                            <m:e>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b="0" i="1" smtClean="0">
                                          <a:latin typeface="Cambria Math" panose="02040503050406030204" pitchFamily="18" charset="0"/>
                                        </a:rPr>
                                        <m:t>𝑘</m:t>
                                      </m:r>
                                    </m:sub>
                                  </m:sSub>
                                </m:e>
                              </m:d>
                            </m:e>
                            <m:sup>
                              <m:r>
                                <a:rPr lang="en-US" altLang="zh-CN" sz="2400" b="0" i="1" smtClean="0">
                                  <a:latin typeface="Cambria Math" panose="02040503050406030204" pitchFamily="18" charset="0"/>
                                </a:rPr>
                                <m:t>𝑇</m:t>
                              </m:r>
                            </m:sup>
                          </m:sSup>
                        </m:e>
                      </m:d>
                      <m:r>
                        <a:rPr lang="en-US" altLang="zh-CN" sz="2400" i="1">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i="1" smtClean="0">
                              <a:latin typeface="Cambria Math" panose="02040503050406030204" pitchFamily="18" charset="0"/>
                            </a:rPr>
                            <m:t>𝜌</m:t>
                          </m:r>
                        </m:e>
                        <m:sub>
                          <m:r>
                            <a:rPr lang="en-US" altLang="zh-CN" sz="2400" i="1">
                              <a:latin typeface="Cambria Math" panose="02040503050406030204" pitchFamily="18" charset="0"/>
                            </a:rPr>
                            <m:t>𝑘</m:t>
                          </m:r>
                        </m:sub>
                      </m:sSub>
                      <m:r>
                        <a:rPr lang="en-US" altLang="zh-CN" sz="2400" i="1">
                          <a:latin typeface="Cambria Math" panose="02040503050406030204" pitchFamily="18" charset="0"/>
                        </a:rPr>
                        <m:t> </m:t>
                      </m:r>
                      <m:sSub>
                        <m:sSubPr>
                          <m:ctrlPr>
                            <a:rPr lang="en-US" altLang="zh-CN" sz="2400" b="0" i="1" smtClean="0">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i="1">
                              <a:latin typeface="Cambria Math" panose="02040503050406030204" pitchFamily="18" charset="0"/>
                            </a:rPr>
                            <m:t>𝑘</m:t>
                          </m:r>
                        </m:sub>
                      </m:sSub>
                      <m:sSup>
                        <m:sSupPr>
                          <m:ctrlPr>
                            <a:rPr lang="en-US" altLang="zh-CN" sz="2400" b="0" i="1" smtClean="0">
                              <a:latin typeface="Cambria Math" panose="02040503050406030204" pitchFamily="18" charset="0"/>
                            </a:rPr>
                          </m:ctrlPr>
                        </m:sSupPr>
                        <m:e>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i="1">
                                      <a:latin typeface="Cambria Math" panose="02040503050406030204" pitchFamily="18" charset="0"/>
                                    </a:rPr>
                                    <m:t>𝑘</m:t>
                                  </m:r>
                                </m:sub>
                              </m:sSub>
                            </m:e>
                          </m:d>
                        </m:e>
                        <m:sup>
                          <m:r>
                            <a:rPr lang="en-US" altLang="zh-CN" sz="2400" b="0" i="1" smtClean="0">
                              <a:latin typeface="Cambria Math" panose="02040503050406030204" pitchFamily="18" charset="0"/>
                            </a:rPr>
                            <m:t>𝑇</m:t>
                          </m:r>
                        </m:sup>
                      </m:sSup>
                      <m:r>
                        <a:rPr lang="en-US" altLang="zh-CN" sz="2400" i="1">
                          <a:latin typeface="Cambria Math" panose="02040503050406030204" pitchFamily="18" charset="0"/>
                        </a:rPr>
                        <m:t>,</m:t>
                      </m:r>
                    </m:oMath>
                  </m:oMathPara>
                </a14:m>
                <a:endParaRPr lang="en-US" altLang="zh-CN" sz="2400" i="1" dirty="0">
                  <a:latin typeface="Cambria Math" panose="02040503050406030204" pitchFamily="18" charset="0"/>
                </a:endParaRPr>
              </a:p>
              <a:p>
                <a:pPr/>
                <a:r>
                  <a:rPr lang="zh-CN" altLang="en-US" sz="2400" dirty="0"/>
                  <a:t>其中</a:t>
                </a:r>
                <a14:m/>
              </a:p>
              <a:p>
                <a:pPr/>
                <a:endParaRPr lang="en-US" altLang="zh-CN" sz="2400" dirty="0">
                  <a:latin typeface="宋体" panose="02010600030101010101" pitchFamily="2" charset="-122"/>
                </a:endParaRPr>
              </a:p>
              <a:p>
                <a:pPr/>
                <a:r>
                  <a:rPr lang="zh-CN" altLang="en-US" sz="2400" dirty="0">
                    <a:latin typeface="宋体" panose="02010600030101010101" pitchFamily="2" charset="-122"/>
                  </a:rPr>
                  <a:t>这就是</a:t>
                </a:r>
                <a:r>
                  <a:rPr lang="en-US" altLang="zh-CN" sz="2400" dirty="0">
                    <a:latin typeface="宋体" panose="02010600030101010101" pitchFamily="2" charset="-122"/>
                  </a:rPr>
                  <a:t>BFGS</a:t>
                </a:r>
                <a:r>
                  <a:rPr lang="zh-CN" altLang="en-US" sz="2400" dirty="0">
                    <a:latin typeface="宋体" panose="02010600030101010101" pitchFamily="2" charset="-122"/>
                  </a:rPr>
                  <a:t>迭代公式</a:t>
                </a:r>
              </a:p>
            </p:txBody>
          </p:sp>
        </mc:Choice>
        <mc:Fallback>
          <p:sp>
            <p:nvSpPr>
              <p:cNvPr id="3" name="文本框 2">
                <a:extLst>
                  <a:ext uri="{FF2B5EF4-FFF2-40B4-BE49-F238E27FC236}">
                    <a16:creationId xmlns:a16="http://schemas.microsoft.com/office/drawing/2014/main" id="{C5E36C96-DD28-DE1E-B0E3-A2399F689100}"/>
                  </a:ext>
                </a:extLst>
              </p:cNvPr>
              <p:cNvSpPr txBox="1">
                <a:spLocks noRot="1" noChangeAspect="1" noMove="1" noResize="1" noEditPoints="1" noAdjustHandles="1" noChangeArrowheads="1" noChangeShapeType="1" noTextEdit="1"/>
              </p:cNvSpPr>
              <p:nvPr/>
            </p:nvSpPr>
            <p:spPr>
              <a:xfrm>
                <a:off x="899592" y="404664"/>
                <a:ext cx="7632848" cy="4948278"/>
              </a:xfrm>
              <a:prstGeom prst="rect">
                <a:avLst/>
              </a:prstGeom>
              <a:blipFill>
                <a:blip r:embed="rId2"/>
                <a:stretch>
                  <a:fillRect l="-1278" b="-172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346892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7F9FAC3A-3FDD-4A51-C9CF-D35B68A3CF70}"/>
              </a:ext>
            </a:extLst>
          </p:cNvPr>
          <p:cNvPicPr>
            <a:picLocks noChangeAspect="1"/>
          </p:cNvPicPr>
          <p:nvPr/>
        </p:nvPicPr>
        <p:blipFill>
          <a:blip r:embed="rId2"/>
          <a:stretch>
            <a:fillRect/>
          </a:stretch>
        </p:blipFill>
        <p:spPr>
          <a:xfrm>
            <a:off x="0" y="923558"/>
            <a:ext cx="8914859" cy="5025722"/>
          </a:xfrm>
          <a:prstGeom prst="rect">
            <a:avLst/>
          </a:prstGeom>
        </p:spPr>
      </p:pic>
    </p:spTree>
    <p:extLst>
      <p:ext uri="{BB962C8B-B14F-4D97-AF65-F5344CB8AC3E}">
        <p14:creationId xmlns:p14="http://schemas.microsoft.com/office/powerpoint/2010/main" val="18271610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9D669915-C019-8ED8-ACA4-50BCE8A1C66C}"/>
                  </a:ext>
                </a:extLst>
              </p:cNvPr>
              <p:cNvSpPr txBox="1"/>
              <p:nvPr/>
            </p:nvSpPr>
            <p:spPr>
              <a:xfrm>
                <a:off x="683568" y="908720"/>
                <a:ext cx="7920880" cy="5495222"/>
              </a:xfrm>
              <a:prstGeom prst="rect">
                <a:avLst/>
              </a:prstGeom>
              <a:noFill/>
            </p:spPr>
            <p:txBody>
              <a:bodyPr wrap="square">
                <a:spAutoFit/>
              </a:bodyPr>
              <a:lstStyle/>
              <a:p>
                <a:pPr/>
                <a14:m>
                  <m:oMath xmlns:m="http://schemas.openxmlformats.org/officeDocument/2006/math">
                    <m:r>
                      <a:rPr lang="zh-CN" altLang="en-US" sz="2400" i="1" smtClean="0">
                        <a:latin typeface="Cambria Math" panose="02040503050406030204" pitchFamily="18" charset="0"/>
                      </a:rPr>
                      <m:t>进一步</m:t>
                    </m:r>
                    <m:r>
                      <a:rPr lang="zh-CN" altLang="en-US" sz="2400" i="1">
                        <a:latin typeface="Cambria Math" panose="02040503050406030204" pitchFamily="18" charset="0"/>
                      </a:rPr>
                      <m:t>，</m:t>
                    </m:r>
                  </m:oMath>
                </a14:m>
                <a:r>
                  <a:rPr lang="zh-CN" altLang="en-US" sz="2400" i="1" dirty="0">
                    <a:latin typeface="Cambria Math" panose="02040503050406030204" pitchFamily="18" charset="0"/>
                  </a:rPr>
                  <a:t>记</a:t>
                </a:r>
                <a:r>
                  <a:rPr lang="en-US" altLang="zh-CN" sz="2400" i="1" dirty="0">
                    <a:latin typeface="Cambria Math" panose="02040503050406030204" pitchFamily="18" charset="0"/>
                  </a:rPr>
                  <a:t> </a:t>
                </a:r>
                <a14:m>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𝑉</m:t>
                        </m:r>
                      </m:e>
                      <m:sub>
                        <m:r>
                          <a:rPr lang="en-US" altLang="zh-CN" sz="2400" b="0" i="1" smtClean="0">
                            <a:latin typeface="Cambria Math" panose="02040503050406030204" pitchFamily="18" charset="0"/>
                          </a:rPr>
                          <m:t>𝑘</m:t>
                        </m:r>
                      </m:sub>
                    </m:sSub>
                    <m:r>
                      <a:rPr lang="en-US" altLang="zh-CN" sz="2400" b="0" i="1" smtClean="0">
                        <a:latin typeface="Cambria Math" panose="02040503050406030204" pitchFamily="18" charset="0"/>
                      </a:rPr>
                      <m:t>=</m:t>
                    </m:r>
                    <m:r>
                      <a:rPr lang="en-US" altLang="zh-CN" sz="2400" i="1">
                        <a:latin typeface="Cambria Math" panose="02040503050406030204" pitchFamily="18" charset="0"/>
                      </a:rPr>
                      <m:t>𝐼</m:t>
                    </m:r>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𝜌</m:t>
                        </m:r>
                      </m:e>
                      <m:sub>
                        <m:r>
                          <a:rPr lang="en-US" altLang="zh-CN" sz="2400" i="1">
                            <a:latin typeface="Cambria Math" panose="02040503050406030204" pitchFamily="18" charset="0"/>
                          </a:rPr>
                          <m:t>𝑘</m:t>
                        </m:r>
                      </m:sub>
                    </m:sSub>
                    <m:r>
                      <a:rPr lang="en-US" altLang="zh-CN" sz="2400" i="1">
                        <a:latin typeface="Cambria Math" panose="02040503050406030204" pitchFamily="18" charset="0"/>
                      </a:rPr>
                      <m:t> </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𝑦</m:t>
                        </m:r>
                      </m:e>
                      <m:sub>
                        <m:r>
                          <a:rPr lang="en-US" altLang="zh-CN" sz="2400" i="1">
                            <a:latin typeface="Cambria Math" panose="02040503050406030204" pitchFamily="18" charset="0"/>
                          </a:rPr>
                          <m:t>𝑘</m:t>
                        </m:r>
                      </m:sub>
                    </m:sSub>
                    <m:sSubSup>
                      <m:sSubSupPr>
                        <m:ctrlPr>
                          <a:rPr lang="en-US" altLang="zh-CN" sz="2400" b="0" i="1" smtClean="0">
                            <a:latin typeface="Cambria Math" panose="02040503050406030204" pitchFamily="18" charset="0"/>
                          </a:rPr>
                        </m:ctrlPr>
                      </m:sSubSupPr>
                      <m:e>
                        <m:r>
                          <a:rPr lang="en-US" altLang="zh-CN" sz="2400" b="0" i="1" smtClean="0">
                            <a:latin typeface="Cambria Math" panose="02040503050406030204" pitchFamily="18" charset="0"/>
                          </a:rPr>
                          <m:t>𝑠</m:t>
                        </m:r>
                      </m:e>
                      <m:sub>
                        <m:r>
                          <a:rPr lang="en-US" altLang="zh-CN" sz="2400" b="0" i="1" smtClean="0">
                            <a:latin typeface="Cambria Math" panose="02040503050406030204" pitchFamily="18" charset="0"/>
                          </a:rPr>
                          <m:t>𝑘</m:t>
                        </m:r>
                      </m:sub>
                      <m:sup>
                        <m:r>
                          <a:rPr lang="en-US" altLang="zh-CN" sz="2400" i="1">
                            <a:latin typeface="Cambria Math" panose="02040503050406030204" pitchFamily="18" charset="0"/>
                          </a:rPr>
                          <m:t>𝑇</m:t>
                        </m:r>
                      </m:sup>
                    </m:sSubSup>
                  </m:oMath>
                </a14:m>
                <a:r>
                  <a:rPr lang="en-US" altLang="zh-CN" sz="2400" i="1" dirty="0">
                    <a:latin typeface="Cambria Math" panose="02040503050406030204" pitchFamily="18" charset="0"/>
                  </a:rPr>
                  <a:t>,</a:t>
                </a:r>
              </a:p>
              <a:p>
                <a:pP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a:latin typeface="Cambria Math" panose="02040503050406030204" pitchFamily="18" charset="0"/>
                          </a:rPr>
                          <m:t>𝑘</m:t>
                        </m:r>
                      </m:sub>
                    </m:sSub>
                    <m:r>
                      <a:rPr lang="en-US" altLang="zh-CN" sz="2400" i="1">
                        <a:latin typeface="Cambria Math" panose="02040503050406030204" pitchFamily="18" charset="0"/>
                      </a:rPr>
                      <m:t>=</m:t>
                    </m:r>
                  </m:oMath>
                </a14:m>
                <a:r>
                  <a:rPr lang="en-US" altLang="zh-CN" sz="2400" dirty="0"/>
                  <a:t> </a:t>
                </a:r>
                <a14:m>
                  <m:oMath xmlns:m="http://schemas.openxmlformats.org/officeDocument/2006/math">
                    <m:sSup>
                      <m:sSupPr>
                        <m:ctrlPr>
                          <a:rPr lang="en-US" altLang="zh-CN" sz="2400" i="1">
                            <a:latin typeface="Cambria Math" panose="02040503050406030204" pitchFamily="18" charset="0"/>
                          </a:rPr>
                        </m:ctrlPr>
                      </m:sSup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𝑘</m:t>
                            </m:r>
                            <m:r>
                              <a:rPr lang="en-US" altLang="zh-CN" sz="2400" b="0" i="1" smtClean="0">
                                <a:latin typeface="Cambria Math" panose="02040503050406030204" pitchFamily="18" charset="0"/>
                              </a:rPr>
                              <m:t>−1</m:t>
                            </m:r>
                          </m:sub>
                        </m:sSub>
                      </m:e>
                      <m:sup>
                        <m:r>
                          <a:rPr lang="en-US" altLang="zh-CN" sz="2400" i="1">
                            <a:latin typeface="Cambria Math" panose="02040503050406030204" pitchFamily="18" charset="0"/>
                          </a:rPr>
                          <m:t>𝑇</m:t>
                        </m:r>
                      </m:sup>
                    </m:sSup>
                    <m:r>
                      <a:rPr lang="en-US" altLang="zh-CN" sz="2400" i="1">
                        <a:latin typeface="Cambria Math" panose="02040503050406030204" pitchFamily="18" charset="0"/>
                      </a:rPr>
                      <m:t> </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a:latin typeface="Cambria Math" panose="02040503050406030204" pitchFamily="18" charset="0"/>
                          </a:rPr>
                          <m:t>𝑘</m:t>
                        </m:r>
                        <m:r>
                          <a:rPr lang="en-US" altLang="zh-CN" sz="2400" b="0" i="1" smtClean="0">
                            <a:latin typeface="Cambria Math" panose="02040503050406030204" pitchFamily="18" charset="0"/>
                          </a:rPr>
                          <m:t>−1</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𝑘</m:t>
                        </m:r>
                        <m:r>
                          <a:rPr lang="en-US" altLang="zh-CN" sz="2400" b="0" i="1" smtClean="0">
                            <a:latin typeface="Cambria Math" panose="02040503050406030204" pitchFamily="18" charset="0"/>
                          </a:rPr>
                          <m:t>−1</m:t>
                        </m:r>
                      </m:sub>
                    </m:sSub>
                  </m:oMath>
                </a14:m>
                <a:r>
                  <a:rPr lang="en-US" altLang="zh-CN" sz="2400" dirty="0"/>
                  <a:t> </a:t>
                </a:r>
                <a14:m>
                  <m:oMath xmlns:m="http://schemas.openxmlformats.org/officeDocument/2006/math">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𝜌</m:t>
                        </m:r>
                      </m:e>
                      <m:sub>
                        <m:r>
                          <a:rPr lang="en-US" altLang="zh-CN" sz="2400" i="1">
                            <a:latin typeface="Cambria Math" panose="02040503050406030204" pitchFamily="18" charset="0"/>
                          </a:rPr>
                          <m:t>𝑘</m:t>
                        </m:r>
                        <m:r>
                          <a:rPr lang="en-US" altLang="zh-CN" sz="2400" b="0" i="1" smtClean="0">
                            <a:latin typeface="Cambria Math" panose="02040503050406030204" pitchFamily="18" charset="0"/>
                          </a:rPr>
                          <m:t>−1</m:t>
                        </m:r>
                      </m:sub>
                    </m:sSub>
                    <m:r>
                      <a:rPr lang="en-US" altLang="zh-CN" sz="2400" i="1">
                        <a:latin typeface="Cambria Math" panose="02040503050406030204" pitchFamily="18" charset="0"/>
                      </a:rPr>
                      <m:t> </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i="1">
                            <a:latin typeface="Cambria Math" panose="02040503050406030204" pitchFamily="18" charset="0"/>
                          </a:rPr>
                          <m:t>𝑘</m:t>
                        </m:r>
                        <m:r>
                          <a:rPr lang="en-US" altLang="zh-CN" sz="2400" b="0" i="1" smtClean="0">
                            <a:latin typeface="Cambria Math" panose="02040503050406030204" pitchFamily="18" charset="0"/>
                          </a:rPr>
                          <m:t>−1</m:t>
                        </m:r>
                      </m:sub>
                    </m:sSub>
                    <m:sSup>
                      <m:sSupPr>
                        <m:ctrlPr>
                          <a:rPr lang="en-US" altLang="zh-CN" sz="2400" i="1">
                            <a:latin typeface="Cambria Math" panose="02040503050406030204" pitchFamily="18" charset="0"/>
                          </a:rPr>
                        </m:ctrlPr>
                      </m:sSupPr>
                      <m:e>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i="1">
                                    <a:latin typeface="Cambria Math" panose="02040503050406030204" pitchFamily="18" charset="0"/>
                                  </a:rPr>
                                  <m:t>𝑘</m:t>
                                </m:r>
                                <m:r>
                                  <a:rPr lang="en-US" altLang="zh-CN" sz="2400" b="0" i="1" smtClean="0">
                                    <a:latin typeface="Cambria Math" panose="02040503050406030204" pitchFamily="18" charset="0"/>
                                  </a:rPr>
                                  <m:t>−1</m:t>
                                </m:r>
                              </m:sub>
                            </m:sSub>
                          </m:e>
                        </m:d>
                      </m:e>
                      <m:sup>
                        <m:r>
                          <a:rPr lang="en-US" altLang="zh-CN" sz="2400" i="1">
                            <a:latin typeface="Cambria Math" panose="02040503050406030204" pitchFamily="18" charset="0"/>
                          </a:rPr>
                          <m:t>𝑇</m:t>
                        </m:r>
                      </m:sup>
                    </m:sSup>
                  </m:oMath>
                </a14:m>
                <a:endParaRPr lang="en-US" altLang="zh-CN" sz="2400" dirty="0"/>
              </a:p>
              <a:p>
                <a:pPr/>
                <a:r>
                  <a:rPr lang="en-US" altLang="zh-CN" sz="2400" i="1" dirty="0">
                    <a:latin typeface="Cambria Math" panose="02040503050406030204" pitchFamily="18" charset="0"/>
                  </a:rPr>
                  <a:t>=</a:t>
                </a:r>
                <a:r>
                  <a:rPr lang="en-US" altLang="zh-CN" sz="2400" dirty="0"/>
                  <a:t> </a:t>
                </a:r>
                <a14:m>
                  <m:oMath xmlns:m="http://schemas.openxmlformats.org/officeDocument/2006/math">
                    <m:sSub>
                      <m:sSubPr>
                        <m:ctrlPr>
                          <a:rPr lang="en-US" altLang="zh-CN" sz="2400" b="0" i="1" smtClean="0">
                            <a:latin typeface="Cambria Math" panose="02040503050406030204" pitchFamily="18" charset="0"/>
                          </a:rPr>
                        </m:ctrlPr>
                      </m:sSubPr>
                      <m:e>
                        <m:sSup>
                          <m:sSupPr>
                            <m:ctrlPr>
                              <a:rPr lang="en-US" altLang="zh-CN" sz="2400" i="1">
                                <a:latin typeface="Cambria Math" panose="02040503050406030204" pitchFamily="18" charset="0"/>
                              </a:rPr>
                            </m:ctrlPr>
                          </m:sSupPr>
                          <m:e>
                            <m:r>
                              <m:rPr>
                                <m:nor/>
                              </m:rPr>
                              <a:rPr lang="en-US" altLang="zh-CN" sz="2400" dirty="0"/>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𝑘</m:t>
                                </m:r>
                                <m:r>
                                  <a:rPr lang="en-US" altLang="zh-CN" sz="2400" i="1">
                                    <a:latin typeface="Cambria Math" panose="02040503050406030204" pitchFamily="18" charset="0"/>
                                  </a:rPr>
                                  <m:t>−</m:t>
                                </m:r>
                                <m:r>
                                  <a:rPr lang="en-US" altLang="zh-CN" sz="2400" i="1">
                                    <a:latin typeface="Cambria Math" panose="02040503050406030204" pitchFamily="18" charset="0"/>
                                  </a:rPr>
                                  <m:t>𝑚</m:t>
                                </m:r>
                                <m:r>
                                  <a:rPr lang="en-US" altLang="zh-CN" sz="2400" i="1">
                                    <a:latin typeface="Cambria Math" panose="02040503050406030204" pitchFamily="18" charset="0"/>
                                  </a:rPr>
                                  <m:t> </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𝑘</m:t>
                                </m:r>
                                <m:r>
                                  <a:rPr lang="en-US" altLang="zh-CN" sz="2400" i="1">
                                    <a:latin typeface="Cambria Math" panose="02040503050406030204" pitchFamily="18" charset="0"/>
                                  </a:rPr>
                                  <m:t>−</m:t>
                                </m:r>
                                <m:r>
                                  <a:rPr lang="en-US" altLang="zh-CN" sz="2400" i="1">
                                    <a:latin typeface="Cambria Math" panose="02040503050406030204" pitchFamily="18" charset="0"/>
                                  </a:rPr>
                                  <m:t>𝑚</m:t>
                                </m:r>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𝑘</m:t>
                                </m:r>
                                <m:r>
                                  <a:rPr lang="en-US" altLang="zh-CN" sz="2400" i="1">
                                    <a:latin typeface="Cambria Math" panose="02040503050406030204" pitchFamily="18" charset="0"/>
                                  </a:rPr>
                                  <m:t>−1</m:t>
                                </m:r>
                              </m:sub>
                            </m:sSub>
                            <m:r>
                              <a:rPr lang="en-US" altLang="zh-CN" sz="2400" i="1">
                                <a:latin typeface="Cambria Math" panose="02040503050406030204" pitchFamily="18" charset="0"/>
                              </a:rPr>
                              <m:t>)</m:t>
                            </m:r>
                          </m:e>
                          <m:sup>
                            <m:r>
                              <a:rPr lang="en-US" altLang="zh-CN" sz="2400" i="1">
                                <a:latin typeface="Cambria Math" panose="02040503050406030204" pitchFamily="18" charset="0"/>
                              </a:rPr>
                              <m:t>𝑇</m:t>
                            </m:r>
                          </m:sup>
                        </m:sSup>
                        <m:r>
                          <a:rPr lang="en-US" altLang="zh-CN" sz="2400" b="0" i="1" smtClean="0">
                            <a:latin typeface="Cambria Math" panose="02040503050406030204" pitchFamily="18" charset="0"/>
                          </a:rPr>
                          <m:t>𝐴</m:t>
                        </m:r>
                      </m:e>
                      <m:sub>
                        <m:r>
                          <a:rPr lang="en-US" altLang="zh-CN" sz="2400" b="0" i="1" smtClean="0">
                            <a:latin typeface="Cambria Math" panose="02040503050406030204" pitchFamily="18" charset="0"/>
                          </a:rPr>
                          <m:t>𝑘</m:t>
                        </m:r>
                        <m:r>
                          <a:rPr lang="en-US" altLang="zh-CN" sz="2400" b="0" i="1" smtClean="0">
                            <a:latin typeface="Cambria Math" panose="02040503050406030204" pitchFamily="18" charset="0"/>
                          </a:rPr>
                          <m:t>−</m:t>
                        </m:r>
                        <m:r>
                          <m:rPr>
                            <m:sty m:val="p"/>
                          </m:rPr>
                          <a:rPr lang="en-US" altLang="zh-CN" sz="2400" i="1">
                            <a:latin typeface="Cambria Math" panose="02040503050406030204" pitchFamily="18" charset="0"/>
                          </a:rPr>
                          <m:t>m</m:t>
                        </m:r>
                      </m:sub>
                    </m:sSub>
                  </m:oMath>
                </a14:m>
                <a:r>
                  <a:rPr lang="en-US" altLang="zh-CN" sz="2400" dirty="0"/>
                  <a:t>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𝑘</m:t>
                        </m:r>
                        <m:r>
                          <a:rPr lang="en-US" altLang="zh-CN" sz="2400" i="1">
                            <a:latin typeface="Cambria Math" panose="02040503050406030204" pitchFamily="18" charset="0"/>
                          </a:rPr>
                          <m:t>−</m:t>
                        </m:r>
                        <m:r>
                          <a:rPr lang="en-US" altLang="zh-CN" sz="2400" i="1">
                            <a:latin typeface="Cambria Math" panose="02040503050406030204" pitchFamily="18" charset="0"/>
                          </a:rPr>
                          <m:t>𝑚</m:t>
                        </m:r>
                        <m:r>
                          <a:rPr lang="en-US" altLang="zh-CN" sz="2400" i="1">
                            <a:latin typeface="Cambria Math" panose="02040503050406030204" pitchFamily="18" charset="0"/>
                          </a:rPr>
                          <m:t> </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𝑘</m:t>
                        </m:r>
                        <m:r>
                          <a:rPr lang="en-US" altLang="zh-CN" sz="2400" i="1">
                            <a:latin typeface="Cambria Math" panose="02040503050406030204" pitchFamily="18" charset="0"/>
                          </a:rPr>
                          <m:t>−</m:t>
                        </m:r>
                        <m:r>
                          <a:rPr lang="en-US" altLang="zh-CN" sz="2400" i="1">
                            <a:latin typeface="Cambria Math" panose="02040503050406030204" pitchFamily="18" charset="0"/>
                          </a:rPr>
                          <m:t>𝑚</m:t>
                        </m:r>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𝑘</m:t>
                        </m:r>
                        <m:r>
                          <a:rPr lang="en-US" altLang="zh-CN" sz="2400" i="1">
                            <a:latin typeface="Cambria Math" panose="02040503050406030204" pitchFamily="18" charset="0"/>
                          </a:rPr>
                          <m:t>−1</m:t>
                        </m:r>
                      </m:sub>
                    </m:sSub>
                    <m:r>
                      <a:rPr lang="en-US" altLang="zh-CN" sz="2400" i="1">
                        <a:latin typeface="Cambria Math" panose="02040503050406030204" pitchFamily="18" charset="0"/>
                      </a:rPr>
                      <m:t>)</m:t>
                    </m:r>
                  </m:oMath>
                </a14:m>
                <a:r>
                  <a:rPr lang="en-US" altLang="zh-CN" sz="2400" dirty="0"/>
                  <a:t> </a:t>
                </a:r>
                <a14:m>
                  <m:oMath xmlns:m="http://schemas.openxmlformats.org/officeDocument/2006/math">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𝜌</m:t>
                        </m:r>
                      </m:e>
                      <m:sub>
                        <m:r>
                          <a:rPr lang="en-US" altLang="zh-CN" sz="2400" i="1">
                            <a:latin typeface="Cambria Math" panose="02040503050406030204" pitchFamily="18" charset="0"/>
                          </a:rPr>
                          <m:t>𝑘</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𝑚</m:t>
                        </m:r>
                      </m:sub>
                    </m:sSub>
                    <m:r>
                      <a:rPr lang="en-US" altLang="zh-CN" sz="2400" i="1">
                        <a:latin typeface="Cambria Math" panose="02040503050406030204" pitchFamily="18" charset="0"/>
                      </a:rPr>
                      <m:t> </m:t>
                    </m:r>
                    <m:sSub>
                      <m:sSubPr>
                        <m:ctrlPr>
                          <a:rPr lang="en-US" altLang="zh-CN" sz="2400" i="1">
                            <a:latin typeface="Cambria Math" panose="02040503050406030204" pitchFamily="18" charset="0"/>
                          </a:rPr>
                        </m:ctrlPr>
                      </m:sSubPr>
                      <m:e>
                        <m:sSup>
                          <m:sSupPr>
                            <m:ctrlPr>
                              <a:rPr lang="en-US" altLang="zh-CN" sz="2400" i="1">
                                <a:latin typeface="Cambria Math" panose="02040503050406030204" pitchFamily="18" charset="0"/>
                              </a:rPr>
                            </m:ctrlPr>
                          </m:sSupPr>
                          <m:e>
                            <m:r>
                              <m:rPr>
                                <m:nor/>
                              </m:rPr>
                              <a:rPr lang="en-US" altLang="zh-CN" sz="2400" dirty="0"/>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𝑘</m:t>
                                </m:r>
                                <m:r>
                                  <a:rPr lang="en-US" altLang="zh-CN" sz="2400" i="1">
                                    <a:latin typeface="Cambria Math" panose="02040503050406030204" pitchFamily="18" charset="0"/>
                                  </a:rPr>
                                  <m:t>−</m:t>
                                </m:r>
                                <m:r>
                                  <a:rPr lang="en-US" altLang="zh-CN" sz="2400" i="1">
                                    <a:latin typeface="Cambria Math" panose="02040503050406030204" pitchFamily="18" charset="0"/>
                                  </a:rPr>
                                  <m:t>𝑚</m:t>
                                </m:r>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𝑘</m:t>
                                </m:r>
                                <m:r>
                                  <a:rPr lang="en-US" altLang="zh-CN" sz="2400" i="1">
                                    <a:latin typeface="Cambria Math" panose="02040503050406030204" pitchFamily="18" charset="0"/>
                                  </a:rPr>
                                  <m:t>−1</m:t>
                                </m:r>
                              </m:sub>
                            </m:sSub>
                            <m:r>
                              <a:rPr lang="en-US" altLang="zh-CN" sz="2400" i="1">
                                <a:latin typeface="Cambria Math" panose="02040503050406030204" pitchFamily="18" charset="0"/>
                              </a:rPr>
                              <m:t>)</m:t>
                            </m:r>
                          </m:e>
                          <m:sup>
                            <m:r>
                              <a:rPr lang="en-US" altLang="zh-CN" sz="2400" i="1">
                                <a:latin typeface="Cambria Math" panose="02040503050406030204" pitchFamily="18" charset="0"/>
                              </a:rPr>
                              <m:t>𝑇</m:t>
                            </m:r>
                          </m:sup>
                        </m:sSup>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i="1">
                                <a:latin typeface="Cambria Math" panose="02040503050406030204" pitchFamily="18" charset="0"/>
                              </a:rPr>
                              <m:t>𝑘</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𝑚</m:t>
                            </m:r>
                          </m:sub>
                        </m:sSub>
                        <m:sSup>
                          <m:sSupPr>
                            <m:ctrlPr>
                              <a:rPr lang="en-US" altLang="zh-CN" sz="2400" i="1">
                                <a:latin typeface="Cambria Math" panose="02040503050406030204" pitchFamily="18" charset="0"/>
                              </a:rPr>
                            </m:ctrlPr>
                          </m:sSupPr>
                          <m:e>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i="1">
                                        <a:latin typeface="Cambria Math" panose="02040503050406030204" pitchFamily="18" charset="0"/>
                                      </a:rPr>
                                      <m:t>𝑘</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𝑚</m:t>
                                    </m:r>
                                  </m:sub>
                                </m:sSub>
                              </m:e>
                            </m:d>
                          </m:e>
                          <m:sup>
                            <m:r>
                              <a:rPr lang="en-US" altLang="zh-CN" sz="2400" i="1">
                                <a:latin typeface="Cambria Math" panose="02040503050406030204" pitchFamily="18" charset="0"/>
                              </a:rPr>
                              <m:t>𝑇</m:t>
                            </m:r>
                          </m:sup>
                        </m:sSup>
                      </m:e>
                      <m:sub/>
                    </m:sSub>
                  </m:oMath>
                </a14:m>
                <a:r>
                  <a:rPr lang="en-US" altLang="zh-CN" sz="2400" dirty="0"/>
                  <a:t>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𝑘</m:t>
                        </m:r>
                        <m:r>
                          <a:rPr lang="en-US" altLang="zh-CN" sz="2400" i="1">
                            <a:latin typeface="Cambria Math" panose="02040503050406030204" pitchFamily="18" charset="0"/>
                          </a:rPr>
                          <m:t>−</m:t>
                        </m:r>
                        <m:r>
                          <a:rPr lang="en-US" altLang="zh-CN" sz="2400" i="1">
                            <a:latin typeface="Cambria Math" panose="02040503050406030204" pitchFamily="18" charset="0"/>
                          </a:rPr>
                          <m:t>𝑚</m:t>
                        </m:r>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𝑘</m:t>
                        </m:r>
                        <m:r>
                          <a:rPr lang="en-US" altLang="zh-CN" sz="2400" i="1">
                            <a:latin typeface="Cambria Math" panose="02040503050406030204" pitchFamily="18" charset="0"/>
                          </a:rPr>
                          <m:t>−1</m:t>
                        </m:r>
                      </m:sub>
                    </m:sSub>
                    <m:r>
                      <a:rPr lang="en-US" altLang="zh-CN" sz="2400" i="1">
                        <a:latin typeface="Cambria Math" panose="02040503050406030204" pitchFamily="18" charset="0"/>
                      </a:rPr>
                      <m:t>)</m:t>
                    </m:r>
                  </m:oMath>
                </a14:m>
                <a:r>
                  <a:rPr lang="en-US" altLang="zh-CN" sz="2400" dirty="0"/>
                  <a:t> +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𝜌</m:t>
                        </m:r>
                      </m:e>
                      <m:sub>
                        <m:r>
                          <a:rPr lang="en-US" altLang="zh-CN" sz="2400" i="1">
                            <a:latin typeface="Cambria Math" panose="02040503050406030204" pitchFamily="18" charset="0"/>
                          </a:rPr>
                          <m:t>𝑘</m:t>
                        </m:r>
                        <m:r>
                          <a:rPr lang="en-US" altLang="zh-CN" sz="2400" i="1">
                            <a:latin typeface="Cambria Math" panose="02040503050406030204" pitchFamily="18" charset="0"/>
                          </a:rPr>
                          <m:t>−</m:t>
                        </m:r>
                        <m:r>
                          <a:rPr lang="en-US" altLang="zh-CN" sz="2400" i="1">
                            <a:latin typeface="Cambria Math" panose="02040503050406030204" pitchFamily="18" charset="0"/>
                          </a:rPr>
                          <m:t>𝑚</m:t>
                        </m:r>
                        <m:r>
                          <a:rPr lang="en-US" altLang="zh-CN" sz="2400" b="0" i="1" smtClean="0">
                            <a:latin typeface="Cambria Math" panose="02040503050406030204" pitchFamily="18" charset="0"/>
                          </a:rPr>
                          <m:t>+1</m:t>
                        </m:r>
                      </m:sub>
                    </m:sSub>
                    <m:r>
                      <a:rPr lang="en-US" altLang="zh-CN" sz="2400" i="1">
                        <a:latin typeface="Cambria Math" panose="02040503050406030204" pitchFamily="18" charset="0"/>
                      </a:rPr>
                      <m:t> </m:t>
                    </m:r>
                    <m:sSub>
                      <m:sSubPr>
                        <m:ctrlPr>
                          <a:rPr lang="en-US" altLang="zh-CN" sz="2400" i="1">
                            <a:latin typeface="Cambria Math" panose="02040503050406030204" pitchFamily="18" charset="0"/>
                          </a:rPr>
                        </m:ctrlPr>
                      </m:sSubPr>
                      <m:e>
                        <m:sSup>
                          <m:sSupPr>
                            <m:ctrlPr>
                              <a:rPr lang="en-US" altLang="zh-CN" sz="2400" i="1">
                                <a:latin typeface="Cambria Math" panose="02040503050406030204" pitchFamily="18" charset="0"/>
                              </a:rPr>
                            </m:ctrlPr>
                          </m:sSupPr>
                          <m:e>
                            <m:r>
                              <m:rPr>
                                <m:nor/>
                              </m:rPr>
                              <a:rPr lang="en-US" altLang="zh-CN" sz="2400" dirty="0"/>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𝑘</m:t>
                                </m:r>
                                <m:r>
                                  <a:rPr lang="en-US" altLang="zh-CN" sz="2400" i="1">
                                    <a:latin typeface="Cambria Math" panose="02040503050406030204" pitchFamily="18" charset="0"/>
                                  </a:rPr>
                                  <m:t>−</m:t>
                                </m:r>
                                <m:r>
                                  <a:rPr lang="en-US" altLang="zh-CN" sz="2400" i="1">
                                    <a:latin typeface="Cambria Math" panose="02040503050406030204" pitchFamily="18" charset="0"/>
                                  </a:rPr>
                                  <m:t>𝑚</m:t>
                                </m:r>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𝑘</m:t>
                                </m:r>
                                <m:r>
                                  <a:rPr lang="en-US" altLang="zh-CN" sz="2400" i="1">
                                    <a:latin typeface="Cambria Math" panose="02040503050406030204" pitchFamily="18" charset="0"/>
                                  </a:rPr>
                                  <m:t>−1</m:t>
                                </m:r>
                              </m:sub>
                            </m:sSub>
                            <m:r>
                              <a:rPr lang="en-US" altLang="zh-CN" sz="2400" i="1">
                                <a:latin typeface="Cambria Math" panose="02040503050406030204" pitchFamily="18" charset="0"/>
                              </a:rPr>
                              <m:t>)</m:t>
                            </m:r>
                          </m:e>
                          <m:sup>
                            <m:r>
                              <a:rPr lang="en-US" altLang="zh-CN" sz="2400" i="1">
                                <a:latin typeface="Cambria Math" panose="02040503050406030204" pitchFamily="18" charset="0"/>
                              </a:rPr>
                              <m:t>𝑇</m:t>
                            </m:r>
                          </m:sup>
                        </m:sSup>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i="1">
                                <a:latin typeface="Cambria Math" panose="02040503050406030204" pitchFamily="18" charset="0"/>
                              </a:rPr>
                              <m:t>𝑘</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𝑚</m:t>
                            </m:r>
                            <m:r>
                              <a:rPr lang="en-US" altLang="zh-CN" sz="2400" b="0" i="1" smtClean="0">
                                <a:latin typeface="Cambria Math" panose="02040503050406030204" pitchFamily="18" charset="0"/>
                              </a:rPr>
                              <m:t>+1</m:t>
                            </m:r>
                          </m:sub>
                        </m:sSub>
                        <m:sSup>
                          <m:sSupPr>
                            <m:ctrlPr>
                              <a:rPr lang="en-US" altLang="zh-CN" sz="2400" i="1">
                                <a:latin typeface="Cambria Math" panose="02040503050406030204" pitchFamily="18" charset="0"/>
                              </a:rPr>
                            </m:ctrlPr>
                          </m:sSupPr>
                          <m:e>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i="1">
                                        <a:latin typeface="Cambria Math" panose="02040503050406030204" pitchFamily="18" charset="0"/>
                                      </a:rPr>
                                      <m:t>𝑘</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𝑚</m:t>
                                    </m:r>
                                    <m:r>
                                      <a:rPr lang="en-US" altLang="zh-CN" sz="2400" b="0" i="1" smtClean="0">
                                        <a:latin typeface="Cambria Math" panose="02040503050406030204" pitchFamily="18" charset="0"/>
                                      </a:rPr>
                                      <m:t>+1</m:t>
                                    </m:r>
                                  </m:sub>
                                </m:sSub>
                              </m:e>
                            </m:d>
                          </m:e>
                          <m:sup>
                            <m:r>
                              <a:rPr lang="en-US" altLang="zh-CN" sz="2400" i="1">
                                <a:latin typeface="Cambria Math" panose="02040503050406030204" pitchFamily="18" charset="0"/>
                              </a:rPr>
                              <m:t>𝑇</m:t>
                            </m:r>
                          </m:sup>
                        </m:sSup>
                      </m:e>
                      <m:sub/>
                    </m:sSub>
                  </m:oMath>
                </a14:m>
                <a:r>
                  <a:rPr lang="en-US" altLang="zh-CN" sz="2400" dirty="0"/>
                  <a:t>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𝑘</m:t>
                        </m:r>
                        <m:r>
                          <a:rPr lang="en-US" altLang="zh-CN" sz="2400" i="1">
                            <a:latin typeface="Cambria Math" panose="02040503050406030204" pitchFamily="18" charset="0"/>
                          </a:rPr>
                          <m:t>−</m:t>
                        </m:r>
                        <m:r>
                          <a:rPr lang="en-US" altLang="zh-CN" sz="2400" i="1">
                            <a:latin typeface="Cambria Math" panose="02040503050406030204" pitchFamily="18" charset="0"/>
                          </a:rPr>
                          <m:t>𝑚</m:t>
                        </m:r>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𝑘</m:t>
                        </m:r>
                        <m:r>
                          <a:rPr lang="en-US" altLang="zh-CN" sz="2400" i="1">
                            <a:latin typeface="Cambria Math" panose="02040503050406030204" pitchFamily="18" charset="0"/>
                          </a:rPr>
                          <m:t>−1</m:t>
                        </m:r>
                      </m:sub>
                    </m:sSub>
                    <m:r>
                      <a:rPr lang="en-US" altLang="zh-CN" sz="2400" i="1">
                        <a:latin typeface="Cambria Math" panose="02040503050406030204" pitchFamily="18" charset="0"/>
                      </a:rPr>
                      <m:t>)</m:t>
                    </m:r>
                    <m:r>
                      <a:rPr lang="en-US" altLang="zh-CN" sz="2400" b="0" i="0" smtClean="0">
                        <a:latin typeface="Cambria Math" panose="02040503050406030204" pitchFamily="18" charset="0"/>
                      </a:rPr>
                      <m:t>+</m:t>
                    </m:r>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𝜌</m:t>
                        </m:r>
                      </m:e>
                      <m:sub>
                        <m:r>
                          <a:rPr lang="en-US" altLang="zh-CN" sz="2400" i="1">
                            <a:latin typeface="Cambria Math" panose="02040503050406030204" pitchFamily="18" charset="0"/>
                          </a:rPr>
                          <m:t>𝑘</m:t>
                        </m:r>
                        <m:r>
                          <a:rPr lang="en-US" altLang="zh-CN" sz="2400" i="1">
                            <a:latin typeface="Cambria Math" panose="02040503050406030204" pitchFamily="18" charset="0"/>
                          </a:rPr>
                          <m:t>−1</m:t>
                        </m:r>
                      </m:sub>
                    </m:sSub>
                    <m:r>
                      <a:rPr lang="en-US" altLang="zh-CN" sz="2400" i="1">
                        <a:latin typeface="Cambria Math" panose="02040503050406030204" pitchFamily="18" charset="0"/>
                      </a:rPr>
                      <m:t> </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i="1">
                            <a:latin typeface="Cambria Math" panose="02040503050406030204" pitchFamily="18" charset="0"/>
                          </a:rPr>
                          <m:t>𝑘</m:t>
                        </m:r>
                        <m:r>
                          <a:rPr lang="en-US" altLang="zh-CN" sz="2400" i="1">
                            <a:latin typeface="Cambria Math" panose="02040503050406030204" pitchFamily="18" charset="0"/>
                          </a:rPr>
                          <m:t>−1</m:t>
                        </m:r>
                      </m:sub>
                    </m:sSub>
                    <m:sSup>
                      <m:sSupPr>
                        <m:ctrlPr>
                          <a:rPr lang="en-US" altLang="zh-CN" sz="2400" i="1">
                            <a:latin typeface="Cambria Math" panose="02040503050406030204" pitchFamily="18" charset="0"/>
                          </a:rPr>
                        </m:ctrlPr>
                      </m:sSupPr>
                      <m:e>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i="1">
                                    <a:latin typeface="Cambria Math" panose="02040503050406030204" pitchFamily="18" charset="0"/>
                                  </a:rPr>
                                  <m:t>𝑘</m:t>
                                </m:r>
                                <m:r>
                                  <a:rPr lang="en-US" altLang="zh-CN" sz="2400" i="1">
                                    <a:latin typeface="Cambria Math" panose="02040503050406030204" pitchFamily="18" charset="0"/>
                                  </a:rPr>
                                  <m:t>−1</m:t>
                                </m:r>
                              </m:sub>
                            </m:sSub>
                          </m:e>
                        </m:d>
                      </m:e>
                      <m:sup>
                        <m:r>
                          <a:rPr lang="en-US" altLang="zh-CN" sz="2400" i="1">
                            <a:latin typeface="Cambria Math" panose="02040503050406030204" pitchFamily="18" charset="0"/>
                          </a:rPr>
                          <m:t>𝑇</m:t>
                        </m:r>
                      </m:sup>
                    </m:sSup>
                  </m:oMath>
                </a14:m>
                <a:r>
                  <a:rPr lang="en-US" altLang="zh-CN" sz="2400" i="1" dirty="0">
                    <a:latin typeface="Cambria Math" panose="02040503050406030204" pitchFamily="18" charset="0"/>
                  </a:rPr>
                  <a:t>,</a:t>
                </a:r>
              </a:p>
              <a:p>
                <a:pPr/>
                <a:r>
                  <a:rPr lang="zh-CN" altLang="en-US" sz="2400" i="1" dirty="0">
                    <a:latin typeface="Cambria Math" panose="02040503050406030204" pitchFamily="18" charset="0"/>
                  </a:rPr>
                  <a:t>记 </a:t>
                </a:r>
                <a14:m>
                  <m:oMath xmlns:m="http://schemas.openxmlformats.org/officeDocument/2006/math">
                    <m:r>
                      <m:rPr>
                        <m:sty m:val="p"/>
                      </m:rPr>
                      <a:rPr lang="en-US" altLang="zh-CN" sz="2400" i="1" dirty="0">
                        <a:latin typeface="Cambria Math" panose="02040503050406030204" pitchFamily="18" charset="0"/>
                      </a:rPr>
                      <m:t>q</m:t>
                    </m:r>
                    <m:r>
                      <a:rPr lang="en-US" altLang="zh-CN" sz="2400" i="1" dirty="0">
                        <a:latin typeface="Cambria Math" panose="02040503050406030204" pitchFamily="18" charset="0"/>
                      </a:rPr>
                      <m:t>=</m:t>
                    </m:r>
                    <m:r>
                      <m:rPr>
                        <m:sty m:val="p"/>
                      </m:rPr>
                      <a:rPr lang="zh-CN" altLang="en-US" sz="2400" i="1">
                        <a:latin typeface="Cambria Math" panose="02040503050406030204" pitchFamily="18" charset="0"/>
                      </a:rPr>
                      <m:t>∇</m:t>
                    </m:r>
                    <m:r>
                      <a:rPr lang="zh-CN" altLang="en-US" sz="2400" i="1">
                        <a:latin typeface="Cambria Math" panose="02040503050406030204" pitchFamily="18" charset="0"/>
                      </a:rPr>
                      <m:t>𝑓</m:t>
                    </m:r>
                    <m:d>
                      <m:dPr>
                        <m:ctrlPr>
                          <a:rPr lang="zh-CN" altLang="en-US" sz="2400" i="1">
                            <a:latin typeface="Cambria Math" panose="02040503050406030204" pitchFamily="18" charset="0"/>
                          </a:rPr>
                        </m:ctrlPr>
                      </m:dPr>
                      <m:e>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r>
                              <a:rPr lang="en-US" altLang="zh-CN" sz="2400" i="1">
                                <a:latin typeface="Cambria Math" panose="02040503050406030204" pitchFamily="18" charset="0"/>
                              </a:rPr>
                              <m:t>𝑘</m:t>
                            </m:r>
                          </m:sup>
                        </m:sSup>
                      </m:e>
                    </m:d>
                    <m:r>
                      <a:rPr lang="en-US" altLang="zh-CN" sz="2400" i="1">
                        <a:latin typeface="Cambria Math" panose="02040503050406030204" pitchFamily="18" charset="0"/>
                      </a:rPr>
                      <m:t>, </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𝛼</m:t>
                        </m:r>
                      </m:e>
                      <m:sub>
                        <m:r>
                          <a:rPr lang="en-US" altLang="zh-CN" sz="2400" i="1">
                            <a:latin typeface="Cambria Math" panose="02040503050406030204" pitchFamily="18" charset="0"/>
                          </a:rPr>
                          <m:t>𝑖</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𝜌</m:t>
                        </m:r>
                      </m:e>
                      <m:sub>
                        <m:r>
                          <a:rPr lang="en-US" altLang="zh-CN" sz="2400" i="1">
                            <a:latin typeface="Cambria Math" panose="02040503050406030204" pitchFamily="18" charset="0"/>
                          </a:rPr>
                          <m:t>𝑖</m:t>
                        </m:r>
                      </m:sub>
                    </m:sSub>
                    <m:r>
                      <a:rPr lang="en-US" altLang="zh-CN" sz="2400" i="1">
                        <a:latin typeface="Cambria Math" panose="02040503050406030204" pitchFamily="18" charset="0"/>
                      </a:rPr>
                      <m:t> </m:t>
                    </m:r>
                    <m:sSup>
                      <m:sSupPr>
                        <m:ctrlPr>
                          <a:rPr lang="en-US" altLang="zh-CN" sz="2400" i="1">
                            <a:latin typeface="Cambria Math" panose="02040503050406030204" pitchFamily="18" charset="0"/>
                          </a:rPr>
                        </m:ctrlPr>
                      </m:sSupPr>
                      <m:e>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i="1">
                                    <a:latin typeface="Cambria Math" panose="02040503050406030204" pitchFamily="18" charset="0"/>
                                  </a:rPr>
                                  <m:t>𝑖</m:t>
                                </m:r>
                              </m:sub>
                            </m:sSub>
                          </m:e>
                        </m:d>
                      </m:e>
                      <m:sup>
                        <m:r>
                          <a:rPr lang="en-US" altLang="zh-CN" sz="2400" i="1">
                            <a:latin typeface="Cambria Math" panose="02040503050406030204" pitchFamily="18" charset="0"/>
                          </a:rPr>
                          <m:t>𝑇</m:t>
                        </m:r>
                      </m:sup>
                    </m:sSup>
                    <m:r>
                      <a:rPr lang="en-US" altLang="zh-CN" sz="2400" b="0" i="1" smtClean="0">
                        <a:latin typeface="Cambria Math" panose="02040503050406030204" pitchFamily="18" charset="0"/>
                      </a:rPr>
                      <m:t>𝑞</m:t>
                    </m:r>
                  </m:oMath>
                </a14:m>
                <a:r>
                  <a:rPr lang="en-US" altLang="zh-CN" sz="2400" i="1" dirty="0">
                    <a:latin typeface="Cambria Math" panose="02040503050406030204" pitchFamily="18" charset="0"/>
                  </a:rPr>
                  <a:t>,</a:t>
                </a:r>
              </a:p>
              <a:p>
                <a:pPr/>
                <a14:m>
                  <m:oMathPara xmlns:m="http://schemas.openxmlformats.org/officeDocument/2006/math">
                    <m:oMathParaPr>
                      <m:jc m:val="centerGroup"/>
                    </m:oMathParaPr>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𝑘</m:t>
                          </m:r>
                          <m:r>
                            <a:rPr lang="en-US" altLang="zh-CN" sz="2400" i="1">
                              <a:latin typeface="Cambria Math" panose="02040503050406030204" pitchFamily="18" charset="0"/>
                            </a:rPr>
                            <m:t>−1</m:t>
                          </m:r>
                        </m:sub>
                      </m:sSub>
                      <m:r>
                        <m:rPr>
                          <m:sty m:val="p"/>
                        </m:rPr>
                        <a:rPr lang="zh-CN" altLang="en-US" sz="2400" i="1">
                          <a:latin typeface="Cambria Math" panose="02040503050406030204" pitchFamily="18" charset="0"/>
                        </a:rPr>
                        <m:t>∇</m:t>
                      </m:r>
                      <m:r>
                        <a:rPr lang="zh-CN" altLang="en-US" sz="2400" i="1">
                          <a:latin typeface="Cambria Math" panose="02040503050406030204" pitchFamily="18" charset="0"/>
                        </a:rPr>
                        <m:t>𝑓</m:t>
                      </m:r>
                      <m:d>
                        <m:dPr>
                          <m:ctrlPr>
                            <a:rPr lang="zh-CN" altLang="en-US" sz="2400" i="1">
                              <a:latin typeface="Cambria Math" panose="02040503050406030204" pitchFamily="18" charset="0"/>
                            </a:rPr>
                          </m:ctrlPr>
                        </m:dPr>
                        <m:e>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r>
                                <a:rPr lang="en-US" altLang="zh-CN" sz="2400" i="1">
                                  <a:latin typeface="Cambria Math" panose="02040503050406030204" pitchFamily="18" charset="0"/>
                                </a:rPr>
                                <m:t>𝑘</m:t>
                              </m:r>
                            </m:sup>
                          </m:sSup>
                        </m:e>
                      </m:d>
                      <m:r>
                        <a:rPr lang="en-US" altLang="zh-CN" sz="2400" b="0" i="1" smtClean="0">
                          <a:latin typeface="Cambria Math" panose="02040503050406030204" pitchFamily="18" charset="0"/>
                        </a:rPr>
                        <m:t>=</m:t>
                      </m:r>
                      <m:r>
                        <m:rPr>
                          <m:sty m:val="p"/>
                        </m:rPr>
                        <a:rPr lang="zh-CN" altLang="en-US" sz="2400" i="1">
                          <a:latin typeface="Cambria Math" panose="02040503050406030204" pitchFamily="18" charset="0"/>
                        </a:rPr>
                        <m:t>∇</m:t>
                      </m:r>
                      <m:r>
                        <a:rPr lang="zh-CN" altLang="en-US" sz="2400" i="1">
                          <a:latin typeface="Cambria Math" panose="02040503050406030204" pitchFamily="18" charset="0"/>
                        </a:rPr>
                        <m:t>𝑓</m:t>
                      </m:r>
                      <m:d>
                        <m:dPr>
                          <m:ctrlPr>
                            <a:rPr lang="zh-CN" altLang="en-US" sz="2400" i="1">
                              <a:latin typeface="Cambria Math" panose="02040503050406030204" pitchFamily="18" charset="0"/>
                            </a:rPr>
                          </m:ctrlPr>
                        </m:dPr>
                        <m:e>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r>
                                <a:rPr lang="en-US" altLang="zh-CN" sz="2400" i="1">
                                  <a:latin typeface="Cambria Math" panose="02040503050406030204" pitchFamily="18" charset="0"/>
                                </a:rPr>
                                <m:t>𝑘</m:t>
                              </m:r>
                            </m:sup>
                          </m:sSup>
                        </m:e>
                      </m:d>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𝜌</m:t>
                          </m:r>
                        </m:e>
                        <m:sub>
                          <m:r>
                            <a:rPr lang="en-US" altLang="zh-CN" sz="2400" i="1">
                              <a:latin typeface="Cambria Math" panose="02040503050406030204" pitchFamily="18" charset="0"/>
                            </a:rPr>
                            <m:t>𝑘</m:t>
                          </m:r>
                        </m:sub>
                      </m:sSub>
                      <m:r>
                        <a:rPr lang="en-US" altLang="zh-CN" sz="2400" i="1">
                          <a:latin typeface="Cambria Math" panose="02040503050406030204" pitchFamily="18" charset="0"/>
                        </a:rPr>
                        <m:t> </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𝑦</m:t>
                          </m:r>
                        </m:e>
                        <m:sub>
                          <m:r>
                            <a:rPr lang="en-US" altLang="zh-CN" sz="2400" i="1">
                              <a:latin typeface="Cambria Math" panose="02040503050406030204" pitchFamily="18" charset="0"/>
                            </a:rPr>
                            <m:t>𝑘</m:t>
                          </m:r>
                        </m:sub>
                      </m:sSub>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𝑠</m:t>
                          </m:r>
                        </m:e>
                        <m:sub>
                          <m:r>
                            <a:rPr lang="en-US" altLang="zh-CN" sz="2400" i="1">
                              <a:latin typeface="Cambria Math" panose="02040503050406030204" pitchFamily="18" charset="0"/>
                            </a:rPr>
                            <m:t>𝑘</m:t>
                          </m:r>
                        </m:sub>
                        <m:sup>
                          <m:r>
                            <a:rPr lang="en-US" altLang="zh-CN" sz="2400" i="1">
                              <a:latin typeface="Cambria Math" panose="02040503050406030204" pitchFamily="18" charset="0"/>
                            </a:rPr>
                            <m:t>𝑇</m:t>
                          </m:r>
                        </m:sup>
                      </m:sSubSup>
                      <m:sSub>
                        <m:sSubPr>
                          <m:ctrlPr>
                            <a:rPr lang="en-US" altLang="zh-CN" sz="2400" b="0" i="1" smtClean="0">
                              <a:latin typeface="Cambria Math" panose="02040503050406030204" pitchFamily="18" charset="0"/>
                            </a:rPr>
                          </m:ctrlPr>
                        </m:sSubPr>
                        <m:e>
                          <m:r>
                            <m:rPr>
                              <m:sty m:val="p"/>
                            </m:rPr>
                            <a:rPr lang="zh-CN" altLang="en-US" sz="2400" i="1">
                              <a:latin typeface="Cambria Math" panose="02040503050406030204" pitchFamily="18" charset="0"/>
                            </a:rPr>
                            <m:t>∇</m:t>
                          </m:r>
                          <m:r>
                            <a:rPr lang="zh-CN" altLang="en-US" sz="2400" i="1">
                              <a:latin typeface="Cambria Math" panose="02040503050406030204" pitchFamily="18" charset="0"/>
                            </a:rPr>
                            <m:t>𝑓</m:t>
                          </m:r>
                          <m:d>
                            <m:dPr>
                              <m:ctrlPr>
                                <a:rPr lang="zh-CN" altLang="en-US" sz="2400" i="1">
                                  <a:latin typeface="Cambria Math" panose="02040503050406030204" pitchFamily="18" charset="0"/>
                                </a:rPr>
                              </m:ctrlPr>
                            </m:dPr>
                            <m:e>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r>
                                    <a:rPr lang="en-US" altLang="zh-CN" sz="2400" i="1">
                                      <a:latin typeface="Cambria Math" panose="02040503050406030204" pitchFamily="18" charset="0"/>
                                    </a:rPr>
                                    <m:t>𝑘</m:t>
                                  </m:r>
                                </m:sup>
                              </m:sSup>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𝑞</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𝛼</m:t>
                          </m:r>
                        </m:e>
                        <m:sub>
                          <m:r>
                            <a:rPr lang="en-US" altLang="zh-CN" sz="2400" b="0" i="1" smtClean="0">
                              <a:latin typeface="Cambria Math" panose="02040503050406030204" pitchFamily="18" charset="0"/>
                            </a:rPr>
                            <m:t>𝑘</m:t>
                          </m:r>
                        </m:sub>
                      </m:sSub>
                      <m:sSub>
                        <m:sSubPr>
                          <m:ctrlPr>
                            <a:rPr lang="en-US" altLang="zh-CN" sz="2400" b="0" i="0" smtClean="0">
                              <a:latin typeface="Cambria Math" panose="02040503050406030204" pitchFamily="18" charset="0"/>
                            </a:rPr>
                          </m:ctrlPr>
                        </m:sSubPr>
                        <m:e>
                          <m:r>
                            <m:rPr>
                              <m:sty m:val="p"/>
                            </m:rPr>
                            <a:rPr lang="en-US" altLang="zh-CN" sz="2400" b="0" i="0" smtClean="0">
                              <a:latin typeface="Cambria Math" panose="02040503050406030204" pitchFamily="18" charset="0"/>
                            </a:rPr>
                            <m:t>y</m:t>
                          </m:r>
                        </m:e>
                        <m:sub>
                          <m:r>
                            <m:rPr>
                              <m:sty m:val="p"/>
                            </m:rPr>
                            <a:rPr lang="en-US" altLang="zh-CN" sz="2400" b="0" i="0" smtClean="0">
                              <a:latin typeface="Cambria Math" panose="02040503050406030204" pitchFamily="18" charset="0"/>
                            </a:rPr>
                            <m:t>k</m:t>
                          </m:r>
                        </m:sub>
                      </m:sSub>
                    </m:oMath>
                  </m:oMathPara>
                </a14:m>
                <a:endParaRPr lang="en-US" altLang="zh-CN" sz="2400" dirty="0">
                  <a:latin typeface="Cambria Math" panose="02040503050406030204" pitchFamily="18" charset="0"/>
                </a:endParaRPr>
              </a:p>
              <a:p>
                <a:pPr/>
                <a:r>
                  <a:rPr lang="zh-CN" altLang="en-US" sz="2400" dirty="0">
                    <a:latin typeface="Cambria Math" panose="02040503050406030204" pitchFamily="18" charset="0"/>
                  </a:rPr>
                  <a:t>从而在第一轮循环结束后，迭代方向为</a:t>
                </a:r>
                <a:endParaRPr lang="en-US" altLang="zh-CN" sz="2400" dirty="0">
                  <a:latin typeface="Cambria Math" panose="02040503050406030204" pitchFamily="18" charset="0"/>
                </a:endParaRPr>
              </a:p>
              <a:p>
                <a:pP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𝐴</m:t>
                        </m:r>
                      </m:e>
                      <m:sub>
                        <m:r>
                          <a:rPr lang="en-US" altLang="zh-CN" sz="2400" i="1">
                            <a:latin typeface="Cambria Math" panose="02040503050406030204" pitchFamily="18" charset="0"/>
                          </a:rPr>
                          <m:t>𝑘</m:t>
                        </m:r>
                      </m:sub>
                    </m:sSub>
                  </m:oMath>
                </a14:m>
                <a:r>
                  <a:rPr lang="zh-CN" altLang="en-US" sz="2400" i="1" dirty="0">
                    <a:latin typeface="Cambria Math" panose="02040503050406030204" pitchFamily="18" charset="0"/>
                  </a:rPr>
                  <a:t> </a:t>
                </a:r>
                <a14:m>
                  <m:oMath xmlns:m="http://schemas.openxmlformats.org/officeDocument/2006/math">
                    <m:r>
                      <m:rPr>
                        <m:sty m:val="p"/>
                      </m:rPr>
                      <a:rPr lang="zh-CN" altLang="en-US" sz="2400" i="1">
                        <a:latin typeface="Cambria Math" panose="02040503050406030204" pitchFamily="18" charset="0"/>
                      </a:rPr>
                      <m:t>∇</m:t>
                    </m:r>
                    <m:r>
                      <a:rPr lang="zh-CN" altLang="en-US" sz="2400" i="1">
                        <a:latin typeface="Cambria Math" panose="02040503050406030204" pitchFamily="18" charset="0"/>
                      </a:rPr>
                      <m:t>𝑓</m:t>
                    </m:r>
                    <m:r>
                      <a:rPr lang="zh-CN" altLang="en-US" sz="2400" i="1">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r>
                          <a:rPr lang="en-US" altLang="zh-CN" sz="2400" i="1">
                            <a:latin typeface="Cambria Math" panose="02040503050406030204" pitchFamily="18" charset="0"/>
                          </a:rPr>
                          <m:t>𝑘</m:t>
                        </m:r>
                      </m:sup>
                    </m:sSup>
                    <m:r>
                      <a:rPr lang="zh-CN" altLang="en-US" sz="2400" i="1">
                        <a:latin typeface="Cambria Math" panose="02040503050406030204" pitchFamily="18" charset="0"/>
                      </a:rPr>
                      <m:t>)=</m:t>
                    </m:r>
                  </m:oMath>
                </a14:m>
                <a:r>
                  <a:rPr lang="en-US" altLang="zh-CN" sz="2400" i="1" dirty="0">
                    <a:latin typeface="Cambria Math" panose="02040503050406030204" pitchFamily="18" charset="0"/>
                  </a:rPr>
                  <a:t> </a:t>
                </a:r>
                <a14:m>
                  <m:oMath xmlns:m="http://schemas.openxmlformats.org/officeDocument/2006/math">
                    <m:sSub>
                      <m:sSubPr>
                        <m:ctrlPr>
                          <a:rPr lang="en-US" altLang="zh-CN" sz="2400" i="1">
                            <a:latin typeface="Cambria Math" panose="02040503050406030204" pitchFamily="18" charset="0"/>
                          </a:rPr>
                        </m:ctrlPr>
                      </m:sSubPr>
                      <m:e>
                        <m:sSup>
                          <m:sSupPr>
                            <m:ctrlPr>
                              <a:rPr lang="en-US" altLang="zh-CN" sz="2400" i="1">
                                <a:latin typeface="Cambria Math" panose="02040503050406030204" pitchFamily="18" charset="0"/>
                              </a:rPr>
                            </m:ctrlPr>
                          </m:sSupPr>
                          <m:e>
                            <m:r>
                              <m:rPr>
                                <m:nor/>
                              </m:rPr>
                              <a:rPr lang="en-US" altLang="zh-CN" sz="2400" i="1" dirty="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𝑘</m:t>
                                </m:r>
                                <m:r>
                                  <a:rPr lang="en-US" altLang="zh-CN" sz="2400" i="1">
                                    <a:latin typeface="Cambria Math" panose="02040503050406030204" pitchFamily="18" charset="0"/>
                                  </a:rPr>
                                  <m:t>−</m:t>
                                </m:r>
                                <m:r>
                                  <a:rPr lang="en-US" altLang="zh-CN" sz="2400" i="1">
                                    <a:latin typeface="Cambria Math" panose="02040503050406030204" pitchFamily="18" charset="0"/>
                                  </a:rPr>
                                  <m:t>𝑚</m:t>
                                </m:r>
                                <m:r>
                                  <a:rPr lang="en-US" altLang="zh-CN" sz="2400" i="1">
                                    <a:latin typeface="Cambria Math" panose="02040503050406030204" pitchFamily="18" charset="0"/>
                                  </a:rPr>
                                  <m:t> </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𝑘</m:t>
                                </m:r>
                                <m:r>
                                  <a:rPr lang="en-US" altLang="zh-CN" sz="2400" i="1">
                                    <a:latin typeface="Cambria Math" panose="02040503050406030204" pitchFamily="18" charset="0"/>
                                  </a:rPr>
                                  <m:t>−</m:t>
                                </m:r>
                                <m:r>
                                  <a:rPr lang="en-US" altLang="zh-CN" sz="2400" i="1">
                                    <a:latin typeface="Cambria Math" panose="02040503050406030204" pitchFamily="18" charset="0"/>
                                  </a:rPr>
                                  <m:t>𝑚</m:t>
                                </m:r>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𝑘</m:t>
                                </m:r>
                                <m:r>
                                  <a:rPr lang="en-US" altLang="zh-CN" sz="2400" i="1">
                                    <a:latin typeface="Cambria Math" panose="02040503050406030204" pitchFamily="18" charset="0"/>
                                  </a:rPr>
                                  <m:t>−1</m:t>
                                </m:r>
                              </m:sub>
                            </m:sSub>
                            <m:r>
                              <a:rPr lang="en-US" altLang="zh-CN" sz="2400" i="1">
                                <a:latin typeface="Cambria Math" panose="02040503050406030204" pitchFamily="18" charset="0"/>
                              </a:rPr>
                              <m:t>)</m:t>
                            </m:r>
                          </m:e>
                          <m:sup>
                            <m:r>
                              <a:rPr lang="en-US" altLang="zh-CN" sz="2400" i="1">
                                <a:latin typeface="Cambria Math" panose="02040503050406030204" pitchFamily="18" charset="0"/>
                              </a:rPr>
                              <m:t>𝑇</m:t>
                            </m:r>
                          </m:sup>
                        </m:sSup>
                        <m:r>
                          <a:rPr lang="en-US" altLang="zh-CN" sz="2400" i="1">
                            <a:latin typeface="Cambria Math" panose="02040503050406030204" pitchFamily="18" charset="0"/>
                          </a:rPr>
                          <m:t>𝐴</m:t>
                        </m:r>
                      </m:e>
                      <m:sub>
                        <m:r>
                          <a:rPr lang="en-US" altLang="zh-CN" sz="2400" i="1">
                            <a:latin typeface="Cambria Math" panose="02040503050406030204" pitchFamily="18" charset="0"/>
                          </a:rPr>
                          <m:t>𝑘</m:t>
                        </m:r>
                        <m:r>
                          <a:rPr lang="en-US" altLang="zh-CN" sz="2400" i="1">
                            <a:latin typeface="Cambria Math" panose="02040503050406030204" pitchFamily="18" charset="0"/>
                          </a:rPr>
                          <m:t>−</m:t>
                        </m:r>
                        <m:r>
                          <a:rPr lang="en-US" altLang="zh-CN" sz="2400" i="1">
                            <a:latin typeface="Cambria Math" panose="02040503050406030204" pitchFamily="18" charset="0"/>
                          </a:rPr>
                          <m:t>𝑚</m:t>
                        </m:r>
                      </m:sub>
                    </m:sSub>
                    <m:r>
                      <a:rPr lang="en-US" altLang="zh-CN" sz="2400" i="1">
                        <a:latin typeface="Cambria Math" panose="02040503050406030204" pitchFamily="18" charset="0"/>
                      </a:rPr>
                      <m:t>𝑞</m:t>
                    </m:r>
                    <m:r>
                      <a:rPr lang="en-US" altLang="zh-CN" sz="2400" i="1">
                        <a:latin typeface="Cambria Math" panose="02040503050406030204" pitchFamily="18" charset="0"/>
                      </a:rPr>
                      <m:t>+</m:t>
                    </m:r>
                  </m:oMath>
                </a14:m>
                <a:r>
                  <a:rPr lang="en-US" altLang="zh-CN" sz="2400" i="1" dirty="0">
                    <a:latin typeface="Cambria Math" panose="02040503050406030204" pitchFamily="18" charset="0"/>
                  </a:rPr>
                  <a:t> </a:t>
                </a:r>
                <a14:m>
                  <m:oMath xmlns:m="http://schemas.openxmlformats.org/officeDocument/2006/math">
                    <m:sSub>
                      <m:sSubPr>
                        <m:ctrlPr>
                          <a:rPr lang="en-US" altLang="zh-CN" sz="2400" i="1">
                            <a:latin typeface="Cambria Math" panose="02040503050406030204" pitchFamily="18" charset="0"/>
                          </a:rPr>
                        </m:ctrlPr>
                      </m:sSubPr>
                      <m:e>
                        <m:sSup>
                          <m:sSupPr>
                            <m:ctrlPr>
                              <a:rPr lang="en-US" altLang="zh-CN" sz="2400" i="1">
                                <a:latin typeface="Cambria Math" panose="02040503050406030204" pitchFamily="18" charset="0"/>
                              </a:rPr>
                            </m:ctrlPr>
                          </m:sSupPr>
                          <m:e>
                            <m:r>
                              <m:rPr>
                                <m:nor/>
                              </m:rPr>
                              <a:rPr lang="en-US" altLang="zh-CN" sz="2400" i="1" dirty="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𝑘</m:t>
                                </m:r>
                                <m:r>
                                  <a:rPr lang="en-US" altLang="zh-CN" sz="2400" i="1">
                                    <a:latin typeface="Cambria Math" panose="02040503050406030204" pitchFamily="18" charset="0"/>
                                  </a:rPr>
                                  <m:t>−</m:t>
                                </m:r>
                                <m:r>
                                  <a:rPr lang="en-US" altLang="zh-CN" sz="2400" i="1">
                                    <a:latin typeface="Cambria Math" panose="02040503050406030204" pitchFamily="18" charset="0"/>
                                  </a:rPr>
                                  <m:t>𝑚</m:t>
                                </m:r>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𝑘</m:t>
                                </m:r>
                                <m:r>
                                  <a:rPr lang="en-US" altLang="zh-CN" sz="2400" i="1">
                                    <a:latin typeface="Cambria Math" panose="02040503050406030204" pitchFamily="18" charset="0"/>
                                  </a:rPr>
                                  <m:t>−1</m:t>
                                </m:r>
                              </m:sub>
                            </m:sSub>
                            <m:r>
                              <a:rPr lang="en-US" altLang="zh-CN" sz="2400" i="1">
                                <a:latin typeface="Cambria Math" panose="02040503050406030204" pitchFamily="18" charset="0"/>
                              </a:rPr>
                              <m:t>)</m:t>
                            </m:r>
                          </m:e>
                          <m:sup>
                            <m:r>
                              <a:rPr lang="en-US" altLang="zh-CN" sz="2400" i="1">
                                <a:latin typeface="Cambria Math" panose="02040503050406030204" pitchFamily="18" charset="0"/>
                              </a:rPr>
                              <m:t>𝑇</m:t>
                            </m:r>
                          </m:sup>
                        </m:sSup>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i="1">
                                <a:latin typeface="Cambria Math" panose="02040503050406030204" pitchFamily="18" charset="0"/>
                              </a:rPr>
                              <m:t>𝑘</m:t>
                            </m:r>
                            <m:r>
                              <a:rPr lang="en-US" altLang="zh-CN" sz="2400" i="1">
                                <a:latin typeface="Cambria Math" panose="02040503050406030204" pitchFamily="18" charset="0"/>
                              </a:rPr>
                              <m:t>−</m:t>
                            </m:r>
                            <m:r>
                              <a:rPr lang="en-US" altLang="zh-CN" sz="2400" i="1">
                                <a:latin typeface="Cambria Math" panose="02040503050406030204" pitchFamily="18" charset="0"/>
                              </a:rPr>
                              <m:t>𝑚</m:t>
                            </m:r>
                          </m:sub>
                        </m:sSub>
                        <m:r>
                          <a:rPr lang="en-US" altLang="zh-CN" sz="2400" i="1">
                            <a:latin typeface="Cambria Math" panose="02040503050406030204" pitchFamily="18" charset="0"/>
                          </a:rPr>
                          <m:t>𝛼</m:t>
                        </m:r>
                      </m:e>
                      <m:sub>
                        <m:r>
                          <a:rPr lang="en-US" altLang="zh-CN" sz="2400" i="1">
                            <a:latin typeface="Cambria Math" panose="02040503050406030204" pitchFamily="18" charset="0"/>
                          </a:rPr>
                          <m:t>𝑘</m:t>
                        </m:r>
                        <m:r>
                          <a:rPr lang="en-US" altLang="zh-CN" sz="2400" i="1">
                            <a:latin typeface="Cambria Math" panose="02040503050406030204" pitchFamily="18" charset="0"/>
                          </a:rPr>
                          <m:t>−</m:t>
                        </m:r>
                        <m:r>
                          <a:rPr lang="en-US" altLang="zh-CN" sz="2400" i="1">
                            <a:latin typeface="Cambria Math" panose="02040503050406030204" pitchFamily="18" charset="0"/>
                          </a:rPr>
                          <m:t>𝑚</m:t>
                        </m:r>
                      </m:sub>
                    </m:sSub>
                    <m:r>
                      <a:rPr lang="en-US" altLang="zh-CN" sz="2400" i="1">
                        <a:latin typeface="Cambria Math" panose="02040503050406030204" pitchFamily="18" charset="0"/>
                      </a:rPr>
                      <m:t>+</m:t>
                    </m:r>
                  </m:oMath>
                </a14:m>
                <a:r>
                  <a:rPr lang="en-US" altLang="zh-CN" sz="2400" i="1" dirty="0">
                    <a:latin typeface="Cambria Math" panose="02040503050406030204" pitchFamily="18" charset="0"/>
                  </a:rPr>
                  <a:t> </a:t>
                </a:r>
                <a14:m>
                  <m:oMath xmlns:m="http://schemas.openxmlformats.org/officeDocument/2006/math">
                    <m:sSub>
                      <m:sSubPr>
                        <m:ctrlPr>
                          <a:rPr lang="en-US" altLang="zh-CN" sz="2400" i="1">
                            <a:latin typeface="Cambria Math" panose="02040503050406030204" pitchFamily="18" charset="0"/>
                          </a:rPr>
                        </m:ctrlPr>
                      </m:sSubPr>
                      <m:e>
                        <m:sSup>
                          <m:sSupPr>
                            <m:ctrlPr>
                              <a:rPr lang="en-US" altLang="zh-CN" sz="2400" i="1">
                                <a:latin typeface="Cambria Math" panose="02040503050406030204" pitchFamily="18" charset="0"/>
                              </a:rPr>
                            </m:ctrlPr>
                          </m:sSupPr>
                          <m:e>
                            <m:r>
                              <m:rPr>
                                <m:nor/>
                              </m:rPr>
                              <a:rPr lang="en-US" altLang="zh-CN" sz="2400" i="1" dirty="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𝑘</m:t>
                                </m:r>
                                <m:r>
                                  <a:rPr lang="en-US" altLang="zh-CN" sz="2400" i="1">
                                    <a:latin typeface="Cambria Math" panose="02040503050406030204" pitchFamily="18" charset="0"/>
                                  </a:rPr>
                                  <m:t>−</m:t>
                                </m:r>
                                <m:r>
                                  <a:rPr lang="en-US" altLang="zh-CN" sz="2400" i="1">
                                    <a:latin typeface="Cambria Math" panose="02040503050406030204" pitchFamily="18" charset="0"/>
                                  </a:rPr>
                                  <m:t>𝑚</m:t>
                                </m:r>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𝑉</m:t>
                                </m:r>
                              </m:e>
                              <m:sub>
                                <m:r>
                                  <a:rPr lang="en-US" altLang="zh-CN" sz="2400" i="1">
                                    <a:latin typeface="Cambria Math" panose="02040503050406030204" pitchFamily="18" charset="0"/>
                                  </a:rPr>
                                  <m:t>𝑘</m:t>
                                </m:r>
                                <m:r>
                                  <a:rPr lang="en-US" altLang="zh-CN" sz="2400" i="1">
                                    <a:latin typeface="Cambria Math" panose="02040503050406030204" pitchFamily="18" charset="0"/>
                                  </a:rPr>
                                  <m:t>−1</m:t>
                                </m:r>
                              </m:sub>
                            </m:sSub>
                            <m:r>
                              <a:rPr lang="en-US" altLang="zh-CN" sz="2400" i="1">
                                <a:latin typeface="Cambria Math" panose="02040503050406030204" pitchFamily="18" charset="0"/>
                              </a:rPr>
                              <m:t>)</m:t>
                            </m:r>
                          </m:e>
                          <m:sup>
                            <m:r>
                              <a:rPr lang="en-US" altLang="zh-CN" sz="2400" i="1">
                                <a:latin typeface="Cambria Math" panose="02040503050406030204" pitchFamily="18" charset="0"/>
                              </a:rPr>
                              <m:t>𝑇</m:t>
                            </m:r>
                          </m:sup>
                        </m:sSup>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i="1">
                                <a:latin typeface="Cambria Math" panose="02040503050406030204" pitchFamily="18" charset="0"/>
                              </a:rPr>
                              <m:t>𝑘</m:t>
                            </m:r>
                            <m:r>
                              <a:rPr lang="en-US" altLang="zh-CN" sz="2400" i="1">
                                <a:latin typeface="Cambria Math" panose="02040503050406030204" pitchFamily="18" charset="0"/>
                              </a:rPr>
                              <m:t>−</m:t>
                            </m:r>
                            <m:r>
                              <a:rPr lang="en-US" altLang="zh-CN" sz="2400" i="1">
                                <a:latin typeface="Cambria Math" panose="02040503050406030204" pitchFamily="18" charset="0"/>
                              </a:rPr>
                              <m:t>𝑚</m:t>
                            </m:r>
                            <m:r>
                              <a:rPr lang="en-US" altLang="zh-CN" sz="2400" i="1">
                                <a:latin typeface="Cambria Math" panose="02040503050406030204" pitchFamily="18" charset="0"/>
                              </a:rPr>
                              <m:t>+1</m:t>
                            </m:r>
                          </m:sub>
                        </m:sSub>
                        <m:r>
                          <a:rPr lang="en-US" altLang="zh-CN" sz="2400" i="1">
                            <a:latin typeface="Cambria Math" panose="02040503050406030204" pitchFamily="18" charset="0"/>
                          </a:rPr>
                          <m:t>𝛼</m:t>
                        </m:r>
                      </m:e>
                      <m:sub>
                        <m:r>
                          <a:rPr lang="en-US" altLang="zh-CN" sz="2400" i="1">
                            <a:latin typeface="Cambria Math" panose="02040503050406030204" pitchFamily="18" charset="0"/>
                          </a:rPr>
                          <m:t>𝑘</m:t>
                        </m:r>
                        <m:r>
                          <a:rPr lang="en-US" altLang="zh-CN" sz="2400" i="1">
                            <a:latin typeface="Cambria Math" panose="02040503050406030204" pitchFamily="18" charset="0"/>
                          </a:rPr>
                          <m:t>−</m:t>
                        </m:r>
                        <m:r>
                          <a:rPr lang="en-US" altLang="zh-CN" sz="2400" i="1">
                            <a:latin typeface="Cambria Math" panose="02040503050406030204" pitchFamily="18" charset="0"/>
                          </a:rPr>
                          <m:t>𝑚</m:t>
                        </m:r>
                        <m:r>
                          <a:rPr lang="en-US" altLang="zh-CN" sz="2400" i="1">
                            <a:latin typeface="Cambria Math" panose="02040503050406030204" pitchFamily="18" charset="0"/>
                          </a:rPr>
                          <m:t>+1</m:t>
                        </m:r>
                      </m:sub>
                    </m:sSub>
                    <m:r>
                      <a:rPr lang="en-US" altLang="zh-CN" sz="2400" i="1">
                        <a:latin typeface="Cambria Math" panose="02040503050406030204" pitchFamily="18" charset="0"/>
                      </a:rPr>
                      <m:t>+…+</m:t>
                    </m:r>
                  </m:oMath>
                </a14:m>
                <a:r>
                  <a:rPr lang="en-US" altLang="zh-CN" sz="2400" i="1" dirty="0">
                    <a:latin typeface="Cambria Math" panose="02040503050406030204" pitchFamily="18" charset="0"/>
                  </a:rPr>
                  <a:t>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𝑠</m:t>
                        </m:r>
                      </m:e>
                      <m:sub>
                        <m:r>
                          <a:rPr lang="en-US" altLang="zh-CN" sz="2400" i="1">
                            <a:latin typeface="Cambria Math" panose="02040503050406030204" pitchFamily="18" charset="0"/>
                          </a:rPr>
                          <m:t>𝑘</m:t>
                        </m:r>
                        <m:r>
                          <a:rPr lang="en-US" altLang="zh-CN" sz="2400" i="1">
                            <a:latin typeface="Cambria Math" panose="02040503050406030204" pitchFamily="18" charset="0"/>
                          </a:rPr>
                          <m:t>−1</m:t>
                        </m:r>
                      </m:sub>
                    </m:sSub>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𝛼</m:t>
                        </m:r>
                      </m:e>
                      <m:sub>
                        <m:r>
                          <a:rPr lang="en-US" altLang="zh-CN" sz="2400" i="1">
                            <a:latin typeface="Cambria Math" panose="02040503050406030204" pitchFamily="18" charset="0"/>
                          </a:rPr>
                          <m:t>𝑘</m:t>
                        </m:r>
                        <m:r>
                          <a:rPr lang="en-US" altLang="zh-CN" sz="2400" i="1">
                            <a:latin typeface="Cambria Math" panose="02040503050406030204" pitchFamily="18" charset="0"/>
                          </a:rPr>
                          <m:t>−1</m:t>
                        </m:r>
                      </m:sub>
                    </m:sSub>
                  </m:oMath>
                </a14:m>
                <a:endParaRPr lang="en-US" altLang="zh-CN" sz="2400" i="1" dirty="0">
                  <a:latin typeface="Cambria Math" panose="02040503050406030204" pitchFamily="18" charset="0"/>
                </a:endParaRPr>
              </a:p>
              <a:p>
                <a:pPr/>
                <a:r>
                  <a:rPr lang="zh-CN" altLang="en-US" sz="2400" dirty="0">
                    <a:latin typeface="Cambria Math" panose="02040503050406030204" pitchFamily="18" charset="0"/>
                  </a:rPr>
                  <a:t>注意到每相邻两项都有公因子，可以简化计算</a:t>
                </a:r>
                <a:endParaRPr lang="en-US" altLang="zh-CN" sz="2400" dirty="0">
                  <a:latin typeface="Cambria Math" panose="02040503050406030204" pitchFamily="18" charset="0"/>
                </a:endParaRPr>
              </a:p>
              <a:p>
                <a:pPr/>
                <a:endParaRPr lang="zh-CN" altLang="en-US" sz="2400" dirty="0">
                  <a:latin typeface="Cambria Math" panose="02040503050406030204" pitchFamily="18" charset="0"/>
                </a:endParaRPr>
              </a:p>
            </p:txBody>
          </p:sp>
        </mc:Choice>
        <mc:Fallback>
          <p:sp>
            <p:nvSpPr>
              <p:cNvPr id="3" name="文本框 2">
                <a:extLst>
                  <a:ext uri="{FF2B5EF4-FFF2-40B4-BE49-F238E27FC236}">
                    <a16:creationId xmlns:a16="http://schemas.microsoft.com/office/drawing/2014/main" id="{9D669915-C019-8ED8-ACA4-50BCE8A1C66C}"/>
                  </a:ext>
                </a:extLst>
              </p:cNvPr>
              <p:cNvSpPr txBox="1">
                <a:spLocks noRot="1" noChangeAspect="1" noMove="1" noResize="1" noEditPoints="1" noAdjustHandles="1" noChangeArrowheads="1" noChangeShapeType="1" noTextEdit="1"/>
              </p:cNvSpPr>
              <p:nvPr/>
            </p:nvSpPr>
            <p:spPr>
              <a:xfrm>
                <a:off x="683568" y="908720"/>
                <a:ext cx="7920880" cy="5495222"/>
              </a:xfrm>
              <a:prstGeom prst="rect">
                <a:avLst/>
              </a:prstGeom>
              <a:blipFill>
                <a:blip r:embed="rId2"/>
                <a:stretch>
                  <a:fillRect l="-1155" t="-99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783039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23528" y="116632"/>
            <a:ext cx="3429000" cy="461665"/>
          </a:xfrm>
          <a:prstGeom prst="rect">
            <a:avLst/>
          </a:prstGeom>
          <a:noFill/>
        </p:spPr>
        <p:txBody>
          <a:bodyPr wrap="square">
            <a:spAutoFit/>
          </a:bodyPr>
          <a:lstStyle/>
          <a:p>
            <a:pPr eaLnBrk="1" hangingPunct="1">
              <a:buFont typeface="Wingdings" panose="05000000000000000000" pitchFamily="2" charset="2"/>
              <a:buNone/>
              <a:defRPr/>
            </a:pPr>
            <a:r>
              <a:rPr lang="zh-CN" altLang="en-US" sz="2400" b="1" dirty="0">
                <a:latin typeface="黑体" panose="02010609060101010101" pitchFamily="49" charset="-122"/>
                <a:ea typeface="黑体" panose="02010609060101010101" pitchFamily="49" charset="-122"/>
              </a:rPr>
              <a:t>三、</a:t>
            </a:r>
            <a:r>
              <a:rPr lang="en-US" altLang="zh-CN"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小结</a:t>
            </a:r>
            <a:endParaRPr lang="en-US" altLang="zh-CN" sz="2400" b="1" dirty="0">
              <a:latin typeface="黑体" panose="02010609060101010101" pitchFamily="49" charset="-122"/>
              <a:ea typeface="黑体" panose="02010609060101010101" pitchFamily="49" charset="-122"/>
            </a:endParaRPr>
          </a:p>
        </p:txBody>
      </p:sp>
      <mc:AlternateContent xmlns:mc="http://schemas.openxmlformats.org/markup-compatibility/2006" xmlns:a14="http://schemas.microsoft.com/office/drawing/2010/main">
        <mc:Choice Requires="a14">
          <p:sp>
            <p:nvSpPr>
              <p:cNvPr id="7" name="文本框 6"/>
              <p:cNvSpPr txBox="1"/>
              <p:nvPr/>
            </p:nvSpPr>
            <p:spPr>
              <a:xfrm>
                <a:off x="593558" y="656692"/>
                <a:ext cx="8262918" cy="6099747"/>
              </a:xfrm>
              <a:prstGeom prst="rect">
                <a:avLst/>
              </a:prstGeom>
              <a:noFill/>
            </p:spPr>
            <p:txBody>
              <a:bodyPr wrap="square">
                <a:spAutoFit/>
              </a:bodyPr>
              <a:lstStyle/>
              <a:p>
                <a:pPr marL="257175" indent="-257175" algn="just">
                  <a:lnSpc>
                    <a:spcPct val="150000"/>
                  </a:lnSpc>
                  <a:buFont typeface="Wingdings" panose="05000000000000000000" pitchFamily="2" charset="2"/>
                  <a:buChar char="Ø"/>
                </a:pPr>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由于构造近似矩阵</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Cambria Math" panose="02040503050406030204" pitchFamily="18" charset="0"/>
                          </a:rPr>
                          <m:t>𝐴</m:t>
                        </m:r>
                      </m:e>
                      <m:sub>
                        <m:r>
                          <a:rPr lang="en-US" altLang="zh-CN" sz="2400" i="1">
                            <a:latin typeface="Cambria Math" panose="02040503050406030204" pitchFamily="18" charset="0"/>
                            <a:ea typeface="宋体" panose="02010600030101010101" pitchFamily="2" charset="-122"/>
                            <a:cs typeface="Cambria Math" panose="02040503050406030204" pitchFamily="18" charset="0"/>
                          </a:rPr>
                          <m:t>𝑘</m:t>
                        </m:r>
                        <m:r>
                          <a:rPr lang="en-US" altLang="zh-CN" sz="2400" i="1">
                            <a:latin typeface="Cambria Math" panose="02040503050406030204" pitchFamily="18" charset="0"/>
                            <a:ea typeface="宋体" panose="02010600030101010101" pitchFamily="2" charset="-122"/>
                            <a:cs typeface="Cambria Math" panose="02040503050406030204" pitchFamily="18" charset="0"/>
                          </a:rPr>
                          <m:t>+1</m:t>
                        </m:r>
                      </m:sub>
                    </m:sSub>
                  </m:oMath>
                </a14:m>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的方法不同，因而有不同的拟牛顿法，经理论证明和实践检验，拟牛顿法已经成为一类公认的比较有效的方法</a:t>
                </a:r>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a:t>
                </a:r>
                <a:endParaRPr lang="en-US" altLang="zh-CN" sz="2400" kern="100" dirty="0">
                  <a:latin typeface="宋体" panose="02010600030101010101" pitchFamily="2" charset="-122"/>
                  <a:ea typeface="宋体" panose="02010600030101010101" pitchFamily="2" charset="-122"/>
                  <a:cs typeface="Times New Roman" panose="02020603050405020304" pitchFamily="18" charset="0"/>
                </a:endParaRPr>
              </a:p>
              <a:p>
                <a:pPr marL="257175" indent="-257175" algn="just">
                  <a:lnSpc>
                    <a:spcPct val="150000"/>
                  </a:lnSpc>
                  <a:buFont typeface="Wingdings" panose="05000000000000000000" pitchFamily="2" charset="2"/>
                  <a:buChar char="Ø"/>
                </a:pPr>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拟牛顿法</a:t>
                </a:r>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不仅是求解无约束极值问题非常有效的算法，而且也已被推广用来求解约束极值问题</a:t>
                </a:r>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a:t>
                </a:r>
                <a:endParaRPr lang="en-US" altLang="zh-CN" sz="2400" kern="100" dirty="0">
                  <a:latin typeface="宋体" panose="02010600030101010101" pitchFamily="2" charset="-122"/>
                  <a:ea typeface="宋体" panose="02010600030101010101" pitchFamily="2" charset="-122"/>
                  <a:cs typeface="Times New Roman" panose="02020603050405020304" pitchFamily="18" charset="0"/>
                </a:endParaRPr>
              </a:p>
              <a:p>
                <a:pPr marL="257175" indent="-257175" algn="just">
                  <a:lnSpc>
                    <a:spcPct val="150000"/>
                  </a:lnSpc>
                  <a:buFont typeface="Wingdings" panose="05000000000000000000" pitchFamily="2" charset="2"/>
                  <a:buChar char="Ø"/>
                </a:pPr>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拟牛顿</a:t>
                </a:r>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既避免了计算二阶导数矩阵及其求逆过程，又比梯度法的收敛速度快，特别是对高维问题具有显著的优越性，因而使拟牛顿法获得了很高的声誉</a:t>
                </a:r>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a:t>
                </a:r>
                <a:endParaRPr lang="en-US" altLang="zh-CN" sz="2400" kern="100" dirty="0">
                  <a:latin typeface="宋体" panose="02010600030101010101" pitchFamily="2" charset="-122"/>
                  <a:ea typeface="宋体" panose="02010600030101010101" pitchFamily="2" charset="-122"/>
                  <a:cs typeface="Times New Roman" panose="02020603050405020304" pitchFamily="18" charset="0"/>
                </a:endParaRPr>
              </a:p>
              <a:p>
                <a:pPr marL="257175" indent="-257175" algn="just">
                  <a:lnSpc>
                    <a:spcPct val="150000"/>
                  </a:lnSpc>
                  <a:buFont typeface="Wingdings" panose="05000000000000000000" pitchFamily="2" charset="2"/>
                  <a:buChar char="Ø"/>
                </a:pPr>
                <a:r>
                  <a:rPr lang="en-US" altLang="zh-CN" sz="2400" dirty="0">
                    <a:latin typeface="宋体" panose="02010600030101010101" pitchFamily="2" charset="-122"/>
                    <a:ea typeface="宋体" panose="02010600030101010101" pitchFamily="2" charset="-122"/>
                  </a:rPr>
                  <a:t>DFP</a:t>
                </a:r>
                <a:r>
                  <a:rPr lang="zh-CN" altLang="zh-CN" sz="2400" dirty="0">
                    <a:latin typeface="宋体" panose="02010600030101010101" pitchFamily="2" charset="-122"/>
                    <a:ea typeface="宋体" panose="02010600030101010101" pitchFamily="2" charset="-122"/>
                  </a:rPr>
                  <a:t>算法由于舍入误差和一维搜索的不精确，有可能导致</a:t>
                </a:r>
                <a14:m>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𝐴</m:t>
                        </m:r>
                      </m:e>
                      <m:sub>
                        <m:r>
                          <a:rPr lang="zh-CN" altLang="en-US" sz="2400" i="1">
                            <a:latin typeface="Cambria Math" panose="02040503050406030204" pitchFamily="18" charset="0"/>
                          </a:rPr>
                          <m:t>𝑘</m:t>
                        </m:r>
                      </m:sub>
                    </m:sSub>
                  </m:oMath>
                </a14:m>
                <a:r>
                  <a:rPr lang="zh-CN" altLang="zh-CN" sz="2400" dirty="0">
                    <a:latin typeface="宋体" panose="02010600030101010101" pitchFamily="2" charset="-122"/>
                    <a:ea typeface="宋体" panose="02010600030101010101" pitchFamily="2" charset="-122"/>
                  </a:rPr>
                  <a:t>奇异，而使数值稳定性方面不够理想。所以1970年提出</a:t>
                </a:r>
                <a:r>
                  <a:rPr lang="zh-CN" altLang="en-US" sz="2400" dirty="0">
                    <a:latin typeface="宋体" panose="02010600030101010101" pitchFamily="2" charset="-122"/>
                    <a:ea typeface="宋体" panose="02010600030101010101" pitchFamily="2" charset="-122"/>
                  </a:rPr>
                  <a:t>了</a:t>
                </a:r>
                <a:r>
                  <a:rPr lang="zh-CN" altLang="zh-CN" sz="2400" dirty="0">
                    <a:latin typeface="宋体" panose="02010600030101010101" pitchFamily="2" charset="-122"/>
                    <a:ea typeface="宋体" panose="02010600030101010101" pitchFamily="2" charset="-122"/>
                  </a:rPr>
                  <a:t>更稳定的算法，称为</a:t>
                </a:r>
                <a:r>
                  <a:rPr lang="en-US" altLang="zh-CN" sz="2400" dirty="0">
                    <a:latin typeface="宋体" panose="02010600030101010101" pitchFamily="2" charset="-122"/>
                    <a:ea typeface="宋体" panose="02010600030101010101" pitchFamily="2" charset="-122"/>
                  </a:rPr>
                  <a:t>BFGS</a:t>
                </a:r>
                <a:r>
                  <a:rPr lang="zh-CN" altLang="zh-CN" sz="2400" dirty="0">
                    <a:latin typeface="宋体" panose="02010600030101010101" pitchFamily="2" charset="-122"/>
                    <a:ea typeface="宋体" panose="02010600030101010101" pitchFamily="2" charset="-122"/>
                  </a:rPr>
                  <a:t>算法。</a:t>
                </a:r>
                <a:endParaRPr lang="zh-CN" altLang="en-US" sz="2400" dirty="0">
                  <a:latin typeface="宋体" panose="02010600030101010101" pitchFamily="2" charset="-122"/>
                  <a:ea typeface="宋体" panose="02010600030101010101" pitchFamily="2" charset="-122"/>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593558" y="656692"/>
                <a:ext cx="8262918" cy="6099747"/>
              </a:xfrm>
              <a:prstGeom prst="rect">
                <a:avLst/>
              </a:prstGeom>
              <a:blipFill>
                <a:blip r:embed="rId3"/>
                <a:stretch>
                  <a:fillRect l="-959" r="-4867" b="-1400"/>
                </a:stretch>
              </a:blipFill>
            </p:spPr>
            <p:txBody>
              <a:bodyPr/>
              <a:lstStyle/>
              <a:p>
                <a:r>
                  <a:rPr lang="zh-CN" altLang="en-US">
                    <a:noFill/>
                  </a:rPr>
                  <a:t> </a:t>
                </a:r>
              </a:p>
            </p:txBody>
          </p:sp>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DC845-5CA0-235A-A8DC-84682BC81DA1}"/>
            </a:ext>
          </a:extLst>
        </p:cNvPr>
        <p:cNvGrpSpPr/>
        <p:nvPr/>
      </p:nvGrpSpPr>
      <p:grpSpPr>
        <a:xfrm>
          <a:off x="0" y="0"/>
          <a:ext cx="0" cy="0"/>
          <a:chOff x="0" y="0"/>
          <a:chExt cx="0" cy="0"/>
        </a:xfrm>
      </p:grpSpPr>
      <p:sp>
        <p:nvSpPr>
          <p:cNvPr id="4098" name="矩形 1">
            <a:extLst>
              <a:ext uri="{FF2B5EF4-FFF2-40B4-BE49-F238E27FC236}">
                <a16:creationId xmlns:a16="http://schemas.microsoft.com/office/drawing/2014/main" id="{E1267B54-9D34-F759-B29F-D3CD3A4D541C}"/>
              </a:ext>
            </a:extLst>
          </p:cNvPr>
          <p:cNvSpPr>
            <a:spLocks noChangeArrowheads="1"/>
          </p:cNvSpPr>
          <p:nvPr/>
        </p:nvSpPr>
        <p:spPr bwMode="auto">
          <a:xfrm>
            <a:off x="2079263" y="2564606"/>
            <a:ext cx="4721165"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a:r>
              <a:rPr lang="en-US" altLang="zh-CN" sz="3300" b="1" dirty="0"/>
              <a:t>   </a:t>
            </a:r>
            <a:r>
              <a:rPr lang="zh-CN" altLang="en-US" sz="3300" b="1" dirty="0"/>
              <a:t>梯度类方法的应用举例</a:t>
            </a:r>
          </a:p>
        </p:txBody>
      </p:sp>
    </p:spTree>
    <p:extLst>
      <p:ext uri="{BB962C8B-B14F-4D97-AF65-F5344CB8AC3E}">
        <p14:creationId xmlns:p14="http://schemas.microsoft.com/office/powerpoint/2010/main" val="3381615858"/>
      </p:ext>
    </p:extLst>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文本框 29">
            <a:extLst>
              <a:ext uri="{FF2B5EF4-FFF2-40B4-BE49-F238E27FC236}">
                <a16:creationId xmlns:a16="http://schemas.microsoft.com/office/drawing/2014/main" id="{A4CFE85C-4A8F-BED6-5B13-E684CBC9F3FC}"/>
              </a:ext>
            </a:extLst>
          </p:cNvPr>
          <p:cNvSpPr txBox="1"/>
          <p:nvPr/>
        </p:nvSpPr>
        <p:spPr>
          <a:xfrm>
            <a:off x="332529" y="187637"/>
            <a:ext cx="8478942" cy="1043747"/>
          </a:xfrm>
          <a:prstGeom prst="rect">
            <a:avLst/>
          </a:prstGeom>
          <a:noFill/>
        </p:spPr>
        <p:txBody>
          <a:bodyPr wrap="square">
            <a:spAutoFit/>
          </a:bodyPr>
          <a:lstStyle/>
          <a:p>
            <a:pPr indent="228600" algn="just">
              <a:lnSpc>
                <a:spcPct val="150000"/>
              </a:lnSpc>
            </a:pPr>
            <a:r>
              <a:rPr lang="en-US" altLang="zh-CN" sz="2200" kern="100" dirty="0">
                <a:latin typeface="Times New Roman" panose="02020603050405020304" pitchFamily="18" charset="0"/>
              </a:rPr>
              <a:t>   </a:t>
            </a:r>
            <a:r>
              <a:rPr lang="zh-CN" altLang="en-US" sz="2200" kern="100" dirty="0">
                <a:latin typeface="Times New Roman" panose="02020603050405020304" pitchFamily="18" charset="0"/>
              </a:rPr>
              <a:t>假设已知</a:t>
            </a:r>
            <a:r>
              <a:rPr lang="zh-CN" altLang="zh-CN" sz="2200" kern="100" dirty="0">
                <a:latin typeface="Times New Roman" panose="02020603050405020304" pitchFamily="18" charset="0"/>
              </a:rPr>
              <a:t>小区的</a:t>
            </a:r>
            <a:r>
              <a:rPr lang="zh-CN" altLang="en-US" sz="2200" kern="100" dirty="0">
                <a:latin typeface="Times New Roman" panose="02020603050405020304" pitchFamily="18" charset="0"/>
              </a:rPr>
              <a:t>数量和位置，以及一些必要的系数</a:t>
            </a:r>
            <a:r>
              <a:rPr lang="zh-CN" altLang="zh-CN" sz="2200" kern="100" dirty="0">
                <a:latin typeface="Times New Roman" panose="02020603050405020304" pitchFamily="18" charset="0"/>
              </a:rPr>
              <a:t>，</a:t>
            </a:r>
            <a:r>
              <a:rPr lang="zh-CN" altLang="en-US" sz="2200" kern="100" dirty="0">
                <a:latin typeface="Times New Roman" panose="02020603050405020304" pitchFamily="18" charset="0"/>
              </a:rPr>
              <a:t>选址问题的</a:t>
            </a:r>
            <a:r>
              <a:rPr lang="zh-CN" altLang="zh-CN" sz="2200" kern="100" dirty="0">
                <a:latin typeface="Times New Roman" panose="02020603050405020304" pitchFamily="18" charset="0"/>
              </a:rPr>
              <a:t>目标是使选择的服务站的位置对小区的综合成本最低。</a:t>
            </a:r>
          </a:p>
        </p:txBody>
      </p:sp>
      <p:sp>
        <p:nvSpPr>
          <p:cNvPr id="5" name="文本框 4">
            <a:extLst>
              <a:ext uri="{FF2B5EF4-FFF2-40B4-BE49-F238E27FC236}">
                <a16:creationId xmlns:a16="http://schemas.microsoft.com/office/drawing/2014/main" id="{433BBC54-18A1-02A7-1D94-E907D3CB1C17}"/>
              </a:ext>
            </a:extLst>
          </p:cNvPr>
          <p:cNvSpPr txBox="1"/>
          <p:nvPr/>
        </p:nvSpPr>
        <p:spPr>
          <a:xfrm>
            <a:off x="332529" y="1231384"/>
            <a:ext cx="8478942" cy="1043747"/>
          </a:xfrm>
          <a:prstGeom prst="rect">
            <a:avLst/>
          </a:prstGeom>
          <a:noFill/>
        </p:spPr>
        <p:txBody>
          <a:bodyPr wrap="square">
            <a:spAutoFit/>
          </a:bodyPr>
          <a:lstStyle/>
          <a:p>
            <a:pPr indent="228600" algn="just">
              <a:lnSpc>
                <a:spcPct val="150000"/>
              </a:lnSpc>
            </a:pPr>
            <a:r>
              <a:rPr lang="zh-CN" altLang="en-US" sz="2200" kern="100" dirty="0">
                <a:latin typeface="Times New Roman" panose="02020603050405020304" pitchFamily="18" charset="0"/>
              </a:rPr>
              <a:t>  比如，表</a:t>
            </a:r>
            <a:r>
              <a:rPr lang="en-US" altLang="zh-CN" sz="2200" kern="100" dirty="0">
                <a:latin typeface="Times New Roman" panose="02020603050405020304" pitchFamily="18" charset="0"/>
              </a:rPr>
              <a:t>1</a:t>
            </a:r>
            <a:r>
              <a:rPr lang="zh-CN" altLang="en-US" sz="2200" kern="100" dirty="0">
                <a:latin typeface="Times New Roman" panose="02020603050405020304" pitchFamily="18" charset="0"/>
              </a:rPr>
              <a:t>给出了一些数据，如果为这些小区建一个停车场，该如何选址？</a:t>
            </a:r>
            <a:endParaRPr lang="zh-CN" altLang="zh-CN" sz="2200" kern="100" dirty="0">
              <a:latin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991D2D4F-6494-9BBC-F060-5BB47882B27F}"/>
                  </a:ext>
                </a:extLst>
              </p:cNvPr>
              <p:cNvGraphicFramePr>
                <a:graphicFrameLocks noGrp="1"/>
              </p:cNvGraphicFramePr>
              <p:nvPr>
                <p:extLst>
                  <p:ext uri="{D42A27DB-BD31-4B8C-83A1-F6EECF244321}">
                    <p14:modId xmlns:p14="http://schemas.microsoft.com/office/powerpoint/2010/main" val="1987954198"/>
                  </p:ext>
                </p:extLst>
              </p:nvPr>
            </p:nvGraphicFramePr>
            <p:xfrm>
              <a:off x="1259632" y="2852936"/>
              <a:ext cx="6912768" cy="3633405"/>
            </p:xfrm>
            <a:graphic>
              <a:graphicData uri="http://schemas.openxmlformats.org/drawingml/2006/table">
                <a:tbl>
                  <a:tblPr firstRow="1" firstCol="1" bandRow="1">
                    <a:tableStyleId>{5C22544A-7EE6-4342-B048-85BDC9FD1C3A}</a:tableStyleId>
                  </a:tblPr>
                  <a:tblGrid>
                    <a:gridCol w="972548">
                      <a:extLst>
                        <a:ext uri="{9D8B030D-6E8A-4147-A177-3AD203B41FA5}">
                          <a16:colId xmlns:a16="http://schemas.microsoft.com/office/drawing/2014/main" val="533315331"/>
                        </a:ext>
                      </a:extLst>
                    </a:gridCol>
                    <a:gridCol w="1887150">
                      <a:extLst>
                        <a:ext uri="{9D8B030D-6E8A-4147-A177-3AD203B41FA5}">
                          <a16:colId xmlns:a16="http://schemas.microsoft.com/office/drawing/2014/main" val="2554173652"/>
                        </a:ext>
                      </a:extLst>
                    </a:gridCol>
                    <a:gridCol w="2297494">
                      <a:extLst>
                        <a:ext uri="{9D8B030D-6E8A-4147-A177-3AD203B41FA5}">
                          <a16:colId xmlns:a16="http://schemas.microsoft.com/office/drawing/2014/main" val="2745908449"/>
                        </a:ext>
                      </a:extLst>
                    </a:gridCol>
                    <a:gridCol w="1755576">
                      <a:extLst>
                        <a:ext uri="{9D8B030D-6E8A-4147-A177-3AD203B41FA5}">
                          <a16:colId xmlns:a16="http://schemas.microsoft.com/office/drawing/2014/main" val="413717299"/>
                        </a:ext>
                      </a:extLst>
                    </a:gridCol>
                  </a:tblGrid>
                  <a:tr h="525909">
                    <a:tc>
                      <a:txBody>
                        <a:bodyPr/>
                        <a:lstStyle/>
                        <a:p>
                          <a:pPr indent="304800" algn="ctr"/>
                          <a:r>
                            <a:rPr lang="zh-CN" sz="1500" kern="100" dirty="0">
                              <a:solidFill>
                                <a:srgbClr val="002060"/>
                              </a:solidFill>
                              <a:effectLst/>
                            </a:rPr>
                            <a:t>小区</a:t>
                          </a:r>
                          <a:endParaRPr lang="zh-CN" sz="1500" kern="100" dirty="0">
                            <a:solidFill>
                              <a:srgbClr val="00206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zh-CN" sz="1500" kern="100" dirty="0">
                              <a:solidFill>
                                <a:srgbClr val="002060"/>
                              </a:solidFill>
                              <a:effectLst/>
                            </a:rPr>
                            <a:t>坐标</a:t>
                          </a:r>
                          <a14:m>
                            <m:oMath xmlns:m="http://schemas.openxmlformats.org/officeDocument/2006/math">
                              <m:sSub>
                                <m:sSubPr>
                                  <m:ctrlPr>
                                    <a:rPr lang="zh-CN" altLang="zh-CN" sz="1500" i="1" smtClean="0">
                                      <a:solidFill>
                                        <a:srgbClr val="002060"/>
                                      </a:solidFill>
                                      <a:latin typeface="Cambria Math" panose="02040503050406030204" pitchFamily="18" charset="0"/>
                                    </a:rPr>
                                  </m:ctrlPr>
                                </m:sSubPr>
                                <m:e>
                                  <m:r>
                                    <a:rPr lang="en-US" altLang="zh-CN" sz="1500" i="1">
                                      <a:solidFill>
                                        <a:srgbClr val="002060"/>
                                      </a:solidFill>
                                      <a:latin typeface="Cambria Math" panose="02040503050406030204" pitchFamily="18" charset="0"/>
                                    </a:rPr>
                                    <m:t>𝑐</m:t>
                                  </m:r>
                                </m:e>
                                <m:sub>
                                  <m:r>
                                    <a:rPr lang="en-US" altLang="zh-CN" sz="1500" i="1">
                                      <a:solidFill>
                                        <a:srgbClr val="002060"/>
                                      </a:solidFill>
                                      <a:latin typeface="Cambria Math" panose="02040503050406030204" pitchFamily="18" charset="0"/>
                                    </a:rPr>
                                    <m:t>𝑖</m:t>
                                  </m:r>
                                </m:sub>
                              </m:sSub>
                            </m:oMath>
                          </a14:m>
                          <a:endParaRPr lang="zh-CN" sz="1500" kern="100" dirty="0">
                            <a:solidFill>
                              <a:srgbClr val="00206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zh-CN" sz="1500" kern="100" dirty="0">
                              <a:solidFill>
                                <a:srgbClr val="002060"/>
                              </a:solidFill>
                              <a:effectLst/>
                            </a:rPr>
                            <a:t>停车场对其吸引量</a:t>
                          </a:r>
                          <a14:m>
                            <m:oMath xmlns:m="http://schemas.openxmlformats.org/officeDocument/2006/math">
                              <m:sSub>
                                <m:sSubPr>
                                  <m:ctrlPr>
                                    <a:rPr lang="zh-CN" altLang="zh-CN" sz="1500"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solidFill>
                                        <a:srgbClr val="002060"/>
                                      </a:solidFill>
                                      <a:effectLst/>
                                      <a:latin typeface="Cambria Math" panose="02040503050406030204" pitchFamily="18" charset="0"/>
                                      <a:ea typeface="+mn-ea"/>
                                      <a:cs typeface="Times New Roman" panose="02020603050405020304" pitchFamily="18" charset="0"/>
                                    </a:rPr>
                                    <m:t>𝑞</m:t>
                                  </m:r>
                                </m:e>
                                <m:sub>
                                  <m:r>
                                    <a:rPr lang="en-US" altLang="zh-CN" sz="1500" i="1" kern="100">
                                      <a:solidFill>
                                        <a:srgbClr val="002060"/>
                                      </a:solidFill>
                                      <a:effectLst/>
                                      <a:latin typeface="Cambria Math" panose="02040503050406030204" pitchFamily="18" charset="0"/>
                                      <a:ea typeface="+mn-ea"/>
                                      <a:cs typeface="Times New Roman" panose="02020603050405020304" pitchFamily="18" charset="0"/>
                                    </a:rPr>
                                    <m:t>𝑖</m:t>
                                  </m:r>
                                </m:sub>
                              </m:sSub>
                            </m:oMath>
                          </a14:m>
                          <a:endParaRPr lang="zh-CN" sz="1500" kern="100" dirty="0">
                            <a:solidFill>
                              <a:srgbClr val="00206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zh-CN" sz="1500" kern="100" dirty="0">
                              <a:solidFill>
                                <a:srgbClr val="002060"/>
                              </a:solidFill>
                              <a:effectLst/>
                            </a:rPr>
                            <a:t>小区权系</a:t>
                          </a:r>
                          <a:r>
                            <a:rPr lang="zh-CN" altLang="en-US" sz="1500" kern="100" dirty="0">
                              <a:solidFill>
                                <a:srgbClr val="002060"/>
                              </a:solidFill>
                              <a:effectLst/>
                            </a:rPr>
                            <a:t>数</a:t>
                          </a:r>
                          <a14:m>
                            <m:oMath xmlns:m="http://schemas.openxmlformats.org/officeDocument/2006/math">
                              <m:sSub>
                                <m:sSubPr>
                                  <m:ctrlPr>
                                    <a:rPr lang="zh-CN" altLang="zh-CN" sz="1500" i="1" kern="100" smtClean="0">
                                      <a:solidFill>
                                        <a:srgbClr val="00206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500" i="1" kern="100">
                                      <a:solidFill>
                                        <a:srgbClr val="002060"/>
                                      </a:solidFill>
                                      <a:effectLst/>
                                      <a:latin typeface="Cambria Math" panose="02040503050406030204" pitchFamily="18" charset="0"/>
                                      <a:ea typeface="+mn-ea"/>
                                      <a:cs typeface="Times New Roman" panose="02020603050405020304" pitchFamily="18" charset="0"/>
                                    </a:rPr>
                                    <m:t>𝑤</m:t>
                                  </m:r>
                                </m:e>
                                <m:sub>
                                  <m:r>
                                    <a:rPr lang="en-US" altLang="zh-CN" sz="1500" i="1" kern="100">
                                      <a:solidFill>
                                        <a:srgbClr val="002060"/>
                                      </a:solidFill>
                                      <a:effectLst/>
                                      <a:latin typeface="Cambria Math" panose="02040503050406030204" pitchFamily="18" charset="0"/>
                                      <a:ea typeface="+mn-ea"/>
                                      <a:cs typeface="Times New Roman" panose="02020603050405020304" pitchFamily="18" charset="0"/>
                                    </a:rPr>
                                    <m:t>𝑖</m:t>
                                  </m:r>
                                </m:sub>
                              </m:sSub>
                            </m:oMath>
                          </a14:m>
                          <a:endParaRPr lang="zh-CN" sz="1500" kern="100" dirty="0">
                            <a:solidFill>
                              <a:srgbClr val="00206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extLst>
                      <a:ext uri="{0D108BD9-81ED-4DB2-BD59-A6C34878D82A}">
                        <a16:rowId xmlns:a16="http://schemas.microsoft.com/office/drawing/2014/main" val="1609232697"/>
                      </a:ext>
                    </a:extLst>
                  </a:tr>
                  <a:tr h="388437">
                    <a:tc>
                      <a:txBody>
                        <a:bodyPr/>
                        <a:lstStyle/>
                        <a:p>
                          <a:pPr indent="304800" algn="ctr"/>
                          <a:r>
                            <a:rPr lang="en-US" sz="1500" kern="100" dirty="0">
                              <a:effectLst/>
                            </a:rPr>
                            <a:t>1</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zh-CN" sz="1500" kern="100">
                              <a:effectLst/>
                            </a:rPr>
                            <a:t>（</a:t>
                          </a:r>
                          <a:r>
                            <a:rPr lang="en-US" sz="1500" kern="100">
                              <a:effectLst/>
                            </a:rPr>
                            <a:t>42.0</a:t>
                          </a:r>
                          <a:r>
                            <a:rPr lang="zh-CN" sz="1500" kern="100">
                              <a:effectLst/>
                            </a:rPr>
                            <a:t>，</a:t>
                          </a:r>
                          <a:r>
                            <a:rPr lang="en-US" sz="1500" kern="100">
                              <a:effectLst/>
                            </a:rPr>
                            <a:t>44.1</a:t>
                          </a:r>
                          <a:r>
                            <a:rPr lang="zh-CN" sz="1500" kern="100">
                              <a:effectLst/>
                            </a:rPr>
                            <a:t>）</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a:effectLst/>
                            </a:rPr>
                            <a:t>1.71</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a:effectLst/>
                            </a:rPr>
                            <a:t>1.15</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extLst>
                      <a:ext uri="{0D108BD9-81ED-4DB2-BD59-A6C34878D82A}">
                        <a16:rowId xmlns:a16="http://schemas.microsoft.com/office/drawing/2014/main" val="2910338565"/>
                      </a:ext>
                    </a:extLst>
                  </a:tr>
                  <a:tr h="388437">
                    <a:tc>
                      <a:txBody>
                        <a:bodyPr/>
                        <a:lstStyle/>
                        <a:p>
                          <a:pPr indent="304800" algn="ctr"/>
                          <a:r>
                            <a:rPr lang="en-US" sz="1500" kern="100">
                              <a:effectLst/>
                            </a:rPr>
                            <a:t>2</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zh-CN" sz="1500" kern="100">
                              <a:effectLst/>
                            </a:rPr>
                            <a:t>（</a:t>
                          </a:r>
                          <a:r>
                            <a:rPr lang="en-US" sz="1500" kern="100">
                              <a:effectLst/>
                            </a:rPr>
                            <a:t>47.0</a:t>
                          </a:r>
                          <a:r>
                            <a:rPr lang="zh-CN" sz="1500" kern="100">
                              <a:effectLst/>
                            </a:rPr>
                            <a:t>，</a:t>
                          </a:r>
                          <a:r>
                            <a:rPr lang="en-US" sz="1500" kern="100">
                              <a:effectLst/>
                            </a:rPr>
                            <a:t>42.9</a:t>
                          </a:r>
                          <a:r>
                            <a:rPr lang="zh-CN" sz="1500" kern="100">
                              <a:effectLst/>
                            </a:rPr>
                            <a:t>）</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dirty="0">
                              <a:effectLst/>
                            </a:rPr>
                            <a:t>0.96</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a:effectLst/>
                            </a:rPr>
                            <a:t>1.15</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extLst>
                      <a:ext uri="{0D108BD9-81ED-4DB2-BD59-A6C34878D82A}">
                        <a16:rowId xmlns:a16="http://schemas.microsoft.com/office/drawing/2014/main" val="4269939850"/>
                      </a:ext>
                    </a:extLst>
                  </a:tr>
                  <a:tr h="388437">
                    <a:tc>
                      <a:txBody>
                        <a:bodyPr/>
                        <a:lstStyle/>
                        <a:p>
                          <a:pPr indent="304800" algn="ctr"/>
                          <a:r>
                            <a:rPr lang="en-US" sz="1500" kern="100">
                              <a:effectLst/>
                            </a:rPr>
                            <a:t>3</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zh-CN" sz="1500" kern="100" dirty="0">
                              <a:effectLst/>
                            </a:rPr>
                            <a:t>（</a:t>
                          </a:r>
                          <a:r>
                            <a:rPr lang="en-US" sz="1500" kern="100" dirty="0">
                              <a:effectLst/>
                            </a:rPr>
                            <a:t>38.2</a:t>
                          </a:r>
                          <a:r>
                            <a:rPr lang="zh-CN" sz="1500" kern="100" dirty="0">
                              <a:effectLst/>
                            </a:rPr>
                            <a:t>，</a:t>
                          </a:r>
                          <a:r>
                            <a:rPr lang="en-US" sz="1500" kern="100" dirty="0">
                              <a:effectLst/>
                            </a:rPr>
                            <a:t>40.5</a:t>
                          </a:r>
                          <a:r>
                            <a:rPr lang="zh-CN" sz="1500" kern="100" dirty="0">
                              <a:effectLst/>
                            </a:rPr>
                            <a:t>）</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dirty="0">
                              <a:effectLst/>
                            </a:rPr>
                            <a:t>0.69</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a:effectLst/>
                            </a:rPr>
                            <a:t>1.18</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extLst>
                      <a:ext uri="{0D108BD9-81ED-4DB2-BD59-A6C34878D82A}">
                        <a16:rowId xmlns:a16="http://schemas.microsoft.com/office/drawing/2014/main" val="1173711416"/>
                      </a:ext>
                    </a:extLst>
                  </a:tr>
                  <a:tr h="388437">
                    <a:tc>
                      <a:txBody>
                        <a:bodyPr/>
                        <a:lstStyle/>
                        <a:p>
                          <a:pPr indent="304800" algn="ctr"/>
                          <a:r>
                            <a:rPr lang="en-US" sz="1500" kern="100">
                              <a:effectLst/>
                            </a:rPr>
                            <a:t>4</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zh-CN" sz="1500" kern="100">
                              <a:effectLst/>
                            </a:rPr>
                            <a:t>（</a:t>
                          </a:r>
                          <a:r>
                            <a:rPr lang="en-US" sz="1500" kern="100">
                              <a:effectLst/>
                            </a:rPr>
                            <a:t>43.2</a:t>
                          </a:r>
                          <a:r>
                            <a:rPr lang="zh-CN" sz="1500" kern="100">
                              <a:effectLst/>
                            </a:rPr>
                            <a:t>，</a:t>
                          </a:r>
                          <a:r>
                            <a:rPr lang="en-US" sz="1500" kern="100">
                              <a:effectLst/>
                            </a:rPr>
                            <a:t>40.2</a:t>
                          </a:r>
                          <a:r>
                            <a:rPr lang="zh-CN" sz="1500" kern="100">
                              <a:effectLst/>
                            </a:rPr>
                            <a:t>）</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a:effectLst/>
                            </a:rPr>
                            <a:t>3.48</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a:effectLst/>
                            </a:rPr>
                            <a:t>1.18</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extLst>
                      <a:ext uri="{0D108BD9-81ED-4DB2-BD59-A6C34878D82A}">
                        <a16:rowId xmlns:a16="http://schemas.microsoft.com/office/drawing/2014/main" val="284370300"/>
                      </a:ext>
                    </a:extLst>
                  </a:tr>
                  <a:tr h="388437">
                    <a:tc>
                      <a:txBody>
                        <a:bodyPr/>
                        <a:lstStyle/>
                        <a:p>
                          <a:pPr indent="304800" algn="ctr"/>
                          <a:r>
                            <a:rPr lang="en-US" sz="1500" kern="100">
                              <a:effectLst/>
                            </a:rPr>
                            <a:t>5</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zh-CN" sz="1500" kern="100">
                              <a:effectLst/>
                            </a:rPr>
                            <a:t>（</a:t>
                          </a:r>
                          <a:r>
                            <a:rPr lang="en-US" sz="1500" kern="100">
                              <a:effectLst/>
                            </a:rPr>
                            <a:t>47.3</a:t>
                          </a:r>
                          <a:r>
                            <a:rPr lang="zh-CN" sz="1500" kern="100">
                              <a:effectLst/>
                            </a:rPr>
                            <a:t>，</a:t>
                          </a:r>
                          <a:r>
                            <a:rPr lang="en-US" sz="1500" kern="100">
                              <a:effectLst/>
                            </a:rPr>
                            <a:t>39.2</a:t>
                          </a:r>
                          <a:r>
                            <a:rPr lang="zh-CN" sz="1500" kern="100">
                              <a:effectLst/>
                            </a:rPr>
                            <a:t>）</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a:effectLst/>
                            </a:rPr>
                            <a:t>1.79</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a:effectLst/>
                            </a:rPr>
                            <a:t>1.15</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extLst>
                      <a:ext uri="{0D108BD9-81ED-4DB2-BD59-A6C34878D82A}">
                        <a16:rowId xmlns:a16="http://schemas.microsoft.com/office/drawing/2014/main" val="203381037"/>
                      </a:ext>
                    </a:extLst>
                  </a:tr>
                  <a:tr h="388437">
                    <a:tc>
                      <a:txBody>
                        <a:bodyPr/>
                        <a:lstStyle/>
                        <a:p>
                          <a:pPr indent="304800" algn="ctr"/>
                          <a:r>
                            <a:rPr lang="en-US" sz="1500" kern="100">
                              <a:effectLst/>
                            </a:rPr>
                            <a:t>6</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zh-CN" sz="1500" kern="100">
                              <a:effectLst/>
                            </a:rPr>
                            <a:t>（</a:t>
                          </a:r>
                          <a:r>
                            <a:rPr lang="en-US" sz="1500" kern="100">
                              <a:effectLst/>
                            </a:rPr>
                            <a:t>52.3</a:t>
                          </a:r>
                          <a:r>
                            <a:rPr lang="zh-CN" sz="1500" kern="100">
                              <a:effectLst/>
                            </a:rPr>
                            <a:t>，</a:t>
                          </a:r>
                          <a:r>
                            <a:rPr lang="en-US" sz="1500" kern="100">
                              <a:effectLst/>
                            </a:rPr>
                            <a:t>37.2</a:t>
                          </a:r>
                          <a:r>
                            <a:rPr lang="zh-CN" sz="1500" kern="100">
                              <a:effectLst/>
                            </a:rPr>
                            <a:t>）</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a:effectLst/>
                            </a:rPr>
                            <a:t>0.27</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a:effectLst/>
                            </a:rPr>
                            <a:t>1.15</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extLst>
                      <a:ext uri="{0D108BD9-81ED-4DB2-BD59-A6C34878D82A}">
                        <a16:rowId xmlns:a16="http://schemas.microsoft.com/office/drawing/2014/main" val="324879679"/>
                      </a:ext>
                    </a:extLst>
                  </a:tr>
                  <a:tr h="388437">
                    <a:tc>
                      <a:txBody>
                        <a:bodyPr/>
                        <a:lstStyle/>
                        <a:p>
                          <a:pPr indent="304800" algn="ctr"/>
                          <a:r>
                            <a:rPr lang="en-US" altLang="zh-CN" sz="1500" kern="100" dirty="0">
                              <a:effectLst/>
                              <a:latin typeface="等线" panose="02010600030101010101" pitchFamily="2" charset="-122"/>
                              <a:ea typeface="等线" panose="02010600030101010101" pitchFamily="2" charset="-122"/>
                              <a:cs typeface="Times New Roman" panose="02020603050405020304" pitchFamily="18" charset="0"/>
                            </a:rPr>
                            <a:t>7</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zh-CN" sz="1500" kern="100">
                              <a:effectLst/>
                            </a:rPr>
                            <a:t>（</a:t>
                          </a:r>
                          <a:r>
                            <a:rPr lang="en-US" sz="1500" kern="100">
                              <a:effectLst/>
                            </a:rPr>
                            <a:t>33.3</a:t>
                          </a:r>
                          <a:r>
                            <a:rPr lang="zh-CN" sz="1500" kern="100">
                              <a:effectLst/>
                            </a:rPr>
                            <a:t>，</a:t>
                          </a:r>
                          <a:r>
                            <a:rPr lang="en-US" sz="1500" kern="100">
                              <a:effectLst/>
                            </a:rPr>
                            <a:t>43.1</a:t>
                          </a:r>
                          <a:r>
                            <a:rPr lang="zh-CN" sz="1500" kern="100">
                              <a:effectLst/>
                            </a:rPr>
                            <a:t>）</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a:effectLst/>
                            </a:rPr>
                            <a:t>1.56</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a:effectLst/>
                            </a:rPr>
                            <a:t>1.16</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extLst>
                      <a:ext uri="{0D108BD9-81ED-4DB2-BD59-A6C34878D82A}">
                        <a16:rowId xmlns:a16="http://schemas.microsoft.com/office/drawing/2014/main" val="4029138308"/>
                      </a:ext>
                    </a:extLst>
                  </a:tr>
                  <a:tr h="388437">
                    <a:tc>
                      <a:txBody>
                        <a:bodyPr/>
                        <a:lstStyle/>
                        <a:p>
                          <a:pPr indent="304800" algn="ctr"/>
                          <a:r>
                            <a:rPr lang="en-US" altLang="zh-CN" sz="1500" kern="100" dirty="0">
                              <a:effectLst/>
                              <a:latin typeface="等线" panose="02010600030101010101" pitchFamily="2" charset="-122"/>
                              <a:ea typeface="等线" panose="02010600030101010101" pitchFamily="2" charset="-122"/>
                              <a:cs typeface="Times New Roman" panose="02020603050405020304" pitchFamily="18" charset="0"/>
                            </a:rPr>
                            <a:t>8</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zh-CN" sz="1500" kern="100">
                              <a:effectLst/>
                            </a:rPr>
                            <a:t>（</a:t>
                          </a:r>
                          <a:r>
                            <a:rPr lang="en-US" sz="1500" kern="100">
                              <a:effectLst/>
                            </a:rPr>
                            <a:t>31.6</a:t>
                          </a:r>
                          <a:r>
                            <a:rPr lang="zh-CN" sz="1500" kern="100">
                              <a:effectLst/>
                            </a:rPr>
                            <a:t>，</a:t>
                          </a:r>
                          <a:r>
                            <a:rPr lang="en-US" sz="1500" kern="100">
                              <a:effectLst/>
                            </a:rPr>
                            <a:t>39.3</a:t>
                          </a:r>
                          <a:r>
                            <a:rPr lang="zh-CN" sz="1500" kern="100">
                              <a:effectLst/>
                            </a:rPr>
                            <a:t>）</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a:effectLst/>
                            </a:rPr>
                            <a:t>4.77</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dirty="0">
                              <a:effectLst/>
                            </a:rPr>
                            <a:t>1.18</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extLst>
                      <a:ext uri="{0D108BD9-81ED-4DB2-BD59-A6C34878D82A}">
                        <a16:rowId xmlns:a16="http://schemas.microsoft.com/office/drawing/2014/main" val="2227744403"/>
                      </a:ext>
                    </a:extLst>
                  </a:tr>
                </a:tbl>
              </a:graphicData>
            </a:graphic>
          </p:graphicFrame>
        </mc:Choice>
        <mc:Fallback xmlns="">
          <p:graphicFrame>
            <p:nvGraphicFramePr>
              <p:cNvPr id="4" name="表格 3">
                <a:extLst>
                  <a:ext uri="{FF2B5EF4-FFF2-40B4-BE49-F238E27FC236}">
                    <a16:creationId xmlns:a16="http://schemas.microsoft.com/office/drawing/2014/main" id="{991D2D4F-6494-9BBC-F060-5BB47882B27F}"/>
                  </a:ext>
                </a:extLst>
              </p:cNvPr>
              <p:cNvGraphicFramePr>
                <a:graphicFrameLocks noGrp="1"/>
              </p:cNvGraphicFramePr>
              <p:nvPr>
                <p:extLst>
                  <p:ext uri="{D42A27DB-BD31-4B8C-83A1-F6EECF244321}">
                    <p14:modId xmlns:p14="http://schemas.microsoft.com/office/powerpoint/2010/main" val="1987954198"/>
                  </p:ext>
                </p:extLst>
              </p:nvPr>
            </p:nvGraphicFramePr>
            <p:xfrm>
              <a:off x="1259632" y="2852936"/>
              <a:ext cx="6912768" cy="3633405"/>
            </p:xfrm>
            <a:graphic>
              <a:graphicData uri="http://schemas.openxmlformats.org/drawingml/2006/table">
                <a:tbl>
                  <a:tblPr firstRow="1" firstCol="1" bandRow="1">
                    <a:tableStyleId>{5C22544A-7EE6-4342-B048-85BDC9FD1C3A}</a:tableStyleId>
                  </a:tblPr>
                  <a:tblGrid>
                    <a:gridCol w="972548">
                      <a:extLst>
                        <a:ext uri="{9D8B030D-6E8A-4147-A177-3AD203B41FA5}">
                          <a16:colId xmlns:a16="http://schemas.microsoft.com/office/drawing/2014/main" val="533315331"/>
                        </a:ext>
                      </a:extLst>
                    </a:gridCol>
                    <a:gridCol w="1887150">
                      <a:extLst>
                        <a:ext uri="{9D8B030D-6E8A-4147-A177-3AD203B41FA5}">
                          <a16:colId xmlns:a16="http://schemas.microsoft.com/office/drawing/2014/main" val="2554173652"/>
                        </a:ext>
                      </a:extLst>
                    </a:gridCol>
                    <a:gridCol w="2297494">
                      <a:extLst>
                        <a:ext uri="{9D8B030D-6E8A-4147-A177-3AD203B41FA5}">
                          <a16:colId xmlns:a16="http://schemas.microsoft.com/office/drawing/2014/main" val="2745908449"/>
                        </a:ext>
                      </a:extLst>
                    </a:gridCol>
                    <a:gridCol w="1755576">
                      <a:extLst>
                        <a:ext uri="{9D8B030D-6E8A-4147-A177-3AD203B41FA5}">
                          <a16:colId xmlns:a16="http://schemas.microsoft.com/office/drawing/2014/main" val="413717299"/>
                        </a:ext>
                      </a:extLst>
                    </a:gridCol>
                  </a:tblGrid>
                  <a:tr h="525909">
                    <a:tc>
                      <a:txBody>
                        <a:bodyPr/>
                        <a:lstStyle/>
                        <a:p>
                          <a:pPr indent="304800" algn="ctr"/>
                          <a:r>
                            <a:rPr lang="zh-CN" sz="1500" kern="100" dirty="0">
                              <a:solidFill>
                                <a:srgbClr val="002060"/>
                              </a:solidFill>
                              <a:effectLst/>
                            </a:rPr>
                            <a:t>小区</a:t>
                          </a:r>
                          <a:endParaRPr lang="zh-CN" sz="1500" kern="100" dirty="0">
                            <a:solidFill>
                              <a:srgbClr val="002060"/>
                            </a:solidFill>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endParaRPr lang="zh-CN"/>
                        </a:p>
                      </a:txBody>
                      <a:tcPr marL="51435" marR="51435" marT="0" marB="0">
                        <a:blipFill>
                          <a:blip r:embed="rId2"/>
                          <a:stretch>
                            <a:fillRect l="-51935" t="-13953" r="-215806" b="-596512"/>
                          </a:stretch>
                        </a:blipFill>
                      </a:tcPr>
                    </a:tc>
                    <a:tc>
                      <a:txBody>
                        <a:bodyPr/>
                        <a:lstStyle/>
                        <a:p>
                          <a:endParaRPr lang="zh-CN"/>
                        </a:p>
                      </a:txBody>
                      <a:tcPr marL="51435" marR="51435" marT="0" marB="0">
                        <a:blipFill>
                          <a:blip r:embed="rId2"/>
                          <a:stretch>
                            <a:fillRect l="-124934" t="-13953" r="-77454" b="-596512"/>
                          </a:stretch>
                        </a:blipFill>
                      </a:tcPr>
                    </a:tc>
                    <a:tc>
                      <a:txBody>
                        <a:bodyPr/>
                        <a:lstStyle/>
                        <a:p>
                          <a:endParaRPr lang="zh-CN"/>
                        </a:p>
                      </a:txBody>
                      <a:tcPr marL="51435" marR="51435" marT="0" marB="0">
                        <a:blipFill>
                          <a:blip r:embed="rId2"/>
                          <a:stretch>
                            <a:fillRect l="-294444" t="-13953" r="-1389" b="-596512"/>
                          </a:stretch>
                        </a:blipFill>
                      </a:tcPr>
                    </a:tc>
                    <a:extLst>
                      <a:ext uri="{0D108BD9-81ED-4DB2-BD59-A6C34878D82A}">
                        <a16:rowId xmlns:a16="http://schemas.microsoft.com/office/drawing/2014/main" val="1609232697"/>
                      </a:ext>
                    </a:extLst>
                  </a:tr>
                  <a:tr h="388437">
                    <a:tc>
                      <a:txBody>
                        <a:bodyPr/>
                        <a:lstStyle/>
                        <a:p>
                          <a:pPr indent="304800" algn="ctr"/>
                          <a:r>
                            <a:rPr lang="en-US" sz="1500" kern="100" dirty="0">
                              <a:effectLst/>
                            </a:rPr>
                            <a:t>1</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zh-CN" sz="1500" kern="100">
                              <a:effectLst/>
                            </a:rPr>
                            <a:t>（</a:t>
                          </a:r>
                          <a:r>
                            <a:rPr lang="en-US" sz="1500" kern="100">
                              <a:effectLst/>
                            </a:rPr>
                            <a:t>42.0</a:t>
                          </a:r>
                          <a:r>
                            <a:rPr lang="zh-CN" sz="1500" kern="100">
                              <a:effectLst/>
                            </a:rPr>
                            <a:t>，</a:t>
                          </a:r>
                          <a:r>
                            <a:rPr lang="en-US" sz="1500" kern="100">
                              <a:effectLst/>
                            </a:rPr>
                            <a:t>44.1</a:t>
                          </a:r>
                          <a:r>
                            <a:rPr lang="zh-CN" sz="1500" kern="100">
                              <a:effectLst/>
                            </a:rPr>
                            <a:t>）</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a:effectLst/>
                            </a:rPr>
                            <a:t>1.71</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a:effectLst/>
                            </a:rPr>
                            <a:t>1.15</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extLst>
                      <a:ext uri="{0D108BD9-81ED-4DB2-BD59-A6C34878D82A}">
                        <a16:rowId xmlns:a16="http://schemas.microsoft.com/office/drawing/2014/main" val="2910338565"/>
                      </a:ext>
                    </a:extLst>
                  </a:tr>
                  <a:tr h="388437">
                    <a:tc>
                      <a:txBody>
                        <a:bodyPr/>
                        <a:lstStyle/>
                        <a:p>
                          <a:pPr indent="304800" algn="ctr"/>
                          <a:r>
                            <a:rPr lang="en-US" sz="1500" kern="100">
                              <a:effectLst/>
                            </a:rPr>
                            <a:t>2</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zh-CN" sz="1500" kern="100">
                              <a:effectLst/>
                            </a:rPr>
                            <a:t>（</a:t>
                          </a:r>
                          <a:r>
                            <a:rPr lang="en-US" sz="1500" kern="100">
                              <a:effectLst/>
                            </a:rPr>
                            <a:t>47.0</a:t>
                          </a:r>
                          <a:r>
                            <a:rPr lang="zh-CN" sz="1500" kern="100">
                              <a:effectLst/>
                            </a:rPr>
                            <a:t>，</a:t>
                          </a:r>
                          <a:r>
                            <a:rPr lang="en-US" sz="1500" kern="100">
                              <a:effectLst/>
                            </a:rPr>
                            <a:t>42.9</a:t>
                          </a:r>
                          <a:r>
                            <a:rPr lang="zh-CN" sz="1500" kern="100">
                              <a:effectLst/>
                            </a:rPr>
                            <a:t>）</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dirty="0">
                              <a:effectLst/>
                            </a:rPr>
                            <a:t>0.96</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a:effectLst/>
                            </a:rPr>
                            <a:t>1.15</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extLst>
                      <a:ext uri="{0D108BD9-81ED-4DB2-BD59-A6C34878D82A}">
                        <a16:rowId xmlns:a16="http://schemas.microsoft.com/office/drawing/2014/main" val="4269939850"/>
                      </a:ext>
                    </a:extLst>
                  </a:tr>
                  <a:tr h="388437">
                    <a:tc>
                      <a:txBody>
                        <a:bodyPr/>
                        <a:lstStyle/>
                        <a:p>
                          <a:pPr indent="304800" algn="ctr"/>
                          <a:r>
                            <a:rPr lang="en-US" sz="1500" kern="100">
                              <a:effectLst/>
                            </a:rPr>
                            <a:t>3</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zh-CN" sz="1500" kern="100" dirty="0">
                              <a:effectLst/>
                            </a:rPr>
                            <a:t>（</a:t>
                          </a:r>
                          <a:r>
                            <a:rPr lang="en-US" sz="1500" kern="100" dirty="0">
                              <a:effectLst/>
                            </a:rPr>
                            <a:t>38.2</a:t>
                          </a:r>
                          <a:r>
                            <a:rPr lang="zh-CN" sz="1500" kern="100" dirty="0">
                              <a:effectLst/>
                            </a:rPr>
                            <a:t>，</a:t>
                          </a:r>
                          <a:r>
                            <a:rPr lang="en-US" sz="1500" kern="100" dirty="0">
                              <a:effectLst/>
                            </a:rPr>
                            <a:t>40.5</a:t>
                          </a:r>
                          <a:r>
                            <a:rPr lang="zh-CN" sz="1500" kern="100" dirty="0">
                              <a:effectLst/>
                            </a:rPr>
                            <a:t>）</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dirty="0">
                              <a:effectLst/>
                            </a:rPr>
                            <a:t>0.69</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a:effectLst/>
                            </a:rPr>
                            <a:t>1.18</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extLst>
                      <a:ext uri="{0D108BD9-81ED-4DB2-BD59-A6C34878D82A}">
                        <a16:rowId xmlns:a16="http://schemas.microsoft.com/office/drawing/2014/main" val="1173711416"/>
                      </a:ext>
                    </a:extLst>
                  </a:tr>
                  <a:tr h="388437">
                    <a:tc>
                      <a:txBody>
                        <a:bodyPr/>
                        <a:lstStyle/>
                        <a:p>
                          <a:pPr indent="304800" algn="ctr"/>
                          <a:r>
                            <a:rPr lang="en-US" sz="1500" kern="100">
                              <a:effectLst/>
                            </a:rPr>
                            <a:t>4</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zh-CN" sz="1500" kern="100">
                              <a:effectLst/>
                            </a:rPr>
                            <a:t>（</a:t>
                          </a:r>
                          <a:r>
                            <a:rPr lang="en-US" sz="1500" kern="100">
                              <a:effectLst/>
                            </a:rPr>
                            <a:t>43.2</a:t>
                          </a:r>
                          <a:r>
                            <a:rPr lang="zh-CN" sz="1500" kern="100">
                              <a:effectLst/>
                            </a:rPr>
                            <a:t>，</a:t>
                          </a:r>
                          <a:r>
                            <a:rPr lang="en-US" sz="1500" kern="100">
                              <a:effectLst/>
                            </a:rPr>
                            <a:t>40.2</a:t>
                          </a:r>
                          <a:r>
                            <a:rPr lang="zh-CN" sz="1500" kern="100">
                              <a:effectLst/>
                            </a:rPr>
                            <a:t>）</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a:effectLst/>
                            </a:rPr>
                            <a:t>3.48</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a:effectLst/>
                            </a:rPr>
                            <a:t>1.18</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extLst>
                      <a:ext uri="{0D108BD9-81ED-4DB2-BD59-A6C34878D82A}">
                        <a16:rowId xmlns:a16="http://schemas.microsoft.com/office/drawing/2014/main" val="284370300"/>
                      </a:ext>
                    </a:extLst>
                  </a:tr>
                  <a:tr h="388437">
                    <a:tc>
                      <a:txBody>
                        <a:bodyPr/>
                        <a:lstStyle/>
                        <a:p>
                          <a:pPr indent="304800" algn="ctr"/>
                          <a:r>
                            <a:rPr lang="en-US" sz="1500" kern="100">
                              <a:effectLst/>
                            </a:rPr>
                            <a:t>5</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zh-CN" sz="1500" kern="100">
                              <a:effectLst/>
                            </a:rPr>
                            <a:t>（</a:t>
                          </a:r>
                          <a:r>
                            <a:rPr lang="en-US" sz="1500" kern="100">
                              <a:effectLst/>
                            </a:rPr>
                            <a:t>47.3</a:t>
                          </a:r>
                          <a:r>
                            <a:rPr lang="zh-CN" sz="1500" kern="100">
                              <a:effectLst/>
                            </a:rPr>
                            <a:t>，</a:t>
                          </a:r>
                          <a:r>
                            <a:rPr lang="en-US" sz="1500" kern="100">
                              <a:effectLst/>
                            </a:rPr>
                            <a:t>39.2</a:t>
                          </a:r>
                          <a:r>
                            <a:rPr lang="zh-CN" sz="1500" kern="100">
                              <a:effectLst/>
                            </a:rPr>
                            <a:t>）</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a:effectLst/>
                            </a:rPr>
                            <a:t>1.79</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a:effectLst/>
                            </a:rPr>
                            <a:t>1.15</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extLst>
                      <a:ext uri="{0D108BD9-81ED-4DB2-BD59-A6C34878D82A}">
                        <a16:rowId xmlns:a16="http://schemas.microsoft.com/office/drawing/2014/main" val="203381037"/>
                      </a:ext>
                    </a:extLst>
                  </a:tr>
                  <a:tr h="388437">
                    <a:tc>
                      <a:txBody>
                        <a:bodyPr/>
                        <a:lstStyle/>
                        <a:p>
                          <a:pPr indent="304800" algn="ctr"/>
                          <a:r>
                            <a:rPr lang="en-US" sz="1500" kern="100">
                              <a:effectLst/>
                            </a:rPr>
                            <a:t>6</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zh-CN" sz="1500" kern="100">
                              <a:effectLst/>
                            </a:rPr>
                            <a:t>（</a:t>
                          </a:r>
                          <a:r>
                            <a:rPr lang="en-US" sz="1500" kern="100">
                              <a:effectLst/>
                            </a:rPr>
                            <a:t>52.3</a:t>
                          </a:r>
                          <a:r>
                            <a:rPr lang="zh-CN" sz="1500" kern="100">
                              <a:effectLst/>
                            </a:rPr>
                            <a:t>，</a:t>
                          </a:r>
                          <a:r>
                            <a:rPr lang="en-US" sz="1500" kern="100">
                              <a:effectLst/>
                            </a:rPr>
                            <a:t>37.2</a:t>
                          </a:r>
                          <a:r>
                            <a:rPr lang="zh-CN" sz="1500" kern="100">
                              <a:effectLst/>
                            </a:rPr>
                            <a:t>）</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a:effectLst/>
                            </a:rPr>
                            <a:t>0.27</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a:effectLst/>
                            </a:rPr>
                            <a:t>1.15</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extLst>
                      <a:ext uri="{0D108BD9-81ED-4DB2-BD59-A6C34878D82A}">
                        <a16:rowId xmlns:a16="http://schemas.microsoft.com/office/drawing/2014/main" val="324879679"/>
                      </a:ext>
                    </a:extLst>
                  </a:tr>
                  <a:tr h="388437">
                    <a:tc>
                      <a:txBody>
                        <a:bodyPr/>
                        <a:lstStyle/>
                        <a:p>
                          <a:pPr indent="304800" algn="ctr"/>
                          <a:r>
                            <a:rPr lang="en-US" altLang="zh-CN" sz="1500" kern="100" dirty="0">
                              <a:effectLst/>
                              <a:latin typeface="等线" panose="02010600030101010101" pitchFamily="2" charset="-122"/>
                              <a:ea typeface="等线" panose="02010600030101010101" pitchFamily="2" charset="-122"/>
                              <a:cs typeface="Times New Roman" panose="02020603050405020304" pitchFamily="18" charset="0"/>
                            </a:rPr>
                            <a:t>7</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zh-CN" sz="1500" kern="100">
                              <a:effectLst/>
                            </a:rPr>
                            <a:t>（</a:t>
                          </a:r>
                          <a:r>
                            <a:rPr lang="en-US" sz="1500" kern="100">
                              <a:effectLst/>
                            </a:rPr>
                            <a:t>33.3</a:t>
                          </a:r>
                          <a:r>
                            <a:rPr lang="zh-CN" sz="1500" kern="100">
                              <a:effectLst/>
                            </a:rPr>
                            <a:t>，</a:t>
                          </a:r>
                          <a:r>
                            <a:rPr lang="en-US" sz="1500" kern="100">
                              <a:effectLst/>
                            </a:rPr>
                            <a:t>43.1</a:t>
                          </a:r>
                          <a:r>
                            <a:rPr lang="zh-CN" sz="1500" kern="100">
                              <a:effectLst/>
                            </a:rPr>
                            <a:t>）</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a:effectLst/>
                            </a:rPr>
                            <a:t>1.56</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a:effectLst/>
                            </a:rPr>
                            <a:t>1.16</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extLst>
                      <a:ext uri="{0D108BD9-81ED-4DB2-BD59-A6C34878D82A}">
                        <a16:rowId xmlns:a16="http://schemas.microsoft.com/office/drawing/2014/main" val="4029138308"/>
                      </a:ext>
                    </a:extLst>
                  </a:tr>
                  <a:tr h="388437">
                    <a:tc>
                      <a:txBody>
                        <a:bodyPr/>
                        <a:lstStyle/>
                        <a:p>
                          <a:pPr indent="304800" algn="ctr"/>
                          <a:r>
                            <a:rPr lang="en-US" altLang="zh-CN" sz="1500" kern="100" dirty="0">
                              <a:effectLst/>
                              <a:latin typeface="等线" panose="02010600030101010101" pitchFamily="2" charset="-122"/>
                              <a:ea typeface="等线" panose="02010600030101010101" pitchFamily="2" charset="-122"/>
                              <a:cs typeface="Times New Roman" panose="02020603050405020304" pitchFamily="18" charset="0"/>
                            </a:rPr>
                            <a:t>8</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zh-CN" sz="1500" kern="100">
                              <a:effectLst/>
                            </a:rPr>
                            <a:t>（</a:t>
                          </a:r>
                          <a:r>
                            <a:rPr lang="en-US" sz="1500" kern="100">
                              <a:effectLst/>
                            </a:rPr>
                            <a:t>31.6</a:t>
                          </a:r>
                          <a:r>
                            <a:rPr lang="zh-CN" sz="1500" kern="100">
                              <a:effectLst/>
                            </a:rPr>
                            <a:t>，</a:t>
                          </a:r>
                          <a:r>
                            <a:rPr lang="en-US" sz="1500" kern="100">
                              <a:effectLst/>
                            </a:rPr>
                            <a:t>39.3</a:t>
                          </a:r>
                          <a:r>
                            <a:rPr lang="zh-CN" sz="1500" kern="100">
                              <a:effectLst/>
                            </a:rPr>
                            <a:t>）</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a:effectLst/>
                            </a:rPr>
                            <a:t>4.77</a:t>
                          </a:r>
                          <a:endParaRPr lang="zh-CN" sz="1500" kern="10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tc>
                      <a:txBody>
                        <a:bodyPr/>
                        <a:lstStyle/>
                        <a:p>
                          <a:pPr indent="304800" algn="ctr"/>
                          <a:r>
                            <a:rPr lang="en-US" sz="1500" kern="100" dirty="0">
                              <a:effectLst/>
                            </a:rPr>
                            <a:t>1.18</a:t>
                          </a:r>
                          <a:endParaRPr lang="zh-CN" sz="15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1435" marR="51435" marT="0" marB="0"/>
                    </a:tc>
                    <a:extLst>
                      <a:ext uri="{0D108BD9-81ED-4DB2-BD59-A6C34878D82A}">
                        <a16:rowId xmlns:a16="http://schemas.microsoft.com/office/drawing/2014/main" val="2227744403"/>
                      </a:ext>
                    </a:extLst>
                  </a:tr>
                </a:tbl>
              </a:graphicData>
            </a:graphic>
          </p:graphicFrame>
        </mc:Fallback>
      </mc:AlternateContent>
      <p:sp>
        <p:nvSpPr>
          <p:cNvPr id="6" name="Rectangle 1">
            <a:extLst>
              <a:ext uri="{FF2B5EF4-FFF2-40B4-BE49-F238E27FC236}">
                <a16:creationId xmlns:a16="http://schemas.microsoft.com/office/drawing/2014/main" id="{97D7123B-9A60-AC71-3A62-D7C41B358145}"/>
              </a:ext>
            </a:extLst>
          </p:cNvPr>
          <p:cNvSpPr>
            <a:spLocks noChangeArrowheads="1"/>
          </p:cNvSpPr>
          <p:nvPr/>
        </p:nvSpPr>
        <p:spPr bwMode="auto">
          <a:xfrm>
            <a:off x="2051720" y="2305908"/>
            <a:ext cx="5406529" cy="6848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lvl1pPr indent="3048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indent="200025" defTabSz="685800"/>
            <a:r>
              <a:rPr lang="zh-CN" altLang="zh-CN" sz="2000" dirty="0">
                <a:latin typeface="等线" panose="02010600030101010101" pitchFamily="2" charset="-122"/>
                <a:ea typeface="等线" panose="02010600030101010101" pitchFamily="2" charset="-122"/>
                <a:cs typeface="Times New Roman" panose="02020603050405020304" pitchFamily="18" charset="0"/>
              </a:rPr>
              <a:t>表</a:t>
            </a:r>
            <a:r>
              <a:rPr lang="zh-CN" altLang="en-US" sz="2000" dirty="0" bmk="">
                <a:latin typeface="等线" panose="02010600030101010101" pitchFamily="2" charset="-122"/>
                <a:ea typeface="等线" panose="02010600030101010101" pitchFamily="2" charset="-122"/>
                <a:cs typeface="Times New Roman" panose="02020603050405020304" pitchFamily="18" charset="0"/>
              </a:rPr>
              <a:t> </a:t>
            </a:r>
            <a:r>
              <a:rPr lang="en-US" altLang="zh-CN" sz="2000" dirty="0" bmk="_Ref164692472">
                <a:latin typeface="等线" panose="02010600030101010101" pitchFamily="2" charset="-122"/>
                <a:ea typeface="等线" panose="02010600030101010101" pitchFamily="2" charset="-122"/>
                <a:cs typeface="Times New Roman" panose="02020603050405020304" pitchFamily="18" charset="0"/>
              </a:rPr>
              <a:t>1</a:t>
            </a:r>
            <a:r>
              <a:rPr lang="en-US" altLang="zh-CN" sz="2000" dirty="0">
                <a:latin typeface="等线" panose="02010600030101010101" pitchFamily="2" charset="-122"/>
                <a:ea typeface="等线" panose="02010600030101010101" pitchFamily="2" charset="-122"/>
                <a:cs typeface="Times New Roman" panose="02020603050405020304" pitchFamily="18" charset="0"/>
              </a:rPr>
              <a:t>  </a:t>
            </a:r>
            <a:r>
              <a:rPr lang="zh-CN" altLang="en-US" sz="2000" dirty="0">
                <a:latin typeface="等线" panose="02010600030101010101" pitchFamily="2" charset="-122"/>
                <a:ea typeface="等线" panose="02010600030101010101" pitchFamily="2" charset="-122"/>
                <a:cs typeface="Times New Roman" panose="02020603050405020304" pitchFamily="18" charset="0"/>
              </a:rPr>
              <a:t>某市部分小区坐标及相关指标</a:t>
            </a:r>
            <a:endParaRPr lang="zh-CN" altLang="en-US" sz="2000" dirty="0"/>
          </a:p>
          <a:p>
            <a:pPr indent="200025" defTabSz="685800"/>
            <a:endParaRPr lang="zh-CN" altLang="en-US" sz="2000" dirty="0"/>
          </a:p>
        </p:txBody>
      </p:sp>
    </p:spTree>
    <p:extLst>
      <p:ext uri="{BB962C8B-B14F-4D97-AF65-F5344CB8AC3E}">
        <p14:creationId xmlns:p14="http://schemas.microsoft.com/office/powerpoint/2010/main" val="36574184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A63FE-44E0-DE9E-E880-92399E8E7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3CF59E44-1C69-26DC-CF21-CC465A76E029}"/>
                  </a:ext>
                </a:extLst>
              </p:cNvPr>
              <p:cNvSpPr txBox="1"/>
              <p:nvPr/>
            </p:nvSpPr>
            <p:spPr>
              <a:xfrm>
                <a:off x="323528" y="908720"/>
                <a:ext cx="8352928" cy="3086679"/>
              </a:xfrm>
              <a:prstGeom prst="rect">
                <a:avLst/>
              </a:prstGeom>
              <a:noFill/>
            </p:spPr>
            <p:txBody>
              <a:bodyPr wrap="square">
                <a:spAutoFit/>
              </a:bodyPr>
              <a:lstStyle/>
              <a:p>
                <a:pPr indent="228600" algn="just">
                  <a:lnSpc>
                    <a:spcPct val="150000"/>
                  </a:lnSpc>
                </a:pPr>
                <a:r>
                  <a:rPr lang="zh-CN" altLang="zh-CN" sz="2200" kern="100" dirty="0">
                    <a:latin typeface="Times New Roman" panose="02020603050405020304" pitchFamily="18" charset="0"/>
                  </a:rPr>
                  <a:t>定义如下变量：</a:t>
                </a:r>
              </a:p>
              <a:p>
                <a:pPr lvl="2">
                  <a:lnSpc>
                    <a:spcPct val="150000"/>
                  </a:lnSpc>
                  <a:buSzPts val="1200"/>
                </a:pPr>
                <a14:m>
                  <m:oMath xmlns:m="http://schemas.openxmlformats.org/officeDocument/2006/math">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𝑥</m:t>
                    </m:r>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sz="2200" kern="100" dirty="0">
                    <a:latin typeface="等线" panose="02010600030101010101" pitchFamily="2" charset="-122"/>
                    <a:ea typeface="等线" panose="02010600030101010101" pitchFamily="2" charset="-122"/>
                    <a:cs typeface="Times New Roman" panose="02020603050405020304" pitchFamily="18" charset="0"/>
                  </a:rPr>
                  <a:t>为服务站的平面坐标；</a:t>
                </a:r>
              </a:p>
              <a:p>
                <a:pPr lvl="2">
                  <a:lnSpc>
                    <a:spcPct val="150000"/>
                  </a:lnSpc>
                  <a:buSzPts val="1200"/>
                </a:pPr>
                <a14:m>
                  <m:oMath xmlns:m="http://schemas.openxmlformats.org/officeDocument/2006/math">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𝑛</m:t>
                    </m:r>
                  </m:oMath>
                </a14:m>
                <a:r>
                  <a:rPr lang="zh-CN" altLang="zh-CN" sz="2200" kern="100" dirty="0">
                    <a:latin typeface="等线" panose="02010600030101010101" pitchFamily="2" charset="-122"/>
                    <a:ea typeface="等线" panose="02010600030101010101" pitchFamily="2" charset="-122"/>
                    <a:cs typeface="Times New Roman" panose="02020603050405020304" pitchFamily="18" charset="0"/>
                  </a:rPr>
                  <a:t>为小区的总数量；</a:t>
                </a:r>
              </a:p>
              <a:p>
                <a:pPr lvl="2">
                  <a:lnSpc>
                    <a:spcPct val="150000"/>
                  </a:lnSpc>
                  <a:buSzPts val="1200"/>
                </a:pPr>
                <a14:m>
                  <m:oMath xmlns:m="http://schemas.openxmlformats.org/officeDocument/2006/math">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𝑐</m:t>
                        </m:r>
                      </m:e>
                      <m:sub>
                        <m:r>
                          <a:rPr lang="en-US" altLang="zh-CN" sz="2200" i="1">
                            <a:latin typeface="Cambria Math" panose="02040503050406030204" pitchFamily="18" charset="0"/>
                          </a:rPr>
                          <m:t>𝑖</m:t>
                        </m:r>
                      </m:sub>
                    </m:sSub>
                    <m:r>
                      <a:rPr lang="en-US" altLang="zh-CN" sz="2200" i="1">
                        <a:latin typeface="Cambria Math" panose="02040503050406030204" pitchFamily="18" charset="0"/>
                      </a:rPr>
                      <m:t>=</m:t>
                    </m:r>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𝑐</m:t>
                        </m:r>
                      </m:e>
                      <m: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𝑖</m:t>
                        </m:r>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𝑐</m:t>
                        </m:r>
                      </m:e>
                      <m: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𝑖</m:t>
                        </m:r>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m:t>
                    </m:r>
                  </m:oMath>
                </a14:m>
                <a:r>
                  <a:rPr lang="zh-CN" altLang="zh-CN" sz="2200" kern="100" dirty="0">
                    <a:latin typeface="等线" panose="02010600030101010101" pitchFamily="2" charset="-122"/>
                    <a:ea typeface="等线" panose="02010600030101010101" pitchFamily="2" charset="-122"/>
                    <a:cs typeface="Times New Roman" panose="02020603050405020304" pitchFamily="18" charset="0"/>
                  </a:rPr>
                  <a:t>为小区中第</a:t>
                </a:r>
                <a14:m>
                  <m:oMath xmlns:m="http://schemas.openxmlformats.org/officeDocument/2006/math">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𝑖</m:t>
                    </m:r>
                  </m:oMath>
                </a14:m>
                <a:r>
                  <a:rPr lang="zh-CN" altLang="zh-CN" sz="2200" kern="100" dirty="0">
                    <a:latin typeface="等线" panose="02010600030101010101" pitchFamily="2" charset="-122"/>
                    <a:ea typeface="等线" panose="02010600030101010101" pitchFamily="2" charset="-122"/>
                    <a:cs typeface="Times New Roman" panose="02020603050405020304" pitchFamily="18" charset="0"/>
                  </a:rPr>
                  <a:t>个小区的坐标（</a:t>
                </a:r>
                <a14:m>
                  <m:oMath xmlns:m="http://schemas.openxmlformats.org/officeDocument/2006/math">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𝑖</m:t>
                    </m:r>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=1,2,…,</m:t>
                    </m:r>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𝑛</m:t>
                    </m:r>
                  </m:oMath>
                </a14:m>
                <a:r>
                  <a:rPr lang="zh-CN" altLang="zh-CN" sz="2200" kern="100" dirty="0">
                    <a:latin typeface="等线" panose="02010600030101010101" pitchFamily="2" charset="-122"/>
                    <a:ea typeface="等线" panose="02010600030101010101" pitchFamily="2" charset="-122"/>
                    <a:cs typeface="Times New Roman" panose="02020603050405020304" pitchFamily="18" charset="0"/>
                  </a:rPr>
                  <a:t>）；</a:t>
                </a:r>
              </a:p>
              <a:p>
                <a:pPr lvl="2">
                  <a:lnSpc>
                    <a:spcPct val="150000"/>
                  </a:lnSpc>
                  <a:buSzPts val="1200"/>
                </a:pPr>
                <a14:m>
                  <m:oMath xmlns:m="http://schemas.openxmlformats.org/officeDocument/2006/math">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𝑖</m:t>
                        </m:r>
                      </m:sub>
                    </m:sSub>
                  </m:oMath>
                </a14:m>
                <a:r>
                  <a:rPr lang="zh-CN" altLang="zh-CN" sz="2200" kern="100" dirty="0">
                    <a:latin typeface="等线" panose="02010600030101010101" pitchFamily="2" charset="-122"/>
                    <a:ea typeface="等线" panose="02010600030101010101" pitchFamily="2" charset="-122"/>
                    <a:cs typeface="Times New Roman" panose="02020603050405020304" pitchFamily="18" charset="0"/>
                  </a:rPr>
                  <a:t>为服务站对小区中第</a:t>
                </a:r>
                <a14:m>
                  <m:oMath xmlns:m="http://schemas.openxmlformats.org/officeDocument/2006/math">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𝑖</m:t>
                    </m:r>
                  </m:oMath>
                </a14:m>
                <a:r>
                  <a:rPr lang="zh-CN" altLang="zh-CN" sz="2200" kern="100" dirty="0">
                    <a:latin typeface="等线" panose="02010600030101010101" pitchFamily="2" charset="-122"/>
                    <a:ea typeface="等线" panose="02010600030101010101" pitchFamily="2" charset="-122"/>
                    <a:cs typeface="Times New Roman" panose="02020603050405020304" pitchFamily="18" charset="0"/>
                  </a:rPr>
                  <a:t>个小区的吸引量（</a:t>
                </a:r>
                <a14:m>
                  <m:oMath xmlns:m="http://schemas.openxmlformats.org/officeDocument/2006/math">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𝑖</m:t>
                    </m:r>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=1,2,…,</m:t>
                    </m:r>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𝑛</m:t>
                    </m:r>
                  </m:oMath>
                </a14:m>
                <a:r>
                  <a:rPr lang="zh-CN" altLang="zh-CN" sz="2200" kern="100" dirty="0">
                    <a:latin typeface="等线" panose="02010600030101010101" pitchFamily="2" charset="-122"/>
                    <a:ea typeface="等线" panose="02010600030101010101" pitchFamily="2" charset="-122"/>
                    <a:cs typeface="Times New Roman" panose="02020603050405020304" pitchFamily="18" charset="0"/>
                  </a:rPr>
                  <a:t>）；</a:t>
                </a:r>
              </a:p>
              <a:p>
                <a:pPr lvl="2">
                  <a:lnSpc>
                    <a:spcPct val="150000"/>
                  </a:lnSpc>
                  <a:buSzPts val="1200"/>
                </a:pPr>
                <a14:m>
                  <m:oMath xmlns:m="http://schemas.openxmlformats.org/officeDocument/2006/math">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𝑤</m:t>
                        </m:r>
                      </m:e>
                      <m: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𝑖</m:t>
                        </m:r>
                      </m:sub>
                    </m:sSub>
                  </m:oMath>
                </a14:m>
                <a:r>
                  <a:rPr lang="zh-CN" altLang="zh-CN" sz="2200" kern="100" dirty="0">
                    <a:latin typeface="等线" panose="02010600030101010101" pitchFamily="2" charset="-122"/>
                    <a:ea typeface="等线" panose="02010600030101010101" pitchFamily="2" charset="-122"/>
                    <a:cs typeface="Times New Roman" panose="02020603050405020304" pitchFamily="18" charset="0"/>
                  </a:rPr>
                  <a:t>为小区中第</a:t>
                </a:r>
                <a14:m>
                  <m:oMath xmlns:m="http://schemas.openxmlformats.org/officeDocument/2006/math">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𝑖</m:t>
                    </m:r>
                  </m:oMath>
                </a14:m>
                <a:r>
                  <a:rPr lang="zh-CN" altLang="zh-CN" sz="2200" kern="100" dirty="0">
                    <a:latin typeface="等线" panose="02010600030101010101" pitchFamily="2" charset="-122"/>
                    <a:ea typeface="等线" panose="02010600030101010101" pitchFamily="2" charset="-122"/>
                    <a:cs typeface="Times New Roman" panose="02020603050405020304" pitchFamily="18" charset="0"/>
                  </a:rPr>
                  <a:t>个小区的权系数（</a:t>
                </a:r>
                <a14:m>
                  <m:oMath xmlns:m="http://schemas.openxmlformats.org/officeDocument/2006/math">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𝑖</m:t>
                    </m:r>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=1,2,…,</m:t>
                    </m:r>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𝑛</m:t>
                    </m:r>
                  </m:oMath>
                </a14:m>
                <a:r>
                  <a:rPr lang="zh-CN" altLang="zh-CN" sz="2200" kern="100" dirty="0">
                    <a:latin typeface="等线" panose="02010600030101010101" pitchFamily="2" charset="-122"/>
                    <a:ea typeface="等线" panose="02010600030101010101" pitchFamily="2" charset="-122"/>
                    <a:cs typeface="Times New Roman" panose="02020603050405020304" pitchFamily="18" charset="0"/>
                  </a:rPr>
                  <a:t>）。</a:t>
                </a:r>
              </a:p>
            </p:txBody>
          </p:sp>
        </mc:Choice>
        <mc:Fallback xmlns="">
          <p:sp>
            <p:nvSpPr>
              <p:cNvPr id="32" name="文本框 31">
                <a:extLst>
                  <a:ext uri="{FF2B5EF4-FFF2-40B4-BE49-F238E27FC236}">
                    <a16:creationId xmlns:a16="http://schemas.microsoft.com/office/drawing/2014/main" id="{3CF59E44-1C69-26DC-CF21-CC465A76E029}"/>
                  </a:ext>
                </a:extLst>
              </p:cNvPr>
              <p:cNvSpPr txBox="1">
                <a:spLocks noRot="1" noChangeAspect="1" noMove="1" noResize="1" noEditPoints="1" noAdjustHandles="1" noChangeArrowheads="1" noChangeShapeType="1" noTextEdit="1"/>
              </p:cNvSpPr>
              <p:nvPr/>
            </p:nvSpPr>
            <p:spPr>
              <a:xfrm>
                <a:off x="323528" y="908720"/>
                <a:ext cx="8352928" cy="3086679"/>
              </a:xfrm>
              <a:prstGeom prst="rect">
                <a:avLst/>
              </a:prstGeom>
              <a:blipFill>
                <a:blip r:embed="rId2"/>
                <a:stretch>
                  <a:fillRect b="-336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466949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28958A5-0CD1-189D-E943-0D8E3378E3BB}"/>
              </a:ext>
            </a:extLst>
          </p:cNvPr>
          <p:cNvSpPr txBox="1"/>
          <p:nvPr/>
        </p:nvSpPr>
        <p:spPr>
          <a:xfrm>
            <a:off x="323528" y="476672"/>
            <a:ext cx="8424936" cy="1551579"/>
          </a:xfrm>
          <a:prstGeom prst="rect">
            <a:avLst/>
          </a:prstGeom>
          <a:noFill/>
        </p:spPr>
        <p:txBody>
          <a:bodyPr wrap="square">
            <a:spAutoFit/>
          </a:bodyPr>
          <a:lstStyle/>
          <a:p>
            <a:pPr indent="228600" algn="just">
              <a:lnSpc>
                <a:spcPct val="150000"/>
              </a:lnSpc>
            </a:pPr>
            <a:r>
              <a:rPr lang="en-US" altLang="zh-CN" sz="2200" kern="100" dirty="0">
                <a:latin typeface="Times New Roman" panose="02020603050405020304" pitchFamily="18" charset="0"/>
              </a:rPr>
              <a:t>   </a:t>
            </a:r>
            <a:r>
              <a:rPr lang="zh-CN" altLang="zh-CN" sz="2200" kern="100" dirty="0">
                <a:latin typeface="Times New Roman" panose="02020603050405020304" pitchFamily="18" charset="0"/>
              </a:rPr>
              <a:t>目标函数：所有小区到服务站的</a:t>
            </a:r>
            <a:r>
              <a:rPr lang="zh-CN" altLang="zh-CN" sz="2200" b="1" kern="100" dirty="0">
                <a:latin typeface="Times New Roman" panose="02020603050405020304" pitchFamily="18" charset="0"/>
              </a:rPr>
              <a:t>综合费用之和</a:t>
            </a:r>
            <a:r>
              <a:rPr lang="zh-CN" altLang="zh-CN" sz="2200" kern="100" dirty="0">
                <a:latin typeface="Times New Roman" panose="02020603050405020304" pitchFamily="18" charset="0"/>
              </a:rPr>
              <a:t>，即每个小区到服务站的距离</a:t>
            </a:r>
            <a:r>
              <a:rPr lang="zh-CN" altLang="en-US" sz="2200" kern="100" dirty="0">
                <a:latin typeface="Times New Roman" panose="02020603050405020304" pitchFamily="18" charset="0"/>
              </a:rPr>
              <a:t>的平方</a:t>
            </a:r>
            <a:r>
              <a:rPr lang="zh-CN" altLang="zh-CN" sz="2200" kern="100" dirty="0">
                <a:latin typeface="Times New Roman" panose="02020603050405020304" pitchFamily="18" charset="0"/>
              </a:rPr>
              <a:t>、服务站对该小区吸引量和该小区权系数乘积之和</a:t>
            </a:r>
            <a:r>
              <a:rPr lang="zh-CN" altLang="en-US" sz="2200" kern="100" dirty="0">
                <a:latin typeface="Times New Roman" panose="02020603050405020304" pitchFamily="18" charset="0"/>
              </a:rPr>
              <a:t>，即</a:t>
            </a:r>
            <a:endParaRPr lang="zh-CN" altLang="zh-CN" sz="2200" kern="100"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8A2CA44B-32F0-245D-BB20-63A0F4119809}"/>
                  </a:ext>
                </a:extLst>
              </p:cNvPr>
              <p:cNvSpPr txBox="1"/>
              <p:nvPr/>
            </p:nvSpPr>
            <p:spPr>
              <a:xfrm>
                <a:off x="1043608" y="2132856"/>
                <a:ext cx="6661075" cy="1016497"/>
              </a:xfrm>
              <a:prstGeom prst="rect">
                <a:avLst/>
              </a:prstGeom>
              <a:noFill/>
            </p:spPr>
            <p:txBody>
              <a:bodyPr wrap="square">
                <a:spAutoFit/>
              </a:bodyPr>
              <a:lstStyle/>
              <a:p>
                <a:pPr algn="just"/>
                <a14:m>
                  <m:oMathPara xmlns:m="http://schemas.openxmlformats.org/officeDocument/2006/math">
                    <m:oMathParaPr>
                      <m:jc m:val="centerGroup"/>
                    </m:oMathParaPr>
                    <m:oMath xmlns:m="http://schemas.openxmlformats.org/officeDocument/2006/math">
                      <m:nary>
                        <m:naryPr>
                          <m:chr m:val="∑"/>
                          <m:limLoc m:val="undOv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𝑖</m:t>
                          </m:r>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𝑛</m:t>
                          </m:r>
                        </m:sup>
                        <m:e>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𝑤</m:t>
                              </m:r>
                            </m:e>
                            <m: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𝑖</m:t>
                              </m:r>
                            </m:sub>
                          </m:sSub>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𝑖</m:t>
                              </m:r>
                            </m:sub>
                          </m:sSub>
                          <m:d>
                            <m:dPr>
                              <m:begChr m:val="["/>
                              <m:endChr m:val="]"/>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cs typeface="Times New Roman" panose="02020603050405020304" pitchFamily="18" charset="0"/>
                                            </a:rPr>
                                            <m:t>𝑥</m:t>
                                          </m:r>
                                        </m:e>
                                        <m:sub>
                                          <m:r>
                                            <a:rPr lang="en-US" altLang="zh-CN" sz="2200" i="1" kern="100">
                                              <a:latin typeface="Cambria Math" panose="02040503050406030204" pitchFamily="18" charset="0"/>
                                              <a:cs typeface="Times New Roman" panose="02020603050405020304" pitchFamily="18" charset="0"/>
                                            </a:rPr>
                                            <m:t>1</m:t>
                                          </m:r>
                                        </m:sub>
                                      </m:sSub>
                                      <m:r>
                                        <a:rPr lang="en-US" altLang="zh-CN" sz="2200" i="1" kern="100">
                                          <a:latin typeface="Cambria Math" panose="02040503050406030204" pitchFamily="18" charset="0"/>
                                          <a:cs typeface="Times New Roman" panose="02020603050405020304" pitchFamily="18" charset="0"/>
                                        </a:rPr>
                                        <m:t>−</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cs typeface="Times New Roman" panose="02020603050405020304" pitchFamily="18" charset="0"/>
                                            </a:rPr>
                                            <m:t>𝑐</m:t>
                                          </m:r>
                                        </m:e>
                                        <m:sub>
                                          <m:r>
                                            <a:rPr lang="en-US" altLang="zh-CN" sz="2200" i="1" kern="100">
                                              <a:latin typeface="Cambria Math" panose="02040503050406030204" pitchFamily="18" charset="0"/>
                                              <a:cs typeface="Times New Roman" panose="02020603050405020304" pitchFamily="18" charset="0"/>
                                            </a:rPr>
                                            <m:t>𝑖</m:t>
                                          </m:r>
                                          <m:r>
                                            <a:rPr lang="en-US" altLang="zh-CN" sz="2200" i="1" kern="100">
                                              <a:latin typeface="Cambria Math" panose="02040503050406030204" pitchFamily="18" charset="0"/>
                                              <a:cs typeface="Times New Roman" panose="02020603050405020304" pitchFamily="18" charset="0"/>
                                            </a:rPr>
                                            <m:t>1</m:t>
                                          </m:r>
                                        </m:sub>
                                      </m:sSub>
                                    </m:e>
                                  </m:d>
                                </m:e>
                                <m:sup>
                                  <m:r>
                                    <a:rPr lang="en-US" altLang="zh-CN" sz="2200" i="1" kern="100">
                                      <a:latin typeface="Cambria Math" panose="02040503050406030204" pitchFamily="18" charset="0"/>
                                      <a:cs typeface="Times New Roman" panose="02020603050405020304" pitchFamily="18" charset="0"/>
                                    </a:rPr>
                                    <m:t>2</m:t>
                                  </m:r>
                                </m:sup>
                              </m:sSup>
                              <m:r>
                                <a:rPr lang="en-US" altLang="zh-CN" sz="2200" i="1" kern="100">
                                  <a:latin typeface="Cambria Math" panose="02040503050406030204" pitchFamily="18" charset="0"/>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cs typeface="Times New Roman" panose="02020603050405020304" pitchFamily="18" charset="0"/>
                                            </a:rPr>
                                            <m:t>𝑥</m:t>
                                          </m:r>
                                        </m:e>
                                        <m:sub>
                                          <m:r>
                                            <a:rPr lang="en-US" altLang="zh-CN" sz="2200" i="1" kern="100">
                                              <a:latin typeface="Cambria Math" panose="02040503050406030204" pitchFamily="18" charset="0"/>
                                              <a:cs typeface="Times New Roman" panose="02020603050405020304" pitchFamily="18" charset="0"/>
                                            </a:rPr>
                                            <m:t>2</m:t>
                                          </m:r>
                                        </m:sub>
                                      </m:sSub>
                                      <m:r>
                                        <a:rPr lang="en-US" altLang="zh-CN" sz="2200" i="1" kern="100">
                                          <a:latin typeface="Cambria Math" panose="02040503050406030204" pitchFamily="18" charset="0"/>
                                          <a:cs typeface="Times New Roman" panose="02020603050405020304" pitchFamily="18" charset="0"/>
                                        </a:rPr>
                                        <m:t>−</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cs typeface="Times New Roman" panose="02020603050405020304" pitchFamily="18" charset="0"/>
                                            </a:rPr>
                                            <m:t>𝑐</m:t>
                                          </m:r>
                                        </m:e>
                                        <m:sub>
                                          <m:r>
                                            <a:rPr lang="en-US" altLang="zh-CN" sz="2200" i="1" kern="100">
                                              <a:latin typeface="Cambria Math" panose="02040503050406030204" pitchFamily="18" charset="0"/>
                                              <a:cs typeface="Times New Roman" panose="02020603050405020304" pitchFamily="18" charset="0"/>
                                            </a:rPr>
                                            <m:t>𝑖</m:t>
                                          </m:r>
                                          <m:r>
                                            <a:rPr lang="en-US" altLang="zh-CN" sz="2200" i="1" kern="100">
                                              <a:latin typeface="Cambria Math" panose="02040503050406030204" pitchFamily="18" charset="0"/>
                                              <a:cs typeface="Times New Roman" panose="02020603050405020304" pitchFamily="18" charset="0"/>
                                            </a:rPr>
                                            <m:t>2</m:t>
                                          </m:r>
                                        </m:sub>
                                      </m:sSub>
                                    </m:e>
                                  </m:d>
                                </m:e>
                                <m:sup>
                                  <m:r>
                                    <a:rPr lang="en-US" altLang="zh-CN" sz="2200" i="1" kern="100">
                                      <a:latin typeface="Cambria Math" panose="02040503050406030204" pitchFamily="18" charset="0"/>
                                      <a:cs typeface="Times New Roman" panose="02020603050405020304" pitchFamily="18" charset="0"/>
                                    </a:rPr>
                                    <m:t>2</m:t>
                                  </m:r>
                                </m:sup>
                              </m:sSup>
                            </m:e>
                          </m:d>
                        </m:e>
                      </m:nary>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m:t>
                      </m:r>
                      <m:nary>
                        <m:naryPr>
                          <m:chr m:val="∑"/>
                          <m:limLoc m:val="undOv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𝑖</m:t>
                          </m:r>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𝑛</m:t>
                          </m:r>
                        </m:sup>
                        <m:e>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𝑤</m:t>
                              </m:r>
                            </m:e>
                            <m: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𝑖</m:t>
                              </m:r>
                            </m:sub>
                          </m:sSub>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𝑞</m:t>
                              </m:r>
                            </m:e>
                            <m:sub>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𝑖</m:t>
                              </m:r>
                            </m:sub>
                          </m:sSub>
                          <m:sSup>
                            <m:sSupPr>
                              <m:ctrlPr>
                                <a:rPr lang="en-US" altLang="zh-CN" sz="2200" i="1" kern="100">
                                  <a:latin typeface="Cambria Math" panose="02040503050406030204" pitchFamily="18" charset="0"/>
                                  <a:ea typeface="等线" panose="02010600030101010101" pitchFamily="2" charset="-122"/>
                                  <a:cs typeface="Times New Roman" panose="02020603050405020304" pitchFamily="18" charset="0"/>
                                </a:rPr>
                              </m:ctrlPr>
                            </m:sSupPr>
                            <m:e>
                              <m:d>
                                <m:dPr>
                                  <m:begChr m:val="‖"/>
                                  <m:endChr m:val="‖"/>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200" i="1" kern="100">
                                      <a:latin typeface="Cambria Math" panose="02040503050406030204" pitchFamily="18" charset="0"/>
                                      <a:cs typeface="Times New Roman" panose="02020603050405020304" pitchFamily="18" charset="0"/>
                                    </a:rPr>
                                    <m:t>𝑥</m:t>
                                  </m:r>
                                  <m:r>
                                    <a:rPr lang="en-US" altLang="zh-CN" sz="2200" i="1" kern="100">
                                      <a:latin typeface="Cambria Math" panose="02040503050406030204" pitchFamily="18" charset="0"/>
                                      <a:cs typeface="Times New Roman" panose="02020603050405020304" pitchFamily="18" charset="0"/>
                                    </a:rPr>
                                    <m:t>−</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cs typeface="Times New Roman" panose="02020603050405020304" pitchFamily="18" charset="0"/>
                                        </a:rPr>
                                        <m:t>𝑐</m:t>
                                      </m:r>
                                    </m:e>
                                    <m:sub>
                                      <m:r>
                                        <a:rPr lang="en-US" altLang="zh-CN" sz="2200" i="1" kern="100">
                                          <a:latin typeface="Cambria Math" panose="02040503050406030204" pitchFamily="18" charset="0"/>
                                          <a:cs typeface="Times New Roman" panose="02020603050405020304" pitchFamily="18" charset="0"/>
                                        </a:rPr>
                                        <m:t>𝑖</m:t>
                                      </m:r>
                                    </m:sub>
                                  </m:sSub>
                                </m:e>
                              </m:d>
                            </m:e>
                            <m:sup>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2</m:t>
                              </m:r>
                            </m:sup>
                          </m:sSup>
                        </m:e>
                      </m:nary>
                    </m:oMath>
                  </m:oMathPara>
                </a14:m>
                <a:endParaRPr lang="zh-CN" altLang="zh-CN" sz="2200"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8A2CA44B-32F0-245D-BB20-63A0F4119809}"/>
                  </a:ext>
                </a:extLst>
              </p:cNvPr>
              <p:cNvSpPr txBox="1">
                <a:spLocks noRot="1" noChangeAspect="1" noMove="1" noResize="1" noEditPoints="1" noAdjustHandles="1" noChangeArrowheads="1" noChangeShapeType="1" noTextEdit="1"/>
              </p:cNvSpPr>
              <p:nvPr/>
            </p:nvSpPr>
            <p:spPr>
              <a:xfrm>
                <a:off x="1043608" y="2132856"/>
                <a:ext cx="6661075" cy="1016497"/>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EF78A0B5-7FB9-8F27-9648-9C9C2C9B558C}"/>
                  </a:ext>
                </a:extLst>
              </p:cNvPr>
              <p:cNvSpPr txBox="1"/>
              <p:nvPr/>
            </p:nvSpPr>
            <p:spPr>
              <a:xfrm>
                <a:off x="755576" y="3573016"/>
                <a:ext cx="7830787" cy="1986441"/>
              </a:xfrm>
              <a:prstGeom prst="rect">
                <a:avLst/>
              </a:prstGeom>
              <a:noFill/>
            </p:spPr>
            <p:txBody>
              <a:bodyPr wrap="square">
                <a:spAutoFit/>
              </a:bodyPr>
              <a:lstStyle/>
              <a:p>
                <a:pPr indent="95250" algn="just">
                  <a:lnSpc>
                    <a:spcPct val="150000"/>
                  </a:lnSpc>
                </a:pPr>
                <a:r>
                  <a:rPr lang="zh-CN" altLang="zh-CN" sz="2200" kern="100" dirty="0">
                    <a:latin typeface="Times New Roman" panose="02020603050405020304" pitchFamily="18" charset="0"/>
                  </a:rPr>
                  <a:t>因此，</a:t>
                </a:r>
                <a:r>
                  <a:rPr lang="zh-CN" altLang="en-US" sz="2200" kern="100" dirty="0">
                    <a:latin typeface="Times New Roman" panose="02020603050405020304" pitchFamily="18" charset="0"/>
                  </a:rPr>
                  <a:t>建立数学</a:t>
                </a:r>
                <a:r>
                  <a:rPr lang="zh-CN" altLang="zh-CN" sz="2200" kern="100" dirty="0">
                    <a:latin typeface="Times New Roman" panose="02020603050405020304" pitchFamily="18" charset="0"/>
                  </a:rPr>
                  <a:t>模型：</a:t>
                </a:r>
                <a:endParaRPr lang="en-US" altLang="zh-CN" sz="2200" kern="100" dirty="0">
                  <a:latin typeface="Times New Roman" panose="02020603050405020304" pitchFamily="18" charset="0"/>
                </a:endParaRPr>
              </a:p>
              <a:p>
                <a:pPr indent="95250" algn="just">
                  <a:lnSpc>
                    <a:spcPct val="150000"/>
                  </a:lnSpc>
                </a:pPr>
                <a14:m>
                  <m:oMathPara xmlns:m="http://schemas.openxmlformats.org/officeDocument/2006/math">
                    <m:oMathParaPr>
                      <m:jc m:val="centerGroup"/>
                    </m:oMathParaPr>
                    <m:oMath xmlns:m="http://schemas.openxmlformats.org/officeDocument/2006/math">
                      <m:func>
                        <m:funcPr>
                          <m:ctrlPr>
                            <a:rPr lang="en-US" altLang="zh-CN" sz="2200" i="1" kern="100">
                              <a:latin typeface="Cambria Math" panose="02040503050406030204" pitchFamily="18" charset="0"/>
                              <a:ea typeface="等线" panose="02010600030101010101" pitchFamily="2" charset="-122"/>
                              <a:cs typeface="Times New Roman" panose="02020603050405020304" pitchFamily="18" charset="0"/>
                            </a:rPr>
                          </m:ctrlPr>
                        </m:funcPr>
                        <m:fName>
                          <m:limLow>
                            <m:limLowPr>
                              <m:ctrlPr>
                                <a:rPr lang="en-US" altLang="zh-CN" sz="2200" i="1" kern="100">
                                  <a:latin typeface="Cambria Math" panose="02040503050406030204" pitchFamily="18" charset="0"/>
                                  <a:ea typeface="等线" panose="02010600030101010101" pitchFamily="2" charset="-122"/>
                                  <a:cs typeface="Times New Roman" panose="02020603050405020304" pitchFamily="18" charset="0"/>
                                </a:rPr>
                              </m:ctrlPr>
                            </m:limLowPr>
                            <m:e>
                              <m:r>
                                <m:rPr>
                                  <m:sty m:val="p"/>
                                </m:rPr>
                                <a:rPr lang="en-US" altLang="zh-CN" sz="2200" kern="100">
                                  <a:latin typeface="Cambria Math" panose="02040503050406030204" pitchFamily="18" charset="0"/>
                                  <a:ea typeface="等线" panose="02010600030101010101" pitchFamily="2" charset="-122"/>
                                  <a:cs typeface="Times New Roman" panose="02020603050405020304" pitchFamily="18" charset="0"/>
                                </a:rPr>
                                <m:t>min</m:t>
                              </m:r>
                            </m:e>
                            <m:lim>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𝑥</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𝑅</m:t>
                                  </m:r>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2</m:t>
                                  </m:r>
                                </m:sup>
                              </m:sSup>
                            </m:lim>
                          </m:limLow>
                        </m:fName>
                        <m:e>
                          <m:nary>
                            <m:naryPr>
                              <m:chr m:val="∑"/>
                              <m:limLoc m:val="undOv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200" i="1" kern="100">
                                  <a:latin typeface="Cambria Math" panose="02040503050406030204" pitchFamily="18" charset="0"/>
                                  <a:cs typeface="Times New Roman" panose="02020603050405020304" pitchFamily="18" charset="0"/>
                                </a:rPr>
                                <m:t>𝑖</m:t>
                              </m:r>
                              <m:r>
                                <a:rPr lang="en-US" altLang="zh-CN" sz="2200" i="1" kern="100">
                                  <a:latin typeface="Cambria Math" panose="02040503050406030204" pitchFamily="18" charset="0"/>
                                  <a:cs typeface="Times New Roman" panose="02020603050405020304" pitchFamily="18" charset="0"/>
                                </a:rPr>
                                <m:t>=1</m:t>
                              </m:r>
                            </m:sub>
                            <m:sup>
                              <m:r>
                                <a:rPr lang="en-US" altLang="zh-CN" sz="2200" i="1" kern="100">
                                  <a:latin typeface="Cambria Math" panose="02040503050406030204" pitchFamily="18" charset="0"/>
                                  <a:cs typeface="Times New Roman" panose="02020603050405020304" pitchFamily="18" charset="0"/>
                                </a:rPr>
                                <m:t>𝑛</m:t>
                              </m:r>
                            </m:sup>
                            <m:e>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cs typeface="Times New Roman" panose="02020603050405020304" pitchFamily="18" charset="0"/>
                                    </a:rPr>
                                    <m:t>𝑤</m:t>
                                  </m:r>
                                </m:e>
                                <m:sub>
                                  <m:r>
                                    <a:rPr lang="en-US" altLang="zh-CN" sz="2200" i="1" kern="100">
                                      <a:latin typeface="Cambria Math" panose="02040503050406030204" pitchFamily="18" charset="0"/>
                                      <a:cs typeface="Times New Roman" panose="02020603050405020304" pitchFamily="18" charset="0"/>
                                    </a:rPr>
                                    <m:t>𝑖</m:t>
                                  </m:r>
                                </m:sub>
                              </m:sSub>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cs typeface="Times New Roman" panose="02020603050405020304" pitchFamily="18" charset="0"/>
                                    </a:rPr>
                                    <m:t>𝑞</m:t>
                                  </m:r>
                                </m:e>
                                <m:sub>
                                  <m:r>
                                    <a:rPr lang="en-US" altLang="zh-CN" sz="2200" i="1" kern="100">
                                      <a:latin typeface="Cambria Math" panose="02040503050406030204" pitchFamily="18" charset="0"/>
                                      <a:cs typeface="Times New Roman" panose="02020603050405020304" pitchFamily="18" charset="0"/>
                                    </a:rPr>
                                    <m:t>𝑖</m:t>
                                  </m:r>
                                </m:sub>
                              </m:sSub>
                              <m:sSup>
                                <m:sSupPr>
                                  <m:ctrlPr>
                                    <a:rPr lang="en-US" altLang="zh-CN" sz="2200" i="1" kern="100">
                                      <a:latin typeface="Cambria Math" panose="02040503050406030204" pitchFamily="18" charset="0"/>
                                      <a:cs typeface="Times New Roman" panose="02020603050405020304" pitchFamily="18" charset="0"/>
                                    </a:rPr>
                                  </m:ctrlPr>
                                </m:sSupPr>
                                <m:e>
                                  <m:d>
                                    <m:dPr>
                                      <m:begChr m:val="‖"/>
                                      <m:endChr m:val="‖"/>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200" i="1" kern="100">
                                          <a:latin typeface="Cambria Math" panose="02040503050406030204" pitchFamily="18" charset="0"/>
                                          <a:cs typeface="Times New Roman" panose="02020603050405020304" pitchFamily="18" charset="0"/>
                                        </a:rPr>
                                        <m:t>𝑥</m:t>
                                      </m:r>
                                      <m:r>
                                        <a:rPr lang="en-US" altLang="zh-CN" sz="2200" i="1" kern="100">
                                          <a:latin typeface="Cambria Math" panose="02040503050406030204" pitchFamily="18" charset="0"/>
                                          <a:cs typeface="Times New Roman" panose="02020603050405020304" pitchFamily="18" charset="0"/>
                                        </a:rPr>
                                        <m:t>−</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cs typeface="Times New Roman" panose="02020603050405020304" pitchFamily="18" charset="0"/>
                                            </a:rPr>
                                            <m:t>𝑐</m:t>
                                          </m:r>
                                        </m:e>
                                        <m:sub>
                                          <m:r>
                                            <a:rPr lang="en-US" altLang="zh-CN" sz="2200" i="1" kern="100">
                                              <a:latin typeface="Cambria Math" panose="02040503050406030204" pitchFamily="18" charset="0"/>
                                              <a:cs typeface="Times New Roman" panose="02020603050405020304" pitchFamily="18" charset="0"/>
                                            </a:rPr>
                                            <m:t>𝑖</m:t>
                                          </m:r>
                                        </m:sub>
                                      </m:sSub>
                                    </m:e>
                                  </m:d>
                                </m:e>
                                <m:sup>
                                  <m:r>
                                    <a:rPr lang="en-US" altLang="zh-CN" sz="2200" i="1" kern="100">
                                      <a:latin typeface="Cambria Math" panose="02040503050406030204" pitchFamily="18" charset="0"/>
                                      <a:cs typeface="Times New Roman" panose="02020603050405020304" pitchFamily="18" charset="0"/>
                                    </a:rPr>
                                    <m:t>2</m:t>
                                  </m:r>
                                </m:sup>
                              </m:sSup>
                            </m:e>
                          </m:nary>
                        </m:e>
                      </m:func>
                    </m:oMath>
                  </m:oMathPara>
                </a14:m>
                <a:endParaRPr lang="zh-CN" altLang="zh-CN" sz="2200" kern="100" dirty="0">
                  <a:latin typeface="Times New Roman" panose="02020603050405020304" pitchFamily="18" charset="0"/>
                </a:endParaRPr>
              </a:p>
            </p:txBody>
          </p:sp>
        </mc:Choice>
        <mc:Fallback xmlns="">
          <p:sp>
            <p:nvSpPr>
              <p:cNvPr id="2" name="文本框 1">
                <a:extLst>
                  <a:ext uri="{FF2B5EF4-FFF2-40B4-BE49-F238E27FC236}">
                    <a16:creationId xmlns:a16="http://schemas.microsoft.com/office/drawing/2014/main" id="{EF78A0B5-7FB9-8F27-9648-9C9C2C9B558C}"/>
                  </a:ext>
                </a:extLst>
              </p:cNvPr>
              <p:cNvSpPr txBox="1">
                <a:spLocks noRot="1" noChangeAspect="1" noMove="1" noResize="1" noEditPoints="1" noAdjustHandles="1" noChangeArrowheads="1" noChangeShapeType="1" noTextEdit="1"/>
              </p:cNvSpPr>
              <p:nvPr/>
            </p:nvSpPr>
            <p:spPr>
              <a:xfrm>
                <a:off x="755576" y="3573016"/>
                <a:ext cx="7830787" cy="1986441"/>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90941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FC1CEC78-BD8D-6688-29E7-335EA6586253}"/>
                  </a:ext>
                </a:extLst>
              </p:cNvPr>
              <p:cNvSpPr txBox="1"/>
              <p:nvPr/>
            </p:nvSpPr>
            <p:spPr>
              <a:xfrm>
                <a:off x="539552" y="692696"/>
                <a:ext cx="7614846" cy="1382623"/>
              </a:xfrm>
              <a:prstGeom prst="rect">
                <a:avLst/>
              </a:prstGeom>
              <a:noFill/>
            </p:spPr>
            <p:txBody>
              <a:bodyPr wrap="square">
                <a:spAutoFit/>
              </a:bodyPr>
              <a:lstStyle/>
              <a:p>
                <a:pPr indent="95250" algn="just"/>
                <a:r>
                  <a:rPr lang="zh-CN" altLang="zh-CN" sz="2200" kern="100" dirty="0">
                    <a:latin typeface="Times New Roman" panose="02020603050405020304" pitchFamily="18" charset="0"/>
                  </a:rPr>
                  <a:t>数学模型</a:t>
                </a:r>
                <a:r>
                  <a:rPr lang="zh-CN" altLang="en-US" sz="2200" kern="100" dirty="0">
                    <a:latin typeface="Times New Roman" panose="02020603050405020304" pitchFamily="18" charset="0"/>
                  </a:rPr>
                  <a:t>（无约束优化问题）</a:t>
                </a:r>
                <a:r>
                  <a:rPr lang="zh-CN" altLang="zh-CN" sz="2200" kern="100" dirty="0">
                    <a:latin typeface="Times New Roman" panose="02020603050405020304" pitchFamily="18" charset="0"/>
                  </a:rPr>
                  <a:t>：</a:t>
                </a:r>
                <a:endParaRPr lang="en-US" altLang="zh-CN" sz="2200" kern="100" dirty="0">
                  <a:latin typeface="Times New Roman" panose="02020603050405020304" pitchFamily="18" charset="0"/>
                </a:endParaRPr>
              </a:p>
              <a:p>
                <a:pPr indent="95250" algn="just"/>
                <a14:m>
                  <m:oMathPara xmlns:m="http://schemas.openxmlformats.org/officeDocument/2006/math">
                    <m:oMathParaPr>
                      <m:jc m:val="centerGroup"/>
                    </m:oMathParaPr>
                    <m:oMath xmlns:m="http://schemas.openxmlformats.org/officeDocument/2006/math">
                      <m:func>
                        <m:funcPr>
                          <m:ctrlPr>
                            <a:rPr lang="en-US" altLang="zh-CN" sz="2200" i="1" kern="100">
                              <a:latin typeface="Cambria Math" panose="02040503050406030204" pitchFamily="18" charset="0"/>
                              <a:ea typeface="等线" panose="02010600030101010101" pitchFamily="2" charset="-122"/>
                              <a:cs typeface="Times New Roman" panose="02020603050405020304" pitchFamily="18" charset="0"/>
                            </a:rPr>
                          </m:ctrlPr>
                        </m:funcPr>
                        <m:fName>
                          <m:limLow>
                            <m:limLowPr>
                              <m:ctrlPr>
                                <a:rPr lang="en-US" altLang="zh-CN" sz="2200" i="1" kern="100">
                                  <a:latin typeface="Cambria Math" panose="02040503050406030204" pitchFamily="18" charset="0"/>
                                  <a:ea typeface="等线" panose="02010600030101010101" pitchFamily="2" charset="-122"/>
                                  <a:cs typeface="Times New Roman" panose="02020603050405020304" pitchFamily="18" charset="0"/>
                                </a:rPr>
                              </m:ctrlPr>
                            </m:limLowPr>
                            <m:e>
                              <m:r>
                                <m:rPr>
                                  <m:sty m:val="p"/>
                                </m:rPr>
                                <a:rPr lang="en-US" altLang="zh-CN" sz="2200" kern="100">
                                  <a:latin typeface="Cambria Math" panose="02040503050406030204" pitchFamily="18" charset="0"/>
                                  <a:ea typeface="等线" panose="02010600030101010101" pitchFamily="2" charset="-122"/>
                                  <a:cs typeface="Times New Roman" panose="02020603050405020304" pitchFamily="18" charset="0"/>
                                </a:rPr>
                                <m:t>min</m:t>
                              </m:r>
                            </m:e>
                            <m:lim>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𝑥</m:t>
                              </m:r>
                            </m:lim>
                          </m:limLow>
                        </m:fName>
                        <m:e>
                          <m:r>
                            <a:rPr lang="en-US" altLang="zh-CN" sz="2200" b="0" i="1" kern="100" smtClean="0">
                              <a:latin typeface="Cambria Math" panose="02040503050406030204" pitchFamily="18" charset="0"/>
                              <a:ea typeface="等线" panose="02010600030101010101" pitchFamily="2" charset="-122"/>
                              <a:cs typeface="Times New Roman" panose="02020603050405020304" pitchFamily="18" charset="0"/>
                            </a:rPr>
                            <m:t>𝑓</m:t>
                          </m:r>
                          <m:d>
                            <m:dPr>
                              <m:ctrlPr>
                                <a:rPr lang="en-US" altLang="zh-CN" sz="2200" b="0" i="1" kern="100" smtClean="0">
                                  <a:latin typeface="Cambria Math" panose="02040503050406030204" pitchFamily="18" charset="0"/>
                                  <a:ea typeface="等线" panose="02010600030101010101" pitchFamily="2" charset="-122"/>
                                  <a:cs typeface="Times New Roman" panose="02020603050405020304" pitchFamily="18" charset="0"/>
                                </a:rPr>
                              </m:ctrlPr>
                            </m:dPr>
                            <m:e>
                              <m:r>
                                <a:rPr lang="en-US" altLang="zh-CN" sz="2200" b="0" i="1" kern="100" smtClean="0">
                                  <a:latin typeface="Cambria Math" panose="02040503050406030204" pitchFamily="18" charset="0"/>
                                  <a:ea typeface="等线" panose="02010600030101010101" pitchFamily="2" charset="-122"/>
                                  <a:cs typeface="Times New Roman" panose="02020603050405020304" pitchFamily="18" charset="0"/>
                                </a:rPr>
                                <m:t>𝑥</m:t>
                              </m:r>
                            </m:e>
                          </m:d>
                          <m:r>
                            <a:rPr lang="en-US" altLang="zh-CN" sz="2200" b="0" i="1" kern="100" smtClean="0">
                              <a:latin typeface="Cambria Math" panose="02040503050406030204" pitchFamily="18" charset="0"/>
                              <a:ea typeface="等线" panose="02010600030101010101" pitchFamily="2" charset="-122"/>
                              <a:cs typeface="Times New Roman" panose="02020603050405020304" pitchFamily="18" charset="0"/>
                            </a:rPr>
                            <m:t>:=</m:t>
                          </m:r>
                          <m:nary>
                            <m:naryPr>
                              <m:chr m:val="∑"/>
                              <m:limLoc m:val="undOv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200" i="1" kern="100">
                                  <a:latin typeface="Cambria Math" panose="02040503050406030204" pitchFamily="18" charset="0"/>
                                  <a:cs typeface="Times New Roman" panose="02020603050405020304" pitchFamily="18" charset="0"/>
                                </a:rPr>
                                <m:t>𝑖</m:t>
                              </m:r>
                              <m:r>
                                <a:rPr lang="en-US" altLang="zh-CN" sz="2200" i="1" kern="100">
                                  <a:latin typeface="Cambria Math" panose="02040503050406030204" pitchFamily="18" charset="0"/>
                                  <a:cs typeface="Times New Roman" panose="02020603050405020304" pitchFamily="18" charset="0"/>
                                </a:rPr>
                                <m:t>=1</m:t>
                              </m:r>
                            </m:sub>
                            <m:sup>
                              <m:r>
                                <a:rPr lang="en-US" altLang="zh-CN" sz="2200" i="1" kern="100">
                                  <a:latin typeface="Cambria Math" panose="02040503050406030204" pitchFamily="18" charset="0"/>
                                  <a:cs typeface="Times New Roman" panose="02020603050405020304" pitchFamily="18" charset="0"/>
                                </a:rPr>
                                <m:t>8</m:t>
                              </m:r>
                            </m:sup>
                            <m:e>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cs typeface="Times New Roman" panose="02020603050405020304" pitchFamily="18" charset="0"/>
                                    </a:rPr>
                                    <m:t>𝑤</m:t>
                                  </m:r>
                                </m:e>
                                <m:sub>
                                  <m:r>
                                    <a:rPr lang="en-US" altLang="zh-CN" sz="2200" i="1" kern="100">
                                      <a:latin typeface="Cambria Math" panose="02040503050406030204" pitchFamily="18" charset="0"/>
                                      <a:cs typeface="Times New Roman" panose="02020603050405020304" pitchFamily="18" charset="0"/>
                                    </a:rPr>
                                    <m:t>𝑖</m:t>
                                  </m:r>
                                </m:sub>
                              </m:sSub>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cs typeface="Times New Roman" panose="02020603050405020304" pitchFamily="18" charset="0"/>
                                    </a:rPr>
                                    <m:t>𝑞</m:t>
                                  </m:r>
                                </m:e>
                                <m:sub>
                                  <m:r>
                                    <a:rPr lang="en-US" altLang="zh-CN" sz="2200" i="1" kern="100">
                                      <a:latin typeface="Cambria Math" panose="02040503050406030204" pitchFamily="18" charset="0"/>
                                      <a:cs typeface="Times New Roman" panose="02020603050405020304" pitchFamily="18" charset="0"/>
                                    </a:rPr>
                                    <m:t>𝑖</m:t>
                                  </m:r>
                                </m:sub>
                              </m:sSub>
                              <m:sSup>
                                <m:sSupPr>
                                  <m:ctrlPr>
                                    <a:rPr lang="en-US" altLang="zh-CN" sz="2200" i="1" kern="100">
                                      <a:latin typeface="Cambria Math" panose="02040503050406030204" pitchFamily="18" charset="0"/>
                                      <a:cs typeface="Times New Roman" panose="02020603050405020304" pitchFamily="18" charset="0"/>
                                    </a:rPr>
                                  </m:ctrlPr>
                                </m:sSupPr>
                                <m:e>
                                  <m:d>
                                    <m:dPr>
                                      <m:begChr m:val="‖"/>
                                      <m:endChr m:val="‖"/>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200" i="1" kern="100">
                                          <a:latin typeface="Cambria Math" panose="02040503050406030204" pitchFamily="18" charset="0"/>
                                          <a:cs typeface="Times New Roman" panose="02020603050405020304" pitchFamily="18" charset="0"/>
                                        </a:rPr>
                                        <m:t>𝑥</m:t>
                                      </m:r>
                                      <m:r>
                                        <a:rPr lang="en-US" altLang="zh-CN" sz="2200" i="1" kern="100">
                                          <a:latin typeface="Cambria Math" panose="02040503050406030204" pitchFamily="18" charset="0"/>
                                          <a:cs typeface="Times New Roman" panose="02020603050405020304" pitchFamily="18" charset="0"/>
                                        </a:rPr>
                                        <m:t>−</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cs typeface="Times New Roman" panose="02020603050405020304" pitchFamily="18" charset="0"/>
                                            </a:rPr>
                                            <m:t>𝑐</m:t>
                                          </m:r>
                                        </m:e>
                                        <m:sub>
                                          <m:r>
                                            <a:rPr lang="en-US" altLang="zh-CN" sz="2200" i="1" kern="100">
                                              <a:latin typeface="Cambria Math" panose="02040503050406030204" pitchFamily="18" charset="0"/>
                                              <a:cs typeface="Times New Roman" panose="02020603050405020304" pitchFamily="18" charset="0"/>
                                            </a:rPr>
                                            <m:t>𝑖</m:t>
                                          </m:r>
                                        </m:sub>
                                      </m:sSub>
                                    </m:e>
                                  </m:d>
                                </m:e>
                                <m:sup>
                                  <m:r>
                                    <a:rPr lang="en-US" altLang="zh-CN" sz="2200" i="1" kern="100">
                                      <a:latin typeface="Cambria Math" panose="02040503050406030204" pitchFamily="18" charset="0"/>
                                      <a:cs typeface="Times New Roman" panose="02020603050405020304" pitchFamily="18" charset="0"/>
                                    </a:rPr>
                                    <m:t>2</m:t>
                                  </m:r>
                                </m:sup>
                              </m:sSup>
                            </m:e>
                          </m:nary>
                        </m:e>
                      </m:func>
                    </m:oMath>
                  </m:oMathPara>
                </a14:m>
                <a:endParaRPr lang="zh-CN" altLang="zh-CN" sz="2200" kern="100" dirty="0">
                  <a:latin typeface="Times New Roman" panose="02020603050405020304" pitchFamily="18" charset="0"/>
                </a:endParaRPr>
              </a:p>
            </p:txBody>
          </p:sp>
        </mc:Choice>
        <mc:Fallback xmlns="">
          <p:sp>
            <p:nvSpPr>
              <p:cNvPr id="2" name="文本框 1">
                <a:extLst>
                  <a:ext uri="{FF2B5EF4-FFF2-40B4-BE49-F238E27FC236}">
                    <a16:creationId xmlns:a16="http://schemas.microsoft.com/office/drawing/2014/main" id="{FC1CEC78-BD8D-6688-29E7-335EA6586253}"/>
                  </a:ext>
                </a:extLst>
              </p:cNvPr>
              <p:cNvSpPr txBox="1">
                <a:spLocks noRot="1" noChangeAspect="1" noMove="1" noResize="1" noEditPoints="1" noAdjustHandles="1" noChangeArrowheads="1" noChangeShapeType="1" noTextEdit="1"/>
              </p:cNvSpPr>
              <p:nvPr/>
            </p:nvSpPr>
            <p:spPr>
              <a:xfrm>
                <a:off x="539552" y="692696"/>
                <a:ext cx="7614846" cy="1382623"/>
              </a:xfrm>
              <a:prstGeom prst="rect">
                <a:avLst/>
              </a:prstGeom>
              <a:blipFill>
                <a:blip r:embed="rId3"/>
                <a:stretch>
                  <a:fillRect t="-44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8201B3D-8686-4D67-085E-E975889C1A2F}"/>
                  </a:ext>
                </a:extLst>
              </p:cNvPr>
              <p:cNvSpPr txBox="1"/>
              <p:nvPr/>
            </p:nvSpPr>
            <p:spPr>
              <a:xfrm>
                <a:off x="611560" y="2276872"/>
                <a:ext cx="8352928" cy="4825808"/>
              </a:xfrm>
              <a:prstGeom prst="rect">
                <a:avLst/>
              </a:prstGeom>
              <a:noFill/>
            </p:spPr>
            <p:txBody>
              <a:bodyPr wrap="square">
                <a:spAutoFit/>
              </a:bodyPr>
              <a:lstStyle/>
              <a:p>
                <a:pPr indent="95250" algn="just"/>
                <a:r>
                  <a:rPr lang="zh-CN" altLang="en-US" sz="2200" kern="100" dirty="0">
                    <a:latin typeface="Times New Roman" panose="02020603050405020304" pitchFamily="18" charset="0"/>
                  </a:rPr>
                  <a:t>梯度</a:t>
                </a:r>
                <a:endParaRPr lang="en-US" altLang="zh-CN" sz="2200" kern="100" dirty="0">
                  <a:latin typeface="Times New Roman" panose="02020603050405020304" pitchFamily="18" charset="0"/>
                </a:endParaRPr>
              </a:p>
              <a:p>
                <a:pPr indent="95250" algn="just"/>
                <a14:m>
                  <m:oMathPara xmlns:m="http://schemas.openxmlformats.org/officeDocument/2006/math">
                    <m:oMathParaPr>
                      <m:jc m:val="centerGroup"/>
                    </m:oMathParaPr>
                    <m:oMath xmlns:m="http://schemas.openxmlformats.org/officeDocument/2006/math">
                      <m:r>
                        <m:rPr>
                          <m:sty m:val="p"/>
                        </m:rP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cs typeface="Times New Roman" panose="02020603050405020304" pitchFamily="18" charset="0"/>
                        </a:rPr>
                        <m:t>𝑓</m:t>
                      </m:r>
                      <m:d>
                        <m:dPr>
                          <m:ctrlPr>
                            <a:rPr lang="en-US" altLang="zh-CN" sz="2200" i="1" kern="100">
                              <a:latin typeface="Cambria Math" panose="02040503050406030204" pitchFamily="18" charset="0"/>
                              <a:cs typeface="Times New Roman" panose="02020603050405020304" pitchFamily="18" charset="0"/>
                            </a:rPr>
                          </m:ctrlPr>
                        </m:dPr>
                        <m:e>
                          <m:r>
                            <a:rPr lang="en-US" altLang="zh-CN" sz="2200" i="1" kern="100">
                              <a:latin typeface="Cambria Math" panose="02040503050406030204" pitchFamily="18" charset="0"/>
                              <a:cs typeface="Times New Roman" panose="02020603050405020304" pitchFamily="18" charset="0"/>
                            </a:rPr>
                            <m:t>𝑥</m:t>
                          </m:r>
                        </m:e>
                      </m:d>
                      <m:r>
                        <a:rPr lang="en-US" altLang="zh-CN" sz="2200" i="1" kern="100">
                          <a:latin typeface="Cambria Math" panose="02040503050406030204" pitchFamily="18" charset="0"/>
                          <a:cs typeface="Times New Roman" panose="02020603050405020304" pitchFamily="18" charset="0"/>
                        </a:rPr>
                        <m:t>=2</m:t>
                      </m:r>
                      <m:nary>
                        <m:naryPr>
                          <m:chr m:val="∑"/>
                          <m:limLoc m:val="undOv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200" i="1" kern="100">
                              <a:latin typeface="Cambria Math" panose="02040503050406030204" pitchFamily="18" charset="0"/>
                              <a:cs typeface="Times New Roman" panose="02020603050405020304" pitchFamily="18" charset="0"/>
                            </a:rPr>
                            <m:t>𝑖</m:t>
                          </m:r>
                          <m:r>
                            <a:rPr lang="en-US" altLang="zh-CN" sz="2200" i="1" kern="100">
                              <a:latin typeface="Cambria Math" panose="02040503050406030204" pitchFamily="18" charset="0"/>
                              <a:cs typeface="Times New Roman" panose="02020603050405020304" pitchFamily="18" charset="0"/>
                            </a:rPr>
                            <m:t>=1</m:t>
                          </m:r>
                        </m:sub>
                        <m:sup>
                          <m:r>
                            <a:rPr lang="en-US" altLang="zh-CN" sz="2200" i="1" kern="100">
                              <a:latin typeface="Cambria Math" panose="02040503050406030204" pitchFamily="18" charset="0"/>
                              <a:cs typeface="Times New Roman" panose="02020603050405020304" pitchFamily="18" charset="0"/>
                            </a:rPr>
                            <m:t>8</m:t>
                          </m:r>
                        </m:sup>
                        <m:e>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cs typeface="Times New Roman" panose="02020603050405020304" pitchFamily="18" charset="0"/>
                                </a:rPr>
                                <m:t>𝑤</m:t>
                              </m:r>
                            </m:e>
                            <m:sub>
                              <m:r>
                                <a:rPr lang="en-US" altLang="zh-CN" sz="2200" i="1" kern="100">
                                  <a:latin typeface="Cambria Math" panose="02040503050406030204" pitchFamily="18" charset="0"/>
                                  <a:cs typeface="Times New Roman" panose="02020603050405020304" pitchFamily="18" charset="0"/>
                                </a:rPr>
                                <m:t>𝑖</m:t>
                              </m:r>
                            </m:sub>
                          </m:sSub>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cs typeface="Times New Roman" panose="02020603050405020304" pitchFamily="18" charset="0"/>
                                </a:rPr>
                                <m:t>𝑞</m:t>
                              </m:r>
                            </m:e>
                            <m:sub>
                              <m:r>
                                <a:rPr lang="en-US" altLang="zh-CN" sz="2200" i="1" kern="100">
                                  <a:latin typeface="Cambria Math" panose="02040503050406030204" pitchFamily="18" charset="0"/>
                                  <a:cs typeface="Times New Roman" panose="02020603050405020304" pitchFamily="18" charset="0"/>
                                </a:rPr>
                                <m:t>𝑖</m:t>
                              </m:r>
                            </m:sub>
                          </m:sSub>
                          <m:d>
                            <m:dPr>
                              <m:ctrlPr>
                                <a:rPr lang="en-US" altLang="zh-CN" sz="2200" i="1" kern="100">
                                  <a:latin typeface="Cambria Math" panose="02040503050406030204" pitchFamily="18" charset="0"/>
                                  <a:cs typeface="Times New Roman" panose="02020603050405020304" pitchFamily="18" charset="0"/>
                                </a:rPr>
                              </m:ctrlPr>
                            </m:dPr>
                            <m:e>
                              <m:r>
                                <a:rPr lang="en-US" altLang="zh-CN" sz="2200" i="1" kern="100">
                                  <a:latin typeface="Cambria Math" panose="02040503050406030204" pitchFamily="18" charset="0"/>
                                  <a:cs typeface="Times New Roman" panose="02020603050405020304" pitchFamily="18" charset="0"/>
                                </a:rPr>
                                <m:t>𝑥</m:t>
                              </m:r>
                              <m:r>
                                <a:rPr lang="en-US" altLang="zh-CN" sz="2200" i="1" kern="100">
                                  <a:latin typeface="Cambria Math" panose="02040503050406030204" pitchFamily="18" charset="0"/>
                                  <a:cs typeface="Times New Roman" panose="02020603050405020304" pitchFamily="18" charset="0"/>
                                </a:rPr>
                                <m:t>−</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cs typeface="Times New Roman" panose="02020603050405020304" pitchFamily="18" charset="0"/>
                                    </a:rPr>
                                    <m:t>𝑐</m:t>
                                  </m:r>
                                </m:e>
                                <m:sub>
                                  <m:r>
                                    <a:rPr lang="en-US" altLang="zh-CN" sz="2200" i="1" kern="100">
                                      <a:latin typeface="Cambria Math" panose="02040503050406030204" pitchFamily="18" charset="0"/>
                                      <a:cs typeface="Times New Roman" panose="02020603050405020304" pitchFamily="18" charset="0"/>
                                    </a:rPr>
                                    <m:t>𝑖</m:t>
                                  </m:r>
                                </m:sub>
                              </m:sSub>
                            </m:e>
                          </m:d>
                        </m:e>
                      </m:nary>
                    </m:oMath>
                  </m:oMathPara>
                </a14:m>
                <a:endParaRPr lang="en-US" altLang="zh-CN" sz="2200" kern="100" dirty="0">
                  <a:latin typeface="Times New Roman" panose="02020603050405020304" pitchFamily="18" charset="0"/>
                </a:endParaRPr>
              </a:p>
              <a:p>
                <a:pPr indent="95250" algn="just">
                  <a:lnSpc>
                    <a:spcPct val="150000"/>
                  </a:lnSpc>
                </a:pPr>
                <a:r>
                  <a:rPr lang="zh-CN" altLang="en-US" sz="2400" kern="100" dirty="0">
                    <a:latin typeface="Times New Roman" panose="02020603050405020304" pitchFamily="18" charset="0"/>
                  </a:rPr>
                  <a:t>海</a:t>
                </a:r>
                <a:r>
                  <a:rPr lang="zh-CN" altLang="zh-CN" sz="2400" kern="100" dirty="0">
                    <a:latin typeface="Times New Roman" panose="02020603050405020304" pitchFamily="18" charset="0"/>
                  </a:rPr>
                  <a:t>赛</a:t>
                </a:r>
                <a:r>
                  <a:rPr lang="zh-CN" altLang="en-US" sz="2400" kern="100" dirty="0">
                    <a:latin typeface="Times New Roman" panose="02020603050405020304" pitchFamily="18" charset="0"/>
                  </a:rPr>
                  <a:t>矩阵                </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m:rPr>
                            <m:sty m:val="p"/>
                          </m:rP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e>
                      <m:sup>
                        <m:r>
                          <a:rPr lang="en-US" altLang="zh-CN" sz="2400" i="1" kern="100">
                            <a:latin typeface="Cambria Math" panose="02040503050406030204" pitchFamily="18" charset="0"/>
                          </a:rPr>
                          <m:t>2</m:t>
                        </m:r>
                      </m:sup>
                    </m:sSup>
                    <m:r>
                      <a:rPr lang="en-US" altLang="zh-CN" sz="2400" i="1" kern="100">
                        <a:latin typeface="Cambria Math" panose="02040503050406030204" pitchFamily="18" charset="0"/>
                      </a:rPr>
                      <m:t>𝑓</m:t>
                    </m:r>
                    <m:r>
                      <a:rPr lang="en-US" altLang="zh-CN" sz="2400" i="1" kern="100">
                        <a:latin typeface="Cambria Math" panose="02040503050406030204" pitchFamily="18" charset="0"/>
                      </a:rPr>
                      <m:t>(</m:t>
                    </m:r>
                    <m:r>
                      <a:rPr lang="en-US" altLang="zh-CN" sz="2400" i="1" kern="100">
                        <a:latin typeface="Cambria Math" panose="02040503050406030204" pitchFamily="18" charset="0"/>
                      </a:rPr>
                      <m:t>𝑥</m:t>
                    </m:r>
                    <m:r>
                      <a:rPr lang="en-US" altLang="zh-CN" sz="2400" i="1" kern="100">
                        <a:latin typeface="Cambria Math" panose="02040503050406030204" pitchFamily="18" charset="0"/>
                      </a:rPr>
                      <m:t>)=</m:t>
                    </m:r>
                  </m:oMath>
                </a14:m>
                <a:r>
                  <a:rPr lang="en-US" altLang="zh-CN" sz="2400" kern="100" dirty="0">
                    <a:cs typeface="Times New Roman" panose="02020603050405020304" pitchFamily="18" charset="0"/>
                  </a:rPr>
                  <a:t> </a:t>
                </a:r>
                <a14:m>
                  <m:oMath xmlns:m="http://schemas.openxmlformats.org/officeDocument/2006/math">
                    <m:r>
                      <a:rPr lang="en-US" altLang="zh-CN" sz="2400" kern="100">
                        <a:latin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cs typeface="Times New Roman" panose="02020603050405020304" pitchFamily="18" charset="0"/>
                      </a:rPr>
                      <m:t>2</m:t>
                    </m:r>
                    <m:nary>
                      <m:naryPr>
                        <m:chr m:val="∑"/>
                        <m:limLoc m:val="undOv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400" i="1" kern="100">
                            <a:latin typeface="Cambria Math" panose="02040503050406030204" pitchFamily="18" charset="0"/>
                            <a:cs typeface="Times New Roman" panose="02020603050405020304" pitchFamily="18" charset="0"/>
                          </a:rPr>
                          <m:t>𝑖</m:t>
                        </m:r>
                        <m:r>
                          <a:rPr lang="en-US" altLang="zh-CN" sz="2400" i="1" kern="100">
                            <a:latin typeface="Cambria Math" panose="02040503050406030204" pitchFamily="18" charset="0"/>
                            <a:cs typeface="Times New Roman" panose="02020603050405020304" pitchFamily="18" charset="0"/>
                          </a:rPr>
                          <m:t>=1</m:t>
                        </m:r>
                      </m:sub>
                      <m:sup>
                        <m:r>
                          <a:rPr lang="en-US" altLang="zh-CN" sz="2400" i="1" kern="100">
                            <a:latin typeface="Cambria Math" panose="02040503050406030204" pitchFamily="18" charset="0"/>
                            <a:cs typeface="Times New Roman" panose="02020603050405020304" pitchFamily="18" charset="0"/>
                          </a:rPr>
                          <m:t>8</m:t>
                        </m:r>
                      </m:sup>
                      <m:e>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cs typeface="Times New Roman" panose="02020603050405020304" pitchFamily="18" charset="0"/>
                              </a:rPr>
                              <m:t>𝑤</m:t>
                            </m:r>
                          </m:e>
                          <m:sub>
                            <m:r>
                              <a:rPr lang="en-US" altLang="zh-CN" sz="2400" i="1" kern="100">
                                <a:latin typeface="Cambria Math" panose="02040503050406030204" pitchFamily="18" charset="0"/>
                                <a:cs typeface="Times New Roman" panose="02020603050405020304" pitchFamily="18" charset="0"/>
                              </a:rPr>
                              <m:t>𝑖</m:t>
                            </m:r>
                          </m:sub>
                        </m:sSub>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cs typeface="Times New Roman" panose="02020603050405020304" pitchFamily="18" charset="0"/>
                              </a:rPr>
                              <m:t>𝑞</m:t>
                            </m:r>
                          </m:e>
                          <m:sub>
                            <m:r>
                              <a:rPr lang="en-US" altLang="zh-CN" sz="2400" i="1" kern="100">
                                <a:latin typeface="Cambria Math" panose="02040503050406030204" pitchFamily="18" charset="0"/>
                                <a:cs typeface="Times New Roman" panose="02020603050405020304" pitchFamily="18" charset="0"/>
                              </a:rPr>
                              <m:t>𝑖</m:t>
                            </m:r>
                          </m:sub>
                        </m:sSub>
                      </m:e>
                    </m:nary>
                    <m:r>
                      <a:rPr lang="en-US" altLang="zh-CN" sz="2400" i="1" kern="100">
                        <a:latin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cs typeface="Times New Roman" panose="02020603050405020304" pitchFamily="18" charset="0"/>
                      </a:rPr>
                      <m:t>𝐼</m:t>
                    </m:r>
                  </m:oMath>
                </a14:m>
                <a:endParaRPr lang="en-US" altLang="zh-CN" sz="2400" kern="100" dirty="0">
                  <a:latin typeface="Times New Roman" panose="02020603050405020304" pitchFamily="18" charset="0"/>
                </a:endParaRPr>
              </a:p>
              <a:p>
                <a:pPr indent="95250" algn="just"/>
                <a:endParaRPr lang="en-US" altLang="zh-CN" sz="2200" kern="100" dirty="0">
                  <a:latin typeface="Times New Roman" panose="02020603050405020304" pitchFamily="18" charset="0"/>
                </a:endParaRPr>
              </a:p>
              <a:p>
                <a:pPr indent="95250" algn="just"/>
                <a:r>
                  <a:rPr lang="zh-CN" altLang="en-US" sz="2200" kern="100" dirty="0">
                    <a:latin typeface="Times New Roman" panose="02020603050405020304" pitchFamily="18" charset="0"/>
                  </a:rPr>
                  <a:t>可采用</a:t>
                </a:r>
                <a:endParaRPr lang="en-US" altLang="zh-CN" sz="2200" kern="100" dirty="0">
                  <a:latin typeface="Times New Roman" panose="02020603050405020304" pitchFamily="18" charset="0"/>
                </a:endParaRPr>
              </a:p>
              <a:p>
                <a:pPr indent="95250" algn="just"/>
                <a:r>
                  <a:rPr lang="zh-CN" altLang="en-US" sz="2200" b="1" kern="100" dirty="0">
                    <a:latin typeface="Times New Roman" panose="02020603050405020304" pitchFamily="18" charset="0"/>
                  </a:rPr>
                  <a:t>最速下降法                      </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𝑥</m:t>
                        </m:r>
                      </m:e>
                      <m:sup>
                        <m:d>
                          <m:d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+1</m:t>
                            </m:r>
                          </m:e>
                        </m:d>
                      </m:sup>
                    </m:s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𝑥</m:t>
                        </m:r>
                      </m:e>
                      <m:sup>
                        <m:d>
                          <m:d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e>
                        </m:d>
                      </m:sup>
                    </m:s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𝛼</m:t>
                        </m:r>
                      </m:e>
                      <m:sup>
                        <m:d>
                          <m:d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e>
                        </m:d>
                      </m:sup>
                    </m:sSup>
                    <m:r>
                      <m:rPr>
                        <m:sty m:val="p"/>
                      </m:rP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𝑓</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𝑥</m:t>
                        </m:r>
                      </m:e>
                      <m:sup>
                        <m:d>
                          <m:d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e>
                        </m:d>
                      </m:sup>
                    </m:s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oMath>
                </a14:m>
                <a:endParaRPr lang="en-US" altLang="zh-CN" sz="2200" i="1" kern="100" dirty="0">
                  <a:latin typeface="Cambria Math" panose="02040503050406030204" pitchFamily="18" charset="0"/>
                  <a:ea typeface="Cambria Math" panose="02040503050406030204" pitchFamily="18" charset="0"/>
                  <a:cs typeface="Times New Roman" panose="02020603050405020304" pitchFamily="18" charset="0"/>
                </a:endParaRPr>
              </a:p>
              <a:p>
                <a:pPr indent="95250" algn="just"/>
                <a:r>
                  <a:rPr lang="zh-CN" altLang="en-US" sz="2400" b="1" kern="100" dirty="0">
                    <a:latin typeface="Times New Roman" panose="02020603050405020304" pitchFamily="18" charset="0"/>
                  </a:rPr>
                  <a:t>牛顿法</a:t>
                </a:r>
                <a:r>
                  <a:rPr lang="zh-CN" altLang="en-US" sz="2400" kern="100" dirty="0">
                    <a:latin typeface="Times New Roman" panose="02020603050405020304" pitchFamily="18" charset="0"/>
                  </a:rPr>
                  <a:t>                   </a:t>
                </a:r>
                <a14:m>
                  <m:oMath xmlns:m="http://schemas.openxmlformats.org/officeDocument/2006/math">
                    <m:r>
                      <a:rPr lang="en-US" altLang="zh-CN" sz="2400" b="0" i="0" kern="100" smtClean="0">
                        <a:latin typeface="Cambria Math" panose="02040503050406030204" pitchFamily="18" charset="0"/>
                        <a:ea typeface="Cambria Math" panose="02040503050406030204" pitchFamily="18" charset="0"/>
                      </a:rPr>
                      <m:t> </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𝑥</m:t>
                        </m:r>
                      </m:e>
                      <m:sup>
                        <m:r>
                          <a:rPr lang="en-US" altLang="zh-CN" sz="2400" i="1" kern="100">
                            <a:latin typeface="Cambria Math" panose="02040503050406030204" pitchFamily="18" charset="0"/>
                          </a:rPr>
                          <m:t>(</m:t>
                        </m:r>
                        <m:r>
                          <a:rPr lang="en-US" altLang="zh-CN" sz="2400" i="1" kern="100">
                            <a:latin typeface="Cambria Math" panose="02040503050406030204" pitchFamily="18" charset="0"/>
                          </a:rPr>
                          <m:t>𝑘</m:t>
                        </m:r>
                        <m:r>
                          <a:rPr lang="en-US" altLang="zh-CN" sz="2400" i="1" kern="100">
                            <a:latin typeface="Cambria Math" panose="02040503050406030204" pitchFamily="18" charset="0"/>
                          </a:rPr>
                          <m:t>+1)</m:t>
                        </m:r>
                      </m:sup>
                    </m:sSup>
                    <m:r>
                      <a:rPr lang="en-US" altLang="zh-CN" sz="2400" i="1" kern="100">
                        <a:latin typeface="Cambria Math" panose="02040503050406030204" pitchFamily="18" charset="0"/>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𝑥</m:t>
                        </m:r>
                      </m:e>
                      <m:sup>
                        <m:r>
                          <a:rPr lang="en-US" altLang="zh-CN" sz="2400" i="1" kern="100">
                            <a:latin typeface="Cambria Math" panose="02040503050406030204" pitchFamily="18" charset="0"/>
                          </a:rPr>
                          <m:t>(</m:t>
                        </m:r>
                        <m:r>
                          <a:rPr lang="en-US" altLang="zh-CN" sz="2400" i="1" kern="100">
                            <a:latin typeface="Cambria Math" panose="02040503050406030204" pitchFamily="18" charset="0"/>
                          </a:rPr>
                          <m:t>𝑘</m:t>
                        </m:r>
                        <m:r>
                          <a:rPr lang="en-US" altLang="zh-CN" sz="2400" i="1" kern="100">
                            <a:latin typeface="Cambria Math" panose="02040503050406030204" pitchFamily="18" charset="0"/>
                          </a:rPr>
                          <m:t>)</m:t>
                        </m:r>
                      </m:sup>
                    </m:sSup>
                    <m:r>
                      <a:rPr lang="en-US" altLang="zh-CN" sz="2400" i="1" kern="100">
                        <a:latin typeface="Cambria Math" panose="02040503050406030204" pitchFamily="18" charset="0"/>
                      </a:rPr>
                      <m:t>−</m:t>
                    </m:r>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𝛼</m:t>
                        </m:r>
                      </m:e>
                      <m:sup>
                        <m:d>
                          <m:d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𝑘</m:t>
                            </m:r>
                          </m:e>
                        </m:d>
                      </m:sup>
                    </m:sSup>
                    <m:r>
                      <a:rPr lang="en-US" altLang="zh-CN" sz="2400" i="1" kern="100">
                        <a:latin typeface="Cambria Math" panose="02040503050406030204" pitchFamily="18" charset="0"/>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cs typeface="Cambria Math" panose="02040503050406030204" pitchFamily="18" charset="0"/>
                          </a:rPr>
                          <m:t>𝛻</m:t>
                        </m:r>
                      </m:e>
                      <m:sup>
                        <m:r>
                          <a:rPr lang="en-US" altLang="zh-CN" sz="2400" i="1" kern="100">
                            <a:latin typeface="Cambria Math" panose="02040503050406030204" pitchFamily="18" charset="0"/>
                          </a:rPr>
                          <m:t>2</m:t>
                        </m:r>
                      </m:sup>
                    </m:sSup>
                    <m:r>
                      <a:rPr lang="en-US" altLang="zh-CN" sz="2400" i="1" kern="100">
                        <a:latin typeface="Cambria Math" panose="02040503050406030204" pitchFamily="18" charset="0"/>
                      </a:rPr>
                      <m:t>𝑓</m:t>
                    </m:r>
                    <m:r>
                      <a:rPr lang="en-US" altLang="zh-CN" sz="2400" i="1" kern="100">
                        <a:latin typeface="Cambria Math" panose="02040503050406030204" pitchFamily="18" charset="0"/>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𝑥</m:t>
                        </m:r>
                      </m:e>
                      <m:sup>
                        <m:r>
                          <a:rPr lang="en-US" altLang="zh-CN" sz="2400" i="1" kern="100">
                            <a:latin typeface="Cambria Math" panose="02040503050406030204" pitchFamily="18" charset="0"/>
                          </a:rPr>
                          <m:t>(</m:t>
                        </m:r>
                        <m:r>
                          <a:rPr lang="en-US" altLang="zh-CN" sz="2400" i="1" kern="100">
                            <a:latin typeface="Cambria Math" panose="02040503050406030204" pitchFamily="18" charset="0"/>
                          </a:rPr>
                          <m:t>𝑘</m:t>
                        </m:r>
                        <m:r>
                          <a:rPr lang="en-US" altLang="zh-CN" sz="2400" i="1" kern="100">
                            <a:latin typeface="Cambria Math" panose="02040503050406030204" pitchFamily="18" charset="0"/>
                          </a:rPr>
                          <m:t>)</m:t>
                        </m:r>
                      </m:sup>
                    </m:sSup>
                    <m:r>
                      <a:rPr lang="en-US" altLang="zh-CN" sz="2400" i="1" kern="100">
                        <a:latin typeface="Cambria Math" panose="02040503050406030204" pitchFamily="18" charset="0"/>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m:t>
                        </m:r>
                      </m:e>
                      <m:sup>
                        <m:r>
                          <a:rPr lang="en-US" altLang="zh-CN" sz="2400" i="1" kern="100">
                            <a:latin typeface="Cambria Math" panose="02040503050406030204" pitchFamily="18" charset="0"/>
                          </a:rPr>
                          <m:t>−1</m:t>
                        </m:r>
                      </m:sup>
                    </m:sSup>
                    <m:r>
                      <a:rPr lang="en-US" altLang="zh-CN" sz="2400" i="1" kern="100">
                        <a:latin typeface="Cambria Math" panose="02040503050406030204" pitchFamily="18" charset="0"/>
                        <a:cs typeface="Cambria Math" panose="02040503050406030204" pitchFamily="18" charset="0"/>
                      </a:rPr>
                      <m:t>𝛻</m:t>
                    </m:r>
                    <m:r>
                      <a:rPr lang="en-US" altLang="zh-CN" sz="2400" i="1" kern="100">
                        <a:latin typeface="Cambria Math" panose="02040503050406030204" pitchFamily="18" charset="0"/>
                      </a:rPr>
                      <m:t>𝑓</m:t>
                    </m:r>
                    <m:r>
                      <a:rPr lang="en-US" altLang="zh-CN" sz="2400" i="1" kern="100">
                        <a:latin typeface="Cambria Math" panose="02040503050406030204" pitchFamily="18" charset="0"/>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𝑥</m:t>
                        </m:r>
                      </m:e>
                      <m:sup>
                        <m:r>
                          <a:rPr lang="en-US" altLang="zh-CN" sz="2400" i="1" kern="100">
                            <a:latin typeface="Cambria Math" panose="02040503050406030204" pitchFamily="18" charset="0"/>
                          </a:rPr>
                          <m:t>(</m:t>
                        </m:r>
                        <m:r>
                          <a:rPr lang="en-US" altLang="zh-CN" sz="2400" i="1" kern="100">
                            <a:latin typeface="Cambria Math" panose="02040503050406030204" pitchFamily="18" charset="0"/>
                          </a:rPr>
                          <m:t>𝑘</m:t>
                        </m:r>
                        <m:r>
                          <a:rPr lang="en-US" altLang="zh-CN" sz="2400" i="1" kern="100">
                            <a:latin typeface="Cambria Math" panose="02040503050406030204" pitchFamily="18" charset="0"/>
                          </a:rPr>
                          <m:t>)</m:t>
                        </m:r>
                      </m:sup>
                    </m:sSup>
                    <m:r>
                      <a:rPr lang="en-US" altLang="zh-CN" sz="2400" i="1" kern="100">
                        <a:latin typeface="Cambria Math" panose="02040503050406030204" pitchFamily="18" charset="0"/>
                      </a:rPr>
                      <m:t>)</m:t>
                    </m:r>
                  </m:oMath>
                </a14:m>
                <a:endParaRPr lang="en-US" altLang="zh-CN" sz="2400" kern="100" dirty="0">
                  <a:latin typeface="Times New Roman" panose="02020603050405020304" pitchFamily="18" charset="0"/>
                </a:endParaRPr>
              </a:p>
              <a:p>
                <a:pPr indent="95250" algn="just"/>
                <a:r>
                  <a:rPr lang="zh-CN" altLang="en-US" sz="2400" b="1" kern="100" dirty="0">
                    <a:latin typeface="Times New Roman" panose="02020603050405020304" pitchFamily="18" charset="0"/>
                  </a:rPr>
                  <a:t>拟牛顿法</a:t>
                </a:r>
                <a:r>
                  <a:rPr lang="zh-CN" altLang="en-US" sz="2400" kern="100" dirty="0">
                    <a:latin typeface="Times New Roman" panose="02020603050405020304" pitchFamily="18" charset="0"/>
                  </a:rPr>
                  <a:t>           </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𝑥</m:t>
                        </m:r>
                      </m:e>
                      <m:sup>
                        <m:r>
                          <a:rPr lang="en-US" altLang="zh-CN" sz="2400" i="1" kern="100">
                            <a:latin typeface="Cambria Math" panose="02040503050406030204" pitchFamily="18" charset="0"/>
                          </a:rPr>
                          <m:t>(</m:t>
                        </m:r>
                        <m:r>
                          <a:rPr lang="en-US" altLang="zh-CN" sz="2400" i="1" kern="100">
                            <a:latin typeface="Cambria Math" panose="02040503050406030204" pitchFamily="18" charset="0"/>
                          </a:rPr>
                          <m:t>𝑘</m:t>
                        </m:r>
                        <m:r>
                          <a:rPr lang="en-US" altLang="zh-CN" sz="2400" i="1" kern="100">
                            <a:latin typeface="Cambria Math" panose="02040503050406030204" pitchFamily="18" charset="0"/>
                          </a:rPr>
                          <m:t>+1)</m:t>
                        </m:r>
                      </m:sup>
                    </m:sSup>
                    <m:r>
                      <a:rPr lang="en-US" altLang="zh-CN" sz="2400" i="1" kern="100">
                        <a:latin typeface="Cambria Math" panose="02040503050406030204" pitchFamily="18" charset="0"/>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𝑥</m:t>
                        </m:r>
                      </m:e>
                      <m:sup>
                        <m:r>
                          <a:rPr lang="en-US" altLang="zh-CN" sz="2400" i="1" kern="100">
                            <a:latin typeface="Cambria Math" panose="02040503050406030204" pitchFamily="18" charset="0"/>
                          </a:rPr>
                          <m:t>(</m:t>
                        </m:r>
                        <m:r>
                          <a:rPr lang="en-US" altLang="zh-CN" sz="2400" i="1" kern="100">
                            <a:latin typeface="Cambria Math" panose="02040503050406030204" pitchFamily="18" charset="0"/>
                          </a:rPr>
                          <m:t>𝑘</m:t>
                        </m:r>
                        <m:r>
                          <a:rPr lang="en-US" altLang="zh-CN" sz="2400" i="1" kern="100">
                            <a:latin typeface="Cambria Math" panose="02040503050406030204" pitchFamily="18" charset="0"/>
                          </a:rPr>
                          <m:t>)</m:t>
                        </m:r>
                      </m:sup>
                    </m:sSup>
                    <m:r>
                      <a:rPr lang="en-US" altLang="zh-CN" sz="2400" i="1" kern="100">
                        <a:latin typeface="Cambria Math" panose="02040503050406030204" pitchFamily="18" charset="0"/>
                      </a:rPr>
                      <m:t>−</m:t>
                    </m:r>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𝛼</m:t>
                        </m:r>
                      </m:e>
                      <m:sup>
                        <m:d>
                          <m:d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𝑘</m:t>
                            </m:r>
                          </m:e>
                        </m:d>
                      </m:sup>
                    </m:sSup>
                    <m:sSub>
                      <m:sSubPr>
                        <m:ctrlPr>
                          <a:rPr lang="en-US" altLang="zh-CN" sz="2400" i="1" kern="100" smtClean="0">
                            <a:latin typeface="Cambria Math" panose="02040503050406030204" pitchFamily="18" charset="0"/>
                          </a:rPr>
                        </m:ctrlPr>
                      </m:sSubPr>
                      <m:e>
                        <m:r>
                          <a:rPr lang="en-US" altLang="zh-CN" sz="2400" b="0" i="1" kern="100" smtClean="0">
                            <a:latin typeface="Cambria Math" panose="02040503050406030204" pitchFamily="18" charset="0"/>
                          </a:rPr>
                          <m:t>𝐴</m:t>
                        </m:r>
                      </m:e>
                      <m:sub>
                        <m:r>
                          <a:rPr lang="en-US" altLang="zh-CN" sz="2400" b="0" i="1" kern="100" smtClean="0">
                            <a:latin typeface="Cambria Math" panose="02040503050406030204" pitchFamily="18" charset="0"/>
                          </a:rPr>
                          <m:t>𝑘</m:t>
                        </m:r>
                      </m:sub>
                    </m:sSub>
                    <m:r>
                      <a:rPr lang="en-US" altLang="zh-CN" sz="2400" i="1" kern="100">
                        <a:latin typeface="Cambria Math" panose="02040503050406030204" pitchFamily="18" charset="0"/>
                        <a:cs typeface="Cambria Math" panose="02040503050406030204" pitchFamily="18" charset="0"/>
                      </a:rPr>
                      <m:t>𝛻</m:t>
                    </m:r>
                    <m:r>
                      <a:rPr lang="en-US" altLang="zh-CN" sz="2400" i="1" kern="100">
                        <a:latin typeface="Cambria Math" panose="02040503050406030204" pitchFamily="18" charset="0"/>
                      </a:rPr>
                      <m:t>𝑓</m:t>
                    </m:r>
                    <m:r>
                      <a:rPr lang="en-US" altLang="zh-CN" sz="2400" i="1" kern="100">
                        <a:latin typeface="Cambria Math" panose="02040503050406030204" pitchFamily="18" charset="0"/>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rPr>
                          <m:t>𝑥</m:t>
                        </m:r>
                      </m:e>
                      <m:sup>
                        <m:r>
                          <a:rPr lang="en-US" altLang="zh-CN" sz="2400" i="1" kern="100">
                            <a:latin typeface="Cambria Math" panose="02040503050406030204" pitchFamily="18" charset="0"/>
                          </a:rPr>
                          <m:t>(</m:t>
                        </m:r>
                        <m:r>
                          <a:rPr lang="en-US" altLang="zh-CN" sz="2400" i="1" kern="100">
                            <a:latin typeface="Cambria Math" panose="02040503050406030204" pitchFamily="18" charset="0"/>
                          </a:rPr>
                          <m:t>𝑘</m:t>
                        </m:r>
                        <m:r>
                          <a:rPr lang="en-US" altLang="zh-CN" sz="2400" i="1" kern="100">
                            <a:latin typeface="Cambria Math" panose="02040503050406030204" pitchFamily="18" charset="0"/>
                          </a:rPr>
                          <m:t>)</m:t>
                        </m:r>
                      </m:sup>
                    </m:sSup>
                    <m:r>
                      <a:rPr lang="en-US" altLang="zh-CN" sz="2400" i="1" kern="100">
                        <a:latin typeface="Cambria Math" panose="02040503050406030204" pitchFamily="18" charset="0"/>
                      </a:rPr>
                      <m:t>)</m:t>
                    </m:r>
                  </m:oMath>
                </a14:m>
                <a:endParaRPr lang="zh-CN" altLang="zh-CN" sz="2400" kern="100" dirty="0">
                  <a:latin typeface="Times New Roman" panose="02020603050405020304" pitchFamily="18" charset="0"/>
                </a:endParaRPr>
              </a:p>
              <a:p>
                <a:pPr indent="95250" algn="just"/>
                <a:endParaRPr lang="zh-CN" altLang="zh-CN" sz="2400" kern="100" dirty="0">
                  <a:latin typeface="Times New Roman" panose="02020603050405020304" pitchFamily="18" charset="0"/>
                </a:endParaRPr>
              </a:p>
              <a:p>
                <a:pPr indent="95250" algn="just"/>
                <a:endParaRPr lang="en-US" altLang="zh-CN" sz="2200" i="1" kern="100" dirty="0">
                  <a:latin typeface="Cambria Math" panose="02040503050406030204" pitchFamily="18" charset="0"/>
                  <a:ea typeface="Cambria Math" panose="02040503050406030204" pitchFamily="18" charset="0"/>
                  <a:cs typeface="Times New Roman" panose="02020603050405020304" pitchFamily="18" charset="0"/>
                </a:endParaRPr>
              </a:p>
              <a:p>
                <a:pPr indent="95250" algn="just"/>
                <a:endParaRPr lang="zh-CN" altLang="zh-CN" sz="2200" i="1" kern="100" dirty="0">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28201B3D-8686-4D67-085E-E975889C1A2F}"/>
                  </a:ext>
                </a:extLst>
              </p:cNvPr>
              <p:cNvSpPr txBox="1">
                <a:spLocks noRot="1" noChangeAspect="1" noMove="1" noResize="1" noEditPoints="1" noAdjustHandles="1" noChangeArrowheads="1" noChangeShapeType="1" noTextEdit="1"/>
              </p:cNvSpPr>
              <p:nvPr/>
            </p:nvSpPr>
            <p:spPr>
              <a:xfrm>
                <a:off x="611560" y="2276872"/>
                <a:ext cx="8352928" cy="4825808"/>
              </a:xfrm>
              <a:prstGeom prst="rect">
                <a:avLst/>
              </a:prstGeom>
              <a:blipFill>
                <a:blip r:embed="rId4"/>
                <a:stretch>
                  <a:fillRect t="-126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726606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AB32C722-CA94-4B3D-902C-E64CA9BBC483}"/>
              </a:ext>
            </a:extLst>
          </p:cNvPr>
          <p:cNvGrpSpPr/>
          <p:nvPr/>
        </p:nvGrpSpPr>
        <p:grpSpPr>
          <a:xfrm>
            <a:off x="1691680" y="1124744"/>
            <a:ext cx="4579144" cy="3643313"/>
            <a:chOff x="3287688" y="1374105"/>
            <a:chExt cx="6105525" cy="4857750"/>
          </a:xfrm>
        </p:grpSpPr>
        <p:pic>
          <p:nvPicPr>
            <p:cNvPr id="2" name="图片 1">
              <a:extLst>
                <a:ext uri="{FF2B5EF4-FFF2-40B4-BE49-F238E27FC236}">
                  <a16:creationId xmlns:a16="http://schemas.microsoft.com/office/drawing/2014/main" id="{9452998D-0C10-25EA-ED92-889179937021}"/>
                </a:ext>
              </a:extLst>
            </p:cNvPr>
            <p:cNvPicPr>
              <a:picLocks noChangeAspect="1"/>
            </p:cNvPicPr>
            <p:nvPr/>
          </p:nvPicPr>
          <p:blipFill>
            <a:blip r:embed="rId2"/>
            <a:stretch>
              <a:fillRect/>
            </a:stretch>
          </p:blipFill>
          <p:spPr>
            <a:xfrm>
              <a:off x="3287688" y="1374105"/>
              <a:ext cx="6105525" cy="4857750"/>
            </a:xfrm>
            <a:prstGeom prst="rect">
              <a:avLst/>
            </a:prstGeom>
          </p:spPr>
        </p:pic>
        <p:sp>
          <p:nvSpPr>
            <p:cNvPr id="5" name="文本框 4">
              <a:extLst>
                <a:ext uri="{FF2B5EF4-FFF2-40B4-BE49-F238E27FC236}">
                  <a16:creationId xmlns:a16="http://schemas.microsoft.com/office/drawing/2014/main" id="{A3C1C702-3CA7-54D9-432F-4D6B2AF0D264}"/>
                </a:ext>
              </a:extLst>
            </p:cNvPr>
            <p:cNvSpPr txBox="1"/>
            <p:nvPr/>
          </p:nvSpPr>
          <p:spPr>
            <a:xfrm>
              <a:off x="6054515" y="2432769"/>
              <a:ext cx="360040" cy="492443"/>
            </a:xfrm>
            <a:prstGeom prst="rect">
              <a:avLst/>
            </a:prstGeom>
            <a:noFill/>
          </p:spPr>
          <p:txBody>
            <a:bodyPr wrap="square" rtlCol="0">
              <a:spAutoFit/>
            </a:bodyPr>
            <a:lstStyle/>
            <a:p>
              <a:r>
                <a:rPr lang="en-US" altLang="zh-CN" b="1" dirty="0"/>
                <a:t>1</a:t>
              </a:r>
              <a:endParaRPr lang="zh-CN" altLang="en-US" b="1" dirty="0"/>
            </a:p>
          </p:txBody>
        </p:sp>
        <p:sp>
          <p:nvSpPr>
            <p:cNvPr id="6" name="文本框 5">
              <a:extLst>
                <a:ext uri="{FF2B5EF4-FFF2-40B4-BE49-F238E27FC236}">
                  <a16:creationId xmlns:a16="http://schemas.microsoft.com/office/drawing/2014/main" id="{2256108D-4F7E-C3AC-B21B-A975556D6E60}"/>
                </a:ext>
              </a:extLst>
            </p:cNvPr>
            <p:cNvSpPr txBox="1"/>
            <p:nvPr/>
          </p:nvSpPr>
          <p:spPr>
            <a:xfrm>
              <a:off x="7284130" y="2709203"/>
              <a:ext cx="360040" cy="492443"/>
            </a:xfrm>
            <a:prstGeom prst="rect">
              <a:avLst/>
            </a:prstGeom>
            <a:noFill/>
          </p:spPr>
          <p:txBody>
            <a:bodyPr wrap="square" rtlCol="0">
              <a:spAutoFit/>
            </a:bodyPr>
            <a:lstStyle/>
            <a:p>
              <a:r>
                <a:rPr lang="en-US" altLang="zh-CN" b="1" dirty="0"/>
                <a:t>2</a:t>
              </a:r>
              <a:endParaRPr lang="zh-CN" altLang="en-US" b="1" dirty="0"/>
            </a:p>
          </p:txBody>
        </p:sp>
        <p:sp>
          <p:nvSpPr>
            <p:cNvPr id="7" name="文本框 6">
              <a:extLst>
                <a:ext uri="{FF2B5EF4-FFF2-40B4-BE49-F238E27FC236}">
                  <a16:creationId xmlns:a16="http://schemas.microsoft.com/office/drawing/2014/main" id="{48342EB0-DD7E-BCDC-87B4-8D47CD31C234}"/>
                </a:ext>
              </a:extLst>
            </p:cNvPr>
            <p:cNvSpPr txBox="1"/>
            <p:nvPr/>
          </p:nvSpPr>
          <p:spPr>
            <a:xfrm>
              <a:off x="5226423" y="3618314"/>
              <a:ext cx="360040" cy="492443"/>
            </a:xfrm>
            <a:prstGeom prst="rect">
              <a:avLst/>
            </a:prstGeom>
            <a:noFill/>
          </p:spPr>
          <p:txBody>
            <a:bodyPr wrap="square" rtlCol="0">
              <a:spAutoFit/>
            </a:bodyPr>
            <a:lstStyle/>
            <a:p>
              <a:r>
                <a:rPr lang="en-US" altLang="zh-CN" b="1" dirty="0"/>
                <a:t>3</a:t>
              </a:r>
              <a:endParaRPr lang="zh-CN" altLang="en-US" b="1" dirty="0"/>
            </a:p>
          </p:txBody>
        </p:sp>
        <p:sp>
          <p:nvSpPr>
            <p:cNvPr id="8" name="文本框 7">
              <a:extLst>
                <a:ext uri="{FF2B5EF4-FFF2-40B4-BE49-F238E27FC236}">
                  <a16:creationId xmlns:a16="http://schemas.microsoft.com/office/drawing/2014/main" id="{41392587-4DB5-30FA-2212-7A6AF9D77691}"/>
                </a:ext>
              </a:extLst>
            </p:cNvPr>
            <p:cNvSpPr txBox="1"/>
            <p:nvPr/>
          </p:nvSpPr>
          <p:spPr>
            <a:xfrm>
              <a:off x="6414554" y="3660887"/>
              <a:ext cx="360040" cy="492443"/>
            </a:xfrm>
            <a:prstGeom prst="rect">
              <a:avLst/>
            </a:prstGeom>
            <a:noFill/>
          </p:spPr>
          <p:txBody>
            <a:bodyPr wrap="square" rtlCol="0">
              <a:spAutoFit/>
            </a:bodyPr>
            <a:lstStyle/>
            <a:p>
              <a:r>
                <a:rPr lang="en-US" altLang="zh-CN" b="1" dirty="0"/>
                <a:t>4</a:t>
              </a:r>
              <a:endParaRPr lang="zh-CN" altLang="en-US" b="1" dirty="0"/>
            </a:p>
          </p:txBody>
        </p:sp>
        <p:sp>
          <p:nvSpPr>
            <p:cNvPr id="9" name="文本框 8">
              <a:extLst>
                <a:ext uri="{FF2B5EF4-FFF2-40B4-BE49-F238E27FC236}">
                  <a16:creationId xmlns:a16="http://schemas.microsoft.com/office/drawing/2014/main" id="{BAA76585-8976-DB2D-B6D8-B86C3318321D}"/>
                </a:ext>
              </a:extLst>
            </p:cNvPr>
            <p:cNvSpPr txBox="1"/>
            <p:nvPr/>
          </p:nvSpPr>
          <p:spPr>
            <a:xfrm>
              <a:off x="7211732" y="3845553"/>
              <a:ext cx="360040" cy="492443"/>
            </a:xfrm>
            <a:prstGeom prst="rect">
              <a:avLst/>
            </a:prstGeom>
            <a:noFill/>
          </p:spPr>
          <p:txBody>
            <a:bodyPr wrap="square" rtlCol="0">
              <a:spAutoFit/>
            </a:bodyPr>
            <a:lstStyle/>
            <a:p>
              <a:r>
                <a:rPr lang="en-US" altLang="zh-CN" b="1" dirty="0"/>
                <a:t>5</a:t>
              </a:r>
              <a:endParaRPr lang="zh-CN" altLang="en-US" b="1" dirty="0"/>
            </a:p>
          </p:txBody>
        </p:sp>
        <p:sp>
          <p:nvSpPr>
            <p:cNvPr id="10" name="文本框 9">
              <a:extLst>
                <a:ext uri="{FF2B5EF4-FFF2-40B4-BE49-F238E27FC236}">
                  <a16:creationId xmlns:a16="http://schemas.microsoft.com/office/drawing/2014/main" id="{F4822A04-0D2A-EC99-B326-4F20EB0AF861}"/>
                </a:ext>
              </a:extLst>
            </p:cNvPr>
            <p:cNvSpPr txBox="1"/>
            <p:nvPr/>
          </p:nvSpPr>
          <p:spPr>
            <a:xfrm>
              <a:off x="8400256" y="4244269"/>
              <a:ext cx="360040" cy="492443"/>
            </a:xfrm>
            <a:prstGeom prst="rect">
              <a:avLst/>
            </a:prstGeom>
            <a:noFill/>
          </p:spPr>
          <p:txBody>
            <a:bodyPr wrap="square" rtlCol="0">
              <a:spAutoFit/>
            </a:bodyPr>
            <a:lstStyle/>
            <a:p>
              <a:r>
                <a:rPr lang="en-US" altLang="zh-CN" b="1" dirty="0"/>
                <a:t>6</a:t>
              </a:r>
              <a:endParaRPr lang="zh-CN" altLang="en-US" b="1" dirty="0"/>
            </a:p>
          </p:txBody>
        </p:sp>
        <p:sp>
          <p:nvSpPr>
            <p:cNvPr id="11" name="文本框 10">
              <a:extLst>
                <a:ext uri="{FF2B5EF4-FFF2-40B4-BE49-F238E27FC236}">
                  <a16:creationId xmlns:a16="http://schemas.microsoft.com/office/drawing/2014/main" id="{0B837965-B9DE-97F4-4FC1-44E6336393D3}"/>
                </a:ext>
              </a:extLst>
            </p:cNvPr>
            <p:cNvSpPr txBox="1"/>
            <p:nvPr/>
          </p:nvSpPr>
          <p:spPr>
            <a:xfrm>
              <a:off x="4185048" y="2730390"/>
              <a:ext cx="360040" cy="492443"/>
            </a:xfrm>
            <a:prstGeom prst="rect">
              <a:avLst/>
            </a:prstGeom>
            <a:noFill/>
          </p:spPr>
          <p:txBody>
            <a:bodyPr wrap="square" rtlCol="0">
              <a:spAutoFit/>
            </a:bodyPr>
            <a:lstStyle/>
            <a:p>
              <a:r>
                <a:rPr lang="en-US" altLang="zh-CN" b="1" dirty="0"/>
                <a:t>7</a:t>
              </a:r>
              <a:endParaRPr lang="zh-CN" altLang="en-US" b="1" dirty="0"/>
            </a:p>
          </p:txBody>
        </p:sp>
        <p:sp>
          <p:nvSpPr>
            <p:cNvPr id="12" name="文本框 11">
              <a:extLst>
                <a:ext uri="{FF2B5EF4-FFF2-40B4-BE49-F238E27FC236}">
                  <a16:creationId xmlns:a16="http://schemas.microsoft.com/office/drawing/2014/main" id="{FFBDA366-C30F-6C7A-7DD5-5BD173BF5482}"/>
                </a:ext>
              </a:extLst>
            </p:cNvPr>
            <p:cNvSpPr txBox="1"/>
            <p:nvPr/>
          </p:nvSpPr>
          <p:spPr>
            <a:xfrm>
              <a:off x="3862667" y="3476221"/>
              <a:ext cx="360040" cy="492443"/>
            </a:xfrm>
            <a:prstGeom prst="rect">
              <a:avLst/>
            </a:prstGeom>
            <a:noFill/>
          </p:spPr>
          <p:txBody>
            <a:bodyPr wrap="square" rtlCol="0">
              <a:spAutoFit/>
            </a:bodyPr>
            <a:lstStyle/>
            <a:p>
              <a:r>
                <a:rPr lang="en-US" altLang="zh-CN" b="1" dirty="0"/>
                <a:t>8</a:t>
              </a:r>
              <a:endParaRPr lang="zh-CN" altLang="en-US" b="1" dirty="0"/>
            </a:p>
          </p:txBody>
        </p:sp>
        <p:sp>
          <p:nvSpPr>
            <p:cNvPr id="13" name="文本框 12">
              <a:extLst>
                <a:ext uri="{FF2B5EF4-FFF2-40B4-BE49-F238E27FC236}">
                  <a16:creationId xmlns:a16="http://schemas.microsoft.com/office/drawing/2014/main" id="{2B6B0522-C2C3-3901-3F44-649E1B64E5B8}"/>
                </a:ext>
              </a:extLst>
            </p:cNvPr>
            <p:cNvSpPr txBox="1"/>
            <p:nvPr/>
          </p:nvSpPr>
          <p:spPr>
            <a:xfrm>
              <a:off x="5565013" y="3659307"/>
              <a:ext cx="360040" cy="1231106"/>
            </a:xfrm>
            <a:prstGeom prst="rect">
              <a:avLst/>
            </a:prstGeom>
            <a:noFill/>
          </p:spPr>
          <p:txBody>
            <a:bodyPr wrap="square" rtlCol="0">
              <a:spAutoFit/>
            </a:bodyPr>
            <a:lstStyle/>
            <a:p>
              <a:r>
                <a:rPr lang="zh-CN" altLang="en-US" b="1" dirty="0"/>
                <a:t>停</a:t>
              </a:r>
              <a:endParaRPr lang="en-US" altLang="zh-CN" b="1" dirty="0"/>
            </a:p>
            <a:p>
              <a:r>
                <a:rPr lang="zh-CN" altLang="en-US" b="1" dirty="0"/>
                <a:t>车</a:t>
              </a:r>
              <a:endParaRPr lang="en-US" altLang="zh-CN" b="1" dirty="0"/>
            </a:p>
            <a:p>
              <a:r>
                <a:rPr lang="zh-CN" altLang="en-US" b="1" dirty="0"/>
                <a:t>场</a:t>
              </a:r>
            </a:p>
          </p:txBody>
        </p:sp>
      </p:grpSp>
      <p:sp>
        <p:nvSpPr>
          <p:cNvPr id="16" name="文本框 15">
            <a:extLst>
              <a:ext uri="{FF2B5EF4-FFF2-40B4-BE49-F238E27FC236}">
                <a16:creationId xmlns:a16="http://schemas.microsoft.com/office/drawing/2014/main" id="{023CCF1B-AFD6-1823-5E2D-10122C93A48C}"/>
              </a:ext>
            </a:extLst>
          </p:cNvPr>
          <p:cNvSpPr txBox="1"/>
          <p:nvPr/>
        </p:nvSpPr>
        <p:spPr>
          <a:xfrm>
            <a:off x="2140035" y="611076"/>
            <a:ext cx="4570821" cy="369332"/>
          </a:xfrm>
          <a:prstGeom prst="rect">
            <a:avLst/>
          </a:prstGeom>
          <a:noFill/>
        </p:spPr>
        <p:txBody>
          <a:bodyPr wrap="square">
            <a:spAutoFit/>
          </a:bodyPr>
          <a:lstStyle/>
          <a:p>
            <a:r>
              <a:rPr lang="zh-CN" altLang="en-US" b="1" kern="100" dirty="0">
                <a:latin typeface="+mn-ea"/>
                <a:cs typeface="Times New Roman" panose="02020603050405020304" pitchFamily="18" charset="0"/>
              </a:rPr>
              <a:t>停车场坐标 </a:t>
            </a:r>
            <a:r>
              <a:rPr lang="en-US" altLang="zh-CN" b="1" dirty="0">
                <a:solidFill>
                  <a:srgbClr val="000000"/>
                </a:solidFill>
                <a:latin typeface="+mn-ea"/>
              </a:rPr>
              <a:t>(39.0324   40.6543)</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D9D9B4B7-1536-FE45-F8DD-7B646E403DE6}"/>
                  </a:ext>
                </a:extLst>
              </p:cNvPr>
              <p:cNvSpPr txBox="1"/>
              <p:nvPr/>
            </p:nvSpPr>
            <p:spPr>
              <a:xfrm>
                <a:off x="377440" y="5562055"/>
                <a:ext cx="8096010" cy="552395"/>
              </a:xfrm>
              <a:prstGeom prst="rect">
                <a:avLst/>
              </a:prstGeom>
              <a:noFill/>
            </p:spPr>
            <p:txBody>
              <a:bodyPr wrap="square">
                <a:spAutoFit/>
              </a:bodyPr>
              <a:lstStyle/>
              <a:p>
                <a:pPr indent="95250" algn="just"/>
                <a:r>
                  <a:rPr lang="zh-CN" altLang="en-US" sz="2200" kern="100" dirty="0">
                    <a:latin typeface="Times New Roman" panose="02020603050405020304" pitchFamily="18" charset="0"/>
                  </a:rPr>
                  <a:t>思考：如果建模为</a:t>
                </a:r>
                <a14:m>
                  <m:oMath xmlns:m="http://schemas.openxmlformats.org/officeDocument/2006/math">
                    <m:func>
                      <m:funcPr>
                        <m:ctrlPr>
                          <a:rPr lang="en-US" altLang="zh-CN" sz="2200" i="1" kern="100">
                            <a:latin typeface="Cambria Math" panose="02040503050406030204" pitchFamily="18" charset="0"/>
                            <a:ea typeface="等线" panose="02010600030101010101" pitchFamily="2" charset="-122"/>
                            <a:cs typeface="Times New Roman" panose="02020603050405020304" pitchFamily="18" charset="0"/>
                          </a:rPr>
                        </m:ctrlPr>
                      </m:funcPr>
                      <m:fName>
                        <m:limLow>
                          <m:limLowPr>
                            <m:ctrlPr>
                              <a:rPr lang="en-US" altLang="zh-CN" sz="2200" i="1" kern="100">
                                <a:latin typeface="Cambria Math" panose="02040503050406030204" pitchFamily="18" charset="0"/>
                                <a:ea typeface="等线" panose="02010600030101010101" pitchFamily="2" charset="-122"/>
                                <a:cs typeface="Times New Roman" panose="02020603050405020304" pitchFamily="18" charset="0"/>
                              </a:rPr>
                            </m:ctrlPr>
                          </m:limLowPr>
                          <m:e>
                            <m:r>
                              <m:rPr>
                                <m:sty m:val="p"/>
                              </m:rPr>
                              <a:rPr lang="en-US" altLang="zh-CN" sz="2200" kern="100">
                                <a:latin typeface="Cambria Math" panose="02040503050406030204" pitchFamily="18" charset="0"/>
                                <a:ea typeface="等线" panose="02010600030101010101" pitchFamily="2" charset="-122"/>
                                <a:cs typeface="Times New Roman" panose="02020603050405020304" pitchFamily="18" charset="0"/>
                              </a:rPr>
                              <m:t>min</m:t>
                            </m:r>
                          </m:e>
                          <m:lim>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𝑥</m:t>
                            </m:r>
                          </m:lim>
                        </m:limLow>
                      </m:fName>
                      <m:e>
                        <m:r>
                          <a:rPr lang="en-US" altLang="zh-CN" sz="2200" b="0" i="1" kern="100" smtClean="0">
                            <a:latin typeface="Cambria Math" panose="02040503050406030204" pitchFamily="18" charset="0"/>
                            <a:ea typeface="等线" panose="02010600030101010101" pitchFamily="2" charset="-122"/>
                            <a:cs typeface="Times New Roman" panose="02020603050405020304" pitchFamily="18" charset="0"/>
                          </a:rPr>
                          <m:t>𝑓</m:t>
                        </m:r>
                        <m:d>
                          <m:dPr>
                            <m:ctrlPr>
                              <a:rPr lang="en-US" altLang="zh-CN" sz="2200" b="0" i="1" kern="100" smtClean="0">
                                <a:latin typeface="Cambria Math" panose="02040503050406030204" pitchFamily="18" charset="0"/>
                                <a:ea typeface="等线" panose="02010600030101010101" pitchFamily="2" charset="-122"/>
                                <a:cs typeface="Times New Roman" panose="02020603050405020304" pitchFamily="18" charset="0"/>
                              </a:rPr>
                            </m:ctrlPr>
                          </m:dPr>
                          <m:e>
                            <m:r>
                              <a:rPr lang="en-US" altLang="zh-CN" sz="2200" b="0" i="1" kern="100" smtClean="0">
                                <a:latin typeface="Cambria Math" panose="02040503050406030204" pitchFamily="18" charset="0"/>
                                <a:ea typeface="等线" panose="02010600030101010101" pitchFamily="2" charset="-122"/>
                                <a:cs typeface="Times New Roman" panose="02020603050405020304" pitchFamily="18" charset="0"/>
                              </a:rPr>
                              <m:t>𝑥</m:t>
                            </m:r>
                          </m:e>
                        </m:d>
                        <m:r>
                          <a:rPr lang="en-US" altLang="zh-CN" sz="2200" b="0" i="1" kern="100" smtClean="0">
                            <a:latin typeface="Cambria Math" panose="02040503050406030204" pitchFamily="18" charset="0"/>
                            <a:ea typeface="等线" panose="02010600030101010101" pitchFamily="2" charset="-122"/>
                            <a:cs typeface="Times New Roman" panose="02020603050405020304" pitchFamily="18" charset="0"/>
                          </a:rPr>
                          <m:t>:=</m:t>
                        </m:r>
                        <m:nary>
                          <m:naryPr>
                            <m:chr m:val="∑"/>
                            <m:limLoc m:val="undOv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sz="2200" i="1" kern="100">
                                <a:latin typeface="Cambria Math" panose="02040503050406030204" pitchFamily="18" charset="0"/>
                                <a:cs typeface="Times New Roman" panose="02020603050405020304" pitchFamily="18" charset="0"/>
                              </a:rPr>
                              <m:t>𝑖</m:t>
                            </m:r>
                            <m:r>
                              <a:rPr lang="en-US" altLang="zh-CN" sz="2200" i="1" kern="100">
                                <a:latin typeface="Cambria Math" panose="02040503050406030204" pitchFamily="18" charset="0"/>
                                <a:cs typeface="Times New Roman" panose="02020603050405020304" pitchFamily="18" charset="0"/>
                              </a:rPr>
                              <m:t>=1</m:t>
                            </m:r>
                          </m:sub>
                          <m:sup>
                            <m:r>
                              <a:rPr lang="en-US" altLang="zh-CN" sz="2200" i="1" kern="100">
                                <a:latin typeface="Cambria Math" panose="02040503050406030204" pitchFamily="18" charset="0"/>
                                <a:cs typeface="Times New Roman" panose="02020603050405020304" pitchFamily="18" charset="0"/>
                              </a:rPr>
                              <m:t>8</m:t>
                            </m:r>
                          </m:sup>
                          <m:e>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cs typeface="Times New Roman" panose="02020603050405020304" pitchFamily="18" charset="0"/>
                                  </a:rPr>
                                  <m:t>𝑤</m:t>
                                </m:r>
                              </m:e>
                              <m:sub>
                                <m:r>
                                  <a:rPr lang="en-US" altLang="zh-CN" sz="2200" i="1" kern="100">
                                    <a:latin typeface="Cambria Math" panose="02040503050406030204" pitchFamily="18" charset="0"/>
                                    <a:cs typeface="Times New Roman" panose="02020603050405020304" pitchFamily="18" charset="0"/>
                                  </a:rPr>
                                  <m:t>𝑖</m:t>
                                </m:r>
                              </m:sub>
                            </m:sSub>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cs typeface="Times New Roman" panose="02020603050405020304" pitchFamily="18" charset="0"/>
                                  </a:rPr>
                                  <m:t>𝑞</m:t>
                                </m:r>
                              </m:e>
                              <m:sub>
                                <m:r>
                                  <a:rPr lang="en-US" altLang="zh-CN" sz="2200" i="1" kern="100">
                                    <a:latin typeface="Cambria Math" panose="02040503050406030204" pitchFamily="18" charset="0"/>
                                    <a:cs typeface="Times New Roman" panose="02020603050405020304" pitchFamily="18" charset="0"/>
                                  </a:rPr>
                                  <m:t>𝑖</m:t>
                                </m:r>
                              </m:sub>
                            </m:sSub>
                            <m:d>
                              <m:dPr>
                                <m:begChr m:val="‖"/>
                                <m:endChr m:val="‖"/>
                                <m:ctrlPr>
                                  <a:rPr lang="en-US" altLang="zh-CN" sz="2200" i="1" kern="100" smtClean="0">
                                    <a:latin typeface="Cambria Math" panose="02040503050406030204" pitchFamily="18" charset="0"/>
                                    <a:cs typeface="Times New Roman" panose="02020603050405020304" pitchFamily="18" charset="0"/>
                                  </a:rPr>
                                </m:ctrlPr>
                              </m:dPr>
                              <m:e>
                                <m:r>
                                  <a:rPr lang="en-US" altLang="zh-CN" sz="2200" i="1" kern="100">
                                    <a:latin typeface="Cambria Math" panose="02040503050406030204" pitchFamily="18" charset="0"/>
                                    <a:cs typeface="Times New Roman" panose="02020603050405020304" pitchFamily="18" charset="0"/>
                                  </a:rPr>
                                  <m:t>𝑥</m:t>
                                </m:r>
                                <m:r>
                                  <a:rPr lang="en-US" altLang="zh-CN" sz="2200" i="1" kern="100">
                                    <a:latin typeface="Cambria Math" panose="02040503050406030204" pitchFamily="18" charset="0"/>
                                    <a:cs typeface="Times New Roman" panose="02020603050405020304" pitchFamily="18" charset="0"/>
                                  </a:rPr>
                                  <m:t>−</m:t>
                                </m:r>
                                <m:sSub>
                                  <m:sSub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200" i="1" kern="100">
                                        <a:latin typeface="Cambria Math" panose="02040503050406030204" pitchFamily="18" charset="0"/>
                                        <a:cs typeface="Times New Roman" panose="02020603050405020304" pitchFamily="18" charset="0"/>
                                      </a:rPr>
                                      <m:t>𝑐</m:t>
                                    </m:r>
                                  </m:e>
                                  <m:sub>
                                    <m:r>
                                      <a:rPr lang="en-US" altLang="zh-CN" sz="2200" i="1" kern="100">
                                        <a:latin typeface="Cambria Math" panose="02040503050406030204" pitchFamily="18" charset="0"/>
                                        <a:cs typeface="Times New Roman" panose="02020603050405020304" pitchFamily="18" charset="0"/>
                                      </a:rPr>
                                      <m:t>𝑖</m:t>
                                    </m:r>
                                  </m:sub>
                                </m:sSub>
                              </m:e>
                            </m:d>
                          </m:e>
                        </m:nary>
                      </m:e>
                    </m:func>
                    <m:r>
                      <a:rPr lang="zh-CN" altLang="en-US" sz="2200" i="1" kern="100" smtClean="0">
                        <a:latin typeface="Cambria Math" panose="02040503050406030204" pitchFamily="18" charset="0"/>
                        <a:cs typeface="Times New Roman" panose="02020603050405020304" pitchFamily="18" charset="0"/>
                      </a:rPr>
                      <m:t>，</m:t>
                    </m:r>
                  </m:oMath>
                </a14:m>
                <a:r>
                  <a:rPr lang="zh-CN" altLang="en-US" sz="2200" kern="100" dirty="0">
                    <a:latin typeface="Times New Roman" panose="02020603050405020304" pitchFamily="18" charset="0"/>
                  </a:rPr>
                  <a:t>如何求解？</a:t>
                </a:r>
                <a:endParaRPr lang="zh-CN" altLang="zh-CN" sz="2200" kern="100" dirty="0">
                  <a:latin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D9D9B4B7-1536-FE45-F8DD-7B646E403DE6}"/>
                  </a:ext>
                </a:extLst>
              </p:cNvPr>
              <p:cNvSpPr txBox="1">
                <a:spLocks noRot="1" noChangeAspect="1" noMove="1" noResize="1" noEditPoints="1" noAdjustHandles="1" noChangeArrowheads="1" noChangeShapeType="1" noTextEdit="1"/>
              </p:cNvSpPr>
              <p:nvPr/>
            </p:nvSpPr>
            <p:spPr>
              <a:xfrm>
                <a:off x="377440" y="5562055"/>
                <a:ext cx="8096010" cy="552395"/>
              </a:xfrm>
              <a:prstGeom prst="rect">
                <a:avLst/>
              </a:prstGeom>
              <a:blipFill>
                <a:blip r:embed="rId3"/>
                <a:stretch>
                  <a:fillRect t="-94505" b="-12967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45879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99C253B-3892-5D50-65FF-9C83C9809B53}"/>
              </a:ext>
            </a:extLst>
          </p:cNvPr>
          <p:cNvPicPr>
            <a:picLocks noChangeAspect="1"/>
          </p:cNvPicPr>
          <p:nvPr/>
        </p:nvPicPr>
        <p:blipFill>
          <a:blip r:embed="rId2"/>
          <a:stretch>
            <a:fillRect/>
          </a:stretch>
        </p:blipFill>
        <p:spPr>
          <a:xfrm>
            <a:off x="1403648" y="2132856"/>
            <a:ext cx="5657850" cy="4210050"/>
          </a:xfrm>
          <a:prstGeom prst="rect">
            <a:avLst/>
          </a:prstGeom>
        </p:spPr>
      </p:pic>
      <p:pic>
        <p:nvPicPr>
          <p:cNvPr id="4" name="图片 3">
            <a:extLst>
              <a:ext uri="{FF2B5EF4-FFF2-40B4-BE49-F238E27FC236}">
                <a16:creationId xmlns:a16="http://schemas.microsoft.com/office/drawing/2014/main" id="{646FD3DD-3D8B-D5E8-6B21-F8DF15784BFF}"/>
              </a:ext>
            </a:extLst>
          </p:cNvPr>
          <p:cNvPicPr>
            <a:picLocks noChangeAspect="1"/>
          </p:cNvPicPr>
          <p:nvPr/>
        </p:nvPicPr>
        <p:blipFill>
          <a:blip r:embed="rId3"/>
          <a:stretch>
            <a:fillRect/>
          </a:stretch>
        </p:blipFill>
        <p:spPr>
          <a:xfrm>
            <a:off x="2267744" y="504264"/>
            <a:ext cx="4133850" cy="1666875"/>
          </a:xfrm>
          <a:prstGeom prst="rect">
            <a:avLst/>
          </a:prstGeom>
        </p:spPr>
      </p:pic>
      <p:sp>
        <p:nvSpPr>
          <p:cNvPr id="2" name="文本框 1">
            <a:extLst>
              <a:ext uri="{FF2B5EF4-FFF2-40B4-BE49-F238E27FC236}">
                <a16:creationId xmlns:a16="http://schemas.microsoft.com/office/drawing/2014/main" id="{0DC784C1-59F9-6D55-70D8-21368C9437C8}"/>
              </a:ext>
            </a:extLst>
          </p:cNvPr>
          <p:cNvSpPr txBox="1"/>
          <p:nvPr/>
        </p:nvSpPr>
        <p:spPr>
          <a:xfrm>
            <a:off x="179512" y="332656"/>
            <a:ext cx="1872208" cy="830997"/>
          </a:xfrm>
          <a:prstGeom prst="rect">
            <a:avLst/>
          </a:prstGeom>
          <a:noFill/>
        </p:spPr>
        <p:txBody>
          <a:bodyPr wrap="square" rtlCol="0">
            <a:spAutoFit/>
          </a:bodyPr>
          <a:lstStyle/>
          <a:p>
            <a:r>
              <a:rPr lang="zh-CN" altLang="en-US" sz="2400" dirty="0">
                <a:solidFill>
                  <a:srgbClr val="0070C0"/>
                </a:solidFill>
              </a:rPr>
              <a:t>绝对值函数的光滑逼近</a:t>
            </a:r>
          </a:p>
        </p:txBody>
      </p:sp>
    </p:spTree>
    <p:extLst>
      <p:ext uri="{BB962C8B-B14F-4D97-AF65-F5344CB8AC3E}">
        <p14:creationId xmlns:p14="http://schemas.microsoft.com/office/powerpoint/2010/main" val="42126433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9453684D-F9E2-9DAF-3EB3-D97E394569B4}"/>
              </a:ext>
            </a:extLst>
          </p:cNvPr>
          <p:cNvPicPr>
            <a:picLocks noChangeAspect="1"/>
          </p:cNvPicPr>
          <p:nvPr/>
        </p:nvPicPr>
        <p:blipFill>
          <a:blip r:embed="rId2"/>
          <a:stretch>
            <a:fillRect/>
          </a:stretch>
        </p:blipFill>
        <p:spPr>
          <a:xfrm>
            <a:off x="782360" y="649981"/>
            <a:ext cx="5438775" cy="1038225"/>
          </a:xfrm>
          <a:prstGeom prst="rect">
            <a:avLst/>
          </a:prstGeom>
        </p:spPr>
      </p:pic>
      <p:pic>
        <p:nvPicPr>
          <p:cNvPr id="5" name="图片 4">
            <a:extLst>
              <a:ext uri="{FF2B5EF4-FFF2-40B4-BE49-F238E27FC236}">
                <a16:creationId xmlns:a16="http://schemas.microsoft.com/office/drawing/2014/main" id="{B55EA067-598E-8144-5FD8-E290F0616908}"/>
              </a:ext>
            </a:extLst>
          </p:cNvPr>
          <p:cNvPicPr>
            <a:picLocks noChangeAspect="1"/>
          </p:cNvPicPr>
          <p:nvPr/>
        </p:nvPicPr>
        <p:blipFill>
          <a:blip r:embed="rId3"/>
          <a:stretch>
            <a:fillRect/>
          </a:stretch>
        </p:blipFill>
        <p:spPr>
          <a:xfrm>
            <a:off x="5148064" y="5157192"/>
            <a:ext cx="3706851" cy="1494698"/>
          </a:xfrm>
          <a:prstGeom prst="rect">
            <a:avLst/>
          </a:prstGeom>
        </p:spPr>
      </p:pic>
      <p:pic>
        <p:nvPicPr>
          <p:cNvPr id="7" name="图片 6">
            <a:extLst>
              <a:ext uri="{FF2B5EF4-FFF2-40B4-BE49-F238E27FC236}">
                <a16:creationId xmlns:a16="http://schemas.microsoft.com/office/drawing/2014/main" id="{9E5C8DF3-57B8-6E6A-A2ED-D552B029D9BD}"/>
              </a:ext>
            </a:extLst>
          </p:cNvPr>
          <p:cNvPicPr>
            <a:picLocks noChangeAspect="1"/>
          </p:cNvPicPr>
          <p:nvPr/>
        </p:nvPicPr>
        <p:blipFill>
          <a:blip r:embed="rId4"/>
          <a:stretch>
            <a:fillRect/>
          </a:stretch>
        </p:blipFill>
        <p:spPr>
          <a:xfrm>
            <a:off x="1043608" y="2791654"/>
            <a:ext cx="5095875" cy="971550"/>
          </a:xfrm>
          <a:prstGeom prst="rect">
            <a:avLst/>
          </a:prstGeom>
        </p:spPr>
      </p:pic>
      <p:pic>
        <p:nvPicPr>
          <p:cNvPr id="9" name="图片 8">
            <a:extLst>
              <a:ext uri="{FF2B5EF4-FFF2-40B4-BE49-F238E27FC236}">
                <a16:creationId xmlns:a16="http://schemas.microsoft.com/office/drawing/2014/main" id="{51F46AAE-34E8-DFF4-AA27-5D0492185796}"/>
              </a:ext>
            </a:extLst>
          </p:cNvPr>
          <p:cNvPicPr>
            <a:picLocks noChangeAspect="1"/>
          </p:cNvPicPr>
          <p:nvPr/>
        </p:nvPicPr>
        <p:blipFill>
          <a:blip r:embed="rId5"/>
          <a:stretch>
            <a:fillRect/>
          </a:stretch>
        </p:blipFill>
        <p:spPr>
          <a:xfrm>
            <a:off x="2412107" y="5445224"/>
            <a:ext cx="2447925" cy="1038225"/>
          </a:xfrm>
          <a:prstGeom prst="rect">
            <a:avLst/>
          </a:prstGeom>
        </p:spPr>
      </p:pic>
      <p:sp>
        <p:nvSpPr>
          <p:cNvPr id="2" name="文本框 1">
            <a:extLst>
              <a:ext uri="{FF2B5EF4-FFF2-40B4-BE49-F238E27FC236}">
                <a16:creationId xmlns:a16="http://schemas.microsoft.com/office/drawing/2014/main" id="{8E9C9CE8-4362-C6EB-7FB8-87051644CB24}"/>
              </a:ext>
            </a:extLst>
          </p:cNvPr>
          <p:cNvSpPr txBox="1"/>
          <p:nvPr/>
        </p:nvSpPr>
        <p:spPr>
          <a:xfrm>
            <a:off x="323528" y="1886420"/>
            <a:ext cx="4536504" cy="430887"/>
          </a:xfrm>
          <a:prstGeom prst="rect">
            <a:avLst/>
          </a:prstGeom>
          <a:noFill/>
        </p:spPr>
        <p:txBody>
          <a:bodyPr wrap="square" rtlCol="0">
            <a:spAutoFit/>
          </a:bodyPr>
          <a:lstStyle/>
          <a:p>
            <a:r>
              <a:rPr lang="zh-CN" altLang="en-US" sz="2200" dirty="0">
                <a:solidFill>
                  <a:srgbClr val="0070C0"/>
                </a:solidFill>
              </a:rPr>
              <a:t>将非光滑问题转化为光滑的</a:t>
            </a:r>
          </a:p>
        </p:txBody>
      </p:sp>
    </p:spTree>
    <p:extLst>
      <p:ext uri="{BB962C8B-B14F-4D97-AF65-F5344CB8AC3E}">
        <p14:creationId xmlns:p14="http://schemas.microsoft.com/office/powerpoint/2010/main" val="40200080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矩形 1">
            <a:extLst>
              <a:ext uri="{FF2B5EF4-FFF2-40B4-BE49-F238E27FC236}">
                <a16:creationId xmlns:a16="http://schemas.microsoft.com/office/drawing/2014/main" id="{95044CB3-D9C9-8313-FCD5-977C9828E385}"/>
              </a:ext>
            </a:extLst>
          </p:cNvPr>
          <p:cNvSpPr>
            <a:spLocks noChangeArrowheads="1"/>
          </p:cNvSpPr>
          <p:nvPr/>
        </p:nvSpPr>
        <p:spPr bwMode="auto">
          <a:xfrm>
            <a:off x="2825457" y="2564606"/>
            <a:ext cx="3228769"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a:r>
              <a:rPr lang="en-US" altLang="zh-CN" sz="3300" b="1" dirty="0"/>
              <a:t>   8.6 </a:t>
            </a:r>
            <a:r>
              <a:rPr lang="zh-CN" altLang="en-US" sz="3300" b="1" dirty="0"/>
              <a:t>共轭梯度法</a:t>
            </a: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BA17E42D-8787-38D5-35CA-0CE2074E8B8D}"/>
              </a:ext>
            </a:extLst>
          </p:cNvPr>
          <p:cNvSpPr txBox="1"/>
          <p:nvPr/>
        </p:nvSpPr>
        <p:spPr>
          <a:xfrm>
            <a:off x="718018" y="1113943"/>
            <a:ext cx="7886429" cy="4630114"/>
          </a:xfrm>
          <a:prstGeom prst="rect">
            <a:avLst/>
          </a:prstGeom>
          <a:noFill/>
        </p:spPr>
        <p:txBody>
          <a:bodyPr wrap="square">
            <a:spAutoFit/>
          </a:bodyPr>
          <a:lstStyle/>
          <a:p>
            <a:pPr indent="266700" algn="just">
              <a:lnSpc>
                <a:spcPct val="150000"/>
              </a:lnSpc>
              <a:spcBef>
                <a:spcPts val="450"/>
              </a:spcBef>
              <a:spcAft>
                <a:spcPts val="450"/>
              </a:spcAft>
              <a:defRPr/>
            </a:pPr>
            <a:r>
              <a:rPr lang="en-US" altLang="zh-CN" sz="2400" kern="100" dirty="0">
                <a:latin typeface="宋体" panose="02010600030101010101" pitchFamily="2" charset="-122"/>
                <a:ea typeface="宋体" panose="02010600030101010101" pitchFamily="2" charset="-122"/>
              </a:rPr>
              <a:t>  </a:t>
            </a:r>
            <a:r>
              <a:rPr lang="zh-CN" altLang="zh-CN" sz="2400" b="1" kern="100" dirty="0">
                <a:solidFill>
                  <a:srgbClr val="0070C0"/>
                </a:solidFill>
                <a:latin typeface="宋体" panose="02010600030101010101" pitchFamily="2" charset="-122"/>
                <a:ea typeface="宋体" panose="02010600030101010101" pitchFamily="2" charset="-122"/>
              </a:rPr>
              <a:t>共轭方向法</a:t>
            </a:r>
            <a:r>
              <a:rPr lang="zh-CN" altLang="zh-CN" sz="2400" kern="100" dirty="0">
                <a:latin typeface="宋体" panose="02010600030101010101" pitchFamily="2" charset="-122"/>
                <a:ea typeface="宋体" panose="02010600030101010101" pitchFamily="2" charset="-122"/>
              </a:rPr>
              <a:t>是介于最速下降法与牛顿法之间的一个方法</a:t>
            </a:r>
            <a:r>
              <a:rPr lang="zh-CN" altLang="en-US" sz="2400" kern="100" dirty="0">
                <a:latin typeface="宋体" panose="02010600030101010101" pitchFamily="2" charset="-122"/>
                <a:ea typeface="宋体" panose="02010600030101010101" pitchFamily="2" charset="-122"/>
              </a:rPr>
              <a:t>。</a:t>
            </a:r>
            <a:r>
              <a:rPr lang="zh-CN" altLang="zh-CN" sz="2400" kern="100" dirty="0">
                <a:latin typeface="宋体" panose="02010600030101010101" pitchFamily="2" charset="-122"/>
                <a:ea typeface="宋体" panose="02010600030101010101" pitchFamily="2" charset="-122"/>
              </a:rPr>
              <a:t>它仅需利用一阶导数信息，但克服了最速下降法收敛慢的缺点，又避免了存储和计算牛顿法所需要的二阶导数信息</a:t>
            </a:r>
            <a:r>
              <a:rPr lang="zh-CN" altLang="en-US" sz="2400" kern="100" dirty="0">
                <a:latin typeface="宋体" panose="02010600030101010101" pitchFamily="2" charset="-122"/>
                <a:ea typeface="宋体" panose="02010600030101010101" pitchFamily="2" charset="-122"/>
              </a:rPr>
              <a:t>。</a:t>
            </a:r>
            <a:endParaRPr lang="zh-CN" altLang="zh-CN" sz="2400" kern="100" dirty="0">
              <a:latin typeface="宋体" panose="02010600030101010101" pitchFamily="2" charset="-122"/>
              <a:ea typeface="宋体" panose="02010600030101010101" pitchFamily="2" charset="-122"/>
            </a:endParaRPr>
          </a:p>
          <a:p>
            <a:pPr indent="266700" algn="just">
              <a:lnSpc>
                <a:spcPct val="150000"/>
              </a:lnSpc>
              <a:spcBef>
                <a:spcPts val="450"/>
              </a:spcBef>
              <a:spcAft>
                <a:spcPts val="450"/>
              </a:spcAft>
              <a:defRPr/>
            </a:pPr>
            <a:r>
              <a:rPr lang="en-US" altLang="zh-CN" sz="2400" kern="100" dirty="0">
                <a:latin typeface="宋体" panose="02010600030101010101" pitchFamily="2" charset="-122"/>
                <a:ea typeface="宋体" panose="02010600030101010101" pitchFamily="2" charset="-122"/>
              </a:rPr>
              <a:t>  </a:t>
            </a:r>
            <a:r>
              <a:rPr lang="zh-CN" altLang="zh-CN" sz="2400" kern="100" dirty="0">
                <a:latin typeface="宋体" panose="02010600030101010101" pitchFamily="2" charset="-122"/>
                <a:ea typeface="宋体" panose="02010600030101010101" pitchFamily="2" charset="-122"/>
              </a:rPr>
              <a:t>本节将要介绍的</a:t>
            </a:r>
            <a:r>
              <a:rPr lang="zh-CN" altLang="zh-CN" sz="2400" b="1" kern="100" dirty="0">
                <a:solidFill>
                  <a:schemeClr val="accent2"/>
                </a:solidFill>
                <a:latin typeface="宋体" panose="02010600030101010101" pitchFamily="2" charset="-122"/>
                <a:ea typeface="宋体" panose="02010600030101010101" pitchFamily="2" charset="-122"/>
              </a:rPr>
              <a:t>共轭梯度法</a:t>
            </a:r>
            <a:r>
              <a:rPr lang="zh-CN" altLang="zh-CN" sz="2400" kern="100" dirty="0">
                <a:latin typeface="宋体" panose="02010600030101010101" pitchFamily="2" charset="-122"/>
                <a:ea typeface="宋体" panose="02010600030101010101" pitchFamily="2" charset="-122"/>
              </a:rPr>
              <a:t>就是一种著名的共轭方向法</a:t>
            </a:r>
            <a:r>
              <a:rPr lang="en-US" altLang="zh-CN" sz="2400" kern="100" dirty="0">
                <a:latin typeface="宋体" panose="02010600030101010101" pitchFamily="2" charset="-122"/>
                <a:ea typeface="宋体" panose="02010600030101010101" pitchFamily="2" charset="-122"/>
              </a:rPr>
              <a:t>, </a:t>
            </a:r>
            <a:r>
              <a:rPr lang="zh-CN" altLang="zh-CN" sz="2400" kern="100" dirty="0">
                <a:latin typeface="宋体" panose="02010600030101010101" pitchFamily="2" charset="-122"/>
                <a:ea typeface="宋体" panose="02010600030101010101" pitchFamily="2" charset="-122"/>
              </a:rPr>
              <a:t>是</a:t>
            </a:r>
            <a:r>
              <a:rPr lang="en-US" altLang="zh-CN" sz="2400" kern="100" dirty="0">
                <a:latin typeface="宋体" panose="02010600030101010101" pitchFamily="2" charset="-122"/>
                <a:ea typeface="宋体" panose="02010600030101010101" pitchFamily="2" charset="-122"/>
              </a:rPr>
              <a:t>Fletcher</a:t>
            </a:r>
            <a:r>
              <a:rPr lang="zh-CN" altLang="zh-CN" sz="2400" kern="100" dirty="0">
                <a:latin typeface="宋体" panose="02010600030101010101" pitchFamily="2" charset="-122"/>
                <a:ea typeface="宋体" panose="02010600030101010101" pitchFamily="2" charset="-122"/>
              </a:rPr>
              <a:t>和</a:t>
            </a:r>
            <a:r>
              <a:rPr lang="en-US" altLang="zh-CN" sz="2400" kern="100" dirty="0">
                <a:latin typeface="宋体" panose="02010600030101010101" pitchFamily="2" charset="-122"/>
                <a:ea typeface="宋体" panose="02010600030101010101" pitchFamily="2" charset="-122"/>
              </a:rPr>
              <a:t>Reeves</a:t>
            </a:r>
            <a:r>
              <a:rPr lang="zh-CN" altLang="zh-CN" sz="2400" kern="100" dirty="0">
                <a:latin typeface="宋体" panose="02010600030101010101" pitchFamily="2" charset="-122"/>
                <a:ea typeface="宋体" panose="02010600030101010101" pitchFamily="2" charset="-122"/>
              </a:rPr>
              <a:t>于</a:t>
            </a:r>
            <a:r>
              <a:rPr lang="en-US" altLang="zh-CN" sz="2400" kern="100" dirty="0">
                <a:latin typeface="宋体" panose="02010600030101010101" pitchFamily="2" charset="-122"/>
                <a:ea typeface="宋体" panose="02010600030101010101" pitchFamily="2" charset="-122"/>
              </a:rPr>
              <a:t>1964</a:t>
            </a:r>
            <a:r>
              <a:rPr lang="zh-CN" altLang="zh-CN" sz="2400" kern="100" dirty="0">
                <a:latin typeface="宋体" panose="02010600030101010101" pitchFamily="2" charset="-122"/>
                <a:ea typeface="宋体" panose="02010600030101010101" pitchFamily="2" charset="-122"/>
              </a:rPr>
              <a:t>年针对求正定函数极小值提出的，简称</a:t>
            </a:r>
            <a:r>
              <a:rPr lang="en-US" altLang="zh-CN" sz="2400" kern="100" dirty="0">
                <a:latin typeface="宋体" panose="02010600030101010101" pitchFamily="2" charset="-122"/>
                <a:ea typeface="宋体" panose="02010600030101010101" pitchFamily="2" charset="-122"/>
              </a:rPr>
              <a:t>FR</a:t>
            </a:r>
            <a:r>
              <a:rPr lang="zh-CN" altLang="zh-CN" sz="2400" kern="100" dirty="0">
                <a:latin typeface="宋体" panose="02010600030101010101" pitchFamily="2" charset="-122"/>
                <a:ea typeface="宋体" panose="02010600030101010101" pitchFamily="2" charset="-122"/>
              </a:rPr>
              <a:t>法</a:t>
            </a:r>
            <a:r>
              <a:rPr lang="zh-CN" altLang="en-US" sz="2400" kern="100" dirty="0">
                <a:latin typeface="宋体" panose="02010600030101010101" pitchFamily="2" charset="-122"/>
                <a:ea typeface="宋体" panose="02010600030101010101" pitchFamily="2" charset="-122"/>
              </a:rPr>
              <a:t>。</a:t>
            </a:r>
            <a:endParaRPr lang="zh-CN" altLang="zh-CN" sz="2400" kern="100" dirty="0">
              <a:latin typeface="宋体" panose="02010600030101010101" pitchFamily="2" charset="-122"/>
              <a:ea typeface="宋体" panose="02010600030101010101" pitchFamily="2" charset="-122"/>
            </a:endParaRPr>
          </a:p>
          <a:p>
            <a:pPr indent="200025" algn="just">
              <a:lnSpc>
                <a:spcPct val="150000"/>
              </a:lnSpc>
              <a:defRPr/>
            </a:pPr>
            <a:endParaRPr lang="zh-CN" altLang="zh-CN" sz="2400" kern="100"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3011413E-054E-BA2B-CA5F-F8BE8FB50C74}"/>
              </a:ext>
            </a:extLst>
          </p:cNvPr>
          <p:cNvSpPr>
            <a:spLocks noGrp="1" noChangeArrowheads="1"/>
          </p:cNvSpPr>
          <p:nvPr>
            <p:ph type="title"/>
          </p:nvPr>
        </p:nvSpPr>
        <p:spPr>
          <a:xfrm>
            <a:off x="209180" y="312666"/>
            <a:ext cx="7886700" cy="994172"/>
          </a:xfrm>
        </p:spPr>
        <p:txBody>
          <a:bodyPr>
            <a:normAutofit/>
          </a:bodyPr>
          <a:lstStyle/>
          <a:p>
            <a:pPr eaLnBrk="1" hangingPunct="1"/>
            <a:r>
              <a:rPr lang="zh-CN" altLang="en-US" sz="2400" b="1" dirty="0">
                <a:latin typeface="黑体" panose="02010609060101010101" pitchFamily="49" charset="-122"/>
                <a:ea typeface="黑体" panose="02010609060101010101" pitchFamily="49" charset="-122"/>
              </a:rPr>
              <a:t>一、</a:t>
            </a:r>
            <a:r>
              <a:rPr lang="en-US" altLang="zh-CN"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基本概念和基本定理</a:t>
            </a:r>
            <a:r>
              <a:rPr lang="zh-CN" altLang="en-US" sz="2400" dirty="0">
                <a:latin typeface="黑体" panose="02010609060101010101" pitchFamily="49" charset="-122"/>
                <a:ea typeface="黑体" panose="02010609060101010101" pitchFamily="49" charset="-122"/>
              </a:rPr>
              <a:t> </a:t>
            </a:r>
          </a:p>
        </p:txBody>
      </p:sp>
      <p:sp>
        <p:nvSpPr>
          <p:cNvPr id="2" name="文本框 1">
            <a:extLst>
              <a:ext uri="{FF2B5EF4-FFF2-40B4-BE49-F238E27FC236}">
                <a16:creationId xmlns:a16="http://schemas.microsoft.com/office/drawing/2014/main" id="{5D9EFC1B-2A2F-1AC5-7B52-E92B748EAB4D}"/>
              </a:ext>
            </a:extLst>
          </p:cNvPr>
          <p:cNvSpPr txBox="1"/>
          <p:nvPr/>
        </p:nvSpPr>
        <p:spPr>
          <a:xfrm>
            <a:off x="827584" y="4869160"/>
            <a:ext cx="4580878" cy="461665"/>
          </a:xfrm>
          <a:prstGeom prst="rect">
            <a:avLst/>
          </a:prstGeom>
          <a:noFill/>
        </p:spPr>
        <p:txBody>
          <a:bodyPr wrap="square" rtlCol="0">
            <a:spAutoFit/>
          </a:bodyPr>
          <a:lstStyle/>
          <a:p>
            <a:r>
              <a:rPr lang="zh-CN" altLang="en-US" sz="2400" dirty="0">
                <a:latin typeface="宋体" panose="02010600030101010101" pitchFamily="2" charset="-122"/>
                <a:ea typeface="宋体" panose="02010600030101010101" pitchFamily="2" charset="-122"/>
              </a:rPr>
              <a:t>注：共轭是正交的推广。</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B0CA86B9-4B2B-17FB-5E1A-9302D8C3D60F}"/>
                  </a:ext>
                </a:extLst>
              </p:cNvPr>
              <p:cNvSpPr txBox="1"/>
              <p:nvPr/>
            </p:nvSpPr>
            <p:spPr>
              <a:xfrm>
                <a:off x="209180" y="1180001"/>
                <a:ext cx="8725640" cy="3021918"/>
              </a:xfrm>
              <a:prstGeom prst="rect">
                <a:avLst/>
              </a:prstGeom>
              <a:noFill/>
            </p:spPr>
            <p:txBody>
              <a:bodyPr wrap="square" rtlCol="0">
                <a:spAutoFit/>
              </a:bodyPr>
              <a:lstStyle/>
              <a:p>
                <a:pPr indent="200025" algn="just">
                  <a:lnSpc>
                    <a:spcPct val="150000"/>
                  </a:lnSpc>
                  <a:spcAft>
                    <a:spcPts val="450"/>
                  </a:spcAft>
                </a:pPr>
                <a:r>
                  <a:rPr lang="en-US" altLang="zh-CN" sz="2000" b="1" kern="100" dirty="0">
                    <a:solidFill>
                      <a:srgbClr val="FF0000"/>
                    </a:solidFill>
                    <a:latin typeface="Times New Roman" panose="02020603050405020304" pitchFamily="18" charset="0"/>
                    <a:ea typeface="宋体" panose="02010600030101010101" pitchFamily="2" charset="-122"/>
                  </a:rPr>
                  <a:t>    </a:t>
                </a:r>
                <a:r>
                  <a:rPr lang="zh-CN" altLang="zh-CN" sz="2000" b="1" kern="100" dirty="0">
                    <a:solidFill>
                      <a:srgbClr val="FF0000"/>
                    </a:solidFill>
                    <a:latin typeface="Times New Roman" panose="02020603050405020304" pitchFamily="18" charset="0"/>
                    <a:ea typeface="宋体" panose="02010600030101010101" pitchFamily="2" charset="-122"/>
                  </a:rPr>
                  <a:t>定义</a:t>
                </a:r>
                <a:r>
                  <a:rPr lang="en-US" altLang="zh-CN" sz="2000" b="1" kern="100" dirty="0">
                    <a:solidFill>
                      <a:srgbClr val="FF0000"/>
                    </a:solidFill>
                    <a:latin typeface="Times New Roman" panose="02020603050405020304" pitchFamily="18" charset="0"/>
                    <a:ea typeface="宋体" panose="02010600030101010101" pitchFamily="2" charset="-122"/>
                  </a:rPr>
                  <a:t>1</a:t>
                </a:r>
                <a:r>
                  <a:rPr lang="zh-CN" altLang="zh-CN" sz="2000" b="1" kern="100" dirty="0">
                    <a:solidFill>
                      <a:srgbClr val="FF0000"/>
                    </a:solidFill>
                    <a:latin typeface="Times New Roman" panose="02020603050405020304" pitchFamily="18" charset="0"/>
                    <a:ea typeface="宋体" panose="02010600030101010101" pitchFamily="2" charset="-122"/>
                  </a:rPr>
                  <a:t>（正交）</a:t>
                </a:r>
                <a:endParaRPr lang="zh-CN" altLang="zh-CN" sz="2000" kern="100" dirty="0">
                  <a:latin typeface="Times New Roman" panose="02020603050405020304" pitchFamily="18" charset="0"/>
                  <a:ea typeface="宋体" panose="02010600030101010101" pitchFamily="2" charset="-122"/>
                </a:endParaRPr>
              </a:p>
              <a:p>
                <a:pPr algn="just">
                  <a:lnSpc>
                    <a:spcPct val="150000"/>
                  </a:lnSpc>
                </a:pPr>
                <a:r>
                  <a:rPr lang="en-US" altLang="zh-CN" sz="2000" kern="100" dirty="0">
                    <a:latin typeface="Times New Roman" panose="02020603050405020304" pitchFamily="18" charset="0"/>
                    <a:ea typeface="宋体" panose="02010600030101010101" pitchFamily="2" charset="-122"/>
                  </a:rPr>
                  <a:t>       </a:t>
                </a:r>
                <a:r>
                  <a:rPr lang="zh-CN" altLang="zh-CN" sz="2000" kern="100" dirty="0">
                    <a:latin typeface="Times New Roman" panose="02020603050405020304" pitchFamily="18" charset="0"/>
                    <a:ea typeface="宋体" panose="02010600030101010101" pitchFamily="2" charset="-122"/>
                  </a:rPr>
                  <a:t>设</a:t>
                </a:r>
                <a:r>
                  <a:rPr lang="en-US" altLang="zh-CN" sz="2000" i="1" kern="100" dirty="0">
                    <a:latin typeface="Times New Roman" panose="02020603050405020304" pitchFamily="18" charset="0"/>
                    <a:ea typeface="宋体" panose="02010600030101010101" pitchFamily="2" charset="-122"/>
                  </a:rPr>
                  <a:t>x</a:t>
                </a:r>
                <a:r>
                  <a:rPr lang="zh-CN" altLang="zh-CN" sz="2000" kern="100" dirty="0">
                    <a:latin typeface="Times New Roman" panose="02020603050405020304" pitchFamily="18" charset="0"/>
                    <a:ea typeface="宋体" panose="02010600030101010101" pitchFamily="2" charset="-122"/>
                  </a:rPr>
                  <a:t>和</a:t>
                </a:r>
                <a:r>
                  <a:rPr lang="en-US" altLang="zh-CN" sz="2000" i="1" kern="100" dirty="0">
                    <a:latin typeface="Times New Roman" panose="02020603050405020304" pitchFamily="18" charset="0"/>
                    <a:ea typeface="宋体" panose="02010600030101010101" pitchFamily="2" charset="-122"/>
                  </a:rPr>
                  <a:t>y</a:t>
                </a:r>
                <a:r>
                  <a:rPr lang="zh-CN" altLang="zh-CN" sz="2000" kern="100" dirty="0">
                    <a:latin typeface="Times New Roman" panose="02020603050405020304" pitchFamily="18" charset="0"/>
                    <a:ea typeface="宋体" panose="02010600030101010101" pitchFamily="2" charset="-122"/>
                  </a:rPr>
                  <a:t>是</a:t>
                </a:r>
                <a:r>
                  <a:rPr lang="en-US" altLang="zh-CN" sz="2000" i="1" kern="100" dirty="0">
                    <a:latin typeface="Times New Roman" panose="02020603050405020304" pitchFamily="18" charset="0"/>
                    <a:ea typeface="宋体" panose="02010600030101010101" pitchFamily="2" charset="-122"/>
                  </a:rPr>
                  <a:t>n</a:t>
                </a:r>
                <a:r>
                  <a:rPr lang="zh-CN" altLang="zh-CN" sz="2000" kern="100" dirty="0">
                    <a:latin typeface="Times New Roman" panose="02020603050405020304" pitchFamily="18" charset="0"/>
                    <a:ea typeface="宋体" panose="02010600030101010101" pitchFamily="2" charset="-122"/>
                  </a:rPr>
                  <a:t>维欧氏空间</a:t>
                </a:r>
                <a14:m>
                  <m:oMath xmlns:m="http://schemas.openxmlformats.org/officeDocument/2006/math">
                    <m:sSup>
                      <m:sSupPr>
                        <m:ctrlPr>
                          <a:rPr lang="zh-CN" altLang="zh-CN" sz="2000" i="1" kern="100">
                            <a:latin typeface="Cambria Math" panose="02040503050406030204" pitchFamily="18" charset="0"/>
                            <a:ea typeface="Cambria Math" panose="02040503050406030204" pitchFamily="18" charset="0"/>
                          </a:rPr>
                        </m:ctrlPr>
                      </m:sSupPr>
                      <m:e>
                        <m:r>
                          <a:rPr lang="en-US" altLang="zh-CN" sz="2000" i="1" kern="100">
                            <a:latin typeface="Cambria Math" panose="02040503050406030204" pitchFamily="18" charset="0"/>
                            <a:ea typeface="宋体" panose="02010600030101010101" pitchFamily="2" charset="-122"/>
                          </a:rPr>
                          <m:t>𝑅</m:t>
                        </m:r>
                      </m:e>
                      <m:sup>
                        <m:r>
                          <a:rPr lang="en-US" altLang="zh-CN" sz="2000" i="1" kern="100">
                            <a:latin typeface="Cambria Math" panose="02040503050406030204" pitchFamily="18" charset="0"/>
                            <a:ea typeface="宋体" panose="02010600030101010101" pitchFamily="2" charset="-122"/>
                          </a:rPr>
                          <m:t>𝑛</m:t>
                        </m:r>
                      </m:sup>
                    </m:sSup>
                  </m:oMath>
                </a14:m>
                <a:r>
                  <a:rPr lang="zh-CN" altLang="zh-CN" sz="2000" kern="100" dirty="0">
                    <a:latin typeface="Times New Roman" panose="02020603050405020304" pitchFamily="18" charset="0"/>
                    <a:ea typeface="宋体" panose="02010600030101010101" pitchFamily="2" charset="-122"/>
                  </a:rPr>
                  <a:t>中的两个向量，若有</a:t>
                </a:r>
                <a14:m>
                  <m:oMath xmlns:m="http://schemas.openxmlformats.org/officeDocument/2006/math">
                    <m:d>
                      <m:dPr>
                        <m:begChr m:val="⟨"/>
                        <m:endChr m:val="⟩"/>
                        <m:ctrlPr>
                          <a:rPr lang="en-US" altLang="zh-CN" sz="2000" i="1" kern="100" smtClean="0">
                            <a:latin typeface="Cambria Math" panose="02040503050406030204" pitchFamily="18" charset="0"/>
                            <a:ea typeface="宋体" panose="02010600030101010101" pitchFamily="2" charset="-122"/>
                          </a:rPr>
                        </m:ctrlPr>
                      </m:dPr>
                      <m:e>
                        <m:r>
                          <a:rPr lang="en-US" altLang="zh-CN" sz="2000" i="1" kern="100">
                            <a:latin typeface="Cambria Math" panose="02040503050406030204" pitchFamily="18" charset="0"/>
                          </a:rPr>
                          <m:t>𝑥</m:t>
                        </m:r>
                        <m:r>
                          <a:rPr lang="en-US" altLang="zh-CN" sz="2000" i="1" kern="100">
                            <a:latin typeface="Cambria Math" panose="02040503050406030204" pitchFamily="18" charset="0"/>
                          </a:rPr>
                          <m:t>,</m:t>
                        </m:r>
                        <m:r>
                          <a:rPr lang="en-US" altLang="zh-CN" sz="2000" i="1" kern="100">
                            <a:latin typeface="Cambria Math" panose="02040503050406030204" pitchFamily="18" charset="0"/>
                          </a:rPr>
                          <m:t>𝑦</m:t>
                        </m:r>
                      </m:e>
                    </m:d>
                    <m:r>
                      <a:rPr lang="en-US" altLang="zh-CN" sz="2000" i="1" kern="100">
                        <a:latin typeface="Cambria Math" panose="02040503050406030204" pitchFamily="18" charset="0"/>
                        <a:ea typeface="宋体" panose="02010600030101010101" pitchFamily="2" charset="-122"/>
                      </a:rPr>
                      <m:t>=0</m:t>
                    </m:r>
                  </m:oMath>
                </a14:m>
                <a:r>
                  <a:rPr lang="zh-CN" altLang="zh-CN" sz="2000" kern="100" dirty="0">
                    <a:latin typeface="Times New Roman" panose="02020603050405020304" pitchFamily="18" charset="0"/>
                    <a:ea typeface="宋体" panose="02010600030101010101" pitchFamily="2" charset="-122"/>
                  </a:rPr>
                  <a:t>，就称</a:t>
                </a:r>
                <a:r>
                  <a:rPr lang="en-US" altLang="zh-CN" sz="2000" i="1" kern="100" dirty="0">
                    <a:latin typeface="Times New Roman" panose="02020603050405020304" pitchFamily="18" charset="0"/>
                    <a:ea typeface="宋体" panose="02010600030101010101" pitchFamily="2" charset="-122"/>
                  </a:rPr>
                  <a:t>x</a:t>
                </a:r>
                <a:r>
                  <a:rPr lang="zh-CN" altLang="zh-CN" sz="2000" kern="100" dirty="0">
                    <a:latin typeface="Times New Roman" panose="02020603050405020304" pitchFamily="18" charset="0"/>
                    <a:ea typeface="宋体" panose="02010600030101010101" pitchFamily="2" charset="-122"/>
                  </a:rPr>
                  <a:t>和</a:t>
                </a:r>
                <a:r>
                  <a:rPr lang="en-US" altLang="zh-CN" sz="2000" i="1" kern="100" dirty="0">
                    <a:latin typeface="Times New Roman" panose="02020603050405020304" pitchFamily="18" charset="0"/>
                    <a:ea typeface="宋体" panose="02010600030101010101" pitchFamily="2" charset="-122"/>
                  </a:rPr>
                  <a:t>y</a:t>
                </a:r>
                <a:r>
                  <a:rPr lang="zh-CN" altLang="zh-CN" sz="2000" kern="100" dirty="0">
                    <a:latin typeface="Times New Roman" panose="02020603050405020304" pitchFamily="18" charset="0"/>
                    <a:ea typeface="宋体" panose="02010600030101010101" pitchFamily="2" charset="-122"/>
                  </a:rPr>
                  <a:t>正交。</a:t>
                </a:r>
                <a:r>
                  <a:rPr lang="en-US" altLang="zh-CN" sz="2000" b="1" kern="100" dirty="0">
                    <a:solidFill>
                      <a:srgbClr val="FF0000"/>
                    </a:solidFill>
                    <a:latin typeface="Times New Roman" panose="02020603050405020304" pitchFamily="18" charset="0"/>
                    <a:ea typeface="宋体" panose="02010600030101010101" pitchFamily="2" charset="-122"/>
                  </a:rPr>
                  <a:t>       </a:t>
                </a:r>
              </a:p>
              <a:p>
                <a:pPr algn="just">
                  <a:lnSpc>
                    <a:spcPct val="150000"/>
                  </a:lnSpc>
                </a:pPr>
                <a:r>
                  <a:rPr lang="en-US" altLang="zh-CN" sz="2000" b="1" kern="100" dirty="0">
                    <a:solidFill>
                      <a:srgbClr val="FF0000"/>
                    </a:solidFill>
                    <a:latin typeface="Times New Roman" panose="02020603050405020304" pitchFamily="18" charset="0"/>
                    <a:ea typeface="宋体" panose="02010600030101010101" pitchFamily="2" charset="-122"/>
                  </a:rPr>
                  <a:t>       </a:t>
                </a:r>
                <a:r>
                  <a:rPr lang="zh-CN" altLang="zh-CN" sz="2000" b="1" kern="100" dirty="0">
                    <a:solidFill>
                      <a:srgbClr val="FF0000"/>
                    </a:solidFill>
                    <a:latin typeface="Times New Roman" panose="02020603050405020304" pitchFamily="18" charset="0"/>
                    <a:ea typeface="宋体" panose="02010600030101010101" pitchFamily="2" charset="-122"/>
                  </a:rPr>
                  <a:t>定义</a:t>
                </a:r>
                <a:r>
                  <a:rPr lang="en-US" altLang="zh-CN" sz="2000" b="1" kern="100" dirty="0">
                    <a:solidFill>
                      <a:srgbClr val="FF0000"/>
                    </a:solidFill>
                    <a:latin typeface="Times New Roman" panose="02020603050405020304" pitchFamily="18" charset="0"/>
                    <a:ea typeface="宋体" panose="02010600030101010101" pitchFamily="2" charset="-122"/>
                  </a:rPr>
                  <a:t>2</a:t>
                </a:r>
                <a:r>
                  <a:rPr lang="zh-CN" altLang="zh-CN" sz="2000" b="1" kern="100" dirty="0">
                    <a:solidFill>
                      <a:srgbClr val="FF0000"/>
                    </a:solidFill>
                    <a:latin typeface="Times New Roman" panose="02020603050405020304" pitchFamily="18" charset="0"/>
                    <a:ea typeface="宋体" panose="02010600030101010101" pitchFamily="2" charset="-122"/>
                  </a:rPr>
                  <a:t>（共轭）</a:t>
                </a:r>
                <a:endParaRPr lang="zh-CN" altLang="zh-CN" sz="2000" kern="100" dirty="0">
                  <a:latin typeface="Times New Roman" panose="02020603050405020304" pitchFamily="18" charset="0"/>
                  <a:ea typeface="宋体" panose="02010600030101010101" pitchFamily="2" charset="-122"/>
                </a:endParaRPr>
              </a:p>
              <a:p>
                <a:pPr algn="just">
                  <a:lnSpc>
                    <a:spcPct val="150000"/>
                  </a:lnSpc>
                </a:pPr>
                <a:r>
                  <a:rPr lang="en-US" altLang="zh-CN" sz="2000" kern="100" dirty="0">
                    <a:latin typeface="Times New Roman" panose="02020603050405020304" pitchFamily="18" charset="0"/>
                    <a:ea typeface="宋体" panose="02010600030101010101" pitchFamily="2" charset="-122"/>
                  </a:rPr>
                  <a:t>       </a:t>
                </a:r>
                <a:r>
                  <a:rPr lang="zh-CN" altLang="zh-CN" sz="2000" kern="100" dirty="0">
                    <a:latin typeface="Times New Roman" panose="02020603050405020304" pitchFamily="18" charset="0"/>
                    <a:ea typeface="宋体" panose="02010600030101010101" pitchFamily="2" charset="-122"/>
                  </a:rPr>
                  <a:t>设</a:t>
                </a:r>
                <a:r>
                  <a:rPr lang="en-US" altLang="zh-CN" sz="2000" i="1" kern="100" dirty="0">
                    <a:latin typeface="Times New Roman" panose="02020603050405020304" pitchFamily="18" charset="0"/>
                    <a:ea typeface="宋体" panose="02010600030101010101" pitchFamily="2" charset="-122"/>
                  </a:rPr>
                  <a:t>A</a:t>
                </a:r>
                <a:r>
                  <a:rPr lang="zh-CN" altLang="zh-CN" sz="2000" kern="100" dirty="0">
                    <a:latin typeface="Times New Roman" panose="02020603050405020304" pitchFamily="18" charset="0"/>
                    <a:ea typeface="宋体" panose="02010600030101010101" pitchFamily="2" charset="-122"/>
                  </a:rPr>
                  <a:t>是</a:t>
                </a:r>
                <a14:m>
                  <m:oMath xmlns:m="http://schemas.openxmlformats.org/officeDocument/2006/math">
                    <m:r>
                      <a:rPr lang="en-US" altLang="zh-CN" sz="2000" i="1" kern="100">
                        <a:latin typeface="Cambria Math" panose="02040503050406030204" pitchFamily="18" charset="0"/>
                        <a:ea typeface="宋体" panose="02010600030101010101" pitchFamily="2" charset="-122"/>
                      </a:rPr>
                      <m:t>𝑛</m:t>
                    </m:r>
                    <m:r>
                      <a:rPr lang="en-US" altLang="zh-CN" sz="2000" i="1" kern="100">
                        <a:latin typeface="Cambria Math" panose="02040503050406030204" pitchFamily="18" charset="0"/>
                        <a:ea typeface="宋体" panose="02010600030101010101" pitchFamily="2" charset="-122"/>
                      </a:rPr>
                      <m:t>×</m:t>
                    </m:r>
                    <m:r>
                      <a:rPr lang="en-US" altLang="zh-CN" sz="2000" i="1" kern="100">
                        <a:latin typeface="Cambria Math" panose="02040503050406030204" pitchFamily="18" charset="0"/>
                        <a:ea typeface="宋体" panose="02010600030101010101" pitchFamily="2" charset="-122"/>
                      </a:rPr>
                      <m:t>𝑛</m:t>
                    </m:r>
                  </m:oMath>
                </a14:m>
                <a:r>
                  <a:rPr lang="zh-CN" altLang="zh-CN" sz="2000" kern="100" dirty="0">
                    <a:latin typeface="Times New Roman" panose="02020603050405020304" pitchFamily="18" charset="0"/>
                    <a:ea typeface="宋体" panose="02010600030101010101" pitchFamily="2" charset="-122"/>
                  </a:rPr>
                  <a:t>对称正定矩阵，若</a:t>
                </a:r>
                <a:r>
                  <a:rPr lang="en-US" altLang="zh-CN" sz="2000" i="1" kern="100" dirty="0">
                    <a:latin typeface="Times New Roman" panose="02020603050405020304" pitchFamily="18" charset="0"/>
                    <a:ea typeface="宋体" panose="02010600030101010101" pitchFamily="2" charset="-122"/>
                  </a:rPr>
                  <a:t>n</a:t>
                </a:r>
                <a:r>
                  <a:rPr lang="zh-CN" altLang="zh-CN" sz="2000" kern="100" dirty="0">
                    <a:latin typeface="Times New Roman" panose="02020603050405020304" pitchFamily="18" charset="0"/>
                    <a:ea typeface="宋体" panose="02010600030101010101" pitchFamily="2" charset="-122"/>
                  </a:rPr>
                  <a:t>维欧氏空间</a:t>
                </a:r>
                <a14:m>
                  <m:oMath xmlns:m="http://schemas.openxmlformats.org/officeDocument/2006/math">
                    <m:sSup>
                      <m:sSupPr>
                        <m:ctrlPr>
                          <a:rPr lang="zh-CN" altLang="zh-CN" sz="2000" i="1" kern="100">
                            <a:latin typeface="Cambria Math" panose="02040503050406030204" pitchFamily="18" charset="0"/>
                            <a:ea typeface="Cambria Math" panose="02040503050406030204" pitchFamily="18" charset="0"/>
                          </a:rPr>
                        </m:ctrlPr>
                      </m:sSupPr>
                      <m:e>
                        <m:r>
                          <a:rPr lang="en-US" altLang="zh-CN" sz="2000" i="1" kern="100">
                            <a:latin typeface="Cambria Math" panose="02040503050406030204" pitchFamily="18" charset="0"/>
                            <a:ea typeface="宋体" panose="02010600030101010101" pitchFamily="2" charset="-122"/>
                          </a:rPr>
                          <m:t>𝑅</m:t>
                        </m:r>
                      </m:e>
                      <m:sup>
                        <m:r>
                          <a:rPr lang="en-US" altLang="zh-CN" sz="2000" i="1" kern="100">
                            <a:latin typeface="Cambria Math" panose="02040503050406030204" pitchFamily="18" charset="0"/>
                            <a:ea typeface="宋体" panose="02010600030101010101" pitchFamily="2" charset="-122"/>
                          </a:rPr>
                          <m:t>𝑛</m:t>
                        </m:r>
                      </m:sup>
                    </m:sSup>
                  </m:oMath>
                </a14:m>
                <a:r>
                  <a:rPr lang="zh-CN" altLang="zh-CN" sz="2000" kern="100" dirty="0">
                    <a:latin typeface="Times New Roman" panose="02020603050405020304" pitchFamily="18" charset="0"/>
                    <a:ea typeface="宋体" panose="02010600030101010101" pitchFamily="2" charset="-122"/>
                  </a:rPr>
                  <a:t>中的两个向量</a:t>
                </a:r>
                <a:r>
                  <a:rPr lang="en-US" altLang="zh-CN" sz="2000" i="1" kern="100" dirty="0">
                    <a:latin typeface="Times New Roman" panose="02020603050405020304" pitchFamily="18" charset="0"/>
                    <a:ea typeface="宋体" panose="02010600030101010101" pitchFamily="2" charset="-122"/>
                  </a:rPr>
                  <a:t>x</a:t>
                </a:r>
                <a:r>
                  <a:rPr lang="zh-CN" altLang="zh-CN" sz="2000" kern="100" dirty="0">
                    <a:latin typeface="Times New Roman" panose="02020603050405020304" pitchFamily="18" charset="0"/>
                    <a:ea typeface="宋体" panose="02010600030101010101" pitchFamily="2" charset="-122"/>
                  </a:rPr>
                  <a:t>和</a:t>
                </a:r>
                <a:r>
                  <a:rPr lang="en-US" altLang="zh-CN" sz="2000" i="1" kern="100" dirty="0">
                    <a:latin typeface="Times New Roman" panose="02020603050405020304" pitchFamily="18" charset="0"/>
                    <a:ea typeface="宋体" panose="02010600030101010101" pitchFamily="2" charset="-122"/>
                  </a:rPr>
                  <a:t>y</a:t>
                </a:r>
                <a:r>
                  <a:rPr lang="zh-CN" altLang="zh-CN" sz="2000" kern="100" dirty="0">
                    <a:latin typeface="Times New Roman" panose="02020603050405020304" pitchFamily="18" charset="0"/>
                    <a:ea typeface="宋体" panose="02010600030101010101" pitchFamily="2" charset="-122"/>
                  </a:rPr>
                  <a:t>满足</a:t>
                </a:r>
              </a:p>
              <a:p>
                <a:pPr algn="just"/>
                <a:endParaRPr lang="en-US" altLang="zh-CN" sz="2000" i="1" kern="100" dirty="0">
                  <a:latin typeface="Cambria Math" panose="02040503050406030204" pitchFamily="18" charset="0"/>
                  <a:ea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sSup>
                        <m:sSupPr>
                          <m:ctrlPr>
                            <a:rPr lang="zh-CN" altLang="zh-CN" sz="2000" i="1" kern="100">
                              <a:latin typeface="Cambria Math" panose="02040503050406030204" pitchFamily="18" charset="0"/>
                              <a:ea typeface="Cambria Math" panose="02040503050406030204" pitchFamily="18" charset="0"/>
                            </a:rPr>
                          </m:ctrlPr>
                        </m:sSupPr>
                        <m:e>
                          <m:r>
                            <a:rPr lang="en-US" altLang="zh-CN" sz="2000" i="1" kern="100">
                              <a:latin typeface="Cambria Math" panose="02040503050406030204" pitchFamily="18" charset="0"/>
                              <a:ea typeface="宋体" panose="02010600030101010101" pitchFamily="2" charset="-122"/>
                            </a:rPr>
                            <m:t>𝑥</m:t>
                          </m:r>
                        </m:e>
                        <m:sup>
                          <m:r>
                            <a:rPr lang="en-US" altLang="zh-CN" sz="2000" i="1" kern="100">
                              <a:latin typeface="Cambria Math" panose="02040503050406030204" pitchFamily="18" charset="0"/>
                              <a:ea typeface="宋体" panose="02010600030101010101" pitchFamily="2" charset="-122"/>
                            </a:rPr>
                            <m:t>𝑇</m:t>
                          </m:r>
                        </m:sup>
                      </m:sSup>
                      <m:r>
                        <a:rPr lang="en-US" altLang="zh-CN" sz="2000" i="1" kern="100">
                          <a:latin typeface="Cambria Math" panose="02040503050406030204" pitchFamily="18" charset="0"/>
                          <a:ea typeface="宋体" panose="02010600030101010101" pitchFamily="2" charset="-122"/>
                        </a:rPr>
                        <m:t>𝐴𝑦</m:t>
                      </m:r>
                      <m:r>
                        <a:rPr lang="en-US" altLang="zh-CN" sz="2000" i="1" kern="100">
                          <a:latin typeface="Cambria Math" panose="02040503050406030204" pitchFamily="18" charset="0"/>
                          <a:ea typeface="宋体" panose="02010600030101010101" pitchFamily="2" charset="-122"/>
                        </a:rPr>
                        <m:t>=0</m:t>
                      </m:r>
                    </m:oMath>
                  </m:oMathPara>
                </a14:m>
                <a:endParaRPr lang="zh-CN" altLang="zh-CN" sz="2000" kern="100" dirty="0">
                  <a:latin typeface="Times New Roman" panose="02020603050405020304" pitchFamily="18" charset="0"/>
                  <a:ea typeface="宋体" panose="02010600030101010101" pitchFamily="2" charset="-122"/>
                </a:endParaRPr>
              </a:p>
              <a:p>
                <a:pPr algn="just">
                  <a:lnSpc>
                    <a:spcPct val="150000"/>
                  </a:lnSpc>
                </a:pPr>
                <a:r>
                  <a:rPr lang="zh-CN" altLang="zh-CN" sz="2000" kern="100" dirty="0">
                    <a:latin typeface="Times New Roman" panose="02020603050405020304" pitchFamily="18" charset="0"/>
                    <a:ea typeface="宋体" panose="02010600030101010101" pitchFamily="2" charset="-122"/>
                  </a:rPr>
                  <a:t>即</a:t>
                </a:r>
                <a:r>
                  <a:rPr lang="en-US" altLang="zh-CN" sz="2000" i="1" kern="100" dirty="0">
                    <a:latin typeface="Times New Roman" panose="02020603050405020304" pitchFamily="18" charset="0"/>
                    <a:ea typeface="宋体" panose="02010600030101010101" pitchFamily="2" charset="-122"/>
                  </a:rPr>
                  <a:t>Ax</a:t>
                </a:r>
                <a:r>
                  <a:rPr lang="zh-CN" altLang="zh-CN" sz="2000" kern="100" dirty="0">
                    <a:latin typeface="Times New Roman" panose="02020603050405020304" pitchFamily="18" charset="0"/>
                    <a:ea typeface="宋体" panose="02010600030101010101" pitchFamily="2" charset="-122"/>
                  </a:rPr>
                  <a:t>与</a:t>
                </a:r>
                <a:r>
                  <a:rPr lang="en-US" altLang="zh-CN" sz="2000" i="1" kern="100" dirty="0">
                    <a:latin typeface="Times New Roman" panose="02020603050405020304" pitchFamily="18" charset="0"/>
                    <a:ea typeface="宋体" panose="02010600030101010101" pitchFamily="2" charset="-122"/>
                  </a:rPr>
                  <a:t>y</a:t>
                </a:r>
                <a:r>
                  <a:rPr lang="zh-CN" altLang="zh-CN" sz="2000" kern="100" dirty="0">
                    <a:latin typeface="Times New Roman" panose="02020603050405020304" pitchFamily="18" charset="0"/>
                    <a:ea typeface="宋体" panose="02010600030101010101" pitchFamily="2" charset="-122"/>
                  </a:rPr>
                  <a:t>正交，则称向量</a:t>
                </a:r>
                <a:r>
                  <a:rPr lang="en-US" altLang="zh-CN" sz="2000" i="1" kern="100" dirty="0">
                    <a:latin typeface="Times New Roman" panose="02020603050405020304" pitchFamily="18" charset="0"/>
                    <a:ea typeface="宋体" panose="02010600030101010101" pitchFamily="2" charset="-122"/>
                  </a:rPr>
                  <a:t>x</a:t>
                </a:r>
                <a:r>
                  <a:rPr lang="zh-CN" altLang="zh-CN" sz="2000" kern="100" dirty="0">
                    <a:latin typeface="Times New Roman" panose="02020603050405020304" pitchFamily="18" charset="0"/>
                    <a:ea typeface="宋体" panose="02010600030101010101" pitchFamily="2" charset="-122"/>
                  </a:rPr>
                  <a:t>和</a:t>
                </a:r>
                <a:r>
                  <a:rPr lang="en-US" altLang="zh-CN" sz="2000" i="1" kern="100" dirty="0">
                    <a:latin typeface="Times New Roman" panose="02020603050405020304" pitchFamily="18" charset="0"/>
                    <a:ea typeface="宋体" panose="02010600030101010101" pitchFamily="2" charset="-122"/>
                  </a:rPr>
                  <a:t>y</a:t>
                </a:r>
                <a:r>
                  <a:rPr lang="zh-CN" altLang="zh-CN" sz="2000" kern="100" dirty="0">
                    <a:latin typeface="Times New Roman" panose="02020603050405020304" pitchFamily="18" charset="0"/>
                    <a:ea typeface="宋体" panose="02010600030101010101" pitchFamily="2" charset="-122"/>
                  </a:rPr>
                  <a:t>关于</a:t>
                </a:r>
                <a:r>
                  <a:rPr lang="en-US" altLang="zh-CN" sz="2000" i="1" kern="100" dirty="0">
                    <a:latin typeface="Times New Roman" panose="02020603050405020304" pitchFamily="18" charset="0"/>
                    <a:ea typeface="宋体" panose="02010600030101010101" pitchFamily="2" charset="-122"/>
                  </a:rPr>
                  <a:t>A</a:t>
                </a:r>
                <a:r>
                  <a:rPr lang="zh-CN" altLang="zh-CN" sz="2000" kern="100" dirty="0">
                    <a:latin typeface="Times New Roman" panose="02020603050405020304" pitchFamily="18" charset="0"/>
                    <a:ea typeface="宋体" panose="02010600030101010101" pitchFamily="2" charset="-122"/>
                  </a:rPr>
                  <a:t>共轭，或称它们关于</a:t>
                </a:r>
                <a:r>
                  <a:rPr lang="en-US" altLang="zh-CN" sz="2000" i="1" kern="100" dirty="0">
                    <a:latin typeface="Times New Roman" panose="02020603050405020304" pitchFamily="18" charset="0"/>
                    <a:ea typeface="宋体" panose="02010600030101010101" pitchFamily="2" charset="-122"/>
                  </a:rPr>
                  <a:t>A</a:t>
                </a:r>
                <a:r>
                  <a:rPr lang="zh-CN" altLang="zh-CN" sz="2000" kern="100" dirty="0">
                    <a:latin typeface="Times New Roman" panose="02020603050405020304" pitchFamily="18" charset="0"/>
                    <a:ea typeface="宋体" panose="02010600030101010101" pitchFamily="2" charset="-122"/>
                  </a:rPr>
                  <a:t>正交。</a:t>
                </a:r>
                <a:endParaRPr lang="zh-CN" altLang="en-US" sz="2000" dirty="0"/>
              </a:p>
            </p:txBody>
          </p:sp>
        </mc:Choice>
        <mc:Fallback xmlns="">
          <p:sp>
            <p:nvSpPr>
              <p:cNvPr id="3" name="文本框 2">
                <a:extLst>
                  <a:ext uri="{FF2B5EF4-FFF2-40B4-BE49-F238E27FC236}">
                    <a16:creationId xmlns:a16="http://schemas.microsoft.com/office/drawing/2014/main" id="{B0CA86B9-4B2B-17FB-5E1A-9302D8C3D60F}"/>
                  </a:ext>
                </a:extLst>
              </p:cNvPr>
              <p:cNvSpPr txBox="1">
                <a:spLocks noRot="1" noChangeAspect="1" noMove="1" noResize="1" noEditPoints="1" noAdjustHandles="1" noChangeArrowheads="1" noChangeShapeType="1" noTextEdit="1"/>
              </p:cNvSpPr>
              <p:nvPr/>
            </p:nvSpPr>
            <p:spPr>
              <a:xfrm>
                <a:off x="209180" y="1180001"/>
                <a:ext cx="8725640" cy="3021918"/>
              </a:xfrm>
              <a:prstGeom prst="rect">
                <a:avLst/>
              </a:prstGeom>
              <a:blipFill>
                <a:blip r:embed="rId2"/>
                <a:stretch>
                  <a:fillRect l="-698" r="-70" b="-30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E7032C3A-0988-2FA6-527D-37B942BE0568}"/>
                  </a:ext>
                </a:extLst>
              </p:cNvPr>
              <p:cNvSpPr txBox="1"/>
              <p:nvPr/>
            </p:nvSpPr>
            <p:spPr>
              <a:xfrm>
                <a:off x="1475656" y="5493333"/>
                <a:ext cx="4572000" cy="400110"/>
              </a:xfrm>
              <a:prstGeom prst="rect">
                <a:avLst/>
              </a:prstGeom>
              <a:noFill/>
            </p:spPr>
            <p:txBody>
              <a:bodyPr wrap="square">
                <a:spAutoFit/>
              </a:bodyPr>
              <a:lstStyle/>
              <a:p>
                <a14:m>
                  <m:oMath xmlns:m="http://schemas.openxmlformats.org/officeDocument/2006/math">
                    <m:sSup>
                      <m:sSupPr>
                        <m:ctrlPr>
                          <a:rPr lang="zh-CN" altLang="zh-CN" sz="2000" i="1" kern="100" smtClean="0">
                            <a:latin typeface="Cambria Math" panose="02040503050406030204" pitchFamily="18" charset="0"/>
                            <a:ea typeface="Cambria Math" panose="02040503050406030204" pitchFamily="18" charset="0"/>
                          </a:rPr>
                        </m:ctrlPr>
                      </m:sSupPr>
                      <m:e>
                        <m:r>
                          <a:rPr lang="en-US" altLang="zh-CN" sz="2000" i="1" kern="100">
                            <a:latin typeface="Cambria Math" panose="02040503050406030204" pitchFamily="18" charset="0"/>
                          </a:rPr>
                          <m:t>𝑥</m:t>
                        </m:r>
                      </m:e>
                      <m:sup>
                        <m:r>
                          <a:rPr lang="en-US" altLang="zh-CN" sz="2000" i="1" kern="100">
                            <a:latin typeface="Cambria Math" panose="02040503050406030204" pitchFamily="18" charset="0"/>
                          </a:rPr>
                          <m:t>𝑇</m:t>
                        </m:r>
                      </m:sup>
                    </m:sSup>
                    <m:r>
                      <a:rPr lang="en-US" altLang="zh-CN" sz="2000" i="1" kern="100">
                        <a:latin typeface="Cambria Math" panose="02040503050406030204" pitchFamily="18" charset="0"/>
                      </a:rPr>
                      <m:t>𝐴𝑦</m:t>
                    </m:r>
                    <m:r>
                      <a:rPr lang="en-US" altLang="zh-CN" sz="2000" b="0" i="1" kern="100" smtClean="0">
                        <a:latin typeface="Cambria Math" panose="02040503050406030204" pitchFamily="18" charset="0"/>
                      </a:rPr>
                      <m:t>=</m:t>
                    </m:r>
                    <m:d>
                      <m:dPr>
                        <m:begChr m:val="⟨"/>
                        <m:endChr m:val="⟩"/>
                        <m:ctrlPr>
                          <a:rPr lang="en-US" altLang="zh-CN" sz="2000" b="0" i="1" kern="100" smtClean="0">
                            <a:latin typeface="Cambria Math" panose="02040503050406030204" pitchFamily="18" charset="0"/>
                          </a:rPr>
                        </m:ctrlPr>
                      </m:dPr>
                      <m:e>
                        <m:r>
                          <a:rPr lang="en-US" altLang="zh-CN" sz="2000" b="0" i="1" kern="100" smtClean="0">
                            <a:latin typeface="Cambria Math" panose="02040503050406030204" pitchFamily="18" charset="0"/>
                          </a:rPr>
                          <m:t>𝑥</m:t>
                        </m:r>
                        <m:r>
                          <a:rPr lang="en-US" altLang="zh-CN" sz="2000" b="0" i="1" kern="100" smtClean="0">
                            <a:latin typeface="Cambria Math" panose="02040503050406030204" pitchFamily="18" charset="0"/>
                          </a:rPr>
                          <m:t>,</m:t>
                        </m:r>
                        <m:r>
                          <a:rPr lang="en-US" altLang="zh-CN" sz="2000" b="0" i="1" kern="100" smtClean="0">
                            <a:latin typeface="Cambria Math" panose="02040503050406030204" pitchFamily="18" charset="0"/>
                          </a:rPr>
                          <m:t>𝐴𝑦</m:t>
                        </m:r>
                      </m:e>
                    </m:d>
                    <m:r>
                      <a:rPr lang="en-US" altLang="zh-CN" sz="2000" b="0" i="1" kern="100" smtClean="0">
                        <a:latin typeface="Cambria Math" panose="02040503050406030204" pitchFamily="18" charset="0"/>
                      </a:rPr>
                      <m:t>=</m:t>
                    </m:r>
                    <m:d>
                      <m:dPr>
                        <m:begChr m:val="⟨"/>
                        <m:endChr m:val="⟩"/>
                        <m:ctrlPr>
                          <a:rPr lang="en-US" altLang="zh-CN" sz="2000" i="1" kern="100">
                            <a:latin typeface="Cambria Math" panose="02040503050406030204" pitchFamily="18" charset="0"/>
                          </a:rPr>
                        </m:ctrlPr>
                      </m:dPr>
                      <m:e>
                        <m:r>
                          <a:rPr lang="en-US" altLang="zh-CN" sz="2000" b="0" i="1" kern="100" smtClean="0">
                            <a:latin typeface="Cambria Math" panose="02040503050406030204" pitchFamily="18" charset="0"/>
                          </a:rPr>
                          <m:t>𝐴</m:t>
                        </m:r>
                        <m:r>
                          <a:rPr lang="en-US" altLang="zh-CN" sz="2000" i="1" kern="100">
                            <a:latin typeface="Cambria Math" panose="02040503050406030204" pitchFamily="18" charset="0"/>
                          </a:rPr>
                          <m:t>𝑥</m:t>
                        </m:r>
                        <m:r>
                          <a:rPr lang="en-US" altLang="zh-CN" sz="2000" i="1" kern="100">
                            <a:latin typeface="Cambria Math" panose="02040503050406030204" pitchFamily="18" charset="0"/>
                          </a:rPr>
                          <m:t>,</m:t>
                        </m:r>
                        <m:r>
                          <a:rPr lang="en-US" altLang="zh-CN" sz="2000" i="1" kern="100">
                            <a:latin typeface="Cambria Math" panose="02040503050406030204" pitchFamily="18" charset="0"/>
                          </a:rPr>
                          <m:t>𝑦</m:t>
                        </m:r>
                      </m:e>
                    </m:d>
                  </m:oMath>
                </a14:m>
                <a:r>
                  <a:rPr lang="en-US" altLang="zh-CN" sz="2000" dirty="0"/>
                  <a:t>, A</a:t>
                </a:r>
                <a:r>
                  <a:rPr lang="zh-CN" altLang="en-US" sz="2000" dirty="0"/>
                  <a:t>对称</a:t>
                </a:r>
              </a:p>
            </p:txBody>
          </p:sp>
        </mc:Choice>
        <mc:Fallback xmlns="">
          <p:sp>
            <p:nvSpPr>
              <p:cNvPr id="5" name="文本框 4">
                <a:extLst>
                  <a:ext uri="{FF2B5EF4-FFF2-40B4-BE49-F238E27FC236}">
                    <a16:creationId xmlns:a16="http://schemas.microsoft.com/office/drawing/2014/main" id="{E7032C3A-0988-2FA6-527D-37B942BE0568}"/>
                  </a:ext>
                </a:extLst>
              </p:cNvPr>
              <p:cNvSpPr txBox="1">
                <a:spLocks noRot="1" noChangeAspect="1" noMove="1" noResize="1" noEditPoints="1" noAdjustHandles="1" noChangeArrowheads="1" noChangeShapeType="1" noTextEdit="1"/>
              </p:cNvSpPr>
              <p:nvPr/>
            </p:nvSpPr>
            <p:spPr>
              <a:xfrm>
                <a:off x="1475656" y="5493333"/>
                <a:ext cx="4572000" cy="400110"/>
              </a:xfrm>
              <a:prstGeom prst="rect">
                <a:avLst/>
              </a:prstGeom>
              <a:blipFill>
                <a:blip r:embed="rId3"/>
                <a:stretch>
                  <a:fillRect t="-10606" b="-27273"/>
                </a:stretch>
              </a:blipFill>
            </p:spPr>
            <p:txBody>
              <a:bodyPr/>
              <a:lstStyle/>
              <a:p>
                <a:r>
                  <a:rPr lang="zh-CN" altLang="en-US">
                    <a:noFill/>
                  </a:rPr>
                  <a:t> </a:t>
                </a:r>
              </a:p>
            </p:txBody>
          </p:sp>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D2604FEE-5DD7-CC26-C6AB-D3D00E08FA8A}"/>
                  </a:ext>
                </a:extLst>
              </p:cNvPr>
              <p:cNvSpPr txBox="1"/>
              <p:nvPr/>
            </p:nvSpPr>
            <p:spPr>
              <a:xfrm>
                <a:off x="417250" y="741702"/>
                <a:ext cx="8131946" cy="3501023"/>
              </a:xfrm>
              <a:prstGeom prst="rect">
                <a:avLst/>
              </a:prstGeom>
              <a:noFill/>
            </p:spPr>
            <p:txBody>
              <a:bodyPr wrap="square" rtlCol="0">
                <a:spAutoFit/>
              </a:bodyPr>
              <a:lstStyle/>
              <a:p>
                <a:pPr indent="229553" algn="just">
                  <a:lnSpc>
                    <a:spcPct val="150000"/>
                  </a:lnSpc>
                  <a:spcBef>
                    <a:spcPts val="450"/>
                  </a:spcBef>
                  <a:spcAft>
                    <a:spcPts val="450"/>
                  </a:spcAft>
                </a:pPr>
                <a:r>
                  <a:rPr lang="en-US" altLang="zh-CN" sz="2400" b="1" kern="100" dirty="0">
                    <a:solidFill>
                      <a:srgbClr val="FF0000"/>
                    </a:solidFill>
                    <a:latin typeface="Times New Roman" panose="02020603050405020304" pitchFamily="18" charset="0"/>
                    <a:ea typeface="宋体" panose="02010600030101010101" pitchFamily="2" charset="-122"/>
                  </a:rPr>
                  <a:t>   </a:t>
                </a:r>
                <a:r>
                  <a:rPr lang="zh-CN" altLang="zh-CN" sz="2400" b="1" kern="100" dirty="0">
                    <a:solidFill>
                      <a:srgbClr val="FF0000"/>
                    </a:solidFill>
                    <a:latin typeface="Times New Roman" panose="02020603050405020304" pitchFamily="18" charset="0"/>
                    <a:ea typeface="宋体" panose="02010600030101010101" pitchFamily="2" charset="-122"/>
                  </a:rPr>
                  <a:t>定义</a:t>
                </a:r>
                <a:r>
                  <a:rPr lang="en-US" altLang="zh-CN" sz="2400" b="1" kern="100" dirty="0">
                    <a:solidFill>
                      <a:srgbClr val="FF0000"/>
                    </a:solidFill>
                    <a:latin typeface="Times New Roman" panose="02020603050405020304" pitchFamily="18" charset="0"/>
                    <a:ea typeface="宋体" panose="02010600030101010101" pitchFamily="2" charset="-122"/>
                  </a:rPr>
                  <a:t>3</a:t>
                </a:r>
                <a:r>
                  <a:rPr lang="zh-CN" altLang="zh-CN" sz="2400" b="1" kern="100" dirty="0">
                    <a:solidFill>
                      <a:srgbClr val="FF0000"/>
                    </a:solidFill>
                    <a:latin typeface="Times New Roman" panose="02020603050405020304" pitchFamily="18" charset="0"/>
                    <a:ea typeface="宋体" panose="02010600030101010101" pitchFamily="2" charset="-122"/>
                  </a:rPr>
                  <a:t>（共轭方向）</a:t>
                </a:r>
                <a:endParaRPr lang="zh-CN" altLang="zh-CN" sz="2400" kern="100" dirty="0">
                  <a:latin typeface="Times New Roman" panose="02020603050405020304" pitchFamily="18" charset="0"/>
                  <a:ea typeface="宋体" panose="02010600030101010101" pitchFamily="2" charset="-122"/>
                </a:endParaRPr>
              </a:p>
              <a:p>
                <a:pPr indent="228600" algn="just">
                  <a:lnSpc>
                    <a:spcPct val="150000"/>
                  </a:lnSpc>
                </a:pPr>
                <a:r>
                  <a:rPr lang="en-US" altLang="zh-CN" sz="2400" kern="100" dirty="0">
                    <a:latin typeface="Times New Roman" panose="02020603050405020304" pitchFamily="18" charset="0"/>
                    <a:ea typeface="宋体" panose="02010600030101010101" pitchFamily="2" charset="-122"/>
                  </a:rPr>
                  <a:t>    </a:t>
                </a:r>
                <a:r>
                  <a:rPr lang="zh-CN" altLang="zh-CN" sz="2400" kern="100" dirty="0">
                    <a:latin typeface="Times New Roman" panose="02020603050405020304" pitchFamily="18" charset="0"/>
                    <a:ea typeface="宋体" panose="02010600030101010101" pitchFamily="2" charset="-122"/>
                  </a:rPr>
                  <a:t>一般而言，设</a:t>
                </a:r>
                <a14:m>
                  <m:oMath xmlns:m="http://schemas.openxmlformats.org/officeDocument/2006/math">
                    <m:r>
                      <a:rPr lang="en-US" altLang="zh-CN" sz="2400" i="1" kern="100">
                        <a:latin typeface="Cambria Math" panose="02040503050406030204" pitchFamily="18" charset="0"/>
                        <a:ea typeface="宋体" panose="02010600030101010101" pitchFamily="2" charset="-122"/>
                      </a:rPr>
                      <m:t>𝐴</m:t>
                    </m:r>
                  </m:oMath>
                </a14:m>
                <a:r>
                  <a:rPr lang="zh-CN" altLang="zh-CN" sz="2400" kern="100" dirty="0">
                    <a:latin typeface="Times New Roman" panose="02020603050405020304" pitchFamily="18" charset="0"/>
                    <a:ea typeface="宋体" panose="02010600030101010101" pitchFamily="2" charset="-122"/>
                  </a:rPr>
                  <a:t>是</a:t>
                </a:r>
                <a14:m>
                  <m:oMath xmlns:m="http://schemas.openxmlformats.org/officeDocument/2006/math">
                    <m:r>
                      <a:rPr lang="en-US" altLang="zh-CN" sz="2400" i="1" kern="100">
                        <a:latin typeface="Cambria Math" panose="02040503050406030204" pitchFamily="18" charset="0"/>
                        <a:ea typeface="宋体" panose="02010600030101010101" pitchFamily="2" charset="-122"/>
                      </a:rPr>
                      <m:t>𝑛</m:t>
                    </m:r>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𝑛</m:t>
                    </m:r>
                  </m:oMath>
                </a14:m>
                <a:r>
                  <a:rPr lang="zh-CN" altLang="zh-CN" sz="2400" kern="100" dirty="0">
                    <a:latin typeface="Times New Roman" panose="02020603050405020304" pitchFamily="18" charset="0"/>
                    <a:ea typeface="宋体" panose="02010600030101010101" pitchFamily="2" charset="-122"/>
                  </a:rPr>
                  <a:t>对称正定矩阵，若</a:t>
                </a:r>
                <a:r>
                  <a:rPr lang="en-US" altLang="zh-CN" sz="2400" i="1" kern="100" dirty="0">
                    <a:latin typeface="Times New Roman" panose="02020603050405020304" pitchFamily="18" charset="0"/>
                    <a:ea typeface="宋体" panose="02010600030101010101" pitchFamily="2" charset="-122"/>
                  </a:rPr>
                  <a:t>n</a:t>
                </a:r>
                <a:r>
                  <a:rPr lang="zh-CN" altLang="zh-CN" sz="2400" kern="100" dirty="0">
                    <a:latin typeface="Times New Roman" panose="02020603050405020304" pitchFamily="18" charset="0"/>
                    <a:ea typeface="宋体" panose="02010600030101010101" pitchFamily="2" charset="-122"/>
                  </a:rPr>
                  <a:t>维欧氏空间</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𝑅</m:t>
                        </m:r>
                      </m:e>
                      <m:sup>
                        <m:r>
                          <a:rPr lang="en-US" altLang="zh-CN" sz="2400" i="1" kern="100">
                            <a:latin typeface="Cambria Math" panose="02040503050406030204" pitchFamily="18" charset="0"/>
                            <a:ea typeface="宋体" panose="02010600030101010101" pitchFamily="2" charset="-122"/>
                          </a:rPr>
                          <m:t>𝑛</m:t>
                        </m:r>
                      </m:sup>
                    </m:sSup>
                  </m:oMath>
                </a14:m>
                <a:r>
                  <a:rPr lang="zh-CN" altLang="zh-CN" sz="2400" kern="100" dirty="0">
                    <a:latin typeface="Times New Roman" panose="02020603050405020304" pitchFamily="18" charset="0"/>
                    <a:ea typeface="宋体" panose="02010600030101010101" pitchFamily="2" charset="-122"/>
                  </a:rPr>
                  <a:t>中的非零向量组</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(1)</m:t>
                        </m:r>
                      </m:sup>
                    </m:sSup>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(2)</m:t>
                        </m:r>
                      </m:sup>
                    </m:sSup>
                    <m:r>
                      <a:rPr lang="en-US" altLang="zh-CN" sz="2400" i="1" kern="100">
                        <a:latin typeface="Cambria Math" panose="02040503050406030204" pitchFamily="18" charset="0"/>
                        <a:ea typeface="宋体" panose="02010600030101010101" pitchFamily="2" charset="-122"/>
                      </a:rPr>
                      <m:t>,</m:t>
                    </m:r>
                    <m:r>
                      <a:rPr lang="zh-CN" altLang="zh-CN" sz="2400" i="1" kern="100">
                        <a:latin typeface="Cambria Math" panose="02040503050406030204" pitchFamily="18" charset="0"/>
                        <a:ea typeface="MS Gothic" panose="020B0609070205080204" pitchFamily="49" charset="-128"/>
                        <a:cs typeface="MS Gothic" panose="020B0609070205080204" pitchFamily="49" charset="-128"/>
                      </a:rPr>
                      <m:t>⋯</m:t>
                    </m:r>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en-US" altLang="zh-CN" sz="2400" i="1" kern="100">
                            <a:latin typeface="Cambria Math" panose="02040503050406030204" pitchFamily="18" charset="0"/>
                            <a:ea typeface="宋体" panose="02010600030101010101" pitchFamily="2" charset="-122"/>
                          </a:rPr>
                          <m:t>)</m:t>
                        </m:r>
                      </m:sup>
                    </m:sSup>
                  </m:oMath>
                </a14:m>
                <a:r>
                  <a:rPr lang="zh-CN" altLang="zh-CN" sz="2400" kern="100" dirty="0">
                    <a:latin typeface="Times New Roman" panose="02020603050405020304" pitchFamily="18" charset="0"/>
                    <a:ea typeface="宋体" panose="02010600030101010101" pitchFamily="2" charset="-122"/>
                  </a:rPr>
                  <a:t>，它们两两关于</a:t>
                </a:r>
                <a:r>
                  <a:rPr lang="en-US" altLang="zh-CN" sz="2400" i="1" kern="100" dirty="0">
                    <a:latin typeface="Times New Roman" panose="02020603050405020304" pitchFamily="18" charset="0"/>
                    <a:ea typeface="宋体" panose="02010600030101010101" pitchFamily="2" charset="-122"/>
                  </a:rPr>
                  <a:t>A</a:t>
                </a:r>
                <a:r>
                  <a:rPr lang="zh-CN" altLang="zh-CN" sz="2400" kern="100" dirty="0">
                    <a:latin typeface="Times New Roman" panose="02020603050405020304" pitchFamily="18" charset="0"/>
                    <a:ea typeface="宋体" panose="02010600030101010101" pitchFamily="2" charset="-122"/>
                  </a:rPr>
                  <a:t>共轭，即满足</a:t>
                </a:r>
              </a:p>
              <a:p>
                <a:pPr algn="just">
                  <a:lnSpc>
                    <a:spcPct val="150000"/>
                  </a:lnSpc>
                </a:pPr>
                <a14:m>
                  <m:oMathPara xmlns:m="http://schemas.openxmlformats.org/officeDocument/2006/math">
                    <m:oMathParaPr>
                      <m:jc m:val="center"/>
                    </m:oMathParaPr>
                    <m:oMath xmlns:m="http://schemas.openxmlformats.org/officeDocument/2006/math">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𝑖</m:t>
                          </m:r>
                          <m:r>
                            <a:rPr lang="en-US" altLang="zh-CN" sz="2400" i="1" kern="100">
                              <a:latin typeface="Cambria Math" panose="02040503050406030204" pitchFamily="18" charset="0"/>
                              <a:ea typeface="宋体" panose="02010600030101010101" pitchFamily="2" charset="-122"/>
                            </a:rPr>
                            <m:t>)</m:t>
                          </m:r>
                        </m:sup>
                      </m:sSup>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m:t>
                          </m:r>
                        </m:e>
                        <m:sup>
                          <m:r>
                            <a:rPr lang="en-US" altLang="zh-CN" sz="2400" i="1" kern="100">
                              <a:latin typeface="Cambria Math" panose="02040503050406030204" pitchFamily="18" charset="0"/>
                              <a:ea typeface="宋体" panose="02010600030101010101" pitchFamily="2" charset="-122"/>
                            </a:rPr>
                            <m:t>𝑇</m:t>
                          </m:r>
                        </m:sup>
                      </m:sSup>
                      <m:r>
                        <a:rPr lang="en-US" altLang="zh-CN" sz="2400" i="1" kern="100">
                          <a:latin typeface="Cambria Math" panose="02040503050406030204" pitchFamily="18" charset="0"/>
                          <a:ea typeface="宋体" panose="02010600030101010101" pitchFamily="2" charset="-122"/>
                        </a:rPr>
                        <m:t>𝐴</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𝑗</m:t>
                          </m:r>
                          <m:r>
                            <a:rPr lang="en-US" altLang="zh-CN" sz="2400" i="1" kern="100">
                              <a:latin typeface="Cambria Math" panose="02040503050406030204" pitchFamily="18" charset="0"/>
                              <a:ea typeface="宋体" panose="02010600030101010101" pitchFamily="2" charset="-122"/>
                            </a:rPr>
                            <m:t>)</m:t>
                          </m:r>
                        </m:sup>
                      </m:sSup>
                      <m:r>
                        <a:rPr lang="en-US" altLang="zh-CN" sz="2400" i="1" kern="100">
                          <a:latin typeface="Cambria Math" panose="02040503050406030204" pitchFamily="18" charset="0"/>
                          <a:ea typeface="宋体" panose="02010600030101010101" pitchFamily="2" charset="-122"/>
                        </a:rPr>
                        <m:t>=0 (</m:t>
                      </m:r>
                      <m:r>
                        <a:rPr lang="en-US" altLang="zh-CN" sz="2400" i="1" kern="100">
                          <a:latin typeface="Cambria Math" panose="02040503050406030204" pitchFamily="18" charset="0"/>
                          <a:ea typeface="宋体" panose="02010600030101010101" pitchFamily="2" charset="-122"/>
                        </a:rPr>
                        <m:t>𝑖</m:t>
                      </m:r>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𝑗</m:t>
                      </m:r>
                      <m:r>
                        <a:rPr lang="en-US" altLang="zh-CN" sz="2400" i="1" kern="100">
                          <a:latin typeface="Cambria Math" panose="02040503050406030204" pitchFamily="18" charset="0"/>
                          <a:ea typeface="宋体" panose="02010600030101010101" pitchFamily="2" charset="-122"/>
                        </a:rPr>
                        <m:t>; </m:t>
                      </m:r>
                      <m:r>
                        <a:rPr lang="en-US" altLang="zh-CN" sz="2400" i="1" kern="100">
                          <a:latin typeface="Cambria Math" panose="02040503050406030204" pitchFamily="18" charset="0"/>
                          <a:ea typeface="宋体" panose="02010600030101010101" pitchFamily="2" charset="-122"/>
                        </a:rPr>
                        <m:t>𝑖</m:t>
                      </m:r>
                      <m:r>
                        <a:rPr lang="en-US" altLang="zh-CN" sz="2400" i="1" kern="100">
                          <a:latin typeface="Cambria Math" panose="02040503050406030204" pitchFamily="18" charset="0"/>
                          <a:ea typeface="宋体" panose="02010600030101010101" pitchFamily="2" charset="-122"/>
                        </a:rPr>
                        <m:t>=1,2,⋯,</m:t>
                      </m:r>
                      <m:r>
                        <a:rPr lang="en-US" altLang="zh-CN" sz="2400" i="1" kern="100">
                          <a:latin typeface="Cambria Math" panose="02040503050406030204" pitchFamily="18" charset="0"/>
                          <a:ea typeface="宋体" panose="02010600030101010101" pitchFamily="2" charset="-122"/>
                        </a:rPr>
                        <m:t>𝑘</m:t>
                      </m:r>
                      <m:r>
                        <a:rPr lang="en-US" altLang="zh-CN" sz="2400" i="1" kern="100">
                          <a:latin typeface="Cambria Math" panose="02040503050406030204" pitchFamily="18" charset="0"/>
                          <a:ea typeface="宋体" panose="02010600030101010101" pitchFamily="2" charset="-122"/>
                        </a:rPr>
                        <m:t>; </m:t>
                      </m:r>
                      <m:r>
                        <a:rPr lang="en-US" altLang="zh-CN" sz="2400" i="1" kern="100">
                          <a:latin typeface="Cambria Math" panose="02040503050406030204" pitchFamily="18" charset="0"/>
                          <a:ea typeface="宋体" panose="02010600030101010101" pitchFamily="2" charset="-122"/>
                        </a:rPr>
                        <m:t>𝑗</m:t>
                      </m:r>
                      <m:r>
                        <a:rPr lang="en-US" altLang="zh-CN" sz="2400" i="1" kern="100">
                          <a:latin typeface="Cambria Math" panose="02040503050406030204" pitchFamily="18" charset="0"/>
                          <a:ea typeface="宋体" panose="02010600030101010101" pitchFamily="2" charset="-122"/>
                        </a:rPr>
                        <m:t>=1,2,⋯,</m:t>
                      </m:r>
                      <m:r>
                        <a:rPr lang="en-US" altLang="zh-CN" sz="2400" i="1" kern="100">
                          <a:latin typeface="Cambria Math" panose="02040503050406030204" pitchFamily="18" charset="0"/>
                          <a:ea typeface="宋体" panose="02010600030101010101" pitchFamily="2" charset="-122"/>
                        </a:rPr>
                        <m:t>𝑘</m:t>
                      </m:r>
                      <m:r>
                        <a:rPr lang="en-US" altLang="zh-CN" sz="2400" i="1" kern="100">
                          <a:latin typeface="Cambria Math" panose="02040503050406030204" pitchFamily="18" charset="0"/>
                          <a:ea typeface="宋体" panose="02010600030101010101" pitchFamily="2" charset="-122"/>
                        </a:rPr>
                        <m:t>)</m:t>
                      </m:r>
                    </m:oMath>
                  </m:oMathPara>
                </a14:m>
                <a:endParaRPr lang="zh-CN" altLang="zh-CN" sz="2400" kern="100" dirty="0">
                  <a:latin typeface="Times New Roman" panose="02020603050405020304" pitchFamily="18" charset="0"/>
                  <a:ea typeface="宋体" panose="02010600030101010101" pitchFamily="2" charset="-122"/>
                </a:endParaRPr>
              </a:p>
              <a:p>
                <a:pPr algn="just">
                  <a:lnSpc>
                    <a:spcPct val="150000"/>
                  </a:lnSpc>
                </a:pPr>
                <a:r>
                  <a:rPr lang="zh-CN" altLang="zh-CN" sz="2400" kern="100" dirty="0">
                    <a:latin typeface="Times New Roman" panose="02020603050405020304" pitchFamily="18" charset="0"/>
                    <a:ea typeface="宋体" panose="02010600030101010101" pitchFamily="2" charset="-122"/>
                  </a:rPr>
                  <a:t>则称这个向量组关于</a:t>
                </a:r>
                <a14:m>
                  <m:oMath xmlns:m="http://schemas.openxmlformats.org/officeDocument/2006/math">
                    <m:r>
                      <a:rPr lang="en-US" altLang="zh-CN" sz="2400" i="1" kern="100">
                        <a:latin typeface="Cambria Math" panose="02040503050406030204" pitchFamily="18" charset="0"/>
                        <a:ea typeface="宋体" panose="02010600030101010101" pitchFamily="2" charset="-122"/>
                      </a:rPr>
                      <m:t>𝐴</m:t>
                    </m:r>
                  </m:oMath>
                </a14:m>
                <a:r>
                  <a:rPr lang="zh-CN" altLang="zh-CN" sz="2400" kern="100" dirty="0">
                    <a:latin typeface="Times New Roman" panose="02020603050405020304" pitchFamily="18" charset="0"/>
                    <a:ea typeface="宋体" panose="02010600030101010101" pitchFamily="2" charset="-122"/>
                  </a:rPr>
                  <a:t>共轭，或称它们为</a:t>
                </a:r>
                <a14:m>
                  <m:oMath xmlns:m="http://schemas.openxmlformats.org/officeDocument/2006/math">
                    <m:r>
                      <a:rPr lang="en-US" altLang="zh-CN" sz="2400" i="1" kern="100">
                        <a:latin typeface="Cambria Math" panose="02040503050406030204" pitchFamily="18" charset="0"/>
                        <a:ea typeface="宋体" panose="02010600030101010101" pitchFamily="2" charset="-122"/>
                      </a:rPr>
                      <m:t>𝐴</m:t>
                    </m:r>
                  </m:oMath>
                </a14:m>
                <a:r>
                  <a:rPr lang="zh-CN" altLang="zh-CN" sz="2400" kern="100" dirty="0">
                    <a:latin typeface="Times New Roman" panose="02020603050405020304" pitchFamily="18" charset="0"/>
                    <a:ea typeface="宋体" panose="02010600030101010101" pitchFamily="2" charset="-122"/>
                  </a:rPr>
                  <a:t>的</a:t>
                </a:r>
                <a14:m>
                  <m:oMath xmlns:m="http://schemas.openxmlformats.org/officeDocument/2006/math">
                    <m:r>
                      <a:rPr lang="en-US" altLang="zh-CN" sz="2400" i="1" kern="100">
                        <a:latin typeface="Cambria Math" panose="02040503050406030204" pitchFamily="18" charset="0"/>
                        <a:ea typeface="宋体" panose="02010600030101010101" pitchFamily="2" charset="-122"/>
                      </a:rPr>
                      <m:t>𝑘</m:t>
                    </m:r>
                  </m:oMath>
                </a14:m>
                <a:r>
                  <a:rPr lang="zh-CN" altLang="zh-CN" sz="2400" kern="100" dirty="0">
                    <a:latin typeface="Times New Roman" panose="02020603050405020304" pitchFamily="18" charset="0"/>
                    <a:ea typeface="宋体" panose="02010600030101010101" pitchFamily="2" charset="-122"/>
                  </a:rPr>
                  <a:t>个共轭方向</a:t>
                </a:r>
                <a:r>
                  <a:rPr lang="zh-CN" altLang="en-US" sz="2400" kern="100" dirty="0">
                    <a:latin typeface="Times New Roman" panose="02020603050405020304" pitchFamily="18" charset="0"/>
                    <a:ea typeface="宋体" panose="02010600030101010101" pitchFamily="2" charset="-122"/>
                  </a:rPr>
                  <a:t>。</a:t>
                </a:r>
                <a:endParaRPr lang="zh-CN" altLang="zh-CN" sz="2400" kern="100" dirty="0">
                  <a:latin typeface="Times New Roman" panose="02020603050405020304" pitchFamily="18" charset="0"/>
                  <a:ea typeface="宋体" panose="02010600030101010101" pitchFamily="2" charset="-122"/>
                </a:endParaRPr>
              </a:p>
            </p:txBody>
          </p:sp>
        </mc:Choice>
        <mc:Fallback xmlns="">
          <p:sp>
            <p:nvSpPr>
              <p:cNvPr id="2" name="文本框 1">
                <a:extLst>
                  <a:ext uri="{FF2B5EF4-FFF2-40B4-BE49-F238E27FC236}">
                    <a16:creationId xmlns:a16="http://schemas.microsoft.com/office/drawing/2014/main" id="{D2604FEE-5DD7-CC26-C6AB-D3D00E08FA8A}"/>
                  </a:ext>
                </a:extLst>
              </p:cNvPr>
              <p:cNvSpPr txBox="1">
                <a:spLocks noRot="1" noChangeAspect="1" noMove="1" noResize="1" noEditPoints="1" noAdjustHandles="1" noChangeArrowheads="1" noChangeShapeType="1" noTextEdit="1"/>
              </p:cNvSpPr>
              <p:nvPr/>
            </p:nvSpPr>
            <p:spPr>
              <a:xfrm>
                <a:off x="417250" y="741702"/>
                <a:ext cx="8131946" cy="3501023"/>
              </a:xfrm>
              <a:prstGeom prst="rect">
                <a:avLst/>
              </a:prstGeom>
              <a:blipFill>
                <a:blip r:embed="rId2"/>
                <a:stretch>
                  <a:fillRect l="-1124" r="-1199" b="-2613"/>
                </a:stretch>
              </a:blipFill>
            </p:spPr>
            <p:txBody>
              <a:bodyPr/>
              <a:lstStyle/>
              <a:p>
                <a:r>
                  <a:rPr lang="zh-CN" altLang="en-US">
                    <a:noFill/>
                  </a:rPr>
                  <a:t> </a:t>
                </a:r>
              </a:p>
            </p:txBody>
          </p:sp>
        </mc:Fallback>
      </mc:AlternateContent>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03AD329-4130-9DC1-084A-E4A19A17AB3A}"/>
                  </a:ext>
                </a:extLst>
              </p:cNvPr>
              <p:cNvSpPr txBox="1"/>
              <p:nvPr/>
            </p:nvSpPr>
            <p:spPr>
              <a:xfrm>
                <a:off x="614362" y="188784"/>
                <a:ext cx="7915275" cy="6761403"/>
              </a:xfrm>
              <a:prstGeom prst="rect">
                <a:avLst/>
              </a:prstGeom>
              <a:noFill/>
            </p:spPr>
            <p:txBody>
              <a:bodyPr wrap="square" rtlCol="0">
                <a:spAutoFit/>
              </a:bodyPr>
              <a:lstStyle/>
              <a:p>
                <a:pPr indent="200025" algn="just">
                  <a:lnSpc>
                    <a:spcPct val="150000"/>
                  </a:lnSpc>
                </a:pPr>
                <a:r>
                  <a:rPr lang="en-US" altLang="zh-CN" sz="2400" kern="100" dirty="0">
                    <a:solidFill>
                      <a:srgbClr val="FF0000"/>
                    </a:solidFill>
                    <a:latin typeface="Times New Roman" panose="02020603050405020304" pitchFamily="18" charset="0"/>
                    <a:ea typeface="黑体" panose="02010609060101010101" pitchFamily="49" charset="-122"/>
                  </a:rPr>
                  <a:t>   </a:t>
                </a:r>
                <a:r>
                  <a:rPr lang="zh-CN" altLang="zh-CN" sz="2400" kern="100" dirty="0">
                    <a:solidFill>
                      <a:srgbClr val="FF0000"/>
                    </a:solidFill>
                    <a:latin typeface="Times New Roman" panose="02020603050405020304" pitchFamily="18" charset="0"/>
                    <a:ea typeface="黑体" panose="02010609060101010101" pitchFamily="49" charset="-122"/>
                  </a:rPr>
                  <a:t>定理</a:t>
                </a:r>
                <a:r>
                  <a:rPr lang="en-US" altLang="zh-CN" sz="2400" kern="100" dirty="0">
                    <a:solidFill>
                      <a:srgbClr val="FF0000"/>
                    </a:solidFill>
                    <a:latin typeface="Times New Roman" panose="02020603050405020304" pitchFamily="18" charset="0"/>
                    <a:ea typeface="黑体" panose="02010609060101010101" pitchFamily="49" charset="-122"/>
                  </a:rPr>
                  <a:t>1</a:t>
                </a:r>
                <a:r>
                  <a:rPr lang="en-US" altLang="zh-CN" sz="2400" kern="100" dirty="0">
                    <a:latin typeface="黑体" panose="02010609060101010101" pitchFamily="49" charset="-122"/>
                    <a:ea typeface="宋体" panose="02010600030101010101" pitchFamily="2" charset="-122"/>
                  </a:rPr>
                  <a:t> </a:t>
                </a:r>
                <a:r>
                  <a:rPr lang="zh-CN" altLang="zh-CN" sz="2400" kern="100" dirty="0">
                    <a:latin typeface="Times New Roman" panose="02020603050405020304" pitchFamily="18" charset="0"/>
                    <a:ea typeface="宋体" panose="02010600030101010101" pitchFamily="2" charset="-122"/>
                  </a:rPr>
                  <a:t>设</a:t>
                </a:r>
                <a:r>
                  <a:rPr lang="en-US" altLang="zh-CN" sz="2400" i="1" kern="100" dirty="0">
                    <a:latin typeface="Times New Roman" panose="02020603050405020304" pitchFamily="18" charset="0"/>
                    <a:ea typeface="宋体" panose="02010600030101010101" pitchFamily="2" charset="-122"/>
                  </a:rPr>
                  <a:t>A</a:t>
                </a:r>
                <a:r>
                  <a:rPr lang="zh-CN" altLang="zh-CN" sz="2400" kern="100" dirty="0">
                    <a:latin typeface="Times New Roman" panose="02020603050405020304" pitchFamily="18" charset="0"/>
                    <a:ea typeface="宋体" panose="02010600030101010101" pitchFamily="2" charset="-122"/>
                  </a:rPr>
                  <a:t>是</a:t>
                </a:r>
                <a14:m>
                  <m:oMath xmlns:m="http://schemas.openxmlformats.org/officeDocument/2006/math">
                    <m:r>
                      <a:rPr lang="en-US" altLang="zh-CN" sz="2400" i="1" kern="100">
                        <a:latin typeface="Cambria Math" panose="02040503050406030204" pitchFamily="18" charset="0"/>
                        <a:ea typeface="宋体" panose="02010600030101010101" pitchFamily="2" charset="-122"/>
                      </a:rPr>
                      <m:t>𝑛</m:t>
                    </m:r>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𝑛</m:t>
                    </m:r>
                  </m:oMath>
                </a14:m>
                <a:r>
                  <a:rPr lang="zh-CN" altLang="zh-CN" sz="2400" kern="100" dirty="0">
                    <a:latin typeface="Times New Roman" panose="02020603050405020304" pitchFamily="18" charset="0"/>
                    <a:ea typeface="宋体" panose="02010600030101010101" pitchFamily="2" charset="-122"/>
                  </a:rPr>
                  <a:t>对称正定矩阵，</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(1)</m:t>
                        </m:r>
                      </m:sup>
                    </m:sSup>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(2)</m:t>
                        </m:r>
                      </m:sup>
                    </m:sSup>
                    <m:r>
                      <a:rPr lang="en-US" altLang="zh-CN" sz="2400" i="1" kern="100">
                        <a:latin typeface="Cambria Math" panose="02040503050406030204" pitchFamily="18" charset="0"/>
                        <a:ea typeface="宋体" panose="02010600030101010101" pitchFamily="2" charset="-122"/>
                      </a:rPr>
                      <m:t>,</m:t>
                    </m:r>
                    <m:r>
                      <a:rPr lang="zh-CN" altLang="zh-CN" sz="2400" i="1" kern="100">
                        <a:latin typeface="Cambria Math" panose="02040503050406030204" pitchFamily="18" charset="0"/>
                        <a:ea typeface="MS Gothic" panose="020B0609070205080204" pitchFamily="49" charset="-128"/>
                        <a:cs typeface="MS Gothic" panose="020B0609070205080204" pitchFamily="49" charset="-128"/>
                      </a:rPr>
                      <m:t>⋯</m:t>
                    </m:r>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en-US" altLang="zh-CN" sz="2400" i="1" kern="100">
                            <a:latin typeface="Cambria Math" panose="02040503050406030204" pitchFamily="18" charset="0"/>
                            <a:ea typeface="宋体" panose="02010600030101010101" pitchFamily="2" charset="-122"/>
                          </a:rPr>
                          <m:t>)</m:t>
                        </m:r>
                      </m:sup>
                    </m:sSup>
                  </m:oMath>
                </a14:m>
                <a:r>
                  <a:rPr lang="zh-CN" altLang="zh-CN" sz="2400" kern="100" dirty="0">
                    <a:latin typeface="Times New Roman" panose="02020603050405020304" pitchFamily="18" charset="0"/>
                    <a:ea typeface="宋体" panose="02010600030101010101" pitchFamily="2" charset="-122"/>
                  </a:rPr>
                  <a:t>是关于</a:t>
                </a:r>
                <a:r>
                  <a:rPr lang="en-US" altLang="zh-CN" sz="2400" i="1" kern="100" dirty="0">
                    <a:latin typeface="Times New Roman" panose="02020603050405020304" pitchFamily="18" charset="0"/>
                    <a:ea typeface="宋体" panose="02010600030101010101" pitchFamily="2" charset="-122"/>
                  </a:rPr>
                  <a:t>A</a:t>
                </a:r>
                <a:r>
                  <a:rPr lang="zh-CN" altLang="zh-CN" sz="2400" kern="100" dirty="0">
                    <a:latin typeface="Times New Roman" panose="02020603050405020304" pitchFamily="18" charset="0"/>
                    <a:ea typeface="宋体" panose="02010600030101010101" pitchFamily="2" charset="-122"/>
                  </a:rPr>
                  <a:t>共轭的非零向量组，则该向量组线性无关。</a:t>
                </a:r>
                <a:r>
                  <a:rPr lang="en-US" altLang="zh-CN" sz="2400" kern="100" dirty="0">
                    <a:latin typeface="Times New Roman" panose="02020603050405020304" pitchFamily="18" charset="0"/>
                    <a:ea typeface="黑体" panose="02010609060101010101" pitchFamily="49" charset="-122"/>
                  </a:rPr>
                  <a:t> </a:t>
                </a:r>
                <a:endParaRPr lang="zh-CN" altLang="zh-CN" sz="2400" kern="100" dirty="0">
                  <a:latin typeface="Times New Roman" panose="02020603050405020304" pitchFamily="18" charset="0"/>
                  <a:ea typeface="宋体" panose="02010600030101010101" pitchFamily="2" charset="-122"/>
                </a:endParaRPr>
              </a:p>
              <a:p>
                <a:pPr algn="just">
                  <a:lnSpc>
                    <a:spcPct val="150000"/>
                  </a:lnSpc>
                </a:pPr>
                <a:r>
                  <a:rPr lang="zh-CN" altLang="zh-CN" sz="2400" kern="100" dirty="0">
                    <a:latin typeface="Times New Roman" panose="02020603050405020304" pitchFamily="18" charset="0"/>
                    <a:ea typeface="黑体" panose="02010609060101010101" pitchFamily="49" charset="-122"/>
                  </a:rPr>
                  <a:t>证</a:t>
                </a:r>
                <a:r>
                  <a:rPr lang="en-US" altLang="zh-CN" sz="2400" kern="100" dirty="0">
                    <a:latin typeface="Times New Roman" panose="02020603050405020304" pitchFamily="18" charset="0"/>
                    <a:ea typeface="宋体" panose="02010600030101010101" pitchFamily="2" charset="-122"/>
                  </a:rPr>
                  <a:t>  </a:t>
                </a:r>
                <a:r>
                  <a:rPr lang="zh-CN" altLang="zh-CN" sz="2400" kern="100" dirty="0">
                    <a:latin typeface="Times New Roman" panose="02020603050405020304" pitchFamily="18" charset="0"/>
                    <a:ea typeface="宋体" panose="02010600030101010101" pitchFamily="2" charset="-122"/>
                  </a:rPr>
                  <a:t>设存在</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𝛼</m:t>
                        </m:r>
                      </m:e>
                      <m:sub>
                        <m:r>
                          <a:rPr lang="en-US" altLang="zh-CN" sz="2400" i="1" kern="100">
                            <a:latin typeface="Cambria Math" panose="02040503050406030204" pitchFamily="18" charset="0"/>
                            <a:ea typeface="宋体" panose="02010600030101010101" pitchFamily="2" charset="-122"/>
                          </a:rPr>
                          <m:t>1</m:t>
                        </m:r>
                      </m:sub>
                    </m:sSub>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𝛼</m:t>
                        </m:r>
                      </m:e>
                      <m:sub>
                        <m:r>
                          <a:rPr lang="en-US" altLang="zh-CN" sz="2400" i="1" kern="100">
                            <a:latin typeface="Cambria Math" panose="02040503050406030204" pitchFamily="18" charset="0"/>
                            <a:ea typeface="宋体" panose="02010600030101010101" pitchFamily="2" charset="-122"/>
                          </a:rPr>
                          <m:t>2</m:t>
                        </m:r>
                      </m:sub>
                    </m:sSub>
                    <m:r>
                      <a:rPr lang="en-US" altLang="zh-CN" sz="2400" i="1" kern="100">
                        <a:latin typeface="Cambria Math" panose="02040503050406030204" pitchFamily="18" charset="0"/>
                        <a:ea typeface="宋体" panose="02010600030101010101" pitchFamily="2" charset="-122"/>
                      </a:rPr>
                      <m:t>,</m:t>
                    </m:r>
                    <m:r>
                      <a:rPr lang="zh-CN" altLang="zh-CN" sz="2400" i="1" kern="100">
                        <a:latin typeface="Cambria Math" panose="02040503050406030204" pitchFamily="18" charset="0"/>
                        <a:ea typeface="MS Gothic" panose="020B0609070205080204" pitchFamily="49" charset="-128"/>
                        <a:cs typeface="MS Gothic" panose="020B0609070205080204" pitchFamily="49" charset="-128"/>
                      </a:rPr>
                      <m:t>⋯</m:t>
                    </m:r>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𝛼</m:t>
                        </m:r>
                      </m:e>
                      <m:sub>
                        <m:r>
                          <a:rPr lang="en-US" altLang="zh-CN" sz="2400" i="1" kern="100">
                            <a:latin typeface="Cambria Math" panose="02040503050406030204" pitchFamily="18" charset="0"/>
                            <a:ea typeface="宋体" panose="02010600030101010101" pitchFamily="2" charset="-122"/>
                          </a:rPr>
                          <m:t>𝑘</m:t>
                        </m:r>
                      </m:sub>
                    </m:sSub>
                  </m:oMath>
                </a14:m>
                <a:r>
                  <a:rPr lang="zh-CN" altLang="zh-CN" sz="2400" kern="100" dirty="0">
                    <a:latin typeface="Times New Roman" panose="02020603050405020304" pitchFamily="18" charset="0"/>
                    <a:ea typeface="宋体" panose="02010600030101010101" pitchFamily="2" charset="-122"/>
                  </a:rPr>
                  <a:t>，使得</a:t>
                </a:r>
              </a:p>
              <a:p>
                <a:pPr algn="just">
                  <a:lnSpc>
                    <a:spcPct val="150000"/>
                  </a:lnSpc>
                </a:pPr>
                <a:r>
                  <a:rPr lang="en-US" altLang="zh-CN" sz="2400" kern="100" dirty="0">
                    <a:latin typeface="Times New Roman" panose="02020603050405020304" pitchFamily="18" charset="0"/>
                    <a:ea typeface="宋体" panose="02010600030101010101" pitchFamily="2" charset="-122"/>
                  </a:rPr>
                  <a:t>		  </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𝛼</m:t>
                        </m:r>
                      </m:e>
                      <m:sub>
                        <m:r>
                          <a:rPr lang="en-US" altLang="zh-CN" sz="2400" i="1" kern="100">
                            <a:latin typeface="Cambria Math" panose="02040503050406030204" pitchFamily="18" charset="0"/>
                            <a:ea typeface="宋体" panose="02010600030101010101" pitchFamily="2" charset="-122"/>
                          </a:rPr>
                          <m:t>1</m:t>
                        </m:r>
                      </m:sub>
                    </m:sSub>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(1)</m:t>
                        </m:r>
                      </m:sup>
                    </m:sSup>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𝛼</m:t>
                        </m:r>
                      </m:e>
                      <m:sub>
                        <m:r>
                          <a:rPr lang="en-US" altLang="zh-CN" sz="2400" i="1" kern="100">
                            <a:latin typeface="Cambria Math" panose="02040503050406030204" pitchFamily="18" charset="0"/>
                            <a:ea typeface="宋体" panose="02010600030101010101" pitchFamily="2" charset="-122"/>
                          </a:rPr>
                          <m:t>2</m:t>
                        </m:r>
                      </m:sub>
                    </m:sSub>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(2)</m:t>
                        </m:r>
                      </m:sup>
                    </m:sSup>
                    <m:r>
                      <a:rPr lang="en-US" altLang="zh-CN" sz="2400" i="1" kern="100">
                        <a:latin typeface="Cambria Math" panose="02040503050406030204" pitchFamily="18" charset="0"/>
                        <a:ea typeface="宋体" panose="02010600030101010101" pitchFamily="2" charset="-122"/>
                      </a:rPr>
                      <m:t>+</m:t>
                    </m:r>
                    <m:r>
                      <a:rPr lang="zh-CN" altLang="zh-CN" sz="2400" i="1" kern="100">
                        <a:latin typeface="Cambria Math" panose="02040503050406030204" pitchFamily="18" charset="0"/>
                        <a:ea typeface="MS Gothic" panose="020B0609070205080204" pitchFamily="49" charset="-128"/>
                        <a:cs typeface="MS Gothic" panose="020B0609070205080204" pitchFamily="49" charset="-128"/>
                      </a:rPr>
                      <m:t>⋯</m:t>
                    </m:r>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𝛼</m:t>
                        </m:r>
                      </m:e>
                      <m:sub>
                        <m:r>
                          <a:rPr lang="en-US" altLang="zh-CN" sz="2400" i="1" kern="100">
                            <a:latin typeface="Cambria Math" panose="02040503050406030204" pitchFamily="18" charset="0"/>
                            <a:ea typeface="宋体" panose="02010600030101010101" pitchFamily="2" charset="-122"/>
                          </a:rPr>
                          <m:t>𝑘</m:t>
                        </m:r>
                      </m:sub>
                    </m:sSub>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en-US" altLang="zh-CN" sz="2400" i="1" kern="100">
                            <a:latin typeface="Cambria Math" panose="02040503050406030204" pitchFamily="18" charset="0"/>
                            <a:ea typeface="宋体" panose="02010600030101010101" pitchFamily="2" charset="-122"/>
                          </a:rPr>
                          <m:t>)</m:t>
                        </m:r>
                      </m:sup>
                    </m:sSup>
                    <m:r>
                      <a:rPr lang="en-US" altLang="zh-CN" sz="2400" i="1" kern="100">
                        <a:latin typeface="Cambria Math" panose="02040503050406030204" pitchFamily="18" charset="0"/>
                        <a:ea typeface="宋体" panose="02010600030101010101" pitchFamily="2" charset="-122"/>
                      </a:rPr>
                      <m:t>=0</m:t>
                    </m:r>
                  </m:oMath>
                </a14:m>
                <a:r>
                  <a:rPr lang="en-US" altLang="zh-CN" sz="2400" kern="100" dirty="0">
                    <a:latin typeface="Times New Roman" panose="02020603050405020304" pitchFamily="18" charset="0"/>
                    <a:ea typeface="宋体" panose="02010600030101010101" pitchFamily="2" charset="-122"/>
                  </a:rPr>
                  <a:t>                </a:t>
                </a:r>
                <a:endParaRPr lang="zh-CN" altLang="zh-CN" sz="2400" kern="100" dirty="0">
                  <a:latin typeface="Times New Roman" panose="02020603050405020304" pitchFamily="18" charset="0"/>
                  <a:ea typeface="宋体" panose="02010600030101010101" pitchFamily="2" charset="-122"/>
                </a:endParaRPr>
              </a:p>
              <a:p>
                <a:pPr algn="just">
                  <a:lnSpc>
                    <a:spcPct val="150000"/>
                  </a:lnSpc>
                </a:pPr>
                <a:r>
                  <a:rPr lang="zh-CN" altLang="zh-CN" sz="2400" kern="100" dirty="0">
                    <a:latin typeface="Times New Roman" panose="02020603050405020304" pitchFamily="18" charset="0"/>
                    <a:ea typeface="宋体" panose="02010600030101010101" pitchFamily="2" charset="-122"/>
                  </a:rPr>
                  <a:t>对于</a:t>
                </a:r>
                <a14:m>
                  <m:oMath xmlns:m="http://schemas.openxmlformats.org/officeDocument/2006/math">
                    <m:r>
                      <a:rPr lang="en-US" altLang="zh-CN" sz="2400" i="1" kern="100">
                        <a:latin typeface="Cambria Math" panose="02040503050406030204" pitchFamily="18" charset="0"/>
                        <a:ea typeface="宋体" panose="02010600030101010101" pitchFamily="2" charset="-122"/>
                      </a:rPr>
                      <m:t>𝑖</m:t>
                    </m:r>
                    <m:r>
                      <a:rPr lang="en-US" altLang="zh-CN" sz="2400" i="1" kern="100">
                        <a:latin typeface="Cambria Math" panose="02040503050406030204" pitchFamily="18" charset="0"/>
                        <a:ea typeface="宋体" panose="02010600030101010101" pitchFamily="2" charset="-122"/>
                      </a:rPr>
                      <m:t>=1,2,⋯,</m:t>
                    </m:r>
                    <m:r>
                      <a:rPr lang="en-US" altLang="zh-CN" sz="2400" i="1" kern="100">
                        <a:latin typeface="Cambria Math" panose="02040503050406030204" pitchFamily="18" charset="0"/>
                        <a:ea typeface="宋体" panose="02010600030101010101" pitchFamily="2" charset="-122"/>
                      </a:rPr>
                      <m:t>𝑘</m:t>
                    </m:r>
                  </m:oMath>
                </a14:m>
                <a:r>
                  <a:rPr lang="zh-CN" altLang="zh-CN" sz="2400" kern="100" dirty="0">
                    <a:latin typeface="Times New Roman" panose="02020603050405020304" pitchFamily="18" charset="0"/>
                    <a:ea typeface="宋体" panose="02010600030101010101" pitchFamily="2" charset="-122"/>
                  </a:rPr>
                  <a:t>，用</a:t>
                </a:r>
                <a14:m>
                  <m:oMath xmlns:m="http://schemas.openxmlformats.org/officeDocument/2006/math">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𝑖</m:t>
                        </m:r>
                        <m:r>
                          <a:rPr lang="en-US" altLang="zh-CN" sz="2400" i="1" kern="100">
                            <a:latin typeface="Cambria Math" panose="02040503050406030204" pitchFamily="18" charset="0"/>
                            <a:ea typeface="宋体" panose="02010600030101010101" pitchFamily="2" charset="-122"/>
                          </a:rPr>
                          <m:t>)</m:t>
                        </m:r>
                      </m:sup>
                    </m:sSup>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m:t>
                        </m:r>
                      </m:e>
                      <m:sup>
                        <m:r>
                          <a:rPr lang="en-US" altLang="zh-CN" sz="2400" i="1" kern="100">
                            <a:latin typeface="Cambria Math" panose="02040503050406030204" pitchFamily="18" charset="0"/>
                            <a:ea typeface="宋体" panose="02010600030101010101" pitchFamily="2" charset="-122"/>
                          </a:rPr>
                          <m:t>𝑇</m:t>
                        </m:r>
                      </m:sup>
                    </m:sSup>
                    <m:r>
                      <a:rPr lang="en-US" altLang="zh-CN" sz="2400" i="1" kern="100">
                        <a:latin typeface="Cambria Math" panose="02040503050406030204" pitchFamily="18" charset="0"/>
                        <a:ea typeface="宋体" panose="02010600030101010101" pitchFamily="2" charset="-122"/>
                      </a:rPr>
                      <m:t>𝐴</m:t>
                    </m:r>
                  </m:oMath>
                </a14:m>
                <a:r>
                  <a:rPr lang="zh-CN" altLang="zh-CN" sz="2400" kern="100" dirty="0">
                    <a:latin typeface="Times New Roman" panose="02020603050405020304" pitchFamily="18" charset="0"/>
                    <a:ea typeface="宋体" panose="02010600030101010101" pitchFamily="2" charset="-122"/>
                  </a:rPr>
                  <a:t>左乘上式两端，根据向量组关于</a:t>
                </a:r>
                <a:r>
                  <a:rPr lang="en-US" altLang="zh-CN" sz="2400" i="1" kern="100" dirty="0">
                    <a:latin typeface="Times New Roman" panose="02020603050405020304" pitchFamily="18" charset="0"/>
                    <a:ea typeface="宋体" panose="02010600030101010101" pitchFamily="2" charset="-122"/>
                  </a:rPr>
                  <a:t>A</a:t>
                </a:r>
                <a:r>
                  <a:rPr lang="zh-CN" altLang="zh-CN" sz="2400" kern="100" dirty="0">
                    <a:latin typeface="Times New Roman" panose="02020603050405020304" pitchFamily="18" charset="0"/>
                    <a:ea typeface="宋体" panose="02010600030101010101" pitchFamily="2" charset="-122"/>
                  </a:rPr>
                  <a:t>共轭的假设，左乘后等式左侧仅剩一项，即有</a:t>
                </a:r>
              </a:p>
              <a:p>
                <a:pPr algn="just">
                  <a:lnSpc>
                    <a:spcPct val="150000"/>
                  </a:lnSpc>
                </a:pPr>
                <a14:m>
                  <m:oMathPara xmlns:m="http://schemas.openxmlformats.org/officeDocument/2006/math">
                    <m:oMathParaPr>
                      <m:jc m:val="center"/>
                    </m:oMathParaPr>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𝛼</m:t>
                          </m:r>
                        </m:e>
                        <m:sub>
                          <m:r>
                            <a:rPr lang="en-US" altLang="zh-CN" sz="2400" i="1" kern="100">
                              <a:latin typeface="Cambria Math" panose="02040503050406030204" pitchFamily="18" charset="0"/>
                              <a:ea typeface="宋体" panose="02010600030101010101" pitchFamily="2" charset="-122"/>
                            </a:rPr>
                            <m:t>𝑖</m:t>
                          </m:r>
                        </m:sub>
                      </m:sSub>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𝑖</m:t>
                          </m:r>
                          <m:r>
                            <a:rPr lang="en-US" altLang="zh-CN" sz="2400" i="1" kern="100">
                              <a:latin typeface="Cambria Math" panose="02040503050406030204" pitchFamily="18" charset="0"/>
                              <a:ea typeface="宋体" panose="02010600030101010101" pitchFamily="2" charset="-122"/>
                            </a:rPr>
                            <m:t>)</m:t>
                          </m:r>
                        </m:sup>
                      </m:sSup>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m:t>
                          </m:r>
                        </m:e>
                        <m:sup>
                          <m:r>
                            <a:rPr lang="en-US" altLang="zh-CN" sz="2400" i="1" kern="100">
                              <a:latin typeface="Cambria Math" panose="02040503050406030204" pitchFamily="18" charset="0"/>
                              <a:ea typeface="宋体" panose="02010600030101010101" pitchFamily="2" charset="-122"/>
                            </a:rPr>
                            <m:t>𝑇</m:t>
                          </m:r>
                        </m:sup>
                      </m:sSup>
                      <m:r>
                        <a:rPr lang="en-US" altLang="zh-CN" sz="2400" i="1" kern="100">
                          <a:latin typeface="Cambria Math" panose="02040503050406030204" pitchFamily="18" charset="0"/>
                          <a:ea typeface="宋体" panose="02010600030101010101" pitchFamily="2" charset="-122"/>
                        </a:rPr>
                        <m:t>𝐴</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𝑖</m:t>
                          </m:r>
                          <m:r>
                            <a:rPr lang="en-US" altLang="zh-CN" sz="2400" i="1" kern="100">
                              <a:latin typeface="Cambria Math" panose="02040503050406030204" pitchFamily="18" charset="0"/>
                              <a:ea typeface="宋体" panose="02010600030101010101" pitchFamily="2" charset="-122"/>
                            </a:rPr>
                            <m:t>)</m:t>
                          </m:r>
                        </m:sup>
                      </m:sSup>
                      <m:r>
                        <a:rPr lang="en-US" altLang="zh-CN" sz="2400" i="1" kern="100">
                          <a:latin typeface="Cambria Math" panose="02040503050406030204" pitchFamily="18" charset="0"/>
                          <a:ea typeface="宋体" panose="02010600030101010101" pitchFamily="2" charset="-122"/>
                        </a:rPr>
                        <m:t>=0</m:t>
                      </m:r>
                    </m:oMath>
                  </m:oMathPara>
                </a14:m>
                <a:endParaRPr lang="zh-CN" altLang="zh-CN" sz="2400" kern="100" dirty="0">
                  <a:latin typeface="Times New Roman" panose="02020603050405020304" pitchFamily="18" charset="0"/>
                  <a:ea typeface="宋体" panose="02010600030101010101" pitchFamily="2" charset="-122"/>
                </a:endParaRPr>
              </a:p>
              <a:p>
                <a:pPr algn="just">
                  <a:lnSpc>
                    <a:spcPct val="150000"/>
                  </a:lnSpc>
                </a:pPr>
                <a:r>
                  <a:rPr lang="zh-CN" altLang="zh-CN" sz="2400" kern="100" dirty="0">
                    <a:latin typeface="Times New Roman" panose="02020603050405020304" pitchFamily="18" charset="0"/>
                    <a:ea typeface="宋体" panose="02010600030101010101" pitchFamily="2" charset="-122"/>
                  </a:rPr>
                  <a:t>由于</a:t>
                </a:r>
                <a14:m>
                  <m:oMath xmlns:m="http://schemas.openxmlformats.org/officeDocument/2006/math">
                    <m:r>
                      <a:rPr lang="en-US" altLang="zh-CN" sz="2400" i="1" kern="100">
                        <a:latin typeface="Cambria Math" panose="02040503050406030204" pitchFamily="18" charset="0"/>
                        <a:ea typeface="宋体" panose="02010600030101010101" pitchFamily="2" charset="-122"/>
                      </a:rPr>
                      <m:t>𝐴</m:t>
                    </m:r>
                  </m:oMath>
                </a14:m>
                <a:r>
                  <a:rPr lang="zh-CN" altLang="zh-CN" sz="2400" kern="100" dirty="0">
                    <a:latin typeface="Times New Roman" panose="02020603050405020304" pitchFamily="18" charset="0"/>
                    <a:ea typeface="宋体" panose="02010600030101010101" pitchFamily="2" charset="-122"/>
                  </a:rPr>
                  <a:t>是正定矩阵，</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𝑖</m:t>
                        </m:r>
                        <m:r>
                          <a:rPr lang="en-US" altLang="zh-CN" sz="2400" i="1" kern="100">
                            <a:latin typeface="Cambria Math" panose="02040503050406030204" pitchFamily="18" charset="0"/>
                            <a:ea typeface="宋体" panose="02010600030101010101" pitchFamily="2" charset="-122"/>
                          </a:rPr>
                          <m:t>)</m:t>
                        </m:r>
                      </m:sup>
                    </m:sSup>
                  </m:oMath>
                </a14:m>
                <a:r>
                  <a:rPr lang="zh-CN" altLang="zh-CN" sz="2400" kern="100" dirty="0">
                    <a:latin typeface="Times New Roman" panose="02020603050405020304" pitchFamily="18" charset="0"/>
                    <a:ea typeface="宋体" panose="02010600030101010101" pitchFamily="2" charset="-122"/>
                  </a:rPr>
                  <a:t>是非零向量，故</a:t>
                </a:r>
              </a:p>
              <a:p>
                <a:pPr algn="ctr">
                  <a:lnSpc>
                    <a:spcPct val="150000"/>
                  </a:lnSpc>
                </a:pPr>
                <a14:m>
                  <m:oMathPara xmlns:m="http://schemas.openxmlformats.org/officeDocument/2006/math">
                    <m:oMathParaPr>
                      <m:jc m:val="centerGroup"/>
                    </m:oMathParaPr>
                    <m:oMath xmlns:m="http://schemas.openxmlformats.org/officeDocument/2006/math">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𝑖</m:t>
                          </m:r>
                          <m:r>
                            <a:rPr lang="en-US" altLang="zh-CN" sz="2400" i="1" kern="100">
                              <a:latin typeface="Cambria Math" panose="02040503050406030204" pitchFamily="18" charset="0"/>
                              <a:ea typeface="宋体" panose="02010600030101010101" pitchFamily="2" charset="-122"/>
                            </a:rPr>
                            <m:t>)</m:t>
                          </m:r>
                        </m:sup>
                      </m:sSup>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m:t>
                          </m:r>
                        </m:e>
                        <m:sup>
                          <m:r>
                            <a:rPr lang="en-US" altLang="zh-CN" sz="2400" i="1" kern="100">
                              <a:latin typeface="Cambria Math" panose="02040503050406030204" pitchFamily="18" charset="0"/>
                              <a:ea typeface="宋体" panose="02010600030101010101" pitchFamily="2" charset="-122"/>
                            </a:rPr>
                            <m:t>𝑇</m:t>
                          </m:r>
                        </m:sup>
                      </m:sSup>
                      <m:r>
                        <a:rPr lang="en-US" altLang="zh-CN" sz="2400" i="1" kern="100">
                          <a:latin typeface="Cambria Math" panose="02040503050406030204" pitchFamily="18" charset="0"/>
                          <a:ea typeface="宋体" panose="02010600030101010101" pitchFamily="2" charset="-122"/>
                        </a:rPr>
                        <m:t>𝐴</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𝑖</m:t>
                          </m:r>
                          <m:r>
                            <a:rPr lang="en-US" altLang="zh-CN" sz="2400" i="1" kern="100">
                              <a:latin typeface="Cambria Math" panose="02040503050406030204" pitchFamily="18" charset="0"/>
                              <a:ea typeface="宋体" panose="02010600030101010101" pitchFamily="2" charset="-122"/>
                            </a:rPr>
                            <m:t>)</m:t>
                          </m:r>
                        </m:sup>
                      </m:sSup>
                      <m:r>
                        <a:rPr lang="en-US" altLang="zh-CN" sz="2400" i="1" kern="100">
                          <a:latin typeface="Cambria Math" panose="02040503050406030204" pitchFamily="18" charset="0"/>
                          <a:ea typeface="宋体" panose="02010600030101010101" pitchFamily="2" charset="-122"/>
                        </a:rPr>
                        <m:t>&gt;0</m:t>
                      </m:r>
                    </m:oMath>
                  </m:oMathPara>
                </a14:m>
                <a:endParaRPr lang="zh-CN" altLang="zh-CN" sz="2400" kern="100" dirty="0">
                  <a:latin typeface="Times New Roman" panose="02020603050405020304" pitchFamily="18" charset="0"/>
                  <a:ea typeface="宋体" panose="02010600030101010101" pitchFamily="2" charset="-122"/>
                </a:endParaRPr>
              </a:p>
              <a:p>
                <a:pPr algn="just">
                  <a:lnSpc>
                    <a:spcPct val="150000"/>
                  </a:lnSpc>
                </a:pPr>
                <a:r>
                  <a:rPr lang="zh-CN" altLang="zh-CN" sz="2400" kern="100" dirty="0">
                    <a:latin typeface="Times New Roman" panose="02020603050405020304" pitchFamily="18" charset="0"/>
                    <a:ea typeface="宋体" panose="02010600030101010101" pitchFamily="2" charset="-122"/>
                  </a:rPr>
                  <a:t>因此有</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𝛼</m:t>
                        </m:r>
                      </m:e>
                      <m:sub>
                        <m:r>
                          <a:rPr lang="en-US" altLang="zh-CN" sz="2400" i="1" kern="100">
                            <a:latin typeface="Cambria Math" panose="02040503050406030204" pitchFamily="18" charset="0"/>
                            <a:ea typeface="宋体" panose="02010600030101010101" pitchFamily="2" charset="-122"/>
                          </a:rPr>
                          <m:t>𝑖</m:t>
                        </m:r>
                      </m:sub>
                    </m:sSub>
                    <m:r>
                      <a:rPr lang="en-US" altLang="zh-CN" sz="2400" i="1" kern="100">
                        <a:latin typeface="Cambria Math" panose="02040503050406030204" pitchFamily="18" charset="0"/>
                        <a:ea typeface="宋体" panose="02010600030101010101" pitchFamily="2" charset="-122"/>
                      </a:rPr>
                      <m:t>=0 (</m:t>
                    </m:r>
                    <m:r>
                      <a:rPr lang="en-US" altLang="zh-CN" sz="2400" i="1" kern="100">
                        <a:latin typeface="Cambria Math" panose="02040503050406030204" pitchFamily="18" charset="0"/>
                        <a:ea typeface="宋体" panose="02010600030101010101" pitchFamily="2" charset="-122"/>
                      </a:rPr>
                      <m:t>𝑖</m:t>
                    </m:r>
                    <m:r>
                      <a:rPr lang="en-US" altLang="zh-CN" sz="2400" i="1" kern="100">
                        <a:latin typeface="Cambria Math" panose="02040503050406030204" pitchFamily="18" charset="0"/>
                        <a:ea typeface="宋体" panose="02010600030101010101" pitchFamily="2" charset="-122"/>
                      </a:rPr>
                      <m:t>=1,2,⋯,</m:t>
                    </m:r>
                    <m:r>
                      <a:rPr lang="en-US" altLang="zh-CN" sz="2400" i="1" kern="100">
                        <a:latin typeface="Cambria Math" panose="02040503050406030204" pitchFamily="18" charset="0"/>
                        <a:ea typeface="宋体" panose="02010600030101010101" pitchFamily="2" charset="-122"/>
                      </a:rPr>
                      <m:t>𝑘</m:t>
                    </m:r>
                    <m:r>
                      <a:rPr lang="en-US" altLang="zh-CN" sz="2400" i="1" kern="100">
                        <a:latin typeface="Cambria Math" panose="02040503050406030204" pitchFamily="18" charset="0"/>
                        <a:ea typeface="宋体" panose="02010600030101010101" pitchFamily="2" charset="-122"/>
                      </a:rPr>
                      <m:t>)</m:t>
                    </m:r>
                  </m:oMath>
                </a14:m>
                <a:r>
                  <a:rPr lang="zh-CN" altLang="en-US" sz="2400" kern="100" dirty="0">
                    <a:latin typeface="Times New Roman" panose="02020603050405020304" pitchFamily="18" charset="0"/>
                    <a:ea typeface="宋体" panose="02010600030101010101" pitchFamily="2" charset="-122"/>
                  </a:rPr>
                  <a:t>，</a:t>
                </a:r>
                <a:r>
                  <a:rPr lang="zh-CN" altLang="zh-CN" sz="2400" kern="100" dirty="0">
                    <a:latin typeface="Times New Roman" panose="02020603050405020304" pitchFamily="18" charset="0"/>
                    <a:ea typeface="宋体" panose="02010600030101010101" pitchFamily="2" charset="-122"/>
                  </a:rPr>
                  <a:t>即</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(1)</m:t>
                        </m:r>
                      </m:sup>
                    </m:sSup>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(2)</m:t>
                        </m:r>
                      </m:sup>
                    </m:sSup>
                    <m:r>
                      <a:rPr lang="en-US" altLang="zh-CN" sz="2400" i="1" kern="100">
                        <a:latin typeface="Cambria Math" panose="02040503050406030204" pitchFamily="18" charset="0"/>
                        <a:ea typeface="宋体" panose="02010600030101010101" pitchFamily="2" charset="-122"/>
                      </a:rPr>
                      <m:t>,</m:t>
                    </m:r>
                    <m:r>
                      <a:rPr lang="zh-CN" altLang="zh-CN" sz="2400" i="1" kern="100">
                        <a:latin typeface="Cambria Math" panose="02040503050406030204" pitchFamily="18" charset="0"/>
                        <a:ea typeface="MS Gothic" panose="020B0609070205080204" pitchFamily="49" charset="-128"/>
                        <a:cs typeface="MS Gothic" panose="020B0609070205080204" pitchFamily="49" charset="-128"/>
                      </a:rPr>
                      <m:t>⋯</m:t>
                    </m:r>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en-US" altLang="zh-CN" sz="2400" i="1" kern="100">
                            <a:latin typeface="Cambria Math" panose="02040503050406030204" pitchFamily="18" charset="0"/>
                            <a:ea typeface="宋体" panose="02010600030101010101" pitchFamily="2" charset="-122"/>
                          </a:rPr>
                          <m:t>)</m:t>
                        </m:r>
                      </m:sup>
                    </m:sSup>
                  </m:oMath>
                </a14:m>
                <a:r>
                  <a:rPr lang="zh-CN" altLang="zh-CN" sz="2400" kern="100" dirty="0">
                    <a:latin typeface="Times New Roman" panose="02020603050405020304" pitchFamily="18" charset="0"/>
                    <a:ea typeface="宋体" panose="02010600030101010101" pitchFamily="2" charset="-122"/>
                  </a:rPr>
                  <a:t>线性无关。</a:t>
                </a:r>
              </a:p>
              <a:p>
                <a:endParaRPr lang="zh-CN" altLang="en-US" sz="2400" dirty="0"/>
              </a:p>
            </p:txBody>
          </p:sp>
        </mc:Choice>
        <mc:Fallback xmlns="">
          <p:sp>
            <p:nvSpPr>
              <p:cNvPr id="2" name="文本框 1">
                <a:extLst>
                  <a:ext uri="{FF2B5EF4-FFF2-40B4-BE49-F238E27FC236}">
                    <a16:creationId xmlns:a16="http://schemas.microsoft.com/office/drawing/2014/main" id="{403AD329-4130-9DC1-084A-E4A19A17AB3A}"/>
                  </a:ext>
                </a:extLst>
              </p:cNvPr>
              <p:cNvSpPr txBox="1">
                <a:spLocks noRot="1" noChangeAspect="1" noMove="1" noResize="1" noEditPoints="1" noAdjustHandles="1" noChangeArrowheads="1" noChangeShapeType="1" noTextEdit="1"/>
              </p:cNvSpPr>
              <p:nvPr/>
            </p:nvSpPr>
            <p:spPr>
              <a:xfrm>
                <a:off x="614362" y="188784"/>
                <a:ext cx="7915275" cy="6761403"/>
              </a:xfrm>
              <a:prstGeom prst="rect">
                <a:avLst/>
              </a:prstGeom>
              <a:blipFill>
                <a:blip r:embed="rId2"/>
                <a:stretch>
                  <a:fillRect l="-1233" r="-115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666511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32FFC42A-4688-04E7-13CF-521A6654EAFE}"/>
                  </a:ext>
                </a:extLst>
              </p:cNvPr>
              <p:cNvSpPr txBox="1"/>
              <p:nvPr/>
            </p:nvSpPr>
            <p:spPr>
              <a:xfrm>
                <a:off x="652101" y="239890"/>
                <a:ext cx="8240379" cy="6505627"/>
              </a:xfrm>
              <a:prstGeom prst="rect">
                <a:avLst/>
              </a:prstGeom>
              <a:noFill/>
            </p:spPr>
            <p:txBody>
              <a:bodyPr wrap="square" rtlCol="0">
                <a:spAutoFit/>
              </a:bodyPr>
              <a:lstStyle/>
              <a:p>
                <a:pPr indent="200025" algn="just">
                  <a:lnSpc>
                    <a:spcPct val="150000"/>
                  </a:lnSpc>
                </a:pPr>
                <a:r>
                  <a:rPr lang="zh-CN" altLang="en-US" sz="2400" kern="100" dirty="0">
                    <a:latin typeface="Times New Roman" panose="02020603050405020304" pitchFamily="18" charset="0"/>
                    <a:ea typeface="宋体" panose="02010600030101010101" pitchFamily="2" charset="-122"/>
                  </a:rPr>
                  <a:t>考虑 </a:t>
                </a:r>
                <a14:m>
                  <m:oMath xmlns:m="http://schemas.openxmlformats.org/officeDocument/2006/math">
                    <m:r>
                      <m:rPr>
                        <m:sty m:val="p"/>
                      </m:rPr>
                      <a:rPr lang="en-US" altLang="zh-CN" sz="2400" kern="100">
                        <a:latin typeface="Cambria Math" panose="02040503050406030204" pitchFamily="18" charset="0"/>
                        <a:ea typeface="宋体" panose="02010600030101010101" pitchFamily="2" charset="-122"/>
                      </a:rPr>
                      <m:t>min</m:t>
                    </m:r>
                    <m:r>
                      <a:rPr lang="en-US" altLang="zh-CN" sz="2400" i="1" kern="100">
                        <a:latin typeface="Cambria Math" panose="02040503050406030204" pitchFamily="18" charset="0"/>
                        <a:ea typeface="宋体" panose="02010600030101010101" pitchFamily="2" charset="-122"/>
                      </a:rPr>
                      <m:t>𝑓</m:t>
                    </m:r>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𝑥</m:t>
                    </m:r>
                    <m:r>
                      <a:rPr lang="en-US" altLang="zh-CN" sz="2400" i="1" kern="100">
                        <a:latin typeface="Cambria Math" panose="02040503050406030204" pitchFamily="18" charset="0"/>
                        <a:ea typeface="宋体" panose="02010600030101010101" pitchFamily="2" charset="-122"/>
                      </a:rPr>
                      <m:t>)=</m:t>
                    </m:r>
                    <m:f>
                      <m:fPr>
                        <m:ctrlPr>
                          <a:rPr lang="zh-CN" altLang="zh-CN" sz="2400" i="1" kern="100">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ea typeface="宋体" panose="02010600030101010101" pitchFamily="2" charset="-122"/>
                          </a:rPr>
                          <m:t>1</m:t>
                        </m:r>
                      </m:num>
                      <m:den>
                        <m:r>
                          <a:rPr lang="en-US" altLang="zh-CN" sz="2400" i="1" kern="100">
                            <a:latin typeface="Cambria Math" panose="02040503050406030204" pitchFamily="18" charset="0"/>
                            <a:ea typeface="宋体" panose="02010600030101010101" pitchFamily="2" charset="-122"/>
                          </a:rPr>
                          <m:t>2</m:t>
                        </m:r>
                      </m:den>
                    </m:f>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𝑥</m:t>
                        </m:r>
                      </m:e>
                      <m:sup>
                        <m:r>
                          <a:rPr lang="en-US" altLang="zh-CN" sz="2400" i="1" kern="100">
                            <a:latin typeface="Cambria Math" panose="02040503050406030204" pitchFamily="18" charset="0"/>
                            <a:ea typeface="宋体" panose="02010600030101010101" pitchFamily="2" charset="-122"/>
                          </a:rPr>
                          <m:t>𝑇</m:t>
                        </m:r>
                      </m:sup>
                    </m:sSup>
                    <m:r>
                      <a:rPr lang="en-US" altLang="zh-CN" sz="2400" i="1" kern="100">
                        <a:latin typeface="Cambria Math" panose="02040503050406030204" pitchFamily="18" charset="0"/>
                        <a:ea typeface="宋体" panose="02010600030101010101" pitchFamily="2" charset="-122"/>
                      </a:rPr>
                      <m:t>𝐴𝑥</m:t>
                    </m:r>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𝑏</m:t>
                        </m:r>
                      </m:e>
                      <m:sup>
                        <m:r>
                          <a:rPr lang="en-US" altLang="zh-CN" sz="2400" i="1" kern="100">
                            <a:latin typeface="Cambria Math" panose="02040503050406030204" pitchFamily="18" charset="0"/>
                            <a:ea typeface="宋体" panose="02010600030101010101" pitchFamily="2" charset="-122"/>
                          </a:rPr>
                          <m:t>𝑇</m:t>
                        </m:r>
                      </m:sup>
                    </m:sSup>
                    <m:r>
                      <a:rPr lang="en-US" altLang="zh-CN" sz="2400" i="1" kern="100">
                        <a:latin typeface="Cambria Math" panose="02040503050406030204" pitchFamily="18" charset="0"/>
                        <a:ea typeface="宋体" panose="02010600030101010101" pitchFamily="2" charset="-122"/>
                      </a:rPr>
                      <m:t>𝑥</m:t>
                    </m:r>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𝑐</m:t>
                    </m:r>
                  </m:oMath>
                </a14:m>
                <a:r>
                  <a:rPr lang="zh-CN" altLang="zh-CN" sz="2400" kern="100" dirty="0">
                    <a:latin typeface="Times New Roman" panose="02020603050405020304" pitchFamily="18" charset="0"/>
                    <a:ea typeface="宋体" panose="02010600030101010101" pitchFamily="2" charset="-122"/>
                  </a:rPr>
                  <a:t>，其中</a:t>
                </a:r>
                <a:r>
                  <a:rPr lang="en-US" altLang="zh-CN" sz="2400" i="1" kern="100" dirty="0">
                    <a:latin typeface="Times New Roman" panose="02020603050405020304" pitchFamily="18" charset="0"/>
                    <a:ea typeface="宋体" panose="02010600030101010101" pitchFamily="2" charset="-122"/>
                  </a:rPr>
                  <a:t>A</a:t>
                </a:r>
                <a:r>
                  <a:rPr lang="zh-CN" altLang="zh-CN" sz="2400" kern="100" dirty="0">
                    <a:latin typeface="Times New Roman" panose="02020603050405020304" pitchFamily="18" charset="0"/>
                    <a:ea typeface="宋体" panose="02010600030101010101" pitchFamily="2" charset="-122"/>
                  </a:rPr>
                  <a:t>是</a:t>
                </a:r>
                <a14:m>
                  <m:oMath xmlns:m="http://schemas.openxmlformats.org/officeDocument/2006/math">
                    <m:r>
                      <a:rPr lang="en-US" altLang="zh-CN" sz="2400" i="1" kern="100">
                        <a:latin typeface="Cambria Math" panose="02040503050406030204" pitchFamily="18" charset="0"/>
                        <a:ea typeface="宋体" panose="02010600030101010101" pitchFamily="2" charset="-122"/>
                      </a:rPr>
                      <m:t>𝑛</m:t>
                    </m:r>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𝑛</m:t>
                    </m:r>
                  </m:oMath>
                </a14:m>
                <a:r>
                  <a:rPr lang="zh-CN" altLang="zh-CN" sz="2400" kern="100" dirty="0">
                    <a:latin typeface="Times New Roman" panose="02020603050405020304" pitchFamily="18" charset="0"/>
                    <a:ea typeface="宋体" panose="02010600030101010101" pitchFamily="2" charset="-122"/>
                  </a:rPr>
                  <a:t>对称正定矩阵</a:t>
                </a:r>
                <a:r>
                  <a:rPr lang="zh-CN" altLang="en-US" sz="2400" kern="100" dirty="0">
                    <a:latin typeface="Times New Roman" panose="02020603050405020304" pitchFamily="18" charset="0"/>
                    <a:ea typeface="宋体" panose="02010600030101010101" pitchFamily="2" charset="-122"/>
                  </a:rPr>
                  <a:t>。</a:t>
                </a:r>
                <a:endParaRPr lang="zh-CN" altLang="zh-CN" sz="2400" kern="100" dirty="0">
                  <a:latin typeface="Times New Roman" panose="02020603050405020304" pitchFamily="18" charset="0"/>
                  <a:ea typeface="宋体" panose="02010600030101010101" pitchFamily="2" charset="-122"/>
                </a:endParaRPr>
              </a:p>
              <a:p>
                <a:pPr indent="200025" algn="just">
                  <a:lnSpc>
                    <a:spcPct val="150000"/>
                  </a:lnSpc>
                </a:pPr>
                <a:r>
                  <a:rPr lang="zh-CN" altLang="en-US" sz="2400" b="1" kern="100" dirty="0">
                    <a:solidFill>
                      <a:srgbClr val="0070C0"/>
                    </a:solidFill>
                    <a:latin typeface="Times New Roman" panose="02020603050405020304" pitchFamily="18" charset="0"/>
                    <a:ea typeface="宋体" panose="02010600030101010101" pitchFamily="2" charset="-122"/>
                  </a:rPr>
                  <a:t>共轭方向法</a:t>
                </a:r>
                <a:r>
                  <a:rPr lang="en-US" altLang="zh-CN" sz="2400" b="1" kern="100" dirty="0">
                    <a:solidFill>
                      <a:srgbClr val="0070C0"/>
                    </a:solidFill>
                    <a:latin typeface="Times New Roman" panose="02020603050405020304" pitchFamily="18" charset="0"/>
                    <a:ea typeface="宋体" panose="02010600030101010101" pitchFamily="2" charset="-122"/>
                  </a:rPr>
                  <a:t>:</a:t>
                </a:r>
                <a:r>
                  <a:rPr lang="zh-CN" altLang="en-US" sz="2400" b="1" kern="100" dirty="0">
                    <a:solidFill>
                      <a:srgbClr val="0070C0"/>
                    </a:solidFill>
                    <a:latin typeface="Times New Roman" panose="02020603050405020304" pitchFamily="18" charset="0"/>
                    <a:ea typeface="宋体" panose="02010600030101010101" pitchFamily="2" charset="-122"/>
                  </a:rPr>
                  <a:t> </a:t>
                </a:r>
                <a:endParaRPr lang="en-US" altLang="zh-CN" sz="2400" b="1" kern="100" dirty="0">
                  <a:solidFill>
                    <a:srgbClr val="0070C0"/>
                  </a:solidFill>
                  <a:latin typeface="Times New Roman" panose="02020603050405020304" pitchFamily="18" charset="0"/>
                  <a:ea typeface="宋体" panose="02010600030101010101" pitchFamily="2" charset="-122"/>
                </a:endParaRPr>
              </a:p>
              <a:p>
                <a:pPr indent="200025" algn="just">
                  <a:lnSpc>
                    <a:spcPct val="150000"/>
                  </a:lnSpc>
                </a:pPr>
                <a:r>
                  <a:rPr lang="en-US" altLang="zh-CN" sz="2400" kern="100" dirty="0">
                    <a:latin typeface="Times New Roman" panose="02020603050405020304" pitchFamily="18" charset="0"/>
                    <a:ea typeface="宋体" panose="02010600030101010101" pitchFamily="2" charset="-122"/>
                  </a:rPr>
                  <a:t>1. </a:t>
                </a:r>
                <a:r>
                  <a:rPr lang="zh-CN" altLang="zh-CN" sz="2400" kern="100" dirty="0">
                    <a:latin typeface="Times New Roman" panose="02020603050405020304" pitchFamily="18" charset="0"/>
                    <a:ea typeface="宋体" panose="02010600030101010101" pitchFamily="2" charset="-122"/>
                  </a:rPr>
                  <a:t>初始化</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𝑥</m:t>
                        </m:r>
                      </m:e>
                      <m:sup>
                        <m:r>
                          <a:rPr lang="en-US" altLang="zh-CN" sz="2400" i="1" kern="100">
                            <a:latin typeface="Cambria Math" panose="02040503050406030204" pitchFamily="18" charset="0"/>
                            <a:ea typeface="宋体" panose="02010600030101010101" pitchFamily="2" charset="-122"/>
                          </a:rPr>
                          <m:t>(1)</m:t>
                        </m:r>
                      </m:sup>
                    </m:sSup>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(1)</m:t>
                        </m:r>
                      </m:sup>
                    </m:sSup>
                    <m:r>
                      <a:rPr lang="en-US" altLang="zh-CN" sz="2400" i="1" kern="100">
                        <a:latin typeface="Cambria Math" panose="02040503050406030204" pitchFamily="18" charset="0"/>
                        <a:ea typeface="Cambria Math" panose="02040503050406030204" pitchFamily="18" charset="0"/>
                      </a:rPr>
                      <m:t>≠0</m:t>
                    </m:r>
                  </m:oMath>
                </a14:m>
                <a:r>
                  <a:rPr lang="zh-CN" altLang="zh-CN" sz="2400" kern="100" dirty="0">
                    <a:latin typeface="Times New Roman" panose="02020603050405020304" pitchFamily="18" charset="0"/>
                    <a:ea typeface="宋体" panose="02010600030101010101" pitchFamily="2" charset="-122"/>
                  </a:rPr>
                  <a:t>，令</a:t>
                </a:r>
                <a14:m>
                  <m:oMath xmlns:m="http://schemas.openxmlformats.org/officeDocument/2006/math">
                    <m:r>
                      <a:rPr lang="en-US" altLang="zh-CN" sz="2400" i="1" kern="100" dirty="0">
                        <a:latin typeface="Cambria Math" panose="02040503050406030204" pitchFamily="18" charset="0"/>
                        <a:ea typeface="宋体" panose="02010600030101010101" pitchFamily="2" charset="-122"/>
                      </a:rPr>
                      <m:t>𝑘</m:t>
                    </m:r>
                    <m:r>
                      <a:rPr lang="en-US" altLang="zh-CN" sz="2400" i="1" kern="100" dirty="0">
                        <a:latin typeface="Cambria Math" panose="02040503050406030204" pitchFamily="18" charset="0"/>
                        <a:ea typeface="宋体" panose="02010600030101010101" pitchFamily="2" charset="-122"/>
                      </a:rPr>
                      <m:t>:=1</m:t>
                    </m:r>
                  </m:oMath>
                </a14:m>
                <a:endParaRPr lang="zh-CN" altLang="zh-CN" sz="2400" kern="100" dirty="0">
                  <a:latin typeface="Times New Roman" panose="02020603050405020304" pitchFamily="18" charset="0"/>
                  <a:ea typeface="宋体" panose="02010600030101010101" pitchFamily="2" charset="-122"/>
                </a:endParaRPr>
              </a:p>
              <a:p>
                <a:pPr indent="200025" algn="just">
                  <a:lnSpc>
                    <a:spcPct val="150000"/>
                  </a:lnSpc>
                </a:pPr>
                <a:r>
                  <a:rPr lang="en-US" altLang="zh-CN" sz="2400" kern="100" dirty="0">
                    <a:latin typeface="Times New Roman" panose="02020603050405020304" pitchFamily="18" charset="0"/>
                    <a:ea typeface="宋体" panose="02010600030101010101" pitchFamily="2" charset="-122"/>
                  </a:rPr>
                  <a:t>2. </a:t>
                </a:r>
                <a:r>
                  <a:rPr lang="zh-CN" altLang="zh-CN" sz="2400" kern="100" dirty="0">
                    <a:latin typeface="Times New Roman" panose="02020603050405020304" pitchFamily="18" charset="0"/>
                    <a:ea typeface="宋体" panose="02010600030101010101" pitchFamily="2" charset="-122"/>
                  </a:rPr>
                  <a:t>计算</a:t>
                </a:r>
              </a:p>
              <a:p>
                <a:pPr indent="800100" algn="just">
                  <a:lnSpc>
                    <a:spcPct val="150000"/>
                  </a:lnSpc>
                </a:pPr>
                <a14:m>
                  <m:oMathPara xmlns:m="http://schemas.openxmlformats.org/officeDocument/2006/math">
                    <m:oMathParaPr>
                      <m:jc m:val="centerGroup"/>
                    </m:oMathParaPr>
                    <m:oMath xmlns:m="http://schemas.openxmlformats.org/officeDocument/2006/math">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𝑓</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𝑥</m:t>
                          </m:r>
                        </m:e>
                        <m: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sup>
                      </m:sSup>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𝑑</m:t>
                          </m:r>
                        </m:e>
                        <m: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limLow>
                        <m:limLow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limLow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𝑚𝑖𝑛</m:t>
                          </m:r>
                        </m:e>
                        <m:lim>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𝛼</m:t>
                          </m:r>
                        </m:lim>
                      </m:limLow>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𝑓</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𝑥</m:t>
                          </m:r>
                        </m:e>
                        <m: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𝛼</m:t>
                      </m:r>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𝑑</m:t>
                          </m:r>
                        </m:e>
                        <m: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zh-CN" altLang="zh-CN" sz="2400" i="1" kern="100" dirty="0">
                  <a:latin typeface="Cambria Math" panose="02040503050406030204" pitchFamily="18" charset="0"/>
                  <a:ea typeface="Cambria Math" panose="02040503050406030204" pitchFamily="18" charset="0"/>
                  <a:cs typeface="Times New Roman" panose="02020603050405020304" pitchFamily="18" charset="0"/>
                </a:endParaRPr>
              </a:p>
              <a:p>
                <a:pPr indent="800100" algn="just">
                  <a:lnSpc>
                    <a:spcPct val="150000"/>
                  </a:lnSpc>
                </a:pPr>
                <a14:m>
                  <m:oMathPara xmlns:m="http://schemas.openxmlformats.org/officeDocument/2006/math">
                    <m:oMathParaPr>
                      <m:jc m:val="centerGroup"/>
                    </m:oMathParaPr>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𝑥</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en-US" altLang="zh-CN" sz="2400" i="1" kern="100">
                              <a:latin typeface="Cambria Math" panose="02040503050406030204" pitchFamily="18" charset="0"/>
                              <a:ea typeface="宋体" panose="02010600030101010101" pitchFamily="2" charset="-122"/>
                            </a:rPr>
                            <m:t>+1)</m:t>
                          </m:r>
                        </m:sup>
                      </m:sSup>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𝑥</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en-US" altLang="zh-CN" sz="2400" i="1" kern="100">
                              <a:latin typeface="Cambria Math" panose="02040503050406030204" pitchFamily="18" charset="0"/>
                              <a:ea typeface="宋体" panose="02010600030101010101" pitchFamily="2" charset="-122"/>
                            </a:rPr>
                            <m:t>)</m:t>
                          </m:r>
                        </m:sup>
                      </m:sSup>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sup>
                      </m:sSup>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en-US" altLang="zh-CN" sz="2400" i="1" kern="100">
                              <a:latin typeface="Cambria Math" panose="02040503050406030204" pitchFamily="18" charset="0"/>
                              <a:ea typeface="宋体" panose="02010600030101010101" pitchFamily="2" charset="-122"/>
                            </a:rPr>
                            <m:t>)</m:t>
                          </m:r>
                        </m:sup>
                      </m:sSup>
                    </m:oMath>
                  </m:oMathPara>
                </a14:m>
                <a:endParaRPr lang="zh-CN" altLang="zh-CN" sz="2400" kern="100" dirty="0">
                  <a:latin typeface="Times New Roman" panose="02020603050405020304" pitchFamily="18" charset="0"/>
                  <a:ea typeface="宋体" panose="02010600030101010101" pitchFamily="2" charset="-122"/>
                </a:endParaRPr>
              </a:p>
              <a:p>
                <a:pPr indent="200025" algn="just">
                  <a:lnSpc>
                    <a:spcPct val="150000"/>
                  </a:lnSpc>
                </a:pPr>
                <a:r>
                  <a:rPr lang="en-US" altLang="zh-CN" sz="2400" kern="100" dirty="0">
                    <a:latin typeface="Times New Roman" panose="02020603050405020304" pitchFamily="18" charset="0"/>
                    <a:ea typeface="宋体" panose="02010600030101010101" pitchFamily="2" charset="-122"/>
                  </a:rPr>
                  <a:t>3. </a:t>
                </a:r>
                <a:r>
                  <a:rPr lang="zh-CN" altLang="zh-CN" sz="2400" kern="100" dirty="0">
                    <a:latin typeface="Times New Roman" panose="02020603050405020304" pitchFamily="18" charset="0"/>
                    <a:ea typeface="宋体" panose="02010600030101010101" pitchFamily="2" charset="-122"/>
                  </a:rPr>
                  <a:t>计算</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func>
                          <m:funcPr>
                            <m:ctrlPr>
                              <a:rPr lang="zh-CN" altLang="zh-CN" sz="2400" i="1" kern="100">
                                <a:latin typeface="Cambria Math" panose="02040503050406030204" pitchFamily="18" charset="0"/>
                                <a:ea typeface="Cambria Math" panose="02040503050406030204" pitchFamily="18" charset="0"/>
                              </a:rPr>
                            </m:ctrlPr>
                          </m:funcPr>
                          <m:fName>
                            <m:r>
                              <a:rPr lang="en-US" altLang="zh-CN" sz="2400" i="1" kern="100">
                                <a:latin typeface="Cambria Math" panose="02040503050406030204" pitchFamily="18" charset="0"/>
                                <a:ea typeface="宋体" panose="02010600030101010101" pitchFamily="2" charset="-122"/>
                              </a:rPr>
                              <m:t>𝑘</m:t>
                            </m:r>
                          </m:fName>
                          <m:e>
                            <m:r>
                              <a:rPr lang="en-US" altLang="zh-CN" sz="2400" i="1" kern="100">
                                <a:latin typeface="Cambria Math" panose="02040503050406030204" pitchFamily="18" charset="0"/>
                                <a:ea typeface="宋体" panose="02010600030101010101" pitchFamily="2" charset="-122"/>
                              </a:rPr>
                              <m:t>+</m:t>
                            </m:r>
                          </m:e>
                        </m:func>
                        <m:r>
                          <a:rPr lang="en-US" altLang="zh-CN" sz="2400" i="1" kern="100">
                            <a:latin typeface="Cambria Math" panose="02040503050406030204" pitchFamily="18" charset="0"/>
                            <a:ea typeface="宋体" panose="02010600030101010101" pitchFamily="2" charset="-122"/>
                          </a:rPr>
                          <m:t>1)</m:t>
                        </m:r>
                      </m:sup>
                    </m:sSup>
                  </m:oMath>
                </a14:m>
                <a:r>
                  <a:rPr lang="zh-CN" altLang="zh-CN" sz="2400" kern="100" dirty="0">
                    <a:latin typeface="Times New Roman" panose="02020603050405020304" pitchFamily="18" charset="0"/>
                    <a:ea typeface="宋体" panose="02010600030101010101" pitchFamily="2" charset="-122"/>
                  </a:rPr>
                  <a:t>，使之与</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(1)</m:t>
                        </m:r>
                      </m:sup>
                    </m:sSup>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(2)</m:t>
                        </m:r>
                      </m:sup>
                    </m:sSup>
                    <m:r>
                      <a:rPr lang="en-US" altLang="zh-CN" sz="2400" i="1" kern="100">
                        <a:latin typeface="Cambria Math" panose="02040503050406030204" pitchFamily="18" charset="0"/>
                        <a:ea typeface="宋体" panose="02010600030101010101" pitchFamily="2" charset="-122"/>
                      </a:rPr>
                      <m:t>,</m:t>
                    </m:r>
                    <m:r>
                      <a:rPr lang="zh-CN" altLang="zh-CN" sz="2400" i="1" kern="100">
                        <a:latin typeface="Cambria Math" panose="02040503050406030204" pitchFamily="18" charset="0"/>
                        <a:ea typeface="MS Gothic" panose="020B0609070205080204" pitchFamily="49" charset="-128"/>
                        <a:cs typeface="MS Gothic" panose="020B0609070205080204" pitchFamily="49" charset="-128"/>
                      </a:rPr>
                      <m:t>⋯</m:t>
                    </m:r>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func>
                          <m:funcPr>
                            <m:ctrlPr>
                              <a:rPr lang="zh-CN" altLang="zh-CN" sz="2400" i="1" kern="100">
                                <a:latin typeface="Cambria Math" panose="02040503050406030204" pitchFamily="18" charset="0"/>
                                <a:ea typeface="Cambria Math" panose="02040503050406030204" pitchFamily="18" charset="0"/>
                              </a:rPr>
                            </m:ctrlPr>
                          </m:funcPr>
                          <m:fName>
                            <m:r>
                              <a:rPr lang="en-US" altLang="zh-CN" sz="2400" i="1" kern="100">
                                <a:latin typeface="Cambria Math" panose="02040503050406030204" pitchFamily="18" charset="0"/>
                                <a:ea typeface="宋体" panose="02010600030101010101" pitchFamily="2" charset="-122"/>
                              </a:rPr>
                              <m:t>𝑘</m:t>
                            </m:r>
                          </m:fName>
                          <m:e>
                            <m:r>
                              <a:rPr lang="en-US" altLang="zh-CN" sz="2400" i="1" kern="100">
                                <a:latin typeface="Cambria Math" panose="02040503050406030204" pitchFamily="18" charset="0"/>
                                <a:ea typeface="宋体" panose="02010600030101010101" pitchFamily="2" charset="-122"/>
                              </a:rPr>
                              <m:t>)</m:t>
                            </m:r>
                          </m:e>
                        </m:func>
                      </m:sup>
                    </m:sSup>
                  </m:oMath>
                </a14:m>
                <a:r>
                  <a:rPr lang="zh-CN" altLang="zh-CN" sz="2400" kern="100" dirty="0">
                    <a:latin typeface="Times New Roman" panose="02020603050405020304" pitchFamily="18" charset="0"/>
                    <a:ea typeface="宋体" panose="02010600030101010101" pitchFamily="2" charset="-122"/>
                  </a:rPr>
                  <a:t>为关于</a:t>
                </a:r>
                <a14:m>
                  <m:oMath xmlns:m="http://schemas.openxmlformats.org/officeDocument/2006/math">
                    <m:r>
                      <a:rPr lang="en-US" altLang="zh-CN" sz="2400" i="1" kern="100">
                        <a:latin typeface="Cambria Math" panose="02040503050406030204" pitchFamily="18" charset="0"/>
                        <a:ea typeface="宋体" panose="02010600030101010101" pitchFamily="2" charset="-122"/>
                      </a:rPr>
                      <m:t>𝐴</m:t>
                    </m:r>
                  </m:oMath>
                </a14:m>
                <a:r>
                  <a:rPr lang="zh-CN" altLang="zh-CN" sz="2400" kern="100" dirty="0">
                    <a:latin typeface="Times New Roman" panose="02020603050405020304" pitchFamily="18" charset="0"/>
                    <a:ea typeface="宋体" panose="02010600030101010101" pitchFamily="2" charset="-122"/>
                  </a:rPr>
                  <a:t>两两共轭的非零向量</a:t>
                </a:r>
                <a:r>
                  <a:rPr lang="zh-CN" altLang="en-US" sz="2400" kern="100" dirty="0">
                    <a:latin typeface="Times New Roman" panose="02020603050405020304" pitchFamily="18" charset="0"/>
                    <a:ea typeface="宋体" panose="02010600030101010101" pitchFamily="2" charset="-122"/>
                  </a:rPr>
                  <a:t>。</a:t>
                </a:r>
                <a:endParaRPr lang="zh-CN" altLang="zh-CN" sz="2400" kern="100" dirty="0">
                  <a:latin typeface="Times New Roman" panose="02020603050405020304" pitchFamily="18" charset="0"/>
                  <a:ea typeface="宋体" panose="02010600030101010101" pitchFamily="2" charset="-122"/>
                </a:endParaRPr>
              </a:p>
              <a:p>
                <a:pPr indent="200025" algn="just">
                  <a:lnSpc>
                    <a:spcPct val="150000"/>
                  </a:lnSpc>
                </a:pPr>
                <a:r>
                  <a:rPr lang="en-US" altLang="zh-CN" sz="2400" kern="100" dirty="0">
                    <a:latin typeface="Times New Roman" panose="02020603050405020304" pitchFamily="18" charset="0"/>
                    <a:ea typeface="宋体" panose="02010600030101010101" pitchFamily="2" charset="-122"/>
                  </a:rPr>
                  <a:t>4. </a:t>
                </a:r>
                <a14:m>
                  <m:oMath xmlns:m="http://schemas.openxmlformats.org/officeDocument/2006/math">
                    <m:r>
                      <a:rPr lang="en-US" altLang="zh-CN" sz="2400" i="1" kern="100" dirty="0">
                        <a:latin typeface="Cambria Math" panose="02040503050406030204" pitchFamily="18" charset="0"/>
                        <a:ea typeface="宋体" panose="02010600030101010101" pitchFamily="2" charset="-122"/>
                      </a:rPr>
                      <m:t>𝑘</m:t>
                    </m:r>
                    <m:r>
                      <a:rPr lang="en-US" altLang="zh-CN" sz="2400" i="1" kern="100" dirty="0">
                        <a:latin typeface="Cambria Math" panose="02040503050406030204" pitchFamily="18" charset="0"/>
                        <a:ea typeface="宋体" panose="02010600030101010101" pitchFamily="2" charset="-122"/>
                      </a:rPr>
                      <m:t>=</m:t>
                    </m:r>
                    <m:r>
                      <a:rPr lang="en-US" altLang="zh-CN" sz="2400" i="1" kern="100" dirty="0">
                        <a:latin typeface="Cambria Math" panose="02040503050406030204" pitchFamily="18" charset="0"/>
                        <a:ea typeface="宋体" panose="02010600030101010101" pitchFamily="2" charset="-122"/>
                      </a:rPr>
                      <m:t>𝑘</m:t>
                    </m:r>
                    <m:r>
                      <a:rPr lang="en-US" altLang="zh-CN" sz="2400" i="1" kern="100" dirty="0">
                        <a:latin typeface="Cambria Math" panose="02040503050406030204" pitchFamily="18" charset="0"/>
                        <a:ea typeface="宋体" panose="02010600030101010101" pitchFamily="2" charset="-122"/>
                      </a:rPr>
                      <m:t>+1</m:t>
                    </m:r>
                    <m:r>
                      <a:rPr lang="zh-CN" altLang="en-US" sz="2400" i="1" kern="100" dirty="0">
                        <a:latin typeface="Cambria Math" panose="02040503050406030204" pitchFamily="18" charset="0"/>
                        <a:ea typeface="宋体" panose="02010600030101010101" pitchFamily="2" charset="-122"/>
                      </a:rPr>
                      <m:t>，</m:t>
                    </m:r>
                  </m:oMath>
                </a14:m>
                <a:r>
                  <a:rPr lang="zh-CN" altLang="en-US" sz="2400" kern="100" dirty="0">
                    <a:latin typeface="Times New Roman" panose="02020603050405020304" pitchFamily="18" charset="0"/>
                    <a:ea typeface="宋体" panose="02010600030101010101" pitchFamily="2" charset="-122"/>
                  </a:rPr>
                  <a:t>如果满足终止条件，停止；否则，</a:t>
                </a:r>
                <a:r>
                  <a:rPr lang="zh-CN" altLang="zh-CN" sz="2400" kern="100" dirty="0">
                    <a:latin typeface="Times New Roman" panose="02020603050405020304" pitchFamily="18" charset="0"/>
                    <a:ea typeface="宋体" panose="02010600030101010101" pitchFamily="2" charset="-122"/>
                  </a:rPr>
                  <a:t>转</a:t>
                </a:r>
                <a:r>
                  <a:rPr lang="zh-CN" altLang="en-US" sz="2400" kern="100" dirty="0">
                    <a:latin typeface="Times New Roman" panose="02020603050405020304" pitchFamily="18" charset="0"/>
                    <a:ea typeface="宋体" panose="02010600030101010101" pitchFamily="2" charset="-122"/>
                  </a:rPr>
                  <a:t>步骤</a:t>
                </a:r>
                <a:r>
                  <a:rPr lang="en-US" altLang="zh-CN" sz="2400" kern="100" dirty="0">
                    <a:latin typeface="Times New Roman" panose="02020603050405020304" pitchFamily="18" charset="0"/>
                    <a:ea typeface="宋体" panose="02010600030101010101" pitchFamily="2" charset="-122"/>
                  </a:rPr>
                  <a:t>2</a:t>
                </a:r>
                <a:r>
                  <a:rPr lang="zh-CN" altLang="en-US" sz="2400" kern="100" dirty="0">
                    <a:latin typeface="Times New Roman" panose="02020603050405020304" pitchFamily="18" charset="0"/>
                    <a:ea typeface="宋体" panose="02010600030101010101" pitchFamily="2" charset="-122"/>
                  </a:rPr>
                  <a:t>。</a:t>
                </a:r>
                <a:endParaRPr lang="zh-CN" altLang="zh-CN" sz="2400" kern="100" dirty="0">
                  <a:latin typeface="Times New Roman" panose="02020603050405020304" pitchFamily="18" charset="0"/>
                  <a:ea typeface="宋体" panose="02010600030101010101" pitchFamily="2" charset="-122"/>
                </a:endParaRPr>
              </a:p>
              <a:p>
                <a:endParaRPr lang="zh-CN" altLang="en-US" sz="2400" dirty="0"/>
              </a:p>
            </p:txBody>
          </p:sp>
        </mc:Choice>
        <mc:Fallback xmlns="">
          <p:sp>
            <p:nvSpPr>
              <p:cNvPr id="2" name="文本框 1">
                <a:extLst>
                  <a:ext uri="{FF2B5EF4-FFF2-40B4-BE49-F238E27FC236}">
                    <a16:creationId xmlns:a16="http://schemas.microsoft.com/office/drawing/2014/main" id="{32FFC42A-4688-04E7-13CF-521A6654EAFE}"/>
                  </a:ext>
                </a:extLst>
              </p:cNvPr>
              <p:cNvSpPr txBox="1">
                <a:spLocks noRot="1" noChangeAspect="1" noMove="1" noResize="1" noEditPoints="1" noAdjustHandles="1" noChangeArrowheads="1" noChangeShapeType="1" noTextEdit="1"/>
              </p:cNvSpPr>
              <p:nvPr/>
            </p:nvSpPr>
            <p:spPr>
              <a:xfrm>
                <a:off x="652101" y="239890"/>
                <a:ext cx="8240379" cy="6505627"/>
              </a:xfrm>
              <a:prstGeom prst="rect">
                <a:avLst/>
              </a:prstGeom>
              <a:blipFill>
                <a:blip r:embed="rId2"/>
                <a:stretch>
                  <a:fillRect l="-1183" r="-110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622283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B6C63731-BFA5-C206-7B6F-2A81FB9DB1C0}"/>
                  </a:ext>
                </a:extLst>
              </p:cNvPr>
              <p:cNvSpPr txBox="1"/>
              <p:nvPr/>
            </p:nvSpPr>
            <p:spPr>
              <a:xfrm>
                <a:off x="564503" y="980381"/>
                <a:ext cx="7735077" cy="4897238"/>
              </a:xfrm>
              <a:prstGeom prst="rect">
                <a:avLst/>
              </a:prstGeom>
              <a:noFill/>
            </p:spPr>
            <p:txBody>
              <a:bodyPr wrap="square" rtlCol="0">
                <a:spAutoFit/>
              </a:bodyPr>
              <a:lstStyle/>
              <a:p>
                <a:pPr indent="200025" algn="just">
                  <a:lnSpc>
                    <a:spcPct val="150000"/>
                  </a:lnSpc>
                  <a:spcBef>
                    <a:spcPts val="450"/>
                  </a:spcBef>
                </a:pPr>
                <a:r>
                  <a:rPr lang="en-US" altLang="zh-CN" sz="2400" kern="100" dirty="0">
                    <a:solidFill>
                      <a:srgbClr val="FF0000"/>
                    </a:solidFill>
                    <a:latin typeface="Times New Roman" panose="02020603050405020304" pitchFamily="18" charset="0"/>
                    <a:ea typeface="黑体" panose="02010609060101010101" pitchFamily="49" charset="-122"/>
                  </a:rPr>
                  <a:t>   </a:t>
                </a:r>
                <a:r>
                  <a:rPr lang="zh-CN" altLang="zh-CN" sz="2400" kern="100" dirty="0">
                    <a:solidFill>
                      <a:srgbClr val="FF0000"/>
                    </a:solidFill>
                    <a:latin typeface="Times New Roman" panose="02020603050405020304" pitchFamily="18" charset="0"/>
                    <a:ea typeface="黑体" panose="02010609060101010101" pitchFamily="49" charset="-122"/>
                  </a:rPr>
                  <a:t>定理</a:t>
                </a:r>
                <a:r>
                  <a:rPr lang="en-US" altLang="zh-CN" sz="2400" kern="100" dirty="0">
                    <a:solidFill>
                      <a:srgbClr val="FF0000"/>
                    </a:solidFill>
                    <a:latin typeface="Times New Roman" panose="02020603050405020304" pitchFamily="18" charset="0"/>
                    <a:ea typeface="黑体" panose="02010609060101010101" pitchFamily="49" charset="-122"/>
                  </a:rPr>
                  <a:t>2</a:t>
                </a:r>
                <a:r>
                  <a:rPr lang="en-US" altLang="zh-CN" sz="2400" kern="100" dirty="0">
                    <a:latin typeface="Times New Roman" panose="02020603050405020304" pitchFamily="18" charset="0"/>
                    <a:ea typeface="宋体" panose="02010600030101010101" pitchFamily="2" charset="-122"/>
                  </a:rPr>
                  <a:t>    </a:t>
                </a:r>
                <a:r>
                  <a:rPr lang="zh-CN" altLang="zh-CN" sz="2400" kern="100" dirty="0">
                    <a:latin typeface="Times New Roman" panose="02020603050405020304" pitchFamily="18" charset="0"/>
                    <a:ea typeface="宋体" panose="02010600030101010101" pitchFamily="2" charset="-122"/>
                  </a:rPr>
                  <a:t>设有正定二次函数</a:t>
                </a:r>
              </a:p>
              <a:p>
                <a:pPr algn="just"/>
                <a14:m>
                  <m:oMathPara xmlns:m="http://schemas.openxmlformats.org/officeDocument/2006/math">
                    <m:oMathParaPr>
                      <m:jc m:val="center"/>
                    </m:oMathParaPr>
                    <m:oMath xmlns:m="http://schemas.openxmlformats.org/officeDocument/2006/math">
                      <m:r>
                        <a:rPr lang="en-US" altLang="zh-CN" sz="2400" i="1" kern="100">
                          <a:latin typeface="Cambria Math" panose="02040503050406030204" pitchFamily="18" charset="0"/>
                          <a:ea typeface="宋体" panose="02010600030101010101" pitchFamily="2" charset="-122"/>
                        </a:rPr>
                        <m:t>𝑓</m:t>
                      </m:r>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𝑥</m:t>
                      </m:r>
                      <m:r>
                        <a:rPr lang="en-US" altLang="zh-CN" sz="2400" i="1" kern="100">
                          <a:latin typeface="Cambria Math" panose="02040503050406030204" pitchFamily="18" charset="0"/>
                          <a:ea typeface="宋体" panose="02010600030101010101" pitchFamily="2" charset="-122"/>
                        </a:rPr>
                        <m:t>)=</m:t>
                      </m:r>
                      <m:f>
                        <m:fPr>
                          <m:ctrlPr>
                            <a:rPr lang="zh-CN" altLang="zh-CN" sz="2400" i="1" kern="100">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ea typeface="宋体" panose="02010600030101010101" pitchFamily="2" charset="-122"/>
                            </a:rPr>
                            <m:t>1</m:t>
                          </m:r>
                        </m:num>
                        <m:den>
                          <m:r>
                            <a:rPr lang="en-US" altLang="zh-CN" sz="2400" i="1" kern="100">
                              <a:latin typeface="Cambria Math" panose="02040503050406030204" pitchFamily="18" charset="0"/>
                              <a:ea typeface="宋体" panose="02010600030101010101" pitchFamily="2" charset="-122"/>
                            </a:rPr>
                            <m:t>2</m:t>
                          </m:r>
                        </m:den>
                      </m:f>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𝑥</m:t>
                          </m:r>
                        </m:e>
                        <m:sup>
                          <m:r>
                            <a:rPr lang="en-US" altLang="zh-CN" sz="2400" i="1" kern="100">
                              <a:latin typeface="Cambria Math" panose="02040503050406030204" pitchFamily="18" charset="0"/>
                              <a:ea typeface="宋体" panose="02010600030101010101" pitchFamily="2" charset="-122"/>
                            </a:rPr>
                            <m:t>𝑇</m:t>
                          </m:r>
                        </m:sup>
                      </m:sSup>
                      <m:r>
                        <a:rPr lang="en-US" altLang="zh-CN" sz="2400" i="1" kern="100">
                          <a:latin typeface="Cambria Math" panose="02040503050406030204" pitchFamily="18" charset="0"/>
                          <a:ea typeface="宋体" panose="02010600030101010101" pitchFamily="2" charset="-122"/>
                        </a:rPr>
                        <m:t>𝐴𝑥</m:t>
                      </m:r>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Cambria Math" panose="02040503050406030204" pitchFamily="18" charset="0"/>
                            </a:rPr>
                            <m:t>𝑏</m:t>
                          </m:r>
                        </m:e>
                        <m:sup>
                          <m:r>
                            <a:rPr lang="en-US" altLang="zh-CN" sz="2400" i="1" kern="100">
                              <a:latin typeface="Cambria Math" panose="02040503050406030204" pitchFamily="18" charset="0"/>
                              <a:ea typeface="宋体" panose="02010600030101010101" pitchFamily="2" charset="-122"/>
                            </a:rPr>
                            <m:t>𝑇</m:t>
                          </m:r>
                        </m:sup>
                      </m:sSup>
                      <m:r>
                        <a:rPr lang="en-US" altLang="zh-CN" sz="2400" i="1" kern="100">
                          <a:latin typeface="Cambria Math" panose="02040503050406030204" pitchFamily="18" charset="0"/>
                          <a:ea typeface="宋体" panose="02010600030101010101" pitchFamily="2" charset="-122"/>
                        </a:rPr>
                        <m:t>𝑥</m:t>
                      </m:r>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𝑐</m:t>
                      </m:r>
                    </m:oMath>
                  </m:oMathPara>
                </a14:m>
                <a:endParaRPr lang="zh-CN" altLang="zh-CN" sz="2400" kern="100" dirty="0">
                  <a:latin typeface="Times New Roman" panose="02020603050405020304" pitchFamily="18" charset="0"/>
                  <a:ea typeface="宋体" panose="02010600030101010101" pitchFamily="2" charset="-122"/>
                </a:endParaRPr>
              </a:p>
              <a:p>
                <a:pPr algn="just">
                  <a:lnSpc>
                    <a:spcPct val="150000"/>
                  </a:lnSpc>
                </a:pPr>
                <a:r>
                  <a:rPr lang="zh-CN" altLang="zh-CN" sz="2400" kern="100" dirty="0">
                    <a:latin typeface="Times New Roman" panose="02020603050405020304" pitchFamily="18" charset="0"/>
                    <a:ea typeface="宋体" panose="02010600030101010101" pitchFamily="2" charset="-122"/>
                  </a:rPr>
                  <a:t>其中</a:t>
                </a:r>
                <a:r>
                  <a:rPr lang="en-US" altLang="zh-CN" sz="2400" i="1" kern="100" dirty="0">
                    <a:latin typeface="Times New Roman" panose="02020603050405020304" pitchFamily="18" charset="0"/>
                    <a:ea typeface="宋体" panose="02010600030101010101" pitchFamily="2" charset="-122"/>
                  </a:rPr>
                  <a:t>A</a:t>
                </a:r>
                <a:r>
                  <a:rPr lang="zh-CN" altLang="zh-CN" sz="2400" kern="100" dirty="0">
                    <a:latin typeface="Times New Roman" panose="02020603050405020304" pitchFamily="18" charset="0"/>
                    <a:ea typeface="宋体" panose="02010600030101010101" pitchFamily="2" charset="-122"/>
                  </a:rPr>
                  <a:t>是</a:t>
                </a:r>
                <a14:m>
                  <m:oMath xmlns:m="http://schemas.openxmlformats.org/officeDocument/2006/math">
                    <m:r>
                      <a:rPr lang="en-US" altLang="zh-CN" sz="2400" i="1" kern="100">
                        <a:latin typeface="Cambria Math" panose="02040503050406030204" pitchFamily="18" charset="0"/>
                        <a:ea typeface="宋体" panose="02010600030101010101" pitchFamily="2" charset="-122"/>
                      </a:rPr>
                      <m:t>𝑛</m:t>
                    </m:r>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𝑛</m:t>
                    </m:r>
                  </m:oMath>
                </a14:m>
                <a:r>
                  <a:rPr lang="zh-CN" altLang="zh-CN" sz="2400" kern="100" dirty="0">
                    <a:latin typeface="Times New Roman" panose="02020603050405020304" pitchFamily="18" charset="0"/>
                    <a:ea typeface="宋体" panose="02010600030101010101" pitchFamily="2" charset="-122"/>
                  </a:rPr>
                  <a:t>对称正定矩阵，</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(1)</m:t>
                        </m:r>
                      </m:sup>
                    </m:sSup>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(2)</m:t>
                        </m:r>
                      </m:sup>
                    </m:sSup>
                    <m:r>
                      <a:rPr lang="en-US" altLang="zh-CN" sz="2400" i="1" kern="100">
                        <a:latin typeface="Cambria Math" panose="02040503050406030204" pitchFamily="18" charset="0"/>
                        <a:ea typeface="宋体" panose="02010600030101010101" pitchFamily="2" charset="-122"/>
                      </a:rPr>
                      <m:t>,</m:t>
                    </m:r>
                    <m:r>
                      <a:rPr lang="zh-CN" altLang="zh-CN" sz="2400" i="1" kern="100">
                        <a:latin typeface="Cambria Math" panose="02040503050406030204" pitchFamily="18" charset="0"/>
                        <a:ea typeface="MS Gothic" panose="020B0609070205080204" pitchFamily="49" charset="-128"/>
                        <a:cs typeface="MS Gothic" panose="020B0609070205080204" pitchFamily="49" charset="-128"/>
                      </a:rPr>
                      <m:t>⋯</m:t>
                    </m:r>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𝑛</m:t>
                        </m:r>
                        <m:r>
                          <a:rPr lang="en-US" altLang="zh-CN" sz="2400" i="1" kern="100">
                            <a:latin typeface="Cambria Math" panose="02040503050406030204" pitchFamily="18" charset="0"/>
                            <a:ea typeface="宋体" panose="02010600030101010101" pitchFamily="2" charset="-122"/>
                          </a:rPr>
                          <m:t>)</m:t>
                        </m:r>
                      </m:sup>
                    </m:sSup>
                  </m:oMath>
                </a14:m>
                <a:r>
                  <a:rPr lang="zh-CN" altLang="zh-CN" sz="2400" kern="100" dirty="0">
                    <a:latin typeface="Times New Roman" panose="02020603050405020304" pitchFamily="18" charset="0"/>
                    <a:ea typeface="宋体" panose="02010600030101010101" pitchFamily="2" charset="-122"/>
                  </a:rPr>
                  <a:t>为关于</a:t>
                </a:r>
                <a:r>
                  <a:rPr lang="en-US" altLang="zh-CN" sz="2400" i="1" kern="100" dirty="0">
                    <a:latin typeface="Times New Roman" panose="02020603050405020304" pitchFamily="18" charset="0"/>
                    <a:ea typeface="宋体" panose="02010600030101010101" pitchFamily="2" charset="-122"/>
                  </a:rPr>
                  <a:t>A</a:t>
                </a:r>
                <a:r>
                  <a:rPr lang="zh-CN" altLang="zh-CN" sz="2400" kern="100" dirty="0">
                    <a:latin typeface="Times New Roman" panose="02020603050405020304" pitchFamily="18" charset="0"/>
                    <a:ea typeface="宋体" panose="02010600030101010101" pitchFamily="2" charset="-122"/>
                  </a:rPr>
                  <a:t>共轭的非零向量，则从任一点</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𝑥</m:t>
                        </m:r>
                      </m:e>
                      <m:sup>
                        <m:r>
                          <a:rPr lang="en-US" altLang="zh-CN" sz="2400" i="1" kern="100">
                            <a:latin typeface="Cambria Math" panose="02040503050406030204" pitchFamily="18" charset="0"/>
                            <a:ea typeface="宋体" panose="02010600030101010101" pitchFamily="2" charset="-122"/>
                          </a:rPr>
                          <m:t>(1)</m:t>
                        </m:r>
                      </m:sup>
                    </m:sSup>
                  </m:oMath>
                </a14:m>
                <a:r>
                  <a:rPr lang="zh-CN" altLang="zh-CN" sz="2400" kern="100" dirty="0">
                    <a:latin typeface="Times New Roman" panose="02020603050405020304" pitchFamily="18" charset="0"/>
                    <a:ea typeface="宋体" panose="02010600030101010101" pitchFamily="2" charset="-122"/>
                  </a:rPr>
                  <a:t>出发，相继以</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(1)</m:t>
                        </m:r>
                      </m:sup>
                    </m:sSup>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(2)</m:t>
                        </m:r>
                      </m:sup>
                    </m:sSup>
                    <m:r>
                      <a:rPr lang="en-US" altLang="zh-CN" sz="2400" i="1" kern="100">
                        <a:latin typeface="Cambria Math" panose="02040503050406030204" pitchFamily="18" charset="0"/>
                        <a:ea typeface="宋体" panose="02010600030101010101" pitchFamily="2" charset="-122"/>
                      </a:rPr>
                      <m:t>,</m:t>
                    </m:r>
                    <m:r>
                      <a:rPr lang="zh-CN" altLang="zh-CN" sz="2400" i="1" kern="100">
                        <a:latin typeface="Cambria Math" panose="02040503050406030204" pitchFamily="18" charset="0"/>
                        <a:ea typeface="MS Gothic" panose="020B0609070205080204" pitchFamily="49" charset="-128"/>
                        <a:cs typeface="MS Gothic" panose="020B0609070205080204" pitchFamily="49" charset="-128"/>
                      </a:rPr>
                      <m:t>⋯</m:t>
                    </m:r>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𝑛</m:t>
                        </m:r>
                        <m:r>
                          <a:rPr lang="en-US" altLang="zh-CN" sz="2400" i="1" kern="100">
                            <a:latin typeface="Cambria Math" panose="02040503050406030204" pitchFamily="18" charset="0"/>
                            <a:ea typeface="宋体" panose="02010600030101010101" pitchFamily="2" charset="-122"/>
                          </a:rPr>
                          <m:t>)</m:t>
                        </m:r>
                      </m:sup>
                    </m:sSup>
                  </m:oMath>
                </a14:m>
                <a:r>
                  <a:rPr lang="zh-CN" altLang="zh-CN" sz="2400" kern="100" dirty="0">
                    <a:latin typeface="Times New Roman" panose="02020603050405020304" pitchFamily="18" charset="0"/>
                    <a:ea typeface="宋体" panose="02010600030101010101" pitchFamily="2" charset="-122"/>
                  </a:rPr>
                  <a:t>为搜索方向的下述算法</a:t>
                </a:r>
              </a:p>
              <a:p>
                <a:pPr indent="800100" algn="just">
                  <a:lnSpc>
                    <a:spcPct val="150000"/>
                  </a:lnSpc>
                </a:pPr>
                <a14:m>
                  <m:oMathPara xmlns:m="http://schemas.openxmlformats.org/officeDocument/2006/math">
                    <m:oMathParaPr>
                      <m:jc m:val="centerGroup"/>
                    </m:oMathParaPr>
                    <m:oMath xmlns:m="http://schemas.openxmlformats.org/officeDocument/2006/math">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𝑓</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𝑥</m:t>
                          </m:r>
                        </m:e>
                        <m: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sup>
                      </m:sSup>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𝑑</m:t>
                          </m:r>
                        </m:e>
                        <m: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limLow>
                        <m:limLow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limLow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𝑚𝑖𝑛</m:t>
                          </m:r>
                        </m:e>
                        <m:lim>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𝛼</m:t>
                          </m:r>
                        </m:lim>
                      </m:limLow>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𝑓</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𝑥</m:t>
                          </m:r>
                        </m:e>
                        <m: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𝛼</m:t>
                      </m:r>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𝑑</m:t>
                          </m:r>
                        </m:e>
                        <m: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zh-CN" altLang="zh-CN" sz="2400" i="1" kern="100" dirty="0">
                  <a:latin typeface="Cambria Math" panose="02040503050406030204" pitchFamily="18" charset="0"/>
                  <a:ea typeface="Cambria Math" panose="02040503050406030204" pitchFamily="18" charset="0"/>
                  <a:cs typeface="Times New Roman" panose="02020603050405020304" pitchFamily="18" charset="0"/>
                </a:endParaRPr>
              </a:p>
              <a:p>
                <a:pPr indent="800100" algn="ctr">
                  <a:lnSpc>
                    <a:spcPct val="150000"/>
                  </a:lnSpc>
                </a:pP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𝑥</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en-US" altLang="zh-CN" sz="2400" i="1" kern="100">
                            <a:latin typeface="Cambria Math" panose="02040503050406030204" pitchFamily="18" charset="0"/>
                            <a:ea typeface="宋体" panose="02010600030101010101" pitchFamily="2" charset="-122"/>
                          </a:rPr>
                          <m:t>+1)</m:t>
                        </m:r>
                      </m:sup>
                    </m:sSup>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𝑥</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en-US" altLang="zh-CN" sz="2400" i="1" kern="100">
                            <a:latin typeface="Cambria Math" panose="02040503050406030204" pitchFamily="18" charset="0"/>
                            <a:ea typeface="宋体" panose="02010600030101010101" pitchFamily="2" charset="-122"/>
                          </a:rPr>
                          <m:t>)</m:t>
                        </m:r>
                      </m:sup>
                    </m:sSup>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sup>
                    </m:sSup>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en-US" altLang="zh-CN" sz="2400" i="1" kern="100">
                            <a:latin typeface="Cambria Math" panose="02040503050406030204" pitchFamily="18" charset="0"/>
                            <a:ea typeface="宋体" panose="02010600030101010101" pitchFamily="2" charset="-122"/>
                          </a:rPr>
                          <m:t>)</m:t>
                        </m:r>
                      </m:sup>
                    </m:sSup>
                    <m:r>
                      <a:rPr lang="en-US" altLang="zh-CN" sz="2400" i="1" kern="100">
                        <a:latin typeface="Cambria Math" panose="02040503050406030204" pitchFamily="18" charset="0"/>
                        <a:ea typeface="宋体" panose="02010600030101010101" pitchFamily="2" charset="-122"/>
                      </a:rPr>
                      <m:t> </m:t>
                    </m:r>
                  </m:oMath>
                </a14:m>
                <a:r>
                  <a:rPr lang="en-US" altLang="zh-CN" sz="2400" kern="100" dirty="0">
                    <a:latin typeface="Times New Roman" panose="02020603050405020304" pitchFamily="18" charset="0"/>
                    <a:ea typeface="宋体" panose="02010600030101010101" pitchFamily="2" charset="-122"/>
                  </a:rPr>
                  <a:t>	</a:t>
                </a:r>
                <a:endParaRPr lang="zh-CN" altLang="zh-CN" sz="2400" kern="100" dirty="0">
                  <a:latin typeface="Times New Roman" panose="02020603050405020304" pitchFamily="18" charset="0"/>
                  <a:ea typeface="宋体" panose="02010600030101010101" pitchFamily="2" charset="-122"/>
                </a:endParaRPr>
              </a:p>
              <a:p>
                <a:pPr>
                  <a:lnSpc>
                    <a:spcPct val="150000"/>
                  </a:lnSpc>
                </a:pP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至多</a:t>
                </a:r>
                <a14:m>
                  <m:oMath xmlns:m="http://schemas.openxmlformats.org/officeDocument/2006/math">
                    <m:r>
                      <a:rPr lang="en-US" altLang="zh-CN" sz="2400" i="1" kern="100">
                        <a:latin typeface="Cambria Math" panose="02040503050406030204" pitchFamily="18" charset="0"/>
                        <a:ea typeface="宋体" panose="02010600030101010101" pitchFamily="2" charset="-122"/>
                      </a:rPr>
                      <m:t>𝑛</m:t>
                    </m:r>
                  </m:oMath>
                </a14:m>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步收敛到</a:t>
                </a:r>
                <a14:m>
                  <m:oMath xmlns:m="http://schemas.openxmlformats.org/officeDocument/2006/math">
                    <m:r>
                      <a:rPr lang="en-US" altLang="zh-CN" sz="2400" i="1">
                        <a:latin typeface="Cambria Math" panose="02040503050406030204" pitchFamily="18" charset="0"/>
                        <a:ea typeface="宋体" panose="02010600030101010101" pitchFamily="2" charset="-122"/>
                        <a:cs typeface="Times New Roman" panose="02020603050405020304" pitchFamily="18" charset="0"/>
                      </a:rPr>
                      <m:t>𝑓</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400" dirty="0">
                    <a:latin typeface="Times New Roman" panose="02020603050405020304" pitchFamily="18" charset="0"/>
                    <a:ea typeface="宋体" panose="02010600030101010101" pitchFamily="2" charset="-122"/>
                    <a:cs typeface="Times New Roman" panose="02020603050405020304" pitchFamily="18" charset="0"/>
                  </a:rPr>
                  <a:t>的极小点</a:t>
                </a:r>
                <a:r>
                  <a:rPr lang="zh-CN" altLang="en-US" sz="24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dirty="0"/>
              </a:p>
            </p:txBody>
          </p:sp>
        </mc:Choice>
        <mc:Fallback xmlns="">
          <p:sp>
            <p:nvSpPr>
              <p:cNvPr id="3" name="文本框 2">
                <a:extLst>
                  <a:ext uri="{FF2B5EF4-FFF2-40B4-BE49-F238E27FC236}">
                    <a16:creationId xmlns:a16="http://schemas.microsoft.com/office/drawing/2014/main" id="{B6C63731-BFA5-C206-7B6F-2A81FB9DB1C0}"/>
                  </a:ext>
                </a:extLst>
              </p:cNvPr>
              <p:cNvSpPr txBox="1">
                <a:spLocks noRot="1" noChangeAspect="1" noMove="1" noResize="1" noEditPoints="1" noAdjustHandles="1" noChangeArrowheads="1" noChangeShapeType="1" noTextEdit="1"/>
              </p:cNvSpPr>
              <p:nvPr/>
            </p:nvSpPr>
            <p:spPr>
              <a:xfrm>
                <a:off x="564503" y="980381"/>
                <a:ext cx="7735077" cy="4897238"/>
              </a:xfrm>
              <a:prstGeom prst="rect">
                <a:avLst/>
              </a:prstGeom>
              <a:blipFill>
                <a:blip r:embed="rId2"/>
                <a:stretch>
                  <a:fillRect l="-1262" r="-1262" b="-1370"/>
                </a:stretch>
              </a:blipFill>
            </p:spPr>
            <p:txBody>
              <a:bodyPr/>
              <a:lstStyle/>
              <a:p>
                <a:r>
                  <a:rPr lang="zh-CN" altLang="en-US">
                    <a:noFill/>
                  </a:rPr>
                  <a:t> </a:t>
                </a:r>
              </a:p>
            </p:txBody>
          </p:sp>
        </mc:Fallback>
      </mc:AlternateContent>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DF63BF1-A316-8C4F-00D0-D4E323610778}"/>
              </a:ext>
            </a:extLst>
          </p:cNvPr>
          <p:cNvPicPr>
            <a:picLocks noChangeAspect="1"/>
          </p:cNvPicPr>
          <p:nvPr/>
        </p:nvPicPr>
        <p:blipFill>
          <a:blip r:embed="rId2"/>
          <a:stretch>
            <a:fillRect/>
          </a:stretch>
        </p:blipFill>
        <p:spPr>
          <a:xfrm>
            <a:off x="295275" y="1047750"/>
            <a:ext cx="8553450" cy="47625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47433AE1-80CE-4A84-B377-AC0428BF8AE7}"/>
              </a:ext>
            </a:extLst>
          </p:cNvPr>
          <p:cNvPicPr>
            <a:picLocks noChangeAspect="1"/>
          </p:cNvPicPr>
          <p:nvPr/>
        </p:nvPicPr>
        <p:blipFill>
          <a:blip r:embed="rId2"/>
          <a:stretch>
            <a:fillRect/>
          </a:stretch>
        </p:blipFill>
        <p:spPr>
          <a:xfrm>
            <a:off x="0" y="332656"/>
            <a:ext cx="9144000" cy="3240360"/>
          </a:xfrm>
          <a:prstGeom prst="rect">
            <a:avLst/>
          </a:prstGeom>
        </p:spPr>
      </p:pic>
      <p:pic>
        <p:nvPicPr>
          <p:cNvPr id="6" name="图片 5">
            <a:extLst>
              <a:ext uri="{FF2B5EF4-FFF2-40B4-BE49-F238E27FC236}">
                <a16:creationId xmlns:a16="http://schemas.microsoft.com/office/drawing/2014/main" id="{157D5964-D2B5-4002-84BD-1EC2699DBB13}"/>
              </a:ext>
            </a:extLst>
          </p:cNvPr>
          <p:cNvPicPr>
            <a:picLocks noChangeAspect="1"/>
          </p:cNvPicPr>
          <p:nvPr/>
        </p:nvPicPr>
        <p:blipFill>
          <a:blip r:embed="rId3"/>
          <a:stretch>
            <a:fillRect/>
          </a:stretch>
        </p:blipFill>
        <p:spPr>
          <a:xfrm>
            <a:off x="107504" y="2388770"/>
            <a:ext cx="7943850" cy="1219200"/>
          </a:xfrm>
          <a:prstGeom prst="rect">
            <a:avLst/>
          </a:prstGeom>
        </p:spPr>
      </p:pic>
      <p:pic>
        <p:nvPicPr>
          <p:cNvPr id="8" name="图片 7">
            <a:extLst>
              <a:ext uri="{FF2B5EF4-FFF2-40B4-BE49-F238E27FC236}">
                <a16:creationId xmlns:a16="http://schemas.microsoft.com/office/drawing/2014/main" id="{227FA24A-01EA-405C-9656-EF423B9A1CFA}"/>
              </a:ext>
            </a:extLst>
          </p:cNvPr>
          <p:cNvPicPr>
            <a:picLocks noChangeAspect="1"/>
          </p:cNvPicPr>
          <p:nvPr/>
        </p:nvPicPr>
        <p:blipFill>
          <a:blip r:embed="rId4"/>
          <a:stretch>
            <a:fillRect/>
          </a:stretch>
        </p:blipFill>
        <p:spPr>
          <a:xfrm>
            <a:off x="2379216" y="3717032"/>
            <a:ext cx="3400425" cy="685800"/>
          </a:xfrm>
          <a:prstGeom prst="rect">
            <a:avLst/>
          </a:prstGeom>
        </p:spPr>
      </p:pic>
    </p:spTree>
    <p:extLst>
      <p:ext uri="{BB962C8B-B14F-4D97-AF65-F5344CB8AC3E}">
        <p14:creationId xmlns:p14="http://schemas.microsoft.com/office/powerpoint/2010/main" val="1557708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2141C9D9-C47D-4302-ACAB-8E37CC931B1C}"/>
              </a:ext>
            </a:extLst>
          </p:cNvPr>
          <p:cNvPicPr>
            <a:picLocks noChangeAspect="1"/>
          </p:cNvPicPr>
          <p:nvPr/>
        </p:nvPicPr>
        <p:blipFill>
          <a:blip r:embed="rId2"/>
          <a:stretch>
            <a:fillRect/>
          </a:stretch>
        </p:blipFill>
        <p:spPr>
          <a:xfrm>
            <a:off x="0" y="836712"/>
            <a:ext cx="9144000" cy="4556153"/>
          </a:xfrm>
          <a:prstGeom prst="rect">
            <a:avLst/>
          </a:prstGeom>
        </p:spPr>
      </p:pic>
    </p:spTree>
    <p:extLst>
      <p:ext uri="{BB962C8B-B14F-4D97-AF65-F5344CB8AC3E}">
        <p14:creationId xmlns:p14="http://schemas.microsoft.com/office/powerpoint/2010/main" val="42764019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F6CD32B8-0218-4BA5-982F-38CF892587A5}"/>
              </a:ext>
            </a:extLst>
          </p:cNvPr>
          <p:cNvPicPr>
            <a:picLocks noChangeAspect="1"/>
          </p:cNvPicPr>
          <p:nvPr/>
        </p:nvPicPr>
        <p:blipFill>
          <a:blip r:embed="rId2"/>
          <a:stretch>
            <a:fillRect/>
          </a:stretch>
        </p:blipFill>
        <p:spPr>
          <a:xfrm>
            <a:off x="0" y="1212393"/>
            <a:ext cx="9144000" cy="4433214"/>
          </a:xfrm>
          <a:prstGeom prst="rect">
            <a:avLst/>
          </a:prstGeom>
        </p:spPr>
      </p:pic>
    </p:spTree>
    <p:extLst>
      <p:ext uri="{BB962C8B-B14F-4D97-AF65-F5344CB8AC3E}">
        <p14:creationId xmlns:p14="http://schemas.microsoft.com/office/powerpoint/2010/main" val="40687827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45858F6F-C3D4-5E79-CAB6-039F10FF1F7B}"/>
              </a:ext>
            </a:extLst>
          </p:cNvPr>
          <p:cNvSpPr>
            <a:spLocks noGrp="1" noChangeArrowheads="1"/>
          </p:cNvSpPr>
          <p:nvPr>
            <p:ph type="title"/>
          </p:nvPr>
        </p:nvSpPr>
        <p:spPr>
          <a:xfrm>
            <a:off x="323528" y="188640"/>
            <a:ext cx="8280920" cy="3475604"/>
          </a:xfrm>
        </p:spPr>
        <p:txBody>
          <a:bodyPr>
            <a:normAutofit/>
          </a:bodyPr>
          <a:lstStyle/>
          <a:p>
            <a:pPr algn="l" eaLnBrk="1" hangingPunct="1">
              <a:lnSpc>
                <a:spcPct val="150000"/>
              </a:lnSpc>
            </a:pPr>
            <a:r>
              <a:rPr lang="zh-CN" altLang="en-US" sz="2400" b="1" dirty="0">
                <a:solidFill>
                  <a:srgbClr val="FF0000"/>
                </a:solidFill>
                <a:latin typeface="宋体" panose="02010600030101010101" pitchFamily="2" charset="-122"/>
                <a:ea typeface="宋体" panose="02010600030101010101" pitchFamily="2" charset="-122"/>
              </a:rPr>
              <a:t>   </a:t>
            </a:r>
            <a:r>
              <a:rPr lang="en-US" altLang="zh-CN" sz="2400" b="1" kern="100" dirty="0">
                <a:solidFill>
                  <a:srgbClr val="FF0000"/>
                </a:solidFill>
                <a:latin typeface="Times New Roman" panose="02020603050405020304" pitchFamily="18" charset="0"/>
                <a:ea typeface="宋体" panose="02010600030101010101" pitchFamily="2" charset="-122"/>
              </a:rPr>
              <a:t>  </a:t>
            </a:r>
            <a:r>
              <a:rPr lang="zh-CN" altLang="zh-CN" sz="2400" b="1" kern="100" dirty="0">
                <a:solidFill>
                  <a:srgbClr val="FF0000"/>
                </a:solidFill>
                <a:latin typeface="Times New Roman" panose="02020603050405020304" pitchFamily="18" charset="0"/>
                <a:ea typeface="宋体" panose="02010600030101010101" pitchFamily="2" charset="-122"/>
              </a:rPr>
              <a:t>定义</a:t>
            </a:r>
            <a:r>
              <a:rPr lang="en-US" altLang="zh-CN" sz="2400" b="1" dirty="0">
                <a:solidFill>
                  <a:srgbClr val="FF0000"/>
                </a:solidFill>
                <a:latin typeface="宋体" panose="02010600030101010101" pitchFamily="2" charset="-122"/>
                <a:ea typeface="宋体" panose="02010600030101010101" pitchFamily="2" charset="-122"/>
              </a:rPr>
              <a:t>4</a:t>
            </a:r>
            <a:r>
              <a:rPr lang="zh-CN" altLang="en-US" sz="2400" b="1" dirty="0">
                <a:solidFill>
                  <a:srgbClr val="FF0000"/>
                </a:solidFill>
                <a:latin typeface="宋体" panose="02010600030101010101" pitchFamily="2" charset="-122"/>
                <a:ea typeface="宋体" panose="02010600030101010101" pitchFamily="2" charset="-122"/>
              </a:rPr>
              <a:t>（二次终止性）</a:t>
            </a:r>
            <a:br>
              <a:rPr lang="en-US" altLang="zh-CN" sz="2400" b="1" dirty="0">
                <a:solidFill>
                  <a:srgbClr val="FF0000"/>
                </a:solidFill>
                <a:latin typeface="宋体" panose="02010600030101010101" pitchFamily="2" charset="-122"/>
                <a:ea typeface="宋体" panose="02010600030101010101" pitchFamily="2" charset="-122"/>
              </a:rPr>
            </a:br>
            <a:br>
              <a:rPr lang="en-US" altLang="zh-CN" sz="2400" b="1" dirty="0">
                <a:solidFill>
                  <a:srgbClr val="FF0000"/>
                </a:solidFill>
                <a:latin typeface="宋体" panose="02010600030101010101" pitchFamily="2" charset="-122"/>
                <a:ea typeface="宋体" panose="02010600030101010101" pitchFamily="2" charset="-122"/>
              </a:rPr>
            </a:br>
            <a:r>
              <a:rPr lang="en-US" altLang="zh-CN" sz="2400" b="1" dirty="0">
                <a:solidFill>
                  <a:srgbClr val="FF0000"/>
                </a:solidFill>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对于正定二次函数，如果算法经有限步迭代必达到极小点，称算法具有二次终止性。</a:t>
            </a:r>
            <a:endParaRPr lang="zh-CN" altLang="en-US" sz="2400" dirty="0">
              <a:solidFill>
                <a:srgbClr val="FF0000"/>
              </a:solidFill>
              <a:latin typeface="宋体" panose="02010600030101010101" pitchFamily="2" charset="-122"/>
              <a:ea typeface="宋体" panose="02010600030101010101" pitchFamily="2" charset="-122"/>
            </a:endParaRPr>
          </a:p>
        </p:txBody>
      </p:sp>
      <p:sp>
        <p:nvSpPr>
          <p:cNvPr id="2" name="文本框 1">
            <a:extLst>
              <a:ext uri="{FF2B5EF4-FFF2-40B4-BE49-F238E27FC236}">
                <a16:creationId xmlns:a16="http://schemas.microsoft.com/office/drawing/2014/main" id="{0654A521-AAB9-42B3-C1C5-AB0F6C9171FF}"/>
              </a:ext>
            </a:extLst>
          </p:cNvPr>
          <p:cNvSpPr txBox="1"/>
          <p:nvPr/>
        </p:nvSpPr>
        <p:spPr>
          <a:xfrm>
            <a:off x="971600" y="3429000"/>
            <a:ext cx="7992888" cy="461665"/>
          </a:xfrm>
          <a:prstGeom prst="rect">
            <a:avLst/>
          </a:prstGeom>
          <a:noFill/>
        </p:spPr>
        <p:txBody>
          <a:bodyPr wrap="square" rtlCol="0">
            <a:spAutoFit/>
          </a:bodyPr>
          <a:lstStyle/>
          <a:p>
            <a:r>
              <a:rPr lang="zh-CN" altLang="en-US" sz="2400" dirty="0">
                <a:latin typeface="宋体" panose="02010600030101010101" pitchFamily="2" charset="-122"/>
                <a:ea typeface="宋体" panose="02010600030101010101" pitchFamily="2" charset="-122"/>
              </a:rPr>
              <a:t>注：牛顿法、拟牛顿法、共轭方向法具有二次终止性。</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Rectangle 5">
            <a:extLst>
              <a:ext uri="{FF2B5EF4-FFF2-40B4-BE49-F238E27FC236}">
                <a16:creationId xmlns:a16="http://schemas.microsoft.com/office/drawing/2014/main" id="{762FADF8-F903-C97C-676C-D7E376390109}"/>
              </a:ext>
            </a:extLst>
          </p:cNvPr>
          <p:cNvSpPr>
            <a:spLocks noGrp="1" noChangeArrowheads="1"/>
          </p:cNvSpPr>
          <p:nvPr>
            <p:ph type="title"/>
          </p:nvPr>
        </p:nvSpPr>
        <p:spPr>
          <a:xfrm>
            <a:off x="-468560" y="188640"/>
            <a:ext cx="6172200" cy="529828"/>
          </a:xfrm>
        </p:spPr>
        <p:txBody>
          <a:bodyPr rtlCol="0">
            <a:noAutofit/>
          </a:bodyPr>
          <a:lstStyle/>
          <a:p>
            <a:pPr>
              <a:defRPr/>
            </a:pPr>
            <a:r>
              <a:rPr lang="zh-CN" altLang="en-US" sz="2400" b="1" dirty="0">
                <a:latin typeface="黑体" panose="02010609060101010101" pitchFamily="49" charset="-122"/>
                <a:ea typeface="黑体" panose="02010609060101010101" pitchFamily="49" charset="-122"/>
              </a:rPr>
              <a:t>二、</a:t>
            </a:r>
            <a:r>
              <a:rPr lang="en-US" altLang="zh-CN"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正定二次函数的共轭梯度法</a:t>
            </a:r>
            <a:br>
              <a:rPr lang="zh-CN" altLang="en-US" sz="2400" b="1" dirty="0">
                <a:latin typeface="黑体" panose="02010609060101010101" pitchFamily="49" charset="-122"/>
                <a:ea typeface="黑体" panose="02010609060101010101" pitchFamily="49" charset="-122"/>
              </a:rPr>
            </a:br>
            <a:endParaRPr lang="zh-CN" altLang="en-US" sz="2400" b="1" dirty="0">
              <a:latin typeface="黑体" panose="02010609060101010101" pitchFamily="49" charset="-122"/>
              <a:ea typeface="黑体" panose="02010609060101010101" pitchFamily="49" charset="-122"/>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ECEA8578-3EB1-BD90-ACE4-D40F52FAD1E2}"/>
                  </a:ext>
                </a:extLst>
              </p:cNvPr>
              <p:cNvSpPr txBox="1"/>
              <p:nvPr/>
            </p:nvSpPr>
            <p:spPr>
              <a:xfrm>
                <a:off x="431676" y="385693"/>
                <a:ext cx="8522562" cy="6826228"/>
              </a:xfrm>
              <a:prstGeom prst="rect">
                <a:avLst/>
              </a:prstGeom>
              <a:noFill/>
            </p:spPr>
            <p:txBody>
              <a:bodyPr wrap="square" rtlCol="0">
                <a:spAutoFit/>
              </a:bodyPr>
              <a:lstStyle/>
              <a:p>
                <a:pPr indent="200025" algn="just">
                  <a:lnSpc>
                    <a:spcPct val="150000"/>
                  </a:lnSpc>
                  <a:spcBef>
                    <a:spcPts val="450"/>
                  </a:spcBef>
                </a:pPr>
                <a:r>
                  <a:rPr lang="zh-CN" altLang="en-US" sz="2400" kern="100" dirty="0">
                    <a:latin typeface="宋体" panose="02010600030101010101" pitchFamily="2" charset="-122"/>
                    <a:ea typeface="宋体" panose="02010600030101010101" pitchFamily="2" charset="-122"/>
                  </a:rPr>
                  <a:t>考虑 </a:t>
                </a:r>
                <a14:m>
                  <m:oMath xmlns:m="http://schemas.openxmlformats.org/officeDocument/2006/math">
                    <m:r>
                      <m:rPr>
                        <m:sty m:val="p"/>
                      </m:rPr>
                      <a:rPr lang="en-US" altLang="zh-CN" sz="2400" kern="100">
                        <a:latin typeface="Cambria Math" panose="02040503050406030204" pitchFamily="18" charset="0"/>
                        <a:ea typeface="宋体" panose="02010600030101010101" pitchFamily="2" charset="-122"/>
                      </a:rPr>
                      <m:t>min</m:t>
                    </m:r>
                    <m:r>
                      <a:rPr lang="en-US" altLang="zh-CN" sz="2400" i="1" kern="100">
                        <a:latin typeface="Cambria Math" panose="02040503050406030204" pitchFamily="18" charset="0"/>
                        <a:ea typeface="宋体" panose="02010600030101010101" pitchFamily="2" charset="-122"/>
                      </a:rPr>
                      <m:t>𝑓</m:t>
                    </m:r>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𝑥</m:t>
                    </m:r>
                    <m:r>
                      <a:rPr lang="en-US" altLang="zh-CN" sz="2400" i="1" kern="100">
                        <a:latin typeface="Cambria Math" panose="02040503050406030204" pitchFamily="18" charset="0"/>
                        <a:ea typeface="宋体" panose="02010600030101010101" pitchFamily="2" charset="-122"/>
                      </a:rPr>
                      <m:t>)=</m:t>
                    </m:r>
                    <m:f>
                      <m:fPr>
                        <m:ctrlPr>
                          <a:rPr lang="zh-CN" altLang="zh-CN" sz="2400" i="1" kern="100">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ea typeface="宋体" panose="02010600030101010101" pitchFamily="2" charset="-122"/>
                          </a:rPr>
                          <m:t>1</m:t>
                        </m:r>
                      </m:num>
                      <m:den>
                        <m:r>
                          <a:rPr lang="en-US" altLang="zh-CN" sz="2400" i="1" kern="100">
                            <a:latin typeface="Cambria Math" panose="02040503050406030204" pitchFamily="18" charset="0"/>
                            <a:ea typeface="宋体" panose="02010600030101010101" pitchFamily="2" charset="-122"/>
                          </a:rPr>
                          <m:t>2</m:t>
                        </m:r>
                      </m:den>
                    </m:f>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𝑥</m:t>
                        </m:r>
                      </m:e>
                      <m:sup>
                        <m:r>
                          <a:rPr lang="en-US" altLang="zh-CN" sz="2400" i="1" kern="100">
                            <a:latin typeface="Cambria Math" panose="02040503050406030204" pitchFamily="18" charset="0"/>
                            <a:ea typeface="宋体" panose="02010600030101010101" pitchFamily="2" charset="-122"/>
                          </a:rPr>
                          <m:t>𝑇</m:t>
                        </m:r>
                      </m:sup>
                    </m:sSup>
                    <m:r>
                      <a:rPr lang="en-US" altLang="zh-CN" sz="2400" i="1" kern="100">
                        <a:latin typeface="Cambria Math" panose="02040503050406030204" pitchFamily="18" charset="0"/>
                        <a:ea typeface="宋体" panose="02010600030101010101" pitchFamily="2" charset="-122"/>
                      </a:rPr>
                      <m:t>𝐴𝑥</m:t>
                    </m:r>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𝑏</m:t>
                        </m:r>
                      </m:e>
                      <m:sup>
                        <m:r>
                          <a:rPr lang="en-US" altLang="zh-CN" sz="2400" i="1" kern="100">
                            <a:latin typeface="Cambria Math" panose="02040503050406030204" pitchFamily="18" charset="0"/>
                            <a:ea typeface="宋体" panose="02010600030101010101" pitchFamily="2" charset="-122"/>
                          </a:rPr>
                          <m:t>𝑇</m:t>
                        </m:r>
                      </m:sup>
                    </m:sSup>
                    <m:r>
                      <a:rPr lang="en-US" altLang="zh-CN" sz="2400" i="1" kern="100">
                        <a:latin typeface="Cambria Math" panose="02040503050406030204" pitchFamily="18" charset="0"/>
                        <a:ea typeface="宋体" panose="02010600030101010101" pitchFamily="2" charset="-122"/>
                      </a:rPr>
                      <m:t>𝑥</m:t>
                    </m:r>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𝑐</m:t>
                    </m:r>
                  </m:oMath>
                </a14:m>
                <a:r>
                  <a:rPr lang="zh-CN" altLang="zh-CN" sz="2400" kern="100" dirty="0">
                    <a:latin typeface="宋体" panose="02010600030101010101" pitchFamily="2" charset="-122"/>
                    <a:ea typeface="宋体" panose="02010600030101010101" pitchFamily="2" charset="-122"/>
                  </a:rPr>
                  <a:t>，其中</a:t>
                </a:r>
                <a:r>
                  <a:rPr lang="en-US" altLang="zh-CN" sz="2400" i="1" kern="100" dirty="0">
                    <a:latin typeface="宋体" panose="02010600030101010101" pitchFamily="2" charset="-122"/>
                    <a:ea typeface="宋体" panose="02010600030101010101" pitchFamily="2" charset="-122"/>
                  </a:rPr>
                  <a:t>A</a:t>
                </a:r>
                <a:r>
                  <a:rPr lang="zh-CN" altLang="zh-CN" sz="2400" kern="100" dirty="0">
                    <a:latin typeface="宋体" panose="02010600030101010101" pitchFamily="2" charset="-122"/>
                    <a:ea typeface="宋体" panose="02010600030101010101" pitchFamily="2" charset="-122"/>
                  </a:rPr>
                  <a:t>是</a:t>
                </a:r>
                <a14:m>
                  <m:oMath xmlns:m="http://schemas.openxmlformats.org/officeDocument/2006/math">
                    <m:r>
                      <a:rPr lang="en-US" altLang="zh-CN" sz="2400" i="1" kern="100">
                        <a:latin typeface="Cambria Math" panose="02040503050406030204" pitchFamily="18" charset="0"/>
                        <a:ea typeface="宋体" panose="02010600030101010101" pitchFamily="2" charset="-122"/>
                      </a:rPr>
                      <m:t>𝑛</m:t>
                    </m:r>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𝑛</m:t>
                    </m:r>
                  </m:oMath>
                </a14:m>
                <a:r>
                  <a:rPr lang="zh-CN" altLang="zh-CN" sz="2400" kern="100" dirty="0">
                    <a:latin typeface="宋体" panose="02010600030101010101" pitchFamily="2" charset="-122"/>
                    <a:ea typeface="宋体" panose="02010600030101010101" pitchFamily="2" charset="-122"/>
                  </a:rPr>
                  <a:t>对称正定矩阵</a:t>
                </a:r>
                <a:r>
                  <a:rPr lang="zh-CN" altLang="en-US" sz="2400" kern="100" dirty="0">
                    <a:latin typeface="宋体" panose="02010600030101010101" pitchFamily="2" charset="-122"/>
                    <a:ea typeface="宋体" panose="02010600030101010101" pitchFamily="2" charset="-122"/>
                  </a:rPr>
                  <a:t>。</a:t>
                </a:r>
                <a:endParaRPr lang="en-US" altLang="zh-CN" sz="2400" kern="100" dirty="0">
                  <a:latin typeface="宋体" panose="02010600030101010101" pitchFamily="2" charset="-122"/>
                  <a:ea typeface="宋体" panose="02010600030101010101" pitchFamily="2" charset="-122"/>
                </a:endParaRPr>
              </a:p>
              <a:p>
                <a:pPr indent="200025" algn="just">
                  <a:lnSpc>
                    <a:spcPct val="150000"/>
                  </a:lnSpc>
                  <a:spcBef>
                    <a:spcPts val="450"/>
                  </a:spcBef>
                </a:pPr>
                <a:r>
                  <a:rPr lang="zh-CN" altLang="zh-CN" sz="2400" b="1" kern="100" dirty="0">
                    <a:solidFill>
                      <a:srgbClr val="0070C0"/>
                    </a:solidFill>
                    <a:latin typeface="宋体" panose="02010600030101010101" pitchFamily="2" charset="-122"/>
                    <a:ea typeface="宋体" panose="02010600030101010101" pitchFamily="2" charset="-122"/>
                  </a:rPr>
                  <a:t>算法</a:t>
                </a:r>
                <a:r>
                  <a:rPr lang="en-US" altLang="zh-CN" sz="2400" b="1" kern="100" dirty="0">
                    <a:solidFill>
                      <a:srgbClr val="0070C0"/>
                    </a:solidFill>
                    <a:latin typeface="宋体" panose="02010600030101010101" pitchFamily="2" charset="-122"/>
                    <a:ea typeface="宋体" panose="02010600030101010101" pitchFamily="2" charset="-122"/>
                  </a:rPr>
                  <a:t>1 </a:t>
                </a:r>
                <a:r>
                  <a:rPr lang="zh-CN" altLang="en-US" sz="2400" b="1" kern="100" dirty="0">
                    <a:solidFill>
                      <a:srgbClr val="0070C0"/>
                    </a:solidFill>
                    <a:latin typeface="宋体" panose="02010600030101010101" pitchFamily="2" charset="-122"/>
                    <a:ea typeface="宋体" panose="02010600030101010101" pitchFamily="2" charset="-122"/>
                  </a:rPr>
                  <a:t>（共轭梯度法）</a:t>
                </a:r>
                <a:endParaRPr lang="zh-CN" altLang="zh-CN" sz="2400" b="1" kern="100" dirty="0">
                  <a:solidFill>
                    <a:srgbClr val="0070C0"/>
                  </a:solidFill>
                  <a:latin typeface="宋体" panose="02010600030101010101" pitchFamily="2" charset="-122"/>
                  <a:ea typeface="宋体" panose="02010600030101010101" pitchFamily="2" charset="-122"/>
                </a:endParaRPr>
              </a:p>
              <a:p>
                <a:pPr indent="200025" algn="just">
                  <a:lnSpc>
                    <a:spcPct val="150000"/>
                  </a:lnSpc>
                  <a:spcBef>
                    <a:spcPts val="450"/>
                  </a:spcBef>
                </a:pPr>
                <a:r>
                  <a:rPr lang="en-US" altLang="zh-CN" sz="2400" kern="100" dirty="0">
                    <a:latin typeface="宋体" panose="02010600030101010101" pitchFamily="2" charset="-122"/>
                    <a:ea typeface="宋体" panose="02010600030101010101" pitchFamily="2" charset="-122"/>
                  </a:rPr>
                  <a:t>1.</a:t>
                </a:r>
                <a:r>
                  <a:rPr lang="zh-CN" altLang="zh-CN" sz="2400" kern="100" dirty="0">
                    <a:latin typeface="宋体" panose="02010600030101010101" pitchFamily="2" charset="-122"/>
                    <a:ea typeface="宋体" panose="02010600030101010101" pitchFamily="2" charset="-122"/>
                  </a:rPr>
                  <a:t>初始化</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𝑥</m:t>
                        </m:r>
                      </m:e>
                      <m:sup>
                        <m:r>
                          <a:rPr lang="en-US" altLang="zh-CN" sz="2400" i="1" kern="100">
                            <a:latin typeface="Cambria Math" panose="02040503050406030204" pitchFamily="18" charset="0"/>
                            <a:ea typeface="宋体" panose="02010600030101010101" pitchFamily="2" charset="-122"/>
                          </a:rPr>
                          <m:t>(1)</m:t>
                        </m:r>
                      </m:sup>
                    </m:sSup>
                    <m:r>
                      <a:rPr lang="en-US" altLang="zh-CN" sz="2400" i="1" kern="100">
                        <a:latin typeface="Cambria Math" panose="02040503050406030204" pitchFamily="18" charset="0"/>
                        <a:ea typeface="宋体" panose="02010600030101010101" pitchFamily="2" charset="-122"/>
                      </a:rPr>
                      <m:t>,</m:t>
                    </m:r>
                    <m:sSup>
                      <m:sSupPr>
                        <m:ctrlPr>
                          <a:rPr lang="zh-CN" altLang="zh-CN" sz="2400" i="1" kern="100">
                            <a:solidFill>
                              <a:srgbClr val="FF0000"/>
                            </a:solidFill>
                            <a:latin typeface="Cambria Math" panose="02040503050406030204" pitchFamily="18" charset="0"/>
                            <a:ea typeface="Cambria Math" panose="02040503050406030204" pitchFamily="18" charset="0"/>
                          </a:rPr>
                        </m:ctrlPr>
                      </m:sSupPr>
                      <m:e>
                        <m:r>
                          <a:rPr lang="en-US" altLang="zh-CN" sz="2400" i="1" kern="100">
                            <a:solidFill>
                              <a:srgbClr val="FF0000"/>
                            </a:solidFill>
                            <a:latin typeface="Cambria Math" panose="02040503050406030204" pitchFamily="18" charset="0"/>
                            <a:ea typeface="宋体" panose="02010600030101010101" pitchFamily="2" charset="-122"/>
                          </a:rPr>
                          <m:t>𝑑</m:t>
                        </m:r>
                      </m:e>
                      <m:sup>
                        <m:r>
                          <a:rPr lang="en-US" altLang="zh-CN" sz="2400" i="1" kern="100">
                            <a:solidFill>
                              <a:srgbClr val="FF0000"/>
                            </a:solidFill>
                            <a:latin typeface="Cambria Math" panose="02040503050406030204" pitchFamily="18" charset="0"/>
                            <a:ea typeface="宋体" panose="02010600030101010101" pitchFamily="2" charset="-122"/>
                          </a:rPr>
                          <m:t>(1)</m:t>
                        </m:r>
                      </m:sup>
                    </m:sSup>
                    <m:r>
                      <a:rPr lang="en-US" altLang="zh-CN" sz="2400" i="1" kern="100">
                        <a:solidFill>
                          <a:srgbClr val="FF0000"/>
                        </a:solidFill>
                        <a:latin typeface="Cambria Math" panose="02040503050406030204" pitchFamily="18" charset="0"/>
                        <a:ea typeface="宋体" panose="02010600030101010101" pitchFamily="2" charset="-122"/>
                      </a:rPr>
                      <m:t>=−</m:t>
                    </m:r>
                    <m:sSub>
                      <m:sSubPr>
                        <m:ctrlPr>
                          <a:rPr lang="zh-CN" altLang="zh-CN" sz="2400" i="1" kern="100">
                            <a:solidFill>
                              <a:srgbClr val="FF0000"/>
                            </a:solidFill>
                            <a:latin typeface="Cambria Math" panose="02040503050406030204" pitchFamily="18" charset="0"/>
                            <a:ea typeface="Cambria Math" panose="02040503050406030204" pitchFamily="18" charset="0"/>
                          </a:rPr>
                        </m:ctrlPr>
                      </m:sSubPr>
                      <m:e>
                        <m:r>
                          <a:rPr lang="en-US" altLang="zh-CN" sz="2400" i="1" kern="100">
                            <a:solidFill>
                              <a:srgbClr val="FF0000"/>
                            </a:solidFill>
                            <a:latin typeface="Cambria Math" panose="02040503050406030204" pitchFamily="18" charset="0"/>
                            <a:ea typeface="宋体" panose="02010600030101010101" pitchFamily="2" charset="-122"/>
                          </a:rPr>
                          <m:t>𝑔</m:t>
                        </m:r>
                      </m:e>
                      <m:sub>
                        <m:r>
                          <a:rPr lang="en-US" altLang="zh-CN" sz="2400" i="1" kern="100">
                            <a:solidFill>
                              <a:srgbClr val="FF0000"/>
                            </a:solidFill>
                            <a:latin typeface="Cambria Math" panose="02040503050406030204" pitchFamily="18" charset="0"/>
                            <a:ea typeface="宋体" panose="02010600030101010101" pitchFamily="2" charset="-122"/>
                          </a:rPr>
                          <m:t>𝑘</m:t>
                        </m:r>
                      </m:sub>
                    </m:sSub>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𝑔</m:t>
                        </m:r>
                      </m:e>
                      <m:sub>
                        <m:r>
                          <a:rPr lang="en-US" altLang="zh-CN" sz="2400" i="1" kern="100">
                            <a:latin typeface="Cambria Math" panose="02040503050406030204" pitchFamily="18" charset="0"/>
                            <a:ea typeface="宋体" panose="02010600030101010101" pitchFamily="2" charset="-122"/>
                          </a:rPr>
                          <m:t>𝑘</m:t>
                        </m:r>
                      </m:sub>
                    </m:sSub>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𝐴</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𝑥</m:t>
                        </m:r>
                      </m:e>
                      <m:sup>
                        <m:r>
                          <a:rPr lang="en-US" altLang="zh-CN" sz="2400" i="1" kern="100">
                            <a:latin typeface="Cambria Math" panose="02040503050406030204" pitchFamily="18" charset="0"/>
                            <a:ea typeface="宋体" panose="02010600030101010101" pitchFamily="2" charset="-122"/>
                          </a:rPr>
                          <m:t>(1)</m:t>
                        </m:r>
                      </m:sup>
                    </m:s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𝑏</m:t>
                    </m:r>
                  </m:oMath>
                </a14:m>
                <a:r>
                  <a:rPr lang="zh-CN" altLang="zh-CN" sz="2400" kern="100" dirty="0">
                    <a:latin typeface="宋体" panose="02010600030101010101" pitchFamily="2" charset="-122"/>
                    <a:ea typeface="宋体" panose="02010600030101010101" pitchFamily="2" charset="-122"/>
                  </a:rPr>
                  <a:t>，令</a:t>
                </a:r>
                <a14:m>
                  <m:oMath xmlns:m="http://schemas.openxmlformats.org/officeDocument/2006/math">
                    <m:r>
                      <a:rPr lang="en-US" altLang="zh-CN" sz="2400" i="1" kern="100">
                        <a:latin typeface="Cambria Math" panose="02040503050406030204" pitchFamily="18" charset="0"/>
                        <a:ea typeface="宋体" panose="02010600030101010101" pitchFamily="2" charset="-122"/>
                      </a:rPr>
                      <m:t>𝑘</m:t>
                    </m:r>
                    <m:r>
                      <a:rPr lang="en-US" altLang="zh-CN" sz="2400" i="1" kern="100">
                        <a:latin typeface="Cambria Math" panose="02040503050406030204" pitchFamily="18" charset="0"/>
                        <a:ea typeface="宋体" panose="02010600030101010101" pitchFamily="2" charset="-122"/>
                      </a:rPr>
                      <m:t>:=1</m:t>
                    </m:r>
                  </m:oMath>
                </a14:m>
                <a:endParaRPr lang="zh-CN" altLang="zh-CN" sz="2400" kern="100" dirty="0">
                  <a:latin typeface="宋体" panose="02010600030101010101" pitchFamily="2" charset="-122"/>
                  <a:ea typeface="宋体" panose="02010600030101010101" pitchFamily="2" charset="-122"/>
                </a:endParaRPr>
              </a:p>
              <a:p>
                <a:pPr indent="200025" algn="just">
                  <a:lnSpc>
                    <a:spcPct val="150000"/>
                  </a:lnSpc>
                  <a:spcBef>
                    <a:spcPts val="450"/>
                  </a:spcBef>
                </a:pPr>
                <a:r>
                  <a:rPr lang="en-US" altLang="zh-CN" sz="2400" kern="100" dirty="0">
                    <a:latin typeface="宋体" panose="02010600030101010101" pitchFamily="2" charset="-122"/>
                    <a:ea typeface="宋体" panose="02010600030101010101" pitchFamily="2" charset="-122"/>
                  </a:rPr>
                  <a:t>2.</a:t>
                </a:r>
                <a:r>
                  <a:rPr lang="zh-CN" altLang="zh-CN" sz="2400" kern="100" dirty="0">
                    <a:latin typeface="宋体" panose="02010600030101010101" pitchFamily="2" charset="-122"/>
                    <a:ea typeface="宋体" panose="02010600030101010101" pitchFamily="2" charset="-122"/>
                  </a:rPr>
                  <a:t>计算</a:t>
                </a:r>
                <a:endParaRPr lang="en-US" altLang="zh-CN" sz="2400" kern="100" dirty="0">
                  <a:latin typeface="宋体" panose="02010600030101010101" pitchFamily="2" charset="-122"/>
                  <a:ea typeface="宋体" panose="02010600030101010101" pitchFamily="2" charset="-122"/>
                </a:endParaRPr>
              </a:p>
              <a:p>
                <a:pPr indent="800100" algn="just">
                  <a:lnSpc>
                    <a:spcPct val="150000"/>
                  </a:lnSpc>
                </a:pPr>
                <a:r>
                  <a:rPr lang="en-US" altLang="zh-CN" sz="2400" kern="100" dirty="0">
                    <a:ea typeface="Cambria Math" panose="02040503050406030204" pitchFamily="18" charset="0"/>
                    <a:cs typeface="Times New Roman" panose="02020603050405020304" pitchFamily="18" charset="0"/>
                  </a:rPr>
                  <a:t>     </a:t>
                </a:r>
                <a14:m>
                  <m:oMath xmlns:m="http://schemas.openxmlformats.org/officeDocument/2006/math">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𝑓</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𝑥</m:t>
                        </m:r>
                      </m:e>
                      <m: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sup>
                    </m:sSup>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𝑑</m:t>
                        </m:r>
                      </m:e>
                      <m: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limLow>
                      <m:limLow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limLow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𝑚𝑖𝑛</m:t>
                        </m:r>
                      </m:e>
                      <m:lim>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𝛼</m:t>
                        </m:r>
                      </m:lim>
                    </m:limLow>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𝑓</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𝑥</m:t>
                        </m:r>
                      </m:e>
                      <m: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𝛼</m:t>
                    </m:r>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𝑑</m:t>
                        </m:r>
                      </m:e>
                      <m: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oMath>
                </a14:m>
                <a:endParaRPr lang="zh-CN" altLang="zh-CN" sz="2400" i="1" kern="100" dirty="0">
                  <a:latin typeface="Cambria Math" panose="02040503050406030204" pitchFamily="18" charset="0"/>
                  <a:ea typeface="Cambria Math" panose="02040503050406030204" pitchFamily="18" charset="0"/>
                  <a:cs typeface="Times New Roman" panose="02020603050405020304" pitchFamily="18" charset="0"/>
                </a:endParaRPr>
              </a:p>
              <a:p>
                <a:pPr indent="800100" algn="just">
                  <a:lnSpc>
                    <a:spcPct val="150000"/>
                  </a:lnSpc>
                </a:pPr>
                <a14:m>
                  <m:oMathPara xmlns:m="http://schemas.openxmlformats.org/officeDocument/2006/math">
                    <m:oMathParaPr>
                      <m:jc m:val="centerGroup"/>
                    </m:oMathParaPr>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𝑥</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en-US" altLang="zh-CN" sz="2400" i="1" kern="100">
                              <a:latin typeface="Cambria Math" panose="02040503050406030204" pitchFamily="18" charset="0"/>
                              <a:ea typeface="宋体" panose="02010600030101010101" pitchFamily="2" charset="-122"/>
                            </a:rPr>
                            <m:t>+1)</m:t>
                          </m:r>
                        </m:sup>
                      </m:sSup>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𝑥</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en-US" altLang="zh-CN" sz="2400" i="1" kern="100">
                              <a:latin typeface="Cambria Math" panose="02040503050406030204" pitchFamily="18" charset="0"/>
                              <a:ea typeface="宋体" panose="02010600030101010101" pitchFamily="2" charset="-122"/>
                            </a:rPr>
                            <m:t>)</m:t>
                          </m:r>
                        </m:sup>
                      </m:sSup>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sup>
                      </m:sSup>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en-US" altLang="zh-CN" sz="2400" i="1" kern="100">
                              <a:latin typeface="Cambria Math" panose="02040503050406030204" pitchFamily="18" charset="0"/>
                              <a:ea typeface="宋体" panose="02010600030101010101" pitchFamily="2" charset="-122"/>
                            </a:rPr>
                            <m:t>)</m:t>
                          </m:r>
                        </m:sup>
                      </m:sSup>
                    </m:oMath>
                  </m:oMathPara>
                </a14:m>
                <a:endParaRPr lang="zh-CN" altLang="zh-CN" sz="2400" kern="100" dirty="0">
                  <a:latin typeface="宋体" panose="02010600030101010101" pitchFamily="2" charset="-122"/>
                  <a:ea typeface="宋体" panose="02010600030101010101" pitchFamily="2" charset="-122"/>
                </a:endParaRPr>
              </a:p>
              <a:p>
                <a:pPr indent="200025" algn="just">
                  <a:lnSpc>
                    <a:spcPct val="150000"/>
                  </a:lnSpc>
                  <a:spcBef>
                    <a:spcPts val="450"/>
                  </a:spcBef>
                </a:pPr>
                <a:r>
                  <a:rPr lang="en-US" altLang="zh-CN" sz="2400" kern="100" dirty="0">
                    <a:latin typeface="宋体" panose="02010600030101010101" pitchFamily="2" charset="-122"/>
                    <a:ea typeface="宋体" panose="02010600030101010101" pitchFamily="2" charset="-122"/>
                  </a:rPr>
                  <a:t>3.</a:t>
                </a:r>
                <a:r>
                  <a:rPr lang="zh-CN" altLang="zh-CN" sz="2400" kern="100" dirty="0">
                    <a:latin typeface="宋体" panose="02010600030101010101" pitchFamily="2" charset="-122"/>
                    <a:ea typeface="宋体" panose="02010600030101010101" pitchFamily="2" charset="-122"/>
                  </a:rPr>
                  <a:t>计算</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func>
                          <m:funcPr>
                            <m:ctrlPr>
                              <a:rPr lang="zh-CN" altLang="zh-CN" sz="2400" i="1" kern="100">
                                <a:latin typeface="Cambria Math" panose="02040503050406030204" pitchFamily="18" charset="0"/>
                                <a:ea typeface="Cambria Math" panose="02040503050406030204" pitchFamily="18" charset="0"/>
                              </a:rPr>
                            </m:ctrlPr>
                          </m:funcPr>
                          <m:fName>
                            <m:r>
                              <a:rPr lang="en-US" altLang="zh-CN" sz="2400" i="1" kern="100">
                                <a:latin typeface="Cambria Math" panose="02040503050406030204" pitchFamily="18" charset="0"/>
                                <a:ea typeface="宋体" panose="02010600030101010101" pitchFamily="2" charset="-122"/>
                              </a:rPr>
                              <m:t>𝑘</m:t>
                            </m:r>
                          </m:fName>
                          <m:e>
                            <m:r>
                              <a:rPr lang="en-US" altLang="zh-CN" sz="2400" i="1" kern="100">
                                <a:latin typeface="Cambria Math" panose="02040503050406030204" pitchFamily="18" charset="0"/>
                                <a:ea typeface="宋体" panose="02010600030101010101" pitchFamily="2" charset="-122"/>
                              </a:rPr>
                              <m:t>+</m:t>
                            </m:r>
                          </m:e>
                        </m:func>
                        <m:r>
                          <a:rPr lang="en-US" altLang="zh-CN" sz="2400" i="1" kern="100">
                            <a:latin typeface="Cambria Math" panose="02040503050406030204" pitchFamily="18" charset="0"/>
                            <a:ea typeface="宋体" panose="02010600030101010101" pitchFamily="2" charset="-122"/>
                          </a:rPr>
                          <m:t>1)</m:t>
                        </m:r>
                      </m:sup>
                    </m:sSup>
                  </m:oMath>
                </a14:m>
                <a:r>
                  <a:rPr lang="zh-CN" altLang="zh-CN" sz="2400" kern="100" dirty="0">
                    <a:latin typeface="宋体" panose="02010600030101010101" pitchFamily="2" charset="-122"/>
                    <a:ea typeface="宋体" panose="02010600030101010101" pitchFamily="2" charset="-122"/>
                  </a:rPr>
                  <a:t>，使之与</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(1)</m:t>
                        </m:r>
                      </m:sup>
                    </m:sSup>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(2)</m:t>
                        </m:r>
                      </m:sup>
                    </m:sSup>
                    <m:r>
                      <a:rPr lang="en-US" altLang="zh-CN" sz="2400" i="1" kern="100">
                        <a:latin typeface="Cambria Math" panose="02040503050406030204" pitchFamily="18" charset="0"/>
                        <a:ea typeface="宋体" panose="02010600030101010101" pitchFamily="2" charset="-122"/>
                      </a:rPr>
                      <m:t>,</m:t>
                    </m:r>
                    <m:r>
                      <a:rPr lang="zh-CN" altLang="zh-CN" sz="2400" i="1" kern="100">
                        <a:latin typeface="Cambria Math" panose="02040503050406030204" pitchFamily="18" charset="0"/>
                        <a:ea typeface="MS Gothic" panose="020B0609070205080204" pitchFamily="49" charset="-128"/>
                        <a:cs typeface="MS Gothic" panose="020B0609070205080204" pitchFamily="49" charset="-128"/>
                      </a:rPr>
                      <m:t>⋯</m:t>
                    </m:r>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func>
                          <m:funcPr>
                            <m:ctrlPr>
                              <a:rPr lang="zh-CN" altLang="zh-CN" sz="2400" i="1" kern="100">
                                <a:latin typeface="Cambria Math" panose="02040503050406030204" pitchFamily="18" charset="0"/>
                                <a:ea typeface="Cambria Math" panose="02040503050406030204" pitchFamily="18" charset="0"/>
                              </a:rPr>
                            </m:ctrlPr>
                          </m:funcPr>
                          <m:fName>
                            <m:r>
                              <a:rPr lang="en-US" altLang="zh-CN" sz="2400" i="1" kern="100">
                                <a:latin typeface="Cambria Math" panose="02040503050406030204" pitchFamily="18" charset="0"/>
                                <a:ea typeface="宋体" panose="02010600030101010101" pitchFamily="2" charset="-122"/>
                              </a:rPr>
                              <m:t>𝑘</m:t>
                            </m:r>
                          </m:fName>
                          <m:e>
                            <m:r>
                              <a:rPr lang="en-US" altLang="zh-CN" sz="2400" i="1" kern="100">
                                <a:latin typeface="Cambria Math" panose="02040503050406030204" pitchFamily="18" charset="0"/>
                                <a:ea typeface="宋体" panose="02010600030101010101" pitchFamily="2" charset="-122"/>
                              </a:rPr>
                              <m:t>)</m:t>
                            </m:r>
                          </m:e>
                        </m:func>
                      </m:sup>
                    </m:sSup>
                  </m:oMath>
                </a14:m>
                <a:r>
                  <a:rPr lang="zh-CN" altLang="zh-CN" sz="2400" kern="100" dirty="0">
                    <a:latin typeface="宋体" panose="02010600030101010101" pitchFamily="2" charset="-122"/>
                    <a:ea typeface="宋体" panose="02010600030101010101" pitchFamily="2" charset="-122"/>
                  </a:rPr>
                  <a:t>为关于</a:t>
                </a:r>
                <a14:m>
                  <m:oMath xmlns:m="http://schemas.openxmlformats.org/officeDocument/2006/math">
                    <m:r>
                      <a:rPr lang="en-US" altLang="zh-CN" sz="2400" i="1" kern="100">
                        <a:latin typeface="Cambria Math" panose="02040503050406030204" pitchFamily="18" charset="0"/>
                        <a:ea typeface="宋体" panose="02010600030101010101" pitchFamily="2" charset="-122"/>
                      </a:rPr>
                      <m:t>𝐴</m:t>
                    </m:r>
                  </m:oMath>
                </a14:m>
                <a:r>
                  <a:rPr lang="zh-CN" altLang="zh-CN" sz="2400" kern="100" dirty="0">
                    <a:latin typeface="宋体" panose="02010600030101010101" pitchFamily="2" charset="-122"/>
                    <a:ea typeface="宋体" panose="02010600030101010101" pitchFamily="2" charset="-122"/>
                  </a:rPr>
                  <a:t>两两共轭的非零向量</a:t>
                </a:r>
                <a:r>
                  <a:rPr lang="zh-CN" altLang="en-US" sz="2400" kern="100" dirty="0">
                    <a:latin typeface="宋体" panose="02010600030101010101" pitchFamily="2" charset="-122"/>
                    <a:ea typeface="宋体" panose="02010600030101010101" pitchFamily="2" charset="-122"/>
                  </a:rPr>
                  <a:t>；</a:t>
                </a:r>
                <a:endParaRPr lang="zh-CN" altLang="zh-CN" sz="2400" kern="100" dirty="0">
                  <a:latin typeface="宋体" panose="02010600030101010101" pitchFamily="2" charset="-122"/>
                  <a:ea typeface="宋体" panose="02010600030101010101" pitchFamily="2" charset="-122"/>
                </a:endParaRPr>
              </a:p>
              <a:p>
                <a:pPr indent="200025" algn="just">
                  <a:lnSpc>
                    <a:spcPct val="150000"/>
                  </a:lnSpc>
                  <a:spcBef>
                    <a:spcPts val="450"/>
                  </a:spcBef>
                </a:pPr>
                <a:r>
                  <a:rPr lang="en-US" altLang="zh-CN" sz="2400" kern="100" dirty="0">
                    <a:latin typeface="宋体" panose="02010600030101010101" pitchFamily="2" charset="-122"/>
                    <a:ea typeface="宋体" panose="02010600030101010101" pitchFamily="2" charset="-122"/>
                  </a:rPr>
                  <a:t>4.</a:t>
                </a:r>
                <a:r>
                  <a:rPr lang="en-US" altLang="zh-CN" sz="2400" kern="100" dirty="0">
                    <a:ea typeface="宋体" panose="02010600030101010101" pitchFamily="2" charset="-122"/>
                  </a:rPr>
                  <a:t> </a:t>
                </a:r>
                <a14:m>
                  <m:oMath xmlns:m="http://schemas.openxmlformats.org/officeDocument/2006/math">
                    <m:r>
                      <a:rPr lang="en-US" altLang="zh-CN" sz="2400" i="1" kern="100" dirty="0">
                        <a:latin typeface="Cambria Math" panose="02040503050406030204" pitchFamily="18" charset="0"/>
                        <a:ea typeface="宋体" panose="02010600030101010101" pitchFamily="2" charset="-122"/>
                      </a:rPr>
                      <m:t>𝑘</m:t>
                    </m:r>
                    <m:r>
                      <a:rPr lang="en-US" altLang="zh-CN" sz="2400" i="1" kern="100" dirty="0">
                        <a:latin typeface="Cambria Math" panose="02040503050406030204" pitchFamily="18" charset="0"/>
                        <a:ea typeface="宋体" panose="02010600030101010101" pitchFamily="2" charset="-122"/>
                      </a:rPr>
                      <m:t>=</m:t>
                    </m:r>
                    <m:r>
                      <a:rPr lang="en-US" altLang="zh-CN" sz="2400" i="1" kern="100" dirty="0">
                        <a:latin typeface="Cambria Math" panose="02040503050406030204" pitchFamily="18" charset="0"/>
                        <a:ea typeface="宋体" panose="02010600030101010101" pitchFamily="2" charset="-122"/>
                      </a:rPr>
                      <m:t>𝑘</m:t>
                    </m:r>
                    <m:r>
                      <a:rPr lang="en-US" altLang="zh-CN" sz="2400" i="1" kern="100" dirty="0">
                        <a:latin typeface="Cambria Math" panose="02040503050406030204" pitchFamily="18" charset="0"/>
                        <a:ea typeface="宋体" panose="02010600030101010101" pitchFamily="2" charset="-122"/>
                      </a:rPr>
                      <m:t>+1</m:t>
                    </m:r>
                    <m:r>
                      <a:rPr lang="zh-CN" altLang="en-US" sz="2400" i="1" kern="100" dirty="0">
                        <a:latin typeface="Cambria Math" panose="02040503050406030204" pitchFamily="18" charset="0"/>
                        <a:ea typeface="宋体" panose="02010600030101010101" pitchFamily="2" charset="-122"/>
                      </a:rPr>
                      <m:t>，</m:t>
                    </m:r>
                  </m:oMath>
                </a14:m>
                <a:r>
                  <a:rPr lang="zh-CN" altLang="en-US" sz="2400" kern="100" dirty="0">
                    <a:latin typeface="Times New Roman" panose="02020603050405020304" pitchFamily="18" charset="0"/>
                    <a:ea typeface="宋体" panose="02010600030101010101" pitchFamily="2" charset="-122"/>
                  </a:rPr>
                  <a:t>如果满足终止条件，停止；否则，</a:t>
                </a:r>
                <a:r>
                  <a:rPr lang="zh-CN" altLang="zh-CN" sz="2400" kern="100" dirty="0">
                    <a:latin typeface="Times New Roman" panose="02020603050405020304" pitchFamily="18" charset="0"/>
                    <a:ea typeface="宋体" panose="02010600030101010101" pitchFamily="2" charset="-122"/>
                  </a:rPr>
                  <a:t>转</a:t>
                </a:r>
                <a:r>
                  <a:rPr lang="zh-CN" altLang="en-US" sz="2400" kern="100" dirty="0">
                    <a:latin typeface="Times New Roman" panose="02020603050405020304" pitchFamily="18" charset="0"/>
                    <a:ea typeface="宋体" panose="02010600030101010101" pitchFamily="2" charset="-122"/>
                  </a:rPr>
                  <a:t>步骤</a:t>
                </a:r>
                <a:r>
                  <a:rPr lang="en-US" altLang="zh-CN" sz="2400" kern="100" dirty="0">
                    <a:latin typeface="Times New Roman" panose="02020603050405020304" pitchFamily="18" charset="0"/>
                    <a:ea typeface="宋体" panose="02010600030101010101" pitchFamily="2" charset="-122"/>
                  </a:rPr>
                  <a:t>2</a:t>
                </a:r>
                <a:r>
                  <a:rPr lang="zh-CN" altLang="en-US" sz="2400" kern="100" dirty="0">
                    <a:latin typeface="Times New Roman" panose="02020603050405020304" pitchFamily="18" charset="0"/>
                    <a:ea typeface="宋体" panose="02010600030101010101" pitchFamily="2" charset="-122"/>
                  </a:rPr>
                  <a:t>。</a:t>
                </a:r>
                <a:endParaRPr lang="zh-CN" altLang="zh-CN" sz="2400" kern="100" dirty="0">
                  <a:latin typeface="Times New Roman" panose="02020603050405020304" pitchFamily="18" charset="0"/>
                  <a:ea typeface="宋体" panose="02010600030101010101" pitchFamily="2" charset="-122"/>
                </a:endParaRPr>
              </a:p>
              <a:p>
                <a:endParaRPr lang="zh-CN" altLang="en-US" sz="2400" dirty="0">
                  <a:latin typeface="宋体" panose="02010600030101010101" pitchFamily="2" charset="-122"/>
                  <a:ea typeface="宋体" panose="02010600030101010101" pitchFamily="2" charset="-122"/>
                </a:endParaRPr>
              </a:p>
            </p:txBody>
          </p:sp>
        </mc:Choice>
        <mc:Fallback xmlns="">
          <p:sp>
            <p:nvSpPr>
              <p:cNvPr id="7" name="文本框 6">
                <a:extLst>
                  <a:ext uri="{FF2B5EF4-FFF2-40B4-BE49-F238E27FC236}">
                    <a16:creationId xmlns:a16="http://schemas.microsoft.com/office/drawing/2014/main" id="{ECEA8578-3EB1-BD90-ACE4-D40F52FAD1E2}"/>
                  </a:ext>
                </a:extLst>
              </p:cNvPr>
              <p:cNvSpPr txBox="1">
                <a:spLocks noRot="1" noChangeAspect="1" noMove="1" noResize="1" noEditPoints="1" noAdjustHandles="1" noChangeArrowheads="1" noChangeShapeType="1" noTextEdit="1"/>
              </p:cNvSpPr>
              <p:nvPr/>
            </p:nvSpPr>
            <p:spPr>
              <a:xfrm>
                <a:off x="431676" y="385693"/>
                <a:ext cx="8522562" cy="6826228"/>
              </a:xfrm>
              <a:prstGeom prst="rect">
                <a:avLst/>
              </a:prstGeom>
              <a:blipFill>
                <a:blip r:embed="rId2"/>
                <a:stretch>
                  <a:fillRect l="-1144" r="-1073"/>
                </a:stretch>
              </a:blipFill>
            </p:spPr>
            <p:txBody>
              <a:bodyPr/>
              <a:lstStyle/>
              <a:p>
                <a:r>
                  <a:rPr lang="zh-CN" altLang="en-US">
                    <a:noFill/>
                  </a:rPr>
                  <a:t> </a:t>
                </a:r>
              </a:p>
            </p:txBody>
          </p:sp>
        </mc:Fallback>
      </mc:AlternateContent>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1BB778A9-9415-31E6-D7F9-D7A4DB0ED5D6}"/>
                  </a:ext>
                </a:extLst>
              </p:cNvPr>
              <p:cNvSpPr txBox="1"/>
              <p:nvPr/>
            </p:nvSpPr>
            <p:spPr>
              <a:xfrm>
                <a:off x="971600" y="1268760"/>
                <a:ext cx="7522705" cy="2861296"/>
              </a:xfrm>
              <a:prstGeom prst="rect">
                <a:avLst/>
              </a:prstGeom>
              <a:noFill/>
            </p:spPr>
            <p:txBody>
              <a:bodyPr wrap="square" rtlCol="0">
                <a:spAutoFit/>
              </a:bodyPr>
              <a:lstStyle/>
              <a:p>
                <a:pPr algn="just">
                  <a:lnSpc>
                    <a:spcPct val="150000"/>
                  </a:lnSpc>
                </a:pPr>
                <a:r>
                  <a:rPr lang="en-US" altLang="zh-CN" sz="2400" b="1" kern="100" dirty="0">
                    <a:solidFill>
                      <a:srgbClr val="0070C0"/>
                    </a:solidFill>
                    <a:latin typeface="宋体" panose="02010600030101010101" pitchFamily="2" charset="-122"/>
                    <a:ea typeface="宋体" panose="02010600030101010101" pitchFamily="2" charset="-122"/>
                  </a:rPr>
                  <a:t>FR</a:t>
                </a:r>
                <a:r>
                  <a:rPr lang="zh-CN" altLang="zh-CN" sz="2400" b="1" kern="100" dirty="0">
                    <a:solidFill>
                      <a:srgbClr val="0070C0"/>
                    </a:solidFill>
                    <a:latin typeface="Times New Roman" panose="02020603050405020304" pitchFamily="18" charset="0"/>
                    <a:ea typeface="宋体" panose="02010600030101010101" pitchFamily="2" charset="-122"/>
                  </a:rPr>
                  <a:t>方法</a:t>
                </a:r>
                <a:r>
                  <a:rPr lang="zh-CN" altLang="zh-CN" sz="2400" b="1" kern="100" dirty="0">
                    <a:latin typeface="Times New Roman" panose="02020603050405020304" pitchFamily="18" charset="0"/>
                    <a:ea typeface="宋体" panose="02010600030101010101" pitchFamily="2" charset="-122"/>
                  </a:rPr>
                  <a:t>：</a:t>
                </a:r>
                <a:r>
                  <a:rPr lang="zh-CN" altLang="zh-CN" sz="2400" kern="100" dirty="0">
                    <a:latin typeface="Times New Roman" panose="02020603050405020304" pitchFamily="18" charset="0"/>
                    <a:ea typeface="宋体" panose="02010600030101010101" pitchFamily="2" charset="-122"/>
                  </a:rPr>
                  <a:t>采用当前点的负梯度方向</a:t>
                </a:r>
                <a14:m>
                  <m:oMath xmlns:m="http://schemas.openxmlformats.org/officeDocument/2006/math">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𝑔</m:t>
                        </m:r>
                      </m:e>
                      <m:sub>
                        <m:r>
                          <a:rPr lang="en-US" altLang="zh-CN" sz="2400" i="1" kern="100">
                            <a:latin typeface="Cambria Math" panose="02040503050406030204" pitchFamily="18" charset="0"/>
                            <a:ea typeface="宋体" panose="02010600030101010101" pitchFamily="2" charset="-122"/>
                          </a:rPr>
                          <m:t>𝑘</m:t>
                        </m:r>
                      </m:sub>
                    </m:sSub>
                  </m:oMath>
                </a14:m>
                <a:r>
                  <a:rPr lang="zh-CN" altLang="zh-CN" sz="2400" kern="100" dirty="0">
                    <a:latin typeface="Times New Roman" panose="02020603050405020304" pitchFamily="18" charset="0"/>
                    <a:ea typeface="宋体" panose="02010600030101010101" pitchFamily="2" charset="-122"/>
                  </a:rPr>
                  <a:t>和上一点</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𝑥</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zh-CN" altLang="en-US" sz="2400" i="1" kern="100">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latin typeface="Cambria Math" panose="02040503050406030204" pitchFamily="18" charset="0"/>
                            <a:ea typeface="宋体" panose="02010600030101010101" pitchFamily="2" charset="-122"/>
                          </a:rPr>
                          <m:t>1)</m:t>
                        </m:r>
                      </m:sup>
                    </m:sSup>
                  </m:oMath>
                </a14:m>
                <a:r>
                  <a:rPr lang="zh-CN" altLang="zh-CN" sz="2400" kern="100" dirty="0">
                    <a:latin typeface="Times New Roman" panose="02020603050405020304" pitchFamily="18" charset="0"/>
                    <a:ea typeface="宋体" panose="02010600030101010101" pitchFamily="2" charset="-122"/>
                  </a:rPr>
                  <a:t>的搜索方向</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zh-CN" altLang="en-US" sz="2400" i="1" kern="100">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latin typeface="Cambria Math" panose="02040503050406030204" pitchFamily="18" charset="0"/>
                            <a:ea typeface="宋体" panose="02010600030101010101" pitchFamily="2" charset="-122"/>
                          </a:rPr>
                          <m:t>1)</m:t>
                        </m:r>
                      </m:sup>
                    </m:sSup>
                  </m:oMath>
                </a14:m>
                <a:r>
                  <a:rPr lang="zh-CN" altLang="zh-CN" sz="2400" kern="100" dirty="0">
                    <a:latin typeface="Times New Roman" panose="02020603050405020304" pitchFamily="18" charset="0"/>
                    <a:ea typeface="宋体" panose="02010600030101010101" pitchFamily="2" charset="-122"/>
                  </a:rPr>
                  <a:t>的线性组合作为当前点的搜索方向</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en-US" altLang="zh-CN" sz="2400" i="1" kern="100">
                            <a:latin typeface="Cambria Math" panose="02040503050406030204" pitchFamily="18" charset="0"/>
                            <a:ea typeface="宋体" panose="02010600030101010101" pitchFamily="2" charset="-122"/>
                          </a:rPr>
                          <m:t>)</m:t>
                        </m:r>
                      </m:sup>
                    </m:sSup>
                  </m:oMath>
                </a14:m>
                <a:r>
                  <a:rPr lang="zh-CN" altLang="zh-CN" sz="2400" kern="100" dirty="0">
                    <a:latin typeface="Times New Roman" panose="02020603050405020304" pitchFamily="18" charset="0"/>
                    <a:ea typeface="宋体" panose="02010600030101010101" pitchFamily="2" charset="-122"/>
                  </a:rPr>
                  <a:t>，即</a:t>
                </a:r>
                <a:r>
                  <a:rPr lang="en-US" altLang="zh-CN" sz="2400" kern="100" dirty="0">
                    <a:latin typeface="宋体" panose="02010600030101010101" pitchFamily="2" charset="-122"/>
                    <a:ea typeface="宋体" panose="02010600030101010101" pitchFamily="2" charset="-122"/>
                  </a:rPr>
                  <a:t>	</a:t>
                </a:r>
              </a:p>
              <a:p>
                <a:pPr algn="ctr">
                  <a:lnSpc>
                    <a:spcPct val="150000"/>
                  </a:lnSpc>
                </a:pPr>
                <a14:m>
                  <m:oMath xmlns:m="http://schemas.openxmlformats.org/officeDocument/2006/math">
                    <m:sSup>
                      <m:sSupPr>
                        <m:ctrlPr>
                          <a:rPr lang="zh-CN" altLang="zh-CN" sz="2400" i="1" kern="100">
                            <a:solidFill>
                              <a:srgbClr val="FF0000"/>
                            </a:solidFill>
                            <a:latin typeface="Cambria Math" panose="02040503050406030204" pitchFamily="18" charset="0"/>
                            <a:ea typeface="Cambria Math" panose="02040503050406030204" pitchFamily="18" charset="0"/>
                          </a:rPr>
                        </m:ctrlPr>
                      </m:sSupPr>
                      <m:e>
                        <m:r>
                          <a:rPr lang="en-US" altLang="zh-CN" sz="2400" i="1" kern="100">
                            <a:solidFill>
                              <a:srgbClr val="FF0000"/>
                            </a:solidFill>
                            <a:latin typeface="Cambria Math" panose="02040503050406030204" pitchFamily="18" charset="0"/>
                            <a:ea typeface="宋体" panose="02010600030101010101" pitchFamily="2" charset="-122"/>
                          </a:rPr>
                          <m:t>𝑑</m:t>
                        </m:r>
                      </m:e>
                      <m:sup>
                        <m:r>
                          <a:rPr lang="en-US" altLang="zh-CN" sz="2400" i="1" kern="100">
                            <a:solidFill>
                              <a:srgbClr val="FF0000"/>
                            </a:solidFill>
                            <a:latin typeface="Cambria Math" panose="02040503050406030204" pitchFamily="18" charset="0"/>
                            <a:ea typeface="宋体" panose="02010600030101010101" pitchFamily="2" charset="-122"/>
                          </a:rPr>
                          <m:t>(</m:t>
                        </m:r>
                        <m:r>
                          <a:rPr lang="en-US" altLang="zh-CN" sz="2400" i="1" kern="100">
                            <a:solidFill>
                              <a:srgbClr val="FF0000"/>
                            </a:solidFill>
                            <a:latin typeface="Cambria Math" panose="02040503050406030204" pitchFamily="18" charset="0"/>
                            <a:ea typeface="宋体" panose="02010600030101010101" pitchFamily="2" charset="-122"/>
                          </a:rPr>
                          <m:t>𝑘</m:t>
                        </m:r>
                        <m:r>
                          <a:rPr lang="en-US" altLang="zh-CN" sz="2400" i="1" kern="100">
                            <a:solidFill>
                              <a:srgbClr val="FF0000"/>
                            </a:solidFill>
                            <a:latin typeface="Cambria Math" panose="02040503050406030204" pitchFamily="18" charset="0"/>
                            <a:ea typeface="宋体" panose="02010600030101010101" pitchFamily="2" charset="-122"/>
                          </a:rPr>
                          <m:t>)</m:t>
                        </m:r>
                      </m:sup>
                    </m:sSup>
                    <m:r>
                      <a:rPr lang="en-US" altLang="zh-CN" sz="2400" i="1" kern="100">
                        <a:solidFill>
                          <a:srgbClr val="FF0000"/>
                        </a:solidFill>
                        <a:latin typeface="Cambria Math" panose="02040503050406030204" pitchFamily="18" charset="0"/>
                        <a:ea typeface="宋体" panose="02010600030101010101" pitchFamily="2" charset="-122"/>
                      </a:rPr>
                      <m:t>=</m:t>
                    </m:r>
                    <m:r>
                      <a:rPr lang="zh-CN" altLang="en-US" sz="2400" i="1" kern="100">
                        <a:solidFill>
                          <a:srgbClr val="FF0000"/>
                        </a:solidFill>
                        <a:latin typeface="Cambria Math" panose="02040503050406030204" pitchFamily="18" charset="0"/>
                        <a:ea typeface="微软雅黑" panose="020B0503020204020204" pitchFamily="34" charset="-122"/>
                        <a:cs typeface="微软雅黑" panose="020B0503020204020204" pitchFamily="34" charset="-122"/>
                      </a:rPr>
                      <m:t>−</m:t>
                    </m:r>
                    <m:sSub>
                      <m:sSubPr>
                        <m:ctrlPr>
                          <a:rPr lang="zh-CN" altLang="zh-CN" sz="2400" i="1" kern="100">
                            <a:solidFill>
                              <a:srgbClr val="FF0000"/>
                            </a:solidFill>
                            <a:latin typeface="Cambria Math" panose="02040503050406030204" pitchFamily="18" charset="0"/>
                            <a:ea typeface="Cambria Math" panose="02040503050406030204" pitchFamily="18" charset="0"/>
                          </a:rPr>
                        </m:ctrlPr>
                      </m:sSubPr>
                      <m:e>
                        <m:r>
                          <a:rPr lang="en-US" altLang="zh-CN" sz="2400" i="1" kern="100">
                            <a:solidFill>
                              <a:srgbClr val="FF0000"/>
                            </a:solidFill>
                            <a:latin typeface="Cambria Math" panose="02040503050406030204" pitchFamily="18" charset="0"/>
                            <a:ea typeface="宋体" panose="02010600030101010101" pitchFamily="2" charset="-122"/>
                          </a:rPr>
                          <m:t>𝑔</m:t>
                        </m:r>
                      </m:e>
                      <m:sub>
                        <m:r>
                          <a:rPr lang="en-US" altLang="zh-CN" sz="2400" i="1" kern="100">
                            <a:solidFill>
                              <a:srgbClr val="FF0000"/>
                            </a:solidFill>
                            <a:latin typeface="Cambria Math" panose="02040503050406030204" pitchFamily="18" charset="0"/>
                            <a:ea typeface="宋体" panose="02010600030101010101" pitchFamily="2" charset="-122"/>
                          </a:rPr>
                          <m:t>𝑘</m:t>
                        </m:r>
                      </m:sub>
                    </m:sSub>
                    <m:r>
                      <a:rPr lang="en-US" altLang="zh-CN" sz="2400" i="1" kern="100">
                        <a:solidFill>
                          <a:srgbClr val="FF0000"/>
                        </a:solidFill>
                        <a:latin typeface="Cambria Math" panose="02040503050406030204" pitchFamily="18" charset="0"/>
                        <a:ea typeface="宋体" panose="02010600030101010101" pitchFamily="2" charset="-122"/>
                      </a:rPr>
                      <m:t>+</m:t>
                    </m:r>
                    <m:sSub>
                      <m:sSubPr>
                        <m:ctrlPr>
                          <a:rPr lang="zh-CN" altLang="zh-CN" sz="2400" i="1" kern="100">
                            <a:solidFill>
                              <a:srgbClr val="FF0000"/>
                            </a:solidFill>
                            <a:latin typeface="Cambria Math" panose="02040503050406030204" pitchFamily="18" charset="0"/>
                            <a:ea typeface="Cambria Math" panose="02040503050406030204" pitchFamily="18" charset="0"/>
                          </a:rPr>
                        </m:ctrlPr>
                      </m:sSubPr>
                      <m:e>
                        <m:r>
                          <a:rPr lang="en-US" altLang="zh-CN" sz="2400" i="1" kern="100">
                            <a:solidFill>
                              <a:srgbClr val="FF0000"/>
                            </a:solidFill>
                            <a:latin typeface="Cambria Math" panose="02040503050406030204" pitchFamily="18" charset="0"/>
                            <a:ea typeface="宋体" panose="02010600030101010101" pitchFamily="2" charset="-122"/>
                          </a:rPr>
                          <m:t>𝛽</m:t>
                        </m:r>
                      </m:e>
                      <m:sub>
                        <m:r>
                          <a:rPr lang="en-US" altLang="zh-CN" sz="2400" i="1" kern="100">
                            <a:solidFill>
                              <a:srgbClr val="FF0000"/>
                            </a:solidFill>
                            <a:latin typeface="Cambria Math" panose="02040503050406030204" pitchFamily="18" charset="0"/>
                            <a:ea typeface="宋体" panose="02010600030101010101" pitchFamily="2" charset="-122"/>
                          </a:rPr>
                          <m:t>𝑘</m:t>
                        </m:r>
                        <m:r>
                          <a:rPr lang="zh-CN" altLang="en-US" sz="2400" i="1" kern="100">
                            <a:solidFill>
                              <a:srgbClr val="FF0000"/>
                            </a:solidFill>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solidFill>
                              <a:srgbClr val="FF0000"/>
                            </a:solidFill>
                            <a:latin typeface="Cambria Math" panose="02040503050406030204" pitchFamily="18" charset="0"/>
                            <a:ea typeface="宋体" panose="02010600030101010101" pitchFamily="2" charset="-122"/>
                          </a:rPr>
                          <m:t>1</m:t>
                        </m:r>
                      </m:sub>
                    </m:sSub>
                    <m:sSup>
                      <m:sSupPr>
                        <m:ctrlPr>
                          <a:rPr lang="zh-CN" altLang="zh-CN" sz="2400" i="1" kern="100">
                            <a:solidFill>
                              <a:srgbClr val="FF0000"/>
                            </a:solidFill>
                            <a:latin typeface="Cambria Math" panose="02040503050406030204" pitchFamily="18" charset="0"/>
                            <a:ea typeface="Cambria Math" panose="02040503050406030204" pitchFamily="18" charset="0"/>
                          </a:rPr>
                        </m:ctrlPr>
                      </m:sSupPr>
                      <m:e>
                        <m:r>
                          <a:rPr lang="en-US" altLang="zh-CN" sz="2400" i="1" kern="100">
                            <a:solidFill>
                              <a:srgbClr val="FF0000"/>
                            </a:solidFill>
                            <a:latin typeface="Cambria Math" panose="02040503050406030204" pitchFamily="18" charset="0"/>
                            <a:ea typeface="宋体" panose="02010600030101010101" pitchFamily="2" charset="-122"/>
                          </a:rPr>
                          <m:t>𝑑</m:t>
                        </m:r>
                      </m:e>
                      <m:sup>
                        <m:r>
                          <a:rPr lang="en-US" altLang="zh-CN" sz="2400" i="1" kern="100">
                            <a:solidFill>
                              <a:srgbClr val="FF0000"/>
                            </a:solidFill>
                            <a:latin typeface="Cambria Math" panose="02040503050406030204" pitchFamily="18" charset="0"/>
                            <a:ea typeface="宋体" panose="02010600030101010101" pitchFamily="2" charset="-122"/>
                          </a:rPr>
                          <m:t>(</m:t>
                        </m:r>
                        <m:r>
                          <a:rPr lang="en-US" altLang="zh-CN" sz="2400" i="1" kern="100">
                            <a:solidFill>
                              <a:srgbClr val="FF0000"/>
                            </a:solidFill>
                            <a:latin typeface="Cambria Math" panose="02040503050406030204" pitchFamily="18" charset="0"/>
                            <a:ea typeface="宋体" panose="02010600030101010101" pitchFamily="2" charset="-122"/>
                          </a:rPr>
                          <m:t>𝑘</m:t>
                        </m:r>
                        <m:r>
                          <a:rPr lang="zh-CN" altLang="en-US" sz="2400" i="1" kern="100">
                            <a:solidFill>
                              <a:srgbClr val="FF0000"/>
                            </a:solidFill>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solidFill>
                              <a:srgbClr val="FF0000"/>
                            </a:solidFill>
                            <a:latin typeface="Cambria Math" panose="02040503050406030204" pitchFamily="18" charset="0"/>
                            <a:ea typeface="宋体" panose="02010600030101010101" pitchFamily="2" charset="-122"/>
                          </a:rPr>
                          <m:t>1)</m:t>
                        </m:r>
                      </m:sup>
                    </m:sSup>
                  </m:oMath>
                </a14:m>
                <a:r>
                  <a:rPr lang="en-US" altLang="zh-CN" sz="2400" kern="100" dirty="0">
                    <a:solidFill>
                      <a:srgbClr val="FF0000"/>
                    </a:solidFill>
                    <a:latin typeface="宋体" panose="02010600030101010101" pitchFamily="2" charset="-122"/>
                    <a:ea typeface="宋体" panose="02010600030101010101" pitchFamily="2" charset="-122"/>
                  </a:rPr>
                  <a:t>	</a:t>
                </a:r>
                <a:r>
                  <a:rPr lang="en-US" altLang="zh-CN" sz="2400" kern="100" dirty="0">
                    <a:latin typeface="宋体" panose="02010600030101010101" pitchFamily="2" charset="-122"/>
                    <a:ea typeface="宋体" panose="02010600030101010101" pitchFamily="2" charset="-122"/>
                  </a:rPr>
                  <a:t>       </a:t>
                </a:r>
                <a:endParaRPr lang="zh-CN" altLang="zh-CN" sz="2400" kern="100" dirty="0">
                  <a:latin typeface="Times New Roman" panose="02020603050405020304" pitchFamily="18" charset="0"/>
                  <a:ea typeface="宋体" panose="02010600030101010101" pitchFamily="2" charset="-122"/>
                </a:endParaRPr>
              </a:p>
              <a:p>
                <a:pPr algn="just">
                  <a:lnSpc>
                    <a:spcPct val="150000"/>
                  </a:lnSpc>
                </a:pPr>
                <a:r>
                  <a:rPr lang="zh-CN" altLang="zh-CN" sz="2400" kern="100" dirty="0">
                    <a:latin typeface="Times New Roman" panose="02020603050405020304" pitchFamily="18" charset="0"/>
                    <a:ea typeface="宋体" panose="02010600030101010101" pitchFamily="2" charset="-122"/>
                  </a:rPr>
                  <a:t>其中，</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𝛽</m:t>
                        </m:r>
                      </m:e>
                      <m:sub>
                        <m:r>
                          <a:rPr lang="en-US" altLang="zh-CN" sz="2400" i="1" kern="100">
                            <a:latin typeface="Cambria Math" panose="02040503050406030204" pitchFamily="18" charset="0"/>
                            <a:ea typeface="宋体" panose="02010600030101010101" pitchFamily="2" charset="-122"/>
                          </a:rPr>
                          <m:t>𝑘</m:t>
                        </m:r>
                        <m:r>
                          <a:rPr lang="en-US" altLang="zh-CN" sz="2400" i="1" kern="100">
                            <a:latin typeface="Cambria Math" panose="02040503050406030204" pitchFamily="18" charset="0"/>
                            <a:ea typeface="宋体" panose="02010600030101010101" pitchFamily="2" charset="-122"/>
                          </a:rPr>
                          <m:t>−1</m:t>
                        </m:r>
                      </m:sub>
                    </m:sSub>
                  </m:oMath>
                </a14:m>
                <a:r>
                  <a:rPr lang="zh-CN" altLang="zh-CN" sz="2400" kern="100" dirty="0">
                    <a:latin typeface="Times New Roman" panose="02020603050405020304" pitchFamily="18" charset="0"/>
                    <a:ea typeface="宋体" panose="02010600030101010101" pitchFamily="2" charset="-122"/>
                  </a:rPr>
                  <a:t>是线性组合系数。</a:t>
                </a:r>
              </a:p>
            </p:txBody>
          </p:sp>
        </mc:Choice>
        <mc:Fallback xmlns="">
          <p:sp>
            <p:nvSpPr>
              <p:cNvPr id="2" name="文本框 1">
                <a:extLst>
                  <a:ext uri="{FF2B5EF4-FFF2-40B4-BE49-F238E27FC236}">
                    <a16:creationId xmlns:a16="http://schemas.microsoft.com/office/drawing/2014/main" id="{1BB778A9-9415-31E6-D7F9-D7A4DB0ED5D6}"/>
                  </a:ext>
                </a:extLst>
              </p:cNvPr>
              <p:cNvSpPr txBox="1">
                <a:spLocks noRot="1" noChangeAspect="1" noMove="1" noResize="1" noEditPoints="1" noAdjustHandles="1" noChangeArrowheads="1" noChangeShapeType="1" noTextEdit="1"/>
              </p:cNvSpPr>
              <p:nvPr/>
            </p:nvSpPr>
            <p:spPr>
              <a:xfrm>
                <a:off x="971600" y="1268760"/>
                <a:ext cx="7522705" cy="2861296"/>
              </a:xfrm>
              <a:prstGeom prst="rect">
                <a:avLst/>
              </a:prstGeom>
              <a:blipFill>
                <a:blip r:embed="rId2"/>
                <a:stretch>
                  <a:fillRect l="-1216" r="-1297" b="-3830"/>
                </a:stretch>
              </a:blipFill>
            </p:spPr>
            <p:txBody>
              <a:bodyPr/>
              <a:lstStyle/>
              <a:p>
                <a:r>
                  <a:rPr lang="zh-CN" altLang="en-US">
                    <a:noFill/>
                  </a:rPr>
                  <a:t> </a:t>
                </a:r>
              </a:p>
            </p:txBody>
          </p:sp>
        </mc:Fallback>
      </mc:AlternateContent>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397A23B8-5B1F-BEB7-669D-4598A2DA27AA}"/>
                  </a:ext>
                </a:extLst>
              </p:cNvPr>
              <p:cNvSpPr txBox="1"/>
              <p:nvPr/>
            </p:nvSpPr>
            <p:spPr>
              <a:xfrm>
                <a:off x="556149" y="248522"/>
                <a:ext cx="8264323" cy="7057445"/>
              </a:xfrm>
              <a:prstGeom prst="rect">
                <a:avLst/>
              </a:prstGeom>
              <a:noFill/>
            </p:spPr>
            <p:txBody>
              <a:bodyPr wrap="square" rtlCol="0">
                <a:spAutoFit/>
              </a:bodyPr>
              <a:lstStyle/>
              <a:p>
                <a:pPr algn="just">
                  <a:lnSpc>
                    <a:spcPct val="150000"/>
                  </a:lnSpc>
                </a:pPr>
                <a:r>
                  <a:rPr lang="zh-CN" altLang="en-US" sz="2400" b="1" kern="100" dirty="0">
                    <a:solidFill>
                      <a:srgbClr val="FF0000"/>
                    </a:solidFill>
                    <a:latin typeface="Times New Roman" panose="02020603050405020304" pitchFamily="18" charset="0"/>
                    <a:ea typeface="宋体" panose="02010600030101010101" pitchFamily="2" charset="-122"/>
                  </a:rPr>
                  <a:t>如何</a:t>
                </a:r>
                <a:r>
                  <a:rPr lang="zh-CN" altLang="zh-CN" sz="2400" b="1" kern="100" dirty="0">
                    <a:solidFill>
                      <a:srgbClr val="FF0000"/>
                    </a:solidFill>
                    <a:latin typeface="Times New Roman" panose="02020603050405020304" pitchFamily="18" charset="0"/>
                    <a:ea typeface="宋体" panose="02010600030101010101" pitchFamily="2" charset="-122"/>
                  </a:rPr>
                  <a:t>确定</a:t>
                </a:r>
                <a14:m>
                  <m:oMath xmlns:m="http://schemas.openxmlformats.org/officeDocument/2006/math">
                    <m:sSub>
                      <m:sSubPr>
                        <m:ctrlPr>
                          <a:rPr lang="zh-CN" altLang="zh-CN" sz="2400" b="1" i="1" kern="100">
                            <a:solidFill>
                              <a:srgbClr val="FF0000"/>
                            </a:solidFill>
                            <a:latin typeface="Cambria Math" panose="02040503050406030204" pitchFamily="18" charset="0"/>
                            <a:ea typeface="Cambria Math" panose="02040503050406030204" pitchFamily="18" charset="0"/>
                          </a:rPr>
                        </m:ctrlPr>
                      </m:sSubPr>
                      <m:e>
                        <m:r>
                          <a:rPr lang="en-US" altLang="zh-CN" sz="2400" b="1" i="1" kern="100">
                            <a:solidFill>
                              <a:srgbClr val="FF0000"/>
                            </a:solidFill>
                            <a:latin typeface="Cambria Math" panose="02040503050406030204" pitchFamily="18" charset="0"/>
                            <a:ea typeface="宋体" panose="02010600030101010101" pitchFamily="2" charset="-122"/>
                          </a:rPr>
                          <m:t>𝜷</m:t>
                        </m:r>
                      </m:e>
                      <m:sub>
                        <m:r>
                          <a:rPr lang="en-US" altLang="zh-CN" sz="2400" b="1" i="1" kern="100">
                            <a:solidFill>
                              <a:srgbClr val="FF0000"/>
                            </a:solidFill>
                            <a:latin typeface="Cambria Math" panose="02040503050406030204" pitchFamily="18" charset="0"/>
                            <a:ea typeface="宋体" panose="02010600030101010101" pitchFamily="2" charset="-122"/>
                          </a:rPr>
                          <m:t>𝒌</m:t>
                        </m:r>
                        <m:r>
                          <a:rPr lang="en-US" altLang="zh-CN" sz="2400" b="1" i="1" kern="100">
                            <a:solidFill>
                              <a:srgbClr val="FF0000"/>
                            </a:solidFill>
                            <a:latin typeface="Cambria Math" panose="02040503050406030204" pitchFamily="18" charset="0"/>
                            <a:ea typeface="宋体" panose="02010600030101010101" pitchFamily="2" charset="-122"/>
                          </a:rPr>
                          <m:t>−</m:t>
                        </m:r>
                        <m:r>
                          <a:rPr lang="en-US" altLang="zh-CN" sz="2400" b="1" i="1" kern="100">
                            <a:solidFill>
                              <a:srgbClr val="FF0000"/>
                            </a:solidFill>
                            <a:latin typeface="Cambria Math" panose="02040503050406030204" pitchFamily="18" charset="0"/>
                            <a:ea typeface="宋体" panose="02010600030101010101" pitchFamily="2" charset="-122"/>
                          </a:rPr>
                          <m:t>𝟏</m:t>
                        </m:r>
                      </m:sub>
                    </m:sSub>
                  </m:oMath>
                </a14:m>
                <a:r>
                  <a:rPr lang="zh-CN" altLang="en-US" sz="2400" b="1" kern="100" dirty="0">
                    <a:solidFill>
                      <a:srgbClr val="FF0000"/>
                    </a:solidFill>
                    <a:latin typeface="Times New Roman" panose="02020603050405020304" pitchFamily="18" charset="0"/>
                    <a:ea typeface="宋体" panose="02010600030101010101" pitchFamily="2" charset="-122"/>
                  </a:rPr>
                  <a:t>？</a:t>
                </a:r>
                <a:endParaRPr lang="en-US" altLang="zh-CN" sz="2400" b="1" kern="100" dirty="0">
                  <a:solidFill>
                    <a:srgbClr val="FF0000"/>
                  </a:solidFill>
                  <a:latin typeface="Times New Roman" panose="02020603050405020304" pitchFamily="18" charset="0"/>
                  <a:ea typeface="宋体" panose="02010600030101010101" pitchFamily="2" charset="-122"/>
                </a:endParaRPr>
              </a:p>
              <a:p>
                <a:pPr algn="just">
                  <a:lnSpc>
                    <a:spcPct val="150000"/>
                  </a:lnSpc>
                </a:pPr>
                <a:r>
                  <a:rPr lang="en-US" altLang="zh-CN" sz="2400" kern="100" dirty="0">
                    <a:latin typeface="Times New Roman" panose="02020603050405020304" pitchFamily="18" charset="0"/>
                    <a:ea typeface="宋体" panose="02010600030101010101" pitchFamily="2" charset="-122"/>
                  </a:rPr>
                  <a:t>        </a:t>
                </a:r>
                <a:r>
                  <a:rPr lang="zh-CN" altLang="zh-CN" sz="2400" kern="100" dirty="0">
                    <a:latin typeface="Times New Roman" panose="02020603050405020304" pitchFamily="18" charset="0"/>
                    <a:ea typeface="宋体" panose="02010600030101010101" pitchFamily="2" charset="-122"/>
                  </a:rPr>
                  <a:t>为保证</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en-US" altLang="zh-CN" sz="2400" i="1" kern="100">
                            <a:latin typeface="Cambria Math" panose="02040503050406030204" pitchFamily="18" charset="0"/>
                            <a:ea typeface="宋体" panose="02010600030101010101" pitchFamily="2" charset="-122"/>
                          </a:rPr>
                          <m:t>)</m:t>
                        </m:r>
                      </m:sup>
                    </m:sSup>
                  </m:oMath>
                </a14:m>
                <a:r>
                  <a:rPr lang="zh-CN" altLang="zh-CN" sz="2400" kern="100" dirty="0">
                    <a:latin typeface="Times New Roman" panose="02020603050405020304" pitchFamily="18" charset="0"/>
                    <a:ea typeface="宋体" panose="02010600030101010101" pitchFamily="2" charset="-122"/>
                  </a:rPr>
                  <a:t>与</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zh-CN" altLang="en-US" sz="2400" i="1" kern="100">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latin typeface="Cambria Math" panose="02040503050406030204" pitchFamily="18" charset="0"/>
                            <a:ea typeface="宋体" panose="02010600030101010101" pitchFamily="2" charset="-122"/>
                          </a:rPr>
                          <m:t>1)</m:t>
                        </m:r>
                      </m:sup>
                    </m:sSup>
                  </m:oMath>
                </a14:m>
                <a:r>
                  <a:rPr lang="zh-CN" altLang="zh-CN" sz="2400" kern="100" dirty="0">
                    <a:latin typeface="Times New Roman" panose="02020603050405020304" pitchFamily="18" charset="0"/>
                    <a:ea typeface="宋体" panose="02010600030101010101" pitchFamily="2" charset="-122"/>
                  </a:rPr>
                  <a:t>关于</a:t>
                </a:r>
                <a14:m>
                  <m:oMath xmlns:m="http://schemas.openxmlformats.org/officeDocument/2006/math">
                    <m:r>
                      <a:rPr lang="en-US" altLang="zh-CN" sz="2400" i="1" kern="100">
                        <a:latin typeface="Cambria Math" panose="02040503050406030204" pitchFamily="18" charset="0"/>
                        <a:ea typeface="宋体" panose="02010600030101010101" pitchFamily="2" charset="-122"/>
                      </a:rPr>
                      <m:t>𝐴</m:t>
                    </m:r>
                  </m:oMath>
                </a14:m>
                <a:r>
                  <a:rPr lang="zh-CN" altLang="zh-CN" sz="2400" kern="100" dirty="0">
                    <a:latin typeface="Times New Roman" panose="02020603050405020304" pitchFamily="18" charset="0"/>
                    <a:ea typeface="宋体" panose="02010600030101010101" pitchFamily="2" charset="-122"/>
                  </a:rPr>
                  <a:t>共轭，将</a:t>
                </a:r>
                <a14:m>
                  <m:oMath xmlns:m="http://schemas.openxmlformats.org/officeDocument/2006/math">
                    <m:sSup>
                      <m:sSupPr>
                        <m:ctrlPr>
                          <a:rPr lang="zh-CN" altLang="zh-CN" sz="2400" i="1" kern="100">
                            <a:solidFill>
                              <a:srgbClr val="FF0000"/>
                            </a:solidFill>
                            <a:latin typeface="Cambria Math" panose="02040503050406030204" pitchFamily="18" charset="0"/>
                            <a:ea typeface="Cambria Math" panose="02040503050406030204" pitchFamily="18" charset="0"/>
                          </a:rPr>
                        </m:ctrlPr>
                      </m:sSupPr>
                      <m:e>
                        <m:r>
                          <a:rPr lang="en-US" altLang="zh-CN" sz="2400" i="1" kern="100">
                            <a:solidFill>
                              <a:srgbClr val="FF0000"/>
                            </a:solidFill>
                            <a:latin typeface="Cambria Math" panose="02040503050406030204" pitchFamily="18" charset="0"/>
                            <a:ea typeface="宋体" panose="02010600030101010101" pitchFamily="2" charset="-122"/>
                          </a:rPr>
                          <m:t>𝑑</m:t>
                        </m:r>
                      </m:e>
                      <m:sup>
                        <m:r>
                          <a:rPr lang="en-US" altLang="zh-CN" sz="2400" i="1" kern="100">
                            <a:solidFill>
                              <a:srgbClr val="FF0000"/>
                            </a:solidFill>
                            <a:latin typeface="Cambria Math" panose="02040503050406030204" pitchFamily="18" charset="0"/>
                            <a:ea typeface="宋体" panose="02010600030101010101" pitchFamily="2" charset="-122"/>
                          </a:rPr>
                          <m:t>(</m:t>
                        </m:r>
                        <m:r>
                          <a:rPr lang="en-US" altLang="zh-CN" sz="2400" i="1" kern="100">
                            <a:solidFill>
                              <a:srgbClr val="FF0000"/>
                            </a:solidFill>
                            <a:latin typeface="Cambria Math" panose="02040503050406030204" pitchFamily="18" charset="0"/>
                            <a:ea typeface="宋体" panose="02010600030101010101" pitchFamily="2" charset="-122"/>
                          </a:rPr>
                          <m:t>𝑘</m:t>
                        </m:r>
                        <m:r>
                          <a:rPr lang="en-US" altLang="zh-CN" sz="2400" i="1" kern="100">
                            <a:solidFill>
                              <a:srgbClr val="FF0000"/>
                            </a:solidFill>
                            <a:latin typeface="Cambria Math" panose="02040503050406030204" pitchFamily="18" charset="0"/>
                            <a:ea typeface="宋体" panose="02010600030101010101" pitchFamily="2" charset="-122"/>
                          </a:rPr>
                          <m:t>)</m:t>
                        </m:r>
                      </m:sup>
                    </m:sSup>
                    <m:r>
                      <a:rPr lang="en-US" altLang="zh-CN" sz="2400" i="1" kern="100">
                        <a:solidFill>
                          <a:srgbClr val="FF0000"/>
                        </a:solidFill>
                        <a:latin typeface="Cambria Math" panose="02040503050406030204" pitchFamily="18" charset="0"/>
                        <a:ea typeface="宋体" panose="02010600030101010101" pitchFamily="2" charset="-122"/>
                      </a:rPr>
                      <m:t>=</m:t>
                    </m:r>
                    <m:r>
                      <a:rPr lang="zh-CN" altLang="en-US" sz="2400" i="1" kern="100">
                        <a:solidFill>
                          <a:srgbClr val="FF0000"/>
                        </a:solidFill>
                        <a:latin typeface="Cambria Math" panose="02040503050406030204" pitchFamily="18" charset="0"/>
                        <a:ea typeface="微软雅黑" panose="020B0503020204020204" pitchFamily="34" charset="-122"/>
                        <a:cs typeface="微软雅黑" panose="020B0503020204020204" pitchFamily="34" charset="-122"/>
                      </a:rPr>
                      <m:t>−</m:t>
                    </m:r>
                    <m:sSub>
                      <m:sSubPr>
                        <m:ctrlPr>
                          <a:rPr lang="zh-CN" altLang="zh-CN" sz="2400" i="1" kern="100">
                            <a:solidFill>
                              <a:srgbClr val="FF0000"/>
                            </a:solidFill>
                            <a:latin typeface="Cambria Math" panose="02040503050406030204" pitchFamily="18" charset="0"/>
                            <a:ea typeface="Cambria Math" panose="02040503050406030204" pitchFamily="18" charset="0"/>
                          </a:rPr>
                        </m:ctrlPr>
                      </m:sSubPr>
                      <m:e>
                        <m:r>
                          <a:rPr lang="en-US" altLang="zh-CN" sz="2400" i="1" kern="100">
                            <a:solidFill>
                              <a:srgbClr val="FF0000"/>
                            </a:solidFill>
                            <a:latin typeface="Cambria Math" panose="02040503050406030204" pitchFamily="18" charset="0"/>
                            <a:ea typeface="宋体" panose="02010600030101010101" pitchFamily="2" charset="-122"/>
                          </a:rPr>
                          <m:t>𝑔</m:t>
                        </m:r>
                      </m:e>
                      <m:sub>
                        <m:r>
                          <a:rPr lang="en-US" altLang="zh-CN" sz="2400" i="1" kern="100">
                            <a:solidFill>
                              <a:srgbClr val="FF0000"/>
                            </a:solidFill>
                            <a:latin typeface="Cambria Math" panose="02040503050406030204" pitchFamily="18" charset="0"/>
                            <a:ea typeface="宋体" panose="02010600030101010101" pitchFamily="2" charset="-122"/>
                          </a:rPr>
                          <m:t>𝑘</m:t>
                        </m:r>
                      </m:sub>
                    </m:sSub>
                    <m:r>
                      <a:rPr lang="en-US" altLang="zh-CN" sz="2400" i="1" kern="100">
                        <a:solidFill>
                          <a:srgbClr val="FF0000"/>
                        </a:solidFill>
                        <a:latin typeface="Cambria Math" panose="02040503050406030204" pitchFamily="18" charset="0"/>
                        <a:ea typeface="宋体" panose="02010600030101010101" pitchFamily="2" charset="-122"/>
                      </a:rPr>
                      <m:t>+</m:t>
                    </m:r>
                    <m:sSub>
                      <m:sSubPr>
                        <m:ctrlPr>
                          <a:rPr lang="zh-CN" altLang="zh-CN" sz="2400" i="1" kern="100">
                            <a:solidFill>
                              <a:srgbClr val="FF0000"/>
                            </a:solidFill>
                            <a:latin typeface="Cambria Math" panose="02040503050406030204" pitchFamily="18" charset="0"/>
                            <a:ea typeface="Cambria Math" panose="02040503050406030204" pitchFamily="18" charset="0"/>
                          </a:rPr>
                        </m:ctrlPr>
                      </m:sSubPr>
                      <m:e>
                        <m:r>
                          <a:rPr lang="en-US" altLang="zh-CN" sz="2400" i="1" kern="100">
                            <a:solidFill>
                              <a:srgbClr val="FF0000"/>
                            </a:solidFill>
                            <a:latin typeface="Cambria Math" panose="02040503050406030204" pitchFamily="18" charset="0"/>
                            <a:ea typeface="宋体" panose="02010600030101010101" pitchFamily="2" charset="-122"/>
                          </a:rPr>
                          <m:t>𝛽</m:t>
                        </m:r>
                      </m:e>
                      <m:sub>
                        <m:r>
                          <a:rPr lang="en-US" altLang="zh-CN" sz="2400" i="1" kern="100">
                            <a:solidFill>
                              <a:srgbClr val="FF0000"/>
                            </a:solidFill>
                            <a:latin typeface="Cambria Math" panose="02040503050406030204" pitchFamily="18" charset="0"/>
                            <a:ea typeface="宋体" panose="02010600030101010101" pitchFamily="2" charset="-122"/>
                          </a:rPr>
                          <m:t>𝑘</m:t>
                        </m:r>
                        <m:r>
                          <a:rPr lang="zh-CN" altLang="en-US" sz="2400" i="1" kern="100">
                            <a:solidFill>
                              <a:srgbClr val="FF0000"/>
                            </a:solidFill>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solidFill>
                              <a:srgbClr val="FF0000"/>
                            </a:solidFill>
                            <a:latin typeface="Cambria Math" panose="02040503050406030204" pitchFamily="18" charset="0"/>
                            <a:ea typeface="宋体" panose="02010600030101010101" pitchFamily="2" charset="-122"/>
                          </a:rPr>
                          <m:t>1</m:t>
                        </m:r>
                      </m:sub>
                    </m:sSub>
                    <m:sSup>
                      <m:sSupPr>
                        <m:ctrlPr>
                          <a:rPr lang="zh-CN" altLang="zh-CN" sz="2400" i="1" kern="100">
                            <a:solidFill>
                              <a:srgbClr val="FF0000"/>
                            </a:solidFill>
                            <a:latin typeface="Cambria Math" panose="02040503050406030204" pitchFamily="18" charset="0"/>
                            <a:ea typeface="Cambria Math" panose="02040503050406030204" pitchFamily="18" charset="0"/>
                          </a:rPr>
                        </m:ctrlPr>
                      </m:sSupPr>
                      <m:e>
                        <m:r>
                          <a:rPr lang="en-US" altLang="zh-CN" sz="2400" i="1" kern="100">
                            <a:solidFill>
                              <a:srgbClr val="FF0000"/>
                            </a:solidFill>
                            <a:latin typeface="Cambria Math" panose="02040503050406030204" pitchFamily="18" charset="0"/>
                            <a:ea typeface="宋体" panose="02010600030101010101" pitchFamily="2" charset="-122"/>
                          </a:rPr>
                          <m:t>𝑑</m:t>
                        </m:r>
                      </m:e>
                      <m:sup>
                        <m:r>
                          <a:rPr lang="en-US" altLang="zh-CN" sz="2400" i="1" kern="100">
                            <a:solidFill>
                              <a:srgbClr val="FF0000"/>
                            </a:solidFill>
                            <a:latin typeface="Cambria Math" panose="02040503050406030204" pitchFamily="18" charset="0"/>
                            <a:ea typeface="宋体" panose="02010600030101010101" pitchFamily="2" charset="-122"/>
                          </a:rPr>
                          <m:t>(</m:t>
                        </m:r>
                        <m:r>
                          <a:rPr lang="en-US" altLang="zh-CN" sz="2400" i="1" kern="100">
                            <a:solidFill>
                              <a:srgbClr val="FF0000"/>
                            </a:solidFill>
                            <a:latin typeface="Cambria Math" panose="02040503050406030204" pitchFamily="18" charset="0"/>
                            <a:ea typeface="宋体" panose="02010600030101010101" pitchFamily="2" charset="-122"/>
                          </a:rPr>
                          <m:t>𝑘</m:t>
                        </m:r>
                        <m:r>
                          <a:rPr lang="zh-CN" altLang="en-US" sz="2400" i="1" kern="100">
                            <a:solidFill>
                              <a:srgbClr val="FF0000"/>
                            </a:solidFill>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solidFill>
                              <a:srgbClr val="FF0000"/>
                            </a:solidFill>
                            <a:latin typeface="Cambria Math" panose="02040503050406030204" pitchFamily="18" charset="0"/>
                            <a:ea typeface="宋体" panose="02010600030101010101" pitchFamily="2" charset="-122"/>
                          </a:rPr>
                          <m:t>1)</m:t>
                        </m:r>
                      </m:sup>
                    </m:sSup>
                  </m:oMath>
                </a14:m>
                <a:r>
                  <a:rPr lang="zh-CN" altLang="zh-CN" sz="2400" kern="100" dirty="0">
                    <a:latin typeface="Times New Roman" panose="02020603050405020304" pitchFamily="18" charset="0"/>
                    <a:ea typeface="宋体" panose="02010600030101010101" pitchFamily="2" charset="-122"/>
                  </a:rPr>
                  <a:t>两端左乘</a:t>
                </a:r>
                <a14:m>
                  <m:oMath xmlns:m="http://schemas.openxmlformats.org/officeDocument/2006/math">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zh-CN" altLang="en-US" sz="2400" i="1" kern="100">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latin typeface="Cambria Math" panose="02040503050406030204" pitchFamily="18" charset="0"/>
                            <a:ea typeface="宋体" panose="02010600030101010101" pitchFamily="2" charset="-122"/>
                          </a:rPr>
                          <m:t>1)</m:t>
                        </m:r>
                      </m:sup>
                    </m:sSup>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m:t>
                        </m:r>
                      </m:e>
                      <m:sup>
                        <m:r>
                          <a:rPr lang="en-US" altLang="zh-CN" sz="2400" i="1" kern="100">
                            <a:latin typeface="Cambria Math" panose="02040503050406030204" pitchFamily="18" charset="0"/>
                            <a:ea typeface="宋体" panose="02010600030101010101" pitchFamily="2" charset="-122"/>
                          </a:rPr>
                          <m:t>𝑇</m:t>
                        </m:r>
                      </m:sup>
                    </m:sSup>
                    <m:r>
                      <a:rPr lang="en-US" altLang="zh-CN" sz="2400" i="1" kern="100">
                        <a:latin typeface="Cambria Math" panose="02040503050406030204" pitchFamily="18" charset="0"/>
                        <a:ea typeface="宋体" panose="02010600030101010101" pitchFamily="2" charset="-122"/>
                      </a:rPr>
                      <m:t>𝐴</m:t>
                    </m:r>
                  </m:oMath>
                </a14:m>
                <a:r>
                  <a:rPr lang="zh-CN" altLang="zh-CN" sz="2400" kern="100" dirty="0">
                    <a:latin typeface="Times New Roman" panose="02020603050405020304" pitchFamily="18" charset="0"/>
                    <a:ea typeface="宋体" panose="02010600030101010101" pitchFamily="2" charset="-122"/>
                  </a:rPr>
                  <a:t>，有</a:t>
                </a:r>
                <a:endParaRPr lang="en-US" altLang="zh-CN" sz="2400" kern="100" dirty="0">
                  <a:latin typeface="Times New Roman" panose="02020603050405020304" pitchFamily="18" charset="0"/>
                  <a:ea typeface="宋体" panose="02010600030101010101" pitchFamily="2" charset="-122"/>
                </a:endParaRPr>
              </a:p>
              <a:p>
                <a:pPr algn="ctr">
                  <a:lnSpc>
                    <a:spcPct val="150000"/>
                  </a:lnSpc>
                </a:pPr>
                <a14:m>
                  <m:oMath xmlns:m="http://schemas.openxmlformats.org/officeDocument/2006/math">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zh-CN" altLang="en-US" sz="2400" i="1" kern="100">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latin typeface="Cambria Math" panose="02040503050406030204" pitchFamily="18" charset="0"/>
                            <a:ea typeface="宋体" panose="02010600030101010101" pitchFamily="2" charset="-122"/>
                          </a:rPr>
                          <m:t>1)</m:t>
                        </m:r>
                      </m:sup>
                    </m:sSup>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m:t>
                        </m:r>
                      </m:e>
                      <m:sup>
                        <m:r>
                          <a:rPr lang="en-US" altLang="zh-CN" sz="2400" i="1" kern="100">
                            <a:latin typeface="Cambria Math" panose="02040503050406030204" pitchFamily="18" charset="0"/>
                            <a:ea typeface="宋体" panose="02010600030101010101" pitchFamily="2" charset="-122"/>
                          </a:rPr>
                          <m:t>𝑇</m:t>
                        </m:r>
                      </m:sup>
                    </m:sSup>
                    <m:r>
                      <a:rPr lang="en-US" altLang="zh-CN" sz="2400" i="1" kern="100">
                        <a:latin typeface="Cambria Math" panose="02040503050406030204" pitchFamily="18" charset="0"/>
                        <a:ea typeface="宋体" panose="02010600030101010101" pitchFamily="2" charset="-122"/>
                      </a:rPr>
                      <m:t>𝐴</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en-US" altLang="zh-CN" sz="2400" i="1" kern="100">
                            <a:latin typeface="Cambria Math" panose="02040503050406030204" pitchFamily="18" charset="0"/>
                            <a:ea typeface="宋体" panose="02010600030101010101" pitchFamily="2" charset="-122"/>
                          </a:rPr>
                          <m:t>)</m:t>
                        </m:r>
                      </m:sup>
                    </m:sSup>
                    <m:r>
                      <a:rPr lang="en-US" altLang="zh-CN" sz="2400" i="1" kern="100">
                        <a:latin typeface="Cambria Math" panose="02040503050406030204" pitchFamily="18" charset="0"/>
                        <a:ea typeface="宋体" panose="02010600030101010101" pitchFamily="2" charset="-122"/>
                      </a:rPr>
                      <m:t>=</m:t>
                    </m:r>
                    <m:r>
                      <a:rPr lang="zh-CN" altLang="en-US" sz="2400" i="1" kern="100">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zh-CN" altLang="en-US" sz="2400" i="1" kern="100">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latin typeface="Cambria Math" panose="02040503050406030204" pitchFamily="18" charset="0"/>
                            <a:ea typeface="宋体" panose="02010600030101010101" pitchFamily="2" charset="-122"/>
                          </a:rPr>
                          <m:t>1)</m:t>
                        </m:r>
                      </m:sup>
                    </m:sSup>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m:t>
                        </m:r>
                      </m:e>
                      <m:sup>
                        <m:r>
                          <a:rPr lang="en-US" altLang="zh-CN" sz="2400" i="1" kern="100">
                            <a:latin typeface="Cambria Math" panose="02040503050406030204" pitchFamily="18" charset="0"/>
                            <a:ea typeface="宋体" panose="02010600030101010101" pitchFamily="2" charset="-122"/>
                          </a:rPr>
                          <m:t>𝑇</m:t>
                        </m:r>
                      </m:sup>
                    </m:sSup>
                    <m:r>
                      <a:rPr lang="en-US" altLang="zh-CN" sz="2400" i="1" kern="100">
                        <a:latin typeface="Cambria Math" panose="02040503050406030204" pitchFamily="18" charset="0"/>
                        <a:ea typeface="宋体" panose="02010600030101010101" pitchFamily="2" charset="-122"/>
                      </a:rPr>
                      <m:t>𝐴</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𝑔</m:t>
                        </m:r>
                      </m:e>
                      <m:sub>
                        <m:r>
                          <a:rPr lang="en-US" altLang="zh-CN" sz="2400" i="1" kern="100">
                            <a:latin typeface="Cambria Math" panose="02040503050406030204" pitchFamily="18" charset="0"/>
                            <a:ea typeface="宋体" panose="02010600030101010101" pitchFamily="2" charset="-122"/>
                          </a:rPr>
                          <m:t>𝑘</m:t>
                        </m:r>
                      </m:sub>
                    </m:sSub>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𝛽</m:t>
                        </m:r>
                      </m:e>
                      <m:sub>
                        <m:r>
                          <a:rPr lang="en-US" altLang="zh-CN" sz="2400" i="1" kern="100">
                            <a:latin typeface="Cambria Math" panose="02040503050406030204" pitchFamily="18" charset="0"/>
                            <a:ea typeface="宋体" panose="02010600030101010101" pitchFamily="2" charset="-122"/>
                          </a:rPr>
                          <m:t>𝑘</m:t>
                        </m:r>
                        <m:r>
                          <a:rPr lang="zh-CN" altLang="en-US" sz="2400" i="1" kern="100">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latin typeface="Cambria Math" panose="02040503050406030204" pitchFamily="18" charset="0"/>
                            <a:ea typeface="宋体" panose="02010600030101010101" pitchFamily="2" charset="-122"/>
                          </a:rPr>
                          <m:t>1</m:t>
                        </m:r>
                      </m:sub>
                    </m:sSub>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zh-CN" altLang="en-US" sz="2400" i="1" kern="100">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latin typeface="Cambria Math" panose="02040503050406030204" pitchFamily="18" charset="0"/>
                            <a:ea typeface="宋体" panose="02010600030101010101" pitchFamily="2" charset="-122"/>
                          </a:rPr>
                          <m:t>1)</m:t>
                        </m:r>
                      </m:sup>
                    </m:sSup>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m:t>
                        </m:r>
                      </m:e>
                      <m:sup>
                        <m:r>
                          <a:rPr lang="en-US" altLang="zh-CN" sz="2400" i="1" kern="100">
                            <a:latin typeface="Cambria Math" panose="02040503050406030204" pitchFamily="18" charset="0"/>
                            <a:ea typeface="宋体" panose="02010600030101010101" pitchFamily="2" charset="-122"/>
                          </a:rPr>
                          <m:t>𝑇</m:t>
                        </m:r>
                      </m:sup>
                    </m:sSup>
                    <m:r>
                      <a:rPr lang="en-US" altLang="zh-CN" sz="2400" i="1" kern="100">
                        <a:latin typeface="Cambria Math" panose="02040503050406030204" pitchFamily="18" charset="0"/>
                        <a:ea typeface="宋体" panose="02010600030101010101" pitchFamily="2" charset="-122"/>
                      </a:rPr>
                      <m:t>𝐴</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zh-CN" altLang="en-US" sz="2400" i="1" kern="100">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latin typeface="Cambria Math" panose="02040503050406030204" pitchFamily="18" charset="0"/>
                            <a:ea typeface="宋体" panose="02010600030101010101" pitchFamily="2" charset="-122"/>
                          </a:rPr>
                          <m:t>1)</m:t>
                        </m:r>
                      </m:sup>
                    </m:sSup>
                  </m:oMath>
                </a14:m>
                <a:r>
                  <a:rPr lang="en-US" altLang="zh-CN" sz="2400" kern="100" dirty="0">
                    <a:latin typeface="宋体" panose="02010600030101010101" pitchFamily="2" charset="-122"/>
                    <a:ea typeface="宋体" panose="02010600030101010101" pitchFamily="2" charset="-122"/>
                  </a:rPr>
                  <a:t>  </a:t>
                </a:r>
                <a:endParaRPr lang="zh-CN" altLang="zh-CN" sz="2400" kern="100" dirty="0">
                  <a:latin typeface="Times New Roman" panose="02020603050405020304" pitchFamily="18" charset="0"/>
                  <a:ea typeface="宋体" panose="02010600030101010101" pitchFamily="2" charset="-122"/>
                </a:endParaRPr>
              </a:p>
              <a:p>
                <a:pPr marL="456248" indent="-456248" algn="just">
                  <a:lnSpc>
                    <a:spcPct val="150000"/>
                  </a:lnSpc>
                </a:pPr>
                <a:r>
                  <a:rPr lang="zh-CN" altLang="en-US" sz="2400" kern="100" dirty="0">
                    <a:latin typeface="Times New Roman" panose="02020603050405020304" pitchFamily="18" charset="0"/>
                    <a:ea typeface="宋体" panose="02010600030101010101" pitchFamily="2" charset="-122"/>
                  </a:rPr>
                  <a:t>考虑到</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zh-CN" altLang="en-US" sz="2400" i="1" kern="100">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latin typeface="Cambria Math" panose="02040503050406030204" pitchFamily="18" charset="0"/>
                            <a:ea typeface="宋体" panose="02010600030101010101" pitchFamily="2" charset="-122"/>
                          </a:rPr>
                          <m:t>1)</m:t>
                        </m:r>
                      </m:sup>
                    </m:sSup>
                  </m:oMath>
                </a14:m>
                <a:r>
                  <a:rPr lang="zh-CN" altLang="zh-CN" sz="2400" kern="100" dirty="0">
                    <a:latin typeface="Times New Roman" panose="02020603050405020304" pitchFamily="18" charset="0"/>
                    <a:ea typeface="宋体" panose="02010600030101010101" pitchFamily="2" charset="-122"/>
                  </a:rPr>
                  <a:t>与</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en-US" altLang="zh-CN" sz="2400" i="1" kern="100">
                            <a:latin typeface="Cambria Math" panose="02040503050406030204" pitchFamily="18" charset="0"/>
                            <a:ea typeface="宋体" panose="02010600030101010101" pitchFamily="2" charset="-122"/>
                          </a:rPr>
                          <m:t>)</m:t>
                        </m:r>
                      </m:sup>
                    </m:sSup>
                  </m:oMath>
                </a14:m>
                <a:r>
                  <a:rPr lang="zh-CN" altLang="zh-CN" sz="2400" kern="100" dirty="0">
                    <a:latin typeface="Times New Roman" panose="02020603050405020304" pitchFamily="18" charset="0"/>
                    <a:ea typeface="宋体" panose="02010600030101010101" pitchFamily="2" charset="-122"/>
                  </a:rPr>
                  <a:t>关于</a:t>
                </a:r>
                <a14:m>
                  <m:oMath xmlns:m="http://schemas.openxmlformats.org/officeDocument/2006/math">
                    <m:r>
                      <a:rPr lang="en-US" altLang="zh-CN" sz="2400" i="1" kern="100">
                        <a:latin typeface="Cambria Math" panose="02040503050406030204" pitchFamily="18" charset="0"/>
                        <a:ea typeface="宋体" panose="02010600030101010101" pitchFamily="2" charset="-122"/>
                      </a:rPr>
                      <m:t>𝐴</m:t>
                    </m:r>
                  </m:oMath>
                </a14:m>
                <a:r>
                  <a:rPr lang="zh-CN" altLang="zh-CN" sz="2400" kern="100" dirty="0">
                    <a:latin typeface="Times New Roman" panose="02020603050405020304" pitchFamily="18" charset="0"/>
                    <a:ea typeface="宋体" panose="02010600030101010101" pitchFamily="2" charset="-122"/>
                  </a:rPr>
                  <a:t>共轭，令</a:t>
                </a:r>
              </a:p>
              <a:p>
                <a:pPr marL="456248" indent="-456248" algn="just">
                  <a:lnSpc>
                    <a:spcPct val="150000"/>
                  </a:lnSpc>
                </a:pPr>
                <a:r>
                  <a:rPr lang="en-US" altLang="zh-CN" sz="2400" kern="100" dirty="0">
                    <a:latin typeface="宋体" panose="02010600030101010101" pitchFamily="2" charset="-122"/>
                    <a:ea typeface="宋体" panose="02010600030101010101" pitchFamily="2" charset="-122"/>
                  </a:rPr>
                  <a:t>					</a:t>
                </a:r>
                <a14:m>
                  <m:oMath xmlns:m="http://schemas.openxmlformats.org/officeDocument/2006/math">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zh-CN" altLang="en-US" sz="2400" i="1" kern="100">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latin typeface="Cambria Math" panose="02040503050406030204" pitchFamily="18" charset="0"/>
                            <a:ea typeface="宋体" panose="02010600030101010101" pitchFamily="2" charset="-122"/>
                          </a:rPr>
                          <m:t>1)</m:t>
                        </m:r>
                      </m:sup>
                    </m:sSup>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m:t>
                        </m:r>
                      </m:e>
                      <m:sup>
                        <m:r>
                          <a:rPr lang="en-US" altLang="zh-CN" sz="2400" i="1" kern="100">
                            <a:latin typeface="Cambria Math" panose="02040503050406030204" pitchFamily="18" charset="0"/>
                            <a:ea typeface="宋体" panose="02010600030101010101" pitchFamily="2" charset="-122"/>
                          </a:rPr>
                          <m:t>𝑇</m:t>
                        </m:r>
                      </m:sup>
                    </m:sSup>
                    <m:r>
                      <a:rPr lang="en-US" altLang="zh-CN" sz="2400" i="1" kern="100">
                        <a:latin typeface="Cambria Math" panose="02040503050406030204" pitchFamily="18" charset="0"/>
                        <a:ea typeface="宋体" panose="02010600030101010101" pitchFamily="2" charset="-122"/>
                      </a:rPr>
                      <m:t>𝐴</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en-US" altLang="zh-CN" sz="2400" i="1" kern="100">
                            <a:latin typeface="Cambria Math" panose="02040503050406030204" pitchFamily="18" charset="0"/>
                            <a:ea typeface="宋体" panose="02010600030101010101" pitchFamily="2" charset="-122"/>
                          </a:rPr>
                          <m:t>)</m:t>
                        </m:r>
                      </m:sup>
                    </m:sSup>
                    <m:r>
                      <a:rPr lang="en-US" altLang="zh-CN" sz="2400" i="1" kern="100">
                        <a:latin typeface="Cambria Math" panose="02040503050406030204" pitchFamily="18" charset="0"/>
                        <a:ea typeface="宋体" panose="02010600030101010101" pitchFamily="2" charset="-122"/>
                      </a:rPr>
                      <m:t>=0</m:t>
                    </m:r>
                  </m:oMath>
                </a14:m>
                <a:endParaRPr lang="zh-CN" altLang="zh-CN" sz="2400" kern="100" dirty="0">
                  <a:latin typeface="Times New Roman" panose="02020603050405020304" pitchFamily="18" charset="0"/>
                  <a:ea typeface="宋体" panose="02010600030101010101" pitchFamily="2" charset="-122"/>
                </a:endParaRPr>
              </a:p>
              <a:p>
                <a:pPr marL="456248" indent="-456248" algn="just">
                  <a:lnSpc>
                    <a:spcPct val="150000"/>
                  </a:lnSpc>
                </a:pPr>
                <a:r>
                  <a:rPr lang="zh-CN" altLang="zh-CN" sz="2400" kern="100" dirty="0">
                    <a:latin typeface="Times New Roman" panose="02020603050405020304" pitchFamily="18" charset="0"/>
                    <a:ea typeface="宋体" panose="02010600030101010101" pitchFamily="2" charset="-122"/>
                  </a:rPr>
                  <a:t>则有</a:t>
                </a:r>
                <a:endParaRPr lang="en-US" altLang="zh-CN" sz="2400" kern="100" dirty="0">
                  <a:latin typeface="Times New Roman" panose="02020603050405020304" pitchFamily="18" charset="0"/>
                  <a:ea typeface="宋体" panose="02010600030101010101" pitchFamily="2" charset="-122"/>
                </a:endParaRPr>
              </a:p>
              <a:p>
                <a:pPr marL="456248" indent="-456248" algn="ctr">
                  <a:lnSpc>
                    <a:spcPct val="150000"/>
                  </a:lnSpc>
                </a:pPr>
                <a:r>
                  <a:rPr lang="en-US" altLang="zh-CN" sz="2400" kern="100" dirty="0">
                    <a:ea typeface="Cambria Math" panose="02040503050406030204" pitchFamily="18" charset="0"/>
                  </a:rPr>
                  <a:t>                             </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𝛽</m:t>
                        </m:r>
                      </m:e>
                      <m:sub>
                        <m:r>
                          <a:rPr lang="en-US" altLang="zh-CN" sz="2400" i="1" kern="100">
                            <a:latin typeface="Cambria Math" panose="02040503050406030204" pitchFamily="18" charset="0"/>
                            <a:ea typeface="宋体" panose="02010600030101010101" pitchFamily="2" charset="-122"/>
                          </a:rPr>
                          <m:t>𝑘</m:t>
                        </m:r>
                        <m:r>
                          <a:rPr lang="zh-CN" altLang="en-US" sz="2400" i="1" kern="100">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latin typeface="Cambria Math" panose="02040503050406030204" pitchFamily="18" charset="0"/>
                            <a:ea typeface="宋体" panose="02010600030101010101" pitchFamily="2" charset="-122"/>
                          </a:rPr>
                          <m:t>1</m:t>
                        </m:r>
                      </m:sub>
                    </m:sSub>
                    <m:r>
                      <a:rPr lang="en-US" altLang="zh-CN" sz="2400" i="1" kern="100">
                        <a:latin typeface="Cambria Math" panose="02040503050406030204" pitchFamily="18" charset="0"/>
                        <a:ea typeface="宋体" panose="02010600030101010101" pitchFamily="2" charset="-122"/>
                      </a:rPr>
                      <m:t>=</m:t>
                    </m:r>
                    <m:f>
                      <m:fPr>
                        <m:ctrlPr>
                          <a:rPr lang="zh-CN" altLang="zh-CN" sz="2400" i="1" kern="100">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zh-CN" altLang="en-US" sz="2400" i="1" kern="100">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latin typeface="Cambria Math" panose="02040503050406030204" pitchFamily="18" charset="0"/>
                                <a:ea typeface="宋体" panose="02010600030101010101" pitchFamily="2" charset="-122"/>
                              </a:rPr>
                              <m:t>1)</m:t>
                            </m:r>
                          </m:sup>
                        </m:sSup>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m:t>
                            </m:r>
                          </m:e>
                          <m:sup>
                            <m:r>
                              <a:rPr lang="en-US" altLang="zh-CN" sz="2400" i="1" kern="100">
                                <a:latin typeface="Cambria Math" panose="02040503050406030204" pitchFamily="18" charset="0"/>
                                <a:ea typeface="宋体" panose="02010600030101010101" pitchFamily="2" charset="-122"/>
                              </a:rPr>
                              <m:t>𝑇</m:t>
                            </m:r>
                          </m:sup>
                        </m:sSup>
                        <m:r>
                          <a:rPr lang="en-US" altLang="zh-CN" sz="2400" i="1" kern="100">
                            <a:latin typeface="Cambria Math" panose="02040503050406030204" pitchFamily="18" charset="0"/>
                            <a:ea typeface="宋体" panose="02010600030101010101" pitchFamily="2" charset="-122"/>
                          </a:rPr>
                          <m:t>𝐴</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𝑔</m:t>
                            </m:r>
                          </m:e>
                          <m:sub>
                            <m:r>
                              <a:rPr lang="en-US" altLang="zh-CN" sz="2400" i="1" kern="100">
                                <a:latin typeface="Cambria Math" panose="02040503050406030204" pitchFamily="18" charset="0"/>
                                <a:ea typeface="宋体" panose="02010600030101010101" pitchFamily="2" charset="-122"/>
                              </a:rPr>
                              <m:t>𝑘</m:t>
                            </m:r>
                          </m:sub>
                        </m:sSub>
                      </m:num>
                      <m:den>
                        <m:r>
                          <a:rPr lang="en-US" altLang="zh-CN" sz="2400" i="1"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zh-CN" altLang="en-US" sz="2400" i="1" kern="100">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latin typeface="Cambria Math" panose="02040503050406030204" pitchFamily="18" charset="0"/>
                                <a:ea typeface="宋体" panose="02010600030101010101" pitchFamily="2" charset="-122"/>
                              </a:rPr>
                              <m:t>1)</m:t>
                            </m:r>
                          </m:sup>
                        </m:sSup>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m:t>
                            </m:r>
                          </m:e>
                          <m:sup>
                            <m:r>
                              <a:rPr lang="en-US" altLang="zh-CN" sz="2400" i="1" kern="100">
                                <a:latin typeface="Cambria Math" panose="02040503050406030204" pitchFamily="18" charset="0"/>
                                <a:ea typeface="宋体" panose="02010600030101010101" pitchFamily="2" charset="-122"/>
                              </a:rPr>
                              <m:t>𝑇</m:t>
                            </m:r>
                          </m:sup>
                        </m:sSup>
                        <m:r>
                          <a:rPr lang="en-US" altLang="zh-CN" sz="2400" i="1" kern="100">
                            <a:latin typeface="Cambria Math" panose="02040503050406030204" pitchFamily="18" charset="0"/>
                            <a:ea typeface="宋体" panose="02010600030101010101" pitchFamily="2" charset="-122"/>
                          </a:rPr>
                          <m:t>𝐴</m:t>
                        </m:r>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𝑑</m:t>
                            </m:r>
                          </m:e>
                          <m:sup>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𝑘</m:t>
                            </m:r>
                            <m:r>
                              <a:rPr lang="zh-CN" altLang="en-US" sz="2400" i="1" kern="100">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latin typeface="Cambria Math" panose="02040503050406030204" pitchFamily="18" charset="0"/>
                                <a:ea typeface="宋体" panose="02010600030101010101" pitchFamily="2" charset="-122"/>
                              </a:rPr>
                              <m:t>1)</m:t>
                            </m:r>
                          </m:sup>
                        </m:sSup>
                      </m:den>
                    </m:f>
                  </m:oMath>
                </a14:m>
                <a:r>
                  <a:rPr lang="en-US" altLang="zh-CN" sz="2400" kern="100" dirty="0">
                    <a:latin typeface="宋体" panose="02010600030101010101" pitchFamily="2" charset="-122"/>
                    <a:ea typeface="宋体" panose="02010600030101010101" pitchFamily="2" charset="-122"/>
                  </a:rPr>
                  <a:t>		     	   </a:t>
                </a:r>
                <a:endParaRPr lang="zh-CN" altLang="zh-CN" sz="2400" kern="100" dirty="0">
                  <a:latin typeface="Times New Roman" panose="02020603050405020304" pitchFamily="18" charset="0"/>
                  <a:ea typeface="宋体" panose="02010600030101010101" pitchFamily="2" charset="-122"/>
                </a:endParaRPr>
              </a:p>
              <a:p>
                <a:pPr marL="456248" indent="-456248" algn="just">
                  <a:lnSpc>
                    <a:spcPct val="150000"/>
                  </a:lnSpc>
                </a:pPr>
                <a:r>
                  <a:rPr lang="zh-CN" altLang="zh-CN" sz="2400" kern="100" dirty="0">
                    <a:latin typeface="Times New Roman" panose="02020603050405020304" pitchFamily="18" charset="0"/>
                    <a:ea typeface="宋体" panose="02010600030101010101" pitchFamily="2" charset="-122"/>
                  </a:rPr>
                  <a:t>进一步推导可得</a:t>
                </a:r>
                <a:r>
                  <a:rPr lang="en-US" altLang="zh-CN" sz="2400" kern="100" dirty="0">
                    <a:latin typeface="Times New Roman" panose="02020603050405020304" pitchFamily="18" charset="0"/>
                    <a:ea typeface="宋体" panose="02010600030101010101" pitchFamily="2" charset="-122"/>
                  </a:rPr>
                  <a:t> (</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rPr>
                          <m:t>𝑔</m:t>
                        </m:r>
                      </m:e>
                      <m:sub>
                        <m:r>
                          <a:rPr lang="en-US" altLang="zh-CN" sz="2400" i="1" kern="100">
                            <a:latin typeface="Cambria Math" panose="02040503050406030204" pitchFamily="18" charset="0"/>
                          </a:rPr>
                          <m:t>𝑘</m:t>
                        </m:r>
                      </m:sub>
                    </m:sSub>
                    <m:r>
                      <a:rPr lang="en-US" altLang="zh-CN" sz="2400" b="0" i="1" kern="100" smtClean="0">
                        <a:latin typeface="Cambria Math" panose="02040503050406030204" pitchFamily="18" charset="0"/>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rPr>
                          <m:t>𝑔</m:t>
                        </m:r>
                      </m:e>
                      <m:sub>
                        <m:r>
                          <a:rPr lang="en-US" altLang="zh-CN" sz="2400" i="1" kern="100">
                            <a:latin typeface="Cambria Math" panose="02040503050406030204" pitchFamily="18" charset="0"/>
                          </a:rPr>
                          <m:t>𝑘</m:t>
                        </m:r>
                        <m:r>
                          <a:rPr lang="en-US" altLang="zh-CN" sz="2400" b="0" i="1" kern="100" smtClean="0">
                            <a:latin typeface="Cambria Math" panose="02040503050406030204" pitchFamily="18" charset="0"/>
                          </a:rPr>
                          <m:t>−1</m:t>
                        </m:r>
                      </m:sub>
                    </m:sSub>
                    <m:r>
                      <a:rPr lang="en-US" altLang="zh-CN" sz="2400" i="1" kern="100">
                        <a:latin typeface="Cambria Math" panose="02040503050406030204" pitchFamily="18" charset="0"/>
                      </a:rPr>
                      <m:t>+</m:t>
                    </m:r>
                    <m:sSub>
                      <m:sSubPr>
                        <m:ctrlPr>
                          <a:rPr lang="en-US" altLang="zh-CN" sz="2400" b="0" i="1" kern="100" smtClean="0">
                            <a:latin typeface="Cambria Math" panose="02040503050406030204" pitchFamily="18" charset="0"/>
                          </a:rPr>
                        </m:ctrlPr>
                      </m:sSubPr>
                      <m:e>
                        <m:r>
                          <m:rPr>
                            <m:sty m:val="p"/>
                          </m:rPr>
                          <a:rPr lang="en-US" altLang="zh-CN" sz="2400" b="0" i="1" kern="100" smtClean="0">
                            <a:latin typeface="Cambria Math" panose="02040503050406030204" pitchFamily="18" charset="0"/>
                          </a:rPr>
                          <m:t>λ</m:t>
                        </m:r>
                      </m:e>
                      <m:sub>
                        <m:r>
                          <a:rPr lang="en-US" altLang="zh-CN" sz="2400" b="0" i="1" kern="100" smtClean="0">
                            <a:latin typeface="Cambria Math" panose="02040503050406030204" pitchFamily="18" charset="0"/>
                          </a:rPr>
                          <m:t>𝑘</m:t>
                        </m:r>
                        <m:r>
                          <a:rPr lang="en-US" altLang="zh-CN" sz="2400" b="0" i="1" kern="100" smtClean="0">
                            <a:latin typeface="Cambria Math" panose="02040503050406030204" pitchFamily="18" charset="0"/>
                          </a:rPr>
                          <m:t>−1</m:t>
                        </m:r>
                      </m:sub>
                    </m:sSub>
                    <m:r>
                      <a:rPr lang="en-US" altLang="zh-CN" sz="2400" b="0" i="1" kern="100" smtClean="0">
                        <a:latin typeface="Cambria Math" panose="02040503050406030204" pitchFamily="18" charset="0"/>
                      </a:rPr>
                      <m:t>𝐴</m:t>
                    </m:r>
                    <m:sSup>
                      <m:sSupPr>
                        <m:ctrlPr>
                          <a:rPr lang="en-US" altLang="zh-CN" sz="2400" b="0" i="1" kern="100" smtClean="0">
                            <a:latin typeface="Cambria Math" panose="02040503050406030204" pitchFamily="18" charset="0"/>
                          </a:rPr>
                        </m:ctrlPr>
                      </m:sSupPr>
                      <m:e>
                        <m:r>
                          <a:rPr lang="en-US" altLang="zh-CN" sz="2400" b="0" i="1" kern="100" smtClean="0">
                            <a:latin typeface="Cambria Math" panose="02040503050406030204" pitchFamily="18" charset="0"/>
                          </a:rPr>
                          <m:t>𝑑</m:t>
                        </m:r>
                      </m:e>
                      <m:sup>
                        <m:r>
                          <a:rPr lang="en-US" altLang="zh-CN" sz="2400" b="0" i="1" kern="100" smtClean="0">
                            <a:latin typeface="Cambria Math" panose="02040503050406030204" pitchFamily="18" charset="0"/>
                          </a:rPr>
                          <m:t>(</m:t>
                        </m:r>
                        <m:r>
                          <a:rPr lang="en-US" altLang="zh-CN" sz="2400" b="0" i="1" kern="100" smtClean="0">
                            <a:latin typeface="Cambria Math" panose="02040503050406030204" pitchFamily="18" charset="0"/>
                          </a:rPr>
                          <m:t>𝑘</m:t>
                        </m:r>
                        <m:r>
                          <a:rPr lang="en-US" altLang="zh-CN" sz="2400" b="0" i="1" kern="100" smtClean="0">
                            <a:latin typeface="Cambria Math" panose="02040503050406030204" pitchFamily="18" charset="0"/>
                          </a:rPr>
                          <m:t>−1)</m:t>
                        </m:r>
                      </m:sup>
                    </m:sSup>
                  </m:oMath>
                </a14:m>
                <a:r>
                  <a:rPr lang="en-US" altLang="zh-CN" sz="2400" kern="100" dirty="0">
                    <a:latin typeface="Times New Roman" panose="02020603050405020304" pitchFamily="18" charset="0"/>
                    <a:ea typeface="宋体" panose="02010600030101010101" pitchFamily="2" charset="-122"/>
                  </a:rPr>
                  <a:t>)</a:t>
                </a:r>
                <a:r>
                  <a:rPr lang="zh-CN" altLang="zh-CN" sz="2400" kern="100" dirty="0">
                    <a:latin typeface="Times New Roman" panose="02020603050405020304" pitchFamily="18" charset="0"/>
                    <a:ea typeface="宋体" panose="02010600030101010101" pitchFamily="2" charset="-122"/>
                  </a:rPr>
                  <a:t>：</a:t>
                </a:r>
              </a:p>
              <a:p>
                <a:pPr marL="456248" indent="-456248" algn="just">
                  <a:lnSpc>
                    <a:spcPct val="150000"/>
                  </a:lnSpc>
                </a:pPr>
                <a:r>
                  <a:rPr lang="en-US" altLang="zh-CN" sz="2400" kern="100" dirty="0">
                    <a:latin typeface="宋体" panose="02010600030101010101" pitchFamily="2" charset="-122"/>
                    <a:ea typeface="宋体" panose="02010600030101010101" pitchFamily="2" charset="-122"/>
                  </a:rPr>
                  <a:t>				</a:t>
                </a:r>
                <a14:m>
                  <m:oMath xmlns:m="http://schemas.openxmlformats.org/officeDocument/2006/math">
                    <m:sSub>
                      <m:sSubPr>
                        <m:ctrlPr>
                          <a:rPr lang="zh-CN" altLang="zh-CN" sz="2400" i="1" kern="100">
                            <a:solidFill>
                              <a:srgbClr val="FF0000"/>
                            </a:solidFill>
                            <a:latin typeface="Cambria Math" panose="02040503050406030204" pitchFamily="18" charset="0"/>
                            <a:ea typeface="Cambria Math" panose="02040503050406030204" pitchFamily="18" charset="0"/>
                          </a:rPr>
                        </m:ctrlPr>
                      </m:sSubPr>
                      <m:e>
                        <m:r>
                          <a:rPr lang="en-US" altLang="zh-CN" sz="2400" i="1" kern="100">
                            <a:solidFill>
                              <a:srgbClr val="FF0000"/>
                            </a:solidFill>
                            <a:latin typeface="Cambria Math" panose="02040503050406030204" pitchFamily="18" charset="0"/>
                            <a:ea typeface="宋体" panose="02010600030101010101" pitchFamily="2" charset="-122"/>
                          </a:rPr>
                          <m:t>𝛽</m:t>
                        </m:r>
                      </m:e>
                      <m:sub>
                        <m:r>
                          <a:rPr lang="en-US" altLang="zh-CN" sz="2400" i="1" kern="100">
                            <a:solidFill>
                              <a:srgbClr val="FF0000"/>
                            </a:solidFill>
                            <a:latin typeface="Cambria Math" panose="02040503050406030204" pitchFamily="18" charset="0"/>
                            <a:ea typeface="宋体" panose="02010600030101010101" pitchFamily="2" charset="-122"/>
                          </a:rPr>
                          <m:t>𝑘</m:t>
                        </m:r>
                        <m:r>
                          <a:rPr lang="zh-CN" altLang="en-US" sz="2400" i="1" kern="100">
                            <a:solidFill>
                              <a:srgbClr val="FF0000"/>
                            </a:solidFill>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solidFill>
                              <a:srgbClr val="FF0000"/>
                            </a:solidFill>
                            <a:latin typeface="Cambria Math" panose="02040503050406030204" pitchFamily="18" charset="0"/>
                            <a:ea typeface="宋体" panose="02010600030101010101" pitchFamily="2" charset="-122"/>
                          </a:rPr>
                          <m:t>1</m:t>
                        </m:r>
                      </m:sub>
                    </m:sSub>
                    <m:r>
                      <a:rPr lang="en-US" altLang="zh-CN" sz="2400" i="1" kern="100">
                        <a:solidFill>
                          <a:srgbClr val="FF0000"/>
                        </a:solidFill>
                        <a:latin typeface="Cambria Math" panose="02040503050406030204" pitchFamily="18" charset="0"/>
                        <a:ea typeface="宋体" panose="02010600030101010101" pitchFamily="2" charset="-122"/>
                      </a:rPr>
                      <m:t>=</m:t>
                    </m:r>
                    <m:f>
                      <m:fPr>
                        <m:ctrlPr>
                          <a:rPr lang="zh-CN" altLang="zh-CN" sz="2400" i="1" kern="100">
                            <a:solidFill>
                              <a:srgbClr val="FF0000"/>
                            </a:solidFill>
                            <a:latin typeface="Cambria Math" panose="02040503050406030204" pitchFamily="18" charset="0"/>
                            <a:ea typeface="Cambria Math" panose="02040503050406030204" pitchFamily="18" charset="0"/>
                          </a:rPr>
                        </m:ctrlPr>
                      </m:fPr>
                      <m:num>
                        <m:r>
                          <a:rPr lang="en-US" altLang="zh-CN" sz="2400" i="1" kern="100">
                            <a:solidFill>
                              <a:srgbClr val="FF0000"/>
                            </a:solidFill>
                            <a:latin typeface="Cambria Math" panose="02040503050406030204" pitchFamily="18" charset="0"/>
                            <a:ea typeface="宋体" panose="02010600030101010101" pitchFamily="2" charset="-122"/>
                          </a:rPr>
                          <m:t>(</m:t>
                        </m:r>
                        <m:sSub>
                          <m:sSubPr>
                            <m:ctrlPr>
                              <a:rPr lang="zh-CN" altLang="zh-CN" sz="2400" i="1" kern="100">
                                <a:solidFill>
                                  <a:srgbClr val="FF0000"/>
                                </a:solidFill>
                                <a:latin typeface="Cambria Math" panose="02040503050406030204" pitchFamily="18" charset="0"/>
                                <a:ea typeface="Cambria Math" panose="02040503050406030204" pitchFamily="18" charset="0"/>
                              </a:rPr>
                            </m:ctrlPr>
                          </m:sSubPr>
                          <m:e>
                            <m:r>
                              <a:rPr lang="en-US" altLang="zh-CN" sz="2400" i="1" kern="100">
                                <a:solidFill>
                                  <a:srgbClr val="FF0000"/>
                                </a:solidFill>
                                <a:latin typeface="Cambria Math" panose="02040503050406030204" pitchFamily="18" charset="0"/>
                                <a:ea typeface="宋体" panose="02010600030101010101" pitchFamily="2" charset="-122"/>
                              </a:rPr>
                              <m:t>𝑔</m:t>
                            </m:r>
                          </m:e>
                          <m:sub>
                            <m:r>
                              <a:rPr lang="en-US" altLang="zh-CN" sz="2400" i="1" kern="100">
                                <a:solidFill>
                                  <a:srgbClr val="FF0000"/>
                                </a:solidFill>
                                <a:latin typeface="Cambria Math" panose="02040503050406030204" pitchFamily="18" charset="0"/>
                                <a:ea typeface="宋体" panose="02010600030101010101" pitchFamily="2" charset="-122"/>
                              </a:rPr>
                              <m:t>𝑘</m:t>
                            </m:r>
                          </m:sub>
                        </m:sSub>
                        <m:sSup>
                          <m:sSupPr>
                            <m:ctrlPr>
                              <a:rPr lang="zh-CN" altLang="zh-CN" sz="2400" i="1" kern="100">
                                <a:solidFill>
                                  <a:srgbClr val="FF0000"/>
                                </a:solidFill>
                                <a:latin typeface="Cambria Math" panose="02040503050406030204" pitchFamily="18" charset="0"/>
                                <a:ea typeface="Cambria Math" panose="02040503050406030204" pitchFamily="18" charset="0"/>
                              </a:rPr>
                            </m:ctrlPr>
                          </m:sSupPr>
                          <m:e>
                            <m:r>
                              <a:rPr lang="en-US" altLang="zh-CN" sz="2400" i="1" kern="100">
                                <a:solidFill>
                                  <a:srgbClr val="FF0000"/>
                                </a:solidFill>
                                <a:latin typeface="Cambria Math" panose="02040503050406030204" pitchFamily="18" charset="0"/>
                                <a:ea typeface="宋体" panose="02010600030101010101" pitchFamily="2" charset="-122"/>
                              </a:rPr>
                              <m:t>)</m:t>
                            </m:r>
                          </m:e>
                          <m:sup>
                            <m:r>
                              <a:rPr lang="en-US" altLang="zh-CN" sz="2400" i="1" kern="100">
                                <a:solidFill>
                                  <a:srgbClr val="FF0000"/>
                                </a:solidFill>
                                <a:latin typeface="Cambria Math" panose="02040503050406030204" pitchFamily="18" charset="0"/>
                                <a:ea typeface="宋体" panose="02010600030101010101" pitchFamily="2" charset="-122"/>
                              </a:rPr>
                              <m:t>𝑇</m:t>
                            </m:r>
                          </m:sup>
                        </m:sSup>
                        <m:sSub>
                          <m:sSubPr>
                            <m:ctrlPr>
                              <a:rPr lang="zh-CN" altLang="zh-CN" sz="2400" i="1" kern="100">
                                <a:solidFill>
                                  <a:srgbClr val="FF0000"/>
                                </a:solidFill>
                                <a:latin typeface="Cambria Math" panose="02040503050406030204" pitchFamily="18" charset="0"/>
                                <a:ea typeface="Cambria Math" panose="02040503050406030204" pitchFamily="18" charset="0"/>
                              </a:rPr>
                            </m:ctrlPr>
                          </m:sSubPr>
                          <m:e>
                            <m:r>
                              <a:rPr lang="en-US" altLang="zh-CN" sz="2400" i="1" kern="100">
                                <a:solidFill>
                                  <a:srgbClr val="FF0000"/>
                                </a:solidFill>
                                <a:latin typeface="Cambria Math" panose="02040503050406030204" pitchFamily="18" charset="0"/>
                                <a:ea typeface="宋体" panose="02010600030101010101" pitchFamily="2" charset="-122"/>
                              </a:rPr>
                              <m:t>𝑔</m:t>
                            </m:r>
                          </m:e>
                          <m:sub>
                            <m:r>
                              <a:rPr lang="en-US" altLang="zh-CN" sz="2400" i="1" kern="100">
                                <a:solidFill>
                                  <a:srgbClr val="FF0000"/>
                                </a:solidFill>
                                <a:latin typeface="Cambria Math" panose="02040503050406030204" pitchFamily="18" charset="0"/>
                                <a:ea typeface="宋体" panose="02010600030101010101" pitchFamily="2" charset="-122"/>
                              </a:rPr>
                              <m:t>𝑘</m:t>
                            </m:r>
                          </m:sub>
                        </m:sSub>
                      </m:num>
                      <m:den>
                        <m:r>
                          <a:rPr lang="en-US" altLang="zh-CN" sz="2400" i="1" kern="100">
                            <a:solidFill>
                              <a:srgbClr val="FF0000"/>
                            </a:solidFill>
                            <a:latin typeface="Cambria Math" panose="02040503050406030204" pitchFamily="18" charset="0"/>
                            <a:ea typeface="宋体" panose="02010600030101010101" pitchFamily="2" charset="-122"/>
                          </a:rPr>
                          <m:t>(</m:t>
                        </m:r>
                        <m:sSub>
                          <m:sSubPr>
                            <m:ctrlPr>
                              <a:rPr lang="zh-CN" altLang="zh-CN" sz="2400" i="1" kern="100">
                                <a:solidFill>
                                  <a:srgbClr val="FF0000"/>
                                </a:solidFill>
                                <a:latin typeface="Cambria Math" panose="02040503050406030204" pitchFamily="18" charset="0"/>
                                <a:ea typeface="Cambria Math" panose="02040503050406030204" pitchFamily="18" charset="0"/>
                              </a:rPr>
                            </m:ctrlPr>
                          </m:sSubPr>
                          <m:e>
                            <m:r>
                              <a:rPr lang="en-US" altLang="zh-CN" sz="2400" i="1" kern="100">
                                <a:solidFill>
                                  <a:srgbClr val="FF0000"/>
                                </a:solidFill>
                                <a:latin typeface="Cambria Math" panose="02040503050406030204" pitchFamily="18" charset="0"/>
                                <a:ea typeface="宋体" panose="02010600030101010101" pitchFamily="2" charset="-122"/>
                              </a:rPr>
                              <m:t>𝑔</m:t>
                            </m:r>
                          </m:e>
                          <m:sub>
                            <m:r>
                              <a:rPr lang="en-US" altLang="zh-CN" sz="2400" i="1" kern="100">
                                <a:solidFill>
                                  <a:srgbClr val="FF0000"/>
                                </a:solidFill>
                                <a:latin typeface="Cambria Math" panose="02040503050406030204" pitchFamily="18" charset="0"/>
                                <a:ea typeface="宋体" panose="02010600030101010101" pitchFamily="2" charset="-122"/>
                              </a:rPr>
                              <m:t>𝑘</m:t>
                            </m:r>
                            <m:r>
                              <a:rPr lang="zh-CN" altLang="en-US" sz="2400" i="1" kern="100">
                                <a:solidFill>
                                  <a:srgbClr val="FF0000"/>
                                </a:solidFill>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solidFill>
                                  <a:srgbClr val="FF0000"/>
                                </a:solidFill>
                                <a:latin typeface="Cambria Math" panose="02040503050406030204" pitchFamily="18" charset="0"/>
                                <a:ea typeface="宋体" panose="02010600030101010101" pitchFamily="2" charset="-122"/>
                              </a:rPr>
                              <m:t>1</m:t>
                            </m:r>
                          </m:sub>
                        </m:sSub>
                        <m:sSup>
                          <m:sSupPr>
                            <m:ctrlPr>
                              <a:rPr lang="zh-CN" altLang="zh-CN" sz="2400" i="1" kern="100">
                                <a:solidFill>
                                  <a:srgbClr val="FF0000"/>
                                </a:solidFill>
                                <a:latin typeface="Cambria Math" panose="02040503050406030204" pitchFamily="18" charset="0"/>
                                <a:ea typeface="Cambria Math" panose="02040503050406030204" pitchFamily="18" charset="0"/>
                              </a:rPr>
                            </m:ctrlPr>
                          </m:sSupPr>
                          <m:e>
                            <m:r>
                              <a:rPr lang="en-US" altLang="zh-CN" sz="2400" i="1" kern="100">
                                <a:solidFill>
                                  <a:srgbClr val="FF0000"/>
                                </a:solidFill>
                                <a:latin typeface="Cambria Math" panose="02040503050406030204" pitchFamily="18" charset="0"/>
                                <a:ea typeface="宋体" panose="02010600030101010101" pitchFamily="2" charset="-122"/>
                              </a:rPr>
                              <m:t>)</m:t>
                            </m:r>
                          </m:e>
                          <m:sup>
                            <m:r>
                              <a:rPr lang="en-US" altLang="zh-CN" sz="2400" i="1" kern="100">
                                <a:solidFill>
                                  <a:srgbClr val="FF0000"/>
                                </a:solidFill>
                                <a:latin typeface="Cambria Math" panose="02040503050406030204" pitchFamily="18" charset="0"/>
                                <a:ea typeface="宋体" panose="02010600030101010101" pitchFamily="2" charset="-122"/>
                              </a:rPr>
                              <m:t>𝑇</m:t>
                            </m:r>
                          </m:sup>
                        </m:sSup>
                        <m:sSub>
                          <m:sSubPr>
                            <m:ctrlPr>
                              <a:rPr lang="zh-CN" altLang="zh-CN" sz="2400" i="1" kern="100">
                                <a:solidFill>
                                  <a:srgbClr val="FF0000"/>
                                </a:solidFill>
                                <a:latin typeface="Cambria Math" panose="02040503050406030204" pitchFamily="18" charset="0"/>
                                <a:ea typeface="Cambria Math" panose="02040503050406030204" pitchFamily="18" charset="0"/>
                              </a:rPr>
                            </m:ctrlPr>
                          </m:sSubPr>
                          <m:e>
                            <m:r>
                              <a:rPr lang="en-US" altLang="zh-CN" sz="2400" i="1" kern="100">
                                <a:solidFill>
                                  <a:srgbClr val="FF0000"/>
                                </a:solidFill>
                                <a:latin typeface="Cambria Math" panose="02040503050406030204" pitchFamily="18" charset="0"/>
                                <a:ea typeface="宋体" panose="02010600030101010101" pitchFamily="2" charset="-122"/>
                              </a:rPr>
                              <m:t>𝑔</m:t>
                            </m:r>
                          </m:e>
                          <m:sub>
                            <m:r>
                              <a:rPr lang="en-US" altLang="zh-CN" sz="2400" i="1" kern="100">
                                <a:solidFill>
                                  <a:srgbClr val="FF0000"/>
                                </a:solidFill>
                                <a:latin typeface="Cambria Math" panose="02040503050406030204" pitchFamily="18" charset="0"/>
                                <a:ea typeface="宋体" panose="02010600030101010101" pitchFamily="2" charset="-122"/>
                              </a:rPr>
                              <m:t>𝑘</m:t>
                            </m:r>
                            <m:r>
                              <a:rPr lang="zh-CN" altLang="en-US" sz="2400" i="1" kern="100">
                                <a:solidFill>
                                  <a:srgbClr val="FF0000"/>
                                </a:solidFill>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solidFill>
                                  <a:srgbClr val="FF0000"/>
                                </a:solidFill>
                                <a:latin typeface="Cambria Math" panose="02040503050406030204" pitchFamily="18" charset="0"/>
                                <a:ea typeface="宋体" panose="02010600030101010101" pitchFamily="2" charset="-122"/>
                              </a:rPr>
                              <m:t>1</m:t>
                            </m:r>
                          </m:sub>
                        </m:sSub>
                      </m:den>
                    </m:f>
                    <m:r>
                      <a:rPr lang="en-US" altLang="zh-CN" sz="2400" i="1" kern="100">
                        <a:solidFill>
                          <a:srgbClr val="FF0000"/>
                        </a:solidFill>
                        <a:latin typeface="Cambria Math" panose="02040503050406030204" pitchFamily="18" charset="0"/>
                        <a:ea typeface="宋体" panose="02010600030101010101" pitchFamily="2" charset="-122"/>
                      </a:rPr>
                      <m:t>=</m:t>
                    </m:r>
                    <m:f>
                      <m:fPr>
                        <m:ctrlPr>
                          <a:rPr lang="zh-CN" altLang="zh-CN" sz="2400" i="1" kern="100">
                            <a:solidFill>
                              <a:srgbClr val="FF0000"/>
                            </a:solidFill>
                            <a:latin typeface="Cambria Math" panose="02040503050406030204" pitchFamily="18" charset="0"/>
                            <a:ea typeface="Cambria Math" panose="02040503050406030204" pitchFamily="18" charset="0"/>
                          </a:rPr>
                        </m:ctrlPr>
                      </m:fPr>
                      <m:num>
                        <m:sSubSup>
                          <m:sSubSupPr>
                            <m:ctrlPr>
                              <a:rPr lang="en-US" altLang="zh-CN" sz="2400" i="1" kern="100">
                                <a:solidFill>
                                  <a:srgbClr val="FF0000"/>
                                </a:solidFill>
                                <a:latin typeface="Cambria Math" panose="02040503050406030204" pitchFamily="18" charset="0"/>
                                <a:ea typeface="宋体" panose="02010600030101010101" pitchFamily="2" charset="-122"/>
                              </a:rPr>
                            </m:ctrlPr>
                          </m:sSubSupPr>
                          <m:e>
                            <m:d>
                              <m:dPr>
                                <m:begChr m:val="‖"/>
                                <m:endChr m:val="‖"/>
                                <m:ctrlPr>
                                  <a:rPr lang="zh-CN" altLang="zh-CN" sz="2400" i="1" kern="100">
                                    <a:solidFill>
                                      <a:srgbClr val="FF0000"/>
                                    </a:solidFill>
                                    <a:latin typeface="Cambria Math" panose="02040503050406030204" pitchFamily="18" charset="0"/>
                                    <a:ea typeface="Cambria Math" panose="02040503050406030204" pitchFamily="18" charset="0"/>
                                  </a:rPr>
                                </m:ctrlPr>
                              </m:dPr>
                              <m:e>
                                <m:sSub>
                                  <m:sSubPr>
                                    <m:ctrlPr>
                                      <a:rPr lang="zh-CN" altLang="zh-CN" sz="2400" i="1" kern="100">
                                        <a:solidFill>
                                          <a:srgbClr val="FF0000"/>
                                        </a:solidFill>
                                        <a:latin typeface="Cambria Math" panose="02040503050406030204" pitchFamily="18" charset="0"/>
                                        <a:ea typeface="Cambria Math" panose="02040503050406030204" pitchFamily="18" charset="0"/>
                                      </a:rPr>
                                    </m:ctrlPr>
                                  </m:sSubPr>
                                  <m:e>
                                    <m:r>
                                      <a:rPr lang="en-US" altLang="zh-CN" sz="2400" i="1" kern="100">
                                        <a:solidFill>
                                          <a:srgbClr val="FF0000"/>
                                        </a:solidFill>
                                        <a:latin typeface="Cambria Math" panose="02040503050406030204" pitchFamily="18" charset="0"/>
                                        <a:ea typeface="宋体" panose="02010600030101010101" pitchFamily="2" charset="-122"/>
                                      </a:rPr>
                                      <m:t>𝑔</m:t>
                                    </m:r>
                                  </m:e>
                                  <m:sub>
                                    <m:r>
                                      <a:rPr lang="en-US" altLang="zh-CN" sz="2400" i="1" kern="100">
                                        <a:solidFill>
                                          <a:srgbClr val="FF0000"/>
                                        </a:solidFill>
                                        <a:latin typeface="Cambria Math" panose="02040503050406030204" pitchFamily="18" charset="0"/>
                                        <a:ea typeface="宋体" panose="02010600030101010101" pitchFamily="2" charset="-122"/>
                                      </a:rPr>
                                      <m:t>𝑘</m:t>
                                    </m:r>
                                  </m:sub>
                                </m:sSub>
                              </m:e>
                            </m:d>
                          </m:e>
                          <m:sub>
                            <m:r>
                              <a:rPr lang="en-US" altLang="zh-CN" sz="2400" i="1" kern="100">
                                <a:solidFill>
                                  <a:srgbClr val="FF0000"/>
                                </a:solidFill>
                                <a:latin typeface="Cambria Math" panose="02040503050406030204" pitchFamily="18" charset="0"/>
                                <a:ea typeface="宋体" panose="02010600030101010101" pitchFamily="2" charset="-122"/>
                              </a:rPr>
                              <m:t>2</m:t>
                            </m:r>
                          </m:sub>
                          <m:sup>
                            <m:r>
                              <a:rPr lang="en-US" altLang="zh-CN" sz="2400" i="1" kern="100">
                                <a:solidFill>
                                  <a:srgbClr val="FF0000"/>
                                </a:solidFill>
                                <a:latin typeface="Cambria Math" panose="02040503050406030204" pitchFamily="18" charset="0"/>
                                <a:ea typeface="宋体" panose="02010600030101010101" pitchFamily="2" charset="-122"/>
                              </a:rPr>
                              <m:t>2</m:t>
                            </m:r>
                          </m:sup>
                        </m:sSubSup>
                      </m:num>
                      <m:den>
                        <m:sSubSup>
                          <m:sSubSupPr>
                            <m:ctrlPr>
                              <a:rPr lang="en-US" altLang="zh-CN" sz="2400" i="1" kern="100">
                                <a:solidFill>
                                  <a:srgbClr val="FF0000"/>
                                </a:solidFill>
                                <a:latin typeface="Cambria Math" panose="02040503050406030204" pitchFamily="18" charset="0"/>
                                <a:ea typeface="宋体" panose="02010600030101010101" pitchFamily="2" charset="-122"/>
                              </a:rPr>
                            </m:ctrlPr>
                          </m:sSubSupPr>
                          <m:e>
                            <m:d>
                              <m:dPr>
                                <m:begChr m:val="‖"/>
                                <m:endChr m:val="‖"/>
                                <m:ctrlPr>
                                  <a:rPr lang="zh-CN" altLang="zh-CN" sz="2400" i="1" kern="100">
                                    <a:solidFill>
                                      <a:srgbClr val="FF0000"/>
                                    </a:solidFill>
                                    <a:latin typeface="Cambria Math" panose="02040503050406030204" pitchFamily="18" charset="0"/>
                                    <a:ea typeface="Cambria Math" panose="02040503050406030204" pitchFamily="18" charset="0"/>
                                  </a:rPr>
                                </m:ctrlPr>
                              </m:dPr>
                              <m:e>
                                <m:sSub>
                                  <m:sSubPr>
                                    <m:ctrlPr>
                                      <a:rPr lang="zh-CN" altLang="zh-CN" sz="2400" i="1" kern="100">
                                        <a:solidFill>
                                          <a:srgbClr val="FF0000"/>
                                        </a:solidFill>
                                        <a:latin typeface="Cambria Math" panose="02040503050406030204" pitchFamily="18" charset="0"/>
                                        <a:ea typeface="Cambria Math" panose="02040503050406030204" pitchFamily="18" charset="0"/>
                                      </a:rPr>
                                    </m:ctrlPr>
                                  </m:sSubPr>
                                  <m:e>
                                    <m:r>
                                      <a:rPr lang="en-US" altLang="zh-CN" sz="2400" i="1" kern="100">
                                        <a:solidFill>
                                          <a:srgbClr val="FF0000"/>
                                        </a:solidFill>
                                        <a:latin typeface="Cambria Math" panose="02040503050406030204" pitchFamily="18" charset="0"/>
                                        <a:ea typeface="宋体" panose="02010600030101010101" pitchFamily="2" charset="-122"/>
                                      </a:rPr>
                                      <m:t>𝑔</m:t>
                                    </m:r>
                                  </m:e>
                                  <m:sub>
                                    <m:r>
                                      <a:rPr lang="en-US" altLang="zh-CN" sz="2400" i="1" kern="100">
                                        <a:solidFill>
                                          <a:srgbClr val="FF0000"/>
                                        </a:solidFill>
                                        <a:latin typeface="Cambria Math" panose="02040503050406030204" pitchFamily="18" charset="0"/>
                                        <a:ea typeface="宋体" panose="02010600030101010101" pitchFamily="2" charset="-122"/>
                                      </a:rPr>
                                      <m:t>𝑘</m:t>
                                    </m:r>
                                    <m:r>
                                      <a:rPr lang="en-US" altLang="zh-CN" sz="2400" i="1" kern="100">
                                        <a:solidFill>
                                          <a:srgbClr val="FF0000"/>
                                        </a:solidFill>
                                        <a:latin typeface="Cambria Math" panose="02040503050406030204" pitchFamily="18" charset="0"/>
                                        <a:ea typeface="宋体" panose="02010600030101010101" pitchFamily="2" charset="-122"/>
                                      </a:rPr>
                                      <m:t>−1</m:t>
                                    </m:r>
                                  </m:sub>
                                </m:sSub>
                              </m:e>
                            </m:d>
                          </m:e>
                          <m:sub>
                            <m:r>
                              <a:rPr lang="en-US" altLang="zh-CN" sz="2400" i="1" kern="100">
                                <a:solidFill>
                                  <a:srgbClr val="FF0000"/>
                                </a:solidFill>
                                <a:latin typeface="Cambria Math" panose="02040503050406030204" pitchFamily="18" charset="0"/>
                                <a:ea typeface="宋体" panose="02010600030101010101" pitchFamily="2" charset="-122"/>
                              </a:rPr>
                              <m:t>2</m:t>
                            </m:r>
                          </m:sub>
                          <m:sup>
                            <m:r>
                              <a:rPr lang="en-US" altLang="zh-CN" sz="2400" i="1" kern="100">
                                <a:solidFill>
                                  <a:srgbClr val="FF0000"/>
                                </a:solidFill>
                                <a:latin typeface="Cambria Math" panose="02040503050406030204" pitchFamily="18" charset="0"/>
                                <a:ea typeface="宋体" panose="02010600030101010101" pitchFamily="2" charset="-122"/>
                              </a:rPr>
                              <m:t>2</m:t>
                            </m:r>
                          </m:sup>
                        </m:sSubSup>
                      </m:den>
                    </m:f>
                  </m:oMath>
                </a14:m>
                <a:r>
                  <a:rPr lang="en-US" altLang="zh-CN" sz="2400" kern="100" dirty="0">
                    <a:latin typeface="宋体" panose="02010600030101010101" pitchFamily="2" charset="-122"/>
                    <a:ea typeface="宋体" panose="02010600030101010101" pitchFamily="2" charset="-122"/>
                  </a:rPr>
                  <a:t>			   </a:t>
                </a:r>
                <a:endParaRPr lang="zh-CN" altLang="zh-CN" sz="2400" kern="100" dirty="0">
                  <a:latin typeface="Times New Roman" panose="02020603050405020304" pitchFamily="18" charset="0"/>
                  <a:ea typeface="宋体" panose="02010600030101010101" pitchFamily="2" charset="-122"/>
                </a:endParaRPr>
              </a:p>
            </p:txBody>
          </p:sp>
        </mc:Choice>
        <mc:Fallback xmlns="">
          <p:sp>
            <p:nvSpPr>
              <p:cNvPr id="2" name="文本框 1">
                <a:extLst>
                  <a:ext uri="{FF2B5EF4-FFF2-40B4-BE49-F238E27FC236}">
                    <a16:creationId xmlns:a16="http://schemas.microsoft.com/office/drawing/2014/main" id="{397A23B8-5B1F-BEB7-669D-4598A2DA27AA}"/>
                  </a:ext>
                </a:extLst>
              </p:cNvPr>
              <p:cNvSpPr txBox="1">
                <a:spLocks noRot="1" noChangeAspect="1" noMove="1" noResize="1" noEditPoints="1" noAdjustHandles="1" noChangeArrowheads="1" noChangeShapeType="1" noTextEdit="1"/>
              </p:cNvSpPr>
              <p:nvPr/>
            </p:nvSpPr>
            <p:spPr>
              <a:xfrm>
                <a:off x="556149" y="248522"/>
                <a:ext cx="8264323" cy="7057445"/>
              </a:xfrm>
              <a:prstGeom prst="rect">
                <a:avLst/>
              </a:prstGeom>
              <a:blipFill>
                <a:blip r:embed="rId2"/>
                <a:stretch>
                  <a:fillRect l="-11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1989035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4EA26975-265B-4850-84C4-64681C783C20}"/>
                  </a:ext>
                </a:extLst>
              </p:cNvPr>
              <p:cNvSpPr txBox="1"/>
              <p:nvPr/>
            </p:nvSpPr>
            <p:spPr>
              <a:xfrm>
                <a:off x="199410" y="2840708"/>
                <a:ext cx="8920546" cy="2341538"/>
              </a:xfrm>
              <a:prstGeom prst="rect">
                <a:avLst/>
              </a:prstGeom>
              <a:noFill/>
            </p:spPr>
            <p:txBody>
              <a:bodyPr wrap="square">
                <a:spAutoFit/>
              </a:bodyPr>
              <a:lstStyle/>
              <a:p>
                <a:pPr algn="just">
                  <a:lnSpc>
                    <a:spcPct val="120000"/>
                  </a:lnSpc>
                </a:pP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20000"/>
                  </a:lnSpc>
                </a:pPr>
                <a:r>
                  <a:rPr lang="zh-CN" altLang="en-US" sz="2400" kern="100" dirty="0">
                    <a:latin typeface="等线" panose="02010600030101010101" pitchFamily="2" charset="-122"/>
                    <a:ea typeface="等线" panose="02010600030101010101" pitchFamily="2" charset="-122"/>
                    <a:cs typeface="Times New Roman" panose="02020603050405020304" pitchFamily="18" charset="0"/>
                  </a:rPr>
                  <a:t>又因为</a:t>
                </a:r>
                <a14:m>
                  <m:oMath xmlns:m="http://schemas.openxmlformats.org/officeDocument/2006/math">
                    <m:sSup>
                      <m:sSup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𝑑</m:t>
                        </m:r>
                      </m:e>
                      <m: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zh-CN" altLang="en-US" sz="2400" i="1" kern="100">
                            <a:effectLst/>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1)</m:t>
                        </m:r>
                      </m:sup>
                    </m:s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zh-CN" altLang="en-US" sz="2400" i="1" kern="100">
                        <a:effectLst/>
                        <a:latin typeface="Cambria Math" panose="02040503050406030204" pitchFamily="18" charset="0"/>
                        <a:ea typeface="微软雅黑" panose="020B0503020204020204" pitchFamily="34" charset="-122"/>
                        <a:cs typeface="微软雅黑" panose="020B0503020204020204" pitchFamily="34" charset="-122"/>
                      </a:rPr>
                      <m: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𝑔</m:t>
                        </m:r>
                      </m:e>
                      <m: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zh-CN" altLang="en-US" sz="2400" i="1" kern="100">
                            <a:effectLst/>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𝛽</m:t>
                        </m:r>
                      </m:e>
                      <m: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−2</m:t>
                        </m:r>
                      </m:sub>
                    </m:sSub>
                    <m:sSup>
                      <m:sSup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𝑑</m:t>
                        </m:r>
                      </m:e>
                      <m: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−2)</m:t>
                        </m:r>
                      </m:sup>
                    </m:sSup>
                  </m:oMath>
                </a14:m>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2400" kern="100" dirty="0">
                    <a:effectLst/>
                    <a:latin typeface="等线" panose="02010600030101010101" pitchFamily="2" charset="-122"/>
                    <a:ea typeface="等线" panose="02010600030101010101" pitchFamily="2" charset="-122"/>
                    <a:cs typeface="Times New Roman" panose="02020603050405020304" pitchFamily="18" charset="0"/>
                  </a:rPr>
                  <a:t>所以</a:t>
                </a:r>
                <a:endPar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20000"/>
                  </a:lnSpc>
                </a:pPr>
                <a14:m>
                  <m:oMath xmlns:m="http://schemas.openxmlformats.org/officeDocument/2006/math">
                    <m:sSubSup>
                      <m:sSubSup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b="0" i="1" kern="100" smtClean="0">
                            <a:effectLst/>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𝑔</m:t>
                        </m:r>
                      </m:e>
                      <m: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zh-CN" altLang="en-US" sz="2400" i="1" kern="100">
                            <a:effectLst/>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1</m:t>
                        </m:r>
                      </m:sub>
                      <m: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𝑇</m:t>
                        </m:r>
                      </m:sup>
                    </m:sSubSup>
                    <m:sSup>
                      <m:sSup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𝑑</m:t>
                        </m:r>
                      </m:e>
                      <m: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zh-CN" altLang="en-US" sz="2400" i="1" kern="100">
                            <a:effectLst/>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1)</m:t>
                        </m:r>
                      </m:sup>
                    </m:s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zh-CN" altLang="en-US" sz="2400" i="1" kern="100">
                        <a:effectLst/>
                        <a:latin typeface="Cambria Math" panose="02040503050406030204" pitchFamily="18" charset="0"/>
                        <a:ea typeface="微软雅黑" panose="020B0503020204020204" pitchFamily="34" charset="-122"/>
                        <a:cs typeface="微软雅黑" panose="020B0503020204020204" pitchFamily="34" charset="-122"/>
                      </a:rPr>
                      <m:t>−</m:t>
                    </m:r>
                    <m:sSup>
                      <m:sSup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d>
                          <m:dPr>
                            <m:begChr m:val="|"/>
                            <m:endChr m:val="|"/>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𝑔</m:t>
                                </m:r>
                              </m:e>
                              <m: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zh-CN" altLang="en-US" sz="2400" i="1" kern="100">
                                    <a:effectLst/>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1</m:t>
                                </m:r>
                              </m:sub>
                            </m:sSub>
                          </m:e>
                        </m:d>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e>
                      <m: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2</m:t>
                        </m:r>
                      </m:sup>
                    </m:sSup>
                  </m:oMath>
                </a14:m>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a:t>
                </a:r>
                <a:endPar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20000"/>
                  </a:lnSpc>
                </a:pPr>
                <a:endPar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20000"/>
                  </a:lnSpc>
                </a:pP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及</a:t>
                </a:r>
                <a14:m>
                  <m:oMath xmlns:m="http://schemas.openxmlformats.org/officeDocument/2006/math">
                    <m:sSubSup>
                      <m:sSubSup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b="0" i="1" kern="100" smtClean="0">
                            <a:effectLst/>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𝑔</m:t>
                        </m:r>
                      </m:e>
                      <m: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sub>
                      <m: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𝑇</m:t>
                        </m:r>
                      </m:sup>
                    </m:sSubSup>
                    <m:sSup>
                      <m:sSup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𝑑</m:t>
                        </m:r>
                      </m:e>
                      <m: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zh-CN" altLang="en-US" sz="2400" i="1" kern="100">
                            <a:effectLst/>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1)</m:t>
                        </m:r>
                      </m:sup>
                    </m:s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zh-CN" altLang="en-US" sz="2400" i="1" kern="100">
                        <a:effectLst/>
                        <a:latin typeface="Cambria Math" panose="02040503050406030204" pitchFamily="18" charset="0"/>
                        <a:ea typeface="微软雅黑" panose="020B0503020204020204" pitchFamily="34" charset="-122"/>
                        <a:cs typeface="微软雅黑" panose="020B0503020204020204" pitchFamily="34" charset="-122"/>
                      </a:rPr>
                      <m:t>−</m:t>
                    </m:r>
                    <m:sSubSup>
                      <m:sSubSup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𝑔</m:t>
                        </m:r>
                      </m:e>
                      <m: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sub>
                      <m: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𝑇</m:t>
                        </m:r>
                      </m:sup>
                    </m:sSubSup>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𝑔</m:t>
                        </m:r>
                      </m:e>
                      <m: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zh-CN" altLang="en-US" sz="2400" i="1" kern="100">
                            <a:effectLst/>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𝛽</m:t>
                        </m:r>
                      </m:e>
                      <m: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−2</m:t>
                        </m:r>
                      </m:sub>
                    </m:sSub>
                    <m:sSubSup>
                      <m:sSubSup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𝑔</m:t>
                        </m:r>
                      </m:e>
                      <m: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sub>
                      <m: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𝑇</m:t>
                        </m:r>
                      </m:sup>
                    </m:sSubSup>
                    <m:sSup>
                      <m:sSup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𝑑</m:t>
                        </m:r>
                      </m:e>
                      <m: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−2)</m:t>
                        </m:r>
                      </m:sup>
                    </m:sSup>
                  </m:oMath>
                </a14:m>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4EA26975-265B-4850-84C4-64681C783C20}"/>
                  </a:ext>
                </a:extLst>
              </p:cNvPr>
              <p:cNvSpPr txBox="1">
                <a:spLocks noRot="1" noChangeAspect="1" noMove="1" noResize="1" noEditPoints="1" noAdjustHandles="1" noChangeArrowheads="1" noChangeShapeType="1" noTextEdit="1"/>
              </p:cNvSpPr>
              <p:nvPr/>
            </p:nvSpPr>
            <p:spPr>
              <a:xfrm>
                <a:off x="199410" y="2840708"/>
                <a:ext cx="8920546" cy="2341538"/>
              </a:xfrm>
              <a:prstGeom prst="rect">
                <a:avLst/>
              </a:prstGeom>
              <a:blipFill>
                <a:blip r:embed="rId2"/>
                <a:stretch>
                  <a:fillRect l="-1094" b="-52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C5547F17-BFBE-4645-8F72-FD45CA7BACF9}"/>
                  </a:ext>
                </a:extLst>
              </p:cNvPr>
              <p:cNvSpPr txBox="1"/>
              <p:nvPr/>
            </p:nvSpPr>
            <p:spPr>
              <a:xfrm>
                <a:off x="-252536" y="401296"/>
                <a:ext cx="5291191" cy="476990"/>
              </a:xfrm>
              <a:prstGeom prst="rect">
                <a:avLst/>
              </a:prstGeom>
              <a:noFill/>
            </p:spPr>
            <p:txBody>
              <a:bodyPr wrap="square">
                <a:spAutoFit/>
              </a:bodyPr>
              <a:lstStyle/>
              <a:p>
                <a:pPr algn="just"/>
                <a14:m>
                  <m:oMathPara xmlns:m="http://schemas.openxmlformats.org/officeDocument/2006/math">
                    <m:oMathParaPr>
                      <m:jc m:val="centerGroup"/>
                    </m:oMathParaPr>
                    <m:oMath xmlns:m="http://schemas.openxmlformats.org/officeDocument/2006/math">
                      <m:sSup>
                        <m:sSupPr>
                          <m:ctrlPr>
                            <a:rPr lang="zh-CN" altLang="zh-CN" sz="24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𝑥</m:t>
                          </m:r>
                        </m:e>
                        <m: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sup>
                      </m:s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𝑥</m:t>
                          </m:r>
                        </m:e>
                        <m: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−1)</m:t>
                          </m:r>
                        </m:sup>
                      </m:s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400" b="0" i="1" kern="100" smtClean="0">
                              <a:latin typeface="Cambria Math" panose="02040503050406030204" pitchFamily="18" charset="0"/>
                              <a:ea typeface="Cambria Math" panose="02040503050406030204" pitchFamily="18" charset="0"/>
                              <a:cs typeface="Times New Roman" panose="02020603050405020304" pitchFamily="18" charset="0"/>
                            </a:rPr>
                            <m:t>−1</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sup>
                      </m:sSup>
                      <m:sSup>
                        <m:sSup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𝑑</m:t>
                          </m:r>
                        </m:e>
                        <m: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−1)</m:t>
                          </m:r>
                        </m:sup>
                      </m:sSup>
                    </m:oMath>
                  </m:oMathPara>
                </a14:m>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C5547F17-BFBE-4645-8F72-FD45CA7BACF9}"/>
                  </a:ext>
                </a:extLst>
              </p:cNvPr>
              <p:cNvSpPr txBox="1">
                <a:spLocks noRot="1" noChangeAspect="1" noMove="1" noResize="1" noEditPoints="1" noAdjustHandles="1" noChangeArrowheads="1" noChangeShapeType="1" noTextEdit="1"/>
              </p:cNvSpPr>
              <p:nvPr/>
            </p:nvSpPr>
            <p:spPr>
              <a:xfrm>
                <a:off x="-252536" y="401296"/>
                <a:ext cx="5291191" cy="47699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037C2B14-11F5-4581-9825-06FE0B55B46B}"/>
                  </a:ext>
                </a:extLst>
              </p:cNvPr>
              <p:cNvSpPr txBox="1"/>
              <p:nvPr/>
            </p:nvSpPr>
            <p:spPr>
              <a:xfrm>
                <a:off x="199410" y="973131"/>
                <a:ext cx="6678489" cy="49167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zh-CN" sz="2400" i="1" kern="100"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400" b="0" i="1" kern="100" smtClean="0">
                              <a:latin typeface="Cambria Math" panose="02040503050406030204" pitchFamily="18" charset="0"/>
                              <a:ea typeface="Cambria Math" panose="02040503050406030204" pitchFamily="18" charset="0"/>
                              <a:cs typeface="Times New Roman" panose="02020603050405020304" pitchFamily="18" charset="0"/>
                            </a:rPr>
                            <m:t>−1</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𝐴</m:t>
                      </m:r>
                      <m:sSup>
                        <m:sSup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𝑑</m:t>
                          </m:r>
                        </m:e>
                        <m: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−1)</m:t>
                          </m:r>
                        </m:sup>
                      </m:s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𝐴</m:t>
                      </m:r>
                      <m:sSup>
                        <m:sSup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𝑥</m:t>
                          </m:r>
                        </m:e>
                        <m: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sup>
                      </m:s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𝐴</m:t>
                      </m:r>
                      <m:sSup>
                        <m:sSup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𝑥</m:t>
                          </m:r>
                        </m:e>
                        <m:sup>
                          <m:d>
                            <m:d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−1</m:t>
                              </m:r>
                            </m:e>
                          </m:d>
                        </m:sup>
                      </m:s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𝑔</m:t>
                          </m:r>
                        </m:e>
                        <m: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sub>
                      </m:s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𝑔</m:t>
                          </m:r>
                        </m:e>
                        <m: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−1</m:t>
                          </m:r>
                        </m:sub>
                      </m:sSub>
                    </m:oMath>
                  </m:oMathPara>
                </a14:m>
                <a:endParaRPr lang="zh-CN" altLang="en-US" sz="2400" dirty="0"/>
              </a:p>
            </p:txBody>
          </p:sp>
        </mc:Choice>
        <mc:Fallback xmlns="">
          <p:sp>
            <p:nvSpPr>
              <p:cNvPr id="10" name="文本框 9">
                <a:extLst>
                  <a:ext uri="{FF2B5EF4-FFF2-40B4-BE49-F238E27FC236}">
                    <a16:creationId xmlns:a16="http://schemas.microsoft.com/office/drawing/2014/main" id="{037C2B14-11F5-4581-9825-06FE0B55B46B}"/>
                  </a:ext>
                </a:extLst>
              </p:cNvPr>
              <p:cNvSpPr txBox="1">
                <a:spLocks noRot="1" noChangeAspect="1" noMove="1" noResize="1" noEditPoints="1" noAdjustHandles="1" noChangeArrowheads="1" noChangeShapeType="1" noTextEdit="1"/>
              </p:cNvSpPr>
              <p:nvPr/>
            </p:nvSpPr>
            <p:spPr>
              <a:xfrm>
                <a:off x="199410" y="973131"/>
                <a:ext cx="6678489" cy="49167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6E9B270E-C47E-4EB6-857A-918BAA378D17}"/>
                  </a:ext>
                </a:extLst>
              </p:cNvPr>
              <p:cNvSpPr txBox="1"/>
              <p:nvPr/>
            </p:nvSpPr>
            <p:spPr>
              <a:xfrm>
                <a:off x="-245640" y="1475023"/>
                <a:ext cx="5291191" cy="9149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zh-CN" sz="2400" i="1" kern="100" smtClean="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𝛽</m:t>
                          </m:r>
                        </m:e>
                        <m: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sSubSup>
                            <m:sSubSup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𝑔</m:t>
                              </m:r>
                            </m:e>
                            <m: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sub>
                            <m: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𝑇</m:t>
                              </m:r>
                            </m:sup>
                          </m:sSub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𝑔</m:t>
                              </m:r>
                            </m:e>
                            <m: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sub>
                          </m:s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𝑔</m:t>
                              </m:r>
                            </m:e>
                            <m: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num>
                        <m:den>
                          <m:sSup>
                            <m:sSup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𝑔</m:t>
                                  </m:r>
                                </m:e>
                                <m: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sub>
                              </m:s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𝑔</m:t>
                                  </m:r>
                                </m:e>
                                <m: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e>
                            <m: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𝑇</m:t>
                              </m:r>
                            </m:sup>
                          </m:sSup>
                          <m:sSup>
                            <m:sSup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𝑑</m:t>
                              </m:r>
                            </m:e>
                            <m: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−1)</m:t>
                              </m:r>
                            </m:sup>
                          </m:sSup>
                        </m:den>
                      </m:f>
                    </m:oMath>
                  </m:oMathPara>
                </a14:m>
                <a:endParaRPr lang="zh-CN" altLang="en-US" sz="2400" dirty="0"/>
              </a:p>
            </p:txBody>
          </p:sp>
        </mc:Choice>
        <mc:Fallback xmlns="">
          <p:sp>
            <p:nvSpPr>
              <p:cNvPr id="12" name="文本框 11">
                <a:extLst>
                  <a:ext uri="{FF2B5EF4-FFF2-40B4-BE49-F238E27FC236}">
                    <a16:creationId xmlns:a16="http://schemas.microsoft.com/office/drawing/2014/main" id="{6E9B270E-C47E-4EB6-857A-918BAA378D17}"/>
                  </a:ext>
                </a:extLst>
              </p:cNvPr>
              <p:cNvSpPr txBox="1">
                <a:spLocks noRot="1" noChangeAspect="1" noMove="1" noResize="1" noEditPoints="1" noAdjustHandles="1" noChangeArrowheads="1" noChangeShapeType="1" noTextEdit="1"/>
              </p:cNvSpPr>
              <p:nvPr/>
            </p:nvSpPr>
            <p:spPr>
              <a:xfrm>
                <a:off x="-245640" y="1475023"/>
                <a:ext cx="5291191" cy="91493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88ACE7F9-8F09-4D1D-98D7-713D82E7ED24}"/>
                  </a:ext>
                </a:extLst>
              </p:cNvPr>
              <p:cNvSpPr txBox="1"/>
              <p:nvPr/>
            </p:nvSpPr>
            <p:spPr>
              <a:xfrm>
                <a:off x="199410" y="2724374"/>
                <a:ext cx="5790866" cy="524631"/>
              </a:xfrm>
              <a:prstGeom prst="rect">
                <a:avLst/>
              </a:prstGeom>
              <a:noFill/>
            </p:spPr>
            <p:txBody>
              <a:bodyPr wrap="square">
                <a:spAutoFit/>
              </a:bodyPr>
              <a:lstStyle/>
              <a:p>
                <a:pPr algn="just">
                  <a:lnSpc>
                    <a:spcPct val="120000"/>
                  </a:lnSpc>
                </a:pPr>
                <a:r>
                  <a:rPr lang="zh-CN" altLang="en-US" sz="2400" kern="100" dirty="0">
                    <a:effectLst/>
                    <a:latin typeface="等线" panose="02010600030101010101" pitchFamily="2" charset="-122"/>
                    <a:ea typeface="等线" panose="02010600030101010101" pitchFamily="2" charset="-122"/>
                    <a:cs typeface="Times New Roman" panose="02020603050405020304" pitchFamily="18" charset="0"/>
                  </a:rPr>
                  <a:t>再由</a:t>
                </a:r>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步长的最优性可得</a:t>
                </a:r>
                <a14:m>
                  <m:oMath xmlns:m="http://schemas.openxmlformats.org/officeDocument/2006/math">
                    <m:sSubSup>
                      <m:sSubSup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𝑔</m:t>
                        </m:r>
                      </m:e>
                      <m: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sub>
                      <m: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𝑇</m:t>
                        </m:r>
                      </m:sup>
                    </m:sSubSup>
                    <m:sSup>
                      <m:sSup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𝑑</m:t>
                        </m:r>
                      </m:e>
                      <m: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−1)</m:t>
                        </m:r>
                      </m:sup>
                    </m:s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=0</m:t>
                    </m:r>
                  </m:oMath>
                </a14:m>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14" name="文本框 13">
                <a:extLst>
                  <a:ext uri="{FF2B5EF4-FFF2-40B4-BE49-F238E27FC236}">
                    <a16:creationId xmlns:a16="http://schemas.microsoft.com/office/drawing/2014/main" id="{88ACE7F9-8F09-4D1D-98D7-713D82E7ED24}"/>
                  </a:ext>
                </a:extLst>
              </p:cNvPr>
              <p:cNvSpPr txBox="1">
                <a:spLocks noRot="1" noChangeAspect="1" noMove="1" noResize="1" noEditPoints="1" noAdjustHandles="1" noChangeArrowheads="1" noChangeShapeType="1" noTextEdit="1"/>
              </p:cNvSpPr>
              <p:nvPr/>
            </p:nvSpPr>
            <p:spPr>
              <a:xfrm>
                <a:off x="199410" y="2724374"/>
                <a:ext cx="5790866" cy="524631"/>
              </a:xfrm>
              <a:prstGeom prst="rect">
                <a:avLst/>
              </a:prstGeom>
              <a:blipFill>
                <a:blip r:embed="rId6"/>
                <a:stretch>
                  <a:fillRect l="-1684" b="-2674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70024F4D-6139-4051-9263-D74A5941F765}"/>
                  </a:ext>
                </a:extLst>
              </p:cNvPr>
              <p:cNvSpPr txBox="1"/>
              <p:nvPr/>
            </p:nvSpPr>
            <p:spPr>
              <a:xfrm>
                <a:off x="275275" y="5298580"/>
                <a:ext cx="9540552" cy="986232"/>
              </a:xfrm>
              <a:prstGeom prst="rect">
                <a:avLst/>
              </a:prstGeom>
              <a:noFill/>
            </p:spPr>
            <p:txBody>
              <a:bodyPr wrap="square">
                <a:spAutoFit/>
              </a:bodyPr>
              <a:lstStyle/>
              <a:p>
                <a:pPr algn="just">
                  <a:lnSpc>
                    <a:spcPct val="120000"/>
                  </a:lnSpc>
                </a:pPr>
                <a:r>
                  <a:rPr lang="zh-CN" altLang="en-US" sz="2400" kern="100" dirty="0">
                    <a:latin typeface="等线" panose="02010600030101010101" pitchFamily="2" charset="-122"/>
                    <a:ea typeface="等线" panose="02010600030101010101" pitchFamily="2" charset="-122"/>
                    <a:cs typeface="Times New Roman" panose="02020603050405020304" pitchFamily="18" charset="0"/>
                  </a:rPr>
                  <a:t>注意到</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𝑔</m:t>
                        </m:r>
                      </m:e>
                      <m: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sub>
                    </m:s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𝐴</m:t>
                    </m:r>
                    <m:sSup>
                      <m:sSup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𝑥</m:t>
                        </m:r>
                      </m:e>
                      <m: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sup>
                    </m:s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b="0" i="1" kern="100" smtClean="0">
                        <a:effectLst/>
                        <a:latin typeface="Cambria Math" panose="02040503050406030204" pitchFamily="18" charset="0"/>
                        <a:ea typeface="等线" panose="02010600030101010101" pitchFamily="2" charset="-122"/>
                        <a:cs typeface="Times New Roman" panose="02020603050405020304" pitchFamily="18" charset="0"/>
                      </a:rPr>
                      <m:t>𝑏</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𝐴</m:t>
                    </m:r>
                    <m:sSup>
                      <m:sSup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𝑥</m:t>
                        </m:r>
                      </m:e>
                      <m: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−1)</m:t>
                        </m:r>
                      </m:sup>
                    </m:s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−1)</m:t>
                        </m:r>
                      </m:sup>
                    </m:s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𝐴</m:t>
                    </m:r>
                    <m:sSup>
                      <m:sSup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𝑑</m:t>
                        </m:r>
                      </m:e>
                      <m: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−1)</m:t>
                        </m:r>
                      </m:sup>
                    </m:s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b="0" i="1" kern="100" smtClean="0">
                        <a:effectLst/>
                        <a:latin typeface="Cambria Math" panose="02040503050406030204" pitchFamily="18" charset="0"/>
                        <a:ea typeface="等线" panose="02010600030101010101" pitchFamily="2" charset="-122"/>
                        <a:cs typeface="Times New Roman" panose="02020603050405020304" pitchFamily="18" charset="0"/>
                      </a:rPr>
                      <m:t>𝑏</m:t>
                    </m:r>
                  </m:oMath>
                </a14:m>
                <a:endParaRPr lang="en-US" altLang="zh-CN" sz="2400" b="0" i="1" kern="100" dirty="0">
                  <a:effectLst/>
                  <a:latin typeface="Cambria Math" panose="02040503050406030204" pitchFamily="18" charset="0"/>
                  <a:ea typeface="等线" panose="02010600030101010101" pitchFamily="2" charset="-122"/>
                  <a:cs typeface="Times New Roman" panose="02020603050405020304" pitchFamily="18" charset="0"/>
                </a:endParaRPr>
              </a:p>
              <a:p>
                <a:pPr algn="just">
                  <a:lnSpc>
                    <a:spcPct val="120000"/>
                  </a:lnSpc>
                </a:pPr>
                <a14:m>
                  <m:oMath xmlns:m="http://schemas.openxmlformats.org/officeDocument/2006/math">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𝑔</m:t>
                        </m:r>
                      </m:e>
                      <m: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zh-CN" altLang="en-US" sz="2400" i="1" kern="100">
                            <a:effectLst/>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400" b="0" i="1" kern="100" smtClean="0">
                        <a:effectLst/>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−1)</m:t>
                        </m:r>
                      </m:sup>
                    </m:s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𝐴</m:t>
                    </m:r>
                    <m:sSup>
                      <m:sSup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𝑑</m:t>
                        </m:r>
                      </m:e>
                      <m: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−1)</m:t>
                        </m:r>
                      </m:sup>
                    </m:sSup>
                  </m:oMath>
                </a14:m>
                <a:r>
                  <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rPr>
                  <a:t>，所以</a:t>
                </a:r>
                <a14:m>
                  <m:oMath xmlns:m="http://schemas.openxmlformats.org/officeDocument/2006/math">
                    <m:sSubSup>
                      <m:sSubSup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𝑔</m:t>
                        </m:r>
                      </m:e>
                      <m:sub>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sub>
                      <m: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𝑇</m:t>
                        </m:r>
                      </m:sup>
                    </m:sSubSup>
                    <m:sSup>
                      <m:sSup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𝑑</m:t>
                        </m:r>
                      </m:e>
                      <m: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𝑘</m:t>
                        </m:r>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2400" i="1" kern="100">
                        <a:effectLst/>
                        <a:latin typeface="Cambria Math" panose="02040503050406030204" pitchFamily="18" charset="0"/>
                        <a:ea typeface="等线" panose="02010600030101010101" pitchFamily="2" charset="-122"/>
                        <a:cs typeface="Times New Roman" panose="02020603050405020304" pitchFamily="18" charset="0"/>
                      </a:rPr>
                      <m:t>=0</m:t>
                    </m:r>
                  </m:oMath>
                </a14:m>
                <a:r>
                  <a:rPr lang="zh-CN" altLang="en-US" sz="2400" kern="100" dirty="0">
                    <a:effectLst/>
                    <a:latin typeface="等线" panose="02010600030101010101" pitchFamily="2" charset="-122"/>
                    <a:ea typeface="等线" panose="02010600030101010101" pitchFamily="2" charset="-122"/>
                    <a:cs typeface="Times New Roman" panose="02020603050405020304" pitchFamily="18" charset="0"/>
                  </a:rPr>
                  <a:t>，故有</a:t>
                </a:r>
                <a14:m>
                  <m:oMath xmlns:m="http://schemas.openxmlformats.org/officeDocument/2006/math">
                    <m:sSubSup>
                      <m:sSub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𝑔</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𝑘</m:t>
                        </m:r>
                      </m:sub>
                      <m:sup>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𝑇</m:t>
                        </m:r>
                      </m:sup>
                    </m:sSubSup>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𝑔</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𝑘</m:t>
                        </m:r>
                        <m:r>
                          <a:rPr lang="zh-CN" altLang="en-US" sz="2400" i="1" kern="100">
                            <a:latin typeface="Cambria Math" panose="02040503050406030204" pitchFamily="18" charset="0"/>
                            <a:ea typeface="微软雅黑" panose="020B0503020204020204" pitchFamily="34" charset="-122"/>
                            <a:cs typeface="微软雅黑" panose="020B0503020204020204" pitchFamily="34" charset="-122"/>
                          </a:rPr>
                          <m:t>−</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sub>
                    </m:sSub>
                  </m:oMath>
                </a14:m>
                <a:r>
                  <a:rPr lang="en-US" altLang="zh-CN" sz="2400"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16" name="文本框 15">
                <a:extLst>
                  <a:ext uri="{FF2B5EF4-FFF2-40B4-BE49-F238E27FC236}">
                    <a16:creationId xmlns:a16="http://schemas.microsoft.com/office/drawing/2014/main" id="{70024F4D-6139-4051-9263-D74A5941F765}"/>
                  </a:ext>
                </a:extLst>
              </p:cNvPr>
              <p:cNvSpPr txBox="1">
                <a:spLocks noRot="1" noChangeAspect="1" noMove="1" noResize="1" noEditPoints="1" noAdjustHandles="1" noChangeArrowheads="1" noChangeShapeType="1" noTextEdit="1"/>
              </p:cNvSpPr>
              <p:nvPr/>
            </p:nvSpPr>
            <p:spPr>
              <a:xfrm>
                <a:off x="275275" y="5298580"/>
                <a:ext cx="9540552" cy="986232"/>
              </a:xfrm>
              <a:prstGeom prst="rect">
                <a:avLst/>
              </a:prstGeom>
              <a:blipFill>
                <a:blip r:embed="rId7"/>
                <a:stretch>
                  <a:fillRect l="-958" b="-13580"/>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0268BC66-135F-48F9-955F-8AD0D68F1902}"/>
              </a:ext>
            </a:extLst>
          </p:cNvPr>
          <p:cNvPicPr>
            <a:picLocks noChangeAspect="1"/>
          </p:cNvPicPr>
          <p:nvPr/>
        </p:nvPicPr>
        <p:blipFill>
          <a:blip r:embed="rId8"/>
          <a:stretch>
            <a:fillRect/>
          </a:stretch>
        </p:blipFill>
        <p:spPr>
          <a:xfrm>
            <a:off x="6691081" y="160812"/>
            <a:ext cx="2428875" cy="866775"/>
          </a:xfrm>
          <a:prstGeom prst="rect">
            <a:avLst/>
          </a:prstGeom>
          <a:ln w="38100">
            <a:solidFill>
              <a:srgbClr val="FF0000"/>
            </a:solidFill>
          </a:ln>
        </p:spPr>
      </p:pic>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90144A59-C882-A013-D5BC-C99B814EAFF7}"/>
                  </a:ext>
                </a:extLst>
              </p:cNvPr>
              <p:cNvSpPr txBox="1"/>
              <p:nvPr/>
            </p:nvSpPr>
            <p:spPr>
              <a:xfrm>
                <a:off x="5799751" y="1915559"/>
                <a:ext cx="3344249" cy="1095428"/>
              </a:xfrm>
              <a:prstGeom prst="rect">
                <a:avLst/>
              </a:prstGeom>
              <a:solidFill>
                <a:schemeClr val="accent2">
                  <a:lumMod val="40000"/>
                  <a:lumOff val="60000"/>
                </a:schemeClr>
              </a:solidFill>
            </p:spPr>
            <p:txBody>
              <a:bodyPr wrap="square">
                <a:spAutoFit/>
              </a:bodyPr>
              <a:lstStyle/>
              <a:p>
                <a:pPr indent="800100" algn="just">
                  <a:lnSpc>
                    <a:spcPct val="150000"/>
                  </a:lnSpc>
                </a:pPr>
                <a14:m>
                  <m:oMathPara xmlns:m="http://schemas.openxmlformats.org/officeDocument/2006/math">
                    <m:oMathParaPr>
                      <m:jc m:val="centerGroup"/>
                    </m:oMathParaPr>
                    <m:oMath xmlns:m="http://schemas.openxmlformats.org/officeDocument/2006/math">
                      <m:r>
                        <a:rPr lang="en-US" altLang="zh-CN" i="1" kern="100" smtClean="0">
                          <a:latin typeface="Cambria Math" panose="02040503050406030204" pitchFamily="18" charset="0"/>
                          <a:ea typeface="Cambria Math" panose="02040503050406030204" pitchFamily="18" charset="0"/>
                          <a:cs typeface="Times New Roman" panose="02020603050405020304" pitchFamily="18" charset="0"/>
                        </a:rPr>
                        <m:t>𝑓</m:t>
                      </m:r>
                      <m:r>
                        <a:rPr lang="en-US" altLang="zh-CN" i="1" kern="100" smtClean="0">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latin typeface="Cambria Math" panose="02040503050406030204" pitchFamily="18" charset="0"/>
                              <a:ea typeface="Cambria Math" panose="02040503050406030204" pitchFamily="18" charset="0"/>
                              <a:cs typeface="Times New Roman" panose="02020603050405020304" pitchFamily="18" charset="0"/>
                            </a:rPr>
                            <m:t>𝑥</m:t>
                          </m:r>
                        </m:e>
                        <m:sup>
                          <m:r>
                            <a:rPr lang="en-US" altLang="zh-CN"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i="1" kern="100">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i="1" kern="100">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i="1" kern="100">
                              <a:latin typeface="Cambria Math" panose="02040503050406030204" pitchFamily="18" charset="0"/>
                              <a:ea typeface="Cambria Math" panose="02040503050406030204" pitchFamily="18" charset="0"/>
                              <a:cs typeface="Times New Roman" panose="02020603050405020304" pitchFamily="18" charset="0"/>
                            </a:rPr>
                            <m:t>)</m:t>
                          </m:r>
                        </m:sup>
                      </m:sSup>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latin typeface="Cambria Math" panose="02040503050406030204" pitchFamily="18" charset="0"/>
                              <a:ea typeface="Cambria Math" panose="02040503050406030204" pitchFamily="18" charset="0"/>
                              <a:cs typeface="Times New Roman" panose="02020603050405020304" pitchFamily="18" charset="0"/>
                            </a:rPr>
                            <m:t>𝑑</m:t>
                          </m:r>
                        </m:e>
                        <m:sup>
                          <m:r>
                            <a:rPr lang="en-US" altLang="zh-CN"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i="1" kern="100">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i="1" kern="100">
                          <a:latin typeface="Cambria Math" panose="02040503050406030204" pitchFamily="18" charset="0"/>
                          <a:ea typeface="Cambria Math" panose="02040503050406030204" pitchFamily="18" charset="0"/>
                          <a:cs typeface="Times New Roman" panose="02020603050405020304" pitchFamily="18" charset="0"/>
                        </a:rPr>
                        <m:t>)=</m:t>
                      </m:r>
                      <m:limLow>
                        <m:limLow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limLowPr>
                        <m:e>
                          <m:r>
                            <a:rPr lang="en-US" altLang="zh-CN" i="1" kern="100">
                              <a:latin typeface="Cambria Math" panose="02040503050406030204" pitchFamily="18" charset="0"/>
                              <a:ea typeface="Cambria Math" panose="02040503050406030204" pitchFamily="18" charset="0"/>
                              <a:cs typeface="Times New Roman" panose="02020603050405020304" pitchFamily="18" charset="0"/>
                            </a:rPr>
                            <m:t>𝑚𝑖𝑛</m:t>
                          </m:r>
                        </m:e>
                        <m:lim>
                          <m:r>
                            <a:rPr lang="en-US" altLang="zh-CN" i="1" kern="100">
                              <a:latin typeface="Cambria Math" panose="02040503050406030204" pitchFamily="18" charset="0"/>
                              <a:ea typeface="Cambria Math" panose="02040503050406030204" pitchFamily="18" charset="0"/>
                              <a:cs typeface="Times New Roman" panose="02020603050405020304" pitchFamily="18" charset="0"/>
                            </a:rPr>
                            <m:t>𝛼</m:t>
                          </m:r>
                        </m:lim>
                      </m:limLow>
                      <m:r>
                        <a:rPr lang="en-US" altLang="zh-CN" i="1" kern="100">
                          <a:latin typeface="Cambria Math" panose="02040503050406030204" pitchFamily="18" charset="0"/>
                          <a:ea typeface="Cambria Math" panose="02040503050406030204" pitchFamily="18" charset="0"/>
                          <a:cs typeface="Times New Roman" panose="02020603050405020304" pitchFamily="18" charset="0"/>
                        </a:rPr>
                        <m:t>𝑓</m:t>
                      </m:r>
                      <m:r>
                        <a:rPr lang="en-US" altLang="zh-CN" i="1" kern="100">
                          <a:latin typeface="Cambria Math" panose="02040503050406030204" pitchFamily="18" charset="0"/>
                          <a:ea typeface="Cambria Math" panose="02040503050406030204" pitchFamily="18" charset="0"/>
                          <a:cs typeface="Times New Roman" panose="02020603050405020304" pitchFamily="18" charset="0"/>
                        </a:rPr>
                        <m:t>(</m:t>
                      </m:r>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latin typeface="Cambria Math" panose="02040503050406030204" pitchFamily="18" charset="0"/>
                              <a:ea typeface="Cambria Math" panose="02040503050406030204" pitchFamily="18" charset="0"/>
                              <a:cs typeface="Times New Roman" panose="02020603050405020304" pitchFamily="18" charset="0"/>
                            </a:rPr>
                            <m:t>𝑥</m:t>
                          </m:r>
                        </m:e>
                        <m:sup>
                          <m:r>
                            <a:rPr lang="en-US" altLang="zh-CN"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i="1" kern="100">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i="1" kern="100">
                          <a:latin typeface="Cambria Math" panose="02040503050406030204" pitchFamily="18" charset="0"/>
                          <a:ea typeface="Cambria Math" panose="02040503050406030204" pitchFamily="18" charset="0"/>
                          <a:cs typeface="Times New Roman" panose="02020603050405020304" pitchFamily="18" charset="0"/>
                        </a:rPr>
                        <m:t>𝛼</m:t>
                      </m:r>
                      <m:sSup>
                        <m:sSup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latin typeface="Cambria Math" panose="02040503050406030204" pitchFamily="18" charset="0"/>
                              <a:ea typeface="Cambria Math" panose="02040503050406030204" pitchFamily="18" charset="0"/>
                              <a:cs typeface="Times New Roman" panose="02020603050405020304" pitchFamily="18" charset="0"/>
                            </a:rPr>
                            <m:t>𝑑</m:t>
                          </m:r>
                        </m:e>
                        <m:sup>
                          <m:r>
                            <a:rPr lang="en-US" altLang="zh-CN"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i="1" kern="100">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i="1" kern="100">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zh-CN" altLang="zh-CN" i="1" kern="100" dirty="0">
                  <a:latin typeface="Cambria Math" panose="02040503050406030204" pitchFamily="18" charset="0"/>
                  <a:ea typeface="Cambria Math" panose="02040503050406030204" pitchFamily="18" charset="0"/>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90144A59-C882-A013-D5BC-C99B814EAFF7}"/>
                  </a:ext>
                </a:extLst>
              </p:cNvPr>
              <p:cNvSpPr txBox="1">
                <a:spLocks noRot="1" noChangeAspect="1" noMove="1" noResize="1" noEditPoints="1" noAdjustHandles="1" noChangeArrowheads="1" noChangeShapeType="1" noTextEdit="1"/>
              </p:cNvSpPr>
              <p:nvPr/>
            </p:nvSpPr>
            <p:spPr>
              <a:xfrm>
                <a:off x="5799751" y="1915559"/>
                <a:ext cx="3344249" cy="1095428"/>
              </a:xfrm>
              <a:prstGeom prst="rect">
                <a:avLst/>
              </a:prstGeom>
              <a:blipFill>
                <a:blip r:embed="rId9"/>
                <a:stretch>
                  <a:fillRect/>
                </a:stretch>
              </a:blipFill>
            </p:spPr>
            <p:txBody>
              <a:bodyPr/>
              <a:lstStyle/>
              <a:p>
                <a:r>
                  <a:rPr lang="zh-CN" altLang="en-US">
                    <a:noFill/>
                  </a:rPr>
                  <a:t> </a:t>
                </a:r>
              </a:p>
            </p:txBody>
          </p:sp>
        </mc:Fallback>
      </mc:AlternateContent>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5726D65C-81BD-A74C-A0D9-8FE3ACA6E5FF}"/>
                  </a:ext>
                </a:extLst>
              </p:cNvPr>
              <p:cNvSpPr txBox="1"/>
              <p:nvPr/>
            </p:nvSpPr>
            <p:spPr>
              <a:xfrm>
                <a:off x="323528" y="188640"/>
                <a:ext cx="8281697" cy="6486199"/>
              </a:xfrm>
              <a:prstGeom prst="rect">
                <a:avLst/>
              </a:prstGeom>
              <a:noFill/>
            </p:spPr>
            <p:txBody>
              <a:bodyPr wrap="square" rtlCol="0">
                <a:spAutoFit/>
              </a:bodyPr>
              <a:lstStyle/>
              <a:p>
                <a:pPr algn="just">
                  <a:lnSpc>
                    <a:spcPct val="120000"/>
                  </a:lnSpc>
                  <a:spcBef>
                    <a:spcPts val="450"/>
                  </a:spcBef>
                  <a:spcAft>
                    <a:spcPts val="450"/>
                  </a:spcAft>
                </a:pPr>
                <a:r>
                  <a:rPr lang="zh-CN" altLang="zh-CN" sz="2200" b="1" kern="100" dirty="0">
                    <a:solidFill>
                      <a:srgbClr val="0070C0"/>
                    </a:solidFill>
                    <a:latin typeface="宋体" panose="02010600030101010101" pitchFamily="2" charset="-122"/>
                    <a:ea typeface="宋体" panose="02010600030101010101" pitchFamily="2" charset="-122"/>
                  </a:rPr>
                  <a:t>算法</a:t>
                </a:r>
                <a:r>
                  <a:rPr lang="en-US" altLang="zh-CN" sz="2200" b="1" kern="100" dirty="0">
                    <a:solidFill>
                      <a:srgbClr val="0070C0"/>
                    </a:solidFill>
                    <a:latin typeface="宋体" panose="02010600030101010101" pitchFamily="2" charset="-122"/>
                    <a:ea typeface="宋体" panose="02010600030101010101" pitchFamily="2" charset="-122"/>
                  </a:rPr>
                  <a:t>2</a:t>
                </a:r>
                <a:r>
                  <a:rPr lang="zh-CN" altLang="en-US" sz="2200" b="1" kern="100" dirty="0">
                    <a:solidFill>
                      <a:srgbClr val="0070C0"/>
                    </a:solidFill>
                    <a:latin typeface="宋体" panose="02010600030101010101" pitchFamily="2" charset="-122"/>
                    <a:ea typeface="宋体" panose="02010600030101010101" pitchFamily="2" charset="-122"/>
                  </a:rPr>
                  <a:t>（</a:t>
                </a:r>
                <a:r>
                  <a:rPr lang="en-US" altLang="zh-CN" sz="2200" b="1" kern="100" dirty="0">
                    <a:solidFill>
                      <a:srgbClr val="0070C0"/>
                    </a:solidFill>
                    <a:latin typeface="宋体" panose="02010600030101010101" pitchFamily="2" charset="-122"/>
                    <a:ea typeface="宋体" panose="02010600030101010101" pitchFamily="2" charset="-122"/>
                  </a:rPr>
                  <a:t>FR</a:t>
                </a:r>
                <a:r>
                  <a:rPr lang="zh-CN" altLang="en-US" sz="2200" b="1" kern="100" dirty="0">
                    <a:solidFill>
                      <a:srgbClr val="0070C0"/>
                    </a:solidFill>
                    <a:latin typeface="宋体" panose="02010600030101010101" pitchFamily="2" charset="-122"/>
                    <a:ea typeface="宋体" panose="02010600030101010101" pitchFamily="2" charset="-122"/>
                  </a:rPr>
                  <a:t>法）</a:t>
                </a:r>
                <a:endParaRPr lang="zh-CN" altLang="zh-CN" sz="2200" kern="100" dirty="0">
                  <a:solidFill>
                    <a:srgbClr val="0070C0"/>
                  </a:solidFill>
                  <a:latin typeface="宋体" panose="02010600030101010101" pitchFamily="2" charset="-122"/>
                  <a:ea typeface="宋体" panose="02010600030101010101" pitchFamily="2" charset="-122"/>
                </a:endParaRPr>
              </a:p>
              <a:p>
                <a:pPr indent="200025" algn="just">
                  <a:lnSpc>
                    <a:spcPct val="120000"/>
                  </a:lnSpc>
                </a:pPr>
                <a:r>
                  <a:rPr lang="en-US" altLang="zh-CN" sz="2200" kern="100" dirty="0">
                    <a:latin typeface="宋体" panose="02010600030101010101" pitchFamily="2" charset="-122"/>
                    <a:ea typeface="宋体" panose="02010600030101010101" pitchFamily="2" charset="-122"/>
                  </a:rPr>
                  <a:t>1.</a:t>
                </a:r>
                <a:r>
                  <a:rPr lang="zh-CN" altLang="zh-CN" sz="2200" kern="100" dirty="0">
                    <a:latin typeface="宋体" panose="02010600030101010101" pitchFamily="2" charset="-122"/>
                    <a:ea typeface="宋体" panose="02010600030101010101" pitchFamily="2" charset="-122"/>
                  </a:rPr>
                  <a:t>给定初始点</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𝑥</m:t>
                        </m:r>
                      </m:e>
                      <m:sup>
                        <m:r>
                          <a:rPr lang="en-US" altLang="zh-CN" sz="2200" i="1" kern="100">
                            <a:latin typeface="Cambria Math" panose="02040503050406030204" pitchFamily="18" charset="0"/>
                            <a:ea typeface="宋体" panose="02010600030101010101" pitchFamily="2" charset="-122"/>
                          </a:rPr>
                          <m:t>(1)</m:t>
                        </m:r>
                      </m:sup>
                    </m:sSup>
                  </m:oMath>
                </a14:m>
                <a:r>
                  <a:rPr lang="zh-CN" altLang="zh-CN" sz="2200" kern="100" dirty="0">
                    <a:latin typeface="宋体" panose="02010600030101010101" pitchFamily="2" charset="-122"/>
                    <a:ea typeface="宋体" panose="02010600030101010101" pitchFamily="2" charset="-122"/>
                  </a:rPr>
                  <a:t>，允许误差</a:t>
                </a:r>
                <a14:m>
                  <m:oMath xmlns:m="http://schemas.openxmlformats.org/officeDocument/2006/math">
                    <m:r>
                      <a:rPr lang="en-US" altLang="zh-CN" sz="2200" i="1" kern="100">
                        <a:latin typeface="Cambria Math" panose="02040503050406030204" pitchFamily="18" charset="0"/>
                        <a:ea typeface="宋体" panose="02010600030101010101" pitchFamily="2" charset="-122"/>
                      </a:rPr>
                      <m:t>𝜀</m:t>
                    </m:r>
                    <m:r>
                      <a:rPr lang="en-US" altLang="zh-CN" sz="2200" i="1" kern="100">
                        <a:latin typeface="Cambria Math" panose="02040503050406030204" pitchFamily="18" charset="0"/>
                        <a:ea typeface="宋体" panose="02010600030101010101" pitchFamily="2" charset="-122"/>
                      </a:rPr>
                      <m:t>&gt;0</m:t>
                    </m:r>
                  </m:oMath>
                </a14:m>
                <a:r>
                  <a:rPr lang="zh-CN" altLang="zh-CN" sz="2200" kern="100" dirty="0">
                    <a:latin typeface="宋体" panose="02010600030101010101" pitchFamily="2" charset="-122"/>
                    <a:ea typeface="宋体" panose="02010600030101010101" pitchFamily="2" charset="-122"/>
                  </a:rPr>
                  <a:t>，置</a:t>
                </a:r>
                <a14:m>
                  <m:oMath xmlns:m="http://schemas.openxmlformats.org/officeDocument/2006/math">
                    <m:r>
                      <a:rPr lang="en-US" altLang="zh-CN" sz="2200" i="1" kern="100">
                        <a:latin typeface="Cambria Math" panose="02040503050406030204" pitchFamily="18" charset="0"/>
                        <a:ea typeface="宋体" panose="02010600030101010101" pitchFamily="2" charset="-122"/>
                      </a:rPr>
                      <m:t>𝑘</m:t>
                    </m:r>
                    <m:r>
                      <a:rPr lang="en-US" altLang="zh-CN" sz="2200" i="1" kern="100">
                        <a:latin typeface="Cambria Math" panose="02040503050406030204" pitchFamily="18" charset="0"/>
                        <a:ea typeface="宋体" panose="02010600030101010101" pitchFamily="2" charset="-122"/>
                      </a:rPr>
                      <m:t> =1</m:t>
                    </m:r>
                  </m:oMath>
                </a14:m>
                <a:endParaRPr lang="zh-CN" altLang="zh-CN" sz="2200" kern="100" dirty="0">
                  <a:latin typeface="宋体" panose="02010600030101010101" pitchFamily="2" charset="-122"/>
                  <a:ea typeface="宋体" panose="02010600030101010101" pitchFamily="2" charset="-122"/>
                </a:endParaRPr>
              </a:p>
              <a:p>
                <a:pPr indent="200025" algn="just">
                  <a:lnSpc>
                    <a:spcPct val="120000"/>
                  </a:lnSpc>
                </a:pPr>
                <a:r>
                  <a:rPr lang="en-US" altLang="zh-CN" sz="2200" kern="100" dirty="0">
                    <a:latin typeface="宋体" panose="02010600030101010101" pitchFamily="2" charset="-122"/>
                    <a:ea typeface="宋体" panose="02010600030101010101" pitchFamily="2" charset="-122"/>
                  </a:rPr>
                  <a:t>2.</a:t>
                </a:r>
                <a:r>
                  <a:rPr lang="zh-CN" altLang="zh-CN" sz="2200" kern="100" dirty="0">
                    <a:latin typeface="宋体" panose="02010600030101010101" pitchFamily="2" charset="-122"/>
                    <a:ea typeface="宋体" panose="02010600030101010101" pitchFamily="2" charset="-122"/>
                  </a:rPr>
                  <a:t>判断精度</a:t>
                </a:r>
                <a:r>
                  <a:rPr lang="zh-CN" altLang="en-US" sz="2200" kern="100" dirty="0">
                    <a:latin typeface="宋体" panose="02010600030101010101" pitchFamily="2" charset="-122"/>
                    <a:ea typeface="宋体" panose="02010600030101010101" pitchFamily="2" charset="-122"/>
                  </a:rPr>
                  <a:t>：</a:t>
                </a:r>
                <a:endParaRPr lang="zh-CN" altLang="zh-CN" sz="2200" kern="100" dirty="0">
                  <a:latin typeface="宋体" panose="02010600030101010101" pitchFamily="2" charset="-122"/>
                  <a:ea typeface="宋体" panose="02010600030101010101" pitchFamily="2" charset="-122"/>
                </a:endParaRPr>
              </a:p>
              <a:p>
                <a:pPr algn="just">
                  <a:lnSpc>
                    <a:spcPct val="120000"/>
                  </a:lnSpc>
                </a:pPr>
                <a:r>
                  <a:rPr lang="en-US" altLang="zh-CN" sz="2200" kern="100" dirty="0">
                    <a:latin typeface="宋体" panose="02010600030101010101" pitchFamily="2" charset="-122"/>
                    <a:ea typeface="宋体" panose="02010600030101010101" pitchFamily="2" charset="-122"/>
                  </a:rPr>
                  <a:t>    </a:t>
                </a:r>
                <a:r>
                  <a:rPr lang="zh-CN" altLang="zh-CN" sz="2200" kern="100" dirty="0">
                    <a:latin typeface="宋体" panose="02010600030101010101" pitchFamily="2" charset="-122"/>
                    <a:ea typeface="宋体" panose="02010600030101010101" pitchFamily="2" charset="-122"/>
                  </a:rPr>
                  <a:t>计算</a:t>
                </a:r>
                <a14:m>
                  <m:oMath xmlns:m="http://schemas.openxmlformats.org/officeDocument/2006/math">
                    <m:sSub>
                      <m:sSubPr>
                        <m:ctrlPr>
                          <a:rPr lang="zh-CN" altLang="zh-CN" sz="2200" i="1" kern="100">
                            <a:latin typeface="Cambria Math" panose="02040503050406030204" pitchFamily="18" charset="0"/>
                            <a:ea typeface="Cambria Math" panose="02040503050406030204" pitchFamily="18" charset="0"/>
                          </a:rPr>
                        </m:ctrlPr>
                      </m:sSubPr>
                      <m:e>
                        <m:r>
                          <a:rPr lang="en-US" altLang="zh-CN" sz="2200" i="1" kern="100">
                            <a:latin typeface="Cambria Math" panose="02040503050406030204" pitchFamily="18" charset="0"/>
                            <a:ea typeface="宋体" panose="02010600030101010101" pitchFamily="2" charset="-122"/>
                          </a:rPr>
                          <m:t>𝑔</m:t>
                        </m:r>
                      </m:e>
                      <m:sub>
                        <m:r>
                          <a:rPr lang="en-US" altLang="zh-CN" sz="2200" i="1" kern="100">
                            <a:latin typeface="Cambria Math" panose="02040503050406030204" pitchFamily="18" charset="0"/>
                            <a:ea typeface="宋体" panose="02010600030101010101" pitchFamily="2" charset="-122"/>
                          </a:rPr>
                          <m:t>𝑘</m:t>
                        </m:r>
                      </m:sub>
                    </m:sSub>
                    <m:r>
                      <a:rPr lang="en-US" altLang="zh-CN" sz="2200" i="1" kern="100">
                        <a:latin typeface="Cambria Math" panose="02040503050406030204" pitchFamily="18" charset="0"/>
                        <a:ea typeface="宋体" panose="02010600030101010101" pitchFamily="2" charset="-122"/>
                      </a:rPr>
                      <m:t>=</m:t>
                    </m:r>
                    <m:r>
                      <a:rPr lang="en-US" altLang="zh-CN" sz="2200" i="1" kern="100">
                        <a:latin typeface="Cambria Math" panose="02040503050406030204" pitchFamily="18" charset="0"/>
                        <a:ea typeface="宋体" panose="02010600030101010101" pitchFamily="2" charset="-122"/>
                        <a:cs typeface="Cambria Math" panose="02040503050406030204" pitchFamily="18" charset="0"/>
                      </a:rPr>
                      <m:t>𝛻</m:t>
                    </m:r>
                    <m:r>
                      <a:rPr lang="en-US" altLang="zh-CN" sz="2200" i="1" kern="100">
                        <a:latin typeface="Cambria Math" panose="02040503050406030204" pitchFamily="18" charset="0"/>
                        <a:ea typeface="宋体" panose="02010600030101010101" pitchFamily="2" charset="-122"/>
                      </a:rPr>
                      <m:t>𝑓</m:t>
                    </m:r>
                    <m:r>
                      <a:rPr lang="en-US" altLang="zh-CN" sz="2200" i="1" kern="100">
                        <a:latin typeface="Cambria Math" panose="02040503050406030204" pitchFamily="18" charset="0"/>
                        <a:ea typeface="宋体" panose="02010600030101010101" pitchFamily="2" charset="-122"/>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𝑥</m:t>
                        </m:r>
                      </m:e>
                      <m:sup>
                        <m:r>
                          <a:rPr lang="en-US" altLang="zh-CN" sz="2200" i="1" kern="100">
                            <a:latin typeface="Cambria Math" panose="02040503050406030204" pitchFamily="18" charset="0"/>
                            <a:ea typeface="宋体" panose="02010600030101010101" pitchFamily="2" charset="-122"/>
                          </a:rPr>
                          <m:t>(</m:t>
                        </m:r>
                        <m:r>
                          <a:rPr lang="en-US" altLang="zh-CN" sz="2200" i="1" kern="100">
                            <a:latin typeface="Cambria Math" panose="02040503050406030204" pitchFamily="18" charset="0"/>
                            <a:ea typeface="宋体" panose="02010600030101010101" pitchFamily="2" charset="-122"/>
                          </a:rPr>
                          <m:t>𝑘</m:t>
                        </m:r>
                        <m:r>
                          <a:rPr lang="en-US" altLang="zh-CN" sz="2200" i="1" kern="100">
                            <a:latin typeface="Cambria Math" panose="02040503050406030204" pitchFamily="18" charset="0"/>
                            <a:ea typeface="宋体" panose="02010600030101010101" pitchFamily="2" charset="-122"/>
                          </a:rPr>
                          <m:t>)</m:t>
                        </m:r>
                      </m:sup>
                    </m:sSup>
                    <m:r>
                      <a:rPr lang="en-US" altLang="zh-CN" sz="2200" i="1" kern="100">
                        <a:latin typeface="Cambria Math" panose="02040503050406030204" pitchFamily="18" charset="0"/>
                        <a:ea typeface="宋体" panose="02010600030101010101" pitchFamily="2" charset="-122"/>
                      </a:rPr>
                      <m:t>)</m:t>
                    </m:r>
                  </m:oMath>
                </a14:m>
                <a:r>
                  <a:rPr lang="zh-CN" altLang="zh-CN" sz="2200" kern="100" dirty="0">
                    <a:latin typeface="宋体" panose="02010600030101010101" pitchFamily="2" charset="-122"/>
                    <a:ea typeface="宋体" panose="02010600030101010101" pitchFamily="2" charset="-122"/>
                  </a:rPr>
                  <a:t>，若</a:t>
                </a:r>
                <a14:m>
                  <m:oMath xmlns:m="http://schemas.openxmlformats.org/officeDocument/2006/math">
                    <m:sSub>
                      <m:sSubPr>
                        <m:ctrlPr>
                          <a:rPr lang="en-US" altLang="zh-CN" sz="2200" i="1" kern="100">
                            <a:latin typeface="Cambria Math" panose="02040503050406030204" pitchFamily="18" charset="0"/>
                            <a:ea typeface="Cambria Math" panose="02040503050406030204" pitchFamily="18" charset="0"/>
                          </a:rPr>
                        </m:ctrlPr>
                      </m:sSubPr>
                      <m:e>
                        <m:d>
                          <m:dPr>
                            <m:begChr m:val="‖"/>
                            <m:endChr m:val="‖"/>
                            <m:ctrlPr>
                              <a:rPr lang="zh-CN" altLang="zh-CN" sz="2200" i="1" kern="100">
                                <a:latin typeface="Cambria Math" panose="02040503050406030204" pitchFamily="18" charset="0"/>
                                <a:ea typeface="Cambria Math" panose="02040503050406030204" pitchFamily="18" charset="0"/>
                              </a:rPr>
                            </m:ctrlPr>
                          </m:dPr>
                          <m:e>
                            <m:sSub>
                              <m:sSubPr>
                                <m:ctrlPr>
                                  <a:rPr lang="zh-CN" altLang="zh-CN" sz="2200" i="1" kern="100">
                                    <a:latin typeface="Cambria Math" panose="02040503050406030204" pitchFamily="18" charset="0"/>
                                    <a:ea typeface="Cambria Math" panose="02040503050406030204" pitchFamily="18" charset="0"/>
                                  </a:rPr>
                                </m:ctrlPr>
                              </m:sSubPr>
                              <m:e>
                                <m:r>
                                  <a:rPr lang="en-US" altLang="zh-CN" sz="2200" i="1" kern="100">
                                    <a:latin typeface="Cambria Math" panose="02040503050406030204" pitchFamily="18" charset="0"/>
                                    <a:ea typeface="宋体" panose="02010600030101010101" pitchFamily="2" charset="-122"/>
                                  </a:rPr>
                                  <m:t>𝑔</m:t>
                                </m:r>
                              </m:e>
                              <m:sub>
                                <m:r>
                                  <a:rPr lang="en-US" altLang="zh-CN" sz="2200" i="1" kern="100">
                                    <a:latin typeface="Cambria Math" panose="02040503050406030204" pitchFamily="18" charset="0"/>
                                    <a:ea typeface="宋体" panose="02010600030101010101" pitchFamily="2" charset="-122"/>
                                  </a:rPr>
                                  <m:t>𝑘</m:t>
                                </m:r>
                              </m:sub>
                            </m:sSub>
                          </m:e>
                        </m:d>
                      </m:e>
                      <m:sub>
                        <m:r>
                          <a:rPr lang="en-US" altLang="zh-CN" sz="2200" i="1" kern="100">
                            <a:latin typeface="Cambria Math" panose="02040503050406030204" pitchFamily="18" charset="0"/>
                            <a:ea typeface="Cambria Math" panose="02040503050406030204" pitchFamily="18" charset="0"/>
                          </a:rPr>
                          <m:t>2</m:t>
                        </m:r>
                      </m:sub>
                    </m:sSub>
                    <m:r>
                      <a:rPr lang="en-US" altLang="zh-CN" sz="2200" i="1" kern="100">
                        <a:latin typeface="Cambria Math" panose="02040503050406030204" pitchFamily="18" charset="0"/>
                        <a:ea typeface="宋体" panose="02010600030101010101" pitchFamily="2" charset="-122"/>
                      </a:rPr>
                      <m:t>&lt;</m:t>
                    </m:r>
                    <m:r>
                      <a:rPr lang="en-US" altLang="zh-CN" sz="2200" i="1" kern="100">
                        <a:latin typeface="Cambria Math" panose="02040503050406030204" pitchFamily="18" charset="0"/>
                        <a:ea typeface="宋体" panose="02010600030101010101" pitchFamily="2" charset="-122"/>
                      </a:rPr>
                      <m:t>𝜀</m:t>
                    </m:r>
                  </m:oMath>
                </a14:m>
                <a:r>
                  <a:rPr lang="zh-CN" altLang="zh-CN" sz="2200" kern="100" dirty="0">
                    <a:latin typeface="宋体" panose="02010600030101010101" pitchFamily="2" charset="-122"/>
                    <a:ea typeface="宋体" panose="02010600030101010101" pitchFamily="2" charset="-122"/>
                  </a:rPr>
                  <a:t>，则停止迭代，得近似极小点</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𝑥</m:t>
                        </m:r>
                      </m:e>
                      <m:sup>
                        <m:r>
                          <a:rPr lang="en-US" altLang="zh-CN" sz="2200" i="1" kern="100">
                            <a:latin typeface="Cambria Math" panose="02040503050406030204" pitchFamily="18" charset="0"/>
                            <a:ea typeface="宋体" panose="02010600030101010101" pitchFamily="2" charset="-122"/>
                          </a:rPr>
                          <m:t>∗</m:t>
                        </m:r>
                      </m:sup>
                    </m:sSup>
                    <m:r>
                      <a:rPr lang="en-US" altLang="zh-CN" sz="2200" i="1" kern="100">
                        <a:latin typeface="Cambria Math" panose="02040503050406030204" pitchFamily="18" charset="0"/>
                        <a:ea typeface="宋体" panose="02010600030101010101" pitchFamily="2" charset="-122"/>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𝑥</m:t>
                        </m:r>
                      </m:e>
                      <m:sup>
                        <m:r>
                          <a:rPr lang="en-US" altLang="zh-CN" sz="2200" i="1" kern="100">
                            <a:latin typeface="Cambria Math" panose="02040503050406030204" pitchFamily="18" charset="0"/>
                            <a:ea typeface="宋体" panose="02010600030101010101" pitchFamily="2" charset="-122"/>
                          </a:rPr>
                          <m:t>(</m:t>
                        </m:r>
                        <m:r>
                          <a:rPr lang="en-US" altLang="zh-CN" sz="2200" i="1" kern="100">
                            <a:latin typeface="Cambria Math" panose="02040503050406030204" pitchFamily="18" charset="0"/>
                            <a:ea typeface="宋体" panose="02010600030101010101" pitchFamily="2" charset="-122"/>
                          </a:rPr>
                          <m:t>𝑘</m:t>
                        </m:r>
                        <m:r>
                          <a:rPr lang="en-US" altLang="zh-CN" sz="2200" i="1" kern="100">
                            <a:latin typeface="Cambria Math" panose="02040503050406030204" pitchFamily="18" charset="0"/>
                            <a:ea typeface="宋体" panose="02010600030101010101" pitchFamily="2" charset="-122"/>
                          </a:rPr>
                          <m:t>)</m:t>
                        </m:r>
                      </m:sup>
                    </m:sSup>
                  </m:oMath>
                </a14:m>
                <a:r>
                  <a:rPr lang="zh-CN" altLang="zh-CN" sz="2200" kern="100" dirty="0">
                    <a:latin typeface="宋体" panose="02010600030101010101" pitchFamily="2" charset="-122"/>
                    <a:ea typeface="宋体" panose="02010600030101010101" pitchFamily="2" charset="-122"/>
                  </a:rPr>
                  <a:t>；否则，转下一步</a:t>
                </a:r>
                <a:r>
                  <a:rPr lang="zh-CN" altLang="en-US" sz="2200" kern="100" dirty="0">
                    <a:latin typeface="宋体" panose="02010600030101010101" pitchFamily="2" charset="-122"/>
                    <a:ea typeface="宋体" panose="02010600030101010101" pitchFamily="2" charset="-122"/>
                  </a:rPr>
                  <a:t>；</a:t>
                </a:r>
                <a:endParaRPr lang="zh-CN" altLang="zh-CN" sz="2200" kern="100" dirty="0">
                  <a:latin typeface="宋体" panose="02010600030101010101" pitchFamily="2" charset="-122"/>
                  <a:ea typeface="宋体" panose="02010600030101010101" pitchFamily="2" charset="-122"/>
                </a:endParaRPr>
              </a:p>
              <a:p>
                <a:pPr indent="200025" algn="just">
                  <a:lnSpc>
                    <a:spcPct val="120000"/>
                  </a:lnSpc>
                </a:pPr>
                <a:r>
                  <a:rPr lang="en-US" altLang="zh-CN" sz="2200" kern="100" dirty="0">
                    <a:latin typeface="宋体" panose="02010600030101010101" pitchFamily="2" charset="-122"/>
                    <a:ea typeface="宋体" panose="02010600030101010101" pitchFamily="2" charset="-122"/>
                  </a:rPr>
                  <a:t>3.</a:t>
                </a:r>
                <a:r>
                  <a:rPr lang="zh-CN" altLang="zh-CN" sz="2200" kern="100" dirty="0">
                    <a:latin typeface="宋体" panose="02010600030101010101" pitchFamily="2" charset="-122"/>
                    <a:ea typeface="宋体" panose="02010600030101010101" pitchFamily="2" charset="-122"/>
                  </a:rPr>
                  <a:t>构造搜索方向</a:t>
                </a:r>
                <a:r>
                  <a:rPr lang="zh-CN" altLang="en-US" sz="2200" kern="100" dirty="0">
                    <a:latin typeface="宋体" panose="02010600030101010101" pitchFamily="2" charset="-122"/>
                    <a:ea typeface="宋体" panose="02010600030101010101" pitchFamily="2" charset="-122"/>
                  </a:rPr>
                  <a:t>：</a:t>
                </a:r>
                <a:endParaRPr lang="zh-CN" altLang="zh-CN" sz="2200" kern="100" dirty="0">
                  <a:latin typeface="宋体" panose="02010600030101010101" pitchFamily="2" charset="-122"/>
                  <a:ea typeface="宋体" panose="02010600030101010101" pitchFamily="2" charset="-122"/>
                </a:endParaRPr>
              </a:p>
              <a:p>
                <a:pPr algn="just">
                  <a:lnSpc>
                    <a:spcPct val="120000"/>
                  </a:lnSpc>
                </a:pPr>
                <a:r>
                  <a:rPr lang="en-US" altLang="zh-CN" sz="2200" kern="100" dirty="0">
                    <a:latin typeface="宋体" panose="02010600030101010101" pitchFamily="2" charset="-122"/>
                    <a:ea typeface="宋体" panose="02010600030101010101" pitchFamily="2" charset="-122"/>
                  </a:rPr>
                  <a:t>                   </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𝑑</m:t>
                        </m:r>
                      </m:e>
                      <m:sup>
                        <m:r>
                          <a:rPr lang="en-US" altLang="zh-CN" sz="2200" i="1" kern="100">
                            <a:latin typeface="Cambria Math" panose="02040503050406030204" pitchFamily="18" charset="0"/>
                            <a:ea typeface="宋体" panose="02010600030101010101" pitchFamily="2" charset="-122"/>
                          </a:rPr>
                          <m:t>(</m:t>
                        </m:r>
                        <m:r>
                          <a:rPr lang="en-US" altLang="zh-CN" sz="2200" i="1" kern="100">
                            <a:latin typeface="Cambria Math" panose="02040503050406030204" pitchFamily="18" charset="0"/>
                            <a:ea typeface="宋体" panose="02010600030101010101" pitchFamily="2" charset="-122"/>
                          </a:rPr>
                          <m:t>𝑘</m:t>
                        </m:r>
                        <m:r>
                          <a:rPr lang="en-US" altLang="zh-CN" sz="2200" i="1" kern="100">
                            <a:latin typeface="Cambria Math" panose="02040503050406030204" pitchFamily="18" charset="0"/>
                            <a:ea typeface="宋体" panose="02010600030101010101" pitchFamily="2" charset="-122"/>
                          </a:rPr>
                          <m:t>)</m:t>
                        </m:r>
                      </m:sup>
                    </m:sSup>
                    <m:r>
                      <a:rPr lang="en-US" altLang="zh-CN" sz="2200" i="1" kern="100">
                        <a:latin typeface="Cambria Math" panose="02040503050406030204" pitchFamily="18" charset="0"/>
                        <a:ea typeface="宋体" panose="02010600030101010101" pitchFamily="2" charset="-122"/>
                      </a:rPr>
                      <m:t>=</m:t>
                    </m:r>
                    <m:r>
                      <a:rPr lang="zh-CN" altLang="en-US" sz="2200" i="1" kern="100">
                        <a:latin typeface="Cambria Math" panose="02040503050406030204" pitchFamily="18" charset="0"/>
                        <a:ea typeface="微软雅黑" panose="020B0503020204020204" pitchFamily="34" charset="-122"/>
                        <a:cs typeface="微软雅黑" panose="020B0503020204020204" pitchFamily="34" charset="-122"/>
                      </a:rPr>
                      <m:t>−</m:t>
                    </m:r>
                    <m:sSub>
                      <m:sSubPr>
                        <m:ctrlPr>
                          <a:rPr lang="zh-CN" altLang="zh-CN" sz="2200" i="1" kern="100">
                            <a:latin typeface="Cambria Math" panose="02040503050406030204" pitchFamily="18" charset="0"/>
                            <a:ea typeface="Cambria Math" panose="02040503050406030204" pitchFamily="18" charset="0"/>
                          </a:rPr>
                        </m:ctrlPr>
                      </m:sSubPr>
                      <m:e>
                        <m:r>
                          <a:rPr lang="en-US" altLang="zh-CN" sz="2200" i="1" kern="100">
                            <a:latin typeface="Cambria Math" panose="02040503050406030204" pitchFamily="18" charset="0"/>
                            <a:ea typeface="宋体" panose="02010600030101010101" pitchFamily="2" charset="-122"/>
                          </a:rPr>
                          <m:t>𝑔</m:t>
                        </m:r>
                      </m:e>
                      <m:sub>
                        <m:r>
                          <a:rPr lang="en-US" altLang="zh-CN" sz="2200" i="1" kern="100">
                            <a:latin typeface="Cambria Math" panose="02040503050406030204" pitchFamily="18" charset="0"/>
                            <a:ea typeface="宋体" panose="02010600030101010101" pitchFamily="2" charset="-122"/>
                          </a:rPr>
                          <m:t>𝑘</m:t>
                        </m:r>
                      </m:sub>
                    </m:sSub>
                    <m:r>
                      <a:rPr lang="en-US" altLang="zh-CN" sz="2200" i="1" kern="100">
                        <a:latin typeface="Cambria Math" panose="02040503050406030204" pitchFamily="18" charset="0"/>
                        <a:ea typeface="宋体" panose="02010600030101010101" pitchFamily="2" charset="-122"/>
                      </a:rPr>
                      <m:t>+</m:t>
                    </m:r>
                    <m:sSub>
                      <m:sSubPr>
                        <m:ctrlPr>
                          <a:rPr lang="zh-CN" altLang="zh-CN" sz="2200" i="1" kern="100">
                            <a:latin typeface="Cambria Math" panose="02040503050406030204" pitchFamily="18" charset="0"/>
                            <a:ea typeface="Cambria Math" panose="02040503050406030204" pitchFamily="18" charset="0"/>
                          </a:rPr>
                        </m:ctrlPr>
                      </m:sSubPr>
                      <m:e>
                        <m:r>
                          <a:rPr lang="en-US" altLang="zh-CN" sz="2200" i="1" kern="100">
                            <a:latin typeface="Cambria Math" panose="02040503050406030204" pitchFamily="18" charset="0"/>
                            <a:ea typeface="宋体" panose="02010600030101010101" pitchFamily="2" charset="-122"/>
                          </a:rPr>
                          <m:t>𝛽</m:t>
                        </m:r>
                      </m:e>
                      <m:sub>
                        <m:r>
                          <a:rPr lang="en-US" altLang="zh-CN" sz="2200" i="1" kern="100">
                            <a:latin typeface="Cambria Math" panose="02040503050406030204" pitchFamily="18" charset="0"/>
                            <a:ea typeface="宋体" panose="02010600030101010101" pitchFamily="2" charset="-122"/>
                          </a:rPr>
                          <m:t>𝑘</m:t>
                        </m:r>
                        <m:r>
                          <a:rPr lang="zh-CN" altLang="en-US" sz="2200" i="1" kern="100">
                            <a:latin typeface="Cambria Math" panose="02040503050406030204" pitchFamily="18" charset="0"/>
                            <a:ea typeface="微软雅黑" panose="020B0503020204020204" pitchFamily="34" charset="-122"/>
                            <a:cs typeface="微软雅黑" panose="020B0503020204020204" pitchFamily="34" charset="-122"/>
                          </a:rPr>
                          <m:t>−</m:t>
                        </m:r>
                        <m:r>
                          <a:rPr lang="en-US" altLang="zh-CN" sz="2200" i="1" kern="100">
                            <a:latin typeface="Cambria Math" panose="02040503050406030204" pitchFamily="18" charset="0"/>
                            <a:ea typeface="宋体" panose="02010600030101010101" pitchFamily="2" charset="-122"/>
                          </a:rPr>
                          <m:t>1</m:t>
                        </m:r>
                      </m:sub>
                    </m:sSub>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𝑑</m:t>
                        </m:r>
                      </m:e>
                      <m:sup>
                        <m:r>
                          <a:rPr lang="en-US" altLang="zh-CN" sz="2200" i="1" kern="100">
                            <a:latin typeface="Cambria Math" panose="02040503050406030204" pitchFamily="18" charset="0"/>
                            <a:ea typeface="宋体" panose="02010600030101010101" pitchFamily="2" charset="-122"/>
                          </a:rPr>
                          <m:t>(</m:t>
                        </m:r>
                        <m:r>
                          <a:rPr lang="en-US" altLang="zh-CN" sz="2200" i="1" kern="100">
                            <a:latin typeface="Cambria Math" panose="02040503050406030204" pitchFamily="18" charset="0"/>
                            <a:ea typeface="宋体" panose="02010600030101010101" pitchFamily="2" charset="-122"/>
                          </a:rPr>
                          <m:t>𝑘</m:t>
                        </m:r>
                        <m:r>
                          <a:rPr lang="zh-CN" altLang="en-US" sz="2200" i="1" kern="100">
                            <a:latin typeface="Cambria Math" panose="02040503050406030204" pitchFamily="18" charset="0"/>
                            <a:ea typeface="微软雅黑" panose="020B0503020204020204" pitchFamily="34" charset="-122"/>
                            <a:cs typeface="微软雅黑" panose="020B0503020204020204" pitchFamily="34" charset="-122"/>
                          </a:rPr>
                          <m:t>−</m:t>
                        </m:r>
                        <m:r>
                          <a:rPr lang="en-US" altLang="zh-CN" sz="2200" i="1" kern="100">
                            <a:latin typeface="Cambria Math" panose="02040503050406030204" pitchFamily="18" charset="0"/>
                            <a:ea typeface="宋体" panose="02010600030101010101" pitchFamily="2" charset="-122"/>
                          </a:rPr>
                          <m:t>1)</m:t>
                        </m:r>
                      </m:sup>
                    </m:sSup>
                  </m:oMath>
                </a14:m>
                <a:endParaRPr lang="zh-CN" altLang="zh-CN" sz="2200" kern="100" dirty="0">
                  <a:latin typeface="宋体" panose="02010600030101010101" pitchFamily="2" charset="-122"/>
                  <a:ea typeface="宋体" panose="02010600030101010101" pitchFamily="2" charset="-122"/>
                </a:endParaRPr>
              </a:p>
              <a:p>
                <a:pPr algn="just">
                  <a:lnSpc>
                    <a:spcPct val="120000"/>
                  </a:lnSpc>
                </a:pPr>
                <a:r>
                  <a:rPr lang="en-US" altLang="zh-CN" sz="2200" kern="100" dirty="0">
                    <a:latin typeface="宋体" panose="02010600030101010101" pitchFamily="2" charset="-122"/>
                    <a:ea typeface="宋体" panose="02010600030101010101" pitchFamily="2" charset="-122"/>
                  </a:rPr>
                  <a:t>    </a:t>
                </a:r>
                <a:r>
                  <a:rPr lang="zh-CN" altLang="zh-CN" sz="2200" kern="100" dirty="0">
                    <a:latin typeface="宋体" panose="02010600030101010101" pitchFamily="2" charset="-122"/>
                    <a:ea typeface="宋体" panose="02010600030101010101" pitchFamily="2" charset="-122"/>
                  </a:rPr>
                  <a:t>其中，当</a:t>
                </a:r>
                <a14:m>
                  <m:oMath xmlns:m="http://schemas.openxmlformats.org/officeDocument/2006/math">
                    <m:r>
                      <a:rPr lang="en-US" altLang="zh-CN" sz="2200" i="1" kern="100">
                        <a:latin typeface="Cambria Math" panose="02040503050406030204" pitchFamily="18" charset="0"/>
                        <a:ea typeface="宋体" panose="02010600030101010101" pitchFamily="2" charset="-122"/>
                      </a:rPr>
                      <m:t>𝑘</m:t>
                    </m:r>
                    <m:r>
                      <a:rPr lang="en-US" altLang="zh-CN" sz="2200" i="1" kern="100">
                        <a:latin typeface="Cambria Math" panose="02040503050406030204" pitchFamily="18" charset="0"/>
                        <a:ea typeface="宋体" panose="02010600030101010101" pitchFamily="2" charset="-122"/>
                      </a:rPr>
                      <m:t> =1</m:t>
                    </m:r>
                  </m:oMath>
                </a14:m>
                <a:r>
                  <a:rPr lang="zh-CN" altLang="zh-CN" sz="2200" kern="100" dirty="0">
                    <a:latin typeface="宋体" panose="02010600030101010101" pitchFamily="2" charset="-122"/>
                    <a:ea typeface="宋体" panose="02010600030101010101" pitchFamily="2" charset="-122"/>
                  </a:rPr>
                  <a:t>时，</a:t>
                </a:r>
                <a14:m>
                  <m:oMath xmlns:m="http://schemas.openxmlformats.org/officeDocument/2006/math">
                    <m:sSub>
                      <m:sSubPr>
                        <m:ctrlPr>
                          <a:rPr lang="zh-CN" altLang="zh-CN" sz="2200" i="1" kern="100">
                            <a:latin typeface="Cambria Math" panose="02040503050406030204" pitchFamily="18" charset="0"/>
                            <a:ea typeface="Cambria Math" panose="02040503050406030204" pitchFamily="18" charset="0"/>
                          </a:rPr>
                        </m:ctrlPr>
                      </m:sSubPr>
                      <m:e>
                        <m:r>
                          <a:rPr lang="en-US" altLang="zh-CN" sz="2200" i="1" kern="100">
                            <a:latin typeface="Cambria Math" panose="02040503050406030204" pitchFamily="18" charset="0"/>
                            <a:ea typeface="宋体" panose="02010600030101010101" pitchFamily="2" charset="-122"/>
                          </a:rPr>
                          <m:t>𝛽</m:t>
                        </m:r>
                      </m:e>
                      <m:sub>
                        <m:r>
                          <a:rPr lang="en-US" altLang="zh-CN" sz="2200" i="1" kern="100">
                            <a:latin typeface="Cambria Math" panose="02040503050406030204" pitchFamily="18" charset="0"/>
                            <a:ea typeface="宋体" panose="02010600030101010101" pitchFamily="2" charset="-122"/>
                          </a:rPr>
                          <m:t>0</m:t>
                        </m:r>
                      </m:sub>
                    </m:sSub>
                    <m:r>
                      <a:rPr lang="en-US" altLang="zh-CN" sz="2200" i="1" kern="100">
                        <a:latin typeface="Cambria Math" panose="02040503050406030204" pitchFamily="18" charset="0"/>
                        <a:ea typeface="宋体" panose="02010600030101010101" pitchFamily="2" charset="-122"/>
                      </a:rPr>
                      <m:t>=0</m:t>
                    </m:r>
                  </m:oMath>
                </a14:m>
                <a:r>
                  <a:rPr lang="zh-CN" altLang="zh-CN" sz="2200" kern="100" dirty="0">
                    <a:latin typeface="宋体" panose="02010600030101010101" pitchFamily="2" charset="-122"/>
                    <a:ea typeface="宋体" panose="02010600030101010101" pitchFamily="2" charset="-122"/>
                  </a:rPr>
                  <a:t>；当</a:t>
                </a:r>
                <a14:m>
                  <m:oMath xmlns:m="http://schemas.openxmlformats.org/officeDocument/2006/math">
                    <m:r>
                      <a:rPr lang="en-US" altLang="zh-CN" sz="2200" i="1" kern="100">
                        <a:latin typeface="Cambria Math" panose="02040503050406030204" pitchFamily="18" charset="0"/>
                        <a:ea typeface="宋体" panose="02010600030101010101" pitchFamily="2" charset="-122"/>
                      </a:rPr>
                      <m:t>𝑘</m:t>
                    </m:r>
                    <m:r>
                      <a:rPr lang="en-US" altLang="zh-CN" sz="2200" i="1" kern="100">
                        <a:latin typeface="Cambria Math" panose="02040503050406030204" pitchFamily="18" charset="0"/>
                        <a:ea typeface="宋体" panose="02010600030101010101" pitchFamily="2" charset="-122"/>
                      </a:rPr>
                      <m:t> &gt;1</m:t>
                    </m:r>
                  </m:oMath>
                </a14:m>
                <a:r>
                  <a:rPr lang="zh-CN" altLang="zh-CN" sz="2200" kern="100" dirty="0">
                    <a:latin typeface="宋体" panose="02010600030101010101" pitchFamily="2" charset="-122"/>
                    <a:ea typeface="宋体" panose="02010600030101010101" pitchFamily="2" charset="-122"/>
                  </a:rPr>
                  <a:t>时，</a:t>
                </a:r>
                <a14:m>
                  <m:oMath xmlns:m="http://schemas.openxmlformats.org/officeDocument/2006/math">
                    <m:sSub>
                      <m:sSubPr>
                        <m:ctrlPr>
                          <a:rPr lang="zh-CN" altLang="zh-CN" sz="2200" i="1" kern="100">
                            <a:solidFill>
                              <a:srgbClr val="FF0000"/>
                            </a:solidFill>
                            <a:latin typeface="Cambria Math" panose="02040503050406030204" pitchFamily="18" charset="0"/>
                            <a:ea typeface="Cambria Math" panose="02040503050406030204" pitchFamily="18" charset="0"/>
                          </a:rPr>
                        </m:ctrlPr>
                      </m:sSubPr>
                      <m:e>
                        <m:r>
                          <a:rPr lang="en-US" altLang="zh-CN" sz="2200" i="1" kern="100">
                            <a:solidFill>
                              <a:srgbClr val="FF0000"/>
                            </a:solidFill>
                            <a:latin typeface="Cambria Math" panose="02040503050406030204" pitchFamily="18" charset="0"/>
                            <a:ea typeface="宋体" panose="02010600030101010101" pitchFamily="2" charset="-122"/>
                          </a:rPr>
                          <m:t>𝛽</m:t>
                        </m:r>
                      </m:e>
                      <m:sub>
                        <m:r>
                          <a:rPr lang="en-US" altLang="zh-CN" sz="2200" i="1" kern="100">
                            <a:solidFill>
                              <a:srgbClr val="FF0000"/>
                            </a:solidFill>
                            <a:latin typeface="Cambria Math" panose="02040503050406030204" pitchFamily="18" charset="0"/>
                            <a:ea typeface="宋体" panose="02010600030101010101" pitchFamily="2" charset="-122"/>
                          </a:rPr>
                          <m:t>𝑘</m:t>
                        </m:r>
                        <m:r>
                          <a:rPr lang="zh-CN" altLang="en-US" sz="2200" i="1" kern="100">
                            <a:solidFill>
                              <a:srgbClr val="FF0000"/>
                            </a:solidFill>
                            <a:latin typeface="Cambria Math" panose="02040503050406030204" pitchFamily="18" charset="0"/>
                            <a:ea typeface="微软雅黑" panose="020B0503020204020204" pitchFamily="34" charset="-122"/>
                            <a:cs typeface="微软雅黑" panose="020B0503020204020204" pitchFamily="34" charset="-122"/>
                          </a:rPr>
                          <m:t>−</m:t>
                        </m:r>
                        <m:r>
                          <a:rPr lang="en-US" altLang="zh-CN" sz="2200" i="1" kern="100">
                            <a:solidFill>
                              <a:srgbClr val="FF0000"/>
                            </a:solidFill>
                            <a:latin typeface="Cambria Math" panose="02040503050406030204" pitchFamily="18" charset="0"/>
                            <a:ea typeface="宋体" panose="02010600030101010101" pitchFamily="2" charset="-122"/>
                          </a:rPr>
                          <m:t>1</m:t>
                        </m:r>
                      </m:sub>
                    </m:sSub>
                    <m:r>
                      <a:rPr lang="en-US" altLang="zh-CN" sz="2200" i="1" kern="100">
                        <a:solidFill>
                          <a:srgbClr val="FF0000"/>
                        </a:solidFill>
                        <a:latin typeface="Cambria Math" panose="02040503050406030204" pitchFamily="18" charset="0"/>
                        <a:ea typeface="宋体" panose="02010600030101010101" pitchFamily="2" charset="-122"/>
                      </a:rPr>
                      <m:t>=</m:t>
                    </m:r>
                    <m:f>
                      <m:fPr>
                        <m:ctrlPr>
                          <a:rPr lang="zh-CN" altLang="zh-CN" sz="2200" i="1" kern="100">
                            <a:solidFill>
                              <a:srgbClr val="FF0000"/>
                            </a:solidFill>
                            <a:latin typeface="Cambria Math" panose="02040503050406030204" pitchFamily="18" charset="0"/>
                            <a:ea typeface="Cambria Math" panose="02040503050406030204" pitchFamily="18" charset="0"/>
                          </a:rPr>
                        </m:ctrlPr>
                      </m:fPr>
                      <m:num>
                        <m:sSubSup>
                          <m:sSubSupPr>
                            <m:ctrlPr>
                              <a:rPr lang="en-US" altLang="zh-CN" sz="2200" i="1" kern="100">
                                <a:solidFill>
                                  <a:srgbClr val="FF0000"/>
                                </a:solidFill>
                                <a:latin typeface="Cambria Math" panose="02040503050406030204" pitchFamily="18" charset="0"/>
                                <a:ea typeface="宋体" panose="02010600030101010101" pitchFamily="2" charset="-122"/>
                              </a:rPr>
                            </m:ctrlPr>
                          </m:sSubSupPr>
                          <m:e>
                            <m:d>
                              <m:dPr>
                                <m:begChr m:val="‖"/>
                                <m:endChr m:val="‖"/>
                                <m:ctrlPr>
                                  <a:rPr lang="zh-CN" altLang="zh-CN" sz="2200" i="1" kern="100">
                                    <a:solidFill>
                                      <a:srgbClr val="FF0000"/>
                                    </a:solidFill>
                                    <a:latin typeface="Cambria Math" panose="02040503050406030204" pitchFamily="18" charset="0"/>
                                    <a:ea typeface="Cambria Math" panose="02040503050406030204" pitchFamily="18" charset="0"/>
                                  </a:rPr>
                                </m:ctrlPr>
                              </m:dPr>
                              <m:e>
                                <m:sSub>
                                  <m:sSubPr>
                                    <m:ctrlPr>
                                      <a:rPr lang="zh-CN" altLang="zh-CN" sz="2200" i="1" kern="100">
                                        <a:solidFill>
                                          <a:srgbClr val="FF0000"/>
                                        </a:solidFill>
                                        <a:latin typeface="Cambria Math" panose="02040503050406030204" pitchFamily="18" charset="0"/>
                                        <a:ea typeface="Cambria Math" panose="02040503050406030204" pitchFamily="18" charset="0"/>
                                      </a:rPr>
                                    </m:ctrlPr>
                                  </m:sSubPr>
                                  <m:e>
                                    <m:r>
                                      <a:rPr lang="en-US" altLang="zh-CN" sz="2200" i="1" kern="100">
                                        <a:solidFill>
                                          <a:srgbClr val="FF0000"/>
                                        </a:solidFill>
                                        <a:latin typeface="Cambria Math" panose="02040503050406030204" pitchFamily="18" charset="0"/>
                                        <a:ea typeface="宋体" panose="02010600030101010101" pitchFamily="2" charset="-122"/>
                                      </a:rPr>
                                      <m:t>𝑔</m:t>
                                    </m:r>
                                  </m:e>
                                  <m:sub>
                                    <m:r>
                                      <a:rPr lang="en-US" altLang="zh-CN" sz="2200" i="1" kern="100">
                                        <a:solidFill>
                                          <a:srgbClr val="FF0000"/>
                                        </a:solidFill>
                                        <a:latin typeface="Cambria Math" panose="02040503050406030204" pitchFamily="18" charset="0"/>
                                        <a:ea typeface="宋体" panose="02010600030101010101" pitchFamily="2" charset="-122"/>
                                      </a:rPr>
                                      <m:t>𝑘</m:t>
                                    </m:r>
                                  </m:sub>
                                </m:sSub>
                              </m:e>
                            </m:d>
                          </m:e>
                          <m:sub>
                            <m:r>
                              <a:rPr lang="en-US" altLang="zh-CN" sz="2200" i="1" kern="100">
                                <a:solidFill>
                                  <a:srgbClr val="FF0000"/>
                                </a:solidFill>
                                <a:latin typeface="Cambria Math" panose="02040503050406030204" pitchFamily="18" charset="0"/>
                                <a:ea typeface="宋体" panose="02010600030101010101" pitchFamily="2" charset="-122"/>
                              </a:rPr>
                              <m:t>2</m:t>
                            </m:r>
                          </m:sub>
                          <m:sup>
                            <m:r>
                              <a:rPr lang="en-US" altLang="zh-CN" sz="2200" i="1" kern="100">
                                <a:solidFill>
                                  <a:srgbClr val="FF0000"/>
                                </a:solidFill>
                                <a:latin typeface="Cambria Math" panose="02040503050406030204" pitchFamily="18" charset="0"/>
                                <a:ea typeface="宋体" panose="02010600030101010101" pitchFamily="2" charset="-122"/>
                              </a:rPr>
                              <m:t>2</m:t>
                            </m:r>
                          </m:sup>
                        </m:sSubSup>
                      </m:num>
                      <m:den>
                        <m:sSubSup>
                          <m:sSubSupPr>
                            <m:ctrlPr>
                              <a:rPr lang="en-US" altLang="zh-CN" sz="2200" i="1" kern="100">
                                <a:solidFill>
                                  <a:srgbClr val="FF0000"/>
                                </a:solidFill>
                                <a:latin typeface="Cambria Math" panose="02040503050406030204" pitchFamily="18" charset="0"/>
                                <a:ea typeface="宋体" panose="02010600030101010101" pitchFamily="2" charset="-122"/>
                              </a:rPr>
                            </m:ctrlPr>
                          </m:sSubSupPr>
                          <m:e>
                            <m:d>
                              <m:dPr>
                                <m:begChr m:val="‖"/>
                                <m:endChr m:val="‖"/>
                                <m:ctrlPr>
                                  <a:rPr lang="zh-CN" altLang="zh-CN" sz="2200" i="1" kern="100">
                                    <a:solidFill>
                                      <a:srgbClr val="FF0000"/>
                                    </a:solidFill>
                                    <a:latin typeface="Cambria Math" panose="02040503050406030204" pitchFamily="18" charset="0"/>
                                    <a:ea typeface="Cambria Math" panose="02040503050406030204" pitchFamily="18" charset="0"/>
                                  </a:rPr>
                                </m:ctrlPr>
                              </m:dPr>
                              <m:e>
                                <m:sSub>
                                  <m:sSubPr>
                                    <m:ctrlPr>
                                      <a:rPr lang="zh-CN" altLang="zh-CN" sz="2200" i="1" kern="100">
                                        <a:solidFill>
                                          <a:srgbClr val="FF0000"/>
                                        </a:solidFill>
                                        <a:latin typeface="Cambria Math" panose="02040503050406030204" pitchFamily="18" charset="0"/>
                                        <a:ea typeface="Cambria Math" panose="02040503050406030204" pitchFamily="18" charset="0"/>
                                      </a:rPr>
                                    </m:ctrlPr>
                                  </m:sSubPr>
                                  <m:e>
                                    <m:r>
                                      <a:rPr lang="en-US" altLang="zh-CN" sz="2200" i="1" kern="100">
                                        <a:solidFill>
                                          <a:srgbClr val="FF0000"/>
                                        </a:solidFill>
                                        <a:latin typeface="Cambria Math" panose="02040503050406030204" pitchFamily="18" charset="0"/>
                                        <a:ea typeface="宋体" panose="02010600030101010101" pitchFamily="2" charset="-122"/>
                                      </a:rPr>
                                      <m:t>𝑔</m:t>
                                    </m:r>
                                  </m:e>
                                  <m:sub>
                                    <m:r>
                                      <a:rPr lang="en-US" altLang="zh-CN" sz="2200" i="1" kern="100">
                                        <a:solidFill>
                                          <a:srgbClr val="FF0000"/>
                                        </a:solidFill>
                                        <a:latin typeface="Cambria Math" panose="02040503050406030204" pitchFamily="18" charset="0"/>
                                        <a:ea typeface="宋体" panose="02010600030101010101" pitchFamily="2" charset="-122"/>
                                      </a:rPr>
                                      <m:t>𝑘</m:t>
                                    </m:r>
                                    <m:r>
                                      <a:rPr lang="en-US" altLang="zh-CN" sz="2200" i="1" kern="100">
                                        <a:solidFill>
                                          <a:srgbClr val="FF0000"/>
                                        </a:solidFill>
                                        <a:latin typeface="Cambria Math" panose="02040503050406030204" pitchFamily="18" charset="0"/>
                                        <a:ea typeface="宋体" panose="02010600030101010101" pitchFamily="2" charset="-122"/>
                                      </a:rPr>
                                      <m:t>−1</m:t>
                                    </m:r>
                                  </m:sub>
                                </m:sSub>
                              </m:e>
                            </m:d>
                          </m:e>
                          <m:sub>
                            <m:r>
                              <a:rPr lang="en-US" altLang="zh-CN" sz="2200" i="1" kern="100">
                                <a:solidFill>
                                  <a:srgbClr val="FF0000"/>
                                </a:solidFill>
                                <a:latin typeface="Cambria Math" panose="02040503050406030204" pitchFamily="18" charset="0"/>
                                <a:ea typeface="宋体" panose="02010600030101010101" pitchFamily="2" charset="-122"/>
                              </a:rPr>
                              <m:t>2</m:t>
                            </m:r>
                          </m:sub>
                          <m:sup>
                            <m:r>
                              <a:rPr lang="en-US" altLang="zh-CN" sz="2200" i="1" kern="100">
                                <a:solidFill>
                                  <a:srgbClr val="FF0000"/>
                                </a:solidFill>
                                <a:latin typeface="Cambria Math" panose="02040503050406030204" pitchFamily="18" charset="0"/>
                                <a:ea typeface="宋体" panose="02010600030101010101" pitchFamily="2" charset="-122"/>
                              </a:rPr>
                              <m:t>2</m:t>
                            </m:r>
                          </m:sup>
                        </m:sSubSup>
                      </m:den>
                    </m:f>
                  </m:oMath>
                </a14:m>
                <a:r>
                  <a:rPr lang="zh-CN" altLang="en-US" sz="2200" kern="100" dirty="0">
                    <a:latin typeface="宋体" panose="02010600030101010101" pitchFamily="2" charset="-122"/>
                    <a:ea typeface="宋体" panose="02010600030101010101" pitchFamily="2" charset="-122"/>
                  </a:rPr>
                  <a:t>。</a:t>
                </a:r>
                <a:endParaRPr lang="en-US" altLang="zh-CN" sz="2200" kern="100" dirty="0">
                  <a:latin typeface="宋体" panose="02010600030101010101" pitchFamily="2" charset="-122"/>
                  <a:ea typeface="宋体" panose="02010600030101010101" pitchFamily="2" charset="-122"/>
                </a:endParaRPr>
              </a:p>
              <a:p>
                <a:pPr algn="just">
                  <a:lnSpc>
                    <a:spcPct val="120000"/>
                  </a:lnSpc>
                </a:pPr>
                <a:r>
                  <a:rPr lang="en-US" altLang="zh-CN" sz="2200" kern="100" dirty="0">
                    <a:latin typeface="宋体" panose="02010600030101010101" pitchFamily="2" charset="-122"/>
                    <a:ea typeface="宋体" panose="02010600030101010101" pitchFamily="2" charset="-122"/>
                  </a:rPr>
                  <a:t>  4.</a:t>
                </a:r>
                <a:r>
                  <a:rPr lang="zh-CN" altLang="zh-CN" sz="2200" kern="100" dirty="0">
                    <a:latin typeface="Times New Roman" panose="02020603050405020304" pitchFamily="18" charset="0"/>
                    <a:ea typeface="宋体" panose="02010600030101010101" pitchFamily="2" charset="-122"/>
                  </a:rPr>
                  <a:t>构造新点</a:t>
                </a:r>
                <a14:m>
                  <m:oMath xmlns:m="http://schemas.openxmlformats.org/officeDocument/2006/math">
                    <m:sSup>
                      <m:sSupPr>
                        <m:ctrlPr>
                          <a:rPr lang="zh-CN" altLang="zh-CN" sz="2200" i="1" kern="100">
                            <a:solidFill>
                              <a:srgbClr val="FF0000"/>
                            </a:solidFill>
                            <a:latin typeface="Cambria Math" panose="02040503050406030204" pitchFamily="18" charset="0"/>
                            <a:ea typeface="Cambria Math" panose="02040503050406030204" pitchFamily="18" charset="0"/>
                          </a:rPr>
                        </m:ctrlPr>
                      </m:sSupPr>
                      <m:e>
                        <m:r>
                          <a:rPr lang="en-US" altLang="zh-CN" sz="2200" i="1" kern="100">
                            <a:solidFill>
                              <a:srgbClr val="FF0000"/>
                            </a:solidFill>
                            <a:latin typeface="Cambria Math" panose="02040503050406030204" pitchFamily="18" charset="0"/>
                            <a:ea typeface="宋体" panose="02010600030101010101" pitchFamily="2" charset="-122"/>
                          </a:rPr>
                          <m:t>𝑥</m:t>
                        </m:r>
                      </m:e>
                      <m:sup>
                        <m:r>
                          <a:rPr lang="en-US" altLang="zh-CN" sz="2200" i="1" kern="100">
                            <a:solidFill>
                              <a:srgbClr val="FF0000"/>
                            </a:solidFill>
                            <a:latin typeface="Cambria Math" panose="02040503050406030204" pitchFamily="18" charset="0"/>
                            <a:ea typeface="宋体" panose="02010600030101010101" pitchFamily="2" charset="-122"/>
                          </a:rPr>
                          <m:t>(</m:t>
                        </m:r>
                        <m:r>
                          <a:rPr lang="en-US" altLang="zh-CN" sz="2200" i="1" kern="100">
                            <a:solidFill>
                              <a:srgbClr val="FF0000"/>
                            </a:solidFill>
                            <a:latin typeface="Cambria Math" panose="02040503050406030204" pitchFamily="18" charset="0"/>
                            <a:ea typeface="宋体" panose="02010600030101010101" pitchFamily="2" charset="-122"/>
                          </a:rPr>
                          <m:t>𝑘</m:t>
                        </m:r>
                        <m:r>
                          <a:rPr lang="en-US" altLang="zh-CN" sz="2200" i="1" kern="100">
                            <a:solidFill>
                              <a:srgbClr val="FF0000"/>
                            </a:solidFill>
                            <a:latin typeface="Cambria Math" panose="02040503050406030204" pitchFamily="18" charset="0"/>
                            <a:ea typeface="宋体" panose="02010600030101010101" pitchFamily="2" charset="-122"/>
                          </a:rPr>
                          <m:t>+1)</m:t>
                        </m:r>
                      </m:sup>
                    </m:sSup>
                    <m:r>
                      <a:rPr lang="en-US" altLang="zh-CN" sz="2200" i="1" kern="100">
                        <a:solidFill>
                          <a:srgbClr val="FF0000"/>
                        </a:solidFill>
                        <a:latin typeface="Cambria Math" panose="02040503050406030204" pitchFamily="18" charset="0"/>
                        <a:ea typeface="宋体" panose="02010600030101010101" pitchFamily="2" charset="-122"/>
                      </a:rPr>
                      <m:t>=</m:t>
                    </m:r>
                    <m:sSup>
                      <m:sSupPr>
                        <m:ctrlPr>
                          <a:rPr lang="zh-CN" altLang="zh-CN" sz="2200" i="1" kern="100">
                            <a:solidFill>
                              <a:srgbClr val="FF0000"/>
                            </a:solidFill>
                            <a:latin typeface="Cambria Math" panose="02040503050406030204" pitchFamily="18" charset="0"/>
                            <a:ea typeface="Cambria Math" panose="02040503050406030204" pitchFamily="18" charset="0"/>
                          </a:rPr>
                        </m:ctrlPr>
                      </m:sSupPr>
                      <m:e>
                        <m:r>
                          <a:rPr lang="en-US" altLang="zh-CN" sz="2200" i="1" kern="100">
                            <a:solidFill>
                              <a:srgbClr val="FF0000"/>
                            </a:solidFill>
                            <a:latin typeface="Cambria Math" panose="02040503050406030204" pitchFamily="18" charset="0"/>
                            <a:ea typeface="宋体" panose="02010600030101010101" pitchFamily="2" charset="-122"/>
                          </a:rPr>
                          <m:t>𝑥</m:t>
                        </m:r>
                      </m:e>
                      <m:sup>
                        <m:r>
                          <a:rPr lang="en-US" altLang="zh-CN" sz="2200" i="1" kern="100">
                            <a:solidFill>
                              <a:srgbClr val="FF0000"/>
                            </a:solidFill>
                            <a:latin typeface="Cambria Math" panose="02040503050406030204" pitchFamily="18" charset="0"/>
                            <a:ea typeface="宋体" panose="02010600030101010101" pitchFamily="2" charset="-122"/>
                          </a:rPr>
                          <m:t>(</m:t>
                        </m:r>
                        <m:r>
                          <a:rPr lang="en-US" altLang="zh-CN" sz="2200" i="1" kern="100">
                            <a:solidFill>
                              <a:srgbClr val="FF0000"/>
                            </a:solidFill>
                            <a:latin typeface="Cambria Math" panose="02040503050406030204" pitchFamily="18" charset="0"/>
                            <a:ea typeface="宋体" panose="02010600030101010101" pitchFamily="2" charset="-122"/>
                          </a:rPr>
                          <m:t>𝑘</m:t>
                        </m:r>
                        <m:r>
                          <a:rPr lang="en-US" altLang="zh-CN" sz="2200" i="1" kern="100">
                            <a:solidFill>
                              <a:srgbClr val="FF0000"/>
                            </a:solidFill>
                            <a:latin typeface="Cambria Math" panose="02040503050406030204" pitchFamily="18" charset="0"/>
                            <a:ea typeface="宋体" panose="02010600030101010101" pitchFamily="2" charset="-122"/>
                          </a:rPr>
                          <m:t>)</m:t>
                        </m:r>
                      </m:sup>
                    </m:sSup>
                    <m:r>
                      <a:rPr lang="en-US" altLang="zh-CN" sz="2200" i="1" kern="100">
                        <a:solidFill>
                          <a:srgbClr val="FF0000"/>
                        </a:solidFill>
                        <a:latin typeface="Cambria Math" panose="02040503050406030204" pitchFamily="18" charset="0"/>
                        <a:ea typeface="宋体" panose="02010600030101010101" pitchFamily="2" charset="-122"/>
                      </a:rPr>
                      <m:t>+</m:t>
                    </m:r>
                    <m:sSup>
                      <m:sSupPr>
                        <m:ctrlPr>
                          <a:rPr lang="zh-CN" altLang="zh-CN" sz="22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22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2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sup>
                    </m:sSup>
                    <m:sSup>
                      <m:sSupPr>
                        <m:ctrlPr>
                          <a:rPr lang="zh-CN" altLang="zh-CN" sz="2200" i="1" kern="100">
                            <a:solidFill>
                              <a:srgbClr val="FF0000"/>
                            </a:solidFill>
                            <a:latin typeface="Cambria Math" panose="02040503050406030204" pitchFamily="18" charset="0"/>
                            <a:ea typeface="Cambria Math" panose="02040503050406030204" pitchFamily="18" charset="0"/>
                          </a:rPr>
                        </m:ctrlPr>
                      </m:sSupPr>
                      <m:e>
                        <m:r>
                          <a:rPr lang="en-US" altLang="zh-CN" sz="2200" i="1" kern="100">
                            <a:solidFill>
                              <a:srgbClr val="FF0000"/>
                            </a:solidFill>
                            <a:latin typeface="Cambria Math" panose="02040503050406030204" pitchFamily="18" charset="0"/>
                            <a:ea typeface="宋体" panose="02010600030101010101" pitchFamily="2" charset="-122"/>
                          </a:rPr>
                          <m:t>𝑑</m:t>
                        </m:r>
                      </m:e>
                      <m:sup>
                        <m:r>
                          <a:rPr lang="en-US" altLang="zh-CN" sz="2200" i="1" kern="100">
                            <a:solidFill>
                              <a:srgbClr val="FF0000"/>
                            </a:solidFill>
                            <a:latin typeface="Cambria Math" panose="02040503050406030204" pitchFamily="18" charset="0"/>
                            <a:ea typeface="宋体" panose="02010600030101010101" pitchFamily="2" charset="-122"/>
                          </a:rPr>
                          <m:t>(</m:t>
                        </m:r>
                        <m:r>
                          <a:rPr lang="en-US" altLang="zh-CN" sz="2200" i="1" kern="100">
                            <a:solidFill>
                              <a:srgbClr val="FF0000"/>
                            </a:solidFill>
                            <a:latin typeface="Cambria Math" panose="02040503050406030204" pitchFamily="18" charset="0"/>
                            <a:ea typeface="宋体" panose="02010600030101010101" pitchFamily="2" charset="-122"/>
                          </a:rPr>
                          <m:t>𝑘</m:t>
                        </m:r>
                        <m:r>
                          <a:rPr lang="en-US" altLang="zh-CN" sz="2200" i="1" kern="100">
                            <a:solidFill>
                              <a:srgbClr val="FF0000"/>
                            </a:solidFill>
                            <a:latin typeface="Cambria Math" panose="02040503050406030204" pitchFamily="18" charset="0"/>
                            <a:ea typeface="宋体" panose="02010600030101010101" pitchFamily="2" charset="-122"/>
                          </a:rPr>
                          <m:t>)</m:t>
                        </m:r>
                      </m:sup>
                    </m:sSup>
                  </m:oMath>
                </a14:m>
                <a:r>
                  <a:rPr lang="zh-CN" altLang="zh-CN" sz="2200" kern="100" dirty="0">
                    <a:latin typeface="Times New Roman" panose="02020603050405020304" pitchFamily="18" charset="0"/>
                    <a:ea typeface="宋体" panose="02010600030101010101" pitchFamily="2" charset="-122"/>
                  </a:rPr>
                  <a:t>，其中最优步长</a:t>
                </a:r>
                <a14:m>
                  <m:oMath xmlns:m="http://schemas.openxmlformats.org/officeDocument/2006/math">
                    <m:sSup>
                      <m:sSupPr>
                        <m:ctrlPr>
                          <a:rPr lang="zh-CN" altLang="zh-CN" sz="22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22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2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sz="2200" i="1" kern="100">
                        <a:solidFill>
                          <a:srgbClr val="FF0000"/>
                        </a:solidFill>
                        <a:latin typeface="Cambria Math" panose="02040503050406030204" pitchFamily="18" charset="0"/>
                        <a:ea typeface="宋体" panose="02010600030101010101" pitchFamily="2" charset="-122"/>
                      </a:rPr>
                      <m:t>=</m:t>
                    </m:r>
                    <m:f>
                      <m:fPr>
                        <m:ctrlPr>
                          <a:rPr lang="zh-CN" altLang="zh-CN" sz="2200" i="1" kern="100">
                            <a:solidFill>
                              <a:srgbClr val="FF0000"/>
                            </a:solidFill>
                            <a:latin typeface="Cambria Math" panose="02040503050406030204" pitchFamily="18" charset="0"/>
                            <a:ea typeface="Cambria Math" panose="02040503050406030204" pitchFamily="18" charset="0"/>
                          </a:rPr>
                        </m:ctrlPr>
                      </m:fPr>
                      <m:num>
                        <m:r>
                          <a:rPr lang="en-US" altLang="zh-CN" sz="2200" i="1" kern="100">
                            <a:solidFill>
                              <a:srgbClr val="FF0000"/>
                            </a:solidFill>
                            <a:latin typeface="Cambria Math" panose="02040503050406030204" pitchFamily="18" charset="0"/>
                            <a:ea typeface="宋体" panose="02010600030101010101" pitchFamily="2" charset="-122"/>
                          </a:rPr>
                          <m:t>(</m:t>
                        </m:r>
                        <m:sSub>
                          <m:sSubPr>
                            <m:ctrlPr>
                              <a:rPr lang="zh-CN" altLang="zh-CN" sz="2200" i="1" kern="100">
                                <a:solidFill>
                                  <a:srgbClr val="FF0000"/>
                                </a:solidFill>
                                <a:latin typeface="Cambria Math" panose="02040503050406030204" pitchFamily="18" charset="0"/>
                                <a:ea typeface="Cambria Math" panose="02040503050406030204" pitchFamily="18" charset="0"/>
                              </a:rPr>
                            </m:ctrlPr>
                          </m:sSubPr>
                          <m:e>
                            <m:r>
                              <a:rPr lang="en-US" altLang="zh-CN" sz="2200" i="1" kern="100">
                                <a:solidFill>
                                  <a:srgbClr val="FF0000"/>
                                </a:solidFill>
                                <a:latin typeface="Cambria Math" panose="02040503050406030204" pitchFamily="18" charset="0"/>
                                <a:ea typeface="宋体" panose="02010600030101010101" pitchFamily="2" charset="-122"/>
                              </a:rPr>
                              <m:t>𝑔</m:t>
                            </m:r>
                          </m:e>
                          <m:sub>
                            <m:r>
                              <a:rPr lang="en-US" altLang="zh-CN" sz="2200" i="1" kern="100">
                                <a:solidFill>
                                  <a:srgbClr val="FF0000"/>
                                </a:solidFill>
                                <a:latin typeface="Cambria Math" panose="02040503050406030204" pitchFamily="18" charset="0"/>
                                <a:ea typeface="宋体" panose="02010600030101010101" pitchFamily="2" charset="-122"/>
                              </a:rPr>
                              <m:t>𝑘</m:t>
                            </m:r>
                          </m:sub>
                        </m:sSub>
                        <m:sSup>
                          <m:sSupPr>
                            <m:ctrlPr>
                              <a:rPr lang="zh-CN" altLang="zh-CN" sz="2200" i="1" kern="100">
                                <a:solidFill>
                                  <a:srgbClr val="FF0000"/>
                                </a:solidFill>
                                <a:latin typeface="Cambria Math" panose="02040503050406030204" pitchFamily="18" charset="0"/>
                                <a:ea typeface="Cambria Math" panose="02040503050406030204" pitchFamily="18" charset="0"/>
                              </a:rPr>
                            </m:ctrlPr>
                          </m:sSupPr>
                          <m:e>
                            <m:r>
                              <a:rPr lang="en-US" altLang="zh-CN" sz="2200" i="1" kern="100">
                                <a:solidFill>
                                  <a:srgbClr val="FF0000"/>
                                </a:solidFill>
                                <a:latin typeface="Cambria Math" panose="02040503050406030204" pitchFamily="18" charset="0"/>
                                <a:ea typeface="宋体" panose="02010600030101010101" pitchFamily="2" charset="-122"/>
                              </a:rPr>
                              <m:t>)</m:t>
                            </m:r>
                          </m:e>
                          <m:sup>
                            <m:r>
                              <a:rPr lang="en-US" altLang="zh-CN" sz="2200" i="1" kern="100">
                                <a:solidFill>
                                  <a:srgbClr val="FF0000"/>
                                </a:solidFill>
                                <a:latin typeface="Cambria Math" panose="02040503050406030204" pitchFamily="18" charset="0"/>
                                <a:ea typeface="宋体" panose="02010600030101010101" pitchFamily="2" charset="-122"/>
                              </a:rPr>
                              <m:t>𝑇</m:t>
                            </m:r>
                          </m:sup>
                        </m:sSup>
                        <m:sSub>
                          <m:sSubPr>
                            <m:ctrlPr>
                              <a:rPr lang="zh-CN" altLang="zh-CN" sz="2200" i="1" kern="100">
                                <a:solidFill>
                                  <a:srgbClr val="FF0000"/>
                                </a:solidFill>
                                <a:latin typeface="Cambria Math" panose="02040503050406030204" pitchFamily="18" charset="0"/>
                                <a:ea typeface="Cambria Math" panose="02040503050406030204" pitchFamily="18" charset="0"/>
                              </a:rPr>
                            </m:ctrlPr>
                          </m:sSubPr>
                          <m:e>
                            <m:r>
                              <a:rPr lang="en-US" altLang="zh-CN" sz="2200" i="1" kern="100">
                                <a:solidFill>
                                  <a:srgbClr val="FF0000"/>
                                </a:solidFill>
                                <a:latin typeface="Cambria Math" panose="02040503050406030204" pitchFamily="18" charset="0"/>
                                <a:ea typeface="宋体" panose="02010600030101010101" pitchFamily="2" charset="-122"/>
                              </a:rPr>
                              <m:t>𝑔</m:t>
                            </m:r>
                          </m:e>
                          <m:sub>
                            <m:r>
                              <a:rPr lang="en-US" altLang="zh-CN" sz="2200" i="1" kern="100">
                                <a:solidFill>
                                  <a:srgbClr val="FF0000"/>
                                </a:solidFill>
                                <a:latin typeface="Cambria Math" panose="02040503050406030204" pitchFamily="18" charset="0"/>
                                <a:ea typeface="宋体" panose="02010600030101010101" pitchFamily="2" charset="-122"/>
                              </a:rPr>
                              <m:t>𝑘</m:t>
                            </m:r>
                          </m:sub>
                        </m:sSub>
                      </m:num>
                      <m:den>
                        <m:r>
                          <a:rPr lang="en-US" altLang="zh-CN" sz="2200" i="1" kern="100">
                            <a:solidFill>
                              <a:srgbClr val="FF0000"/>
                            </a:solidFill>
                            <a:latin typeface="Cambria Math" panose="02040503050406030204" pitchFamily="18" charset="0"/>
                            <a:ea typeface="宋体" panose="02010600030101010101" pitchFamily="2" charset="-122"/>
                          </a:rPr>
                          <m:t>(</m:t>
                        </m:r>
                        <m:sSup>
                          <m:sSupPr>
                            <m:ctrlPr>
                              <a:rPr lang="zh-CN" altLang="zh-CN" sz="2200" i="1" kern="100">
                                <a:solidFill>
                                  <a:srgbClr val="FF0000"/>
                                </a:solidFill>
                                <a:latin typeface="Cambria Math" panose="02040503050406030204" pitchFamily="18" charset="0"/>
                                <a:ea typeface="Cambria Math" panose="02040503050406030204" pitchFamily="18" charset="0"/>
                              </a:rPr>
                            </m:ctrlPr>
                          </m:sSupPr>
                          <m:e>
                            <m:r>
                              <a:rPr lang="en-US" altLang="zh-CN" sz="2200" i="1" kern="100">
                                <a:solidFill>
                                  <a:srgbClr val="FF0000"/>
                                </a:solidFill>
                                <a:latin typeface="Cambria Math" panose="02040503050406030204" pitchFamily="18" charset="0"/>
                                <a:ea typeface="宋体" panose="02010600030101010101" pitchFamily="2" charset="-122"/>
                              </a:rPr>
                              <m:t>𝑑</m:t>
                            </m:r>
                          </m:e>
                          <m:sup>
                            <m:r>
                              <a:rPr lang="en-US" altLang="zh-CN" sz="2200" i="1" kern="100">
                                <a:solidFill>
                                  <a:srgbClr val="FF0000"/>
                                </a:solidFill>
                                <a:latin typeface="Cambria Math" panose="02040503050406030204" pitchFamily="18" charset="0"/>
                                <a:ea typeface="宋体" panose="02010600030101010101" pitchFamily="2" charset="-122"/>
                              </a:rPr>
                              <m:t>(</m:t>
                            </m:r>
                            <m:r>
                              <a:rPr lang="en-US" altLang="zh-CN" sz="2200" i="1" kern="100">
                                <a:solidFill>
                                  <a:srgbClr val="FF0000"/>
                                </a:solidFill>
                                <a:latin typeface="Cambria Math" panose="02040503050406030204" pitchFamily="18" charset="0"/>
                                <a:ea typeface="宋体" panose="02010600030101010101" pitchFamily="2" charset="-122"/>
                              </a:rPr>
                              <m:t>𝑘</m:t>
                            </m:r>
                            <m:r>
                              <a:rPr lang="en-US" altLang="zh-CN" sz="2200" i="1" kern="100">
                                <a:solidFill>
                                  <a:srgbClr val="FF0000"/>
                                </a:solidFill>
                                <a:latin typeface="Cambria Math" panose="02040503050406030204" pitchFamily="18" charset="0"/>
                                <a:ea typeface="宋体" panose="02010600030101010101" pitchFamily="2" charset="-122"/>
                              </a:rPr>
                              <m:t>)</m:t>
                            </m:r>
                          </m:sup>
                        </m:sSup>
                        <m:sSup>
                          <m:sSupPr>
                            <m:ctrlPr>
                              <a:rPr lang="zh-CN" altLang="zh-CN" sz="2200" i="1" kern="100">
                                <a:solidFill>
                                  <a:srgbClr val="FF0000"/>
                                </a:solidFill>
                                <a:latin typeface="Cambria Math" panose="02040503050406030204" pitchFamily="18" charset="0"/>
                                <a:ea typeface="Cambria Math" panose="02040503050406030204" pitchFamily="18" charset="0"/>
                              </a:rPr>
                            </m:ctrlPr>
                          </m:sSupPr>
                          <m:e>
                            <m:r>
                              <a:rPr lang="en-US" altLang="zh-CN" sz="2200" i="1" kern="100">
                                <a:solidFill>
                                  <a:srgbClr val="FF0000"/>
                                </a:solidFill>
                                <a:latin typeface="Cambria Math" panose="02040503050406030204" pitchFamily="18" charset="0"/>
                                <a:ea typeface="宋体" panose="02010600030101010101" pitchFamily="2" charset="-122"/>
                              </a:rPr>
                              <m:t>)</m:t>
                            </m:r>
                          </m:e>
                          <m:sup>
                            <m:r>
                              <a:rPr lang="en-US" altLang="zh-CN" sz="2200" i="1" kern="100">
                                <a:solidFill>
                                  <a:srgbClr val="FF0000"/>
                                </a:solidFill>
                                <a:latin typeface="Cambria Math" panose="02040503050406030204" pitchFamily="18" charset="0"/>
                                <a:ea typeface="宋体" panose="02010600030101010101" pitchFamily="2" charset="-122"/>
                              </a:rPr>
                              <m:t>𝑇</m:t>
                            </m:r>
                          </m:sup>
                        </m:sSup>
                        <m:r>
                          <a:rPr lang="en-US" altLang="zh-CN" sz="2200" i="1" kern="100">
                            <a:solidFill>
                              <a:srgbClr val="FF0000"/>
                            </a:solidFill>
                            <a:latin typeface="Cambria Math" panose="02040503050406030204" pitchFamily="18" charset="0"/>
                            <a:ea typeface="宋体" panose="02010600030101010101" pitchFamily="2" charset="-122"/>
                          </a:rPr>
                          <m:t>𝐴</m:t>
                        </m:r>
                        <m:sSup>
                          <m:sSupPr>
                            <m:ctrlPr>
                              <a:rPr lang="zh-CN" altLang="zh-CN" sz="2200" i="1" kern="100">
                                <a:solidFill>
                                  <a:srgbClr val="FF0000"/>
                                </a:solidFill>
                                <a:latin typeface="Cambria Math" panose="02040503050406030204" pitchFamily="18" charset="0"/>
                                <a:ea typeface="Cambria Math" panose="02040503050406030204" pitchFamily="18" charset="0"/>
                              </a:rPr>
                            </m:ctrlPr>
                          </m:sSupPr>
                          <m:e>
                            <m:r>
                              <a:rPr lang="en-US" altLang="zh-CN" sz="2200" i="1" kern="100">
                                <a:solidFill>
                                  <a:srgbClr val="FF0000"/>
                                </a:solidFill>
                                <a:latin typeface="Cambria Math" panose="02040503050406030204" pitchFamily="18" charset="0"/>
                                <a:ea typeface="宋体" panose="02010600030101010101" pitchFamily="2" charset="-122"/>
                              </a:rPr>
                              <m:t>𝑑</m:t>
                            </m:r>
                          </m:e>
                          <m:sup>
                            <m:r>
                              <a:rPr lang="en-US" altLang="zh-CN" sz="2200" i="1" kern="100">
                                <a:solidFill>
                                  <a:srgbClr val="FF0000"/>
                                </a:solidFill>
                                <a:latin typeface="Cambria Math" panose="02040503050406030204" pitchFamily="18" charset="0"/>
                                <a:ea typeface="宋体" panose="02010600030101010101" pitchFamily="2" charset="-122"/>
                              </a:rPr>
                              <m:t>(</m:t>
                            </m:r>
                            <m:r>
                              <a:rPr lang="en-US" altLang="zh-CN" sz="2200" i="1" kern="100">
                                <a:solidFill>
                                  <a:srgbClr val="FF0000"/>
                                </a:solidFill>
                                <a:latin typeface="Cambria Math" panose="02040503050406030204" pitchFamily="18" charset="0"/>
                                <a:ea typeface="宋体" panose="02010600030101010101" pitchFamily="2" charset="-122"/>
                              </a:rPr>
                              <m:t>𝑘</m:t>
                            </m:r>
                            <m:r>
                              <a:rPr lang="en-US" altLang="zh-CN" sz="2200" i="1" kern="100">
                                <a:solidFill>
                                  <a:srgbClr val="FF0000"/>
                                </a:solidFill>
                                <a:latin typeface="Cambria Math" panose="02040503050406030204" pitchFamily="18" charset="0"/>
                                <a:ea typeface="宋体" panose="02010600030101010101" pitchFamily="2" charset="-122"/>
                              </a:rPr>
                              <m:t>)</m:t>
                            </m:r>
                          </m:sup>
                        </m:sSup>
                      </m:den>
                    </m:f>
                  </m:oMath>
                </a14:m>
                <a:r>
                  <a:rPr lang="zh-CN" altLang="en-US" sz="2200" kern="100" dirty="0">
                    <a:latin typeface="Times New Roman" panose="02020603050405020304" pitchFamily="18" charset="0"/>
                    <a:ea typeface="宋体" panose="02010600030101010101" pitchFamily="2" charset="-122"/>
                  </a:rPr>
                  <a:t>；（因为这小节是极小化</a:t>
                </a:r>
                <a:r>
                  <a:rPr lang="zh-CN" altLang="en-US" sz="2000" b="1" dirty="0">
                    <a:latin typeface="黑体" panose="02010609060101010101" pitchFamily="49" charset="-122"/>
                    <a:ea typeface="黑体" panose="02010609060101010101" pitchFamily="49" charset="-122"/>
                  </a:rPr>
                  <a:t>正定二次函数的共轭梯度法）</a:t>
                </a:r>
                <a:endParaRPr lang="zh-CN" altLang="zh-CN" sz="2200" kern="100" dirty="0">
                  <a:latin typeface="Times New Roman" panose="02020603050405020304" pitchFamily="18" charset="0"/>
                  <a:ea typeface="宋体" panose="02010600030101010101" pitchFamily="2" charset="-122"/>
                </a:endParaRPr>
              </a:p>
              <a:p>
                <a:pPr algn="just">
                  <a:lnSpc>
                    <a:spcPct val="120000"/>
                  </a:lnSpc>
                </a:pPr>
                <a:r>
                  <a:rPr lang="en-US" altLang="zh-CN" sz="2200" kern="100" dirty="0">
                    <a:latin typeface="宋体" panose="02010600030101010101" pitchFamily="2" charset="-122"/>
                    <a:ea typeface="宋体" panose="02010600030101010101" pitchFamily="2" charset="-122"/>
                  </a:rPr>
                  <a:t>  5.</a:t>
                </a:r>
                <a:r>
                  <a:rPr lang="zh-CN" altLang="zh-CN" sz="2200" kern="100" dirty="0">
                    <a:latin typeface="Times New Roman" panose="02020603050405020304" pitchFamily="18" charset="0"/>
                    <a:ea typeface="宋体" panose="02010600030101010101" pitchFamily="2" charset="-122"/>
                  </a:rPr>
                  <a:t>若</a:t>
                </a:r>
                <a14:m>
                  <m:oMath xmlns:m="http://schemas.openxmlformats.org/officeDocument/2006/math">
                    <m:r>
                      <a:rPr lang="en-US" altLang="zh-CN" sz="2200" i="1" kern="100">
                        <a:latin typeface="Cambria Math" panose="02040503050406030204" pitchFamily="18" charset="0"/>
                        <a:ea typeface="宋体" panose="02010600030101010101" pitchFamily="2" charset="-122"/>
                      </a:rPr>
                      <m:t>𝑘</m:t>
                    </m:r>
                    <m:r>
                      <a:rPr lang="en-US" altLang="zh-CN" sz="2200" i="1" kern="100">
                        <a:latin typeface="Cambria Math" panose="02040503050406030204" pitchFamily="18" charset="0"/>
                        <a:ea typeface="宋体" panose="02010600030101010101" pitchFamily="2" charset="-122"/>
                      </a:rPr>
                      <m:t> = </m:t>
                    </m:r>
                    <m:r>
                      <a:rPr lang="en-US" altLang="zh-CN" sz="2200" i="1" kern="100">
                        <a:latin typeface="Cambria Math" panose="02040503050406030204" pitchFamily="18" charset="0"/>
                        <a:ea typeface="宋体" panose="02010600030101010101" pitchFamily="2" charset="-122"/>
                      </a:rPr>
                      <m:t>𝑛</m:t>
                    </m:r>
                  </m:oMath>
                </a14:m>
                <a:r>
                  <a:rPr lang="zh-CN" altLang="zh-CN" sz="2200" kern="100" dirty="0">
                    <a:latin typeface="Times New Roman" panose="02020603050405020304" pitchFamily="18" charset="0"/>
                    <a:ea typeface="宋体" panose="02010600030101010101" pitchFamily="2" charset="-122"/>
                  </a:rPr>
                  <a:t>，则停止迭代，得近似极小点</a:t>
                </a:r>
              </a:p>
              <a:p>
                <a:pPr algn="just">
                  <a:lnSpc>
                    <a:spcPct val="120000"/>
                  </a:lnSpc>
                </a:pPr>
                <a:r>
                  <a:rPr lang="en-US" altLang="zh-CN" sz="2200" kern="100" dirty="0">
                    <a:latin typeface="宋体" panose="02010600030101010101" pitchFamily="2" charset="-122"/>
                    <a:ea typeface="宋体" panose="02010600030101010101" pitchFamily="2" charset="-122"/>
                  </a:rPr>
                  <a:t>				</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𝑥</m:t>
                        </m:r>
                      </m:e>
                      <m:sup>
                        <m:r>
                          <a:rPr lang="en-US" altLang="zh-CN" sz="2200" i="1" kern="100">
                            <a:latin typeface="Cambria Math" panose="02040503050406030204" pitchFamily="18" charset="0"/>
                            <a:ea typeface="宋体" panose="02010600030101010101" pitchFamily="2" charset="-122"/>
                          </a:rPr>
                          <m:t>∗</m:t>
                        </m:r>
                      </m:sup>
                    </m:sSup>
                    <m:r>
                      <a:rPr lang="en-US" altLang="zh-CN" sz="2200" i="1" kern="100">
                        <a:latin typeface="Cambria Math" panose="02040503050406030204" pitchFamily="18" charset="0"/>
                        <a:ea typeface="宋体" panose="02010600030101010101" pitchFamily="2" charset="-122"/>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𝑥</m:t>
                        </m:r>
                      </m:e>
                      <m:sup>
                        <m:r>
                          <a:rPr lang="en-US" altLang="zh-CN" sz="2200" i="1" kern="100">
                            <a:latin typeface="Cambria Math" panose="02040503050406030204" pitchFamily="18" charset="0"/>
                            <a:ea typeface="宋体" panose="02010600030101010101" pitchFamily="2" charset="-122"/>
                          </a:rPr>
                          <m:t>(</m:t>
                        </m:r>
                        <m:r>
                          <a:rPr lang="en-US" altLang="zh-CN" sz="2200" i="1" kern="100">
                            <a:latin typeface="Cambria Math" panose="02040503050406030204" pitchFamily="18" charset="0"/>
                            <a:ea typeface="宋体" panose="02010600030101010101" pitchFamily="2" charset="-122"/>
                          </a:rPr>
                          <m:t>𝑘</m:t>
                        </m:r>
                        <m:r>
                          <a:rPr lang="en-US" altLang="zh-CN" sz="2200" i="1" kern="100">
                            <a:latin typeface="Cambria Math" panose="02040503050406030204" pitchFamily="18" charset="0"/>
                            <a:ea typeface="宋体" panose="02010600030101010101" pitchFamily="2" charset="-122"/>
                          </a:rPr>
                          <m:t>+1)</m:t>
                        </m:r>
                      </m:sup>
                    </m:sSup>
                  </m:oMath>
                </a14:m>
                <a:endParaRPr lang="zh-CN" altLang="zh-CN" sz="2200" kern="100" dirty="0">
                  <a:latin typeface="Times New Roman" panose="02020603050405020304" pitchFamily="18" charset="0"/>
                  <a:ea typeface="宋体" panose="02010600030101010101" pitchFamily="2" charset="-122"/>
                </a:endParaRPr>
              </a:p>
              <a:p>
                <a:pPr algn="just">
                  <a:lnSpc>
                    <a:spcPct val="120000"/>
                  </a:lnSpc>
                </a:pPr>
                <a:r>
                  <a:rPr lang="en-US" altLang="zh-CN" sz="2200" kern="100" dirty="0">
                    <a:latin typeface="Times New Roman" panose="02020603050405020304" pitchFamily="18" charset="0"/>
                    <a:ea typeface="宋体" panose="02010600030101010101" pitchFamily="2" charset="-122"/>
                  </a:rPr>
                  <a:t>        </a:t>
                </a:r>
                <a:r>
                  <a:rPr lang="zh-CN" altLang="zh-CN" sz="2200" kern="100" dirty="0">
                    <a:latin typeface="Times New Roman" panose="02020603050405020304" pitchFamily="18" charset="0"/>
                    <a:ea typeface="宋体" panose="02010600030101010101" pitchFamily="2" charset="-122"/>
                  </a:rPr>
                  <a:t>否则，令</a:t>
                </a:r>
                <a14:m>
                  <m:oMath xmlns:m="http://schemas.openxmlformats.org/officeDocument/2006/math">
                    <m:r>
                      <a:rPr lang="en-US" altLang="zh-CN" sz="2200" i="1" kern="100">
                        <a:latin typeface="Cambria Math" panose="02040503050406030204" pitchFamily="18" charset="0"/>
                        <a:ea typeface="宋体" panose="02010600030101010101" pitchFamily="2" charset="-122"/>
                      </a:rPr>
                      <m:t>𝑘</m:t>
                    </m:r>
                    <m:r>
                      <a:rPr lang="en-US" altLang="zh-CN" sz="2200" i="1" kern="100">
                        <a:latin typeface="Cambria Math" panose="02040503050406030204" pitchFamily="18" charset="0"/>
                        <a:ea typeface="宋体" panose="02010600030101010101" pitchFamily="2" charset="-122"/>
                      </a:rPr>
                      <m:t> = </m:t>
                    </m:r>
                    <m:r>
                      <a:rPr lang="en-US" altLang="zh-CN" sz="2200" i="1" kern="100">
                        <a:latin typeface="Cambria Math" panose="02040503050406030204" pitchFamily="18" charset="0"/>
                        <a:ea typeface="宋体" panose="02010600030101010101" pitchFamily="2" charset="-122"/>
                      </a:rPr>
                      <m:t>𝑘</m:t>
                    </m:r>
                    <m:r>
                      <a:rPr lang="en-US" altLang="zh-CN" sz="2200" i="1" kern="100">
                        <a:latin typeface="Cambria Math" panose="02040503050406030204" pitchFamily="18" charset="0"/>
                        <a:ea typeface="宋体" panose="02010600030101010101" pitchFamily="2" charset="-122"/>
                      </a:rPr>
                      <m:t>+1</m:t>
                    </m:r>
                  </m:oMath>
                </a14:m>
                <a:r>
                  <a:rPr lang="zh-CN" altLang="zh-CN" sz="2200" kern="100" dirty="0">
                    <a:latin typeface="Times New Roman" panose="02020603050405020304" pitchFamily="18" charset="0"/>
                    <a:ea typeface="宋体" panose="02010600030101010101" pitchFamily="2" charset="-122"/>
                  </a:rPr>
                  <a:t>，返回步骤</a:t>
                </a:r>
                <a:r>
                  <a:rPr lang="en-US" altLang="zh-CN" sz="2200" kern="100" dirty="0">
                    <a:latin typeface="Times New Roman" panose="02020603050405020304" pitchFamily="18" charset="0"/>
                    <a:ea typeface="宋体" panose="02010600030101010101" pitchFamily="2" charset="-122"/>
                  </a:rPr>
                  <a:t>2</a:t>
                </a:r>
                <a:r>
                  <a:rPr lang="zh-CN" altLang="en-US" sz="2200" kern="100" dirty="0">
                    <a:latin typeface="Times New Roman" panose="02020603050405020304" pitchFamily="18" charset="0"/>
                    <a:ea typeface="宋体" panose="02010600030101010101" pitchFamily="2" charset="-122"/>
                  </a:rPr>
                  <a:t>。</a:t>
                </a:r>
                <a:endParaRPr lang="zh-CN" altLang="zh-CN" sz="2200" kern="100" dirty="0">
                  <a:latin typeface="Times New Roman" panose="02020603050405020304" pitchFamily="18" charset="0"/>
                  <a:ea typeface="宋体" panose="02010600030101010101" pitchFamily="2" charset="-122"/>
                </a:endParaRPr>
              </a:p>
              <a:p>
                <a:pPr algn="just">
                  <a:lnSpc>
                    <a:spcPct val="120000"/>
                  </a:lnSpc>
                </a:pPr>
                <a:endParaRPr lang="zh-CN" altLang="zh-CN" sz="2200" kern="100" dirty="0">
                  <a:latin typeface="宋体" panose="02010600030101010101" pitchFamily="2" charset="-122"/>
                  <a:ea typeface="宋体" panose="02010600030101010101" pitchFamily="2" charset="-122"/>
                </a:endParaRPr>
              </a:p>
            </p:txBody>
          </p:sp>
        </mc:Choice>
        <mc:Fallback xmlns="">
          <p:sp>
            <p:nvSpPr>
              <p:cNvPr id="2" name="文本框 1">
                <a:extLst>
                  <a:ext uri="{FF2B5EF4-FFF2-40B4-BE49-F238E27FC236}">
                    <a16:creationId xmlns:a16="http://schemas.microsoft.com/office/drawing/2014/main" id="{5726D65C-81BD-A74C-A0D9-8FE3ACA6E5FF}"/>
                  </a:ext>
                </a:extLst>
              </p:cNvPr>
              <p:cNvSpPr txBox="1">
                <a:spLocks noRot="1" noChangeAspect="1" noMove="1" noResize="1" noEditPoints="1" noAdjustHandles="1" noChangeArrowheads="1" noChangeShapeType="1" noTextEdit="1"/>
              </p:cNvSpPr>
              <p:nvPr/>
            </p:nvSpPr>
            <p:spPr>
              <a:xfrm>
                <a:off x="323528" y="188640"/>
                <a:ext cx="8281697" cy="6486199"/>
              </a:xfrm>
              <a:prstGeom prst="rect">
                <a:avLst/>
              </a:prstGeom>
              <a:blipFill>
                <a:blip r:embed="rId2"/>
                <a:stretch>
                  <a:fillRect l="-957" t="-470" r="-883"/>
                </a:stretch>
              </a:blipFill>
            </p:spPr>
            <p:txBody>
              <a:bodyPr/>
              <a:lstStyle/>
              <a:p>
                <a:r>
                  <a:rPr lang="zh-CN" altLang="en-US">
                    <a:noFill/>
                  </a:rPr>
                  <a:t> </a:t>
                </a:r>
              </a:p>
            </p:txBody>
          </p:sp>
        </mc:Fallback>
      </mc:AlternateContent>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1CDB37FE-F7AB-227A-1702-57E743FD377F}"/>
                  </a:ext>
                </a:extLst>
              </p:cNvPr>
              <p:cNvSpPr txBox="1"/>
              <p:nvPr/>
            </p:nvSpPr>
            <p:spPr>
              <a:xfrm>
                <a:off x="534177" y="635959"/>
                <a:ext cx="8075645" cy="5586081"/>
              </a:xfrm>
              <a:prstGeom prst="rect">
                <a:avLst/>
              </a:prstGeom>
              <a:noFill/>
            </p:spPr>
            <p:txBody>
              <a:bodyPr wrap="square" rtlCol="0">
                <a:spAutoFit/>
              </a:bodyPr>
              <a:lstStyle/>
              <a:p>
                <a:pPr indent="464400" algn="just">
                  <a:lnSpc>
                    <a:spcPct val="150000"/>
                  </a:lnSpc>
                </a:pPr>
                <a:r>
                  <a:rPr lang="zh-CN" altLang="en-US" sz="2400" b="1" dirty="0">
                    <a:latin typeface="宋体" panose="02010600030101010101" pitchFamily="2" charset="-122"/>
                    <a:ea typeface="宋体" panose="02010600030101010101" pitchFamily="2" charset="-122"/>
                  </a:rPr>
                  <a:t>例</a:t>
                </a:r>
                <a:r>
                  <a:rPr lang="en-US" altLang="zh-CN" sz="2400" b="1"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试用共轭梯度法求下述二次函数的极小点</a:t>
                </a:r>
                <a:endParaRPr lang="en-US" altLang="zh-CN" sz="2400" dirty="0">
                  <a:latin typeface="宋体" panose="02010600030101010101" pitchFamily="2" charset="-122"/>
                  <a:ea typeface="宋体" panose="02010600030101010101" pitchFamily="2" charset="-122"/>
                </a:endParaRPr>
              </a:p>
              <a:p>
                <a:pPr indent="464400" algn="just">
                  <a:lnSpc>
                    <a:spcPct val="150000"/>
                  </a:lnSpc>
                </a:pPr>
                <a14:m>
                  <m:oMathPara xmlns:m="http://schemas.openxmlformats.org/officeDocument/2006/math">
                    <m:oMathParaPr>
                      <m:jc m:val="centerGroup"/>
                    </m:oMathParaPr>
                    <m:oMath xmlns:m="http://schemas.openxmlformats.org/officeDocument/2006/math">
                      <m:func>
                        <m:funcPr>
                          <m:ctrlPr>
                            <a:rPr lang="en-US" altLang="zh-CN" sz="2400" i="1">
                              <a:latin typeface="Cambria Math" panose="02040503050406030204" pitchFamily="18" charset="0"/>
                              <a:ea typeface="宋体" panose="02010600030101010101" pitchFamily="2" charset="-122"/>
                            </a:rPr>
                          </m:ctrlPr>
                        </m:funcPr>
                        <m:fName>
                          <m:limLow>
                            <m:limLowPr>
                              <m:ctrlPr>
                                <a:rPr lang="en-US" altLang="zh-CN" sz="2400" i="1">
                                  <a:latin typeface="Cambria Math" panose="02040503050406030204" pitchFamily="18" charset="0"/>
                                  <a:ea typeface="宋体" panose="02010600030101010101" pitchFamily="2" charset="-122"/>
                                </a:rPr>
                              </m:ctrlPr>
                            </m:limLowPr>
                            <m:e>
                              <m:r>
                                <m:rPr>
                                  <m:sty m:val="p"/>
                                </m:rPr>
                                <a:rPr lang="en-US" altLang="zh-CN" sz="2400">
                                  <a:latin typeface="Cambria Math" panose="02040503050406030204" pitchFamily="18" charset="0"/>
                                  <a:ea typeface="宋体" panose="02010600030101010101" pitchFamily="2" charset="-122"/>
                                </a:rPr>
                                <m:t>min</m:t>
                              </m:r>
                            </m:e>
                            <m:lim/>
                          </m:limLow>
                        </m:fName>
                        <m:e>
                          <m:r>
                            <a:rPr lang="en-US" altLang="zh-CN" sz="2400" i="1">
                              <a:latin typeface="Cambria Math" panose="02040503050406030204" pitchFamily="18" charset="0"/>
                              <a:ea typeface="宋体" panose="02010600030101010101" pitchFamily="2" charset="-122"/>
                            </a:rPr>
                            <m:t>𝑓</m:t>
                          </m:r>
                          <m:d>
                            <m:dPr>
                              <m:ctrlPr>
                                <a:rPr lang="en-US" altLang="zh-CN" sz="2400" i="1">
                                  <a:latin typeface="Cambria Math" panose="02040503050406030204" pitchFamily="18" charset="0"/>
                                  <a:ea typeface="宋体" panose="02010600030101010101" pitchFamily="2" charset="-122"/>
                                </a:rPr>
                              </m:ctrlPr>
                            </m:dPr>
                            <m:e>
                              <m:r>
                                <a:rPr lang="en-US" altLang="zh-CN" sz="2400" i="1">
                                  <a:latin typeface="Cambria Math" panose="02040503050406030204" pitchFamily="18" charset="0"/>
                                  <a:ea typeface="宋体" panose="02010600030101010101" pitchFamily="2" charset="-122"/>
                                </a:rPr>
                                <m:t>𝑥</m:t>
                              </m:r>
                            </m:e>
                          </m:d>
                          <m:r>
                            <a:rPr lang="en-US" altLang="zh-CN" sz="2400" i="1">
                              <a:latin typeface="Cambria Math" panose="02040503050406030204" pitchFamily="18" charset="0"/>
                              <a:ea typeface="宋体" panose="02010600030101010101" pitchFamily="2" charset="-122"/>
                            </a:rPr>
                            <m:t>=</m:t>
                          </m:r>
                          <m:f>
                            <m:fPr>
                              <m:ctrlPr>
                                <a:rPr lang="en-US" altLang="zh-CN" sz="2400" i="1">
                                  <a:latin typeface="Cambria Math" panose="02040503050406030204" pitchFamily="18" charset="0"/>
                                  <a:ea typeface="宋体" panose="02010600030101010101" pitchFamily="2" charset="-122"/>
                                </a:rPr>
                              </m:ctrlPr>
                            </m:fPr>
                            <m:num>
                              <m:r>
                                <a:rPr lang="en-US" altLang="zh-CN" sz="2400" i="1">
                                  <a:latin typeface="Cambria Math" panose="02040503050406030204" pitchFamily="18" charset="0"/>
                                  <a:ea typeface="宋体" panose="02010600030101010101" pitchFamily="2" charset="-122"/>
                                </a:rPr>
                                <m:t>3</m:t>
                              </m:r>
                            </m:num>
                            <m:den>
                              <m:r>
                                <a:rPr lang="en-US" altLang="zh-CN" sz="2400" i="1">
                                  <a:latin typeface="Cambria Math" panose="02040503050406030204" pitchFamily="18" charset="0"/>
                                  <a:ea typeface="宋体" panose="02010600030101010101" pitchFamily="2" charset="-122"/>
                                </a:rPr>
                                <m:t>2</m:t>
                              </m:r>
                            </m:den>
                          </m:f>
                          <m:sSubSup>
                            <m:sSubSupPr>
                              <m:ctrlPr>
                                <a:rPr lang="en-US" altLang="zh-CN" sz="2400" i="1">
                                  <a:latin typeface="Cambria Math" panose="02040503050406030204" pitchFamily="18" charset="0"/>
                                  <a:ea typeface="宋体" panose="02010600030101010101" pitchFamily="2" charset="-122"/>
                                </a:rPr>
                              </m:ctrlPr>
                            </m:sSubSupPr>
                            <m:e>
                              <m:r>
                                <a:rPr lang="en-US" altLang="zh-CN" sz="2400" i="1">
                                  <a:latin typeface="Cambria Math" panose="02040503050406030204" pitchFamily="18" charset="0"/>
                                  <a:ea typeface="宋体" panose="02010600030101010101" pitchFamily="2" charset="-122"/>
                                </a:rPr>
                                <m:t>𝑥</m:t>
                              </m:r>
                            </m:e>
                            <m:sub>
                              <m:r>
                                <a:rPr lang="en-US" altLang="zh-CN" sz="2400" i="1">
                                  <a:latin typeface="Cambria Math" panose="02040503050406030204" pitchFamily="18" charset="0"/>
                                  <a:ea typeface="宋体" panose="02010600030101010101" pitchFamily="2" charset="-122"/>
                                </a:rPr>
                                <m:t>1</m:t>
                              </m:r>
                            </m:sub>
                            <m:sup>
                              <m:r>
                                <a:rPr lang="en-US" altLang="zh-CN" sz="2400" i="1">
                                  <a:latin typeface="Cambria Math" panose="02040503050406030204" pitchFamily="18" charset="0"/>
                                  <a:ea typeface="宋体" panose="02010600030101010101" pitchFamily="2" charset="-122"/>
                                </a:rPr>
                                <m:t>2</m:t>
                              </m:r>
                            </m:sup>
                          </m:sSubSup>
                          <m:r>
                            <a:rPr lang="en-US" altLang="zh-CN" sz="2400" i="1">
                              <a:latin typeface="Cambria Math" panose="02040503050406030204" pitchFamily="18" charset="0"/>
                              <a:ea typeface="宋体" panose="02010600030101010101" pitchFamily="2" charset="-122"/>
                            </a:rPr>
                            <m:t>+</m:t>
                          </m:r>
                          <m:f>
                            <m:fPr>
                              <m:ctrlPr>
                                <a:rPr lang="en-US" altLang="zh-CN" sz="2400" i="1">
                                  <a:latin typeface="Cambria Math" panose="02040503050406030204" pitchFamily="18" charset="0"/>
                                  <a:ea typeface="宋体" panose="02010600030101010101" pitchFamily="2" charset="-122"/>
                                </a:rPr>
                              </m:ctrlPr>
                            </m:fPr>
                            <m:num>
                              <m:r>
                                <a:rPr lang="en-US" altLang="zh-CN" sz="2400" i="1">
                                  <a:latin typeface="Cambria Math" panose="02040503050406030204" pitchFamily="18" charset="0"/>
                                  <a:ea typeface="宋体" panose="02010600030101010101" pitchFamily="2" charset="-122"/>
                                </a:rPr>
                                <m:t>1</m:t>
                              </m:r>
                            </m:num>
                            <m:den>
                              <m:r>
                                <a:rPr lang="en-US" altLang="zh-CN" sz="2400" i="1">
                                  <a:latin typeface="Cambria Math" panose="02040503050406030204" pitchFamily="18" charset="0"/>
                                  <a:ea typeface="宋体" panose="02010600030101010101" pitchFamily="2" charset="-122"/>
                                </a:rPr>
                                <m:t>2</m:t>
                              </m:r>
                            </m:den>
                          </m:f>
                          <m:sSubSup>
                            <m:sSubSupPr>
                              <m:ctrlPr>
                                <a:rPr lang="en-US" altLang="zh-CN" sz="2400" i="1">
                                  <a:latin typeface="Cambria Math" panose="02040503050406030204" pitchFamily="18" charset="0"/>
                                  <a:ea typeface="宋体" panose="02010600030101010101" pitchFamily="2" charset="-122"/>
                                </a:rPr>
                              </m:ctrlPr>
                            </m:sSubSupPr>
                            <m:e>
                              <m:r>
                                <a:rPr lang="en-US" altLang="zh-CN" sz="2400" i="1">
                                  <a:latin typeface="Cambria Math" panose="02040503050406030204" pitchFamily="18" charset="0"/>
                                  <a:ea typeface="宋体" panose="02010600030101010101" pitchFamily="2" charset="-122"/>
                                </a:rPr>
                                <m:t>𝑥</m:t>
                              </m:r>
                            </m:e>
                            <m:sub>
                              <m:r>
                                <a:rPr lang="en-US" altLang="zh-CN" sz="2400" i="1">
                                  <a:latin typeface="Cambria Math" panose="02040503050406030204" pitchFamily="18" charset="0"/>
                                  <a:ea typeface="宋体" panose="02010600030101010101" pitchFamily="2" charset="-122"/>
                                </a:rPr>
                                <m:t>2</m:t>
                              </m:r>
                            </m:sub>
                            <m:sup>
                              <m:r>
                                <a:rPr lang="en-US" altLang="zh-CN" sz="2400" i="1">
                                  <a:latin typeface="Cambria Math" panose="02040503050406030204" pitchFamily="18" charset="0"/>
                                  <a:ea typeface="宋体" panose="02010600030101010101" pitchFamily="2" charset="-122"/>
                                </a:rPr>
                                <m:t>2</m:t>
                              </m:r>
                            </m:sup>
                          </m:sSubSup>
                          <m:r>
                            <a:rPr lang="en-US" altLang="zh-CN" sz="2400" i="1">
                              <a:latin typeface="Cambria Math" panose="02040503050406030204" pitchFamily="18" charset="0"/>
                              <a:ea typeface="宋体" panose="02010600030101010101" pitchFamily="2" charset="-122"/>
                            </a:rPr>
                            <m:t>−</m:t>
                          </m:r>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𝑥</m:t>
                              </m:r>
                            </m:e>
                            <m:sub>
                              <m:r>
                                <a:rPr lang="en-US" altLang="zh-CN" sz="2400" i="1">
                                  <a:latin typeface="Cambria Math" panose="02040503050406030204" pitchFamily="18" charset="0"/>
                                  <a:ea typeface="宋体" panose="02010600030101010101" pitchFamily="2" charset="-122"/>
                                </a:rPr>
                                <m:t>1</m:t>
                              </m:r>
                            </m:sub>
                          </m:sSub>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𝑥</m:t>
                              </m:r>
                            </m:e>
                            <m:sub>
                              <m:r>
                                <a:rPr lang="en-US" altLang="zh-CN" sz="2400" i="1">
                                  <a:latin typeface="Cambria Math" panose="02040503050406030204" pitchFamily="18" charset="0"/>
                                  <a:ea typeface="宋体" panose="02010600030101010101" pitchFamily="2" charset="-122"/>
                                </a:rPr>
                                <m:t>2</m:t>
                              </m:r>
                            </m:sub>
                          </m:sSub>
                          <m:r>
                            <a:rPr lang="en-US" altLang="zh-CN" sz="2400" i="1">
                              <a:latin typeface="Cambria Math" panose="02040503050406030204" pitchFamily="18" charset="0"/>
                              <a:ea typeface="宋体" panose="02010600030101010101" pitchFamily="2" charset="-122"/>
                            </a:rPr>
                            <m:t>−2</m:t>
                          </m:r>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𝑥</m:t>
                              </m:r>
                            </m:e>
                            <m:sub>
                              <m:r>
                                <a:rPr lang="en-US" altLang="zh-CN" sz="2400" i="1">
                                  <a:latin typeface="Cambria Math" panose="02040503050406030204" pitchFamily="18" charset="0"/>
                                  <a:ea typeface="宋体" panose="02010600030101010101" pitchFamily="2" charset="-122"/>
                                </a:rPr>
                                <m:t>1</m:t>
                              </m:r>
                            </m:sub>
                          </m:sSub>
                        </m:e>
                      </m:func>
                    </m:oMath>
                  </m:oMathPara>
                </a14:m>
                <a:endParaRPr lang="en-US" altLang="zh-CN" sz="2400" dirty="0">
                  <a:latin typeface="宋体" panose="02010600030101010101" pitchFamily="2" charset="-122"/>
                  <a:ea typeface="宋体" panose="02010600030101010101" pitchFamily="2" charset="-122"/>
                </a:endParaRPr>
              </a:p>
              <a:p>
                <a:pPr algn="just">
                  <a:lnSpc>
                    <a:spcPct val="150000"/>
                  </a:lnSpc>
                </a:pPr>
                <a:r>
                  <a:rPr lang="zh-CN" altLang="en-US" sz="2400" dirty="0">
                    <a:latin typeface="宋体" panose="02010600030101010101" pitchFamily="2" charset="-122"/>
                    <a:ea typeface="宋体" panose="02010600030101010101" pitchFamily="2" charset="-122"/>
                  </a:rPr>
                  <a:t>取</a:t>
                </a:r>
                <a14:m>
                  <m:oMath xmlns:m="http://schemas.openxmlformats.org/officeDocument/2006/math">
                    <m:r>
                      <a:rPr lang="zh-CN" altLang="en-US" sz="2400" i="1">
                        <a:latin typeface="Cambria Math" panose="02040503050406030204" pitchFamily="18" charset="0"/>
                        <a:ea typeface="宋体" panose="02010600030101010101" pitchFamily="2" charset="-122"/>
                      </a:rPr>
                      <m:t>𝜀</m:t>
                    </m:r>
                    <m:r>
                      <a:rPr lang="en-US" altLang="zh-CN" sz="2400" i="1">
                        <a:latin typeface="Cambria Math" panose="02040503050406030204" pitchFamily="18" charset="0"/>
                        <a:ea typeface="宋体" panose="02010600030101010101" pitchFamily="2" charset="-122"/>
                      </a:rPr>
                      <m:t>=</m:t>
                    </m:r>
                    <m:sSup>
                      <m:sSupPr>
                        <m:ctrlPr>
                          <a:rPr lang="en-US" altLang="zh-CN" sz="2400" i="1">
                            <a:latin typeface="Cambria Math" panose="02040503050406030204" pitchFamily="18" charset="0"/>
                            <a:ea typeface="宋体" panose="02010600030101010101" pitchFamily="2" charset="-122"/>
                          </a:rPr>
                        </m:ctrlPr>
                      </m:sSupPr>
                      <m:e>
                        <m:r>
                          <a:rPr lang="en-US" altLang="zh-CN" sz="2400" i="1">
                            <a:latin typeface="Cambria Math" panose="02040503050406030204" pitchFamily="18" charset="0"/>
                            <a:ea typeface="宋体" panose="02010600030101010101" pitchFamily="2" charset="-122"/>
                          </a:rPr>
                          <m:t>10</m:t>
                        </m:r>
                      </m:e>
                      <m:sup>
                        <m:r>
                          <a:rPr lang="en-US" altLang="zh-CN" sz="2400" i="1">
                            <a:latin typeface="Cambria Math" panose="02040503050406030204" pitchFamily="18" charset="0"/>
                            <a:ea typeface="宋体" panose="02010600030101010101" pitchFamily="2" charset="-122"/>
                          </a:rPr>
                          <m:t>−4</m:t>
                        </m:r>
                      </m:sup>
                    </m:sSup>
                    <m:r>
                      <a:rPr lang="zh-CN" altLang="en-US" sz="2400" i="1">
                        <a:latin typeface="Cambria Math" panose="02040503050406030204" pitchFamily="18" charset="0"/>
                        <a:ea typeface="宋体" panose="02010600030101010101" pitchFamily="2" charset="-122"/>
                      </a:rPr>
                      <m:t>，</m:t>
                    </m:r>
                    <m:sSup>
                      <m:sSupPr>
                        <m:ctrlPr>
                          <a:rPr lang="en-US" altLang="zh-CN" sz="2400" i="1">
                            <a:latin typeface="Cambria Math" panose="02040503050406030204" pitchFamily="18" charset="0"/>
                            <a:ea typeface="宋体" panose="02010600030101010101" pitchFamily="2" charset="-122"/>
                          </a:rPr>
                        </m:ctrlPr>
                      </m:sSupPr>
                      <m:e>
                        <m:r>
                          <a:rPr lang="en-US" altLang="zh-CN" sz="2400" i="1">
                            <a:latin typeface="Cambria Math" panose="02040503050406030204" pitchFamily="18" charset="0"/>
                            <a:ea typeface="宋体" panose="02010600030101010101" pitchFamily="2" charset="-122"/>
                          </a:rPr>
                          <m:t>𝑥</m:t>
                        </m:r>
                      </m:e>
                      <m:sup>
                        <m:r>
                          <a:rPr lang="en-US" altLang="zh-CN" sz="2400" i="1">
                            <a:latin typeface="Cambria Math" panose="02040503050406030204" pitchFamily="18" charset="0"/>
                            <a:ea typeface="宋体" panose="02010600030101010101" pitchFamily="2" charset="-122"/>
                          </a:rPr>
                          <m:t>(1)</m:t>
                        </m:r>
                      </m:sup>
                    </m:sSup>
                    <m:r>
                      <a:rPr lang="en-US" altLang="zh-CN" sz="2400" i="1">
                        <a:latin typeface="Cambria Math" panose="02040503050406030204" pitchFamily="18" charset="0"/>
                        <a:ea typeface="宋体" panose="02010600030101010101" pitchFamily="2" charset="-122"/>
                      </a:rPr>
                      <m:t>=</m:t>
                    </m:r>
                    <m:d>
                      <m:dPr>
                        <m:begChr m:val="["/>
                        <m:endChr m:val="]"/>
                        <m:ctrlPr>
                          <a:rPr lang="en-US" altLang="zh-CN" sz="2400" i="1">
                            <a:latin typeface="Cambria Math" panose="02040503050406030204" pitchFamily="18" charset="0"/>
                            <a:ea typeface="宋体" panose="02010600030101010101" pitchFamily="2" charset="-122"/>
                          </a:rPr>
                        </m:ctrlPr>
                      </m:dPr>
                      <m:e>
                        <m:m>
                          <m:mPr>
                            <m:mcs>
                              <m:mc>
                                <m:mcPr>
                                  <m:count m:val="1"/>
                                  <m:mcJc m:val="center"/>
                                </m:mcPr>
                              </m:mc>
                            </m:mcs>
                            <m:ctrlPr>
                              <a:rPr lang="en-US" altLang="zh-CN" sz="2400" i="1">
                                <a:latin typeface="Cambria Math" panose="02040503050406030204" pitchFamily="18" charset="0"/>
                                <a:ea typeface="宋体" panose="02010600030101010101" pitchFamily="2" charset="-122"/>
                              </a:rPr>
                            </m:ctrlPr>
                          </m:mPr>
                          <m:mr>
                            <m:e>
                              <m:r>
                                <m:rPr>
                                  <m:brk m:alnAt="7"/>
                                </m:rPr>
                                <a:rPr lang="en-US" altLang="zh-CN" sz="2400" i="1">
                                  <a:latin typeface="Cambria Math" panose="02040503050406030204" pitchFamily="18" charset="0"/>
                                  <a:ea typeface="宋体" panose="02010600030101010101" pitchFamily="2" charset="-122"/>
                                </a:rPr>
                                <m:t>−</m:t>
                              </m:r>
                              <m:r>
                                <a:rPr lang="en-US" altLang="zh-CN" sz="2400" i="1">
                                  <a:latin typeface="Cambria Math" panose="02040503050406030204" pitchFamily="18" charset="0"/>
                                  <a:ea typeface="宋体" panose="02010600030101010101" pitchFamily="2" charset="-122"/>
                                </a:rPr>
                                <m:t>2</m:t>
                              </m:r>
                            </m:e>
                          </m:mr>
                          <m:mr>
                            <m:e>
                              <m:r>
                                <a:rPr lang="en-US" altLang="zh-CN" sz="2400" i="1">
                                  <a:latin typeface="Cambria Math" panose="02040503050406030204" pitchFamily="18" charset="0"/>
                                  <a:ea typeface="宋体" panose="02010600030101010101" pitchFamily="2" charset="-122"/>
                                </a:rPr>
                                <m:t>4</m:t>
                              </m:r>
                            </m:e>
                          </m:mr>
                        </m:m>
                      </m:e>
                    </m:d>
                    <m:r>
                      <a:rPr lang="en-US" altLang="zh-CN" sz="2400" i="1">
                        <a:latin typeface="Cambria Math" panose="02040503050406030204" pitchFamily="18" charset="0"/>
                        <a:ea typeface="宋体" panose="02010600030101010101" pitchFamily="2" charset="-122"/>
                      </a:rPr>
                      <m:t>.</m:t>
                    </m:r>
                  </m:oMath>
                </a14:m>
                <a:endParaRPr lang="en-US" altLang="zh-CN" sz="2400" dirty="0">
                  <a:latin typeface="宋体" panose="02010600030101010101" pitchFamily="2" charset="-122"/>
                  <a:ea typeface="宋体" panose="02010600030101010101" pitchFamily="2" charset="-122"/>
                </a:endParaRPr>
              </a:p>
              <a:p>
                <a:pPr indent="464400" algn="just">
                  <a:lnSpc>
                    <a:spcPct val="150000"/>
                  </a:lnSpc>
                </a:pPr>
                <a:r>
                  <a:rPr lang="zh-CN" altLang="en-US" sz="2400" b="1" dirty="0">
                    <a:latin typeface="宋体" panose="02010600030101010101" pitchFamily="2" charset="-122"/>
                    <a:ea typeface="宋体" panose="02010600030101010101" pitchFamily="2" charset="-122"/>
                  </a:rPr>
                  <a:t>解</a:t>
                </a:r>
                <a:r>
                  <a:rPr lang="zh-CN" altLang="en-US" sz="2400" dirty="0">
                    <a:latin typeface="宋体" panose="02010600030101010101" pitchFamily="2" charset="-122"/>
                    <a:ea typeface="宋体" panose="02010600030101010101" pitchFamily="2" charset="-122"/>
                  </a:rPr>
                  <a:t>  首先将</a:t>
                </a:r>
                <a14:m>
                  <m:oMath xmlns:m="http://schemas.openxmlformats.org/officeDocument/2006/math">
                    <m:r>
                      <a:rPr lang="en-US" altLang="zh-CN" sz="2400" i="1">
                        <a:latin typeface="Cambria Math" panose="02040503050406030204" pitchFamily="18" charset="0"/>
                        <a:ea typeface="宋体" panose="02010600030101010101" pitchFamily="2" charset="-122"/>
                      </a:rPr>
                      <m:t>𝑓</m:t>
                    </m:r>
                    <m:r>
                      <a:rPr lang="en-US" altLang="zh-CN" sz="2400" i="1">
                        <a:latin typeface="Cambria Math" panose="02040503050406030204" pitchFamily="18" charset="0"/>
                        <a:ea typeface="宋体" panose="02010600030101010101" pitchFamily="2" charset="-122"/>
                      </a:rPr>
                      <m:t>(</m:t>
                    </m:r>
                    <m:r>
                      <a:rPr lang="en-US" altLang="zh-CN" sz="2400" i="1">
                        <a:latin typeface="Cambria Math" panose="02040503050406030204" pitchFamily="18" charset="0"/>
                        <a:ea typeface="宋体" panose="02010600030101010101" pitchFamily="2" charset="-122"/>
                      </a:rPr>
                      <m:t>𝑥</m:t>
                    </m:r>
                    <m:r>
                      <a:rPr lang="en-US" altLang="zh-CN" sz="2400" i="1">
                        <a:latin typeface="Cambria Math" panose="02040503050406030204" pitchFamily="18" charset="0"/>
                        <a:ea typeface="宋体" panose="02010600030101010101" pitchFamily="2" charset="-122"/>
                      </a:rPr>
                      <m:t>)</m:t>
                    </m:r>
                    <m:r>
                      <a:rPr lang="zh-CN" altLang="en-US" sz="2400" i="1">
                        <a:latin typeface="Cambria Math" panose="02040503050406030204" pitchFamily="18" charset="0"/>
                        <a:ea typeface="宋体" panose="02010600030101010101" pitchFamily="2" charset="-122"/>
                      </a:rPr>
                      <m:t>化成</m:t>
                    </m:r>
                  </m:oMath>
                </a14:m>
                <a:endParaRPr lang="en-US" altLang="zh-CN" sz="2400" dirty="0">
                  <a:latin typeface="宋体" panose="02010600030101010101" pitchFamily="2" charset="-122"/>
                  <a:ea typeface="宋体" panose="02010600030101010101" pitchFamily="2" charset="-122"/>
                </a:endParaRPr>
              </a:p>
              <a:p>
                <a:pPr indent="464400" algn="just">
                  <a:lnSpc>
                    <a:spcPct val="150000"/>
                  </a:lnSpc>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ea typeface="宋体" panose="02010600030101010101" pitchFamily="2" charset="-122"/>
                        </a:rPr>
                        <m:t>𝑓</m:t>
                      </m:r>
                      <m:d>
                        <m:dPr>
                          <m:ctrlPr>
                            <a:rPr lang="en-US" altLang="zh-CN" sz="2400" i="1">
                              <a:latin typeface="Cambria Math" panose="02040503050406030204" pitchFamily="18" charset="0"/>
                              <a:ea typeface="宋体" panose="02010600030101010101" pitchFamily="2" charset="-122"/>
                            </a:rPr>
                          </m:ctrlPr>
                        </m:dPr>
                        <m:e>
                          <m:r>
                            <a:rPr lang="en-US" altLang="zh-CN" sz="2400" i="1">
                              <a:latin typeface="Cambria Math" panose="02040503050406030204" pitchFamily="18" charset="0"/>
                              <a:ea typeface="宋体" panose="02010600030101010101" pitchFamily="2" charset="-122"/>
                            </a:rPr>
                            <m:t>𝑥</m:t>
                          </m:r>
                        </m:e>
                      </m:d>
                      <m:r>
                        <a:rPr lang="en-US" altLang="zh-CN" sz="2400" i="1">
                          <a:latin typeface="Cambria Math" panose="02040503050406030204" pitchFamily="18" charset="0"/>
                          <a:ea typeface="宋体" panose="02010600030101010101" pitchFamily="2" charset="-122"/>
                        </a:rPr>
                        <m:t>=</m:t>
                      </m:r>
                      <m:f>
                        <m:fPr>
                          <m:ctrlPr>
                            <a:rPr lang="en-US" altLang="zh-CN" sz="2400" i="1">
                              <a:latin typeface="Cambria Math" panose="02040503050406030204" pitchFamily="18" charset="0"/>
                              <a:ea typeface="宋体" panose="02010600030101010101" pitchFamily="2" charset="-122"/>
                            </a:rPr>
                          </m:ctrlPr>
                        </m:fPr>
                        <m:num>
                          <m:r>
                            <a:rPr lang="en-US" altLang="zh-CN" sz="2400" i="1">
                              <a:latin typeface="Cambria Math" panose="02040503050406030204" pitchFamily="18" charset="0"/>
                              <a:ea typeface="宋体" panose="02010600030101010101" pitchFamily="2" charset="-122"/>
                            </a:rPr>
                            <m:t>1</m:t>
                          </m:r>
                        </m:num>
                        <m:den>
                          <m:r>
                            <a:rPr lang="en-US" altLang="zh-CN" sz="2400" i="1">
                              <a:latin typeface="Cambria Math" panose="02040503050406030204" pitchFamily="18" charset="0"/>
                              <a:ea typeface="宋体" panose="02010600030101010101" pitchFamily="2" charset="-122"/>
                            </a:rPr>
                            <m:t>2</m:t>
                          </m:r>
                        </m:den>
                      </m:f>
                      <m:d>
                        <m:dPr>
                          <m:ctrlPr>
                            <a:rPr lang="en-US" altLang="zh-CN" sz="2400" i="1">
                              <a:latin typeface="Cambria Math" panose="02040503050406030204" pitchFamily="18" charset="0"/>
                              <a:ea typeface="宋体" panose="02010600030101010101" pitchFamily="2" charset="-122"/>
                            </a:rPr>
                          </m:ctrlPr>
                        </m:dPr>
                        <m:e>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𝑥</m:t>
                              </m:r>
                            </m:e>
                            <m:sub>
                              <m:r>
                                <a:rPr lang="en-US" altLang="zh-CN" sz="2400" i="1">
                                  <a:latin typeface="Cambria Math" panose="02040503050406030204" pitchFamily="18" charset="0"/>
                                  <a:ea typeface="宋体" panose="02010600030101010101" pitchFamily="2" charset="-122"/>
                                </a:rPr>
                                <m:t>1</m:t>
                              </m:r>
                            </m:sub>
                          </m:sSub>
                          <m:r>
                            <a:rPr lang="en-US" altLang="zh-CN" sz="2400" i="1">
                              <a:latin typeface="Cambria Math" panose="02040503050406030204" pitchFamily="18" charset="0"/>
                              <a:ea typeface="宋体" panose="02010600030101010101" pitchFamily="2" charset="-122"/>
                            </a:rPr>
                            <m:t>,</m:t>
                          </m:r>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𝑥</m:t>
                              </m:r>
                            </m:e>
                            <m:sub>
                              <m:r>
                                <a:rPr lang="en-US" altLang="zh-CN" sz="2400" i="1">
                                  <a:latin typeface="Cambria Math" panose="02040503050406030204" pitchFamily="18" charset="0"/>
                                  <a:ea typeface="宋体" panose="02010600030101010101" pitchFamily="2" charset="-122"/>
                                </a:rPr>
                                <m:t>2</m:t>
                              </m:r>
                            </m:sub>
                          </m:sSub>
                        </m:e>
                      </m:d>
                      <m:d>
                        <m:dPr>
                          <m:begChr m:val="["/>
                          <m:endChr m:val="]"/>
                          <m:ctrlPr>
                            <a:rPr lang="en-US" altLang="zh-CN" sz="2400" i="1">
                              <a:latin typeface="Cambria Math" panose="02040503050406030204" pitchFamily="18" charset="0"/>
                              <a:ea typeface="宋体" panose="02010600030101010101" pitchFamily="2" charset="-122"/>
                            </a:rPr>
                          </m:ctrlPr>
                        </m:dPr>
                        <m:e>
                          <m:m>
                            <m:mPr>
                              <m:mcs>
                                <m:mc>
                                  <m:mcPr>
                                    <m:count m:val="2"/>
                                    <m:mcJc m:val="center"/>
                                  </m:mcPr>
                                </m:mc>
                              </m:mcs>
                              <m:ctrlPr>
                                <a:rPr lang="en-US" altLang="zh-CN" sz="2400" i="1">
                                  <a:latin typeface="Cambria Math" panose="02040503050406030204" pitchFamily="18" charset="0"/>
                                  <a:ea typeface="宋体" panose="02010600030101010101" pitchFamily="2" charset="-122"/>
                                </a:rPr>
                              </m:ctrlPr>
                            </m:mPr>
                            <m:mr>
                              <m:e>
                                <m:r>
                                  <m:rPr>
                                    <m:brk m:alnAt="7"/>
                                  </m:rPr>
                                  <a:rPr lang="en-US" altLang="zh-CN" sz="2400" i="1">
                                    <a:latin typeface="Cambria Math" panose="02040503050406030204" pitchFamily="18" charset="0"/>
                                    <a:ea typeface="宋体" panose="02010600030101010101" pitchFamily="2" charset="-122"/>
                                  </a:rPr>
                                  <m:t>3</m:t>
                                </m:r>
                              </m:e>
                              <m:e>
                                <m:r>
                                  <a:rPr lang="en-US" altLang="zh-CN" sz="2400" i="1">
                                    <a:latin typeface="Cambria Math" panose="02040503050406030204" pitchFamily="18" charset="0"/>
                                    <a:ea typeface="宋体" panose="02010600030101010101" pitchFamily="2" charset="-122"/>
                                  </a:rPr>
                                  <m:t>−1</m:t>
                                </m:r>
                              </m:e>
                            </m:mr>
                            <m:mr>
                              <m:e>
                                <m:r>
                                  <a:rPr lang="en-US" altLang="zh-CN" sz="2400" i="1">
                                    <a:latin typeface="Cambria Math" panose="02040503050406030204" pitchFamily="18" charset="0"/>
                                    <a:ea typeface="宋体" panose="02010600030101010101" pitchFamily="2" charset="-122"/>
                                  </a:rPr>
                                  <m:t>−1</m:t>
                                </m:r>
                              </m:e>
                              <m:e>
                                <m:r>
                                  <a:rPr lang="en-US" altLang="zh-CN" sz="2400" i="1">
                                    <a:latin typeface="Cambria Math" panose="02040503050406030204" pitchFamily="18" charset="0"/>
                                    <a:ea typeface="宋体" panose="02010600030101010101" pitchFamily="2" charset="-122"/>
                                  </a:rPr>
                                  <m:t>1</m:t>
                                </m:r>
                              </m:e>
                            </m:mr>
                          </m:m>
                        </m:e>
                      </m:d>
                      <m:d>
                        <m:dPr>
                          <m:begChr m:val="["/>
                          <m:endChr m:val="]"/>
                          <m:ctrlPr>
                            <a:rPr lang="en-US" altLang="zh-CN" sz="2400" i="1">
                              <a:latin typeface="Cambria Math" panose="02040503050406030204" pitchFamily="18" charset="0"/>
                              <a:ea typeface="宋体" panose="02010600030101010101" pitchFamily="2" charset="-122"/>
                            </a:rPr>
                          </m:ctrlPr>
                        </m:dPr>
                        <m:e>
                          <m:m>
                            <m:mPr>
                              <m:mcs>
                                <m:mc>
                                  <m:mcPr>
                                    <m:count m:val="1"/>
                                    <m:mcJc m:val="center"/>
                                  </m:mcPr>
                                </m:mc>
                              </m:mcs>
                              <m:ctrlPr>
                                <a:rPr lang="en-US" altLang="zh-CN" sz="2400" i="1">
                                  <a:latin typeface="Cambria Math" panose="02040503050406030204" pitchFamily="18" charset="0"/>
                                  <a:ea typeface="宋体" panose="02010600030101010101" pitchFamily="2" charset="-122"/>
                                </a:rPr>
                              </m:ctrlPr>
                            </m:mPr>
                            <m:mr>
                              <m:e>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𝑥</m:t>
                                    </m:r>
                                  </m:e>
                                  <m:sub>
                                    <m:r>
                                      <a:rPr lang="en-US" altLang="zh-CN" sz="2400" i="1">
                                        <a:latin typeface="Cambria Math" panose="02040503050406030204" pitchFamily="18" charset="0"/>
                                        <a:ea typeface="宋体" panose="02010600030101010101" pitchFamily="2" charset="-122"/>
                                      </a:rPr>
                                      <m:t>1</m:t>
                                    </m:r>
                                  </m:sub>
                                </m:sSub>
                              </m:e>
                            </m:mr>
                            <m:mr>
                              <m:e>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𝑥</m:t>
                                    </m:r>
                                  </m:e>
                                  <m:sub>
                                    <m:r>
                                      <a:rPr lang="en-US" altLang="zh-CN" sz="2400" i="1">
                                        <a:latin typeface="Cambria Math" panose="02040503050406030204" pitchFamily="18" charset="0"/>
                                        <a:ea typeface="宋体" panose="02010600030101010101" pitchFamily="2" charset="-122"/>
                                      </a:rPr>
                                      <m:t>2</m:t>
                                    </m:r>
                                  </m:sub>
                                </m:sSub>
                              </m:e>
                            </m:mr>
                          </m:m>
                        </m:e>
                      </m:d>
                      <m:r>
                        <a:rPr lang="en-US" altLang="zh-CN" sz="2400" i="1">
                          <a:latin typeface="Cambria Math" panose="02040503050406030204" pitchFamily="18" charset="0"/>
                          <a:ea typeface="宋体" panose="02010600030101010101" pitchFamily="2" charset="-122"/>
                        </a:rPr>
                        <m:t>+</m:t>
                      </m:r>
                      <m:d>
                        <m:dPr>
                          <m:ctrlPr>
                            <a:rPr lang="en-US" altLang="zh-CN" sz="2400" i="1">
                              <a:latin typeface="Cambria Math" panose="02040503050406030204" pitchFamily="18" charset="0"/>
                              <a:ea typeface="宋体" panose="02010600030101010101" pitchFamily="2" charset="-122"/>
                            </a:rPr>
                          </m:ctrlPr>
                        </m:dPr>
                        <m:e>
                          <m:r>
                            <a:rPr lang="en-US" altLang="zh-CN" sz="2400" i="1">
                              <a:latin typeface="Cambria Math" panose="02040503050406030204" pitchFamily="18" charset="0"/>
                              <a:ea typeface="宋体" panose="02010600030101010101" pitchFamily="2" charset="-122"/>
                            </a:rPr>
                            <m:t>−2,0</m:t>
                          </m:r>
                        </m:e>
                      </m:d>
                      <m:d>
                        <m:dPr>
                          <m:begChr m:val="["/>
                          <m:endChr m:val="]"/>
                          <m:ctrlPr>
                            <a:rPr lang="en-US" altLang="zh-CN" sz="2400" i="1">
                              <a:latin typeface="Cambria Math" panose="02040503050406030204" pitchFamily="18" charset="0"/>
                              <a:ea typeface="宋体" panose="02010600030101010101" pitchFamily="2" charset="-122"/>
                            </a:rPr>
                          </m:ctrlPr>
                        </m:dPr>
                        <m:e>
                          <m:m>
                            <m:mPr>
                              <m:mcs>
                                <m:mc>
                                  <m:mcPr>
                                    <m:count m:val="1"/>
                                    <m:mcJc m:val="center"/>
                                  </m:mcPr>
                                </m:mc>
                              </m:mcs>
                              <m:ctrlPr>
                                <a:rPr lang="en-US" altLang="zh-CN" sz="2400" i="1">
                                  <a:latin typeface="Cambria Math" panose="02040503050406030204" pitchFamily="18" charset="0"/>
                                  <a:ea typeface="宋体" panose="02010600030101010101" pitchFamily="2" charset="-122"/>
                                </a:rPr>
                              </m:ctrlPr>
                            </m:mPr>
                            <m:mr>
                              <m:e>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𝑥</m:t>
                                    </m:r>
                                  </m:e>
                                  <m:sub>
                                    <m:r>
                                      <a:rPr lang="en-US" altLang="zh-CN" sz="2400" i="1">
                                        <a:latin typeface="Cambria Math" panose="02040503050406030204" pitchFamily="18" charset="0"/>
                                        <a:ea typeface="宋体" panose="02010600030101010101" pitchFamily="2" charset="-122"/>
                                      </a:rPr>
                                      <m:t>1</m:t>
                                    </m:r>
                                  </m:sub>
                                </m:sSub>
                              </m:e>
                            </m:mr>
                            <m:mr>
                              <m:e>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𝑥</m:t>
                                    </m:r>
                                  </m:e>
                                  <m:sub>
                                    <m:r>
                                      <a:rPr lang="en-US" altLang="zh-CN" sz="2400" i="1">
                                        <a:latin typeface="Cambria Math" panose="02040503050406030204" pitchFamily="18" charset="0"/>
                                        <a:ea typeface="宋体" panose="02010600030101010101" pitchFamily="2" charset="-122"/>
                                      </a:rPr>
                                      <m:t>2</m:t>
                                    </m:r>
                                  </m:sub>
                                </m:sSub>
                              </m:e>
                            </m:mr>
                          </m:m>
                        </m:e>
                      </m:d>
                    </m:oMath>
                  </m:oMathPara>
                </a14:m>
                <a:endParaRPr lang="en-US" altLang="zh-CN" sz="2400" dirty="0">
                  <a:latin typeface="宋体" panose="02010600030101010101" pitchFamily="2" charset="-122"/>
                  <a:ea typeface="宋体" panose="02010600030101010101" pitchFamily="2" charset="-122"/>
                </a:endParaRPr>
              </a:p>
              <a:p>
                <a:pPr indent="464400" algn="just">
                  <a:lnSpc>
                    <a:spcPct val="150000"/>
                  </a:lnSpc>
                </a:pPr>
                <a:r>
                  <a:rPr lang="zh-CN" altLang="en-US" sz="2400" dirty="0">
                    <a:latin typeface="宋体" panose="02010600030101010101" pitchFamily="2" charset="-122"/>
                    <a:ea typeface="宋体" panose="02010600030101010101" pitchFamily="2" charset="-122"/>
                  </a:rPr>
                  <a:t>其中</a:t>
                </a:r>
                <a14:m>
                  <m:oMath xmlns:m="http://schemas.openxmlformats.org/officeDocument/2006/math">
                    <m:r>
                      <a:rPr lang="en-US" altLang="zh-CN" sz="2400" i="1">
                        <a:latin typeface="Cambria Math" panose="02040503050406030204" pitchFamily="18" charset="0"/>
                        <a:ea typeface="宋体" panose="02010600030101010101" pitchFamily="2" charset="-122"/>
                      </a:rPr>
                      <m:t>𝐴</m:t>
                    </m:r>
                    <m:r>
                      <a:rPr lang="en-US" altLang="zh-CN" sz="2400" i="1">
                        <a:latin typeface="Cambria Math" panose="02040503050406030204" pitchFamily="18" charset="0"/>
                        <a:ea typeface="宋体" panose="02010600030101010101" pitchFamily="2" charset="-122"/>
                      </a:rPr>
                      <m:t>=</m:t>
                    </m:r>
                    <m:d>
                      <m:dPr>
                        <m:begChr m:val="["/>
                        <m:endChr m:val="]"/>
                        <m:ctrlPr>
                          <a:rPr lang="en-US" altLang="zh-CN" sz="2400" i="1">
                            <a:latin typeface="Cambria Math" panose="02040503050406030204" pitchFamily="18" charset="0"/>
                            <a:ea typeface="宋体" panose="02010600030101010101" pitchFamily="2" charset="-122"/>
                          </a:rPr>
                        </m:ctrlPr>
                      </m:dPr>
                      <m:e>
                        <m:m>
                          <m:mPr>
                            <m:mcs>
                              <m:mc>
                                <m:mcPr>
                                  <m:count m:val="2"/>
                                  <m:mcJc m:val="center"/>
                                </m:mcPr>
                              </m:mc>
                            </m:mcs>
                            <m:ctrlPr>
                              <a:rPr lang="en-US" altLang="zh-CN" sz="2400" i="1">
                                <a:latin typeface="Cambria Math" panose="02040503050406030204" pitchFamily="18" charset="0"/>
                                <a:ea typeface="宋体" panose="02010600030101010101" pitchFamily="2" charset="-122"/>
                              </a:rPr>
                            </m:ctrlPr>
                          </m:mPr>
                          <m:mr>
                            <m:e>
                              <m:r>
                                <m:rPr>
                                  <m:brk m:alnAt="7"/>
                                </m:rPr>
                                <a:rPr lang="en-US" altLang="zh-CN" sz="2400" i="1">
                                  <a:latin typeface="Cambria Math" panose="02040503050406030204" pitchFamily="18" charset="0"/>
                                  <a:ea typeface="宋体" panose="02010600030101010101" pitchFamily="2" charset="-122"/>
                                </a:rPr>
                                <m:t>3</m:t>
                              </m:r>
                            </m:e>
                            <m:e>
                              <m:r>
                                <a:rPr lang="en-US" altLang="zh-CN" sz="2400" i="1">
                                  <a:latin typeface="Cambria Math" panose="02040503050406030204" pitchFamily="18" charset="0"/>
                                  <a:ea typeface="宋体" panose="02010600030101010101" pitchFamily="2" charset="-122"/>
                                </a:rPr>
                                <m:t>−1</m:t>
                              </m:r>
                            </m:e>
                          </m:mr>
                          <m:mr>
                            <m:e>
                              <m:r>
                                <a:rPr lang="en-US" altLang="zh-CN" sz="2400" i="1">
                                  <a:latin typeface="Cambria Math" panose="02040503050406030204" pitchFamily="18" charset="0"/>
                                  <a:ea typeface="宋体" panose="02010600030101010101" pitchFamily="2" charset="-122"/>
                                </a:rPr>
                                <m:t>−1</m:t>
                              </m:r>
                            </m:e>
                            <m:e>
                              <m:r>
                                <a:rPr lang="en-US" altLang="zh-CN" sz="2400" i="1">
                                  <a:latin typeface="Cambria Math" panose="02040503050406030204" pitchFamily="18" charset="0"/>
                                  <a:ea typeface="宋体" panose="02010600030101010101" pitchFamily="2" charset="-122"/>
                                </a:rPr>
                                <m:t>1</m:t>
                              </m:r>
                            </m:e>
                          </m:mr>
                        </m:m>
                      </m:e>
                    </m:d>
                  </m:oMath>
                </a14:m>
                <a:r>
                  <a:rPr lang="zh-CN" altLang="en-US" sz="2400" dirty="0">
                    <a:latin typeface="宋体" panose="02010600030101010101" pitchFamily="2" charset="-122"/>
                    <a:ea typeface="宋体" panose="02010600030101010101" pitchFamily="2" charset="-122"/>
                  </a:rPr>
                  <a:t>是一个正定矩阵，</a:t>
                </a:r>
                <a:r>
                  <a:rPr lang="en-US" altLang="zh-CN" sz="2400" dirty="0">
                    <a:ea typeface="宋体" panose="02010600030101010101" pitchFamily="2" charset="-122"/>
                  </a:rPr>
                  <a:t>b</a:t>
                </a:r>
                <a14:m>
                  <m:oMath xmlns:m="http://schemas.openxmlformats.org/officeDocument/2006/math">
                    <m:r>
                      <a:rPr lang="en-US" altLang="zh-CN" sz="2400" i="1">
                        <a:latin typeface="Cambria Math" panose="02040503050406030204" pitchFamily="18" charset="0"/>
                        <a:ea typeface="宋体" panose="02010600030101010101" pitchFamily="2" charset="-122"/>
                      </a:rPr>
                      <m:t>=</m:t>
                    </m:r>
                    <m:d>
                      <m:dPr>
                        <m:begChr m:val="["/>
                        <m:endChr m:val="]"/>
                        <m:ctrlPr>
                          <a:rPr lang="en-US" altLang="zh-CN" sz="2400" i="1">
                            <a:latin typeface="Cambria Math" panose="02040503050406030204" pitchFamily="18" charset="0"/>
                            <a:ea typeface="宋体" panose="02010600030101010101" pitchFamily="2" charset="-122"/>
                          </a:rPr>
                        </m:ctrlPr>
                      </m:dPr>
                      <m:e>
                        <m:m>
                          <m:mPr>
                            <m:mcs>
                              <m:mc>
                                <m:mcPr>
                                  <m:count m:val="1"/>
                                  <m:mcJc m:val="center"/>
                                </m:mcPr>
                              </m:mc>
                            </m:mcs>
                            <m:ctrlPr>
                              <a:rPr lang="en-US" altLang="zh-CN" sz="2400" i="1">
                                <a:latin typeface="Cambria Math" panose="02040503050406030204" pitchFamily="18" charset="0"/>
                                <a:ea typeface="宋体" panose="02010600030101010101" pitchFamily="2" charset="-122"/>
                              </a:rPr>
                            </m:ctrlPr>
                          </m:mPr>
                          <m:mr>
                            <m:e>
                              <m:r>
                                <m:rPr>
                                  <m:brk m:alnAt="7"/>
                                </m:rPr>
                                <a:rPr lang="en-US" altLang="zh-CN" sz="2400" i="1">
                                  <a:latin typeface="Cambria Math" panose="02040503050406030204" pitchFamily="18" charset="0"/>
                                  <a:ea typeface="宋体" panose="02010600030101010101" pitchFamily="2" charset="-122"/>
                                </a:rPr>
                                <m:t>−</m:t>
                              </m:r>
                              <m:r>
                                <a:rPr lang="en-US" altLang="zh-CN" sz="2400" i="1">
                                  <a:latin typeface="Cambria Math" panose="02040503050406030204" pitchFamily="18" charset="0"/>
                                  <a:ea typeface="宋体" panose="02010600030101010101" pitchFamily="2" charset="-122"/>
                                </a:rPr>
                                <m:t>2</m:t>
                              </m:r>
                            </m:e>
                          </m:mr>
                          <m:mr>
                            <m:e>
                              <m:r>
                                <a:rPr lang="en-US" altLang="zh-CN" sz="2400" i="1">
                                  <a:latin typeface="Cambria Math" panose="02040503050406030204" pitchFamily="18" charset="0"/>
                                  <a:ea typeface="宋体" panose="02010600030101010101" pitchFamily="2" charset="-122"/>
                                </a:rPr>
                                <m:t>0</m:t>
                              </m:r>
                            </m:e>
                          </m:mr>
                        </m:m>
                      </m:e>
                    </m:d>
                  </m:oMath>
                </a14:m>
                <a:r>
                  <a:rPr lang="zh-CN" altLang="en-US" sz="2400" dirty="0">
                    <a:latin typeface="宋体" panose="02010600030101010101" pitchFamily="2" charset="-122"/>
                    <a:ea typeface="宋体" panose="02010600030101010101" pitchFamily="2" charset="-122"/>
                  </a:rPr>
                  <a:t>，</a:t>
                </a:r>
                <a14:m>
                  <m:oMath xmlns:m="http://schemas.openxmlformats.org/officeDocument/2006/math">
                    <m:r>
                      <a:rPr lang="en-US" altLang="zh-CN" sz="2400" b="0" i="1" dirty="0" smtClean="0">
                        <a:latin typeface="Cambria Math" panose="02040503050406030204" pitchFamily="18" charset="0"/>
                        <a:ea typeface="宋体" panose="02010600030101010101" pitchFamily="2" charset="-122"/>
                      </a:rPr>
                      <m:t>𝑐</m:t>
                    </m:r>
                    <m:r>
                      <a:rPr lang="en-US" altLang="zh-CN" sz="2400" i="1" dirty="0">
                        <a:latin typeface="Cambria Math" panose="02040503050406030204" pitchFamily="18" charset="0"/>
                        <a:ea typeface="宋体" panose="02010600030101010101" pitchFamily="2" charset="-122"/>
                      </a:rPr>
                      <m:t>=0</m:t>
                    </m:r>
                  </m:oMath>
                </a14:m>
                <a:r>
                  <a:rPr lang="en-US" altLang="zh-CN" sz="2400" dirty="0">
                    <a:latin typeface="宋体" panose="02010600030101010101" pitchFamily="2" charset="-122"/>
                    <a:ea typeface="宋体" panose="02010600030101010101" pitchFamily="2" charset="-122"/>
                  </a:rPr>
                  <a:t>.</a:t>
                </a:r>
              </a:p>
              <a:p>
                <a:pPr indent="464400" algn="just">
                  <a:lnSpc>
                    <a:spcPct val="150000"/>
                  </a:lnSpc>
                </a:pPr>
                <a:endParaRPr lang="zh-CN" altLang="en-US" sz="2400" dirty="0">
                  <a:latin typeface="宋体" panose="02010600030101010101" pitchFamily="2" charset="-122"/>
                  <a:ea typeface="宋体" panose="02010600030101010101" pitchFamily="2" charset="-122"/>
                </a:endParaRPr>
              </a:p>
            </p:txBody>
          </p:sp>
        </mc:Choice>
        <mc:Fallback xmlns="">
          <p:sp>
            <p:nvSpPr>
              <p:cNvPr id="3" name="文本框 2">
                <a:extLst>
                  <a:ext uri="{FF2B5EF4-FFF2-40B4-BE49-F238E27FC236}">
                    <a16:creationId xmlns:a16="http://schemas.microsoft.com/office/drawing/2014/main" id="{1CDB37FE-F7AB-227A-1702-57E743FD377F}"/>
                  </a:ext>
                </a:extLst>
              </p:cNvPr>
              <p:cNvSpPr txBox="1">
                <a:spLocks noRot="1" noChangeAspect="1" noMove="1" noResize="1" noEditPoints="1" noAdjustHandles="1" noChangeArrowheads="1" noChangeShapeType="1" noTextEdit="1"/>
              </p:cNvSpPr>
              <p:nvPr/>
            </p:nvSpPr>
            <p:spPr>
              <a:xfrm>
                <a:off x="534177" y="635959"/>
                <a:ext cx="8075645" cy="5586081"/>
              </a:xfrm>
              <a:prstGeom prst="rect">
                <a:avLst/>
              </a:prstGeom>
              <a:blipFill>
                <a:blip r:embed="rId2"/>
                <a:stretch>
                  <a:fillRect l="-120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4430173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E2A6C413-312C-C027-E882-BE48A3E6CA6B}"/>
                  </a:ext>
                </a:extLst>
              </p:cNvPr>
              <p:cNvSpPr txBox="1"/>
              <p:nvPr/>
            </p:nvSpPr>
            <p:spPr>
              <a:xfrm>
                <a:off x="611560" y="723492"/>
                <a:ext cx="8174182" cy="5225982"/>
              </a:xfrm>
              <a:prstGeom prst="rect">
                <a:avLst/>
              </a:prstGeom>
              <a:noFill/>
            </p:spPr>
            <p:txBody>
              <a:bodyPr wrap="square" rtlCol="0">
                <a:spAutoFit/>
              </a:bodyPr>
              <a:lstStyle/>
              <a:p>
                <a:pPr algn="just"/>
                <a14:m>
                  <m:oMathPara xmlns:m="http://schemas.openxmlformats.org/officeDocument/2006/math">
                    <m:oMathParaPr>
                      <m:jc m:val="centerGroup"/>
                    </m:oMathParaPr>
                    <m:oMath xmlns:m="http://schemas.openxmlformats.org/officeDocument/2006/math">
                      <m:sSup>
                        <m:sSupPr>
                          <m:ctrlPr>
                            <a:rPr lang="en-US" altLang="zh-CN" sz="2000" i="1" smtClean="0">
                              <a:latin typeface="Cambria Math" panose="02040503050406030204" pitchFamily="18" charset="0"/>
                            </a:rPr>
                          </m:ctrlPr>
                        </m:sSupPr>
                        <m:e>
                          <m:r>
                            <a:rPr lang="en-US" altLang="zh-CN" sz="2000" i="1">
                              <a:latin typeface="Cambria Math" panose="02040503050406030204" pitchFamily="18" charset="0"/>
                            </a:rPr>
                            <m:t>𝑥</m:t>
                          </m:r>
                        </m:e>
                        <m:sup>
                          <m:r>
                            <a:rPr lang="en-US" altLang="zh-CN" sz="2000" i="1">
                              <a:latin typeface="Cambria Math" panose="02040503050406030204" pitchFamily="18" charset="0"/>
                            </a:rPr>
                            <m:t>(1)</m:t>
                          </m:r>
                        </m:sup>
                      </m:sSup>
                      <m:r>
                        <a:rPr lang="en-US" altLang="zh-CN" sz="2000" i="1">
                          <a:latin typeface="Cambria Math" panose="02040503050406030204" pitchFamily="18" charset="0"/>
                        </a:rPr>
                        <m:t>=</m:t>
                      </m:r>
                      <m:d>
                        <m:dPr>
                          <m:begChr m:val="["/>
                          <m:endChr m:val="]"/>
                          <m:ctrlPr>
                            <a:rPr lang="en-US" altLang="zh-CN" sz="2000" i="1">
                              <a:latin typeface="Cambria Math" panose="02040503050406030204" pitchFamily="18" charset="0"/>
                            </a:rPr>
                          </m:ctrlPr>
                        </m:dPr>
                        <m:e>
                          <m:m>
                            <m:mPr>
                              <m:mcs>
                                <m:mc>
                                  <m:mcPr>
                                    <m:count m:val="1"/>
                                    <m:mcJc m:val="center"/>
                                  </m:mcPr>
                                </m:mc>
                              </m:mcs>
                              <m:ctrlPr>
                                <a:rPr lang="en-US" altLang="zh-CN" sz="2000" i="1">
                                  <a:latin typeface="Cambria Math" panose="02040503050406030204" pitchFamily="18" charset="0"/>
                                </a:rPr>
                              </m:ctrlPr>
                            </m:mPr>
                            <m:mr>
                              <m:e>
                                <m:r>
                                  <m:rPr>
                                    <m:brk m:alnAt="7"/>
                                  </m:rPr>
                                  <a:rPr lang="en-US" altLang="zh-CN" sz="2000" i="1">
                                    <a:latin typeface="Cambria Math" panose="02040503050406030204" pitchFamily="18" charset="0"/>
                                  </a:rPr>
                                  <m:t>−</m:t>
                                </m:r>
                                <m:r>
                                  <a:rPr lang="en-US" altLang="zh-CN" sz="2000" i="1">
                                    <a:latin typeface="Cambria Math" panose="02040503050406030204" pitchFamily="18" charset="0"/>
                                  </a:rPr>
                                  <m:t>2</m:t>
                                </m:r>
                              </m:e>
                            </m:mr>
                            <m:mr>
                              <m:e>
                                <m:r>
                                  <a:rPr lang="en-US" altLang="zh-CN" sz="2000" i="1">
                                    <a:latin typeface="Cambria Math" panose="02040503050406030204" pitchFamily="18" charset="0"/>
                                  </a:rPr>
                                  <m:t>4</m:t>
                                </m:r>
                              </m:e>
                            </m:mr>
                          </m:m>
                        </m:e>
                      </m:d>
                    </m:oMath>
                  </m:oMathPara>
                </a14:m>
                <a:endParaRPr lang="en-US" altLang="zh-CN" sz="2000" dirty="0">
                  <a:latin typeface="宋体" panose="02010600030101010101" pitchFamily="2" charset="-122"/>
                </a:endParaRPr>
              </a:p>
              <a:p>
                <a:pPr algn="just"/>
                <a:r>
                  <a:rPr lang="zh-CN" altLang="en-US" sz="2000" dirty="0">
                    <a:latin typeface="宋体" panose="02010600030101010101" pitchFamily="2" charset="-122"/>
                  </a:rPr>
                  <a:t>故</a:t>
                </a:r>
                <a:endParaRPr lang="en-US" altLang="zh-CN" sz="2000" dirty="0">
                  <a:latin typeface="宋体" panose="02010600030101010101" pitchFamily="2" charset="-122"/>
                </a:endParaRPr>
              </a:p>
              <a:p>
                <a:pPr algn="just">
                  <a:lnSpc>
                    <a:spcPct val="150000"/>
                  </a:lnSpc>
                </a:pPr>
                <a14:m>
                  <m:oMathPara xmlns:m="http://schemas.openxmlformats.org/officeDocument/2006/math">
                    <m:oMathParaPr>
                      <m:jc m:val="centerGroup"/>
                    </m:oMathParaPr>
                    <m:oMath xmlns:m="http://schemas.openxmlformats.org/officeDocument/2006/math">
                      <m:sSub>
                        <m:sSubPr>
                          <m:ctrlPr>
                            <a:rPr lang="zh-CN" altLang="zh-CN" sz="2000" i="1" kern="100">
                              <a:solidFill>
                                <a:srgbClr val="FF0000"/>
                              </a:solidFill>
                              <a:latin typeface="Cambria Math" panose="02040503050406030204" pitchFamily="18" charset="0"/>
                              <a:ea typeface="Cambria Math" panose="02040503050406030204" pitchFamily="18" charset="0"/>
                            </a:rPr>
                          </m:ctrlPr>
                        </m:sSubPr>
                        <m:e>
                          <m:r>
                            <a:rPr lang="en-US" altLang="zh-CN" sz="2000" i="1" kern="100">
                              <a:solidFill>
                                <a:srgbClr val="FF0000"/>
                              </a:solidFill>
                              <a:latin typeface="Cambria Math" panose="02040503050406030204" pitchFamily="18" charset="0"/>
                            </a:rPr>
                            <m:t>𝑔</m:t>
                          </m:r>
                        </m:e>
                        <m:sub>
                          <m:r>
                            <a:rPr lang="en-US" altLang="zh-CN" sz="2000" b="0" i="1" kern="100" smtClean="0">
                              <a:solidFill>
                                <a:srgbClr val="FF0000"/>
                              </a:solidFill>
                              <a:latin typeface="Cambria Math" panose="02040503050406030204" pitchFamily="18" charset="0"/>
                            </a:rPr>
                            <m:t>1</m:t>
                          </m:r>
                        </m:sub>
                      </m:sSub>
                      <m:r>
                        <a:rPr lang="en-US" altLang="zh-CN" sz="2000" b="0" i="1" kern="100" smtClean="0">
                          <a:solidFill>
                            <a:srgbClr val="FF0000"/>
                          </a:solidFill>
                          <a:latin typeface="Cambria Math" panose="02040503050406030204" pitchFamily="18" charset="0"/>
                        </a:rPr>
                        <m:t>=</m:t>
                      </m:r>
                      <m:r>
                        <m:rPr>
                          <m:sty m:val="p"/>
                        </m:rPr>
                        <a:rPr lang="zh-CN" altLang="en-US" sz="2000" i="1">
                          <a:latin typeface="Cambria Math" panose="02040503050406030204" pitchFamily="18" charset="0"/>
                        </a:rPr>
                        <m:t>∇</m:t>
                      </m:r>
                      <m:r>
                        <a:rPr lang="en-US" altLang="zh-CN" sz="2000" i="1">
                          <a:latin typeface="Cambria Math" panose="02040503050406030204" pitchFamily="18" charset="0"/>
                        </a:rPr>
                        <m:t>𝑓</m:t>
                      </m:r>
                      <m:d>
                        <m:dPr>
                          <m:ctrlPr>
                            <a:rPr lang="en-US" altLang="zh-CN" sz="2000" i="1">
                              <a:latin typeface="Cambria Math" panose="02040503050406030204" pitchFamily="18" charset="0"/>
                            </a:rPr>
                          </m:ctrlPr>
                        </m:dPr>
                        <m:e>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𝑥</m:t>
                              </m:r>
                            </m:e>
                            <m:sup>
                              <m:d>
                                <m:dPr>
                                  <m:ctrlPr>
                                    <a:rPr lang="en-US" altLang="zh-CN" sz="2000" i="1">
                                      <a:latin typeface="Cambria Math" panose="02040503050406030204" pitchFamily="18" charset="0"/>
                                    </a:rPr>
                                  </m:ctrlPr>
                                </m:dPr>
                                <m:e>
                                  <m:r>
                                    <a:rPr lang="en-US" altLang="zh-CN" sz="2000" i="1">
                                      <a:latin typeface="Cambria Math" panose="02040503050406030204" pitchFamily="18" charset="0"/>
                                    </a:rPr>
                                    <m:t>1</m:t>
                                  </m:r>
                                </m:e>
                              </m:d>
                            </m:sup>
                          </m:sSup>
                        </m:e>
                      </m:d>
                      <m:r>
                        <a:rPr lang="en-US" altLang="zh-CN" sz="2000" i="1">
                          <a:latin typeface="Cambria Math" panose="02040503050406030204" pitchFamily="18" charset="0"/>
                        </a:rPr>
                        <m:t>=</m:t>
                      </m:r>
                      <m:r>
                        <a:rPr lang="en-US" altLang="zh-CN" sz="2000" i="1">
                          <a:latin typeface="Cambria Math" panose="02040503050406030204" pitchFamily="18" charset="0"/>
                        </a:rPr>
                        <m:t>𝐴</m:t>
                      </m:r>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𝑥</m:t>
                          </m:r>
                        </m:e>
                        <m:sup>
                          <m:r>
                            <a:rPr lang="en-US" altLang="zh-CN" sz="2000" i="1">
                              <a:latin typeface="Cambria Math" panose="02040503050406030204" pitchFamily="18" charset="0"/>
                            </a:rPr>
                            <m:t>(1)</m:t>
                          </m:r>
                        </m:sup>
                      </m:sSup>
                      <m:r>
                        <a:rPr lang="en-US" altLang="zh-CN" sz="2000" i="1">
                          <a:latin typeface="Cambria Math" panose="02040503050406030204" pitchFamily="18" charset="0"/>
                        </a:rPr>
                        <m:t>+</m:t>
                      </m:r>
                      <m:r>
                        <a:rPr lang="en-US" altLang="zh-CN" sz="2000" b="0" i="1" smtClean="0">
                          <a:latin typeface="Cambria Math" panose="02040503050406030204" pitchFamily="18" charset="0"/>
                        </a:rPr>
                        <m:t>𝑏</m:t>
                      </m:r>
                    </m:oMath>
                    <m:oMath xmlns:m="http://schemas.openxmlformats.org/officeDocument/2006/math">
                      <m:r>
                        <a:rPr lang="en-US" altLang="zh-CN" sz="2000" i="1">
                          <a:latin typeface="Cambria Math" panose="02040503050406030204" pitchFamily="18" charset="0"/>
                        </a:rPr>
                        <m:t>=</m:t>
                      </m:r>
                      <m:d>
                        <m:dPr>
                          <m:begChr m:val="["/>
                          <m:endChr m:val="]"/>
                          <m:ctrlPr>
                            <a:rPr lang="en-US" altLang="zh-CN" sz="2000" i="1">
                              <a:latin typeface="Cambria Math" panose="02040503050406030204" pitchFamily="18" charset="0"/>
                            </a:rPr>
                          </m:ctrlPr>
                        </m:dPr>
                        <m:e>
                          <m:m>
                            <m:mPr>
                              <m:mcs>
                                <m:mc>
                                  <m:mcPr>
                                    <m:count m:val="2"/>
                                    <m:mcJc m:val="center"/>
                                  </m:mcPr>
                                </m:mc>
                              </m:mcs>
                              <m:ctrlPr>
                                <a:rPr lang="en-US" altLang="zh-CN" sz="2000" i="1">
                                  <a:latin typeface="Cambria Math" panose="02040503050406030204" pitchFamily="18" charset="0"/>
                                </a:rPr>
                              </m:ctrlPr>
                            </m:mPr>
                            <m:mr>
                              <m:e>
                                <m:r>
                                  <m:rPr>
                                    <m:brk m:alnAt="7"/>
                                  </m:rPr>
                                  <a:rPr lang="en-US" altLang="zh-CN" sz="2000" i="1">
                                    <a:latin typeface="Cambria Math" panose="02040503050406030204" pitchFamily="18" charset="0"/>
                                  </a:rPr>
                                  <m:t>3</m:t>
                                </m:r>
                              </m:e>
                              <m:e>
                                <m:r>
                                  <a:rPr lang="en-US" altLang="zh-CN" sz="2000" i="1">
                                    <a:latin typeface="Cambria Math" panose="02040503050406030204" pitchFamily="18" charset="0"/>
                                  </a:rPr>
                                  <m:t>−1</m:t>
                                </m:r>
                              </m:e>
                            </m:mr>
                            <m:mr>
                              <m:e>
                                <m:r>
                                  <a:rPr lang="en-US" altLang="zh-CN" sz="2000" i="1">
                                    <a:latin typeface="Cambria Math" panose="02040503050406030204" pitchFamily="18" charset="0"/>
                                  </a:rPr>
                                  <m:t>−1</m:t>
                                </m:r>
                              </m:e>
                              <m:e>
                                <m:r>
                                  <a:rPr lang="en-US" altLang="zh-CN" sz="2000" i="1">
                                    <a:latin typeface="Cambria Math" panose="02040503050406030204" pitchFamily="18" charset="0"/>
                                  </a:rPr>
                                  <m:t>1</m:t>
                                </m:r>
                              </m:e>
                            </m:mr>
                          </m:m>
                        </m:e>
                      </m:d>
                      <m:d>
                        <m:dPr>
                          <m:begChr m:val="["/>
                          <m:endChr m:val="]"/>
                          <m:ctrlPr>
                            <a:rPr lang="en-US" altLang="zh-CN" sz="2000" i="1">
                              <a:latin typeface="Cambria Math" panose="02040503050406030204" pitchFamily="18" charset="0"/>
                            </a:rPr>
                          </m:ctrlPr>
                        </m:dPr>
                        <m:e>
                          <m:m>
                            <m:mPr>
                              <m:mcs>
                                <m:mc>
                                  <m:mcPr>
                                    <m:count m:val="1"/>
                                    <m:mcJc m:val="center"/>
                                  </m:mcPr>
                                </m:mc>
                              </m:mcs>
                              <m:ctrlPr>
                                <a:rPr lang="en-US" altLang="zh-CN" sz="2000" i="1">
                                  <a:latin typeface="Cambria Math" panose="02040503050406030204" pitchFamily="18" charset="0"/>
                                </a:rPr>
                              </m:ctrlPr>
                            </m:mPr>
                            <m:mr>
                              <m:e>
                                <m:r>
                                  <m:rPr>
                                    <m:brk m:alnAt="7"/>
                                  </m:rPr>
                                  <a:rPr lang="en-US" altLang="zh-CN" sz="2000" i="1">
                                    <a:latin typeface="Cambria Math" panose="02040503050406030204" pitchFamily="18" charset="0"/>
                                  </a:rPr>
                                  <m:t>−</m:t>
                                </m:r>
                                <m:r>
                                  <a:rPr lang="en-US" altLang="zh-CN" sz="2000" i="1">
                                    <a:latin typeface="Cambria Math" panose="02040503050406030204" pitchFamily="18" charset="0"/>
                                  </a:rPr>
                                  <m:t>2</m:t>
                                </m:r>
                              </m:e>
                            </m:mr>
                            <m:mr>
                              <m:e>
                                <m:r>
                                  <a:rPr lang="en-US" altLang="zh-CN" sz="2000" i="1">
                                    <a:latin typeface="Cambria Math" panose="02040503050406030204" pitchFamily="18" charset="0"/>
                                  </a:rPr>
                                  <m:t>4</m:t>
                                </m:r>
                              </m:e>
                            </m:mr>
                          </m:m>
                        </m:e>
                      </m:d>
                      <m:r>
                        <a:rPr lang="en-US" altLang="zh-CN" sz="2000" i="1">
                          <a:latin typeface="Cambria Math" panose="02040503050406030204" pitchFamily="18" charset="0"/>
                        </a:rPr>
                        <m:t>+</m:t>
                      </m:r>
                      <m:d>
                        <m:dPr>
                          <m:begChr m:val="["/>
                          <m:endChr m:val="]"/>
                          <m:ctrlPr>
                            <a:rPr lang="en-US" altLang="zh-CN" sz="2000" i="1">
                              <a:latin typeface="Cambria Math" panose="02040503050406030204" pitchFamily="18" charset="0"/>
                            </a:rPr>
                          </m:ctrlPr>
                        </m:dPr>
                        <m:e>
                          <m:m>
                            <m:mPr>
                              <m:mcs>
                                <m:mc>
                                  <m:mcPr>
                                    <m:count m:val="1"/>
                                    <m:mcJc m:val="center"/>
                                  </m:mcPr>
                                </m:mc>
                              </m:mcs>
                              <m:ctrlPr>
                                <a:rPr lang="en-US" altLang="zh-CN" sz="2000" i="1">
                                  <a:latin typeface="Cambria Math" panose="02040503050406030204" pitchFamily="18" charset="0"/>
                                </a:rPr>
                              </m:ctrlPr>
                            </m:mPr>
                            <m:mr>
                              <m:e>
                                <m:r>
                                  <m:rPr>
                                    <m:brk m:alnAt="7"/>
                                  </m:rPr>
                                  <a:rPr lang="en-US" altLang="zh-CN" sz="2000" i="1">
                                    <a:latin typeface="Cambria Math" panose="02040503050406030204" pitchFamily="18" charset="0"/>
                                  </a:rPr>
                                  <m:t>−</m:t>
                                </m:r>
                                <m:r>
                                  <a:rPr lang="en-US" altLang="zh-CN" sz="2000" i="1">
                                    <a:latin typeface="Cambria Math" panose="02040503050406030204" pitchFamily="18" charset="0"/>
                                  </a:rPr>
                                  <m:t>2</m:t>
                                </m:r>
                              </m:e>
                            </m:mr>
                            <m:mr>
                              <m:e>
                                <m:r>
                                  <a:rPr lang="en-US" altLang="zh-CN" sz="2000" i="1">
                                    <a:latin typeface="Cambria Math" panose="02040503050406030204" pitchFamily="18" charset="0"/>
                                  </a:rPr>
                                  <m:t>0</m:t>
                                </m:r>
                              </m:e>
                            </m:mr>
                          </m:m>
                        </m:e>
                      </m:d>
                    </m:oMath>
                    <m:oMath xmlns:m="http://schemas.openxmlformats.org/officeDocument/2006/math">
                      <m:r>
                        <a:rPr lang="en-US" altLang="zh-CN" sz="2000" i="1">
                          <a:latin typeface="Cambria Math" panose="02040503050406030204" pitchFamily="18" charset="0"/>
                        </a:rPr>
                        <m:t>=</m:t>
                      </m:r>
                      <m:d>
                        <m:dPr>
                          <m:begChr m:val="["/>
                          <m:endChr m:val="]"/>
                          <m:ctrlPr>
                            <a:rPr lang="en-US" altLang="zh-CN" sz="2000" i="1">
                              <a:latin typeface="Cambria Math" panose="02040503050406030204" pitchFamily="18" charset="0"/>
                            </a:rPr>
                          </m:ctrlPr>
                        </m:dPr>
                        <m:e>
                          <m:m>
                            <m:mPr>
                              <m:mcs>
                                <m:mc>
                                  <m:mcPr>
                                    <m:count m:val="1"/>
                                    <m:mcJc m:val="center"/>
                                  </m:mcPr>
                                </m:mc>
                              </m:mcs>
                              <m:ctrlPr>
                                <a:rPr lang="en-US" altLang="zh-CN" sz="2000" i="1">
                                  <a:latin typeface="Cambria Math" panose="02040503050406030204" pitchFamily="18" charset="0"/>
                                </a:rPr>
                              </m:ctrlPr>
                            </m:mPr>
                            <m:mr>
                              <m:e>
                                <m:r>
                                  <m:rPr>
                                    <m:brk m:alnAt="7"/>
                                  </m:rPr>
                                  <a:rPr lang="en-US" altLang="zh-CN" sz="2000" i="1">
                                    <a:latin typeface="Cambria Math" panose="02040503050406030204" pitchFamily="18" charset="0"/>
                                  </a:rPr>
                                  <m:t>−</m:t>
                                </m:r>
                                <m:r>
                                  <a:rPr lang="en-US" altLang="zh-CN" sz="2000" i="1">
                                    <a:latin typeface="Cambria Math" panose="02040503050406030204" pitchFamily="18" charset="0"/>
                                  </a:rPr>
                                  <m:t>10</m:t>
                                </m:r>
                              </m:e>
                            </m:mr>
                            <m:mr>
                              <m:e>
                                <m:r>
                                  <a:rPr lang="en-US" altLang="zh-CN" sz="2000" i="1">
                                    <a:latin typeface="Cambria Math" panose="02040503050406030204" pitchFamily="18" charset="0"/>
                                  </a:rPr>
                                  <m:t>6</m:t>
                                </m:r>
                              </m:e>
                            </m:mr>
                          </m:m>
                        </m:e>
                      </m:d>
                      <m:r>
                        <a:rPr lang="en-US" altLang="zh-CN" sz="2000" i="1">
                          <a:latin typeface="Cambria Math" panose="02040503050406030204" pitchFamily="18" charset="0"/>
                        </a:rPr>
                        <m:t>+</m:t>
                      </m:r>
                      <m:d>
                        <m:dPr>
                          <m:begChr m:val="["/>
                          <m:endChr m:val="]"/>
                          <m:ctrlPr>
                            <a:rPr lang="en-US" altLang="zh-CN" sz="2000" i="1">
                              <a:latin typeface="Cambria Math" panose="02040503050406030204" pitchFamily="18" charset="0"/>
                            </a:rPr>
                          </m:ctrlPr>
                        </m:dPr>
                        <m:e>
                          <m:m>
                            <m:mPr>
                              <m:mcs>
                                <m:mc>
                                  <m:mcPr>
                                    <m:count m:val="1"/>
                                    <m:mcJc m:val="center"/>
                                  </m:mcPr>
                                </m:mc>
                              </m:mcs>
                              <m:ctrlPr>
                                <a:rPr lang="en-US" altLang="zh-CN" sz="2000" i="1">
                                  <a:latin typeface="Cambria Math" panose="02040503050406030204" pitchFamily="18" charset="0"/>
                                </a:rPr>
                              </m:ctrlPr>
                            </m:mPr>
                            <m:mr>
                              <m:e>
                                <m:r>
                                  <m:rPr>
                                    <m:brk m:alnAt="7"/>
                                  </m:rPr>
                                  <a:rPr lang="en-US" altLang="zh-CN" sz="2000" i="1">
                                    <a:latin typeface="Cambria Math" panose="02040503050406030204" pitchFamily="18" charset="0"/>
                                  </a:rPr>
                                  <m:t>−</m:t>
                                </m:r>
                                <m:r>
                                  <a:rPr lang="en-US" altLang="zh-CN" sz="2000" i="1">
                                    <a:latin typeface="Cambria Math" panose="02040503050406030204" pitchFamily="18" charset="0"/>
                                  </a:rPr>
                                  <m:t>2</m:t>
                                </m:r>
                              </m:e>
                            </m:mr>
                            <m:mr>
                              <m:e>
                                <m:r>
                                  <a:rPr lang="en-US" altLang="zh-CN" sz="2000" i="1">
                                    <a:latin typeface="Cambria Math" panose="02040503050406030204" pitchFamily="18" charset="0"/>
                                  </a:rPr>
                                  <m:t>0</m:t>
                                </m:r>
                              </m:e>
                            </m:mr>
                          </m:m>
                        </m:e>
                      </m:d>
                      <m:r>
                        <a:rPr lang="en-US" altLang="zh-CN" sz="2000" i="1">
                          <a:latin typeface="Cambria Math" panose="02040503050406030204" pitchFamily="18" charset="0"/>
                        </a:rPr>
                        <m:t>=</m:t>
                      </m:r>
                      <m:d>
                        <m:dPr>
                          <m:begChr m:val="["/>
                          <m:endChr m:val="]"/>
                          <m:ctrlPr>
                            <a:rPr lang="en-US" altLang="zh-CN" sz="2000" i="1">
                              <a:latin typeface="Cambria Math" panose="02040503050406030204" pitchFamily="18" charset="0"/>
                            </a:rPr>
                          </m:ctrlPr>
                        </m:dPr>
                        <m:e>
                          <m:m>
                            <m:mPr>
                              <m:mcs>
                                <m:mc>
                                  <m:mcPr>
                                    <m:count m:val="1"/>
                                    <m:mcJc m:val="center"/>
                                  </m:mcPr>
                                </m:mc>
                              </m:mcs>
                              <m:ctrlPr>
                                <a:rPr lang="en-US" altLang="zh-CN" sz="2000" i="1">
                                  <a:latin typeface="Cambria Math" panose="02040503050406030204" pitchFamily="18" charset="0"/>
                                </a:rPr>
                              </m:ctrlPr>
                            </m:mPr>
                            <m:mr>
                              <m:e>
                                <m:r>
                                  <m:rPr>
                                    <m:brk m:alnAt="7"/>
                                  </m:rPr>
                                  <a:rPr lang="en-US" altLang="zh-CN" sz="2000" i="1">
                                    <a:latin typeface="Cambria Math" panose="02040503050406030204" pitchFamily="18" charset="0"/>
                                  </a:rPr>
                                  <m:t>−</m:t>
                                </m:r>
                                <m:r>
                                  <a:rPr lang="en-US" altLang="zh-CN" sz="2000" i="1">
                                    <a:latin typeface="Cambria Math" panose="02040503050406030204" pitchFamily="18" charset="0"/>
                                  </a:rPr>
                                  <m:t>12</m:t>
                                </m:r>
                              </m:e>
                            </m:mr>
                            <m:mr>
                              <m:e>
                                <m:r>
                                  <a:rPr lang="en-US" altLang="zh-CN" sz="2000" i="1">
                                    <a:latin typeface="Cambria Math" panose="02040503050406030204" pitchFamily="18" charset="0"/>
                                  </a:rPr>
                                  <m:t>6</m:t>
                                </m:r>
                              </m:e>
                            </m:mr>
                          </m:m>
                        </m:e>
                      </m:d>
                    </m:oMath>
                  </m:oMathPara>
                </a14:m>
                <a:endParaRPr lang="en-US" altLang="zh-CN" sz="2000" dirty="0">
                  <a:latin typeface="宋体" panose="02010600030101010101" pitchFamily="2" charset="-122"/>
                </a:endParaRPr>
              </a:p>
              <a:p>
                <a:pPr algn="just"/>
                <a:r>
                  <a:rPr lang="zh-CN" altLang="en-US" sz="2000" dirty="0">
                    <a:latin typeface="宋体" panose="02010600030101010101" pitchFamily="2" charset="-122"/>
                  </a:rPr>
                  <a:t>所以</a:t>
                </a:r>
                <a:endParaRPr lang="en-US" altLang="zh-CN" sz="2000" dirty="0">
                  <a:latin typeface="宋体" panose="02010600030101010101" pitchFamily="2" charset="-122"/>
                </a:endParaRPr>
              </a:p>
              <a:p>
                <a:pPr algn="just">
                  <a:lnSpc>
                    <a:spcPct val="150000"/>
                  </a:lnSpc>
                </a:pPr>
                <a14:m>
                  <m:oMathPara xmlns:m="http://schemas.openxmlformats.org/officeDocument/2006/math">
                    <m:oMathParaPr>
                      <m:jc m:val="centerGroup"/>
                    </m:oMathParaPr>
                    <m:oMath xmlns:m="http://schemas.openxmlformats.org/officeDocument/2006/math">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𝑑</m:t>
                          </m:r>
                        </m:e>
                        <m:sup>
                          <m:r>
                            <a:rPr lang="en-US" altLang="zh-CN" sz="2000" i="1">
                              <a:latin typeface="Cambria Math" panose="02040503050406030204" pitchFamily="18" charset="0"/>
                            </a:rPr>
                            <m:t>(1)</m:t>
                          </m:r>
                        </m:sup>
                      </m:sSup>
                      <m:r>
                        <a:rPr lang="en-US" altLang="zh-CN" sz="2000" i="1">
                          <a:latin typeface="Cambria Math" panose="02040503050406030204" pitchFamily="18" charset="0"/>
                        </a:rPr>
                        <m:t>=−</m:t>
                      </m:r>
                      <m:r>
                        <m:rPr>
                          <m:sty m:val="p"/>
                        </m:rP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𝑓</m:t>
                      </m:r>
                      <m:d>
                        <m:dPr>
                          <m:ctrlPr>
                            <a:rPr lang="en-US" altLang="zh-CN" sz="2000" i="1">
                              <a:latin typeface="Cambria Math" panose="02040503050406030204" pitchFamily="18" charset="0"/>
                              <a:ea typeface="Cambria Math" panose="02040503050406030204" pitchFamily="18" charset="0"/>
                            </a:rPr>
                          </m:ctrlPr>
                        </m:dPr>
                        <m:e>
                          <m:sSup>
                            <m:sSupPr>
                              <m:ctrlPr>
                                <a:rPr lang="en-US" altLang="zh-CN" sz="2000" i="1">
                                  <a:latin typeface="Cambria Math" panose="02040503050406030204" pitchFamily="18" charset="0"/>
                                  <a:ea typeface="Cambria Math" panose="02040503050406030204" pitchFamily="18" charset="0"/>
                                </a:rPr>
                              </m:ctrlPr>
                            </m:sSupPr>
                            <m:e>
                              <m:r>
                                <a:rPr lang="en-US" altLang="zh-CN" sz="2000" i="1">
                                  <a:latin typeface="Cambria Math" panose="02040503050406030204" pitchFamily="18" charset="0"/>
                                  <a:ea typeface="Cambria Math" panose="02040503050406030204" pitchFamily="18" charset="0"/>
                                </a:rPr>
                                <m:t>𝑥</m:t>
                              </m:r>
                            </m:e>
                            <m:sup>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1</m:t>
                                  </m:r>
                                </m:e>
                              </m:d>
                            </m:sup>
                          </m:sSup>
                        </m:e>
                      </m:d>
                      <m:r>
                        <a:rPr lang="en-US" altLang="zh-CN" sz="2000" i="1">
                          <a:latin typeface="Cambria Math" panose="02040503050406030204" pitchFamily="18" charset="0"/>
                          <a:ea typeface="Cambria Math" panose="02040503050406030204" pitchFamily="18" charset="0"/>
                        </a:rPr>
                        <m:t>=</m:t>
                      </m:r>
                      <m:d>
                        <m:dPr>
                          <m:begChr m:val="["/>
                          <m:endChr m:val="]"/>
                          <m:ctrlPr>
                            <a:rPr lang="en-US" altLang="zh-CN" sz="2000" i="1">
                              <a:latin typeface="Cambria Math" panose="02040503050406030204" pitchFamily="18" charset="0"/>
                              <a:ea typeface="Cambria Math" panose="02040503050406030204" pitchFamily="18" charset="0"/>
                            </a:rPr>
                          </m:ctrlPr>
                        </m:dPr>
                        <m:e>
                          <m:m>
                            <m:mPr>
                              <m:mcs>
                                <m:mc>
                                  <m:mcPr>
                                    <m:count m:val="1"/>
                                    <m:mcJc m:val="center"/>
                                  </m:mcPr>
                                </m:mc>
                              </m:mcs>
                              <m:ctrlPr>
                                <a:rPr lang="en-US" altLang="zh-CN" sz="2000" i="1">
                                  <a:latin typeface="Cambria Math" panose="02040503050406030204" pitchFamily="18" charset="0"/>
                                  <a:ea typeface="Cambria Math" panose="02040503050406030204" pitchFamily="18" charset="0"/>
                                </a:rPr>
                              </m:ctrlPr>
                            </m:mPr>
                            <m:mr>
                              <m:e>
                                <m:r>
                                  <m:rPr>
                                    <m:brk m:alnAt="7"/>
                                  </m:rPr>
                                  <a:rPr lang="en-US" altLang="zh-CN" sz="2000" i="1">
                                    <a:latin typeface="Cambria Math" panose="02040503050406030204" pitchFamily="18" charset="0"/>
                                    <a:ea typeface="Cambria Math" panose="02040503050406030204" pitchFamily="18" charset="0"/>
                                  </a:rPr>
                                  <m:t>1</m:t>
                                </m:r>
                                <m:r>
                                  <a:rPr lang="en-US" altLang="zh-CN" sz="2000" i="1">
                                    <a:latin typeface="Cambria Math" panose="02040503050406030204" pitchFamily="18" charset="0"/>
                                    <a:ea typeface="Cambria Math" panose="02040503050406030204" pitchFamily="18" charset="0"/>
                                  </a:rPr>
                                  <m:t>2</m:t>
                                </m:r>
                              </m:e>
                            </m:mr>
                            <m:mr>
                              <m:e>
                                <m:r>
                                  <a:rPr lang="en-US" altLang="zh-CN" sz="2000" i="1">
                                    <a:latin typeface="Cambria Math" panose="02040503050406030204" pitchFamily="18" charset="0"/>
                                    <a:ea typeface="Cambria Math" panose="02040503050406030204" pitchFamily="18" charset="0"/>
                                  </a:rPr>
                                  <m:t>−6</m:t>
                                </m:r>
                              </m:e>
                            </m:mr>
                          </m:m>
                        </m:e>
                      </m:d>
                    </m:oMath>
                  </m:oMathPara>
                </a14:m>
                <a:endParaRPr lang="en-US" altLang="zh-CN" sz="2000" dirty="0">
                  <a:latin typeface="宋体" panose="02010600030101010101" pitchFamily="2" charset="-122"/>
                </a:endParaRPr>
              </a:p>
              <a:p>
                <a:pPr algn="just">
                  <a:lnSpc>
                    <a:spcPct val="150000"/>
                  </a:lnSpc>
                </a:pPr>
                <a:r>
                  <a:rPr lang="zh-CN" altLang="en-US" sz="2000" dirty="0">
                    <a:latin typeface="宋体" panose="02010600030101010101" pitchFamily="2" charset="-122"/>
                  </a:rPr>
                  <a:t>以</a:t>
                </a:r>
                <a14:m>
                  <m:oMath xmlns:m="http://schemas.openxmlformats.org/officeDocument/2006/math">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𝑥</m:t>
                        </m:r>
                      </m:e>
                      <m:sup>
                        <m:d>
                          <m:dPr>
                            <m:ctrlPr>
                              <a:rPr lang="en-US" altLang="zh-CN" sz="2000" i="1">
                                <a:latin typeface="Cambria Math" panose="02040503050406030204" pitchFamily="18" charset="0"/>
                              </a:rPr>
                            </m:ctrlPr>
                          </m:dPr>
                          <m:e>
                            <m:r>
                              <a:rPr lang="en-US" altLang="zh-CN" sz="2000" i="1">
                                <a:latin typeface="Cambria Math" panose="02040503050406030204" pitchFamily="18" charset="0"/>
                              </a:rPr>
                              <m:t>1</m:t>
                            </m:r>
                          </m:e>
                        </m:d>
                      </m:sup>
                    </m:sSup>
                  </m:oMath>
                </a14:m>
                <a:r>
                  <a:rPr lang="zh-CN" altLang="en-US" sz="2000" dirty="0">
                    <a:latin typeface="宋体" panose="02010600030101010101" pitchFamily="2" charset="-122"/>
                  </a:rPr>
                  <a:t>为出发点，沿</a:t>
                </a:r>
                <a14:m>
                  <m:oMath xmlns:m="http://schemas.openxmlformats.org/officeDocument/2006/math">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𝑑</m:t>
                        </m:r>
                      </m:e>
                      <m:sup>
                        <m:r>
                          <a:rPr lang="en-US" altLang="zh-CN" sz="2000" i="1">
                            <a:latin typeface="Cambria Math" panose="02040503050406030204" pitchFamily="18" charset="0"/>
                          </a:rPr>
                          <m:t>(1)</m:t>
                        </m:r>
                      </m:sup>
                    </m:sSup>
                  </m:oMath>
                </a14:m>
                <a:r>
                  <a:rPr lang="zh-CN" altLang="en-US" sz="2000" dirty="0">
                    <a:latin typeface="宋体" panose="02010600030101010101" pitchFamily="2" charset="-122"/>
                  </a:rPr>
                  <a:t>方向做最佳一维搜索，求最优步长</a:t>
                </a:r>
                <a14:m>
                  <m:oMath xmlns:m="http://schemas.openxmlformats.org/officeDocument/2006/math">
                    <m:sSup>
                      <m:sSupPr>
                        <m:ctrlPr>
                          <a:rPr lang="zh-CN" altLang="zh-CN" sz="20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20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0" i="1" kern="10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1</m:t>
                        </m:r>
                        <m:r>
                          <a:rPr lang="en-US" altLang="zh-CN" sz="20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sup>
                    </m:sSup>
                  </m:oMath>
                </a14:m>
                <a:r>
                  <a:rPr lang="zh-CN" altLang="en-US" sz="2000" dirty="0">
                    <a:latin typeface="宋体" panose="02010600030101010101" pitchFamily="2" charset="-122"/>
                  </a:rPr>
                  <a:t>：</a:t>
                </a:r>
                <a:endParaRPr lang="en-US" altLang="zh-CN" sz="2000" dirty="0">
                  <a:latin typeface="宋体" panose="02010600030101010101" pitchFamily="2" charset="-122"/>
                </a:endParaRPr>
              </a:p>
              <a:p>
                <a:pPr algn="just"/>
                <a14:m>
                  <m:oMathPara xmlns:m="http://schemas.openxmlformats.org/officeDocument/2006/math">
                    <m:oMathParaPr>
                      <m:jc m:val="centerGroup"/>
                    </m:oMathParaPr>
                    <m:oMath xmlns:m="http://schemas.openxmlformats.org/officeDocument/2006/math">
                      <m:sSup>
                        <m:sSupPr>
                          <m:ctrlPr>
                            <a:rPr lang="zh-CN" altLang="zh-CN" sz="20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20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(1)</m:t>
                          </m:r>
                        </m:sup>
                      </m:sSup>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kern="100">
                              <a:solidFill>
                                <a:srgbClr val="FF0000"/>
                              </a:solidFill>
                              <a:latin typeface="Cambria Math" panose="02040503050406030204" pitchFamily="18" charset="0"/>
                            </a:rPr>
                            <m:t>(</m:t>
                          </m:r>
                          <m:sSub>
                            <m:sSubPr>
                              <m:ctrlPr>
                                <a:rPr lang="zh-CN" altLang="zh-CN" sz="2000" i="1" kern="100">
                                  <a:solidFill>
                                    <a:srgbClr val="FF0000"/>
                                  </a:solidFill>
                                  <a:latin typeface="Cambria Math" panose="02040503050406030204" pitchFamily="18" charset="0"/>
                                  <a:ea typeface="Cambria Math" panose="02040503050406030204" pitchFamily="18" charset="0"/>
                                </a:rPr>
                              </m:ctrlPr>
                            </m:sSubPr>
                            <m:e>
                              <m:r>
                                <a:rPr lang="en-US" altLang="zh-CN" sz="2000" i="1" kern="100">
                                  <a:solidFill>
                                    <a:srgbClr val="FF0000"/>
                                  </a:solidFill>
                                  <a:latin typeface="Cambria Math" panose="02040503050406030204" pitchFamily="18" charset="0"/>
                                </a:rPr>
                                <m:t>𝑔</m:t>
                              </m:r>
                            </m:e>
                            <m:sub>
                              <m:r>
                                <a:rPr lang="en-US" altLang="zh-CN" sz="2000" b="0" i="1" kern="100" smtClean="0">
                                  <a:solidFill>
                                    <a:srgbClr val="FF0000"/>
                                  </a:solidFill>
                                  <a:latin typeface="Cambria Math" panose="02040503050406030204" pitchFamily="18" charset="0"/>
                                </a:rPr>
                                <m:t>1</m:t>
                              </m:r>
                            </m:sub>
                          </m:sSub>
                          <m:sSup>
                            <m:sSupPr>
                              <m:ctrlPr>
                                <a:rPr lang="zh-CN" altLang="zh-CN" sz="2000" i="1" kern="100">
                                  <a:solidFill>
                                    <a:srgbClr val="FF0000"/>
                                  </a:solidFill>
                                  <a:latin typeface="Cambria Math" panose="02040503050406030204" pitchFamily="18" charset="0"/>
                                  <a:ea typeface="Cambria Math" panose="02040503050406030204" pitchFamily="18" charset="0"/>
                                </a:rPr>
                              </m:ctrlPr>
                            </m:sSupPr>
                            <m:e>
                              <m:r>
                                <a:rPr lang="en-US" altLang="zh-CN" sz="2000" i="1" kern="100">
                                  <a:solidFill>
                                    <a:srgbClr val="FF0000"/>
                                  </a:solidFill>
                                  <a:latin typeface="Cambria Math" panose="02040503050406030204" pitchFamily="18" charset="0"/>
                                </a:rPr>
                                <m:t>)</m:t>
                              </m:r>
                            </m:e>
                            <m:sup>
                              <m:r>
                                <a:rPr lang="en-US" altLang="zh-CN" sz="2000" i="1" kern="100">
                                  <a:solidFill>
                                    <a:srgbClr val="FF0000"/>
                                  </a:solidFill>
                                  <a:latin typeface="Cambria Math" panose="02040503050406030204" pitchFamily="18" charset="0"/>
                                </a:rPr>
                                <m:t>𝑇</m:t>
                              </m:r>
                            </m:sup>
                          </m:sSup>
                          <m:sSub>
                            <m:sSubPr>
                              <m:ctrlPr>
                                <a:rPr lang="zh-CN" altLang="zh-CN" sz="2000" i="1" kern="100">
                                  <a:solidFill>
                                    <a:srgbClr val="FF0000"/>
                                  </a:solidFill>
                                  <a:latin typeface="Cambria Math" panose="02040503050406030204" pitchFamily="18" charset="0"/>
                                  <a:ea typeface="Cambria Math" panose="02040503050406030204" pitchFamily="18" charset="0"/>
                                </a:rPr>
                              </m:ctrlPr>
                            </m:sSubPr>
                            <m:e>
                              <m:r>
                                <a:rPr lang="en-US" altLang="zh-CN" sz="2000" i="1" kern="100">
                                  <a:solidFill>
                                    <a:srgbClr val="FF0000"/>
                                  </a:solidFill>
                                  <a:latin typeface="Cambria Math" panose="02040503050406030204" pitchFamily="18" charset="0"/>
                                </a:rPr>
                                <m:t>𝑔</m:t>
                              </m:r>
                            </m:e>
                            <m:sub>
                              <m:r>
                                <a:rPr lang="en-US" altLang="zh-CN" sz="2000" b="0" i="1" kern="100" smtClean="0">
                                  <a:solidFill>
                                    <a:srgbClr val="FF0000"/>
                                  </a:solidFill>
                                  <a:latin typeface="Cambria Math" panose="02040503050406030204" pitchFamily="18" charset="0"/>
                                </a:rPr>
                                <m:t>1</m:t>
                              </m:r>
                            </m:sub>
                          </m:sSub>
                        </m:num>
                        <m:den>
                          <m:sSup>
                            <m:sSupPr>
                              <m:ctrlPr>
                                <a:rPr lang="en-US" altLang="zh-CN" sz="2000" i="1">
                                  <a:latin typeface="Cambria Math" panose="02040503050406030204" pitchFamily="18" charset="0"/>
                                </a:rPr>
                              </m:ctrlPr>
                            </m:sSupPr>
                            <m:e>
                              <m:d>
                                <m:dPr>
                                  <m:ctrlPr>
                                    <a:rPr lang="en-US" altLang="zh-CN" sz="2000" i="1">
                                      <a:latin typeface="Cambria Math" panose="02040503050406030204" pitchFamily="18" charset="0"/>
                                    </a:rPr>
                                  </m:ctrlPr>
                                </m:dPr>
                                <m:e>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𝑑</m:t>
                                      </m:r>
                                    </m:e>
                                    <m:sup>
                                      <m:d>
                                        <m:dPr>
                                          <m:ctrlPr>
                                            <a:rPr lang="en-US" altLang="zh-CN" sz="2000" i="1">
                                              <a:latin typeface="Cambria Math" panose="02040503050406030204" pitchFamily="18" charset="0"/>
                                            </a:rPr>
                                          </m:ctrlPr>
                                        </m:dPr>
                                        <m:e>
                                          <m:r>
                                            <a:rPr lang="en-US" altLang="zh-CN" sz="2000" i="1">
                                              <a:latin typeface="Cambria Math" panose="02040503050406030204" pitchFamily="18" charset="0"/>
                                            </a:rPr>
                                            <m:t>1</m:t>
                                          </m:r>
                                        </m:e>
                                      </m:d>
                                    </m:sup>
                                  </m:sSup>
                                </m:e>
                              </m:d>
                            </m:e>
                            <m:sup>
                              <m:r>
                                <a:rPr lang="en-US" altLang="zh-CN" sz="2000" i="1">
                                  <a:latin typeface="Cambria Math" panose="02040503050406030204" pitchFamily="18" charset="0"/>
                                </a:rPr>
                                <m:t>𝑇</m:t>
                              </m:r>
                            </m:sup>
                          </m:sSup>
                          <m:r>
                            <a:rPr lang="en-US" altLang="zh-CN" sz="2000" i="1">
                              <a:latin typeface="Cambria Math" panose="02040503050406030204" pitchFamily="18" charset="0"/>
                            </a:rPr>
                            <m:t>𝐴</m:t>
                          </m:r>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𝑑</m:t>
                              </m:r>
                            </m:e>
                            <m:sup>
                              <m:d>
                                <m:dPr>
                                  <m:ctrlPr>
                                    <a:rPr lang="en-US" altLang="zh-CN" sz="2000" i="1">
                                      <a:latin typeface="Cambria Math" panose="02040503050406030204" pitchFamily="18" charset="0"/>
                                    </a:rPr>
                                  </m:ctrlPr>
                                </m:dPr>
                                <m:e>
                                  <m:r>
                                    <a:rPr lang="en-US" altLang="zh-CN" sz="2000" i="1">
                                      <a:latin typeface="Cambria Math" panose="02040503050406030204" pitchFamily="18" charset="0"/>
                                    </a:rPr>
                                    <m:t>1</m:t>
                                  </m:r>
                                </m:e>
                              </m:d>
                            </m:sup>
                          </m:sSup>
                        </m:den>
                      </m:f>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5</m:t>
                          </m:r>
                        </m:num>
                        <m:den>
                          <m:r>
                            <a:rPr lang="en-US" altLang="zh-CN" sz="2000" i="1">
                              <a:latin typeface="Cambria Math" panose="02040503050406030204" pitchFamily="18" charset="0"/>
                            </a:rPr>
                            <m:t>17</m:t>
                          </m:r>
                        </m:den>
                      </m:f>
                    </m:oMath>
                  </m:oMathPara>
                </a14:m>
                <a:endParaRPr lang="zh-CN" altLang="en-US" sz="2000" dirty="0">
                  <a:latin typeface="宋体" panose="02010600030101010101" pitchFamily="2" charset="-122"/>
                </a:endParaRPr>
              </a:p>
            </p:txBody>
          </p:sp>
        </mc:Choice>
        <mc:Fallback xmlns="">
          <p:sp>
            <p:nvSpPr>
              <p:cNvPr id="3" name="文本框 2">
                <a:extLst>
                  <a:ext uri="{FF2B5EF4-FFF2-40B4-BE49-F238E27FC236}">
                    <a16:creationId xmlns:a16="http://schemas.microsoft.com/office/drawing/2014/main" id="{E2A6C413-312C-C027-E882-BE48A3E6CA6B}"/>
                  </a:ext>
                </a:extLst>
              </p:cNvPr>
              <p:cNvSpPr txBox="1">
                <a:spLocks noRot="1" noChangeAspect="1" noMove="1" noResize="1" noEditPoints="1" noAdjustHandles="1" noChangeArrowheads="1" noChangeShapeType="1" noTextEdit="1"/>
              </p:cNvSpPr>
              <p:nvPr/>
            </p:nvSpPr>
            <p:spPr>
              <a:xfrm>
                <a:off x="611560" y="723492"/>
                <a:ext cx="8174182" cy="5225982"/>
              </a:xfrm>
              <a:prstGeom prst="rect">
                <a:avLst/>
              </a:prstGeom>
              <a:blipFill>
                <a:blip r:embed="rId2"/>
                <a:stretch>
                  <a:fillRect l="-7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DD9FD64E-206A-3C40-D680-07B3BAC3C70A}"/>
                  </a:ext>
                </a:extLst>
              </p:cNvPr>
              <p:cNvSpPr txBox="1"/>
              <p:nvPr/>
            </p:nvSpPr>
            <p:spPr>
              <a:xfrm>
                <a:off x="5357674" y="5949474"/>
                <a:ext cx="4572000" cy="7021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zh-CN" altLang="zh-CN" i="1" kern="10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𝑘</m:t>
                          </m:r>
                          <m:r>
                            <a:rPr lang="en-US" altLang="zh-CN"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i="1" kern="100">
                          <a:solidFill>
                            <a:srgbClr val="FF0000"/>
                          </a:solidFill>
                          <a:latin typeface="Cambria Math" panose="02040503050406030204" pitchFamily="18" charset="0"/>
                          <a:ea typeface="宋体" panose="02010600030101010101" pitchFamily="2" charset="-122"/>
                        </a:rPr>
                        <m:t>=</m:t>
                      </m:r>
                      <m:f>
                        <m:fPr>
                          <m:ctrlPr>
                            <a:rPr lang="zh-CN" altLang="zh-CN" i="1" kern="100">
                              <a:solidFill>
                                <a:srgbClr val="FF0000"/>
                              </a:solidFill>
                              <a:latin typeface="Cambria Math" panose="02040503050406030204" pitchFamily="18" charset="0"/>
                              <a:ea typeface="Cambria Math" panose="02040503050406030204" pitchFamily="18" charset="0"/>
                            </a:rPr>
                          </m:ctrlPr>
                        </m:fPr>
                        <m:num>
                          <m:r>
                            <a:rPr lang="en-US" altLang="zh-CN" i="1" kern="100">
                              <a:solidFill>
                                <a:srgbClr val="FF0000"/>
                              </a:solidFill>
                              <a:latin typeface="Cambria Math" panose="02040503050406030204" pitchFamily="18" charset="0"/>
                              <a:ea typeface="宋体" panose="02010600030101010101" pitchFamily="2" charset="-122"/>
                            </a:rPr>
                            <m:t>(</m:t>
                          </m:r>
                          <m:sSub>
                            <m:sSubPr>
                              <m:ctrlPr>
                                <a:rPr lang="zh-CN" altLang="zh-CN" i="1" kern="100">
                                  <a:solidFill>
                                    <a:srgbClr val="FF0000"/>
                                  </a:solidFill>
                                  <a:latin typeface="Cambria Math" panose="02040503050406030204" pitchFamily="18" charset="0"/>
                                  <a:ea typeface="Cambria Math" panose="02040503050406030204" pitchFamily="18" charset="0"/>
                                </a:rPr>
                              </m:ctrlPr>
                            </m:sSubPr>
                            <m:e>
                              <m:r>
                                <a:rPr lang="en-US" altLang="zh-CN" i="1" kern="100">
                                  <a:solidFill>
                                    <a:srgbClr val="FF0000"/>
                                  </a:solidFill>
                                  <a:latin typeface="Cambria Math" panose="02040503050406030204" pitchFamily="18" charset="0"/>
                                  <a:ea typeface="宋体" panose="02010600030101010101" pitchFamily="2" charset="-122"/>
                                </a:rPr>
                                <m:t>𝑔</m:t>
                              </m:r>
                            </m:e>
                            <m:sub>
                              <m:r>
                                <a:rPr lang="en-US" altLang="zh-CN" i="1" kern="100">
                                  <a:solidFill>
                                    <a:srgbClr val="FF0000"/>
                                  </a:solidFill>
                                  <a:latin typeface="Cambria Math" panose="02040503050406030204" pitchFamily="18" charset="0"/>
                                  <a:ea typeface="宋体" panose="02010600030101010101" pitchFamily="2" charset="-122"/>
                                </a:rPr>
                                <m:t>𝑘</m:t>
                              </m:r>
                            </m:sub>
                          </m:sSub>
                          <m:sSup>
                            <m:sSupPr>
                              <m:ctrlPr>
                                <a:rPr lang="zh-CN" altLang="zh-CN" i="1" kern="100">
                                  <a:solidFill>
                                    <a:srgbClr val="FF0000"/>
                                  </a:solidFill>
                                  <a:latin typeface="Cambria Math" panose="02040503050406030204" pitchFamily="18" charset="0"/>
                                  <a:ea typeface="Cambria Math" panose="02040503050406030204" pitchFamily="18" charset="0"/>
                                </a:rPr>
                              </m:ctrlPr>
                            </m:sSupPr>
                            <m:e>
                              <m:r>
                                <a:rPr lang="en-US" altLang="zh-CN" i="1" kern="100">
                                  <a:solidFill>
                                    <a:srgbClr val="FF0000"/>
                                  </a:solidFill>
                                  <a:latin typeface="Cambria Math" panose="02040503050406030204" pitchFamily="18" charset="0"/>
                                  <a:ea typeface="宋体" panose="02010600030101010101" pitchFamily="2" charset="-122"/>
                                </a:rPr>
                                <m:t>)</m:t>
                              </m:r>
                            </m:e>
                            <m:sup>
                              <m:r>
                                <a:rPr lang="en-US" altLang="zh-CN" i="1" kern="100">
                                  <a:solidFill>
                                    <a:srgbClr val="FF0000"/>
                                  </a:solidFill>
                                  <a:latin typeface="Cambria Math" panose="02040503050406030204" pitchFamily="18" charset="0"/>
                                  <a:ea typeface="宋体" panose="02010600030101010101" pitchFamily="2" charset="-122"/>
                                </a:rPr>
                                <m:t>𝑇</m:t>
                              </m:r>
                            </m:sup>
                          </m:sSup>
                          <m:sSub>
                            <m:sSubPr>
                              <m:ctrlPr>
                                <a:rPr lang="zh-CN" altLang="zh-CN" i="1" kern="100">
                                  <a:solidFill>
                                    <a:srgbClr val="FF0000"/>
                                  </a:solidFill>
                                  <a:latin typeface="Cambria Math" panose="02040503050406030204" pitchFamily="18" charset="0"/>
                                  <a:ea typeface="Cambria Math" panose="02040503050406030204" pitchFamily="18" charset="0"/>
                                </a:rPr>
                              </m:ctrlPr>
                            </m:sSubPr>
                            <m:e>
                              <m:r>
                                <a:rPr lang="en-US" altLang="zh-CN" i="1" kern="100">
                                  <a:solidFill>
                                    <a:srgbClr val="FF0000"/>
                                  </a:solidFill>
                                  <a:latin typeface="Cambria Math" panose="02040503050406030204" pitchFamily="18" charset="0"/>
                                  <a:ea typeface="宋体" panose="02010600030101010101" pitchFamily="2" charset="-122"/>
                                </a:rPr>
                                <m:t>𝑔</m:t>
                              </m:r>
                            </m:e>
                            <m:sub>
                              <m:r>
                                <a:rPr lang="en-US" altLang="zh-CN" i="1" kern="100">
                                  <a:solidFill>
                                    <a:srgbClr val="FF0000"/>
                                  </a:solidFill>
                                  <a:latin typeface="Cambria Math" panose="02040503050406030204" pitchFamily="18" charset="0"/>
                                  <a:ea typeface="宋体" panose="02010600030101010101" pitchFamily="2" charset="-122"/>
                                </a:rPr>
                                <m:t>𝑘</m:t>
                              </m:r>
                            </m:sub>
                          </m:sSub>
                        </m:num>
                        <m:den>
                          <m:r>
                            <a:rPr lang="en-US" altLang="zh-CN" i="1" kern="100">
                              <a:solidFill>
                                <a:srgbClr val="FF0000"/>
                              </a:solidFill>
                              <a:latin typeface="Cambria Math" panose="02040503050406030204" pitchFamily="18" charset="0"/>
                              <a:ea typeface="宋体" panose="02010600030101010101" pitchFamily="2" charset="-122"/>
                            </a:rPr>
                            <m:t>(</m:t>
                          </m:r>
                          <m:sSup>
                            <m:sSupPr>
                              <m:ctrlPr>
                                <a:rPr lang="zh-CN" altLang="zh-CN" i="1" kern="100">
                                  <a:solidFill>
                                    <a:srgbClr val="FF0000"/>
                                  </a:solidFill>
                                  <a:latin typeface="Cambria Math" panose="02040503050406030204" pitchFamily="18" charset="0"/>
                                  <a:ea typeface="Cambria Math" panose="02040503050406030204" pitchFamily="18" charset="0"/>
                                </a:rPr>
                              </m:ctrlPr>
                            </m:sSupPr>
                            <m:e>
                              <m:r>
                                <a:rPr lang="en-US" altLang="zh-CN" i="1" kern="100">
                                  <a:solidFill>
                                    <a:srgbClr val="FF0000"/>
                                  </a:solidFill>
                                  <a:latin typeface="Cambria Math" panose="02040503050406030204" pitchFamily="18" charset="0"/>
                                  <a:ea typeface="宋体" panose="02010600030101010101" pitchFamily="2" charset="-122"/>
                                </a:rPr>
                                <m:t>𝑑</m:t>
                              </m:r>
                            </m:e>
                            <m:sup>
                              <m:r>
                                <a:rPr lang="en-US" altLang="zh-CN" i="1" kern="100">
                                  <a:solidFill>
                                    <a:srgbClr val="FF0000"/>
                                  </a:solidFill>
                                  <a:latin typeface="Cambria Math" panose="02040503050406030204" pitchFamily="18" charset="0"/>
                                  <a:ea typeface="宋体" panose="02010600030101010101" pitchFamily="2" charset="-122"/>
                                </a:rPr>
                                <m:t>(</m:t>
                              </m:r>
                              <m:r>
                                <a:rPr lang="en-US" altLang="zh-CN" i="1" kern="100">
                                  <a:solidFill>
                                    <a:srgbClr val="FF0000"/>
                                  </a:solidFill>
                                  <a:latin typeface="Cambria Math" panose="02040503050406030204" pitchFamily="18" charset="0"/>
                                  <a:ea typeface="宋体" panose="02010600030101010101" pitchFamily="2" charset="-122"/>
                                </a:rPr>
                                <m:t>𝑘</m:t>
                              </m:r>
                              <m:r>
                                <a:rPr lang="en-US" altLang="zh-CN" i="1" kern="100">
                                  <a:solidFill>
                                    <a:srgbClr val="FF0000"/>
                                  </a:solidFill>
                                  <a:latin typeface="Cambria Math" panose="02040503050406030204" pitchFamily="18" charset="0"/>
                                  <a:ea typeface="宋体" panose="02010600030101010101" pitchFamily="2" charset="-122"/>
                                </a:rPr>
                                <m:t>)</m:t>
                              </m:r>
                            </m:sup>
                          </m:sSup>
                          <m:sSup>
                            <m:sSupPr>
                              <m:ctrlPr>
                                <a:rPr lang="zh-CN" altLang="zh-CN" i="1" kern="100">
                                  <a:solidFill>
                                    <a:srgbClr val="FF0000"/>
                                  </a:solidFill>
                                  <a:latin typeface="Cambria Math" panose="02040503050406030204" pitchFamily="18" charset="0"/>
                                  <a:ea typeface="Cambria Math" panose="02040503050406030204" pitchFamily="18" charset="0"/>
                                </a:rPr>
                              </m:ctrlPr>
                            </m:sSupPr>
                            <m:e>
                              <m:r>
                                <a:rPr lang="en-US" altLang="zh-CN" i="1" kern="100">
                                  <a:solidFill>
                                    <a:srgbClr val="FF0000"/>
                                  </a:solidFill>
                                  <a:latin typeface="Cambria Math" panose="02040503050406030204" pitchFamily="18" charset="0"/>
                                  <a:ea typeface="宋体" panose="02010600030101010101" pitchFamily="2" charset="-122"/>
                                </a:rPr>
                                <m:t>)</m:t>
                              </m:r>
                            </m:e>
                            <m:sup>
                              <m:r>
                                <a:rPr lang="en-US" altLang="zh-CN" i="1" kern="100">
                                  <a:solidFill>
                                    <a:srgbClr val="FF0000"/>
                                  </a:solidFill>
                                  <a:latin typeface="Cambria Math" panose="02040503050406030204" pitchFamily="18" charset="0"/>
                                  <a:ea typeface="宋体" panose="02010600030101010101" pitchFamily="2" charset="-122"/>
                                </a:rPr>
                                <m:t>𝑇</m:t>
                              </m:r>
                            </m:sup>
                          </m:sSup>
                          <m:r>
                            <a:rPr lang="en-US" altLang="zh-CN" i="1" kern="100">
                              <a:solidFill>
                                <a:srgbClr val="FF0000"/>
                              </a:solidFill>
                              <a:latin typeface="Cambria Math" panose="02040503050406030204" pitchFamily="18" charset="0"/>
                              <a:ea typeface="宋体" panose="02010600030101010101" pitchFamily="2" charset="-122"/>
                            </a:rPr>
                            <m:t>𝐴</m:t>
                          </m:r>
                          <m:sSup>
                            <m:sSupPr>
                              <m:ctrlPr>
                                <a:rPr lang="zh-CN" altLang="zh-CN" i="1" kern="100">
                                  <a:solidFill>
                                    <a:srgbClr val="FF0000"/>
                                  </a:solidFill>
                                  <a:latin typeface="Cambria Math" panose="02040503050406030204" pitchFamily="18" charset="0"/>
                                  <a:ea typeface="Cambria Math" panose="02040503050406030204" pitchFamily="18" charset="0"/>
                                </a:rPr>
                              </m:ctrlPr>
                            </m:sSupPr>
                            <m:e>
                              <m:r>
                                <a:rPr lang="en-US" altLang="zh-CN" i="1" kern="100">
                                  <a:solidFill>
                                    <a:srgbClr val="FF0000"/>
                                  </a:solidFill>
                                  <a:latin typeface="Cambria Math" panose="02040503050406030204" pitchFamily="18" charset="0"/>
                                  <a:ea typeface="宋体" panose="02010600030101010101" pitchFamily="2" charset="-122"/>
                                </a:rPr>
                                <m:t>𝑑</m:t>
                              </m:r>
                            </m:e>
                            <m:sup>
                              <m:r>
                                <a:rPr lang="en-US" altLang="zh-CN" i="1" kern="100">
                                  <a:solidFill>
                                    <a:srgbClr val="FF0000"/>
                                  </a:solidFill>
                                  <a:latin typeface="Cambria Math" panose="02040503050406030204" pitchFamily="18" charset="0"/>
                                  <a:ea typeface="宋体" panose="02010600030101010101" pitchFamily="2" charset="-122"/>
                                </a:rPr>
                                <m:t>(</m:t>
                              </m:r>
                              <m:r>
                                <a:rPr lang="en-US" altLang="zh-CN" i="1" kern="100">
                                  <a:solidFill>
                                    <a:srgbClr val="FF0000"/>
                                  </a:solidFill>
                                  <a:latin typeface="Cambria Math" panose="02040503050406030204" pitchFamily="18" charset="0"/>
                                  <a:ea typeface="宋体" panose="02010600030101010101" pitchFamily="2" charset="-122"/>
                                </a:rPr>
                                <m:t>𝑘</m:t>
                              </m:r>
                              <m:r>
                                <a:rPr lang="en-US" altLang="zh-CN" i="1" kern="100">
                                  <a:solidFill>
                                    <a:srgbClr val="FF0000"/>
                                  </a:solidFill>
                                  <a:latin typeface="Cambria Math" panose="02040503050406030204" pitchFamily="18" charset="0"/>
                                  <a:ea typeface="宋体" panose="02010600030101010101" pitchFamily="2" charset="-122"/>
                                </a:rPr>
                                <m:t>)</m:t>
                              </m:r>
                            </m:sup>
                          </m:sSup>
                        </m:den>
                      </m:f>
                    </m:oMath>
                  </m:oMathPara>
                </a14:m>
                <a:endParaRPr lang="zh-CN" altLang="en-US" dirty="0"/>
              </a:p>
            </p:txBody>
          </p:sp>
        </mc:Choice>
        <mc:Fallback xmlns="">
          <p:sp>
            <p:nvSpPr>
              <p:cNvPr id="4" name="文本框 3">
                <a:extLst>
                  <a:ext uri="{FF2B5EF4-FFF2-40B4-BE49-F238E27FC236}">
                    <a16:creationId xmlns:a16="http://schemas.microsoft.com/office/drawing/2014/main" id="{DD9FD64E-206A-3C40-D680-07B3BAC3C70A}"/>
                  </a:ext>
                </a:extLst>
              </p:cNvPr>
              <p:cNvSpPr txBox="1">
                <a:spLocks noRot="1" noChangeAspect="1" noMove="1" noResize="1" noEditPoints="1" noAdjustHandles="1" noChangeArrowheads="1" noChangeShapeType="1" noTextEdit="1"/>
              </p:cNvSpPr>
              <p:nvPr/>
            </p:nvSpPr>
            <p:spPr>
              <a:xfrm>
                <a:off x="5357674" y="5949474"/>
                <a:ext cx="4572000" cy="702115"/>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957326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18EC59AF-6764-FD42-BFBC-84685BD29D2A}"/>
                  </a:ext>
                </a:extLst>
              </p:cNvPr>
              <p:cNvSpPr txBox="1"/>
              <p:nvPr/>
            </p:nvSpPr>
            <p:spPr>
              <a:xfrm>
                <a:off x="76200" y="436322"/>
                <a:ext cx="8991600" cy="5985356"/>
              </a:xfrm>
              <a:prstGeom prst="rect">
                <a:avLst/>
              </a:prstGeom>
              <a:noFill/>
            </p:spPr>
            <p:txBody>
              <a:bodyPr wrap="square" rtlCol="0">
                <a:spAutoFit/>
              </a:bodyPr>
              <a:lstStyle/>
              <a:p>
                <a:pPr indent="464400" algn="just"/>
                <a:r>
                  <a:rPr lang="zh-CN" altLang="en-US" sz="2000" dirty="0">
                    <a:latin typeface="宋体" panose="02010600030101010101" pitchFamily="2" charset="-122"/>
                    <a:ea typeface="宋体" panose="02010600030101010101" pitchFamily="2" charset="-122"/>
                  </a:rPr>
                  <a:t>故</a:t>
                </a:r>
                <a:endParaRPr lang="en-US" altLang="zh-CN" sz="2000" dirty="0">
                  <a:latin typeface="宋体" panose="02010600030101010101" pitchFamily="2" charset="-122"/>
                  <a:ea typeface="宋体" panose="02010600030101010101" pitchFamily="2" charset="-122"/>
                </a:endParaRPr>
              </a:p>
              <a:p>
                <a:pPr indent="464400" algn="just"/>
                <a14:m>
                  <m:oMathPara xmlns:m="http://schemas.openxmlformats.org/officeDocument/2006/math">
                    <m:oMathParaPr>
                      <m:jc m:val="centerGroup"/>
                    </m:oMathParaPr>
                    <m:oMath xmlns:m="http://schemas.openxmlformats.org/officeDocument/2006/math">
                      <m:sSup>
                        <m:sSupPr>
                          <m:ctrlPr>
                            <a:rPr lang="en-US" altLang="zh-CN" sz="2000" i="1">
                              <a:latin typeface="Cambria Math" panose="02040503050406030204" pitchFamily="18" charset="0"/>
                              <a:ea typeface="宋体" panose="02010600030101010101" pitchFamily="2" charset="-122"/>
                            </a:rPr>
                          </m:ctrlPr>
                        </m:sSupPr>
                        <m:e>
                          <m:r>
                            <a:rPr lang="en-US" altLang="zh-CN" sz="2000" i="1">
                              <a:latin typeface="Cambria Math" panose="02040503050406030204" pitchFamily="18" charset="0"/>
                              <a:ea typeface="宋体" panose="02010600030101010101" pitchFamily="2" charset="-122"/>
                            </a:rPr>
                            <m:t>𝑥</m:t>
                          </m:r>
                        </m:e>
                        <m:sup>
                          <m:r>
                            <a:rPr lang="en-US" altLang="zh-CN" sz="2000" i="1">
                              <a:latin typeface="Cambria Math" panose="02040503050406030204" pitchFamily="18" charset="0"/>
                              <a:ea typeface="宋体" panose="02010600030101010101" pitchFamily="2" charset="-122"/>
                            </a:rPr>
                            <m:t>(2)</m:t>
                          </m:r>
                        </m:sup>
                      </m:sSup>
                      <m:r>
                        <a:rPr lang="en-US" altLang="zh-CN" sz="2000" i="1">
                          <a:latin typeface="Cambria Math" panose="02040503050406030204" pitchFamily="18" charset="0"/>
                          <a:ea typeface="宋体" panose="02010600030101010101" pitchFamily="2" charset="-122"/>
                        </a:rPr>
                        <m:t>=</m:t>
                      </m:r>
                      <m:sSup>
                        <m:sSupPr>
                          <m:ctrlPr>
                            <a:rPr lang="en-US" altLang="zh-CN" sz="2000" i="1">
                              <a:latin typeface="Cambria Math" panose="02040503050406030204" pitchFamily="18" charset="0"/>
                              <a:ea typeface="宋体" panose="02010600030101010101" pitchFamily="2" charset="-122"/>
                            </a:rPr>
                          </m:ctrlPr>
                        </m:sSupPr>
                        <m:e>
                          <m:r>
                            <a:rPr lang="en-US" altLang="zh-CN" sz="2000" i="1">
                              <a:latin typeface="Cambria Math" panose="02040503050406030204" pitchFamily="18" charset="0"/>
                              <a:ea typeface="宋体" panose="02010600030101010101" pitchFamily="2" charset="-122"/>
                            </a:rPr>
                            <m:t>𝑥</m:t>
                          </m:r>
                        </m:e>
                        <m:sup>
                          <m:r>
                            <a:rPr lang="en-US" altLang="zh-CN" sz="2000" i="1">
                              <a:latin typeface="Cambria Math" panose="02040503050406030204" pitchFamily="18" charset="0"/>
                              <a:ea typeface="宋体" panose="02010600030101010101" pitchFamily="2" charset="-122"/>
                            </a:rPr>
                            <m:t>(1)</m:t>
                          </m:r>
                        </m:sup>
                      </m:sSup>
                      <m:r>
                        <a:rPr lang="en-US" altLang="zh-CN" sz="2000" i="1">
                          <a:latin typeface="Cambria Math" panose="02040503050406030204" pitchFamily="18" charset="0"/>
                          <a:ea typeface="宋体" panose="02010600030101010101" pitchFamily="2" charset="-122"/>
                        </a:rPr>
                        <m:t>+</m:t>
                      </m:r>
                      <m:sSup>
                        <m:sSupPr>
                          <m:ctrlPr>
                            <a:rPr lang="zh-CN" altLang="zh-CN" sz="20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20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(1)</m:t>
                          </m:r>
                        </m:sup>
                      </m:sSup>
                      <m:sSup>
                        <m:sSupPr>
                          <m:ctrlPr>
                            <a:rPr lang="en-US" altLang="zh-CN" sz="2000" i="1">
                              <a:latin typeface="Cambria Math" panose="02040503050406030204" pitchFamily="18" charset="0"/>
                              <a:ea typeface="宋体" panose="02010600030101010101" pitchFamily="2" charset="-122"/>
                            </a:rPr>
                          </m:ctrlPr>
                        </m:sSupPr>
                        <m:e>
                          <m:r>
                            <a:rPr lang="en-US" altLang="zh-CN" sz="2000" i="1">
                              <a:latin typeface="Cambria Math" panose="02040503050406030204" pitchFamily="18" charset="0"/>
                              <a:ea typeface="宋体" panose="02010600030101010101" pitchFamily="2" charset="-122"/>
                            </a:rPr>
                            <m:t>𝑑</m:t>
                          </m:r>
                        </m:e>
                        <m:sup>
                          <m:r>
                            <a:rPr lang="en-US" altLang="zh-CN" sz="2000" i="1">
                              <a:latin typeface="Cambria Math" panose="02040503050406030204" pitchFamily="18" charset="0"/>
                              <a:ea typeface="宋体" panose="02010600030101010101" pitchFamily="2" charset="-122"/>
                            </a:rPr>
                            <m:t>(1)</m:t>
                          </m:r>
                        </m:sup>
                      </m:sSup>
                      <m:r>
                        <a:rPr lang="en-US" altLang="zh-CN" sz="2000" i="1">
                          <a:latin typeface="Cambria Math" panose="02040503050406030204" pitchFamily="18" charset="0"/>
                          <a:ea typeface="宋体" panose="02010600030101010101" pitchFamily="2" charset="-122"/>
                        </a:rPr>
                        <m:t>=</m:t>
                      </m:r>
                      <m:d>
                        <m:dPr>
                          <m:begChr m:val="["/>
                          <m:endChr m:val="]"/>
                          <m:ctrlPr>
                            <a:rPr lang="en-US" altLang="zh-CN" sz="2000" i="1">
                              <a:latin typeface="Cambria Math" panose="02040503050406030204" pitchFamily="18" charset="0"/>
                              <a:ea typeface="宋体" panose="02010600030101010101" pitchFamily="2" charset="-122"/>
                            </a:rPr>
                          </m:ctrlPr>
                        </m:dPr>
                        <m:e>
                          <m:m>
                            <m:mPr>
                              <m:mcs>
                                <m:mc>
                                  <m:mcPr>
                                    <m:count m:val="1"/>
                                    <m:mcJc m:val="center"/>
                                  </m:mcPr>
                                </m:mc>
                              </m:mcs>
                              <m:ctrlPr>
                                <a:rPr lang="en-US" altLang="zh-CN" sz="2000" i="1">
                                  <a:latin typeface="Cambria Math" panose="02040503050406030204" pitchFamily="18" charset="0"/>
                                  <a:ea typeface="宋体" panose="02010600030101010101" pitchFamily="2" charset="-122"/>
                                </a:rPr>
                              </m:ctrlPr>
                            </m:mPr>
                            <m:mr>
                              <m:e>
                                <m:r>
                                  <m:rPr>
                                    <m:brk m:alnAt="7"/>
                                  </m:rPr>
                                  <a:rPr lang="en-US" altLang="zh-CN" sz="2000" i="1">
                                    <a:latin typeface="Cambria Math" panose="02040503050406030204" pitchFamily="18" charset="0"/>
                                    <a:ea typeface="宋体" panose="02010600030101010101" pitchFamily="2" charset="-122"/>
                                  </a:rPr>
                                  <m:t>−</m:t>
                                </m:r>
                                <m:r>
                                  <a:rPr lang="en-US" altLang="zh-CN" sz="2000" i="1">
                                    <a:latin typeface="Cambria Math" panose="02040503050406030204" pitchFamily="18" charset="0"/>
                                    <a:ea typeface="宋体" panose="02010600030101010101" pitchFamily="2" charset="-122"/>
                                  </a:rPr>
                                  <m:t>2</m:t>
                                </m:r>
                              </m:e>
                            </m:mr>
                            <m:mr>
                              <m:e>
                                <m:r>
                                  <a:rPr lang="en-US" altLang="zh-CN" sz="2000" i="1">
                                    <a:latin typeface="Cambria Math" panose="02040503050406030204" pitchFamily="18" charset="0"/>
                                    <a:ea typeface="宋体" panose="02010600030101010101" pitchFamily="2" charset="-122"/>
                                  </a:rPr>
                                  <m:t>4</m:t>
                                </m:r>
                              </m:e>
                            </m:mr>
                          </m:m>
                        </m:e>
                      </m:d>
                      <m:r>
                        <a:rPr lang="en-US" altLang="zh-CN" sz="2000" i="1">
                          <a:latin typeface="Cambria Math" panose="02040503050406030204" pitchFamily="18" charset="0"/>
                          <a:ea typeface="宋体" panose="02010600030101010101" pitchFamily="2" charset="-122"/>
                        </a:rPr>
                        <m:t>+</m:t>
                      </m:r>
                      <m:f>
                        <m:fPr>
                          <m:ctrlPr>
                            <a:rPr lang="en-US" altLang="zh-CN" sz="2000" i="1">
                              <a:latin typeface="Cambria Math" panose="02040503050406030204" pitchFamily="18" charset="0"/>
                              <a:ea typeface="宋体" panose="02010600030101010101" pitchFamily="2" charset="-122"/>
                            </a:rPr>
                          </m:ctrlPr>
                        </m:fPr>
                        <m:num>
                          <m:r>
                            <a:rPr lang="en-US" altLang="zh-CN" sz="2000" i="1">
                              <a:latin typeface="Cambria Math" panose="02040503050406030204" pitchFamily="18" charset="0"/>
                              <a:ea typeface="宋体" panose="02010600030101010101" pitchFamily="2" charset="-122"/>
                            </a:rPr>
                            <m:t>5</m:t>
                          </m:r>
                        </m:num>
                        <m:den>
                          <m:r>
                            <a:rPr lang="en-US" altLang="zh-CN" sz="2000" i="1">
                              <a:latin typeface="Cambria Math" panose="02040503050406030204" pitchFamily="18" charset="0"/>
                              <a:ea typeface="宋体" panose="02010600030101010101" pitchFamily="2" charset="-122"/>
                            </a:rPr>
                            <m:t>17</m:t>
                          </m:r>
                        </m:den>
                      </m:f>
                      <m:d>
                        <m:dPr>
                          <m:begChr m:val="["/>
                          <m:endChr m:val="]"/>
                          <m:ctrlPr>
                            <a:rPr lang="en-US" altLang="zh-CN" sz="2000" i="1">
                              <a:latin typeface="Cambria Math" panose="02040503050406030204" pitchFamily="18" charset="0"/>
                              <a:ea typeface="宋体" panose="02010600030101010101" pitchFamily="2" charset="-122"/>
                            </a:rPr>
                          </m:ctrlPr>
                        </m:dPr>
                        <m:e>
                          <m:m>
                            <m:mPr>
                              <m:mcs>
                                <m:mc>
                                  <m:mcPr>
                                    <m:count m:val="1"/>
                                    <m:mcJc m:val="center"/>
                                  </m:mcPr>
                                </m:mc>
                              </m:mcs>
                              <m:ctrlPr>
                                <a:rPr lang="en-US" altLang="zh-CN" sz="2000" i="1">
                                  <a:latin typeface="Cambria Math" panose="02040503050406030204" pitchFamily="18" charset="0"/>
                                  <a:ea typeface="宋体" panose="02010600030101010101" pitchFamily="2" charset="-122"/>
                                </a:rPr>
                              </m:ctrlPr>
                            </m:mPr>
                            <m:mr>
                              <m:e>
                                <m:r>
                                  <m:rPr>
                                    <m:brk m:alnAt="7"/>
                                  </m:rPr>
                                  <a:rPr lang="en-US" altLang="zh-CN" sz="2000" i="1">
                                    <a:latin typeface="Cambria Math" panose="02040503050406030204" pitchFamily="18" charset="0"/>
                                    <a:ea typeface="宋体" panose="02010600030101010101" pitchFamily="2" charset="-122"/>
                                  </a:rPr>
                                  <m:t>1</m:t>
                                </m:r>
                                <m:r>
                                  <a:rPr lang="en-US" altLang="zh-CN" sz="2000" i="1">
                                    <a:latin typeface="Cambria Math" panose="02040503050406030204" pitchFamily="18" charset="0"/>
                                    <a:ea typeface="宋体" panose="02010600030101010101" pitchFamily="2" charset="-122"/>
                                  </a:rPr>
                                  <m:t>2</m:t>
                                </m:r>
                              </m:e>
                            </m:mr>
                            <m:mr>
                              <m:e>
                                <m:r>
                                  <a:rPr lang="en-US" altLang="zh-CN" sz="2000" i="1">
                                    <a:latin typeface="Cambria Math" panose="02040503050406030204" pitchFamily="18" charset="0"/>
                                    <a:ea typeface="宋体" panose="02010600030101010101" pitchFamily="2" charset="-122"/>
                                  </a:rPr>
                                  <m:t>−6</m:t>
                                </m:r>
                              </m:e>
                            </m:mr>
                          </m:m>
                        </m:e>
                      </m:d>
                      <m:r>
                        <a:rPr lang="en-US" altLang="zh-CN" sz="2000" i="1">
                          <a:latin typeface="Cambria Math" panose="02040503050406030204" pitchFamily="18" charset="0"/>
                          <a:ea typeface="宋体" panose="02010600030101010101" pitchFamily="2" charset="-122"/>
                        </a:rPr>
                        <m:t>=</m:t>
                      </m:r>
                      <m:d>
                        <m:dPr>
                          <m:begChr m:val="["/>
                          <m:endChr m:val="]"/>
                          <m:ctrlPr>
                            <a:rPr lang="en-US" altLang="zh-CN" sz="2000" i="1">
                              <a:latin typeface="Cambria Math" panose="02040503050406030204" pitchFamily="18" charset="0"/>
                              <a:ea typeface="宋体" panose="02010600030101010101" pitchFamily="2" charset="-122"/>
                            </a:rPr>
                          </m:ctrlPr>
                        </m:dPr>
                        <m:e>
                          <m:m>
                            <m:mPr>
                              <m:mcs>
                                <m:mc>
                                  <m:mcPr>
                                    <m:count m:val="1"/>
                                    <m:mcJc m:val="center"/>
                                  </m:mcPr>
                                </m:mc>
                              </m:mcs>
                              <m:ctrlPr>
                                <a:rPr lang="en-US" altLang="zh-CN" sz="2000" i="1">
                                  <a:latin typeface="Cambria Math" panose="02040503050406030204" pitchFamily="18" charset="0"/>
                                  <a:ea typeface="宋体" panose="02010600030101010101" pitchFamily="2" charset="-122"/>
                                </a:rPr>
                              </m:ctrlPr>
                            </m:mPr>
                            <m:mr>
                              <m:e>
                                <m:f>
                                  <m:fPr>
                                    <m:ctrlPr>
                                      <a:rPr lang="en-US" altLang="zh-CN" sz="2000" i="1">
                                        <a:latin typeface="Cambria Math" panose="02040503050406030204" pitchFamily="18" charset="0"/>
                                        <a:ea typeface="宋体" panose="02010600030101010101" pitchFamily="2" charset="-122"/>
                                      </a:rPr>
                                    </m:ctrlPr>
                                  </m:fPr>
                                  <m:num>
                                    <m:r>
                                      <a:rPr lang="en-US" altLang="zh-CN" sz="2000" i="1">
                                        <a:latin typeface="Cambria Math" panose="02040503050406030204" pitchFamily="18" charset="0"/>
                                        <a:ea typeface="宋体" panose="02010600030101010101" pitchFamily="2" charset="-122"/>
                                      </a:rPr>
                                      <m:t>26</m:t>
                                    </m:r>
                                  </m:num>
                                  <m:den>
                                    <m:r>
                                      <a:rPr lang="en-US" altLang="zh-CN" sz="2000" i="1">
                                        <a:latin typeface="Cambria Math" panose="02040503050406030204" pitchFamily="18" charset="0"/>
                                        <a:ea typeface="宋体" panose="02010600030101010101" pitchFamily="2" charset="-122"/>
                                      </a:rPr>
                                      <m:t>17</m:t>
                                    </m:r>
                                  </m:den>
                                </m:f>
                              </m:e>
                            </m:mr>
                            <m:mr>
                              <m:e>
                                <m:f>
                                  <m:fPr>
                                    <m:ctrlPr>
                                      <a:rPr lang="en-US" altLang="zh-CN" sz="2000" i="1">
                                        <a:latin typeface="Cambria Math" panose="02040503050406030204" pitchFamily="18" charset="0"/>
                                        <a:ea typeface="宋体" panose="02010600030101010101" pitchFamily="2" charset="-122"/>
                                      </a:rPr>
                                    </m:ctrlPr>
                                  </m:fPr>
                                  <m:num>
                                    <m:r>
                                      <a:rPr lang="en-US" altLang="zh-CN" sz="2000" i="1">
                                        <a:latin typeface="Cambria Math" panose="02040503050406030204" pitchFamily="18" charset="0"/>
                                        <a:ea typeface="宋体" panose="02010600030101010101" pitchFamily="2" charset="-122"/>
                                      </a:rPr>
                                      <m:t>38</m:t>
                                    </m:r>
                                  </m:num>
                                  <m:den>
                                    <m:r>
                                      <a:rPr lang="en-US" altLang="zh-CN" sz="2000" i="1">
                                        <a:latin typeface="Cambria Math" panose="02040503050406030204" pitchFamily="18" charset="0"/>
                                        <a:ea typeface="宋体" panose="02010600030101010101" pitchFamily="2" charset="-122"/>
                                      </a:rPr>
                                      <m:t>17</m:t>
                                    </m:r>
                                  </m:den>
                                </m:f>
                              </m:e>
                            </m:mr>
                          </m:m>
                        </m:e>
                      </m:d>
                      <m:r>
                        <a:rPr lang="en-US" altLang="zh-CN" sz="2000" i="1">
                          <a:latin typeface="Cambria Math" panose="02040503050406030204" pitchFamily="18" charset="0"/>
                          <a:ea typeface="Cambria Math" panose="02040503050406030204" pitchFamily="18" charset="0"/>
                        </a:rPr>
                        <m:t>≈</m:t>
                      </m:r>
                      <m:d>
                        <m:dPr>
                          <m:begChr m:val="["/>
                          <m:endChr m:val="]"/>
                          <m:ctrlPr>
                            <a:rPr lang="en-US" altLang="zh-CN" sz="2000" i="1">
                              <a:latin typeface="Cambria Math" panose="02040503050406030204" pitchFamily="18" charset="0"/>
                              <a:ea typeface="Cambria Math" panose="02040503050406030204" pitchFamily="18" charset="0"/>
                            </a:rPr>
                          </m:ctrlPr>
                        </m:dPr>
                        <m:e>
                          <m:m>
                            <m:mPr>
                              <m:mcs>
                                <m:mc>
                                  <m:mcPr>
                                    <m:count m:val="1"/>
                                    <m:mcJc m:val="center"/>
                                  </m:mcPr>
                                </m:mc>
                              </m:mcs>
                              <m:ctrlPr>
                                <a:rPr lang="en-US" altLang="zh-CN" sz="2000" i="1">
                                  <a:latin typeface="Cambria Math" panose="02040503050406030204" pitchFamily="18" charset="0"/>
                                  <a:ea typeface="Cambria Math" panose="02040503050406030204" pitchFamily="18" charset="0"/>
                                </a:rPr>
                              </m:ctrlPr>
                            </m:mPr>
                            <m:mr>
                              <m:e>
                                <m:r>
                                  <m:rPr>
                                    <m:brk m:alnAt="7"/>
                                  </m:rPr>
                                  <a:rPr lang="en-US" altLang="zh-CN" sz="2000" i="1">
                                    <a:latin typeface="Cambria Math" panose="02040503050406030204" pitchFamily="18" charset="0"/>
                                    <a:ea typeface="Cambria Math" panose="02040503050406030204" pitchFamily="18" charset="0"/>
                                  </a:rPr>
                                  <m:t>1</m:t>
                                </m:r>
                                <m:r>
                                  <a:rPr lang="en-US" altLang="zh-CN" sz="2000" i="1">
                                    <a:latin typeface="Cambria Math" panose="02040503050406030204" pitchFamily="18" charset="0"/>
                                    <a:ea typeface="Cambria Math" panose="02040503050406030204" pitchFamily="18" charset="0"/>
                                  </a:rPr>
                                  <m:t>.529</m:t>
                                </m:r>
                              </m:e>
                            </m:mr>
                            <m:mr>
                              <m:e>
                                <m:r>
                                  <a:rPr lang="en-US" altLang="zh-CN" sz="2000" i="1">
                                    <a:latin typeface="Cambria Math" panose="02040503050406030204" pitchFamily="18" charset="0"/>
                                    <a:ea typeface="Cambria Math" panose="02040503050406030204" pitchFamily="18" charset="0"/>
                                  </a:rPr>
                                  <m:t>2.235</m:t>
                                </m:r>
                              </m:e>
                            </m:mr>
                          </m:m>
                        </m:e>
                      </m:d>
                    </m:oMath>
                  </m:oMathPara>
                </a14:m>
                <a:endParaRPr lang="en-US" altLang="zh-CN" sz="2000" dirty="0">
                  <a:latin typeface="宋体" panose="02010600030101010101" pitchFamily="2" charset="-122"/>
                  <a:ea typeface="宋体" panose="02010600030101010101" pitchFamily="2" charset="-122"/>
                </a:endParaRPr>
              </a:p>
              <a:p>
                <a:pPr indent="464400" algn="just"/>
                <a14:m>
                  <m:oMathPara xmlns:m="http://schemas.openxmlformats.org/officeDocument/2006/math">
                    <m:oMathParaPr>
                      <m:jc m:val="centerGroup"/>
                    </m:oMathParaPr>
                    <m:oMath xmlns:m="http://schemas.openxmlformats.org/officeDocument/2006/math">
                      <m:sSub>
                        <m:sSubPr>
                          <m:ctrlPr>
                            <a:rPr lang="zh-CN" altLang="zh-CN" sz="2000" i="1" kern="100">
                              <a:solidFill>
                                <a:srgbClr val="FF0000"/>
                              </a:solidFill>
                              <a:latin typeface="Cambria Math" panose="02040503050406030204" pitchFamily="18" charset="0"/>
                              <a:ea typeface="Cambria Math" panose="02040503050406030204" pitchFamily="18" charset="0"/>
                            </a:rPr>
                          </m:ctrlPr>
                        </m:sSubPr>
                        <m:e>
                          <m:r>
                            <a:rPr lang="en-US" altLang="zh-CN" sz="2000" i="1" kern="100">
                              <a:solidFill>
                                <a:srgbClr val="FF0000"/>
                              </a:solidFill>
                              <a:latin typeface="Cambria Math" panose="02040503050406030204" pitchFamily="18" charset="0"/>
                              <a:ea typeface="宋体" panose="02010600030101010101" pitchFamily="2" charset="-122"/>
                            </a:rPr>
                            <m:t>𝑔</m:t>
                          </m:r>
                        </m:e>
                        <m:sub>
                          <m:r>
                            <a:rPr lang="en-US" altLang="zh-CN" sz="2000" b="0" i="1" kern="100" smtClean="0">
                              <a:solidFill>
                                <a:srgbClr val="FF0000"/>
                              </a:solidFill>
                              <a:latin typeface="Cambria Math" panose="02040503050406030204" pitchFamily="18" charset="0"/>
                              <a:ea typeface="宋体" panose="02010600030101010101" pitchFamily="2" charset="-122"/>
                            </a:rPr>
                            <m:t>2</m:t>
                          </m:r>
                        </m:sub>
                      </m:sSub>
                      <m:r>
                        <a:rPr lang="en-US" altLang="zh-CN" sz="2000" i="1" kern="100">
                          <a:solidFill>
                            <a:srgbClr val="FF0000"/>
                          </a:solidFill>
                          <a:latin typeface="Cambria Math" panose="02040503050406030204" pitchFamily="18" charset="0"/>
                          <a:ea typeface="宋体" panose="02010600030101010101" pitchFamily="2" charset="-122"/>
                        </a:rPr>
                        <m:t>= </m:t>
                      </m:r>
                      <m:r>
                        <m:rPr>
                          <m:sty m:val="p"/>
                        </m:rPr>
                        <a:rPr lang="zh-CN" altLang="en-US" sz="2000" i="1" smtClean="0">
                          <a:latin typeface="Cambria Math" panose="02040503050406030204" pitchFamily="18" charset="0"/>
                          <a:ea typeface="宋体" panose="02010600030101010101" pitchFamily="2" charset="-122"/>
                        </a:rPr>
                        <m:t>∇</m:t>
                      </m:r>
                      <m:r>
                        <a:rPr lang="en-US" altLang="zh-CN" sz="2000" i="1">
                          <a:latin typeface="Cambria Math" panose="02040503050406030204" pitchFamily="18" charset="0"/>
                          <a:ea typeface="宋体" panose="02010600030101010101" pitchFamily="2" charset="-122"/>
                        </a:rPr>
                        <m:t>𝑓</m:t>
                      </m:r>
                      <m:d>
                        <m:dPr>
                          <m:ctrlPr>
                            <a:rPr lang="en-US" altLang="zh-CN" sz="2000" i="1">
                              <a:latin typeface="Cambria Math" panose="02040503050406030204" pitchFamily="18" charset="0"/>
                              <a:ea typeface="宋体" panose="02010600030101010101" pitchFamily="2" charset="-122"/>
                            </a:rPr>
                          </m:ctrlPr>
                        </m:dPr>
                        <m:e>
                          <m:sSup>
                            <m:sSupPr>
                              <m:ctrlPr>
                                <a:rPr lang="en-US" altLang="zh-CN" sz="2000" i="1">
                                  <a:latin typeface="Cambria Math" panose="02040503050406030204" pitchFamily="18" charset="0"/>
                                  <a:ea typeface="宋体" panose="02010600030101010101" pitchFamily="2" charset="-122"/>
                                </a:rPr>
                              </m:ctrlPr>
                            </m:sSupPr>
                            <m:e>
                              <m:r>
                                <a:rPr lang="en-US" altLang="zh-CN" sz="2000" i="1">
                                  <a:latin typeface="Cambria Math" panose="02040503050406030204" pitchFamily="18" charset="0"/>
                                  <a:ea typeface="宋体" panose="02010600030101010101" pitchFamily="2" charset="-122"/>
                                </a:rPr>
                                <m:t>𝑥</m:t>
                              </m:r>
                            </m:e>
                            <m:sup>
                              <m:d>
                                <m:dPr>
                                  <m:ctrlPr>
                                    <a:rPr lang="en-US" altLang="zh-CN" sz="2000" i="1">
                                      <a:latin typeface="Cambria Math" panose="02040503050406030204" pitchFamily="18" charset="0"/>
                                      <a:ea typeface="宋体" panose="02010600030101010101" pitchFamily="2" charset="-122"/>
                                    </a:rPr>
                                  </m:ctrlPr>
                                </m:dPr>
                                <m:e>
                                  <m:r>
                                    <a:rPr lang="en-US" altLang="zh-CN" sz="2000" b="0" i="1" smtClean="0">
                                      <a:latin typeface="Cambria Math" panose="02040503050406030204" pitchFamily="18" charset="0"/>
                                      <a:ea typeface="宋体" panose="02010600030101010101" pitchFamily="2" charset="-122"/>
                                    </a:rPr>
                                    <m:t>2</m:t>
                                  </m:r>
                                </m:e>
                              </m:d>
                            </m:sup>
                          </m:sSup>
                        </m:e>
                      </m:d>
                      <m:r>
                        <a:rPr lang="en-US" altLang="zh-CN" sz="2000" i="1">
                          <a:latin typeface="Cambria Math" panose="02040503050406030204" pitchFamily="18" charset="0"/>
                          <a:ea typeface="宋体" panose="02010600030101010101" pitchFamily="2" charset="-122"/>
                        </a:rPr>
                        <m:t>=</m:t>
                      </m:r>
                      <m:r>
                        <a:rPr lang="en-US" altLang="zh-CN" sz="2000" i="1">
                          <a:latin typeface="Cambria Math" panose="02040503050406030204" pitchFamily="18" charset="0"/>
                          <a:ea typeface="宋体" panose="02010600030101010101" pitchFamily="2" charset="-122"/>
                        </a:rPr>
                        <m:t>𝐴</m:t>
                      </m:r>
                      <m:sSup>
                        <m:sSupPr>
                          <m:ctrlPr>
                            <a:rPr lang="en-US" altLang="zh-CN" sz="2000" i="1">
                              <a:latin typeface="Cambria Math" panose="02040503050406030204" pitchFamily="18" charset="0"/>
                              <a:ea typeface="宋体" panose="02010600030101010101" pitchFamily="2" charset="-122"/>
                            </a:rPr>
                          </m:ctrlPr>
                        </m:sSupPr>
                        <m:e>
                          <m:r>
                            <a:rPr lang="en-US" altLang="zh-CN" sz="2000" i="1">
                              <a:latin typeface="Cambria Math" panose="02040503050406030204" pitchFamily="18" charset="0"/>
                              <a:ea typeface="宋体" panose="02010600030101010101" pitchFamily="2" charset="-122"/>
                            </a:rPr>
                            <m:t>𝑥</m:t>
                          </m:r>
                        </m:e>
                        <m:sup>
                          <m:r>
                            <a:rPr lang="en-US" altLang="zh-CN" sz="2000" i="1">
                              <a:latin typeface="Cambria Math" panose="02040503050406030204" pitchFamily="18" charset="0"/>
                              <a:ea typeface="宋体" panose="02010600030101010101" pitchFamily="2" charset="-122"/>
                            </a:rPr>
                            <m:t>(</m:t>
                          </m:r>
                          <m:r>
                            <a:rPr lang="en-US" altLang="zh-CN" sz="2000" b="0" i="1" smtClean="0">
                              <a:latin typeface="Cambria Math" panose="02040503050406030204" pitchFamily="18" charset="0"/>
                              <a:ea typeface="宋体" panose="02010600030101010101" pitchFamily="2" charset="-122"/>
                            </a:rPr>
                            <m:t>2</m:t>
                          </m:r>
                          <m:r>
                            <a:rPr lang="en-US" altLang="zh-CN" sz="2000" i="1">
                              <a:latin typeface="Cambria Math" panose="02040503050406030204" pitchFamily="18" charset="0"/>
                              <a:ea typeface="宋体" panose="02010600030101010101" pitchFamily="2" charset="-122"/>
                            </a:rPr>
                            <m:t>)</m:t>
                          </m:r>
                        </m:sup>
                      </m:sSup>
                      <m:r>
                        <a:rPr lang="en-US" altLang="zh-CN" sz="2000" i="1">
                          <a:latin typeface="Cambria Math" panose="02040503050406030204" pitchFamily="18" charset="0"/>
                          <a:ea typeface="宋体" panose="02010600030101010101" pitchFamily="2" charset="-122"/>
                        </a:rPr>
                        <m:t>+</m:t>
                      </m:r>
                      <m:r>
                        <a:rPr lang="en-US" altLang="zh-CN" sz="2000" b="0" i="1" smtClean="0">
                          <a:latin typeface="Cambria Math" panose="02040503050406030204" pitchFamily="18" charset="0"/>
                          <a:ea typeface="宋体" panose="02010600030101010101" pitchFamily="2" charset="-122"/>
                        </a:rPr>
                        <m:t>𝑏</m:t>
                      </m:r>
                      <m:r>
                        <a:rPr lang="en-US" altLang="zh-CN" sz="2000" i="1">
                          <a:latin typeface="Cambria Math" panose="02040503050406030204" pitchFamily="18" charset="0"/>
                          <a:ea typeface="宋体" panose="02010600030101010101" pitchFamily="2" charset="-122"/>
                        </a:rPr>
                        <m:t>=</m:t>
                      </m:r>
                      <m:d>
                        <m:dPr>
                          <m:begChr m:val="["/>
                          <m:endChr m:val="]"/>
                          <m:ctrlPr>
                            <a:rPr lang="en-US" altLang="zh-CN" sz="2000" i="1">
                              <a:latin typeface="Cambria Math" panose="02040503050406030204" pitchFamily="18" charset="0"/>
                              <a:ea typeface="宋体" panose="02010600030101010101" pitchFamily="2" charset="-122"/>
                            </a:rPr>
                          </m:ctrlPr>
                        </m:dPr>
                        <m:e>
                          <m:m>
                            <m:mPr>
                              <m:mcs>
                                <m:mc>
                                  <m:mcPr>
                                    <m:count m:val="2"/>
                                    <m:mcJc m:val="center"/>
                                  </m:mcPr>
                                </m:mc>
                              </m:mcs>
                              <m:ctrlPr>
                                <a:rPr lang="en-US" altLang="zh-CN" sz="2000" i="1">
                                  <a:latin typeface="Cambria Math" panose="02040503050406030204" pitchFamily="18" charset="0"/>
                                  <a:ea typeface="宋体" panose="02010600030101010101" pitchFamily="2" charset="-122"/>
                                </a:rPr>
                              </m:ctrlPr>
                            </m:mPr>
                            <m:mr>
                              <m:e>
                                <m:r>
                                  <m:rPr>
                                    <m:brk m:alnAt="7"/>
                                  </m:rPr>
                                  <a:rPr lang="en-US" altLang="zh-CN" sz="2000" i="1">
                                    <a:latin typeface="Cambria Math" panose="02040503050406030204" pitchFamily="18" charset="0"/>
                                    <a:ea typeface="宋体" panose="02010600030101010101" pitchFamily="2" charset="-122"/>
                                  </a:rPr>
                                  <m:t>3</m:t>
                                </m:r>
                              </m:e>
                              <m:e>
                                <m:r>
                                  <a:rPr lang="en-US" altLang="zh-CN" sz="2000" i="1">
                                    <a:latin typeface="Cambria Math" panose="02040503050406030204" pitchFamily="18" charset="0"/>
                                    <a:ea typeface="宋体" panose="02010600030101010101" pitchFamily="2" charset="-122"/>
                                  </a:rPr>
                                  <m:t>−1</m:t>
                                </m:r>
                              </m:e>
                            </m:mr>
                            <m:mr>
                              <m:e>
                                <m:r>
                                  <a:rPr lang="en-US" altLang="zh-CN" sz="2000" i="1">
                                    <a:latin typeface="Cambria Math" panose="02040503050406030204" pitchFamily="18" charset="0"/>
                                    <a:ea typeface="宋体" panose="02010600030101010101" pitchFamily="2" charset="-122"/>
                                  </a:rPr>
                                  <m:t>−1</m:t>
                                </m:r>
                              </m:e>
                              <m:e>
                                <m:r>
                                  <a:rPr lang="en-US" altLang="zh-CN" sz="2000" i="1">
                                    <a:latin typeface="Cambria Math" panose="02040503050406030204" pitchFamily="18" charset="0"/>
                                    <a:ea typeface="宋体" panose="02010600030101010101" pitchFamily="2" charset="-122"/>
                                  </a:rPr>
                                  <m:t>1</m:t>
                                </m:r>
                              </m:e>
                            </m:mr>
                          </m:m>
                        </m:e>
                      </m:d>
                      <m:d>
                        <m:dPr>
                          <m:begChr m:val="["/>
                          <m:endChr m:val="]"/>
                          <m:ctrlPr>
                            <a:rPr lang="en-US" altLang="zh-CN" sz="2000" i="1">
                              <a:latin typeface="Cambria Math" panose="02040503050406030204" pitchFamily="18" charset="0"/>
                              <a:ea typeface="宋体" panose="02010600030101010101" pitchFamily="2" charset="-122"/>
                            </a:rPr>
                          </m:ctrlPr>
                        </m:dPr>
                        <m:e>
                          <m:m>
                            <m:mPr>
                              <m:mcs>
                                <m:mc>
                                  <m:mcPr>
                                    <m:count m:val="1"/>
                                    <m:mcJc m:val="center"/>
                                  </m:mcPr>
                                </m:mc>
                              </m:mcs>
                              <m:ctrlPr>
                                <a:rPr lang="en-US" altLang="zh-CN" sz="2000" i="1">
                                  <a:latin typeface="Cambria Math" panose="02040503050406030204" pitchFamily="18" charset="0"/>
                                  <a:ea typeface="宋体" panose="02010600030101010101" pitchFamily="2" charset="-122"/>
                                </a:rPr>
                              </m:ctrlPr>
                            </m:mPr>
                            <m:mr>
                              <m:e>
                                <m:f>
                                  <m:fPr>
                                    <m:ctrlPr>
                                      <a:rPr lang="en-US" altLang="zh-CN" sz="2000" i="1">
                                        <a:latin typeface="Cambria Math" panose="02040503050406030204" pitchFamily="18" charset="0"/>
                                        <a:ea typeface="宋体" panose="02010600030101010101" pitchFamily="2" charset="-122"/>
                                      </a:rPr>
                                    </m:ctrlPr>
                                  </m:fPr>
                                  <m:num>
                                    <m:r>
                                      <a:rPr lang="en-US" altLang="zh-CN" sz="2000" i="1">
                                        <a:latin typeface="Cambria Math" panose="02040503050406030204" pitchFamily="18" charset="0"/>
                                        <a:ea typeface="宋体" panose="02010600030101010101" pitchFamily="2" charset="-122"/>
                                      </a:rPr>
                                      <m:t>26</m:t>
                                    </m:r>
                                  </m:num>
                                  <m:den>
                                    <m:r>
                                      <a:rPr lang="en-US" altLang="zh-CN" sz="2000" i="1">
                                        <a:latin typeface="Cambria Math" panose="02040503050406030204" pitchFamily="18" charset="0"/>
                                        <a:ea typeface="宋体" panose="02010600030101010101" pitchFamily="2" charset="-122"/>
                                      </a:rPr>
                                      <m:t>17</m:t>
                                    </m:r>
                                  </m:den>
                                </m:f>
                              </m:e>
                            </m:mr>
                            <m:mr>
                              <m:e>
                                <m:f>
                                  <m:fPr>
                                    <m:ctrlPr>
                                      <a:rPr lang="en-US" altLang="zh-CN" sz="2000" i="1">
                                        <a:latin typeface="Cambria Math" panose="02040503050406030204" pitchFamily="18" charset="0"/>
                                        <a:ea typeface="宋体" panose="02010600030101010101" pitchFamily="2" charset="-122"/>
                                      </a:rPr>
                                    </m:ctrlPr>
                                  </m:fPr>
                                  <m:num>
                                    <m:r>
                                      <a:rPr lang="en-US" altLang="zh-CN" sz="2000" i="1">
                                        <a:latin typeface="Cambria Math" panose="02040503050406030204" pitchFamily="18" charset="0"/>
                                        <a:ea typeface="宋体" panose="02010600030101010101" pitchFamily="2" charset="-122"/>
                                      </a:rPr>
                                      <m:t>38</m:t>
                                    </m:r>
                                  </m:num>
                                  <m:den>
                                    <m:r>
                                      <a:rPr lang="en-US" altLang="zh-CN" sz="2000" i="1">
                                        <a:latin typeface="Cambria Math" panose="02040503050406030204" pitchFamily="18" charset="0"/>
                                        <a:ea typeface="宋体" panose="02010600030101010101" pitchFamily="2" charset="-122"/>
                                      </a:rPr>
                                      <m:t>17</m:t>
                                    </m:r>
                                  </m:den>
                                </m:f>
                              </m:e>
                            </m:mr>
                          </m:m>
                        </m:e>
                      </m:d>
                      <m:r>
                        <a:rPr lang="en-US" altLang="zh-CN" sz="2000" i="1">
                          <a:latin typeface="Cambria Math" panose="02040503050406030204" pitchFamily="18" charset="0"/>
                          <a:ea typeface="宋体" panose="02010600030101010101" pitchFamily="2" charset="-122"/>
                        </a:rPr>
                        <m:t>+</m:t>
                      </m:r>
                      <m:d>
                        <m:dPr>
                          <m:begChr m:val="["/>
                          <m:endChr m:val="]"/>
                          <m:ctrlPr>
                            <a:rPr lang="en-US" altLang="zh-CN" sz="2000" i="1">
                              <a:latin typeface="Cambria Math" panose="02040503050406030204" pitchFamily="18" charset="0"/>
                              <a:ea typeface="宋体" panose="02010600030101010101" pitchFamily="2" charset="-122"/>
                            </a:rPr>
                          </m:ctrlPr>
                        </m:dPr>
                        <m:e>
                          <m:m>
                            <m:mPr>
                              <m:mcs>
                                <m:mc>
                                  <m:mcPr>
                                    <m:count m:val="1"/>
                                    <m:mcJc m:val="center"/>
                                  </m:mcPr>
                                </m:mc>
                              </m:mcs>
                              <m:ctrlPr>
                                <a:rPr lang="en-US" altLang="zh-CN" sz="2000" i="1">
                                  <a:latin typeface="Cambria Math" panose="02040503050406030204" pitchFamily="18" charset="0"/>
                                  <a:ea typeface="宋体" panose="02010600030101010101" pitchFamily="2" charset="-122"/>
                                </a:rPr>
                              </m:ctrlPr>
                            </m:mPr>
                            <m:mr>
                              <m:e>
                                <m:r>
                                  <m:rPr>
                                    <m:brk m:alnAt="7"/>
                                  </m:rPr>
                                  <a:rPr lang="en-US" altLang="zh-CN" sz="2000" i="1">
                                    <a:latin typeface="Cambria Math" panose="02040503050406030204" pitchFamily="18" charset="0"/>
                                    <a:ea typeface="宋体" panose="02010600030101010101" pitchFamily="2" charset="-122"/>
                                  </a:rPr>
                                  <m:t>−</m:t>
                                </m:r>
                                <m:r>
                                  <a:rPr lang="en-US" altLang="zh-CN" sz="2000" i="1">
                                    <a:latin typeface="Cambria Math" panose="02040503050406030204" pitchFamily="18" charset="0"/>
                                    <a:ea typeface="宋体" panose="02010600030101010101" pitchFamily="2" charset="-122"/>
                                  </a:rPr>
                                  <m:t>2</m:t>
                                </m:r>
                              </m:e>
                            </m:mr>
                            <m:mr>
                              <m:e>
                                <m:r>
                                  <a:rPr lang="en-US" altLang="zh-CN" sz="2000" i="1">
                                    <a:latin typeface="Cambria Math" panose="02040503050406030204" pitchFamily="18" charset="0"/>
                                    <a:ea typeface="宋体" panose="02010600030101010101" pitchFamily="2" charset="-122"/>
                                  </a:rPr>
                                  <m:t>0</m:t>
                                </m:r>
                              </m:e>
                            </m:mr>
                          </m:m>
                        </m:e>
                      </m:d>
                      <m:r>
                        <a:rPr lang="en-US" altLang="zh-CN" sz="2000" i="1">
                          <a:latin typeface="Cambria Math" panose="02040503050406030204" pitchFamily="18" charset="0"/>
                          <a:ea typeface="宋体" panose="02010600030101010101" pitchFamily="2" charset="-122"/>
                        </a:rPr>
                        <m:t>=</m:t>
                      </m:r>
                      <m:d>
                        <m:dPr>
                          <m:begChr m:val="["/>
                          <m:endChr m:val="]"/>
                          <m:ctrlPr>
                            <a:rPr lang="en-US" altLang="zh-CN" sz="2000" i="1">
                              <a:latin typeface="Cambria Math" panose="02040503050406030204" pitchFamily="18" charset="0"/>
                              <a:ea typeface="宋体" panose="02010600030101010101" pitchFamily="2" charset="-122"/>
                            </a:rPr>
                          </m:ctrlPr>
                        </m:dPr>
                        <m:e>
                          <m:m>
                            <m:mPr>
                              <m:mcs>
                                <m:mc>
                                  <m:mcPr>
                                    <m:count m:val="1"/>
                                    <m:mcJc m:val="center"/>
                                  </m:mcPr>
                                </m:mc>
                              </m:mcs>
                              <m:ctrlPr>
                                <a:rPr lang="en-US" altLang="zh-CN" sz="2000" i="1">
                                  <a:latin typeface="Cambria Math" panose="02040503050406030204" pitchFamily="18" charset="0"/>
                                  <a:ea typeface="宋体" panose="02010600030101010101" pitchFamily="2" charset="-122"/>
                                </a:rPr>
                              </m:ctrlPr>
                            </m:mPr>
                            <m:mr>
                              <m:e>
                                <m:f>
                                  <m:fPr>
                                    <m:ctrlPr>
                                      <a:rPr lang="en-US" altLang="zh-CN" sz="2000" i="1">
                                        <a:latin typeface="Cambria Math" panose="02040503050406030204" pitchFamily="18" charset="0"/>
                                        <a:ea typeface="宋体" panose="02010600030101010101" pitchFamily="2" charset="-122"/>
                                      </a:rPr>
                                    </m:ctrlPr>
                                  </m:fPr>
                                  <m:num>
                                    <m:r>
                                      <a:rPr lang="en-US" altLang="zh-CN" sz="2000" i="1">
                                        <a:latin typeface="Cambria Math" panose="02040503050406030204" pitchFamily="18" charset="0"/>
                                        <a:ea typeface="宋体" panose="02010600030101010101" pitchFamily="2" charset="-122"/>
                                      </a:rPr>
                                      <m:t>6</m:t>
                                    </m:r>
                                  </m:num>
                                  <m:den>
                                    <m:r>
                                      <a:rPr lang="en-US" altLang="zh-CN" sz="2000" i="1">
                                        <a:latin typeface="Cambria Math" panose="02040503050406030204" pitchFamily="18" charset="0"/>
                                        <a:ea typeface="宋体" panose="02010600030101010101" pitchFamily="2" charset="-122"/>
                                      </a:rPr>
                                      <m:t>17</m:t>
                                    </m:r>
                                  </m:den>
                                </m:f>
                              </m:e>
                            </m:mr>
                            <m:mr>
                              <m:e>
                                <m:f>
                                  <m:fPr>
                                    <m:ctrlPr>
                                      <a:rPr lang="en-US" altLang="zh-CN" sz="2000" i="1">
                                        <a:latin typeface="Cambria Math" panose="02040503050406030204" pitchFamily="18" charset="0"/>
                                        <a:ea typeface="宋体" panose="02010600030101010101" pitchFamily="2" charset="-122"/>
                                      </a:rPr>
                                    </m:ctrlPr>
                                  </m:fPr>
                                  <m:num>
                                    <m:r>
                                      <a:rPr lang="en-US" altLang="zh-CN" sz="2000" b="0" i="1" smtClean="0">
                                        <a:latin typeface="Cambria Math" panose="02040503050406030204" pitchFamily="18" charset="0"/>
                                        <a:ea typeface="宋体" panose="02010600030101010101" pitchFamily="2" charset="-122"/>
                                      </a:rPr>
                                      <m:t>12</m:t>
                                    </m:r>
                                  </m:num>
                                  <m:den>
                                    <m:r>
                                      <a:rPr lang="en-US" altLang="zh-CN" sz="2000" i="1">
                                        <a:latin typeface="Cambria Math" panose="02040503050406030204" pitchFamily="18" charset="0"/>
                                        <a:ea typeface="宋体" panose="02010600030101010101" pitchFamily="2" charset="-122"/>
                                      </a:rPr>
                                      <m:t>17</m:t>
                                    </m:r>
                                  </m:den>
                                </m:f>
                              </m:e>
                            </m:mr>
                          </m:m>
                        </m:e>
                      </m:d>
                    </m:oMath>
                  </m:oMathPara>
                </a14:m>
                <a:endParaRPr lang="en-US" altLang="zh-CN" sz="2000" dirty="0">
                  <a:latin typeface="宋体" panose="02010600030101010101" pitchFamily="2" charset="-122"/>
                  <a:ea typeface="宋体" panose="02010600030101010101" pitchFamily="2" charset="-122"/>
                </a:endParaRPr>
              </a:p>
              <a:p>
                <a:pPr indent="464400" algn="just">
                  <a:lnSpc>
                    <a:spcPct val="150000"/>
                  </a:lnSpc>
                </a:pPr>
                <a:r>
                  <a:rPr lang="zh-CN" altLang="en-US" sz="2000" dirty="0">
                    <a:latin typeface="宋体" panose="02010600030101010101" pitchFamily="2" charset="-122"/>
                    <a:ea typeface="宋体" panose="02010600030101010101" pitchFamily="2" charset="-122"/>
                  </a:rPr>
                  <a:t>计算</a:t>
                </a:r>
                <a14:m>
                  <m:oMath xmlns:m="http://schemas.openxmlformats.org/officeDocument/2006/math">
                    <m:sSub>
                      <m:sSubPr>
                        <m:ctrlPr>
                          <a:rPr lang="en-US" altLang="zh-CN" sz="2000" i="1" kern="100">
                            <a:latin typeface="Cambria Math" panose="02040503050406030204" pitchFamily="18" charset="0"/>
                            <a:ea typeface="Cambria Math" panose="02040503050406030204" pitchFamily="18" charset="0"/>
                          </a:rPr>
                        </m:ctrlPr>
                      </m:sSubPr>
                      <m:e>
                        <m:d>
                          <m:dPr>
                            <m:begChr m:val="‖"/>
                            <m:endChr m:val="‖"/>
                            <m:ctrlPr>
                              <a:rPr lang="zh-CN" altLang="zh-CN" sz="2000" i="1" kern="100">
                                <a:latin typeface="Cambria Math" panose="02040503050406030204" pitchFamily="18" charset="0"/>
                                <a:ea typeface="Cambria Math" panose="02040503050406030204" pitchFamily="18" charset="0"/>
                              </a:rPr>
                            </m:ctrlPr>
                          </m:dPr>
                          <m:e>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𝑔</m:t>
                                </m:r>
                              </m:e>
                              <m:sub>
                                <m:r>
                                  <a:rPr lang="en-US" altLang="zh-CN" sz="2000" b="0" i="1" kern="100" smtClean="0">
                                    <a:latin typeface="Cambria Math" panose="02040503050406030204" pitchFamily="18" charset="0"/>
                                    <a:ea typeface="宋体" panose="02010600030101010101" pitchFamily="2" charset="-122"/>
                                  </a:rPr>
                                  <m:t>2</m:t>
                                </m:r>
                              </m:sub>
                            </m:sSub>
                          </m:e>
                        </m:d>
                      </m:e>
                      <m:sub>
                        <m:r>
                          <a:rPr lang="en-US" altLang="zh-CN" sz="2000" i="1" kern="100">
                            <a:latin typeface="Cambria Math" panose="02040503050406030204" pitchFamily="18" charset="0"/>
                            <a:ea typeface="Cambria Math" panose="02040503050406030204" pitchFamily="18" charset="0"/>
                          </a:rPr>
                          <m:t>2</m:t>
                        </m:r>
                      </m:sub>
                    </m:sSub>
                    <m:r>
                      <a:rPr lang="en-US" altLang="zh-CN" sz="2000" i="1">
                        <a:latin typeface="Cambria Math" panose="02040503050406030204" pitchFamily="18" charset="0"/>
                        <a:ea typeface="Cambria Math" panose="02040503050406030204" pitchFamily="18" charset="0"/>
                      </a:rPr>
                      <m:t>≈0.789&gt;</m:t>
                    </m:r>
                    <m:r>
                      <a:rPr lang="zh-CN" altLang="en-US" sz="2000" i="1">
                        <a:latin typeface="Cambria Math" panose="02040503050406030204" pitchFamily="18" charset="0"/>
                        <a:ea typeface="Cambria Math" panose="02040503050406030204" pitchFamily="18" charset="0"/>
                      </a:rPr>
                      <m:t>𝜀</m:t>
                    </m:r>
                  </m:oMath>
                </a14:m>
                <a:r>
                  <a:rPr lang="zh-CN" altLang="en-US" sz="2000" dirty="0">
                    <a:latin typeface="宋体" panose="02010600030101010101" pitchFamily="2" charset="-122"/>
                    <a:ea typeface="Cambria Math" panose="02040503050406030204" pitchFamily="18" charset="0"/>
                  </a:rPr>
                  <a:t>，</a:t>
                </a:r>
                <a:r>
                  <a:rPr lang="zh-CN" altLang="en-US" sz="2000" dirty="0">
                    <a:latin typeface="宋体" panose="02010600030101010101" pitchFamily="2" charset="-122"/>
                    <a:ea typeface="宋体" panose="02010600030101010101" pitchFamily="2" charset="-122"/>
                  </a:rPr>
                  <a:t>不满足精度要求，需要迭代，计算</a:t>
                </a:r>
                <a14:m>
                  <m:oMath xmlns:m="http://schemas.openxmlformats.org/officeDocument/2006/math">
                    <m:sSub>
                      <m:sSubPr>
                        <m:ctrlPr>
                          <a:rPr lang="en-US" altLang="zh-CN" sz="2000" i="1">
                            <a:latin typeface="Cambria Math" panose="02040503050406030204" pitchFamily="18" charset="0"/>
                            <a:ea typeface="宋体" panose="02010600030101010101" pitchFamily="2" charset="-122"/>
                          </a:rPr>
                        </m:ctrlPr>
                      </m:sSubPr>
                      <m:e>
                        <m:r>
                          <a:rPr lang="zh-CN" altLang="en-US" sz="2000" i="1">
                            <a:latin typeface="Cambria Math" panose="02040503050406030204" pitchFamily="18" charset="0"/>
                            <a:ea typeface="宋体" panose="02010600030101010101" pitchFamily="2" charset="-122"/>
                          </a:rPr>
                          <m:t>𝛽</m:t>
                        </m:r>
                      </m:e>
                      <m:sub>
                        <m:r>
                          <a:rPr lang="en-US" altLang="zh-CN" sz="2000" i="1">
                            <a:latin typeface="Cambria Math" panose="02040503050406030204" pitchFamily="18" charset="0"/>
                            <a:ea typeface="宋体" panose="02010600030101010101" pitchFamily="2" charset="-122"/>
                          </a:rPr>
                          <m:t>1</m:t>
                        </m:r>
                      </m:sub>
                    </m:sSub>
                    <m:r>
                      <a:rPr lang="zh-CN" altLang="en-US" sz="2000" i="1">
                        <a:latin typeface="Cambria Math" panose="02040503050406030204" pitchFamily="18" charset="0"/>
                        <a:ea typeface="宋体" panose="02010600030101010101" pitchFamily="2" charset="-122"/>
                      </a:rPr>
                      <m:t>：</m:t>
                    </m:r>
                  </m:oMath>
                </a14:m>
                <a:endParaRPr lang="en-US" altLang="zh-CN" sz="2000" dirty="0">
                  <a:latin typeface="宋体" panose="02010600030101010101" pitchFamily="2" charset="-122"/>
                  <a:ea typeface="宋体" panose="02010600030101010101" pitchFamily="2" charset="-122"/>
                </a:endParaRPr>
              </a:p>
              <a:p>
                <a:pPr indent="464400" algn="just"/>
                <a14:m>
                  <m:oMathPara xmlns:m="http://schemas.openxmlformats.org/officeDocument/2006/math">
                    <m:oMathParaPr>
                      <m:jc m:val="centerGroup"/>
                    </m:oMathParaPr>
                    <m:oMath xmlns:m="http://schemas.openxmlformats.org/officeDocument/2006/math">
                      <m:sSub>
                        <m:sSubPr>
                          <m:ctrlPr>
                            <a:rPr lang="en-US" altLang="zh-CN" sz="2000" i="1">
                              <a:latin typeface="Cambria Math" panose="02040503050406030204" pitchFamily="18" charset="0"/>
                              <a:ea typeface="宋体" panose="02010600030101010101" pitchFamily="2" charset="-122"/>
                            </a:rPr>
                          </m:ctrlPr>
                        </m:sSubPr>
                        <m:e>
                          <m:r>
                            <a:rPr lang="zh-CN" altLang="en-US" sz="2000" i="1">
                              <a:latin typeface="Cambria Math" panose="02040503050406030204" pitchFamily="18" charset="0"/>
                              <a:ea typeface="宋体" panose="02010600030101010101" pitchFamily="2" charset="-122"/>
                            </a:rPr>
                            <m:t>𝛽</m:t>
                          </m:r>
                        </m:e>
                        <m:sub>
                          <m:r>
                            <a:rPr lang="en-US" altLang="zh-CN" sz="2000" i="1">
                              <a:latin typeface="Cambria Math" panose="02040503050406030204" pitchFamily="18" charset="0"/>
                              <a:ea typeface="宋体" panose="02010600030101010101" pitchFamily="2" charset="-122"/>
                            </a:rPr>
                            <m:t>1</m:t>
                          </m:r>
                        </m:sub>
                      </m:sSub>
                      <m:r>
                        <a:rPr lang="en-US" altLang="zh-CN" sz="2000" i="1">
                          <a:latin typeface="Cambria Math" panose="02040503050406030204" pitchFamily="18" charset="0"/>
                          <a:ea typeface="宋体" panose="02010600030101010101" pitchFamily="2" charset="-122"/>
                        </a:rPr>
                        <m:t>=</m:t>
                      </m:r>
                      <m:f>
                        <m:fPr>
                          <m:ctrlPr>
                            <a:rPr lang="en-US" altLang="zh-CN" sz="2000" i="1">
                              <a:latin typeface="Cambria Math" panose="02040503050406030204" pitchFamily="18" charset="0"/>
                              <a:ea typeface="宋体" panose="02010600030101010101" pitchFamily="2" charset="-122"/>
                            </a:rPr>
                          </m:ctrlPr>
                        </m:fPr>
                        <m:num>
                          <m:sSup>
                            <m:sSupPr>
                              <m:ctrlPr>
                                <a:rPr lang="en-US" altLang="zh-CN" sz="2000" i="1">
                                  <a:latin typeface="Cambria Math" panose="02040503050406030204" pitchFamily="18" charset="0"/>
                                  <a:ea typeface="宋体" panose="02010600030101010101" pitchFamily="2" charset="-122"/>
                                </a:rPr>
                              </m:ctrlPr>
                            </m:sSupPr>
                            <m:e>
                              <m:d>
                                <m:dPr>
                                  <m:begChr m:val="|"/>
                                  <m:endChr m:val="|"/>
                                  <m:ctrlPr>
                                    <a:rPr lang="en-US" altLang="zh-CN" sz="2000" i="1">
                                      <a:latin typeface="Cambria Math" panose="02040503050406030204" pitchFamily="18" charset="0"/>
                                      <a:ea typeface="宋体" panose="02010600030101010101" pitchFamily="2" charset="-122"/>
                                    </a:rPr>
                                  </m:ctrlPr>
                                </m:dPr>
                                <m:e>
                                  <m:r>
                                    <a:rPr lang="en-US" altLang="zh-CN" sz="2000" i="1">
                                      <a:latin typeface="Cambria Math" panose="02040503050406030204" pitchFamily="18" charset="0"/>
                                      <a:ea typeface="宋体" panose="02010600030101010101" pitchFamily="2" charset="-122"/>
                                    </a:rPr>
                                    <m:t>|</m:t>
                                  </m:r>
                                  <m:sSub>
                                    <m:sSubPr>
                                      <m:ctrlPr>
                                        <a:rPr lang="en-US" altLang="zh-CN" sz="2000" i="1">
                                          <a:latin typeface="Cambria Math" panose="02040503050406030204" pitchFamily="18" charset="0"/>
                                          <a:ea typeface="宋体" panose="02010600030101010101" pitchFamily="2" charset="-122"/>
                                        </a:rPr>
                                      </m:ctrlPr>
                                    </m:sSubPr>
                                    <m:e>
                                      <m:r>
                                        <a:rPr lang="en-US" altLang="zh-CN" sz="2000" i="1">
                                          <a:latin typeface="Cambria Math" panose="02040503050406030204" pitchFamily="18" charset="0"/>
                                          <a:ea typeface="宋体" panose="02010600030101010101" pitchFamily="2" charset="-122"/>
                                        </a:rPr>
                                        <m:t>𝑔</m:t>
                                      </m:r>
                                    </m:e>
                                    <m:sub>
                                      <m:r>
                                        <a:rPr lang="en-US" altLang="zh-CN" sz="2000" i="1">
                                          <a:latin typeface="Cambria Math" panose="02040503050406030204" pitchFamily="18" charset="0"/>
                                          <a:ea typeface="宋体" panose="02010600030101010101" pitchFamily="2" charset="-122"/>
                                        </a:rPr>
                                        <m:t>2</m:t>
                                      </m:r>
                                    </m:sub>
                                  </m:sSub>
                                  <m:r>
                                    <a:rPr lang="en-US" altLang="zh-CN" sz="2000" i="1">
                                      <a:latin typeface="Cambria Math" panose="02040503050406030204" pitchFamily="18" charset="0"/>
                                      <a:ea typeface="宋体" panose="02010600030101010101" pitchFamily="2" charset="-122"/>
                                    </a:rPr>
                                    <m:t>|</m:t>
                                  </m:r>
                                </m:e>
                              </m:d>
                            </m:e>
                            <m:sup>
                              <m:r>
                                <a:rPr lang="en-US" altLang="zh-CN" sz="2000" i="1">
                                  <a:latin typeface="Cambria Math" panose="02040503050406030204" pitchFamily="18" charset="0"/>
                                  <a:ea typeface="宋体" panose="02010600030101010101" pitchFamily="2" charset="-122"/>
                                </a:rPr>
                                <m:t>2</m:t>
                              </m:r>
                            </m:sup>
                          </m:sSup>
                        </m:num>
                        <m:den>
                          <m:sSup>
                            <m:sSupPr>
                              <m:ctrlPr>
                                <a:rPr lang="en-US" altLang="zh-CN" sz="2000" i="1">
                                  <a:latin typeface="Cambria Math" panose="02040503050406030204" pitchFamily="18" charset="0"/>
                                  <a:ea typeface="宋体" panose="02010600030101010101" pitchFamily="2" charset="-122"/>
                                </a:rPr>
                              </m:ctrlPr>
                            </m:sSupPr>
                            <m:e>
                              <m:d>
                                <m:dPr>
                                  <m:begChr m:val="|"/>
                                  <m:endChr m:val="|"/>
                                  <m:ctrlPr>
                                    <a:rPr lang="en-US" altLang="zh-CN" sz="2000" i="1">
                                      <a:latin typeface="Cambria Math" panose="02040503050406030204" pitchFamily="18" charset="0"/>
                                      <a:ea typeface="宋体" panose="02010600030101010101" pitchFamily="2" charset="-122"/>
                                    </a:rPr>
                                  </m:ctrlPr>
                                </m:dPr>
                                <m:e>
                                  <m:r>
                                    <a:rPr lang="en-US" altLang="zh-CN" sz="2000" i="1">
                                      <a:latin typeface="Cambria Math" panose="02040503050406030204" pitchFamily="18" charset="0"/>
                                      <a:ea typeface="宋体" panose="02010600030101010101" pitchFamily="2" charset="-122"/>
                                    </a:rPr>
                                    <m:t>|</m:t>
                                  </m:r>
                                  <m:sSub>
                                    <m:sSubPr>
                                      <m:ctrlPr>
                                        <a:rPr lang="en-US" altLang="zh-CN" sz="2000" i="1">
                                          <a:latin typeface="Cambria Math" panose="02040503050406030204" pitchFamily="18" charset="0"/>
                                          <a:ea typeface="宋体" panose="02010600030101010101" pitchFamily="2" charset="-122"/>
                                        </a:rPr>
                                      </m:ctrlPr>
                                    </m:sSubPr>
                                    <m:e>
                                      <m:r>
                                        <a:rPr lang="en-US" altLang="zh-CN" sz="2000" i="1">
                                          <a:latin typeface="Cambria Math" panose="02040503050406030204" pitchFamily="18" charset="0"/>
                                          <a:ea typeface="宋体" panose="02010600030101010101" pitchFamily="2" charset="-122"/>
                                        </a:rPr>
                                        <m:t>𝑔</m:t>
                                      </m:r>
                                    </m:e>
                                    <m:sub>
                                      <m:r>
                                        <a:rPr lang="en-US" altLang="zh-CN" sz="2000" i="1">
                                          <a:latin typeface="Cambria Math" panose="02040503050406030204" pitchFamily="18" charset="0"/>
                                          <a:ea typeface="宋体" panose="02010600030101010101" pitchFamily="2" charset="-122"/>
                                        </a:rPr>
                                        <m:t>1</m:t>
                                      </m:r>
                                    </m:sub>
                                  </m:sSub>
                                  <m:r>
                                    <a:rPr lang="en-US" altLang="zh-CN" sz="2000" i="1">
                                      <a:latin typeface="Cambria Math" panose="02040503050406030204" pitchFamily="18" charset="0"/>
                                      <a:ea typeface="宋体" panose="02010600030101010101" pitchFamily="2" charset="-122"/>
                                    </a:rPr>
                                    <m:t>|</m:t>
                                  </m:r>
                                </m:e>
                              </m:d>
                            </m:e>
                            <m:sup>
                              <m:r>
                                <a:rPr lang="en-US" altLang="zh-CN" sz="2000" i="1">
                                  <a:latin typeface="Cambria Math" panose="02040503050406030204" pitchFamily="18" charset="0"/>
                                  <a:ea typeface="宋体" panose="02010600030101010101" pitchFamily="2" charset="-122"/>
                                </a:rPr>
                                <m:t>2</m:t>
                              </m:r>
                            </m:sup>
                          </m:sSup>
                        </m:den>
                      </m:f>
                      <m:r>
                        <a:rPr lang="en-US" altLang="zh-CN" sz="2000" i="1">
                          <a:latin typeface="Cambria Math" panose="02040503050406030204" pitchFamily="18" charset="0"/>
                          <a:ea typeface="宋体" panose="02010600030101010101" pitchFamily="2" charset="-122"/>
                        </a:rPr>
                        <m:t>=</m:t>
                      </m:r>
                      <m:f>
                        <m:fPr>
                          <m:ctrlPr>
                            <a:rPr lang="en-US" altLang="zh-CN" sz="2000" i="1">
                              <a:latin typeface="Cambria Math" panose="02040503050406030204" pitchFamily="18" charset="0"/>
                              <a:ea typeface="宋体" panose="02010600030101010101" pitchFamily="2" charset="-122"/>
                            </a:rPr>
                          </m:ctrlPr>
                        </m:fPr>
                        <m:num>
                          <m:r>
                            <a:rPr lang="en-US" altLang="zh-CN" sz="2000" i="1">
                              <a:latin typeface="Cambria Math" panose="02040503050406030204" pitchFamily="18" charset="0"/>
                              <a:ea typeface="宋体" panose="02010600030101010101" pitchFamily="2" charset="-122"/>
                            </a:rPr>
                            <m:t>1</m:t>
                          </m:r>
                        </m:num>
                        <m:den>
                          <m:r>
                            <a:rPr lang="en-US" altLang="zh-CN" sz="2000" i="1">
                              <a:latin typeface="Cambria Math" panose="02040503050406030204" pitchFamily="18" charset="0"/>
                              <a:ea typeface="宋体" panose="02010600030101010101" pitchFamily="2" charset="-122"/>
                            </a:rPr>
                            <m:t>289</m:t>
                          </m:r>
                        </m:den>
                      </m:f>
                      <m:r>
                        <a:rPr lang="en-US" altLang="zh-CN" sz="2000" i="1">
                          <a:latin typeface="Cambria Math" panose="02040503050406030204" pitchFamily="18" charset="0"/>
                          <a:ea typeface="Cambria Math" panose="02040503050406030204" pitchFamily="18" charset="0"/>
                        </a:rPr>
                        <m:t>≈0.00346</m:t>
                      </m:r>
                    </m:oMath>
                  </m:oMathPara>
                </a14:m>
                <a:endParaRPr lang="en-US" altLang="zh-CN" sz="2000" dirty="0">
                  <a:latin typeface="宋体" panose="02010600030101010101" pitchFamily="2" charset="-122"/>
                  <a:ea typeface="Cambria Math" panose="02040503050406030204" pitchFamily="18" charset="0"/>
                </a:endParaRPr>
              </a:p>
              <a:p>
                <a:pPr indent="464400" algn="just"/>
                <a:r>
                  <a:rPr lang="zh-CN" altLang="en-US" sz="2000" dirty="0">
                    <a:latin typeface="宋体" panose="02010600030101010101" pitchFamily="2" charset="-122"/>
                    <a:ea typeface="宋体" panose="02010600030101010101" pitchFamily="2" charset="-122"/>
                  </a:rPr>
                  <a:t>故有</a:t>
                </a:r>
                <a:endParaRPr lang="en-US" altLang="zh-CN" sz="2000" dirty="0">
                  <a:latin typeface="宋体" panose="02010600030101010101" pitchFamily="2" charset="-122"/>
                  <a:ea typeface="宋体" panose="02010600030101010101" pitchFamily="2" charset="-122"/>
                </a:endParaRPr>
              </a:p>
              <a:p>
                <a:pPr indent="464400" algn="just"/>
                <a14:m>
                  <m:oMathPara xmlns:m="http://schemas.openxmlformats.org/officeDocument/2006/math">
                    <m:oMathParaPr>
                      <m:jc m:val="centerGroup"/>
                    </m:oMathParaPr>
                    <m:oMath xmlns:m="http://schemas.openxmlformats.org/officeDocument/2006/math">
                      <m:sSup>
                        <m:sSupPr>
                          <m:ctrlPr>
                            <a:rPr lang="en-US" altLang="zh-CN" sz="2000" i="1">
                              <a:latin typeface="Cambria Math" panose="02040503050406030204" pitchFamily="18" charset="0"/>
                              <a:ea typeface="宋体" panose="02010600030101010101" pitchFamily="2" charset="-122"/>
                            </a:rPr>
                          </m:ctrlPr>
                        </m:sSupPr>
                        <m:e>
                          <m:r>
                            <a:rPr lang="en-US" altLang="zh-CN" sz="2000" i="1">
                              <a:latin typeface="Cambria Math" panose="02040503050406030204" pitchFamily="18" charset="0"/>
                              <a:ea typeface="宋体" panose="02010600030101010101" pitchFamily="2" charset="-122"/>
                            </a:rPr>
                            <m:t>𝑑</m:t>
                          </m:r>
                        </m:e>
                        <m:sup>
                          <m:r>
                            <a:rPr lang="en-US" altLang="zh-CN" sz="2000" i="1">
                              <a:latin typeface="Cambria Math" panose="02040503050406030204" pitchFamily="18" charset="0"/>
                              <a:ea typeface="宋体" panose="02010600030101010101" pitchFamily="2" charset="-122"/>
                            </a:rPr>
                            <m:t>(2)</m:t>
                          </m:r>
                        </m:sup>
                      </m:sSup>
                      <m:r>
                        <a:rPr lang="en-US" altLang="zh-CN" sz="2000" i="1">
                          <a:latin typeface="Cambria Math" panose="02040503050406030204" pitchFamily="18" charset="0"/>
                          <a:ea typeface="宋体" panose="02010600030101010101" pitchFamily="2" charset="-122"/>
                        </a:rPr>
                        <m:t>=−</m:t>
                      </m:r>
                      <m:sSub>
                        <m:sSubPr>
                          <m:ctrlPr>
                            <a:rPr lang="en-US" altLang="zh-CN" sz="2000" i="1">
                              <a:latin typeface="Cambria Math" panose="02040503050406030204" pitchFamily="18" charset="0"/>
                              <a:ea typeface="宋体" panose="02010600030101010101" pitchFamily="2" charset="-122"/>
                            </a:rPr>
                          </m:ctrlPr>
                        </m:sSubPr>
                        <m:e>
                          <m:r>
                            <a:rPr lang="en-US" altLang="zh-CN" sz="2000" i="1">
                              <a:latin typeface="Cambria Math" panose="02040503050406030204" pitchFamily="18" charset="0"/>
                              <a:ea typeface="宋体" panose="02010600030101010101" pitchFamily="2" charset="-122"/>
                            </a:rPr>
                            <m:t>𝑔</m:t>
                          </m:r>
                        </m:e>
                        <m:sub>
                          <m:r>
                            <a:rPr lang="en-US" altLang="zh-CN" sz="2000" b="0" i="1" smtClean="0">
                              <a:latin typeface="Cambria Math" panose="02040503050406030204" pitchFamily="18" charset="0"/>
                              <a:ea typeface="宋体" panose="02010600030101010101" pitchFamily="2" charset="-122"/>
                            </a:rPr>
                            <m:t>2</m:t>
                          </m:r>
                        </m:sub>
                      </m:sSub>
                      <m:r>
                        <a:rPr lang="en-US" altLang="zh-CN" sz="2000" i="1">
                          <a:latin typeface="Cambria Math" panose="02040503050406030204" pitchFamily="18" charset="0"/>
                          <a:ea typeface="宋体" panose="02010600030101010101" pitchFamily="2" charset="-122"/>
                        </a:rPr>
                        <m:t>+</m:t>
                      </m:r>
                      <m:sSub>
                        <m:sSubPr>
                          <m:ctrlPr>
                            <a:rPr lang="en-US" altLang="zh-CN" sz="2000" i="1">
                              <a:latin typeface="Cambria Math" panose="02040503050406030204" pitchFamily="18" charset="0"/>
                              <a:ea typeface="宋体" panose="02010600030101010101" pitchFamily="2" charset="-122"/>
                            </a:rPr>
                          </m:ctrlPr>
                        </m:sSubPr>
                        <m:e>
                          <m:r>
                            <a:rPr lang="zh-CN" altLang="en-US" sz="2000" i="1">
                              <a:latin typeface="Cambria Math" panose="02040503050406030204" pitchFamily="18" charset="0"/>
                              <a:ea typeface="宋体" panose="02010600030101010101" pitchFamily="2" charset="-122"/>
                            </a:rPr>
                            <m:t>𝛽</m:t>
                          </m:r>
                        </m:e>
                        <m:sub>
                          <m:r>
                            <a:rPr lang="en-US" altLang="zh-CN" sz="2000" i="1">
                              <a:latin typeface="Cambria Math" panose="02040503050406030204" pitchFamily="18" charset="0"/>
                              <a:ea typeface="宋体" panose="02010600030101010101" pitchFamily="2" charset="-122"/>
                            </a:rPr>
                            <m:t>1</m:t>
                          </m:r>
                        </m:sub>
                      </m:sSub>
                      <m:sSup>
                        <m:sSupPr>
                          <m:ctrlPr>
                            <a:rPr lang="en-US" altLang="zh-CN" sz="2000" i="1">
                              <a:latin typeface="Cambria Math" panose="02040503050406030204" pitchFamily="18" charset="0"/>
                              <a:ea typeface="宋体" panose="02010600030101010101" pitchFamily="2" charset="-122"/>
                            </a:rPr>
                          </m:ctrlPr>
                        </m:sSupPr>
                        <m:e>
                          <m:r>
                            <a:rPr lang="en-US" altLang="zh-CN" sz="2000" i="1">
                              <a:latin typeface="Cambria Math" panose="02040503050406030204" pitchFamily="18" charset="0"/>
                              <a:ea typeface="宋体" panose="02010600030101010101" pitchFamily="2" charset="-122"/>
                            </a:rPr>
                            <m:t>𝑑</m:t>
                          </m:r>
                        </m:e>
                        <m:sup>
                          <m:d>
                            <m:dPr>
                              <m:ctrlPr>
                                <a:rPr lang="en-US" altLang="zh-CN" sz="2000" i="1">
                                  <a:latin typeface="Cambria Math" panose="02040503050406030204" pitchFamily="18" charset="0"/>
                                  <a:ea typeface="宋体" panose="02010600030101010101" pitchFamily="2" charset="-122"/>
                                </a:rPr>
                              </m:ctrlPr>
                            </m:dPr>
                            <m:e>
                              <m:r>
                                <a:rPr lang="en-US" altLang="zh-CN" sz="2000" i="1">
                                  <a:latin typeface="Cambria Math" panose="02040503050406030204" pitchFamily="18" charset="0"/>
                                  <a:ea typeface="宋体" panose="02010600030101010101" pitchFamily="2" charset="-122"/>
                                </a:rPr>
                                <m:t>1</m:t>
                              </m:r>
                            </m:e>
                          </m:d>
                        </m:sup>
                      </m:sSup>
                      <m:r>
                        <a:rPr lang="en-US" altLang="zh-CN" sz="2000" i="1">
                          <a:latin typeface="Cambria Math" panose="02040503050406030204" pitchFamily="18" charset="0"/>
                          <a:ea typeface="宋体" panose="02010600030101010101" pitchFamily="2" charset="-122"/>
                        </a:rPr>
                        <m:t>=</m:t>
                      </m:r>
                      <m:sSup>
                        <m:sSupPr>
                          <m:ctrlPr>
                            <a:rPr lang="en-US" altLang="zh-CN" sz="2000" i="1">
                              <a:latin typeface="Cambria Math" panose="02040503050406030204" pitchFamily="18" charset="0"/>
                              <a:ea typeface="宋体" panose="02010600030101010101" pitchFamily="2" charset="-122"/>
                            </a:rPr>
                          </m:ctrlPr>
                        </m:sSupPr>
                        <m:e>
                          <m:d>
                            <m:dPr>
                              <m:ctrlPr>
                                <a:rPr lang="en-US" altLang="zh-CN" sz="2000" i="1">
                                  <a:latin typeface="Cambria Math" panose="02040503050406030204" pitchFamily="18" charset="0"/>
                                  <a:ea typeface="宋体" panose="02010600030101010101" pitchFamily="2" charset="-122"/>
                                </a:rPr>
                              </m:ctrlPr>
                            </m:dPr>
                            <m:e>
                              <m:r>
                                <a:rPr lang="en-US" altLang="zh-CN" sz="2000" i="1">
                                  <a:latin typeface="Cambria Math" panose="02040503050406030204" pitchFamily="18" charset="0"/>
                                  <a:ea typeface="宋体" panose="02010600030101010101" pitchFamily="2" charset="-122"/>
                                </a:rPr>
                                <m:t>−</m:t>
                              </m:r>
                              <m:f>
                                <m:fPr>
                                  <m:ctrlPr>
                                    <a:rPr lang="en-US" altLang="zh-CN" sz="2000" i="1">
                                      <a:latin typeface="Cambria Math" panose="02040503050406030204" pitchFamily="18" charset="0"/>
                                      <a:ea typeface="宋体" panose="02010600030101010101" pitchFamily="2" charset="-122"/>
                                    </a:rPr>
                                  </m:ctrlPr>
                                </m:fPr>
                                <m:num>
                                  <m:r>
                                    <a:rPr lang="en-US" altLang="zh-CN" sz="2000" i="1">
                                      <a:latin typeface="Cambria Math" panose="02040503050406030204" pitchFamily="18" charset="0"/>
                                      <a:ea typeface="宋体" panose="02010600030101010101" pitchFamily="2" charset="-122"/>
                                    </a:rPr>
                                    <m:t>90</m:t>
                                  </m:r>
                                </m:num>
                                <m:den>
                                  <m:r>
                                    <a:rPr lang="en-US" altLang="zh-CN" sz="2000" i="1">
                                      <a:latin typeface="Cambria Math" panose="02040503050406030204" pitchFamily="18" charset="0"/>
                                      <a:ea typeface="宋体" panose="02010600030101010101" pitchFamily="2" charset="-122"/>
                                    </a:rPr>
                                    <m:t>289</m:t>
                                  </m:r>
                                </m:den>
                              </m:f>
                              <m:r>
                                <a:rPr lang="en-US" altLang="zh-CN" sz="2000" i="1">
                                  <a:latin typeface="Cambria Math" panose="02040503050406030204" pitchFamily="18" charset="0"/>
                                  <a:ea typeface="宋体" panose="02010600030101010101" pitchFamily="2" charset="-122"/>
                                </a:rPr>
                                <m:t>,−</m:t>
                              </m:r>
                              <m:f>
                                <m:fPr>
                                  <m:ctrlPr>
                                    <a:rPr lang="en-US" altLang="zh-CN" sz="2000" i="1">
                                      <a:latin typeface="Cambria Math" panose="02040503050406030204" pitchFamily="18" charset="0"/>
                                      <a:ea typeface="宋体" panose="02010600030101010101" pitchFamily="2" charset="-122"/>
                                    </a:rPr>
                                  </m:ctrlPr>
                                </m:fPr>
                                <m:num>
                                  <m:r>
                                    <a:rPr lang="en-US" altLang="zh-CN" sz="2000" i="1">
                                      <a:latin typeface="Cambria Math" panose="02040503050406030204" pitchFamily="18" charset="0"/>
                                      <a:ea typeface="宋体" panose="02010600030101010101" pitchFamily="2" charset="-122"/>
                                    </a:rPr>
                                    <m:t>210</m:t>
                                  </m:r>
                                </m:num>
                                <m:den>
                                  <m:r>
                                    <a:rPr lang="en-US" altLang="zh-CN" sz="2000" i="1">
                                      <a:latin typeface="Cambria Math" panose="02040503050406030204" pitchFamily="18" charset="0"/>
                                      <a:ea typeface="宋体" panose="02010600030101010101" pitchFamily="2" charset="-122"/>
                                    </a:rPr>
                                    <m:t>289</m:t>
                                  </m:r>
                                </m:den>
                              </m:f>
                            </m:e>
                          </m:d>
                        </m:e>
                        <m:sup>
                          <m:r>
                            <a:rPr lang="en-US" altLang="zh-CN" sz="2000" i="1">
                              <a:latin typeface="Cambria Math" panose="02040503050406030204" pitchFamily="18" charset="0"/>
                              <a:ea typeface="宋体" panose="02010600030101010101" pitchFamily="2" charset="-122"/>
                            </a:rPr>
                            <m:t>𝑇</m:t>
                          </m:r>
                        </m:sup>
                      </m:sSup>
                      <m:r>
                        <a:rPr lang="en-US" altLang="zh-CN" sz="2000" i="1">
                          <a:latin typeface="Cambria Math" panose="02040503050406030204" pitchFamily="18" charset="0"/>
                          <a:ea typeface="Cambria Math" panose="02040503050406030204" pitchFamily="18" charset="0"/>
                        </a:rPr>
                        <m:t>≈</m:t>
                      </m:r>
                      <m:sSup>
                        <m:sSupPr>
                          <m:ctrlPr>
                            <a:rPr lang="en-US" altLang="zh-CN" sz="2000" i="1">
                              <a:latin typeface="Cambria Math" panose="02040503050406030204" pitchFamily="18" charset="0"/>
                              <a:ea typeface="Cambria Math" panose="02040503050406030204" pitchFamily="18" charset="0"/>
                            </a:rPr>
                          </m:ctrlPr>
                        </m:sSupPr>
                        <m:e>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−0.311,−0.727</m:t>
                              </m:r>
                            </m:e>
                          </m:d>
                        </m:e>
                        <m:sup>
                          <m:r>
                            <a:rPr lang="en-US" altLang="zh-CN" sz="2000" i="1">
                              <a:latin typeface="Cambria Math" panose="02040503050406030204" pitchFamily="18" charset="0"/>
                              <a:ea typeface="Cambria Math" panose="02040503050406030204" pitchFamily="18" charset="0"/>
                            </a:rPr>
                            <m:t>𝑇</m:t>
                          </m:r>
                        </m:sup>
                      </m:sSup>
                    </m:oMath>
                  </m:oMathPara>
                </a14:m>
                <a:endParaRPr lang="en-US" altLang="zh-CN" sz="2000" dirty="0">
                  <a:latin typeface="宋体" panose="02010600030101010101" pitchFamily="2" charset="-122"/>
                  <a:ea typeface="Cambria Math" panose="02040503050406030204" pitchFamily="18" charset="0"/>
                </a:endParaRPr>
              </a:p>
              <a:p>
                <a:pPr indent="464400" algn="just"/>
                <a:r>
                  <a:rPr lang="zh-CN" altLang="en-US" sz="2000" dirty="0">
                    <a:latin typeface="宋体" panose="02010600030101010101" pitchFamily="2" charset="-122"/>
                    <a:ea typeface="宋体" panose="02010600030101010101" pitchFamily="2" charset="-122"/>
                  </a:rPr>
                  <a:t>再求最优步长</a:t>
                </a:r>
                <a14:m>
                  <m:oMath xmlns:m="http://schemas.openxmlformats.org/officeDocument/2006/math">
                    <m:sSup>
                      <m:sSupPr>
                        <m:ctrlPr>
                          <a:rPr lang="zh-CN" altLang="zh-CN" sz="20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20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0" i="1" kern="10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2</m:t>
                        </m:r>
                        <m:r>
                          <a:rPr lang="en-US" altLang="zh-CN" sz="20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sup>
                    </m:sSup>
                    <m:r>
                      <a:rPr lang="zh-CN" altLang="en-US" sz="2000" i="1">
                        <a:latin typeface="Cambria Math" panose="02040503050406030204" pitchFamily="18" charset="0"/>
                        <a:ea typeface="宋体" panose="02010600030101010101" pitchFamily="2" charset="-122"/>
                      </a:rPr>
                      <m:t>：</m:t>
                    </m:r>
                  </m:oMath>
                </a14:m>
                <a:endParaRPr lang="en-US" altLang="zh-CN" sz="2000" dirty="0">
                  <a:latin typeface="宋体" panose="02010600030101010101" pitchFamily="2" charset="-122"/>
                  <a:ea typeface="宋体" panose="02010600030101010101" pitchFamily="2" charset="-122"/>
                </a:endParaRPr>
              </a:p>
              <a:p>
                <a:pPr indent="464400" algn="just"/>
                <a14:m>
                  <m:oMathPara xmlns:m="http://schemas.openxmlformats.org/officeDocument/2006/math">
                    <m:oMathParaPr>
                      <m:jc m:val="centerGroup"/>
                    </m:oMathParaPr>
                    <m:oMath xmlns:m="http://schemas.openxmlformats.org/officeDocument/2006/math">
                      <m:sSup>
                        <m:sSupPr>
                          <m:ctrlPr>
                            <a:rPr lang="zh-CN" altLang="zh-CN" sz="20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20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0" i="1" kern="10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2</m:t>
                          </m:r>
                          <m:r>
                            <a:rPr lang="en-US" altLang="zh-CN" sz="20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sup>
                      </m:sSup>
                      <m:r>
                        <a:rPr lang="en-US" altLang="zh-CN" sz="2000" i="1">
                          <a:latin typeface="Cambria Math" panose="02040503050406030204" pitchFamily="18" charset="0"/>
                          <a:ea typeface="宋体" panose="02010600030101010101" pitchFamily="2" charset="-122"/>
                        </a:rPr>
                        <m:t>=</m:t>
                      </m:r>
                      <m:f>
                        <m:fPr>
                          <m:ctrlPr>
                            <a:rPr lang="en-US" altLang="zh-CN" sz="2000" i="1">
                              <a:latin typeface="Cambria Math" panose="02040503050406030204" pitchFamily="18" charset="0"/>
                              <a:ea typeface="宋体" panose="02010600030101010101" pitchFamily="2" charset="-122"/>
                            </a:rPr>
                          </m:ctrlPr>
                        </m:fPr>
                        <m:num>
                          <m:r>
                            <a:rPr lang="en-US" altLang="zh-CN" sz="2000" i="1" kern="100">
                              <a:solidFill>
                                <a:srgbClr val="FF0000"/>
                              </a:solidFill>
                              <a:latin typeface="Cambria Math" panose="02040503050406030204" pitchFamily="18" charset="0"/>
                              <a:ea typeface="宋体" panose="02010600030101010101" pitchFamily="2" charset="-122"/>
                            </a:rPr>
                            <m:t>(</m:t>
                          </m:r>
                          <m:sSub>
                            <m:sSubPr>
                              <m:ctrlPr>
                                <a:rPr lang="zh-CN" altLang="zh-CN" sz="2000" i="1" kern="100">
                                  <a:solidFill>
                                    <a:srgbClr val="FF0000"/>
                                  </a:solidFill>
                                  <a:latin typeface="Cambria Math" panose="02040503050406030204" pitchFamily="18" charset="0"/>
                                  <a:ea typeface="Cambria Math" panose="02040503050406030204" pitchFamily="18" charset="0"/>
                                </a:rPr>
                              </m:ctrlPr>
                            </m:sSubPr>
                            <m:e>
                              <m:r>
                                <a:rPr lang="en-US" altLang="zh-CN" sz="2000" i="1" kern="100">
                                  <a:solidFill>
                                    <a:srgbClr val="FF0000"/>
                                  </a:solidFill>
                                  <a:latin typeface="Cambria Math" panose="02040503050406030204" pitchFamily="18" charset="0"/>
                                  <a:ea typeface="宋体" panose="02010600030101010101" pitchFamily="2" charset="-122"/>
                                </a:rPr>
                                <m:t>𝑔</m:t>
                              </m:r>
                            </m:e>
                            <m:sub>
                              <m:r>
                                <a:rPr lang="en-US" altLang="zh-CN" sz="2000" b="0" i="1" kern="100" smtClean="0">
                                  <a:solidFill>
                                    <a:srgbClr val="FF0000"/>
                                  </a:solidFill>
                                  <a:latin typeface="Cambria Math" panose="02040503050406030204" pitchFamily="18" charset="0"/>
                                  <a:ea typeface="宋体" panose="02010600030101010101" pitchFamily="2" charset="-122"/>
                                </a:rPr>
                                <m:t>2</m:t>
                              </m:r>
                            </m:sub>
                          </m:sSub>
                          <m:sSup>
                            <m:sSupPr>
                              <m:ctrlPr>
                                <a:rPr lang="zh-CN" altLang="zh-CN" sz="2000" i="1" kern="100">
                                  <a:solidFill>
                                    <a:srgbClr val="FF0000"/>
                                  </a:solidFill>
                                  <a:latin typeface="Cambria Math" panose="02040503050406030204" pitchFamily="18" charset="0"/>
                                  <a:ea typeface="Cambria Math" panose="02040503050406030204" pitchFamily="18" charset="0"/>
                                </a:rPr>
                              </m:ctrlPr>
                            </m:sSupPr>
                            <m:e>
                              <m:r>
                                <a:rPr lang="en-US" altLang="zh-CN" sz="2000" i="1" kern="100">
                                  <a:solidFill>
                                    <a:srgbClr val="FF0000"/>
                                  </a:solidFill>
                                  <a:latin typeface="Cambria Math" panose="02040503050406030204" pitchFamily="18" charset="0"/>
                                  <a:ea typeface="宋体" panose="02010600030101010101" pitchFamily="2" charset="-122"/>
                                </a:rPr>
                                <m:t>)</m:t>
                              </m:r>
                            </m:e>
                            <m:sup>
                              <m:r>
                                <a:rPr lang="en-US" altLang="zh-CN" sz="2000" i="1" kern="100">
                                  <a:solidFill>
                                    <a:srgbClr val="FF0000"/>
                                  </a:solidFill>
                                  <a:latin typeface="Cambria Math" panose="02040503050406030204" pitchFamily="18" charset="0"/>
                                  <a:ea typeface="宋体" panose="02010600030101010101" pitchFamily="2" charset="-122"/>
                                </a:rPr>
                                <m:t>𝑇</m:t>
                              </m:r>
                            </m:sup>
                          </m:sSup>
                          <m:sSub>
                            <m:sSubPr>
                              <m:ctrlPr>
                                <a:rPr lang="zh-CN" altLang="zh-CN" sz="2000" i="1" kern="100">
                                  <a:solidFill>
                                    <a:srgbClr val="FF0000"/>
                                  </a:solidFill>
                                  <a:latin typeface="Cambria Math" panose="02040503050406030204" pitchFamily="18" charset="0"/>
                                  <a:ea typeface="Cambria Math" panose="02040503050406030204" pitchFamily="18" charset="0"/>
                                </a:rPr>
                              </m:ctrlPr>
                            </m:sSubPr>
                            <m:e>
                              <m:r>
                                <a:rPr lang="en-US" altLang="zh-CN" sz="2000" i="1" kern="100">
                                  <a:solidFill>
                                    <a:srgbClr val="FF0000"/>
                                  </a:solidFill>
                                  <a:latin typeface="Cambria Math" panose="02040503050406030204" pitchFamily="18" charset="0"/>
                                  <a:ea typeface="宋体" panose="02010600030101010101" pitchFamily="2" charset="-122"/>
                                </a:rPr>
                                <m:t>𝑔</m:t>
                              </m:r>
                            </m:e>
                            <m:sub>
                              <m:r>
                                <a:rPr lang="en-US" altLang="zh-CN" sz="2000" b="0" i="1" kern="100" smtClean="0">
                                  <a:solidFill>
                                    <a:srgbClr val="FF0000"/>
                                  </a:solidFill>
                                  <a:latin typeface="Cambria Math" panose="02040503050406030204" pitchFamily="18" charset="0"/>
                                  <a:ea typeface="宋体" panose="02010600030101010101" pitchFamily="2" charset="-122"/>
                                </a:rPr>
                                <m:t>2</m:t>
                              </m:r>
                            </m:sub>
                          </m:sSub>
                        </m:num>
                        <m:den>
                          <m:sSup>
                            <m:sSupPr>
                              <m:ctrlPr>
                                <a:rPr lang="en-US" altLang="zh-CN" sz="2000" i="1">
                                  <a:latin typeface="Cambria Math" panose="02040503050406030204" pitchFamily="18" charset="0"/>
                                  <a:ea typeface="宋体" panose="02010600030101010101" pitchFamily="2" charset="-122"/>
                                </a:rPr>
                              </m:ctrlPr>
                            </m:sSupPr>
                            <m:e>
                              <m:d>
                                <m:dPr>
                                  <m:ctrlPr>
                                    <a:rPr lang="en-US" altLang="zh-CN" sz="2000" i="1">
                                      <a:latin typeface="Cambria Math" panose="02040503050406030204" pitchFamily="18" charset="0"/>
                                      <a:ea typeface="宋体" panose="02010600030101010101" pitchFamily="2" charset="-122"/>
                                    </a:rPr>
                                  </m:ctrlPr>
                                </m:dPr>
                                <m:e>
                                  <m:sSup>
                                    <m:sSupPr>
                                      <m:ctrlPr>
                                        <a:rPr lang="en-US" altLang="zh-CN" sz="2000" i="1">
                                          <a:latin typeface="Cambria Math" panose="02040503050406030204" pitchFamily="18" charset="0"/>
                                          <a:ea typeface="宋体" panose="02010600030101010101" pitchFamily="2" charset="-122"/>
                                        </a:rPr>
                                      </m:ctrlPr>
                                    </m:sSupPr>
                                    <m:e>
                                      <m:r>
                                        <a:rPr lang="en-US" altLang="zh-CN" sz="2000" i="1">
                                          <a:latin typeface="Cambria Math" panose="02040503050406030204" pitchFamily="18" charset="0"/>
                                          <a:ea typeface="宋体" panose="02010600030101010101" pitchFamily="2" charset="-122"/>
                                        </a:rPr>
                                        <m:t>𝑑</m:t>
                                      </m:r>
                                    </m:e>
                                    <m:sup>
                                      <m:d>
                                        <m:dPr>
                                          <m:ctrlPr>
                                            <a:rPr lang="en-US" altLang="zh-CN" sz="2000" i="1">
                                              <a:latin typeface="Cambria Math" panose="02040503050406030204" pitchFamily="18" charset="0"/>
                                              <a:ea typeface="宋体" panose="02010600030101010101" pitchFamily="2" charset="-122"/>
                                            </a:rPr>
                                          </m:ctrlPr>
                                        </m:dPr>
                                        <m:e>
                                          <m:r>
                                            <a:rPr lang="en-US" altLang="zh-CN" sz="2000" i="1">
                                              <a:latin typeface="Cambria Math" panose="02040503050406030204" pitchFamily="18" charset="0"/>
                                              <a:ea typeface="宋体" panose="02010600030101010101" pitchFamily="2" charset="-122"/>
                                            </a:rPr>
                                            <m:t>2</m:t>
                                          </m:r>
                                        </m:e>
                                      </m:d>
                                    </m:sup>
                                  </m:sSup>
                                </m:e>
                              </m:d>
                            </m:e>
                            <m:sup>
                              <m:r>
                                <a:rPr lang="en-US" altLang="zh-CN" sz="2000" i="1">
                                  <a:latin typeface="Cambria Math" panose="02040503050406030204" pitchFamily="18" charset="0"/>
                                  <a:ea typeface="宋体" panose="02010600030101010101" pitchFamily="2" charset="-122"/>
                                </a:rPr>
                                <m:t>𝑇</m:t>
                              </m:r>
                            </m:sup>
                          </m:sSup>
                          <m:r>
                            <a:rPr lang="en-US" altLang="zh-CN" sz="2000" i="1">
                              <a:latin typeface="Cambria Math" panose="02040503050406030204" pitchFamily="18" charset="0"/>
                              <a:ea typeface="宋体" panose="02010600030101010101" pitchFamily="2" charset="-122"/>
                            </a:rPr>
                            <m:t>𝐴</m:t>
                          </m:r>
                          <m:sSup>
                            <m:sSupPr>
                              <m:ctrlPr>
                                <a:rPr lang="en-US" altLang="zh-CN" sz="2000" i="1">
                                  <a:latin typeface="Cambria Math" panose="02040503050406030204" pitchFamily="18" charset="0"/>
                                  <a:ea typeface="宋体" panose="02010600030101010101" pitchFamily="2" charset="-122"/>
                                </a:rPr>
                              </m:ctrlPr>
                            </m:sSupPr>
                            <m:e>
                              <m:r>
                                <a:rPr lang="en-US" altLang="zh-CN" sz="2000" i="1">
                                  <a:latin typeface="Cambria Math" panose="02040503050406030204" pitchFamily="18" charset="0"/>
                                  <a:ea typeface="宋体" panose="02010600030101010101" pitchFamily="2" charset="-122"/>
                                </a:rPr>
                                <m:t>𝑑</m:t>
                              </m:r>
                            </m:e>
                            <m:sup>
                              <m:d>
                                <m:dPr>
                                  <m:ctrlPr>
                                    <a:rPr lang="en-US" altLang="zh-CN" sz="2000" i="1">
                                      <a:latin typeface="Cambria Math" panose="02040503050406030204" pitchFamily="18" charset="0"/>
                                      <a:ea typeface="宋体" panose="02010600030101010101" pitchFamily="2" charset="-122"/>
                                    </a:rPr>
                                  </m:ctrlPr>
                                </m:dPr>
                                <m:e>
                                  <m:r>
                                    <a:rPr lang="en-US" altLang="zh-CN" sz="2000" i="1">
                                      <a:latin typeface="Cambria Math" panose="02040503050406030204" pitchFamily="18" charset="0"/>
                                      <a:ea typeface="宋体" panose="02010600030101010101" pitchFamily="2" charset="-122"/>
                                    </a:rPr>
                                    <m:t>2</m:t>
                                  </m:r>
                                </m:e>
                              </m:d>
                            </m:sup>
                          </m:sSup>
                        </m:den>
                      </m:f>
                      <m:r>
                        <a:rPr lang="en-US" altLang="zh-CN" sz="2000" i="1">
                          <a:latin typeface="Cambria Math" panose="02040503050406030204" pitchFamily="18" charset="0"/>
                          <a:ea typeface="宋体" panose="02010600030101010101" pitchFamily="2" charset="-122"/>
                        </a:rPr>
                        <m:t>=</m:t>
                      </m:r>
                      <m:f>
                        <m:fPr>
                          <m:ctrlPr>
                            <a:rPr lang="en-US" altLang="zh-CN" sz="2000" i="1">
                              <a:latin typeface="Cambria Math" panose="02040503050406030204" pitchFamily="18" charset="0"/>
                              <a:ea typeface="宋体" panose="02010600030101010101" pitchFamily="2" charset="-122"/>
                            </a:rPr>
                          </m:ctrlPr>
                        </m:fPr>
                        <m:num>
                          <m:r>
                            <a:rPr lang="en-US" altLang="zh-CN" sz="2000" i="1">
                              <a:latin typeface="Cambria Math" panose="02040503050406030204" pitchFamily="18" charset="0"/>
                              <a:ea typeface="宋体" panose="02010600030101010101" pitchFamily="2" charset="-122"/>
                            </a:rPr>
                            <m:t>17</m:t>
                          </m:r>
                        </m:num>
                        <m:den>
                          <m:r>
                            <a:rPr lang="en-US" altLang="zh-CN" sz="2000" i="1">
                              <a:latin typeface="Cambria Math" panose="02040503050406030204" pitchFamily="18" charset="0"/>
                              <a:ea typeface="宋体" panose="02010600030101010101" pitchFamily="2" charset="-122"/>
                            </a:rPr>
                            <m:t>10</m:t>
                          </m:r>
                        </m:den>
                      </m:f>
                    </m:oMath>
                  </m:oMathPara>
                </a14:m>
                <a:endParaRPr lang="zh-CN" altLang="en-US" sz="2000" dirty="0">
                  <a:latin typeface="宋体" panose="02010600030101010101" pitchFamily="2" charset="-122"/>
                  <a:ea typeface="宋体" panose="02010600030101010101" pitchFamily="2" charset="-122"/>
                </a:endParaRPr>
              </a:p>
            </p:txBody>
          </p:sp>
        </mc:Choice>
        <mc:Fallback xmlns="">
          <p:sp>
            <p:nvSpPr>
              <p:cNvPr id="3" name="文本框 2">
                <a:extLst>
                  <a:ext uri="{FF2B5EF4-FFF2-40B4-BE49-F238E27FC236}">
                    <a16:creationId xmlns:a16="http://schemas.microsoft.com/office/drawing/2014/main" id="{18EC59AF-6764-FD42-BFBC-84685BD29D2A}"/>
                  </a:ext>
                </a:extLst>
              </p:cNvPr>
              <p:cNvSpPr txBox="1">
                <a:spLocks noRot="1" noChangeAspect="1" noMove="1" noResize="1" noEditPoints="1" noAdjustHandles="1" noChangeArrowheads="1" noChangeShapeType="1" noTextEdit="1"/>
              </p:cNvSpPr>
              <p:nvPr/>
            </p:nvSpPr>
            <p:spPr>
              <a:xfrm>
                <a:off x="76200" y="436322"/>
                <a:ext cx="8991600" cy="5985356"/>
              </a:xfrm>
              <a:prstGeom prst="rect">
                <a:avLst/>
              </a:prstGeom>
              <a:blipFill>
                <a:blip r:embed="rId2"/>
                <a:stretch>
                  <a:fillRect t="-61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D9E9018A-B156-5972-5EA7-968CF54D064C}"/>
                  </a:ext>
                </a:extLst>
              </p:cNvPr>
              <p:cNvSpPr txBox="1"/>
              <p:nvPr/>
            </p:nvSpPr>
            <p:spPr>
              <a:xfrm>
                <a:off x="5464206" y="169629"/>
                <a:ext cx="4572000" cy="71910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zh-CN" i="1" kern="100" smtClean="0">
                              <a:solidFill>
                                <a:srgbClr val="FF0000"/>
                              </a:solidFill>
                              <a:latin typeface="Cambria Math" panose="02040503050406030204" pitchFamily="18" charset="0"/>
                              <a:ea typeface="Cambria Math" panose="02040503050406030204" pitchFamily="18" charset="0"/>
                            </a:rPr>
                          </m:ctrlPr>
                        </m:sSubPr>
                        <m:e>
                          <m:r>
                            <a:rPr lang="en-US" altLang="zh-CN" i="1" kern="100">
                              <a:solidFill>
                                <a:srgbClr val="FF0000"/>
                              </a:solidFill>
                              <a:latin typeface="Cambria Math" panose="02040503050406030204" pitchFamily="18" charset="0"/>
                              <a:ea typeface="宋体" panose="02010600030101010101" pitchFamily="2" charset="-122"/>
                            </a:rPr>
                            <m:t>𝛽</m:t>
                          </m:r>
                        </m:e>
                        <m:sub>
                          <m:r>
                            <a:rPr lang="en-US" altLang="zh-CN" i="1" kern="100">
                              <a:solidFill>
                                <a:srgbClr val="FF0000"/>
                              </a:solidFill>
                              <a:latin typeface="Cambria Math" panose="02040503050406030204" pitchFamily="18" charset="0"/>
                              <a:ea typeface="宋体" panose="02010600030101010101" pitchFamily="2" charset="-122"/>
                            </a:rPr>
                            <m:t>𝑘</m:t>
                          </m:r>
                          <m:r>
                            <a:rPr lang="zh-CN" altLang="en-US" i="1" kern="100">
                              <a:solidFill>
                                <a:srgbClr val="FF0000"/>
                              </a:solidFill>
                              <a:latin typeface="Cambria Math" panose="02040503050406030204" pitchFamily="18" charset="0"/>
                              <a:ea typeface="微软雅黑" panose="020B0503020204020204" pitchFamily="34" charset="-122"/>
                              <a:cs typeface="微软雅黑" panose="020B0503020204020204" pitchFamily="34" charset="-122"/>
                            </a:rPr>
                            <m:t>−</m:t>
                          </m:r>
                          <m:r>
                            <a:rPr lang="en-US" altLang="zh-CN" i="1" kern="100">
                              <a:solidFill>
                                <a:srgbClr val="FF0000"/>
                              </a:solidFill>
                              <a:latin typeface="Cambria Math" panose="02040503050406030204" pitchFamily="18" charset="0"/>
                              <a:ea typeface="宋体" panose="02010600030101010101" pitchFamily="2" charset="-122"/>
                            </a:rPr>
                            <m:t>1</m:t>
                          </m:r>
                        </m:sub>
                      </m:sSub>
                      <m:r>
                        <a:rPr lang="en-US" altLang="zh-CN" i="1" kern="100">
                          <a:solidFill>
                            <a:srgbClr val="FF0000"/>
                          </a:solidFill>
                          <a:latin typeface="Cambria Math" panose="02040503050406030204" pitchFamily="18" charset="0"/>
                          <a:ea typeface="宋体" panose="02010600030101010101" pitchFamily="2" charset="-122"/>
                        </a:rPr>
                        <m:t>=</m:t>
                      </m:r>
                      <m:f>
                        <m:fPr>
                          <m:ctrlPr>
                            <a:rPr lang="zh-CN" altLang="zh-CN" i="1" kern="100">
                              <a:solidFill>
                                <a:srgbClr val="FF0000"/>
                              </a:solidFill>
                              <a:latin typeface="Cambria Math" panose="02040503050406030204" pitchFamily="18" charset="0"/>
                              <a:ea typeface="Cambria Math" panose="02040503050406030204" pitchFamily="18" charset="0"/>
                            </a:rPr>
                          </m:ctrlPr>
                        </m:fPr>
                        <m:num>
                          <m:sSubSup>
                            <m:sSubSupPr>
                              <m:ctrlPr>
                                <a:rPr lang="en-US" altLang="zh-CN" i="1" kern="100">
                                  <a:solidFill>
                                    <a:srgbClr val="FF0000"/>
                                  </a:solidFill>
                                  <a:latin typeface="Cambria Math" panose="02040503050406030204" pitchFamily="18" charset="0"/>
                                  <a:ea typeface="宋体" panose="02010600030101010101" pitchFamily="2" charset="-122"/>
                                </a:rPr>
                              </m:ctrlPr>
                            </m:sSubSupPr>
                            <m:e>
                              <m:d>
                                <m:dPr>
                                  <m:begChr m:val="‖"/>
                                  <m:endChr m:val="‖"/>
                                  <m:ctrlPr>
                                    <a:rPr lang="zh-CN" altLang="zh-CN" i="1" kern="100">
                                      <a:solidFill>
                                        <a:srgbClr val="FF0000"/>
                                      </a:solidFill>
                                      <a:latin typeface="Cambria Math" panose="02040503050406030204" pitchFamily="18" charset="0"/>
                                      <a:ea typeface="Cambria Math" panose="02040503050406030204" pitchFamily="18" charset="0"/>
                                    </a:rPr>
                                  </m:ctrlPr>
                                </m:dPr>
                                <m:e>
                                  <m:sSub>
                                    <m:sSubPr>
                                      <m:ctrlPr>
                                        <a:rPr lang="zh-CN" altLang="zh-CN" i="1" kern="100">
                                          <a:solidFill>
                                            <a:srgbClr val="FF0000"/>
                                          </a:solidFill>
                                          <a:latin typeface="Cambria Math" panose="02040503050406030204" pitchFamily="18" charset="0"/>
                                          <a:ea typeface="Cambria Math" panose="02040503050406030204" pitchFamily="18" charset="0"/>
                                        </a:rPr>
                                      </m:ctrlPr>
                                    </m:sSubPr>
                                    <m:e>
                                      <m:r>
                                        <a:rPr lang="en-US" altLang="zh-CN" i="1" kern="100">
                                          <a:solidFill>
                                            <a:srgbClr val="FF0000"/>
                                          </a:solidFill>
                                          <a:latin typeface="Cambria Math" panose="02040503050406030204" pitchFamily="18" charset="0"/>
                                          <a:ea typeface="宋体" panose="02010600030101010101" pitchFamily="2" charset="-122"/>
                                        </a:rPr>
                                        <m:t>𝑔</m:t>
                                      </m:r>
                                    </m:e>
                                    <m:sub>
                                      <m:r>
                                        <a:rPr lang="en-US" altLang="zh-CN" i="1" kern="100">
                                          <a:solidFill>
                                            <a:srgbClr val="FF0000"/>
                                          </a:solidFill>
                                          <a:latin typeface="Cambria Math" panose="02040503050406030204" pitchFamily="18" charset="0"/>
                                          <a:ea typeface="宋体" panose="02010600030101010101" pitchFamily="2" charset="-122"/>
                                        </a:rPr>
                                        <m:t>𝑘</m:t>
                                      </m:r>
                                    </m:sub>
                                  </m:sSub>
                                </m:e>
                              </m:d>
                            </m:e>
                            <m:sub>
                              <m:r>
                                <a:rPr lang="en-US" altLang="zh-CN" i="1" kern="100">
                                  <a:solidFill>
                                    <a:srgbClr val="FF0000"/>
                                  </a:solidFill>
                                  <a:latin typeface="Cambria Math" panose="02040503050406030204" pitchFamily="18" charset="0"/>
                                  <a:ea typeface="宋体" panose="02010600030101010101" pitchFamily="2" charset="-122"/>
                                </a:rPr>
                                <m:t>2</m:t>
                              </m:r>
                            </m:sub>
                            <m:sup>
                              <m:r>
                                <a:rPr lang="en-US" altLang="zh-CN" i="1" kern="100">
                                  <a:solidFill>
                                    <a:srgbClr val="FF0000"/>
                                  </a:solidFill>
                                  <a:latin typeface="Cambria Math" panose="02040503050406030204" pitchFamily="18" charset="0"/>
                                  <a:ea typeface="宋体" panose="02010600030101010101" pitchFamily="2" charset="-122"/>
                                </a:rPr>
                                <m:t>2</m:t>
                              </m:r>
                            </m:sup>
                          </m:sSubSup>
                        </m:num>
                        <m:den>
                          <m:sSubSup>
                            <m:sSubSupPr>
                              <m:ctrlPr>
                                <a:rPr lang="en-US" altLang="zh-CN" i="1" kern="100">
                                  <a:solidFill>
                                    <a:srgbClr val="FF0000"/>
                                  </a:solidFill>
                                  <a:latin typeface="Cambria Math" panose="02040503050406030204" pitchFamily="18" charset="0"/>
                                  <a:ea typeface="宋体" panose="02010600030101010101" pitchFamily="2" charset="-122"/>
                                </a:rPr>
                              </m:ctrlPr>
                            </m:sSubSupPr>
                            <m:e>
                              <m:d>
                                <m:dPr>
                                  <m:begChr m:val="‖"/>
                                  <m:endChr m:val="‖"/>
                                  <m:ctrlPr>
                                    <a:rPr lang="zh-CN" altLang="zh-CN" i="1" kern="100">
                                      <a:solidFill>
                                        <a:srgbClr val="FF0000"/>
                                      </a:solidFill>
                                      <a:latin typeface="Cambria Math" panose="02040503050406030204" pitchFamily="18" charset="0"/>
                                      <a:ea typeface="Cambria Math" panose="02040503050406030204" pitchFamily="18" charset="0"/>
                                    </a:rPr>
                                  </m:ctrlPr>
                                </m:dPr>
                                <m:e>
                                  <m:sSub>
                                    <m:sSubPr>
                                      <m:ctrlPr>
                                        <a:rPr lang="zh-CN" altLang="zh-CN" i="1" kern="100">
                                          <a:solidFill>
                                            <a:srgbClr val="FF0000"/>
                                          </a:solidFill>
                                          <a:latin typeface="Cambria Math" panose="02040503050406030204" pitchFamily="18" charset="0"/>
                                          <a:ea typeface="Cambria Math" panose="02040503050406030204" pitchFamily="18" charset="0"/>
                                        </a:rPr>
                                      </m:ctrlPr>
                                    </m:sSubPr>
                                    <m:e>
                                      <m:r>
                                        <a:rPr lang="en-US" altLang="zh-CN" i="1" kern="100">
                                          <a:solidFill>
                                            <a:srgbClr val="FF0000"/>
                                          </a:solidFill>
                                          <a:latin typeface="Cambria Math" panose="02040503050406030204" pitchFamily="18" charset="0"/>
                                          <a:ea typeface="宋体" panose="02010600030101010101" pitchFamily="2" charset="-122"/>
                                        </a:rPr>
                                        <m:t>𝑔</m:t>
                                      </m:r>
                                    </m:e>
                                    <m:sub>
                                      <m:r>
                                        <a:rPr lang="en-US" altLang="zh-CN" i="1" kern="100">
                                          <a:solidFill>
                                            <a:srgbClr val="FF0000"/>
                                          </a:solidFill>
                                          <a:latin typeface="Cambria Math" panose="02040503050406030204" pitchFamily="18" charset="0"/>
                                          <a:ea typeface="宋体" panose="02010600030101010101" pitchFamily="2" charset="-122"/>
                                        </a:rPr>
                                        <m:t>𝑘</m:t>
                                      </m:r>
                                      <m:r>
                                        <a:rPr lang="en-US" altLang="zh-CN" i="1" kern="100">
                                          <a:solidFill>
                                            <a:srgbClr val="FF0000"/>
                                          </a:solidFill>
                                          <a:latin typeface="Cambria Math" panose="02040503050406030204" pitchFamily="18" charset="0"/>
                                          <a:ea typeface="宋体" panose="02010600030101010101" pitchFamily="2" charset="-122"/>
                                        </a:rPr>
                                        <m:t>−1</m:t>
                                      </m:r>
                                    </m:sub>
                                  </m:sSub>
                                </m:e>
                              </m:d>
                            </m:e>
                            <m:sub>
                              <m:r>
                                <a:rPr lang="en-US" altLang="zh-CN" i="1" kern="100">
                                  <a:solidFill>
                                    <a:srgbClr val="FF0000"/>
                                  </a:solidFill>
                                  <a:latin typeface="Cambria Math" panose="02040503050406030204" pitchFamily="18" charset="0"/>
                                  <a:ea typeface="宋体" panose="02010600030101010101" pitchFamily="2" charset="-122"/>
                                </a:rPr>
                                <m:t>2</m:t>
                              </m:r>
                            </m:sub>
                            <m:sup>
                              <m:r>
                                <a:rPr lang="en-US" altLang="zh-CN" i="1" kern="100">
                                  <a:solidFill>
                                    <a:srgbClr val="FF0000"/>
                                  </a:solidFill>
                                  <a:latin typeface="Cambria Math" panose="02040503050406030204" pitchFamily="18" charset="0"/>
                                  <a:ea typeface="宋体" panose="02010600030101010101" pitchFamily="2" charset="-122"/>
                                </a:rPr>
                                <m:t>2</m:t>
                              </m:r>
                            </m:sup>
                          </m:sSubSup>
                        </m:den>
                      </m:f>
                    </m:oMath>
                  </m:oMathPara>
                </a14:m>
                <a:endParaRPr lang="zh-CN" altLang="en-US" dirty="0"/>
              </a:p>
            </p:txBody>
          </p:sp>
        </mc:Choice>
        <mc:Fallback xmlns="">
          <p:sp>
            <p:nvSpPr>
              <p:cNvPr id="4" name="文本框 3">
                <a:extLst>
                  <a:ext uri="{FF2B5EF4-FFF2-40B4-BE49-F238E27FC236}">
                    <a16:creationId xmlns:a16="http://schemas.microsoft.com/office/drawing/2014/main" id="{D9E9018A-B156-5972-5EA7-968CF54D064C}"/>
                  </a:ext>
                </a:extLst>
              </p:cNvPr>
              <p:cNvSpPr txBox="1">
                <a:spLocks noRot="1" noChangeAspect="1" noMove="1" noResize="1" noEditPoints="1" noAdjustHandles="1" noChangeArrowheads="1" noChangeShapeType="1" noTextEdit="1"/>
              </p:cNvSpPr>
              <p:nvPr/>
            </p:nvSpPr>
            <p:spPr>
              <a:xfrm>
                <a:off x="5464206" y="169629"/>
                <a:ext cx="4572000" cy="719108"/>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3391265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7F458191-E360-6C76-5210-B6A24D562561}"/>
                  </a:ext>
                </a:extLst>
              </p:cNvPr>
              <p:cNvSpPr txBox="1"/>
              <p:nvPr/>
            </p:nvSpPr>
            <p:spPr>
              <a:xfrm>
                <a:off x="303246" y="1459075"/>
                <a:ext cx="8873412" cy="2977803"/>
              </a:xfrm>
              <a:prstGeom prst="rect">
                <a:avLst/>
              </a:prstGeom>
              <a:noFill/>
            </p:spPr>
            <p:txBody>
              <a:bodyPr wrap="square" rtlCol="0">
                <a:spAutoFit/>
              </a:bodyPr>
              <a:lstStyle/>
              <a:p>
                <a:pPr indent="464400" algn="just">
                  <a:lnSpc>
                    <a:spcPct val="150000"/>
                  </a:lnSpc>
                </a:pPr>
                <a:r>
                  <a:rPr lang="zh-CN" altLang="en-US" sz="2000" dirty="0">
                    <a:latin typeface="宋体" panose="02010600030101010101" pitchFamily="2" charset="-122"/>
                    <a:ea typeface="宋体" panose="02010600030101010101" pitchFamily="2" charset="-122"/>
                  </a:rPr>
                  <a:t>故有</a:t>
                </a:r>
                <a:endParaRPr lang="en-US" altLang="zh-CN" sz="2000" dirty="0">
                  <a:latin typeface="宋体" panose="02010600030101010101" pitchFamily="2" charset="-122"/>
                  <a:ea typeface="宋体" panose="02010600030101010101" pitchFamily="2" charset="-122"/>
                </a:endParaRPr>
              </a:p>
              <a:p>
                <a:pPr indent="464400" algn="just"/>
                <a14:m>
                  <m:oMathPara xmlns:m="http://schemas.openxmlformats.org/officeDocument/2006/math">
                    <m:oMathParaPr>
                      <m:jc m:val="centerGroup"/>
                    </m:oMathParaPr>
                    <m:oMath xmlns:m="http://schemas.openxmlformats.org/officeDocument/2006/math">
                      <m:sSup>
                        <m:sSupPr>
                          <m:ctrlPr>
                            <a:rPr lang="en-US" altLang="zh-CN" sz="2000" i="1">
                              <a:latin typeface="Cambria Math" panose="02040503050406030204" pitchFamily="18" charset="0"/>
                              <a:ea typeface="宋体" panose="02010600030101010101" pitchFamily="2" charset="-122"/>
                            </a:rPr>
                          </m:ctrlPr>
                        </m:sSupPr>
                        <m:e>
                          <m:r>
                            <a:rPr lang="en-US" altLang="zh-CN" sz="2000" i="1">
                              <a:latin typeface="Cambria Math" panose="02040503050406030204" pitchFamily="18" charset="0"/>
                              <a:ea typeface="宋体" panose="02010600030101010101" pitchFamily="2" charset="-122"/>
                            </a:rPr>
                            <m:t>𝑥</m:t>
                          </m:r>
                        </m:e>
                        <m:sup>
                          <m:r>
                            <a:rPr lang="en-US" altLang="zh-CN" sz="2000" i="1">
                              <a:latin typeface="Cambria Math" panose="02040503050406030204" pitchFamily="18" charset="0"/>
                              <a:ea typeface="宋体" panose="02010600030101010101" pitchFamily="2" charset="-122"/>
                            </a:rPr>
                            <m:t>(3)</m:t>
                          </m:r>
                        </m:sup>
                      </m:sSup>
                      <m:r>
                        <a:rPr lang="en-US" altLang="zh-CN" sz="2000" i="1">
                          <a:latin typeface="Cambria Math" panose="02040503050406030204" pitchFamily="18" charset="0"/>
                          <a:ea typeface="宋体" panose="02010600030101010101" pitchFamily="2" charset="-122"/>
                        </a:rPr>
                        <m:t>=</m:t>
                      </m:r>
                      <m:sSup>
                        <m:sSupPr>
                          <m:ctrlPr>
                            <a:rPr lang="en-US" altLang="zh-CN" sz="2000" i="1">
                              <a:latin typeface="Cambria Math" panose="02040503050406030204" pitchFamily="18" charset="0"/>
                              <a:ea typeface="宋体" panose="02010600030101010101" pitchFamily="2" charset="-122"/>
                            </a:rPr>
                          </m:ctrlPr>
                        </m:sSupPr>
                        <m:e>
                          <m:r>
                            <a:rPr lang="en-US" altLang="zh-CN" sz="2000" i="1">
                              <a:latin typeface="Cambria Math" panose="02040503050406030204" pitchFamily="18" charset="0"/>
                              <a:ea typeface="宋体" panose="02010600030101010101" pitchFamily="2" charset="-122"/>
                            </a:rPr>
                            <m:t>𝑥</m:t>
                          </m:r>
                        </m:e>
                        <m:sup>
                          <m:r>
                            <a:rPr lang="en-US" altLang="zh-CN" sz="2000" i="1">
                              <a:latin typeface="Cambria Math" panose="02040503050406030204" pitchFamily="18" charset="0"/>
                              <a:ea typeface="宋体" panose="02010600030101010101" pitchFamily="2" charset="-122"/>
                            </a:rPr>
                            <m:t>(2)</m:t>
                          </m:r>
                        </m:sup>
                      </m:sSup>
                      <m:r>
                        <a:rPr lang="en-US" altLang="zh-CN" sz="2000" i="1">
                          <a:latin typeface="Cambria Math" panose="02040503050406030204" pitchFamily="18" charset="0"/>
                          <a:ea typeface="宋体" panose="02010600030101010101" pitchFamily="2" charset="-122"/>
                        </a:rPr>
                        <m:t>+</m:t>
                      </m:r>
                      <m:sSup>
                        <m:sSupPr>
                          <m:ctrlPr>
                            <a:rPr lang="zh-CN" altLang="zh-CN" sz="20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2000" i="1" kern="10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(2)</m:t>
                          </m:r>
                        </m:sup>
                      </m:sSup>
                      <m:sSup>
                        <m:sSupPr>
                          <m:ctrlPr>
                            <a:rPr lang="en-US" altLang="zh-CN" sz="2000" i="1">
                              <a:latin typeface="Cambria Math" panose="02040503050406030204" pitchFamily="18" charset="0"/>
                              <a:ea typeface="宋体" panose="02010600030101010101" pitchFamily="2" charset="-122"/>
                            </a:rPr>
                          </m:ctrlPr>
                        </m:sSupPr>
                        <m:e>
                          <m:r>
                            <a:rPr lang="en-US" altLang="zh-CN" sz="2000" i="1">
                              <a:latin typeface="Cambria Math" panose="02040503050406030204" pitchFamily="18" charset="0"/>
                              <a:ea typeface="宋体" panose="02010600030101010101" pitchFamily="2" charset="-122"/>
                            </a:rPr>
                            <m:t>𝑑</m:t>
                          </m:r>
                        </m:e>
                        <m:sup>
                          <m:r>
                            <a:rPr lang="en-US" altLang="zh-CN" sz="2000" i="1">
                              <a:latin typeface="Cambria Math" panose="02040503050406030204" pitchFamily="18" charset="0"/>
                              <a:ea typeface="宋体" panose="02010600030101010101" pitchFamily="2" charset="-122"/>
                            </a:rPr>
                            <m:t>(2)</m:t>
                          </m:r>
                        </m:sup>
                      </m:sSup>
                      <m:r>
                        <a:rPr lang="en-US" altLang="zh-CN" sz="2000" b="0" i="1" smtClean="0">
                          <a:latin typeface="Cambria Math" panose="02040503050406030204" pitchFamily="18" charset="0"/>
                          <a:ea typeface="宋体" panose="02010600030101010101" pitchFamily="2" charset="-122"/>
                        </a:rPr>
                        <m:t>=</m:t>
                      </m:r>
                      <m:d>
                        <m:dPr>
                          <m:begChr m:val="["/>
                          <m:endChr m:val="]"/>
                          <m:ctrlPr>
                            <a:rPr lang="en-US" altLang="zh-CN" sz="2000" i="1">
                              <a:latin typeface="Cambria Math" panose="02040503050406030204" pitchFamily="18" charset="0"/>
                              <a:ea typeface="宋体" panose="02010600030101010101" pitchFamily="2" charset="-122"/>
                            </a:rPr>
                          </m:ctrlPr>
                        </m:dPr>
                        <m:e>
                          <m:m>
                            <m:mPr>
                              <m:mcs>
                                <m:mc>
                                  <m:mcPr>
                                    <m:count m:val="1"/>
                                    <m:mcJc m:val="center"/>
                                  </m:mcPr>
                                </m:mc>
                              </m:mcs>
                              <m:ctrlPr>
                                <a:rPr lang="en-US" altLang="zh-CN" sz="2000" i="1">
                                  <a:latin typeface="Cambria Math" panose="02040503050406030204" pitchFamily="18" charset="0"/>
                                  <a:ea typeface="宋体" panose="02010600030101010101" pitchFamily="2" charset="-122"/>
                                </a:rPr>
                              </m:ctrlPr>
                            </m:mPr>
                            <m:mr>
                              <m:e>
                                <m:r>
                                  <m:rPr>
                                    <m:brk m:alnAt="7"/>
                                  </m:rPr>
                                  <a:rPr lang="en-US" altLang="zh-CN" sz="2000" i="1">
                                    <a:latin typeface="Cambria Math" panose="02040503050406030204" pitchFamily="18" charset="0"/>
                                    <a:ea typeface="宋体" panose="02010600030101010101" pitchFamily="2" charset="-122"/>
                                  </a:rPr>
                                  <m:t>1</m:t>
                                </m:r>
                              </m:e>
                            </m:mr>
                            <m:mr>
                              <m:e>
                                <m:r>
                                  <a:rPr lang="en-US" altLang="zh-CN" sz="2000" i="1">
                                    <a:latin typeface="Cambria Math" panose="02040503050406030204" pitchFamily="18" charset="0"/>
                                    <a:ea typeface="宋体" panose="02010600030101010101" pitchFamily="2" charset="-122"/>
                                  </a:rPr>
                                  <m:t>1</m:t>
                                </m:r>
                              </m:e>
                            </m:mr>
                          </m:m>
                        </m:e>
                      </m:d>
                    </m:oMath>
                  </m:oMathPara>
                </a14:m>
                <a:endParaRPr lang="en-US" altLang="zh-CN" sz="2000" dirty="0">
                  <a:latin typeface="宋体" panose="02010600030101010101" pitchFamily="2" charset="-122"/>
                  <a:ea typeface="宋体" panose="02010600030101010101" pitchFamily="2" charset="-122"/>
                </a:endParaRPr>
              </a:p>
              <a:p>
                <a:pPr indent="464400" algn="just">
                  <a:lnSpc>
                    <a:spcPct val="150000"/>
                  </a:lnSpc>
                </a:pPr>
                <a:r>
                  <a:rPr lang="zh-CN" altLang="en-US" sz="2000" dirty="0">
                    <a:latin typeface="宋体" panose="02010600030101010101" pitchFamily="2" charset="-122"/>
                    <a:ea typeface="宋体" panose="02010600030101010101" pitchFamily="2" charset="-122"/>
                  </a:rPr>
                  <a:t>计算</a:t>
                </a:r>
                <a14:m>
                  <m:oMath xmlns:m="http://schemas.openxmlformats.org/officeDocument/2006/math">
                    <m:d>
                      <m:dPr>
                        <m:begChr m:val="|"/>
                        <m:endChr m:val="|"/>
                        <m:ctrlPr>
                          <a:rPr lang="en-US" altLang="zh-CN" sz="2000" i="1">
                            <a:latin typeface="Cambria Math" panose="02040503050406030204" pitchFamily="18" charset="0"/>
                            <a:ea typeface="宋体" panose="02010600030101010101" pitchFamily="2" charset="-122"/>
                          </a:rPr>
                        </m:ctrlPr>
                      </m:dPr>
                      <m:e>
                        <m:r>
                          <a:rPr lang="en-US" altLang="zh-CN" sz="2000" i="1">
                            <a:latin typeface="Cambria Math" panose="02040503050406030204" pitchFamily="18" charset="0"/>
                            <a:ea typeface="宋体" panose="02010600030101010101" pitchFamily="2" charset="-122"/>
                          </a:rPr>
                          <m:t>|</m:t>
                        </m:r>
                        <m:r>
                          <m:rPr>
                            <m:sty m:val="p"/>
                          </m:rP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𝑓</m:t>
                        </m:r>
                        <m:r>
                          <a:rPr lang="en-US" altLang="zh-CN" sz="2000" i="1">
                            <a:latin typeface="Cambria Math" panose="02040503050406030204" pitchFamily="18" charset="0"/>
                            <a:ea typeface="Cambria Math" panose="02040503050406030204" pitchFamily="18" charset="0"/>
                          </a:rPr>
                          <m:t>(</m:t>
                        </m:r>
                        <m:sSup>
                          <m:sSupPr>
                            <m:ctrlPr>
                              <a:rPr lang="en-US" altLang="zh-CN" sz="2000" i="1">
                                <a:latin typeface="Cambria Math" panose="02040503050406030204" pitchFamily="18" charset="0"/>
                                <a:ea typeface="Cambria Math" panose="02040503050406030204" pitchFamily="18" charset="0"/>
                              </a:rPr>
                            </m:ctrlPr>
                          </m:sSupPr>
                          <m:e>
                            <m:r>
                              <a:rPr lang="en-US" altLang="zh-CN" sz="2000" i="1">
                                <a:latin typeface="Cambria Math" panose="02040503050406030204" pitchFamily="18" charset="0"/>
                                <a:ea typeface="Cambria Math" panose="02040503050406030204" pitchFamily="18" charset="0"/>
                              </a:rPr>
                              <m:t>𝑥</m:t>
                            </m:r>
                          </m:e>
                          <m:sup>
                            <m:r>
                              <a:rPr lang="en-US" altLang="zh-CN" sz="2000" i="1">
                                <a:latin typeface="Cambria Math" panose="02040503050406030204" pitchFamily="18" charset="0"/>
                                <a:ea typeface="Cambria Math" panose="02040503050406030204" pitchFamily="18" charset="0"/>
                              </a:rPr>
                              <m:t>(3)</m:t>
                            </m:r>
                          </m:sup>
                        </m:sSup>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宋体" panose="02010600030101010101" pitchFamily="2" charset="-122"/>
                          </a:rPr>
                          <m:t>|</m:t>
                        </m:r>
                      </m:e>
                    </m:d>
                    <m:r>
                      <a:rPr lang="en-US" altLang="zh-CN" sz="2000" i="1">
                        <a:latin typeface="Cambria Math" panose="02040503050406030204" pitchFamily="18" charset="0"/>
                        <a:ea typeface="宋体" panose="02010600030101010101" pitchFamily="2" charset="-122"/>
                      </a:rPr>
                      <m:t>=0</m:t>
                    </m:r>
                  </m:oMath>
                </a14:m>
                <a:endParaRPr lang="en-US" altLang="zh-CN" sz="2000" dirty="0">
                  <a:latin typeface="宋体" panose="02010600030101010101" pitchFamily="2" charset="-122"/>
                  <a:ea typeface="宋体" panose="02010600030101010101" pitchFamily="2" charset="-122"/>
                </a:endParaRPr>
              </a:p>
              <a:p>
                <a:pPr indent="464400" algn="just">
                  <a:lnSpc>
                    <a:spcPct val="150000"/>
                  </a:lnSpc>
                </a:pPr>
                <a:r>
                  <a:rPr lang="zh-CN" altLang="en-US" sz="2000" dirty="0">
                    <a:latin typeface="宋体" panose="02010600030101010101" pitchFamily="2" charset="-122"/>
                    <a:ea typeface="宋体" panose="02010600030101010101" pitchFamily="2" charset="-122"/>
                  </a:rPr>
                  <a:t>所以</a:t>
                </a:r>
                <a14:m>
                  <m:oMath xmlns:m="http://schemas.openxmlformats.org/officeDocument/2006/math">
                    <m:d>
                      <m:dPr>
                        <m:begChr m:val="|"/>
                        <m:endChr m:val="|"/>
                        <m:ctrlPr>
                          <a:rPr lang="en-US" altLang="zh-CN" sz="2000" i="1">
                            <a:latin typeface="Cambria Math" panose="02040503050406030204" pitchFamily="18" charset="0"/>
                            <a:ea typeface="宋体" panose="02010600030101010101" pitchFamily="2" charset="-122"/>
                          </a:rPr>
                        </m:ctrlPr>
                      </m:dPr>
                      <m:e>
                        <m:r>
                          <a:rPr lang="en-US" altLang="zh-CN" sz="2000" i="1">
                            <a:latin typeface="Cambria Math" panose="02040503050406030204" pitchFamily="18" charset="0"/>
                            <a:ea typeface="宋体" panose="02010600030101010101" pitchFamily="2" charset="-122"/>
                          </a:rPr>
                          <m:t>|</m:t>
                        </m:r>
                        <m:r>
                          <m:rPr>
                            <m:sty m:val="p"/>
                          </m:rP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𝑓</m:t>
                        </m:r>
                        <m:r>
                          <a:rPr lang="en-US" altLang="zh-CN" sz="2000" i="1">
                            <a:latin typeface="Cambria Math" panose="02040503050406030204" pitchFamily="18" charset="0"/>
                            <a:ea typeface="Cambria Math" panose="02040503050406030204" pitchFamily="18" charset="0"/>
                          </a:rPr>
                          <m:t>(</m:t>
                        </m:r>
                        <m:sSup>
                          <m:sSupPr>
                            <m:ctrlPr>
                              <a:rPr lang="en-US" altLang="zh-CN" sz="2000" i="1">
                                <a:latin typeface="Cambria Math" panose="02040503050406030204" pitchFamily="18" charset="0"/>
                                <a:ea typeface="Cambria Math" panose="02040503050406030204" pitchFamily="18" charset="0"/>
                              </a:rPr>
                            </m:ctrlPr>
                          </m:sSupPr>
                          <m:e>
                            <m:r>
                              <a:rPr lang="en-US" altLang="zh-CN" sz="2000" i="1">
                                <a:latin typeface="Cambria Math" panose="02040503050406030204" pitchFamily="18" charset="0"/>
                                <a:ea typeface="Cambria Math" panose="02040503050406030204" pitchFamily="18" charset="0"/>
                              </a:rPr>
                              <m:t>𝑥</m:t>
                            </m:r>
                          </m:e>
                          <m:sup>
                            <m:r>
                              <a:rPr lang="en-US" altLang="zh-CN" sz="2000" i="1">
                                <a:latin typeface="Cambria Math" panose="02040503050406030204" pitchFamily="18" charset="0"/>
                                <a:ea typeface="Cambria Math" panose="02040503050406030204" pitchFamily="18" charset="0"/>
                              </a:rPr>
                              <m:t>(3)</m:t>
                            </m:r>
                          </m:sup>
                        </m:sSup>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宋体" panose="02010600030101010101" pitchFamily="2" charset="-122"/>
                          </a:rPr>
                          <m:t>|</m:t>
                        </m:r>
                      </m:e>
                    </m:d>
                    <m:r>
                      <a:rPr lang="en-US" altLang="zh-CN" sz="2000" i="1">
                        <a:latin typeface="Cambria Math" panose="02040503050406030204" pitchFamily="18" charset="0"/>
                        <a:ea typeface="宋体" panose="02010600030101010101" pitchFamily="2" charset="-122"/>
                      </a:rPr>
                      <m:t>=0</m:t>
                    </m:r>
                    <m:r>
                      <a:rPr lang="en-US" altLang="zh-CN" sz="2000" i="1">
                        <a:latin typeface="Cambria Math" panose="02040503050406030204" pitchFamily="18" charset="0"/>
                        <a:ea typeface="Cambria Math" panose="02040503050406030204" pitchFamily="18" charset="0"/>
                      </a:rPr>
                      <m:t>&lt;</m:t>
                    </m:r>
                    <m:r>
                      <a:rPr lang="zh-CN" altLang="en-US" sz="2000" i="1">
                        <a:latin typeface="Cambria Math" panose="02040503050406030204" pitchFamily="18" charset="0"/>
                        <a:ea typeface="Cambria Math" panose="02040503050406030204" pitchFamily="18" charset="0"/>
                      </a:rPr>
                      <m:t>𝜀</m:t>
                    </m:r>
                  </m:oMath>
                </a14:m>
                <a:endParaRPr lang="en-US" altLang="zh-CN" sz="2000" dirty="0">
                  <a:latin typeface="宋体" panose="02010600030101010101" pitchFamily="2" charset="-122"/>
                  <a:ea typeface="宋体" panose="02010600030101010101" pitchFamily="2" charset="-122"/>
                </a:endParaRPr>
              </a:p>
              <a:p>
                <a:pPr indent="464400" algn="just">
                  <a:lnSpc>
                    <a:spcPct val="150000"/>
                  </a:lnSpc>
                </a:pPr>
                <a:r>
                  <a:rPr lang="zh-CN" altLang="en-US" sz="2000" dirty="0">
                    <a:latin typeface="宋体" panose="02010600030101010101" pitchFamily="2" charset="-122"/>
                    <a:ea typeface="宋体" panose="02010600030101010101" pitchFamily="2" charset="-122"/>
                  </a:rPr>
                  <a:t>故</a:t>
                </a:r>
                <a14:m>
                  <m:oMath xmlns:m="http://schemas.openxmlformats.org/officeDocument/2006/math">
                    <m:sSup>
                      <m:sSupPr>
                        <m:ctrlPr>
                          <a:rPr lang="en-US" altLang="zh-CN" sz="2000" i="1">
                            <a:latin typeface="Cambria Math" panose="02040503050406030204" pitchFamily="18" charset="0"/>
                            <a:ea typeface="宋体" panose="02010600030101010101" pitchFamily="2" charset="-122"/>
                          </a:rPr>
                        </m:ctrlPr>
                      </m:sSupPr>
                      <m:e>
                        <m:r>
                          <a:rPr lang="en-US" altLang="zh-CN" sz="2000" i="1">
                            <a:latin typeface="Cambria Math" panose="02040503050406030204" pitchFamily="18" charset="0"/>
                            <a:ea typeface="宋体" panose="02010600030101010101" pitchFamily="2" charset="-122"/>
                          </a:rPr>
                          <m:t>𝑥</m:t>
                        </m:r>
                      </m:e>
                      <m:sup>
                        <m:r>
                          <a:rPr lang="en-US" altLang="zh-CN" sz="2000" i="1">
                            <a:latin typeface="Cambria Math" panose="02040503050406030204" pitchFamily="18" charset="0"/>
                            <a:ea typeface="宋体" panose="02010600030101010101" pitchFamily="2" charset="-122"/>
                          </a:rPr>
                          <m:t>(3)</m:t>
                        </m:r>
                      </m:sup>
                    </m:sSup>
                    <m:r>
                      <a:rPr lang="zh-CN" altLang="en-US" sz="2000" i="1">
                        <a:latin typeface="Cambria Math" panose="02040503050406030204" pitchFamily="18" charset="0"/>
                        <a:ea typeface="宋体" panose="02010600030101010101" pitchFamily="2" charset="-122"/>
                      </a:rPr>
                      <m:t>即为</m:t>
                    </m:r>
                  </m:oMath>
                </a14:m>
                <a:r>
                  <a:rPr lang="zh-CN" altLang="en-US" sz="2000" dirty="0">
                    <a:latin typeface="宋体" panose="02010600030101010101" pitchFamily="2" charset="-122"/>
                    <a:ea typeface="宋体" panose="02010600030101010101" pitchFamily="2" charset="-122"/>
                  </a:rPr>
                  <a:t>本题最优解</a:t>
                </a:r>
                <a:r>
                  <a:rPr lang="zh-CN" altLang="en-US" sz="2000" dirty="0">
                    <a:latin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pPr indent="464400" algn="just">
                  <a:lnSpc>
                    <a:spcPct val="150000"/>
                  </a:lnSpc>
                </a:pPr>
                <a:endParaRPr lang="zh-CN" altLang="en-US" sz="2000" dirty="0">
                  <a:latin typeface="宋体" panose="02010600030101010101" pitchFamily="2" charset="-122"/>
                  <a:ea typeface="宋体" panose="02010600030101010101" pitchFamily="2" charset="-122"/>
                </a:endParaRPr>
              </a:p>
            </p:txBody>
          </p:sp>
        </mc:Choice>
        <mc:Fallback xmlns="">
          <p:sp>
            <p:nvSpPr>
              <p:cNvPr id="3" name="文本框 2">
                <a:extLst>
                  <a:ext uri="{FF2B5EF4-FFF2-40B4-BE49-F238E27FC236}">
                    <a16:creationId xmlns:a16="http://schemas.microsoft.com/office/drawing/2014/main" id="{7F458191-E360-6C76-5210-B6A24D562561}"/>
                  </a:ext>
                </a:extLst>
              </p:cNvPr>
              <p:cNvSpPr txBox="1">
                <a:spLocks noRot="1" noChangeAspect="1" noMove="1" noResize="1" noEditPoints="1" noAdjustHandles="1" noChangeArrowheads="1" noChangeShapeType="1" noTextEdit="1"/>
              </p:cNvSpPr>
              <p:nvPr/>
            </p:nvSpPr>
            <p:spPr>
              <a:xfrm>
                <a:off x="303246" y="1459075"/>
                <a:ext cx="8873412" cy="2977803"/>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8805002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7DD5CD3-68B4-B9DC-7695-98F244BAC0A3}"/>
              </a:ext>
            </a:extLst>
          </p:cNvPr>
          <p:cNvSpPr>
            <a:spLocks noGrp="1" noChangeArrowheads="1"/>
          </p:cNvSpPr>
          <p:nvPr>
            <p:ph type="title"/>
          </p:nvPr>
        </p:nvSpPr>
        <p:spPr>
          <a:xfrm>
            <a:off x="-396552" y="692696"/>
            <a:ext cx="6172200" cy="529828"/>
          </a:xfrm>
        </p:spPr>
        <p:txBody>
          <a:bodyPr rtlCol="0">
            <a:noAutofit/>
          </a:bodyPr>
          <a:lstStyle/>
          <a:p>
            <a:pPr>
              <a:defRPr/>
            </a:pPr>
            <a:r>
              <a:rPr lang="zh-CN" altLang="en-US" sz="2400" b="1" dirty="0">
                <a:latin typeface="黑体" panose="02010609060101010101" pitchFamily="49" charset="-122"/>
                <a:ea typeface="黑体" panose="02010609060101010101" pitchFamily="49" charset="-122"/>
              </a:rPr>
              <a:t>三、</a:t>
            </a:r>
            <a:r>
              <a:rPr lang="en-US" altLang="zh-CN" sz="24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一般函数的共轭梯度法</a:t>
            </a:r>
            <a:br>
              <a:rPr lang="zh-CN" altLang="en-US" sz="2400" b="1" dirty="0">
                <a:latin typeface="黑体" panose="02010609060101010101" pitchFamily="49" charset="-122"/>
                <a:ea typeface="黑体" panose="02010609060101010101" pitchFamily="49" charset="-122"/>
              </a:rPr>
            </a:br>
            <a:endParaRPr lang="zh-CN" altLang="en-US" sz="2400" b="1" dirty="0">
              <a:latin typeface="黑体" panose="02010609060101010101" pitchFamily="49" charset="-122"/>
              <a:ea typeface="黑体" panose="02010609060101010101" pitchFamily="49" charset="-122"/>
            </a:endParaRP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D69CB531-FF9D-65B3-269C-71D246BB8F94}"/>
                  </a:ext>
                </a:extLst>
              </p:cNvPr>
              <p:cNvSpPr txBox="1"/>
              <p:nvPr/>
            </p:nvSpPr>
            <p:spPr>
              <a:xfrm>
                <a:off x="323528" y="1341409"/>
                <a:ext cx="8352928" cy="5091330"/>
              </a:xfrm>
              <a:prstGeom prst="rect">
                <a:avLst/>
              </a:prstGeom>
              <a:noFill/>
            </p:spPr>
            <p:txBody>
              <a:bodyPr wrap="square">
                <a:spAutoFit/>
              </a:bodyPr>
              <a:lstStyle/>
              <a:p>
                <a:pPr indent="200025" algn="just">
                  <a:lnSpc>
                    <a:spcPct val="150000"/>
                  </a:lnSpc>
                </a:pPr>
                <a:r>
                  <a:rPr lang="en-US" altLang="zh-CN" sz="2200" kern="100" dirty="0">
                    <a:latin typeface="宋体" panose="02010600030101010101" pitchFamily="2" charset="-122"/>
                    <a:ea typeface="宋体" panose="02010600030101010101" pitchFamily="2" charset="-122"/>
                  </a:rPr>
                  <a:t>  </a:t>
                </a:r>
                <a:r>
                  <a:rPr lang="zh-CN" altLang="zh-CN" sz="2200" kern="100" dirty="0">
                    <a:latin typeface="宋体" panose="02010600030101010101" pitchFamily="2" charset="-122"/>
                    <a:ea typeface="宋体" panose="02010600030101010101" pitchFamily="2" charset="-122"/>
                  </a:rPr>
                  <a:t>把上述用于正定二次函数的共轭梯度法加以推广，用于极小化任意</a:t>
                </a:r>
                <a14:m>
                  <m:oMath xmlns:m="http://schemas.openxmlformats.org/officeDocument/2006/math">
                    <m:r>
                      <a:rPr lang="en-US" altLang="zh-CN" sz="2200" i="1" kern="100">
                        <a:latin typeface="Cambria Math" panose="02040503050406030204" pitchFamily="18" charset="0"/>
                        <a:ea typeface="宋体" panose="02010600030101010101" pitchFamily="2" charset="-122"/>
                      </a:rPr>
                      <m:t>𝑛</m:t>
                    </m:r>
                  </m:oMath>
                </a14:m>
                <a:r>
                  <a:rPr lang="zh-CN" altLang="zh-CN" sz="2200" kern="100" dirty="0">
                    <a:latin typeface="宋体" panose="02010600030101010101" pitchFamily="2" charset="-122"/>
                    <a:ea typeface="宋体" panose="02010600030101010101" pitchFamily="2" charset="-122"/>
                  </a:rPr>
                  <a:t>元函数</a:t>
                </a:r>
                <a:r>
                  <a:rPr lang="zh-CN" altLang="en-US" sz="2200" kern="100" dirty="0">
                    <a:latin typeface="宋体" panose="02010600030101010101" pitchFamily="2" charset="-122"/>
                    <a:ea typeface="宋体" panose="02010600030101010101" pitchFamily="2" charset="-122"/>
                  </a:rPr>
                  <a:t>，即可得到一般函数的共轭梯度法</a:t>
                </a:r>
                <a:r>
                  <a:rPr lang="zh-CN" altLang="zh-CN" sz="2200" kern="100" dirty="0">
                    <a:latin typeface="宋体" panose="02010600030101010101" pitchFamily="2" charset="-122"/>
                    <a:ea typeface="宋体" panose="02010600030101010101" pitchFamily="2" charset="-122"/>
                  </a:rPr>
                  <a:t>。推广后的共轭梯度法与原有方法的主要差别在于：</a:t>
                </a:r>
                <a:endParaRPr lang="en-US" altLang="zh-CN" sz="2200" kern="100" dirty="0">
                  <a:latin typeface="宋体" panose="02010600030101010101" pitchFamily="2" charset="-122"/>
                  <a:ea typeface="宋体" panose="02010600030101010101" pitchFamily="2" charset="-122"/>
                </a:endParaRPr>
              </a:p>
              <a:p>
                <a:pPr marL="257175" indent="-257175" algn="just">
                  <a:lnSpc>
                    <a:spcPct val="150000"/>
                  </a:lnSpc>
                  <a:buFont typeface="Wingdings" panose="05000000000000000000" pitchFamily="2" charset="2"/>
                  <a:buChar char="Ø"/>
                </a:pPr>
                <a:r>
                  <a:rPr lang="zh-CN" altLang="zh-CN" sz="2200" kern="100" dirty="0">
                    <a:latin typeface="宋体" panose="02010600030101010101" pitchFamily="2" charset="-122"/>
                    <a:ea typeface="宋体" panose="02010600030101010101" pitchFamily="2" charset="-122"/>
                  </a:rPr>
                  <a:t>步长不能再用算法</a:t>
                </a:r>
                <a:r>
                  <a:rPr lang="en-US" altLang="zh-CN" sz="2200" kern="100" dirty="0">
                    <a:latin typeface="宋体" panose="02010600030101010101" pitchFamily="2" charset="-122"/>
                    <a:ea typeface="宋体" panose="02010600030101010101" pitchFamily="2" charset="-122"/>
                  </a:rPr>
                  <a:t>2</a:t>
                </a:r>
                <a:r>
                  <a:rPr lang="zh-CN" altLang="zh-CN" sz="2200" kern="100" dirty="0">
                    <a:latin typeface="宋体" panose="02010600030101010101" pitchFamily="2" charset="-122"/>
                    <a:ea typeface="宋体" panose="02010600030101010101" pitchFamily="2" charset="-122"/>
                  </a:rPr>
                  <a:t>中的公式计算，可以用其它一维搜索方法来确定。</a:t>
                </a:r>
                <a:endParaRPr lang="en-US" altLang="zh-CN" sz="2200" kern="100" dirty="0">
                  <a:latin typeface="宋体" panose="02010600030101010101" pitchFamily="2" charset="-122"/>
                  <a:ea typeface="宋体" panose="02010600030101010101" pitchFamily="2" charset="-122"/>
                </a:endParaRPr>
              </a:p>
              <a:p>
                <a:pPr marL="257175" indent="-257175" algn="just">
                  <a:lnSpc>
                    <a:spcPct val="150000"/>
                  </a:lnSpc>
                  <a:buFont typeface="Wingdings" panose="05000000000000000000" pitchFamily="2" charset="2"/>
                  <a:buChar char="Ø"/>
                </a:pPr>
                <a:r>
                  <a:rPr lang="zh-CN" altLang="zh-CN" sz="2200" kern="100" dirty="0">
                    <a:latin typeface="宋体" panose="02010600030101010101" pitchFamily="2" charset="-122"/>
                    <a:ea typeface="宋体" panose="02010600030101010101" pitchFamily="2" charset="-122"/>
                  </a:rPr>
                  <a:t>对</a:t>
                </a:r>
                <a:r>
                  <a:rPr lang="zh-CN" altLang="en-US" sz="2200" kern="100" dirty="0">
                    <a:latin typeface="宋体" panose="02010600030101010101" pitchFamily="2" charset="-122"/>
                    <a:ea typeface="宋体" panose="02010600030101010101" pitchFamily="2" charset="-122"/>
                  </a:rPr>
                  <a:t>非正定二次</a:t>
                </a:r>
                <a:r>
                  <a:rPr lang="zh-CN" altLang="zh-CN" sz="2200" kern="100" dirty="0">
                    <a:latin typeface="宋体" panose="02010600030101010101" pitchFamily="2" charset="-122"/>
                    <a:ea typeface="宋体" panose="02010600030101010101" pitchFamily="2" charset="-122"/>
                  </a:rPr>
                  <a:t>函数而言，一般不能在有限步内达到最优解</a:t>
                </a:r>
                <a:r>
                  <a:rPr lang="zh-CN" altLang="en-US" sz="2200" kern="100" dirty="0">
                    <a:latin typeface="宋体" panose="02010600030101010101" pitchFamily="2" charset="-122"/>
                    <a:ea typeface="宋体" panose="02010600030101010101" pitchFamily="2" charset="-122"/>
                  </a:rPr>
                  <a:t>，当迭代步超过</a:t>
                </a:r>
                <a14:m>
                  <m:oMath xmlns:m="http://schemas.openxmlformats.org/officeDocument/2006/math">
                    <m:r>
                      <a:rPr lang="en-US" altLang="zh-CN" sz="2200" i="1" kern="100">
                        <a:latin typeface="Cambria Math" panose="02040503050406030204" pitchFamily="18" charset="0"/>
                        <a:ea typeface="宋体" panose="02010600030101010101" pitchFamily="2" charset="-122"/>
                      </a:rPr>
                      <m:t>𝑛</m:t>
                    </m:r>
                  </m:oMath>
                </a14:m>
                <a:r>
                  <a:rPr lang="zh-CN" altLang="en-US" sz="2200" kern="100" dirty="0">
                    <a:latin typeface="宋体" panose="02010600030101010101" pitchFamily="2" charset="-122"/>
                    <a:ea typeface="宋体" panose="02010600030101010101" pitchFamily="2" charset="-122"/>
                  </a:rPr>
                  <a:t>时，搜索方向的共轭性将不再存在，此时需要</a:t>
                </a:r>
                <a:r>
                  <a:rPr lang="zh-CN" altLang="zh-CN" sz="2200" kern="100" dirty="0">
                    <a:latin typeface="宋体" panose="02010600030101010101" pitchFamily="2" charset="-122"/>
                    <a:ea typeface="宋体" panose="02010600030101010101" pitchFamily="2" charset="-122"/>
                  </a:rPr>
                  <a:t>采用循环的方法</a:t>
                </a:r>
                <a:r>
                  <a:rPr lang="zh-CN" altLang="en-US" sz="2200" kern="100" dirty="0">
                    <a:latin typeface="宋体" panose="02010600030101010101" pitchFamily="2" charset="-122"/>
                    <a:ea typeface="宋体" panose="02010600030101010101" pitchFamily="2" charset="-122"/>
                  </a:rPr>
                  <a:t>。</a:t>
                </a:r>
                <a:r>
                  <a:rPr lang="zh-CN" altLang="zh-CN" sz="2200" kern="100" dirty="0">
                    <a:latin typeface="宋体" panose="02010600030101010101" pitchFamily="2" charset="-122"/>
                    <a:ea typeface="宋体" panose="02010600030101010101" pitchFamily="2" charset="-122"/>
                  </a:rPr>
                  <a:t>具体做法就是每迭代</a:t>
                </a:r>
                <a14:m>
                  <m:oMath xmlns:m="http://schemas.openxmlformats.org/officeDocument/2006/math">
                    <m:r>
                      <a:rPr lang="en-US" altLang="zh-CN" sz="2200" i="1" kern="100">
                        <a:latin typeface="Cambria Math" panose="02040503050406030204" pitchFamily="18" charset="0"/>
                        <a:ea typeface="宋体" panose="02010600030101010101" pitchFamily="2" charset="-122"/>
                      </a:rPr>
                      <m:t>𝑛</m:t>
                    </m:r>
                  </m:oMath>
                </a14:m>
                <a:r>
                  <a:rPr lang="zh-CN" altLang="zh-CN" sz="2200" kern="100" dirty="0">
                    <a:latin typeface="宋体" panose="02010600030101010101" pitchFamily="2" charset="-122"/>
                    <a:ea typeface="宋体" panose="02010600030101010101" pitchFamily="2" charset="-122"/>
                  </a:rPr>
                  <a:t>步</a:t>
                </a:r>
                <a:r>
                  <a:rPr lang="zh-CN" altLang="en-US" sz="2200" kern="100" dirty="0">
                    <a:latin typeface="宋体" panose="02010600030101010101" pitchFamily="2" charset="-122"/>
                    <a:ea typeface="宋体" panose="02010600030101010101" pitchFamily="2" charset="-122"/>
                  </a:rPr>
                  <a:t>记为</a:t>
                </a:r>
                <a:r>
                  <a:rPr lang="zh-CN" altLang="zh-CN" sz="2200" kern="100" dirty="0">
                    <a:latin typeface="宋体" panose="02010600030101010101" pitchFamily="2" charset="-122"/>
                    <a:ea typeface="宋体" panose="02010600030101010101" pitchFamily="2" charset="-122"/>
                  </a:rPr>
                  <a:t>一轮，每搜索完一轮后，用这轮最后一个迭代点作为下一轮的初始点重新开始新一轮迭代，直到满足精度要求为止。</a:t>
                </a:r>
              </a:p>
            </p:txBody>
          </p:sp>
        </mc:Choice>
        <mc:Fallback xmlns="">
          <p:sp>
            <p:nvSpPr>
              <p:cNvPr id="10" name="文本框 9">
                <a:extLst>
                  <a:ext uri="{FF2B5EF4-FFF2-40B4-BE49-F238E27FC236}">
                    <a16:creationId xmlns:a16="http://schemas.microsoft.com/office/drawing/2014/main" id="{D69CB531-FF9D-65B3-269C-71D246BB8F94}"/>
                  </a:ext>
                </a:extLst>
              </p:cNvPr>
              <p:cNvSpPr txBox="1">
                <a:spLocks noRot="1" noChangeAspect="1" noMove="1" noResize="1" noEditPoints="1" noAdjustHandles="1" noChangeArrowheads="1" noChangeShapeType="1" noTextEdit="1"/>
              </p:cNvSpPr>
              <p:nvPr/>
            </p:nvSpPr>
            <p:spPr>
              <a:xfrm>
                <a:off x="323528" y="1341409"/>
                <a:ext cx="8352928" cy="5091330"/>
              </a:xfrm>
              <a:prstGeom prst="rect">
                <a:avLst/>
              </a:prstGeom>
              <a:blipFill>
                <a:blip r:embed="rId2"/>
                <a:stretch>
                  <a:fillRect l="-949" r="-949" b="-1437"/>
                </a:stretch>
              </a:blipFill>
            </p:spPr>
            <p:txBody>
              <a:bodyPr/>
              <a:lstStyle/>
              <a:p>
                <a:r>
                  <a:rPr lang="zh-CN" altLang="en-US">
                    <a:noFill/>
                  </a:rPr>
                  <a:t> </a:t>
                </a:r>
              </a:p>
            </p:txBody>
          </p:sp>
        </mc:Fallback>
      </mc:AlternateContent>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76F371B8-F052-8A18-6B37-D5BE463FBD28}"/>
                  </a:ext>
                </a:extLst>
              </p:cNvPr>
              <p:cNvSpPr txBox="1"/>
              <p:nvPr/>
            </p:nvSpPr>
            <p:spPr>
              <a:xfrm>
                <a:off x="375874" y="350481"/>
                <a:ext cx="8022771" cy="6442341"/>
              </a:xfrm>
              <a:prstGeom prst="rect">
                <a:avLst/>
              </a:prstGeom>
              <a:noFill/>
            </p:spPr>
            <p:txBody>
              <a:bodyPr wrap="square" rtlCol="0">
                <a:spAutoFit/>
              </a:bodyPr>
              <a:lstStyle/>
              <a:p>
                <a:pPr indent="200025" algn="just">
                  <a:lnSpc>
                    <a:spcPct val="150000"/>
                  </a:lnSpc>
                </a:pPr>
                <a:r>
                  <a:rPr lang="zh-CN" altLang="en-US" sz="2200" b="1" kern="100" dirty="0">
                    <a:solidFill>
                      <a:srgbClr val="0070C0"/>
                    </a:solidFill>
                    <a:latin typeface="Times New Roman" panose="02020603050405020304" pitchFamily="18" charset="0"/>
                    <a:ea typeface="宋体" panose="02010600030101010101" pitchFamily="2" charset="-122"/>
                  </a:rPr>
                  <a:t>算法</a:t>
                </a:r>
                <a:r>
                  <a:rPr lang="en-US" altLang="zh-CN" sz="2200" b="1" kern="100" dirty="0">
                    <a:solidFill>
                      <a:srgbClr val="0070C0"/>
                    </a:solidFill>
                    <a:latin typeface="Times New Roman" panose="02020603050405020304" pitchFamily="18" charset="0"/>
                    <a:ea typeface="宋体" panose="02010600030101010101" pitchFamily="2" charset="-122"/>
                  </a:rPr>
                  <a:t>3</a:t>
                </a:r>
              </a:p>
              <a:p>
                <a:pPr indent="200025" algn="just">
                  <a:lnSpc>
                    <a:spcPct val="150000"/>
                  </a:lnSpc>
                </a:pPr>
                <a:r>
                  <a:rPr lang="en-US" altLang="zh-CN" sz="2200" kern="100" dirty="0">
                    <a:latin typeface="宋体" panose="02010600030101010101" pitchFamily="2" charset="-122"/>
                    <a:ea typeface="宋体" panose="02010600030101010101" pitchFamily="2" charset="-122"/>
                  </a:rPr>
                  <a:t>1.</a:t>
                </a:r>
                <a:r>
                  <a:rPr lang="zh-CN" altLang="zh-CN" sz="2200" kern="100" dirty="0">
                    <a:latin typeface="Times New Roman" panose="02020603050405020304" pitchFamily="18" charset="0"/>
                    <a:ea typeface="宋体" panose="02010600030101010101" pitchFamily="2" charset="-122"/>
                  </a:rPr>
                  <a:t>给定初始点</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𝑥</m:t>
                        </m:r>
                      </m:e>
                      <m:sup>
                        <m:r>
                          <a:rPr lang="en-US" altLang="zh-CN" sz="2200" i="1" kern="100">
                            <a:latin typeface="Cambria Math" panose="02040503050406030204" pitchFamily="18" charset="0"/>
                            <a:ea typeface="宋体" panose="02010600030101010101" pitchFamily="2" charset="-122"/>
                          </a:rPr>
                          <m:t>(1)</m:t>
                        </m:r>
                      </m:sup>
                    </m:sSup>
                  </m:oMath>
                </a14:m>
                <a:r>
                  <a:rPr lang="zh-CN" altLang="zh-CN" sz="2200" kern="100" dirty="0">
                    <a:latin typeface="Times New Roman" panose="02020603050405020304" pitchFamily="18" charset="0"/>
                    <a:ea typeface="宋体" panose="02010600030101010101" pitchFamily="2" charset="-122"/>
                  </a:rPr>
                  <a:t>，允许误差</a:t>
                </a:r>
                <a14:m>
                  <m:oMath xmlns:m="http://schemas.openxmlformats.org/officeDocument/2006/math">
                    <m:r>
                      <a:rPr lang="en-US" altLang="zh-CN" sz="2200" i="1" kern="100">
                        <a:latin typeface="Cambria Math" panose="02040503050406030204" pitchFamily="18" charset="0"/>
                        <a:ea typeface="宋体" panose="02010600030101010101" pitchFamily="2" charset="-122"/>
                      </a:rPr>
                      <m:t>𝜀</m:t>
                    </m:r>
                    <m:r>
                      <a:rPr lang="en-US" altLang="zh-CN" sz="2200" i="1" kern="100">
                        <a:latin typeface="Cambria Math" panose="02040503050406030204" pitchFamily="18" charset="0"/>
                        <a:ea typeface="宋体" panose="02010600030101010101" pitchFamily="2" charset="-122"/>
                      </a:rPr>
                      <m:t>&gt;0</m:t>
                    </m:r>
                    <m:r>
                      <a:rPr lang="zh-CN" altLang="en-US" sz="2200" i="1" kern="100">
                        <a:latin typeface="Cambria Math" panose="02040503050406030204" pitchFamily="18" charset="0"/>
                        <a:ea typeface="宋体" panose="02010600030101010101" pitchFamily="2" charset="-122"/>
                      </a:rPr>
                      <m:t>；</m:t>
                    </m:r>
                  </m:oMath>
                </a14:m>
                <a:endParaRPr lang="zh-CN" altLang="zh-CN" sz="2200" kern="100" dirty="0">
                  <a:latin typeface="Times New Roman" panose="02020603050405020304" pitchFamily="18" charset="0"/>
                  <a:ea typeface="宋体" panose="02010600030101010101" pitchFamily="2" charset="-122"/>
                </a:endParaRPr>
              </a:p>
              <a:p>
                <a:pPr indent="200025" algn="just">
                  <a:lnSpc>
                    <a:spcPct val="150000"/>
                  </a:lnSpc>
                </a:pPr>
                <a:r>
                  <a:rPr lang="en-US" altLang="zh-CN" sz="2200" kern="100" dirty="0">
                    <a:latin typeface="宋体" panose="02010600030101010101" pitchFamily="2" charset="-122"/>
                    <a:ea typeface="宋体" panose="02010600030101010101" pitchFamily="2" charset="-122"/>
                  </a:rPr>
                  <a:t>2.</a:t>
                </a:r>
                <a:r>
                  <a:rPr lang="zh-CN" altLang="zh-CN" sz="2200" kern="100" dirty="0">
                    <a:latin typeface="Times New Roman" panose="02020603050405020304" pitchFamily="18" charset="0"/>
                    <a:ea typeface="宋体" panose="02010600030101010101" pitchFamily="2" charset="-122"/>
                  </a:rPr>
                  <a:t>求初始点梯度</a:t>
                </a:r>
                <a:r>
                  <a:rPr lang="zh-CN" altLang="en-US" sz="2200" kern="100" dirty="0">
                    <a:latin typeface="Times New Roman" panose="02020603050405020304" pitchFamily="18" charset="0"/>
                    <a:ea typeface="宋体" panose="02010600030101010101" pitchFamily="2" charset="-122"/>
                  </a:rPr>
                  <a:t>：</a:t>
                </a:r>
                <a:endParaRPr lang="zh-CN" altLang="zh-CN" sz="2200" kern="100" dirty="0">
                  <a:latin typeface="Times New Roman" panose="02020603050405020304" pitchFamily="18" charset="0"/>
                  <a:ea typeface="宋体" panose="02010600030101010101" pitchFamily="2" charset="-122"/>
                </a:endParaRPr>
              </a:p>
              <a:p>
                <a:pPr algn="just">
                  <a:lnSpc>
                    <a:spcPct val="150000"/>
                  </a:lnSpc>
                </a:pPr>
                <a:r>
                  <a:rPr lang="en-US" altLang="zh-CN" sz="2200" kern="100" dirty="0">
                    <a:latin typeface="宋体" panose="02010600030101010101" pitchFamily="2" charset="-122"/>
                    <a:ea typeface="宋体" panose="02010600030101010101" pitchFamily="2" charset="-122"/>
                  </a:rPr>
                  <a:t>    </a:t>
                </a:r>
                <a:r>
                  <a:rPr lang="zh-CN" altLang="zh-CN" sz="2200" kern="100" dirty="0">
                    <a:latin typeface="Times New Roman" panose="02020603050405020304" pitchFamily="18" charset="0"/>
                    <a:ea typeface="宋体" panose="02010600030101010101" pitchFamily="2" charset="-122"/>
                  </a:rPr>
                  <a:t>计算</a:t>
                </a:r>
                <a14:m>
                  <m:oMath xmlns:m="http://schemas.openxmlformats.org/officeDocument/2006/math">
                    <m:sSub>
                      <m:sSubPr>
                        <m:ctrlPr>
                          <a:rPr lang="zh-CN" altLang="zh-CN" sz="2200" i="1" kern="100">
                            <a:latin typeface="Cambria Math" panose="02040503050406030204" pitchFamily="18" charset="0"/>
                            <a:ea typeface="Cambria Math" panose="02040503050406030204" pitchFamily="18" charset="0"/>
                          </a:rPr>
                        </m:ctrlPr>
                      </m:sSubPr>
                      <m:e>
                        <m:r>
                          <a:rPr lang="en-US" altLang="zh-CN" sz="2200" i="1" kern="100">
                            <a:latin typeface="Cambria Math" panose="02040503050406030204" pitchFamily="18" charset="0"/>
                            <a:ea typeface="宋体" panose="02010600030101010101" pitchFamily="2" charset="-122"/>
                          </a:rPr>
                          <m:t>𝑔</m:t>
                        </m:r>
                      </m:e>
                      <m:sub>
                        <m:r>
                          <a:rPr lang="en-US" altLang="zh-CN" sz="2200" i="1" kern="100">
                            <a:latin typeface="Cambria Math" panose="02040503050406030204" pitchFamily="18" charset="0"/>
                            <a:ea typeface="宋体" panose="02010600030101010101" pitchFamily="2" charset="-122"/>
                          </a:rPr>
                          <m:t>1</m:t>
                        </m:r>
                      </m:sub>
                    </m:sSub>
                    <m:r>
                      <a:rPr lang="en-US" altLang="zh-CN" sz="2200" i="1" kern="100">
                        <a:latin typeface="Cambria Math" panose="02040503050406030204" pitchFamily="18" charset="0"/>
                        <a:ea typeface="宋体" panose="02010600030101010101" pitchFamily="2" charset="-122"/>
                      </a:rPr>
                      <m:t>=</m:t>
                    </m:r>
                    <m:r>
                      <a:rPr lang="en-US" altLang="zh-CN" sz="2200" i="1" kern="100">
                        <a:latin typeface="Cambria Math" panose="02040503050406030204" pitchFamily="18" charset="0"/>
                        <a:ea typeface="宋体" panose="02010600030101010101" pitchFamily="2" charset="-122"/>
                        <a:cs typeface="Cambria Math" panose="02040503050406030204" pitchFamily="18" charset="0"/>
                      </a:rPr>
                      <m:t>𝛻</m:t>
                    </m:r>
                    <m:r>
                      <a:rPr lang="en-US" altLang="zh-CN" sz="2200" i="1" kern="100">
                        <a:latin typeface="Cambria Math" panose="02040503050406030204" pitchFamily="18" charset="0"/>
                        <a:ea typeface="宋体" panose="02010600030101010101" pitchFamily="2" charset="-122"/>
                      </a:rPr>
                      <m:t>𝑓</m:t>
                    </m:r>
                    <m:r>
                      <a:rPr lang="en-US" altLang="zh-CN" sz="2200" i="1" kern="100">
                        <a:latin typeface="Cambria Math" panose="02040503050406030204" pitchFamily="18" charset="0"/>
                        <a:ea typeface="宋体" panose="02010600030101010101" pitchFamily="2" charset="-122"/>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𝑥</m:t>
                        </m:r>
                      </m:e>
                      <m:sup>
                        <m:r>
                          <a:rPr lang="en-US" altLang="zh-CN" sz="2200" i="1" kern="100">
                            <a:latin typeface="Cambria Math" panose="02040503050406030204" pitchFamily="18" charset="0"/>
                            <a:ea typeface="宋体" panose="02010600030101010101" pitchFamily="2" charset="-122"/>
                          </a:rPr>
                          <m:t>(1)</m:t>
                        </m:r>
                      </m:sup>
                    </m:sSup>
                    <m:r>
                      <a:rPr lang="en-US" altLang="zh-CN" sz="2200" i="1" kern="100">
                        <a:latin typeface="Cambria Math" panose="02040503050406030204" pitchFamily="18" charset="0"/>
                        <a:ea typeface="宋体" panose="02010600030101010101" pitchFamily="2" charset="-122"/>
                      </a:rPr>
                      <m:t>)</m:t>
                    </m:r>
                  </m:oMath>
                </a14:m>
                <a:r>
                  <a:rPr lang="zh-CN" altLang="zh-CN" sz="2200" kern="100" dirty="0">
                    <a:latin typeface="Times New Roman" panose="02020603050405020304" pitchFamily="18" charset="0"/>
                    <a:ea typeface="宋体" panose="02010600030101010101" pitchFamily="2" charset="-122"/>
                  </a:rPr>
                  <a:t>，若</a:t>
                </a:r>
                <a14:m>
                  <m:oMath xmlns:m="http://schemas.openxmlformats.org/officeDocument/2006/math">
                    <m:sSub>
                      <m:sSubPr>
                        <m:ctrlPr>
                          <a:rPr lang="en-US" altLang="zh-CN" sz="2200" i="1" kern="100">
                            <a:latin typeface="Cambria Math" panose="02040503050406030204" pitchFamily="18" charset="0"/>
                            <a:ea typeface="Cambria Math" panose="02040503050406030204" pitchFamily="18" charset="0"/>
                          </a:rPr>
                        </m:ctrlPr>
                      </m:sSubPr>
                      <m:e>
                        <m:d>
                          <m:dPr>
                            <m:begChr m:val="‖"/>
                            <m:endChr m:val="‖"/>
                            <m:ctrlPr>
                              <a:rPr lang="zh-CN" altLang="zh-CN" sz="2200" i="1" kern="100">
                                <a:latin typeface="Cambria Math" panose="02040503050406030204" pitchFamily="18" charset="0"/>
                                <a:ea typeface="Cambria Math" panose="02040503050406030204" pitchFamily="18" charset="0"/>
                              </a:rPr>
                            </m:ctrlPr>
                          </m:dPr>
                          <m:e>
                            <m:sSub>
                              <m:sSubPr>
                                <m:ctrlPr>
                                  <a:rPr lang="zh-CN" altLang="zh-CN" sz="2200" i="1" kern="100">
                                    <a:latin typeface="Cambria Math" panose="02040503050406030204" pitchFamily="18" charset="0"/>
                                    <a:ea typeface="Cambria Math" panose="02040503050406030204" pitchFamily="18" charset="0"/>
                                  </a:rPr>
                                </m:ctrlPr>
                              </m:sSubPr>
                              <m:e>
                                <m:r>
                                  <a:rPr lang="en-US" altLang="zh-CN" sz="2200" i="1" kern="100">
                                    <a:latin typeface="Cambria Math" panose="02040503050406030204" pitchFamily="18" charset="0"/>
                                    <a:ea typeface="宋体" panose="02010600030101010101" pitchFamily="2" charset="-122"/>
                                  </a:rPr>
                                  <m:t>𝑔</m:t>
                                </m:r>
                              </m:e>
                              <m:sub>
                                <m:r>
                                  <a:rPr lang="en-US" altLang="zh-CN" sz="2200" i="1" kern="100">
                                    <a:latin typeface="Cambria Math" panose="02040503050406030204" pitchFamily="18" charset="0"/>
                                    <a:ea typeface="宋体" panose="02010600030101010101" pitchFamily="2" charset="-122"/>
                                  </a:rPr>
                                  <m:t>1</m:t>
                                </m:r>
                              </m:sub>
                            </m:sSub>
                          </m:e>
                        </m:d>
                      </m:e>
                      <m:sub>
                        <m:r>
                          <a:rPr lang="en-US" altLang="zh-CN" sz="2200" i="1" kern="100">
                            <a:latin typeface="Cambria Math" panose="02040503050406030204" pitchFamily="18" charset="0"/>
                            <a:ea typeface="Cambria Math" panose="02040503050406030204" pitchFamily="18" charset="0"/>
                          </a:rPr>
                          <m:t>2</m:t>
                        </m:r>
                      </m:sub>
                    </m:sSub>
                    <m:r>
                      <a:rPr lang="en-US" altLang="zh-CN" sz="2200" i="1" kern="100">
                        <a:latin typeface="Cambria Math" panose="02040503050406030204" pitchFamily="18" charset="0"/>
                        <a:ea typeface="宋体" panose="02010600030101010101" pitchFamily="2" charset="-122"/>
                      </a:rPr>
                      <m:t>&lt;</m:t>
                    </m:r>
                    <m:r>
                      <a:rPr lang="en-US" altLang="zh-CN" sz="2200" i="1" kern="100">
                        <a:latin typeface="Cambria Math" panose="02040503050406030204" pitchFamily="18" charset="0"/>
                        <a:ea typeface="宋体" panose="02010600030101010101" pitchFamily="2" charset="-122"/>
                      </a:rPr>
                      <m:t>𝜀</m:t>
                    </m:r>
                  </m:oMath>
                </a14:m>
                <a:r>
                  <a:rPr lang="zh-CN" altLang="zh-CN" sz="2200" kern="100" dirty="0">
                    <a:latin typeface="Times New Roman" panose="02020603050405020304" pitchFamily="18" charset="0"/>
                    <a:ea typeface="宋体" panose="02010600030101010101" pitchFamily="2" charset="-122"/>
                  </a:rPr>
                  <a:t>，则停止迭代，得近似极小点</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𝑥</m:t>
                        </m:r>
                      </m:e>
                      <m:sup>
                        <m:r>
                          <a:rPr lang="en-US" altLang="zh-CN" sz="2200" i="1" kern="100">
                            <a:latin typeface="Cambria Math" panose="02040503050406030204" pitchFamily="18" charset="0"/>
                            <a:ea typeface="宋体" panose="02010600030101010101" pitchFamily="2" charset="-122"/>
                          </a:rPr>
                          <m:t>∗</m:t>
                        </m:r>
                      </m:sup>
                    </m:sSup>
                    <m:r>
                      <a:rPr lang="en-US" altLang="zh-CN" sz="2200" i="1" kern="100">
                        <a:latin typeface="Cambria Math" panose="02040503050406030204" pitchFamily="18" charset="0"/>
                        <a:ea typeface="宋体" panose="02010600030101010101" pitchFamily="2" charset="-122"/>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𝑥</m:t>
                        </m:r>
                      </m:e>
                      <m:sup>
                        <m:r>
                          <a:rPr lang="en-US" altLang="zh-CN" sz="2200" i="1" kern="100">
                            <a:latin typeface="Cambria Math" panose="02040503050406030204" pitchFamily="18" charset="0"/>
                            <a:ea typeface="宋体" panose="02010600030101010101" pitchFamily="2" charset="-122"/>
                          </a:rPr>
                          <m:t>(1)</m:t>
                        </m:r>
                      </m:sup>
                    </m:sSup>
                    <m:r>
                      <a:rPr lang="zh-CN" altLang="en-US" sz="2200" i="1" kern="100">
                        <a:latin typeface="Cambria Math" panose="02040503050406030204" pitchFamily="18" charset="0"/>
                        <a:ea typeface="宋体" panose="02010600030101010101" pitchFamily="2" charset="-122"/>
                      </a:rPr>
                      <m:t>，</m:t>
                    </m:r>
                  </m:oMath>
                </a14:m>
                <a:r>
                  <a:rPr lang="zh-CN" altLang="zh-CN" sz="2200" kern="100" dirty="0">
                    <a:latin typeface="Times New Roman" panose="02020603050405020304" pitchFamily="18" charset="0"/>
                    <a:ea typeface="宋体" panose="02010600030101010101" pitchFamily="2" charset="-122"/>
                  </a:rPr>
                  <a:t>否则转下一步</a:t>
                </a:r>
                <a:r>
                  <a:rPr lang="zh-CN" altLang="en-US" sz="2200" kern="100" dirty="0">
                    <a:latin typeface="Times New Roman" panose="02020603050405020304" pitchFamily="18" charset="0"/>
                    <a:ea typeface="宋体" panose="02010600030101010101" pitchFamily="2" charset="-122"/>
                  </a:rPr>
                  <a:t>。</a:t>
                </a:r>
                <a:endParaRPr lang="zh-CN" altLang="zh-CN" sz="2200" kern="100" dirty="0">
                  <a:latin typeface="Times New Roman" panose="02020603050405020304" pitchFamily="18" charset="0"/>
                  <a:ea typeface="宋体" panose="02010600030101010101" pitchFamily="2" charset="-122"/>
                </a:endParaRPr>
              </a:p>
              <a:p>
                <a:pPr marL="200025" algn="just">
                  <a:lnSpc>
                    <a:spcPct val="150000"/>
                  </a:lnSpc>
                </a:pPr>
                <a:r>
                  <a:rPr lang="en-US" altLang="zh-CN" sz="2200" kern="100" dirty="0">
                    <a:latin typeface="宋体" panose="02010600030101010101" pitchFamily="2" charset="-122"/>
                    <a:ea typeface="宋体" panose="02010600030101010101" pitchFamily="2" charset="-122"/>
                  </a:rPr>
                  <a:t>3.</a:t>
                </a:r>
                <a:r>
                  <a:rPr lang="zh-CN" altLang="zh-CN" sz="2200" kern="100" dirty="0">
                    <a:latin typeface="Times New Roman" panose="02020603050405020304" pitchFamily="18" charset="0"/>
                    <a:ea typeface="宋体" panose="02010600030101010101" pitchFamily="2" charset="-122"/>
                  </a:rPr>
                  <a:t>构造初始搜索方向</a:t>
                </a:r>
                <a:r>
                  <a:rPr lang="zh-CN" altLang="en-US" sz="2200" kern="100" dirty="0">
                    <a:latin typeface="Times New Roman" panose="02020603050405020304" pitchFamily="18" charset="0"/>
                    <a:ea typeface="宋体" panose="02010600030101010101" pitchFamily="2" charset="-122"/>
                  </a:rPr>
                  <a:t>：</a:t>
                </a:r>
                <a:endParaRPr lang="en-US" altLang="zh-CN" sz="2200" kern="100" dirty="0">
                  <a:latin typeface="Times New Roman" panose="02020603050405020304" pitchFamily="18" charset="0"/>
                  <a:ea typeface="宋体" panose="02010600030101010101" pitchFamily="2" charset="-122"/>
                </a:endParaRPr>
              </a:p>
              <a:p>
                <a:pPr algn="just">
                  <a:lnSpc>
                    <a:spcPct val="150000"/>
                  </a:lnSpc>
                </a:pPr>
                <a:r>
                  <a:rPr lang="en-US" altLang="zh-CN" sz="2200" kern="100" dirty="0">
                    <a:latin typeface="宋体" panose="02010600030101010101" pitchFamily="2" charset="-122"/>
                    <a:ea typeface="宋体" panose="02010600030101010101" pitchFamily="2" charset="-122"/>
                  </a:rPr>
                  <a:t>				</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𝑑</m:t>
                        </m:r>
                      </m:e>
                      <m:sup>
                        <m:r>
                          <a:rPr lang="en-US" altLang="zh-CN" sz="2200" i="1" kern="100">
                            <a:latin typeface="Cambria Math" panose="02040503050406030204" pitchFamily="18" charset="0"/>
                            <a:ea typeface="宋体" panose="02010600030101010101" pitchFamily="2" charset="-122"/>
                          </a:rPr>
                          <m:t>(1)</m:t>
                        </m:r>
                      </m:sup>
                    </m:sSup>
                    <m:r>
                      <a:rPr lang="en-US" altLang="zh-CN" sz="2200" i="1" kern="100">
                        <a:latin typeface="Cambria Math" panose="02040503050406030204" pitchFamily="18" charset="0"/>
                        <a:ea typeface="宋体" panose="02010600030101010101" pitchFamily="2" charset="-122"/>
                      </a:rPr>
                      <m:t>=</m:t>
                    </m:r>
                    <m:r>
                      <a:rPr lang="zh-CN" altLang="en-US" sz="2200" i="1" kern="100">
                        <a:latin typeface="Cambria Math" panose="02040503050406030204" pitchFamily="18" charset="0"/>
                        <a:ea typeface="微软雅黑" panose="020B0503020204020204" pitchFamily="34" charset="-122"/>
                        <a:cs typeface="微软雅黑" panose="020B0503020204020204" pitchFamily="34" charset="-122"/>
                      </a:rPr>
                      <m:t>−</m:t>
                    </m:r>
                    <m:r>
                      <a:rPr lang="en-US" altLang="zh-CN" sz="2200" i="1" kern="100">
                        <a:latin typeface="Cambria Math" panose="02040503050406030204" pitchFamily="18" charset="0"/>
                        <a:ea typeface="宋体" panose="02010600030101010101" pitchFamily="2" charset="-122"/>
                        <a:cs typeface="Cambria Math" panose="02040503050406030204" pitchFamily="18" charset="0"/>
                      </a:rPr>
                      <m:t>𝛻</m:t>
                    </m:r>
                    <m:r>
                      <a:rPr lang="en-US" altLang="zh-CN" sz="2200" i="1" kern="100">
                        <a:latin typeface="Cambria Math" panose="02040503050406030204" pitchFamily="18" charset="0"/>
                        <a:ea typeface="宋体" panose="02010600030101010101" pitchFamily="2" charset="-122"/>
                      </a:rPr>
                      <m:t>𝑓</m:t>
                    </m:r>
                    <m:r>
                      <a:rPr lang="en-US" altLang="zh-CN" sz="2200" i="1" kern="100">
                        <a:latin typeface="Cambria Math" panose="02040503050406030204" pitchFamily="18" charset="0"/>
                        <a:ea typeface="宋体" panose="02010600030101010101" pitchFamily="2" charset="-122"/>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𝑥</m:t>
                        </m:r>
                      </m:e>
                      <m:sup>
                        <m:r>
                          <a:rPr lang="en-US" altLang="zh-CN" sz="2200" i="1" kern="100">
                            <a:latin typeface="Cambria Math" panose="02040503050406030204" pitchFamily="18" charset="0"/>
                            <a:ea typeface="宋体" panose="02010600030101010101" pitchFamily="2" charset="-122"/>
                          </a:rPr>
                          <m:t>(1)</m:t>
                        </m:r>
                      </m:sup>
                    </m:sSup>
                    <m:r>
                      <a:rPr lang="en-US" altLang="zh-CN" sz="2200" i="1" kern="100">
                        <a:latin typeface="Cambria Math" panose="02040503050406030204" pitchFamily="18" charset="0"/>
                        <a:ea typeface="宋体" panose="02010600030101010101" pitchFamily="2" charset="-122"/>
                      </a:rPr>
                      <m:t>)</m:t>
                    </m:r>
                  </m:oMath>
                </a14:m>
                <a:endParaRPr lang="zh-CN" altLang="zh-CN" sz="2200" kern="100" dirty="0">
                  <a:latin typeface="Times New Roman" panose="02020603050405020304" pitchFamily="18" charset="0"/>
                  <a:ea typeface="宋体" panose="02010600030101010101" pitchFamily="2" charset="-122"/>
                </a:endParaRPr>
              </a:p>
              <a:p>
                <a:pPr algn="just">
                  <a:lnSpc>
                    <a:spcPct val="150000"/>
                  </a:lnSpc>
                </a:pPr>
                <a:r>
                  <a:rPr lang="zh-CN" altLang="zh-CN" sz="2200" kern="100" dirty="0">
                    <a:latin typeface="Times New Roman" panose="02020603050405020304" pitchFamily="18" charset="0"/>
                    <a:ea typeface="宋体" panose="02010600030101010101" pitchFamily="2" charset="-122"/>
                  </a:rPr>
                  <a:t>置</a:t>
                </a:r>
                <a14:m>
                  <m:oMath xmlns:m="http://schemas.openxmlformats.org/officeDocument/2006/math">
                    <m:r>
                      <a:rPr lang="en-US" altLang="zh-CN" sz="2200" i="1" kern="100">
                        <a:latin typeface="Cambria Math" panose="02040503050406030204" pitchFamily="18" charset="0"/>
                        <a:ea typeface="宋体" panose="02010600030101010101" pitchFamily="2" charset="-122"/>
                      </a:rPr>
                      <m:t>𝑘</m:t>
                    </m:r>
                    <m:r>
                      <a:rPr lang="en-US" altLang="zh-CN" sz="2200" i="1" kern="100">
                        <a:latin typeface="Cambria Math" panose="02040503050406030204" pitchFamily="18" charset="0"/>
                        <a:ea typeface="宋体" panose="02010600030101010101" pitchFamily="2" charset="-122"/>
                      </a:rPr>
                      <m:t>=1</m:t>
                    </m:r>
                  </m:oMath>
                </a14:m>
                <a:r>
                  <a:rPr lang="zh-CN" altLang="en-US" sz="2200" kern="100" dirty="0">
                    <a:latin typeface="宋体" panose="02010600030101010101" pitchFamily="2" charset="-122"/>
                    <a:ea typeface="宋体" panose="02010600030101010101" pitchFamily="2" charset="-122"/>
                  </a:rPr>
                  <a:t>，</a:t>
                </a:r>
                <a:r>
                  <a:rPr lang="zh-CN" altLang="zh-CN" sz="2200" kern="100" dirty="0">
                    <a:latin typeface="Times New Roman" panose="02020603050405020304" pitchFamily="18" charset="0"/>
                    <a:ea typeface="宋体" panose="02010600030101010101" pitchFamily="2" charset="-122"/>
                  </a:rPr>
                  <a:t>转下一步</a:t>
                </a:r>
                <a:r>
                  <a:rPr lang="zh-CN" altLang="en-US" sz="2200" kern="100" dirty="0">
                    <a:latin typeface="Times New Roman" panose="02020603050405020304" pitchFamily="18" charset="0"/>
                    <a:ea typeface="宋体" panose="02010600030101010101" pitchFamily="2" charset="-122"/>
                  </a:rPr>
                  <a:t>。</a:t>
                </a:r>
                <a:endParaRPr lang="en-US" altLang="zh-CN" sz="2200" kern="100" dirty="0">
                  <a:latin typeface="Times New Roman" panose="02020603050405020304" pitchFamily="18" charset="0"/>
                  <a:ea typeface="宋体" panose="02010600030101010101" pitchFamily="2" charset="-122"/>
                </a:endParaRPr>
              </a:p>
              <a:p>
                <a:pPr algn="just">
                  <a:lnSpc>
                    <a:spcPct val="150000"/>
                  </a:lnSpc>
                </a:pPr>
                <a:r>
                  <a:rPr lang="en-US" altLang="zh-CN" sz="2200" kern="100" dirty="0">
                    <a:latin typeface="宋体" panose="02010600030101010101" pitchFamily="2" charset="-122"/>
                    <a:ea typeface="宋体" panose="02010600030101010101" pitchFamily="2" charset="-122"/>
                  </a:rPr>
                  <a:t>  4.</a:t>
                </a:r>
                <a:r>
                  <a:rPr lang="zh-CN" altLang="zh-CN" sz="2200" kern="100" dirty="0">
                    <a:latin typeface="Times New Roman" panose="02020603050405020304" pitchFamily="18" charset="0"/>
                    <a:ea typeface="宋体" panose="02010600030101010101" pitchFamily="2" charset="-122"/>
                  </a:rPr>
                  <a:t>进行一维寻优，求最优步长</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up>
                    </m:sSup>
                  </m:oMath>
                </a14:m>
                <a:r>
                  <a:rPr lang="zh-CN" altLang="zh-CN" sz="2200" kern="100" dirty="0">
                    <a:latin typeface="Times New Roman" panose="02020603050405020304" pitchFamily="18" charset="0"/>
                    <a:ea typeface="宋体" panose="02010600030101010101" pitchFamily="2" charset="-122"/>
                  </a:rPr>
                  <a:t>使</a:t>
                </a:r>
              </a:p>
              <a:p>
                <a:pPr algn="just">
                  <a:lnSpc>
                    <a:spcPct val="150000"/>
                  </a:lnSpc>
                </a:pPr>
                <a14:m>
                  <m:oMathPara xmlns:m="http://schemas.openxmlformats.org/officeDocument/2006/math">
                    <m:oMathParaPr>
                      <m:jc m:val="centerGroup"/>
                    </m:oMathParaPr>
                    <m:oMath xmlns:m="http://schemas.openxmlformats.org/officeDocument/2006/math">
                      <m:r>
                        <a:rPr lang="en-US" altLang="zh-CN" sz="2200" i="1" kern="100">
                          <a:latin typeface="Cambria Math" panose="02040503050406030204" pitchFamily="18" charset="0"/>
                          <a:ea typeface="宋体" panose="02010600030101010101" pitchFamily="2" charset="-122"/>
                        </a:rPr>
                        <m:t>𝑓</m:t>
                      </m:r>
                      <m:r>
                        <a:rPr lang="en-US" altLang="zh-CN" sz="2200" i="1" kern="100">
                          <a:latin typeface="Cambria Math" panose="02040503050406030204" pitchFamily="18" charset="0"/>
                          <a:ea typeface="宋体" panose="02010600030101010101" pitchFamily="2" charset="-122"/>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𝑥</m:t>
                          </m:r>
                        </m:e>
                        <m:sup>
                          <m:r>
                            <a:rPr lang="en-US" altLang="zh-CN" sz="2200" i="1" kern="100">
                              <a:latin typeface="Cambria Math" panose="02040503050406030204" pitchFamily="18" charset="0"/>
                              <a:ea typeface="宋体" panose="02010600030101010101" pitchFamily="2" charset="-122"/>
                            </a:rPr>
                            <m:t>(</m:t>
                          </m:r>
                          <m:r>
                            <a:rPr lang="en-US" altLang="zh-CN" sz="2200" i="1" kern="100">
                              <a:latin typeface="Cambria Math" panose="02040503050406030204" pitchFamily="18" charset="0"/>
                              <a:ea typeface="宋体" panose="02010600030101010101" pitchFamily="2" charset="-122"/>
                            </a:rPr>
                            <m:t>𝑘</m:t>
                          </m:r>
                          <m:r>
                            <a:rPr lang="en-US" altLang="zh-CN" sz="2200" i="1" kern="100">
                              <a:latin typeface="Cambria Math" panose="02040503050406030204" pitchFamily="18" charset="0"/>
                              <a:ea typeface="宋体" panose="02010600030101010101" pitchFamily="2" charset="-122"/>
                            </a:rPr>
                            <m:t>)</m:t>
                          </m:r>
                        </m:sup>
                      </m:sSup>
                      <m:r>
                        <a:rPr lang="en-US" altLang="zh-CN" sz="2200" i="1" kern="100">
                          <a:latin typeface="Cambria Math" panose="02040503050406030204" pitchFamily="18" charset="0"/>
                          <a:ea typeface="宋体" panose="02010600030101010101" pitchFamily="2" charset="-122"/>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up>
                      </m:sSup>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𝑑</m:t>
                          </m:r>
                        </m:e>
                        <m:sup>
                          <m:r>
                            <a:rPr lang="en-US" altLang="zh-CN" sz="2200" i="1" kern="100">
                              <a:latin typeface="Cambria Math" panose="02040503050406030204" pitchFamily="18" charset="0"/>
                              <a:ea typeface="宋体" panose="02010600030101010101" pitchFamily="2" charset="-122"/>
                            </a:rPr>
                            <m:t>(</m:t>
                          </m:r>
                          <m:r>
                            <a:rPr lang="en-US" altLang="zh-CN" sz="2200" i="1" kern="100">
                              <a:latin typeface="Cambria Math" panose="02040503050406030204" pitchFamily="18" charset="0"/>
                              <a:ea typeface="宋体" panose="02010600030101010101" pitchFamily="2" charset="-122"/>
                            </a:rPr>
                            <m:t>𝑘</m:t>
                          </m:r>
                          <m:r>
                            <a:rPr lang="en-US" altLang="zh-CN" sz="2200" i="1" kern="100">
                              <a:latin typeface="Cambria Math" panose="02040503050406030204" pitchFamily="18" charset="0"/>
                              <a:ea typeface="宋体" panose="02010600030101010101" pitchFamily="2" charset="-122"/>
                            </a:rPr>
                            <m:t>)</m:t>
                          </m:r>
                        </m:sup>
                      </m:sSup>
                      <m:r>
                        <a:rPr lang="en-US" altLang="zh-CN" sz="2200" i="1" kern="100">
                          <a:latin typeface="Cambria Math" panose="02040503050406030204" pitchFamily="18" charset="0"/>
                          <a:ea typeface="宋体" panose="02010600030101010101" pitchFamily="2" charset="-122"/>
                        </a:rPr>
                        <m:t>)=</m:t>
                      </m:r>
                      <m:limLow>
                        <m:limLowPr>
                          <m:ctrlPr>
                            <a:rPr lang="zh-CN" altLang="zh-CN" sz="2200" i="1" kern="100">
                              <a:latin typeface="Cambria Math" panose="02040503050406030204" pitchFamily="18" charset="0"/>
                              <a:ea typeface="Cambria Math" panose="02040503050406030204" pitchFamily="18" charset="0"/>
                            </a:rPr>
                          </m:ctrlPr>
                        </m:limLowPr>
                        <m:e>
                          <m:r>
                            <a:rPr lang="en-US" altLang="zh-CN" sz="2200" i="1" kern="100">
                              <a:latin typeface="Cambria Math" panose="02040503050406030204" pitchFamily="18" charset="0"/>
                              <a:ea typeface="宋体" panose="02010600030101010101" pitchFamily="2" charset="-122"/>
                            </a:rPr>
                            <m:t>𝑚𝑖𝑛</m:t>
                          </m:r>
                        </m:e>
                        <m:lim>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𝛼</m:t>
                          </m:r>
                          <m:r>
                            <a:rPr lang="en-US" altLang="zh-CN" sz="2200" i="1" kern="100">
                              <a:latin typeface="Cambria Math" panose="02040503050406030204" pitchFamily="18" charset="0"/>
                              <a:ea typeface="宋体" panose="02010600030101010101" pitchFamily="2" charset="-122"/>
                            </a:rPr>
                            <m:t>≥0</m:t>
                          </m:r>
                        </m:lim>
                      </m:limLow>
                      <m:r>
                        <a:rPr lang="en-US" altLang="zh-CN" sz="2200" i="1" kern="100">
                          <a:latin typeface="Cambria Math" panose="02040503050406030204" pitchFamily="18" charset="0"/>
                          <a:ea typeface="宋体" panose="02010600030101010101" pitchFamily="2" charset="-122"/>
                        </a:rPr>
                        <m:t>𝑓</m:t>
                      </m:r>
                      <m:r>
                        <a:rPr lang="en-US" altLang="zh-CN" sz="2200" i="1" kern="100">
                          <a:latin typeface="Cambria Math" panose="02040503050406030204" pitchFamily="18" charset="0"/>
                          <a:ea typeface="宋体" panose="02010600030101010101" pitchFamily="2" charset="-122"/>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𝑥</m:t>
                          </m:r>
                        </m:e>
                        <m:sup>
                          <m:r>
                            <a:rPr lang="en-US" altLang="zh-CN" sz="2200" i="1" kern="100">
                              <a:latin typeface="Cambria Math" panose="02040503050406030204" pitchFamily="18" charset="0"/>
                              <a:ea typeface="宋体" panose="02010600030101010101" pitchFamily="2" charset="-122"/>
                            </a:rPr>
                            <m:t>(</m:t>
                          </m:r>
                          <m:r>
                            <a:rPr lang="en-US" altLang="zh-CN" sz="2200" i="1" kern="100">
                              <a:latin typeface="Cambria Math" panose="02040503050406030204" pitchFamily="18" charset="0"/>
                              <a:ea typeface="宋体" panose="02010600030101010101" pitchFamily="2" charset="-122"/>
                            </a:rPr>
                            <m:t>𝑘</m:t>
                          </m:r>
                          <m:r>
                            <a:rPr lang="en-US" altLang="zh-CN" sz="2200" i="1" kern="100">
                              <a:latin typeface="Cambria Math" panose="02040503050406030204" pitchFamily="18" charset="0"/>
                              <a:ea typeface="宋体" panose="02010600030101010101" pitchFamily="2" charset="-122"/>
                            </a:rPr>
                            <m:t>)</m:t>
                          </m:r>
                        </m:sup>
                      </m:sSup>
                      <m:r>
                        <a:rPr lang="en-US" altLang="zh-CN" sz="2200" i="1" kern="100">
                          <a:latin typeface="Cambria Math" panose="02040503050406030204" pitchFamily="18" charset="0"/>
                          <a:ea typeface="宋体" panose="02010600030101010101" pitchFamily="2" charset="-122"/>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𝛼</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𝑑</m:t>
                          </m:r>
                        </m:e>
                        <m:sup>
                          <m:r>
                            <a:rPr lang="en-US" altLang="zh-CN" sz="2200" i="1" kern="100">
                              <a:latin typeface="Cambria Math" panose="02040503050406030204" pitchFamily="18" charset="0"/>
                              <a:ea typeface="宋体" panose="02010600030101010101" pitchFamily="2" charset="-122"/>
                            </a:rPr>
                            <m:t>(</m:t>
                          </m:r>
                          <m:r>
                            <a:rPr lang="en-US" altLang="zh-CN" sz="2200" i="1" kern="100">
                              <a:latin typeface="Cambria Math" panose="02040503050406030204" pitchFamily="18" charset="0"/>
                              <a:ea typeface="宋体" panose="02010600030101010101" pitchFamily="2" charset="-122"/>
                            </a:rPr>
                            <m:t>𝑘</m:t>
                          </m:r>
                          <m:r>
                            <a:rPr lang="en-US" altLang="zh-CN" sz="2200" i="1" kern="100">
                              <a:latin typeface="Cambria Math" panose="02040503050406030204" pitchFamily="18" charset="0"/>
                              <a:ea typeface="宋体" panose="02010600030101010101" pitchFamily="2" charset="-122"/>
                            </a:rPr>
                            <m:t>)</m:t>
                          </m:r>
                        </m:sup>
                      </m:sSup>
                      <m:r>
                        <a:rPr lang="en-US" altLang="zh-CN" sz="2200" i="1" kern="100">
                          <a:latin typeface="Cambria Math" panose="02040503050406030204" pitchFamily="18" charset="0"/>
                          <a:ea typeface="宋体" panose="02010600030101010101" pitchFamily="2" charset="-122"/>
                        </a:rPr>
                        <m:t>)</m:t>
                      </m:r>
                    </m:oMath>
                  </m:oMathPara>
                </a14:m>
                <a:endParaRPr lang="zh-CN" altLang="zh-CN" sz="2200" kern="100" dirty="0">
                  <a:latin typeface="Times New Roman" panose="02020603050405020304" pitchFamily="18" charset="0"/>
                  <a:ea typeface="宋体" panose="02010600030101010101" pitchFamily="2" charset="-122"/>
                </a:endParaRPr>
              </a:p>
              <a:p>
                <a:pPr algn="just">
                  <a:lnSpc>
                    <a:spcPct val="150000"/>
                  </a:lnSpc>
                </a:pPr>
                <a:r>
                  <a:rPr lang="en-US" altLang="zh-CN" sz="2200" kern="100" dirty="0">
                    <a:latin typeface="Times New Roman" panose="02020603050405020304" pitchFamily="18" charset="0"/>
                    <a:ea typeface="宋体" panose="02010600030101010101" pitchFamily="2" charset="-122"/>
                  </a:rPr>
                  <a:t>        </a:t>
                </a:r>
                <a:r>
                  <a:rPr lang="zh-CN" altLang="zh-CN" sz="2200" kern="100" dirty="0">
                    <a:latin typeface="Times New Roman" panose="02020603050405020304" pitchFamily="18" charset="0"/>
                    <a:ea typeface="宋体" panose="02010600030101010101" pitchFamily="2" charset="-122"/>
                  </a:rPr>
                  <a:t>令</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𝑥</m:t>
                        </m:r>
                      </m:e>
                      <m:sup>
                        <m:r>
                          <a:rPr lang="en-US" altLang="zh-CN" sz="2200" i="1" kern="100">
                            <a:latin typeface="Cambria Math" panose="02040503050406030204" pitchFamily="18" charset="0"/>
                            <a:ea typeface="宋体" panose="02010600030101010101" pitchFamily="2" charset="-122"/>
                          </a:rPr>
                          <m:t>(</m:t>
                        </m:r>
                        <m:r>
                          <a:rPr lang="en-US" altLang="zh-CN" sz="2200" i="1" kern="100">
                            <a:latin typeface="Cambria Math" panose="02040503050406030204" pitchFamily="18" charset="0"/>
                            <a:ea typeface="宋体" panose="02010600030101010101" pitchFamily="2" charset="-122"/>
                          </a:rPr>
                          <m:t>𝑘</m:t>
                        </m:r>
                        <m:r>
                          <a:rPr lang="en-US" altLang="zh-CN" sz="2200" i="1" kern="100">
                            <a:latin typeface="Cambria Math" panose="02040503050406030204" pitchFamily="18" charset="0"/>
                            <a:ea typeface="宋体" panose="02010600030101010101" pitchFamily="2" charset="-122"/>
                          </a:rPr>
                          <m:t>+1)</m:t>
                        </m:r>
                      </m:sup>
                    </m:sSup>
                    <m:r>
                      <a:rPr lang="en-US" altLang="zh-CN" sz="2200" i="1" kern="100">
                        <a:latin typeface="Cambria Math" panose="02040503050406030204" pitchFamily="18" charset="0"/>
                        <a:ea typeface="宋体" panose="02010600030101010101" pitchFamily="2" charset="-122"/>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𝑥</m:t>
                        </m:r>
                      </m:e>
                      <m:sup>
                        <m:r>
                          <a:rPr lang="en-US" altLang="zh-CN" sz="2200" i="1" kern="100">
                            <a:latin typeface="Cambria Math" panose="02040503050406030204" pitchFamily="18" charset="0"/>
                            <a:ea typeface="宋体" panose="02010600030101010101" pitchFamily="2" charset="-122"/>
                          </a:rPr>
                          <m:t>(</m:t>
                        </m:r>
                        <m:r>
                          <a:rPr lang="en-US" altLang="zh-CN" sz="2200" i="1" kern="100">
                            <a:latin typeface="Cambria Math" panose="02040503050406030204" pitchFamily="18" charset="0"/>
                            <a:ea typeface="宋体" panose="02010600030101010101" pitchFamily="2" charset="-122"/>
                          </a:rPr>
                          <m:t>𝑘</m:t>
                        </m:r>
                        <m:r>
                          <a:rPr lang="en-US" altLang="zh-CN" sz="2200" i="1" kern="100">
                            <a:latin typeface="Cambria Math" panose="02040503050406030204" pitchFamily="18" charset="0"/>
                            <a:ea typeface="宋体" panose="02010600030101010101" pitchFamily="2" charset="-122"/>
                          </a:rPr>
                          <m:t>)</m:t>
                        </m:r>
                      </m:sup>
                    </m:sSup>
                    <m:r>
                      <a:rPr lang="en-US" altLang="zh-CN" sz="2200" i="1" kern="100">
                        <a:latin typeface="Cambria Math" panose="02040503050406030204" pitchFamily="18" charset="0"/>
                        <a:ea typeface="宋体" panose="02010600030101010101" pitchFamily="2" charset="-122"/>
                      </a:rPr>
                      <m:t>+</m:t>
                    </m:r>
                    <m:sSup>
                      <m:sSupPr>
                        <m:ctrlPr>
                          <a:rPr lang="zh-CN" altLang="zh-CN" sz="22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2200" i="1" kern="100">
                            <a:latin typeface="Cambria Math" panose="02040503050406030204" pitchFamily="18" charset="0"/>
                            <a:ea typeface="Cambria Math" panose="02040503050406030204" pitchFamily="18" charset="0"/>
                            <a:cs typeface="Times New Roman" panose="02020603050405020304" pitchFamily="18" charset="0"/>
                          </a:rPr>
                          <m:t>)</m:t>
                        </m:r>
                      </m:sup>
                    </m:sSup>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𝑑</m:t>
                        </m:r>
                      </m:e>
                      <m:sup>
                        <m:r>
                          <a:rPr lang="en-US" altLang="zh-CN" sz="2200" i="1" kern="100">
                            <a:latin typeface="Cambria Math" panose="02040503050406030204" pitchFamily="18" charset="0"/>
                            <a:ea typeface="宋体" panose="02010600030101010101" pitchFamily="2" charset="-122"/>
                          </a:rPr>
                          <m:t>(</m:t>
                        </m:r>
                        <m:r>
                          <a:rPr lang="en-US" altLang="zh-CN" sz="2200" i="1" kern="100">
                            <a:latin typeface="Cambria Math" panose="02040503050406030204" pitchFamily="18" charset="0"/>
                            <a:ea typeface="宋体" panose="02010600030101010101" pitchFamily="2" charset="-122"/>
                          </a:rPr>
                          <m:t>𝑘</m:t>
                        </m:r>
                        <m:r>
                          <a:rPr lang="en-US" altLang="zh-CN" sz="2200" i="1" kern="100">
                            <a:latin typeface="Cambria Math" panose="02040503050406030204" pitchFamily="18" charset="0"/>
                            <a:ea typeface="宋体" panose="02010600030101010101" pitchFamily="2" charset="-122"/>
                          </a:rPr>
                          <m:t>)</m:t>
                        </m:r>
                      </m:sup>
                    </m:sSup>
                  </m:oMath>
                </a14:m>
                <a:r>
                  <a:rPr lang="zh-CN" altLang="zh-CN" sz="2200" kern="100" dirty="0">
                    <a:latin typeface="Times New Roman" panose="02020603050405020304" pitchFamily="18" charset="0"/>
                    <a:ea typeface="宋体" panose="02010600030101010101" pitchFamily="2" charset="-122"/>
                  </a:rPr>
                  <a:t>，转下一步</a:t>
                </a:r>
                <a:r>
                  <a:rPr lang="zh-CN" altLang="en-US" sz="2200" kern="100" dirty="0">
                    <a:latin typeface="Times New Roman" panose="02020603050405020304" pitchFamily="18" charset="0"/>
                    <a:ea typeface="宋体" panose="02010600030101010101" pitchFamily="2" charset="-122"/>
                  </a:rPr>
                  <a:t>。</a:t>
                </a:r>
                <a:endParaRPr lang="zh-CN" altLang="zh-CN" sz="2200" kern="100" dirty="0">
                  <a:latin typeface="Times New Roman" panose="02020603050405020304" pitchFamily="18" charset="0"/>
                  <a:ea typeface="宋体" panose="02010600030101010101" pitchFamily="2" charset="-122"/>
                </a:endParaRPr>
              </a:p>
              <a:p>
                <a:pPr algn="just">
                  <a:lnSpc>
                    <a:spcPct val="150000"/>
                  </a:lnSpc>
                </a:pPr>
                <a:endParaRPr lang="zh-CN" altLang="zh-CN" sz="2200" kern="100" dirty="0">
                  <a:latin typeface="Times New Roman" panose="02020603050405020304" pitchFamily="18" charset="0"/>
                  <a:ea typeface="宋体" panose="02010600030101010101" pitchFamily="2" charset="-122"/>
                </a:endParaRPr>
              </a:p>
            </p:txBody>
          </p:sp>
        </mc:Choice>
        <mc:Fallback xmlns="">
          <p:sp>
            <p:nvSpPr>
              <p:cNvPr id="2" name="文本框 1">
                <a:extLst>
                  <a:ext uri="{FF2B5EF4-FFF2-40B4-BE49-F238E27FC236}">
                    <a16:creationId xmlns:a16="http://schemas.microsoft.com/office/drawing/2014/main" id="{76F371B8-F052-8A18-6B37-D5BE463FBD28}"/>
                  </a:ext>
                </a:extLst>
              </p:cNvPr>
              <p:cNvSpPr txBox="1">
                <a:spLocks noRot="1" noChangeAspect="1" noMove="1" noResize="1" noEditPoints="1" noAdjustHandles="1" noChangeArrowheads="1" noChangeShapeType="1" noTextEdit="1"/>
              </p:cNvSpPr>
              <p:nvPr/>
            </p:nvSpPr>
            <p:spPr>
              <a:xfrm>
                <a:off x="375874" y="350481"/>
                <a:ext cx="8022771" cy="6442341"/>
              </a:xfrm>
              <a:prstGeom prst="rect">
                <a:avLst/>
              </a:prstGeom>
              <a:blipFill>
                <a:blip r:embed="rId2"/>
                <a:stretch>
                  <a:fillRect l="-988" r="-988"/>
                </a:stretch>
              </a:blipFill>
            </p:spPr>
            <p:txBody>
              <a:bodyPr/>
              <a:lstStyle/>
              <a:p>
                <a:r>
                  <a:rPr lang="zh-CN" altLang="en-US">
                    <a:noFill/>
                  </a:rPr>
                  <a:t> </a:t>
                </a:r>
              </a:p>
            </p:txBody>
          </p:sp>
        </mc:Fallback>
      </mc:AlternateContent>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3CE52A8-CFE2-47D5-2463-890B9E764652}"/>
                  </a:ext>
                </a:extLst>
              </p:cNvPr>
              <p:cNvSpPr txBox="1"/>
              <p:nvPr/>
            </p:nvSpPr>
            <p:spPr>
              <a:xfrm>
                <a:off x="360523" y="1160472"/>
                <a:ext cx="8609385" cy="4653710"/>
              </a:xfrm>
              <a:prstGeom prst="rect">
                <a:avLst/>
              </a:prstGeom>
              <a:noFill/>
            </p:spPr>
            <p:txBody>
              <a:bodyPr wrap="square" rtlCol="0">
                <a:spAutoFit/>
              </a:bodyPr>
              <a:lstStyle/>
              <a:p>
                <a:pPr algn="just">
                  <a:lnSpc>
                    <a:spcPct val="150000"/>
                  </a:lnSpc>
                </a:pPr>
                <a:r>
                  <a:rPr lang="en-US" altLang="zh-CN" sz="2200" kern="100" dirty="0">
                    <a:latin typeface="宋体" panose="02010600030101010101" pitchFamily="2" charset="-122"/>
                    <a:ea typeface="宋体" panose="02010600030101010101" pitchFamily="2" charset="-122"/>
                  </a:rPr>
                  <a:t>5.</a:t>
                </a:r>
                <a:r>
                  <a:rPr lang="zh-CN" altLang="zh-CN" sz="2200" kern="100" dirty="0">
                    <a:latin typeface="Times New Roman" panose="02020603050405020304" pitchFamily="18" charset="0"/>
                    <a:ea typeface="宋体" panose="02010600030101010101" pitchFamily="2" charset="-122"/>
                  </a:rPr>
                  <a:t>求梯度向量</a:t>
                </a:r>
                <a:r>
                  <a:rPr lang="zh-CN" altLang="en-US" sz="2200" kern="100" dirty="0">
                    <a:latin typeface="Times New Roman" panose="02020603050405020304" pitchFamily="18" charset="0"/>
                    <a:ea typeface="宋体" panose="02010600030101010101" pitchFamily="2" charset="-122"/>
                  </a:rPr>
                  <a:t>：</a:t>
                </a:r>
                <a:endParaRPr lang="zh-CN" altLang="zh-CN" sz="2200" kern="100" dirty="0">
                  <a:latin typeface="Times New Roman" panose="02020603050405020304" pitchFamily="18" charset="0"/>
                  <a:ea typeface="宋体" panose="02010600030101010101" pitchFamily="2" charset="-122"/>
                </a:endParaRPr>
              </a:p>
              <a:p>
                <a:pPr algn="just">
                  <a:lnSpc>
                    <a:spcPct val="150000"/>
                  </a:lnSpc>
                </a:pPr>
                <a:r>
                  <a:rPr lang="en-US" altLang="zh-CN" sz="2200" kern="100" dirty="0">
                    <a:latin typeface="宋体" panose="02010600030101010101" pitchFamily="2" charset="-122"/>
                    <a:ea typeface="宋体" panose="02010600030101010101" pitchFamily="2" charset="-122"/>
                  </a:rPr>
                  <a:t>    </a:t>
                </a:r>
                <a:r>
                  <a:rPr lang="zh-CN" altLang="zh-CN" sz="2200" kern="100" dirty="0">
                    <a:latin typeface="Times New Roman" panose="02020603050405020304" pitchFamily="18" charset="0"/>
                    <a:ea typeface="宋体" panose="02010600030101010101" pitchFamily="2" charset="-122"/>
                  </a:rPr>
                  <a:t>计算</a:t>
                </a:r>
                <a14:m>
                  <m:oMath xmlns:m="http://schemas.openxmlformats.org/officeDocument/2006/math">
                    <m:r>
                      <a:rPr lang="en-US" altLang="zh-CN" sz="2200" i="1" kern="100">
                        <a:latin typeface="Cambria Math" panose="02040503050406030204" pitchFamily="18" charset="0"/>
                        <a:ea typeface="宋体" panose="02010600030101010101" pitchFamily="2" charset="-122"/>
                        <a:cs typeface="Cambria Math" panose="02040503050406030204" pitchFamily="18" charset="0"/>
                      </a:rPr>
                      <m:t>𝛻</m:t>
                    </m:r>
                    <m:r>
                      <a:rPr lang="en-US" altLang="zh-CN" sz="2200" i="1" kern="100">
                        <a:latin typeface="Cambria Math" panose="02040503050406030204" pitchFamily="18" charset="0"/>
                        <a:ea typeface="宋体" panose="02010600030101010101" pitchFamily="2" charset="-122"/>
                      </a:rPr>
                      <m:t>𝑓</m:t>
                    </m:r>
                    <m:r>
                      <a:rPr lang="en-US" altLang="zh-CN" sz="2200" i="1" kern="100">
                        <a:latin typeface="Cambria Math" panose="02040503050406030204" pitchFamily="18" charset="0"/>
                        <a:ea typeface="宋体" panose="02010600030101010101" pitchFamily="2" charset="-122"/>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𝑥</m:t>
                        </m:r>
                      </m:e>
                      <m:sup>
                        <m:r>
                          <a:rPr lang="en-US" altLang="zh-CN" sz="2200" i="1" kern="100">
                            <a:latin typeface="Cambria Math" panose="02040503050406030204" pitchFamily="18" charset="0"/>
                            <a:ea typeface="宋体" panose="02010600030101010101" pitchFamily="2" charset="-122"/>
                          </a:rPr>
                          <m:t>(</m:t>
                        </m:r>
                        <m:r>
                          <a:rPr lang="en-US" altLang="zh-CN" sz="2200" i="1" kern="100">
                            <a:latin typeface="Cambria Math" panose="02040503050406030204" pitchFamily="18" charset="0"/>
                            <a:ea typeface="宋体" panose="02010600030101010101" pitchFamily="2" charset="-122"/>
                          </a:rPr>
                          <m:t>𝑘</m:t>
                        </m:r>
                        <m:r>
                          <a:rPr lang="en-US" altLang="zh-CN" sz="2200" i="1" kern="100">
                            <a:latin typeface="Cambria Math" panose="02040503050406030204" pitchFamily="18" charset="0"/>
                            <a:ea typeface="宋体" panose="02010600030101010101" pitchFamily="2" charset="-122"/>
                          </a:rPr>
                          <m:t>+1)</m:t>
                        </m:r>
                      </m:sup>
                    </m:sSup>
                    <m:r>
                      <a:rPr lang="en-US" altLang="zh-CN" sz="2200" i="1" kern="100">
                        <a:latin typeface="Cambria Math" panose="02040503050406030204" pitchFamily="18" charset="0"/>
                        <a:ea typeface="宋体" panose="02010600030101010101" pitchFamily="2" charset="-122"/>
                      </a:rPr>
                      <m:t>)</m:t>
                    </m:r>
                  </m:oMath>
                </a14:m>
                <a:r>
                  <a:rPr lang="zh-CN" altLang="zh-CN" sz="2200" kern="100" dirty="0">
                    <a:latin typeface="Times New Roman" panose="02020603050405020304" pitchFamily="18" charset="0"/>
                    <a:ea typeface="宋体" panose="02010600030101010101" pitchFamily="2" charset="-122"/>
                  </a:rPr>
                  <a:t>，若</a:t>
                </a:r>
                <a14:m>
                  <m:oMath xmlns:m="http://schemas.openxmlformats.org/officeDocument/2006/math">
                    <m:sSub>
                      <m:sSubPr>
                        <m:ctrlPr>
                          <a:rPr lang="en-US" altLang="zh-CN" sz="2200" i="1" kern="100">
                            <a:latin typeface="Cambria Math" panose="02040503050406030204" pitchFamily="18" charset="0"/>
                            <a:ea typeface="Cambria Math" panose="02040503050406030204" pitchFamily="18" charset="0"/>
                          </a:rPr>
                        </m:ctrlPr>
                      </m:sSubPr>
                      <m:e>
                        <m:d>
                          <m:dPr>
                            <m:begChr m:val="‖"/>
                            <m:endChr m:val="‖"/>
                            <m:ctrlPr>
                              <a:rPr lang="zh-CN" altLang="zh-CN" sz="2200" i="1" kern="100">
                                <a:latin typeface="Cambria Math" panose="02040503050406030204" pitchFamily="18" charset="0"/>
                                <a:ea typeface="Cambria Math" panose="02040503050406030204" pitchFamily="18" charset="0"/>
                              </a:rPr>
                            </m:ctrlPr>
                          </m:dPr>
                          <m:e>
                            <m:r>
                              <a:rPr lang="en-US" altLang="zh-CN" sz="2200" i="1" kern="100">
                                <a:latin typeface="Cambria Math" panose="02040503050406030204" pitchFamily="18" charset="0"/>
                                <a:ea typeface="宋体" panose="02010600030101010101" pitchFamily="2" charset="-122"/>
                                <a:cs typeface="Cambria Math" panose="02040503050406030204" pitchFamily="18" charset="0"/>
                              </a:rPr>
                              <m:t>𝛻</m:t>
                            </m:r>
                            <m:r>
                              <a:rPr lang="en-US" altLang="zh-CN" sz="2200" i="1" kern="100">
                                <a:latin typeface="Cambria Math" panose="02040503050406030204" pitchFamily="18" charset="0"/>
                                <a:ea typeface="宋体" panose="02010600030101010101" pitchFamily="2" charset="-122"/>
                              </a:rPr>
                              <m:t>𝑓</m:t>
                            </m:r>
                            <m:r>
                              <a:rPr lang="en-US" altLang="zh-CN" sz="2200" i="1" kern="100">
                                <a:latin typeface="Cambria Math" panose="02040503050406030204" pitchFamily="18" charset="0"/>
                                <a:ea typeface="宋体" panose="02010600030101010101" pitchFamily="2" charset="-122"/>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𝑥</m:t>
                                </m:r>
                              </m:e>
                              <m:sup>
                                <m:r>
                                  <a:rPr lang="en-US" altLang="zh-CN" sz="2200" i="1" kern="100">
                                    <a:latin typeface="Cambria Math" panose="02040503050406030204" pitchFamily="18" charset="0"/>
                                    <a:ea typeface="宋体" panose="02010600030101010101" pitchFamily="2" charset="-122"/>
                                  </a:rPr>
                                  <m:t>(</m:t>
                                </m:r>
                                <m:r>
                                  <a:rPr lang="en-US" altLang="zh-CN" sz="2200" i="1" kern="100">
                                    <a:latin typeface="Cambria Math" panose="02040503050406030204" pitchFamily="18" charset="0"/>
                                    <a:ea typeface="宋体" panose="02010600030101010101" pitchFamily="2" charset="-122"/>
                                  </a:rPr>
                                  <m:t>𝑘</m:t>
                                </m:r>
                                <m:r>
                                  <a:rPr lang="en-US" altLang="zh-CN" sz="2200" i="1" kern="100">
                                    <a:latin typeface="Cambria Math" panose="02040503050406030204" pitchFamily="18" charset="0"/>
                                    <a:ea typeface="宋体" panose="02010600030101010101" pitchFamily="2" charset="-122"/>
                                  </a:rPr>
                                  <m:t>+1)</m:t>
                                </m:r>
                              </m:sup>
                            </m:sSup>
                            <m:r>
                              <a:rPr lang="en-US" altLang="zh-CN" sz="2200" i="1" kern="100">
                                <a:latin typeface="Cambria Math" panose="02040503050406030204" pitchFamily="18" charset="0"/>
                                <a:ea typeface="宋体" panose="02010600030101010101" pitchFamily="2" charset="-122"/>
                              </a:rPr>
                              <m:t>)</m:t>
                            </m:r>
                          </m:e>
                        </m:d>
                      </m:e>
                      <m:sub>
                        <m:r>
                          <a:rPr lang="en-US" altLang="zh-CN" sz="2200" i="1" kern="100">
                            <a:latin typeface="Cambria Math" panose="02040503050406030204" pitchFamily="18" charset="0"/>
                            <a:ea typeface="Cambria Math" panose="02040503050406030204" pitchFamily="18" charset="0"/>
                          </a:rPr>
                          <m:t>2</m:t>
                        </m:r>
                      </m:sub>
                    </m:sSub>
                    <m:r>
                      <a:rPr lang="en-US" altLang="zh-CN" sz="2200" i="1" kern="100">
                        <a:latin typeface="Cambria Math" panose="02040503050406030204" pitchFamily="18" charset="0"/>
                        <a:ea typeface="宋体" panose="02010600030101010101" pitchFamily="2" charset="-122"/>
                      </a:rPr>
                      <m:t>&lt;</m:t>
                    </m:r>
                    <m:r>
                      <a:rPr lang="en-US" altLang="zh-CN" sz="2200" i="1" kern="100">
                        <a:latin typeface="Cambria Math" panose="02040503050406030204" pitchFamily="18" charset="0"/>
                        <a:ea typeface="宋体" panose="02010600030101010101" pitchFamily="2" charset="-122"/>
                      </a:rPr>
                      <m:t>𝜀</m:t>
                    </m:r>
                  </m:oMath>
                </a14:m>
                <a:r>
                  <a:rPr lang="zh-CN" altLang="zh-CN" sz="2200" kern="100" dirty="0">
                    <a:latin typeface="Times New Roman" panose="02020603050405020304" pitchFamily="18" charset="0"/>
                    <a:ea typeface="宋体" panose="02010600030101010101" pitchFamily="2" charset="-122"/>
                  </a:rPr>
                  <a:t>，停止迭代，输出</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𝑥</m:t>
                        </m:r>
                      </m:e>
                      <m:sup>
                        <m:r>
                          <a:rPr lang="en-US" altLang="zh-CN" sz="2200" i="1" kern="100">
                            <a:latin typeface="Cambria Math" panose="02040503050406030204" pitchFamily="18" charset="0"/>
                            <a:ea typeface="宋体" panose="02010600030101010101" pitchFamily="2" charset="-122"/>
                          </a:rPr>
                          <m:t>∗</m:t>
                        </m:r>
                      </m:sup>
                    </m:sSup>
                  </m:oMath>
                </a14:m>
                <a:r>
                  <a:rPr lang="zh-CN" altLang="zh-CN" sz="2200" kern="100" dirty="0">
                    <a:latin typeface="Times New Roman" panose="02020603050405020304" pitchFamily="18" charset="0"/>
                    <a:ea typeface="宋体" panose="02010600030101010101" pitchFamily="2" charset="-122"/>
                  </a:rPr>
                  <a:t>的近似值</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𝑥</m:t>
                        </m:r>
                      </m:e>
                      <m:sup>
                        <m:r>
                          <a:rPr lang="en-US" altLang="zh-CN" sz="2200" i="1" kern="100">
                            <a:latin typeface="Cambria Math" panose="02040503050406030204" pitchFamily="18" charset="0"/>
                            <a:ea typeface="宋体" panose="02010600030101010101" pitchFamily="2" charset="-122"/>
                          </a:rPr>
                          <m:t>∗</m:t>
                        </m:r>
                      </m:sup>
                    </m:sSup>
                    <m:r>
                      <a:rPr lang="en-US" altLang="zh-CN" sz="2200" i="1" kern="100">
                        <a:latin typeface="Cambria Math" panose="02040503050406030204" pitchFamily="18" charset="0"/>
                        <a:ea typeface="宋体" panose="02010600030101010101" pitchFamily="2" charset="-122"/>
                      </a:rPr>
                      <m:t>≈ </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𝑥</m:t>
                        </m:r>
                      </m:e>
                      <m:sup>
                        <m:r>
                          <a:rPr lang="en-US" altLang="zh-CN" sz="2200" i="1" kern="100">
                            <a:latin typeface="Cambria Math" panose="02040503050406030204" pitchFamily="18" charset="0"/>
                            <a:ea typeface="宋体" panose="02010600030101010101" pitchFamily="2" charset="-122"/>
                          </a:rPr>
                          <m:t>(</m:t>
                        </m:r>
                        <m:r>
                          <a:rPr lang="en-US" altLang="zh-CN" sz="2200" i="1" kern="100">
                            <a:latin typeface="Cambria Math" panose="02040503050406030204" pitchFamily="18" charset="0"/>
                            <a:ea typeface="宋体" panose="02010600030101010101" pitchFamily="2" charset="-122"/>
                          </a:rPr>
                          <m:t>𝑘</m:t>
                        </m:r>
                        <m:r>
                          <a:rPr lang="en-US" altLang="zh-CN" sz="2200" i="1" kern="100">
                            <a:latin typeface="Cambria Math" panose="02040503050406030204" pitchFamily="18" charset="0"/>
                            <a:ea typeface="宋体" panose="02010600030101010101" pitchFamily="2" charset="-122"/>
                          </a:rPr>
                          <m:t>+1)</m:t>
                        </m:r>
                      </m:sup>
                    </m:sSup>
                    <m:r>
                      <a:rPr lang="zh-CN" altLang="en-US" sz="2200" i="1" kern="100">
                        <a:latin typeface="Cambria Math" panose="02040503050406030204" pitchFamily="18" charset="0"/>
                        <a:ea typeface="宋体" panose="02010600030101010101" pitchFamily="2" charset="-122"/>
                      </a:rPr>
                      <m:t>，</m:t>
                    </m:r>
                  </m:oMath>
                </a14:m>
                <a:r>
                  <a:rPr lang="zh-CN" altLang="zh-CN" sz="2200" kern="100" dirty="0">
                    <a:latin typeface="Times New Roman" panose="02020603050405020304" pitchFamily="18" charset="0"/>
                    <a:ea typeface="宋体" panose="02010600030101010101" pitchFamily="2" charset="-122"/>
                  </a:rPr>
                  <a:t>否则转下一步</a:t>
                </a:r>
                <a:r>
                  <a:rPr lang="zh-CN" altLang="en-US" sz="2200" kern="100" dirty="0">
                    <a:latin typeface="Times New Roman" panose="02020603050405020304" pitchFamily="18" charset="0"/>
                    <a:ea typeface="宋体" panose="02010600030101010101" pitchFamily="2" charset="-122"/>
                  </a:rPr>
                  <a:t>。</a:t>
                </a:r>
                <a:endParaRPr lang="zh-CN" altLang="zh-CN" sz="2200" kern="100" dirty="0">
                  <a:latin typeface="Times New Roman" panose="02020603050405020304" pitchFamily="18" charset="0"/>
                  <a:ea typeface="宋体" panose="02010600030101010101" pitchFamily="2" charset="-122"/>
                </a:endParaRPr>
              </a:p>
              <a:p>
                <a:pPr algn="just">
                  <a:lnSpc>
                    <a:spcPct val="150000"/>
                  </a:lnSpc>
                </a:pPr>
                <a:r>
                  <a:rPr lang="en-US" altLang="zh-CN" sz="2200" kern="100" dirty="0">
                    <a:latin typeface="宋体" panose="02010600030101010101" pitchFamily="2" charset="-122"/>
                    <a:ea typeface="宋体" panose="02010600030101010101" pitchFamily="2" charset="-122"/>
                  </a:rPr>
                  <a:t>6.</a:t>
                </a:r>
                <a:r>
                  <a:rPr lang="zh-CN" altLang="zh-CN" sz="2200" kern="100" dirty="0">
                    <a:latin typeface="Times New Roman" panose="02020603050405020304" pitchFamily="18" charset="0"/>
                    <a:ea typeface="宋体" panose="02010600030101010101" pitchFamily="2" charset="-122"/>
                  </a:rPr>
                  <a:t>检验迭代步数</a:t>
                </a:r>
                <a:r>
                  <a:rPr lang="zh-CN" altLang="en-US" sz="2200" kern="100" dirty="0">
                    <a:latin typeface="Times New Roman" panose="02020603050405020304" pitchFamily="18" charset="0"/>
                    <a:ea typeface="宋体" panose="02010600030101010101" pitchFamily="2" charset="-122"/>
                  </a:rPr>
                  <a:t>：</a:t>
                </a:r>
                <a:endParaRPr lang="zh-CN" altLang="zh-CN" sz="2200" kern="100" dirty="0">
                  <a:latin typeface="Times New Roman" panose="02020603050405020304" pitchFamily="18" charset="0"/>
                  <a:ea typeface="宋体" panose="02010600030101010101" pitchFamily="2" charset="-122"/>
                </a:endParaRPr>
              </a:p>
              <a:p>
                <a:pPr algn="just">
                  <a:lnSpc>
                    <a:spcPct val="150000"/>
                  </a:lnSpc>
                </a:pPr>
                <a:r>
                  <a:rPr lang="en-US" altLang="zh-CN" sz="2200" kern="100" dirty="0">
                    <a:latin typeface="宋体" panose="02010600030101010101" pitchFamily="2" charset="-122"/>
                    <a:ea typeface="宋体" panose="02010600030101010101" pitchFamily="2" charset="-122"/>
                  </a:rPr>
                  <a:t>    </a:t>
                </a:r>
                <a:r>
                  <a:rPr lang="zh-CN" altLang="zh-CN" sz="2200" kern="100" dirty="0">
                    <a:latin typeface="Times New Roman" panose="02020603050405020304" pitchFamily="18" charset="0"/>
                    <a:ea typeface="宋体" panose="02010600030101010101" pitchFamily="2" charset="-122"/>
                  </a:rPr>
                  <a:t>若</a:t>
                </a:r>
                <a14:m>
                  <m:oMath xmlns:m="http://schemas.openxmlformats.org/officeDocument/2006/math">
                    <m:r>
                      <a:rPr lang="en-US" altLang="zh-CN" sz="2200" i="1" kern="100">
                        <a:latin typeface="Cambria Math" panose="02040503050406030204" pitchFamily="18" charset="0"/>
                        <a:ea typeface="宋体" panose="02010600030101010101" pitchFamily="2" charset="-122"/>
                      </a:rPr>
                      <m:t>𝑘</m:t>
                    </m:r>
                    <m:r>
                      <a:rPr lang="en-US" altLang="zh-CN" sz="2200" i="1" kern="100">
                        <a:latin typeface="Cambria Math" panose="02040503050406030204" pitchFamily="18" charset="0"/>
                        <a:ea typeface="宋体" panose="02010600030101010101" pitchFamily="2" charset="-122"/>
                      </a:rPr>
                      <m:t> =</m:t>
                    </m:r>
                    <m:r>
                      <a:rPr lang="en-US" altLang="zh-CN" sz="2200" i="1" kern="100">
                        <a:latin typeface="Cambria Math" panose="02040503050406030204" pitchFamily="18" charset="0"/>
                        <a:ea typeface="宋体" panose="02010600030101010101" pitchFamily="2" charset="-122"/>
                      </a:rPr>
                      <m:t>𝑛</m:t>
                    </m:r>
                  </m:oMath>
                </a14:m>
                <a:r>
                  <a:rPr lang="zh-CN" altLang="zh-CN" sz="2200" kern="100" dirty="0">
                    <a:latin typeface="Times New Roman" panose="02020603050405020304" pitchFamily="18" charset="0"/>
                    <a:ea typeface="宋体" panose="02010600030101010101" pitchFamily="2" charset="-122"/>
                  </a:rPr>
                  <a:t>，令</a:t>
                </a:r>
                <a14:m>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𝑥</m:t>
                        </m:r>
                      </m:e>
                      <m:sup>
                        <m:r>
                          <a:rPr lang="en-US" altLang="zh-CN" sz="2200" i="1" kern="100">
                            <a:latin typeface="Cambria Math" panose="02040503050406030204" pitchFamily="18" charset="0"/>
                            <a:ea typeface="宋体" panose="02010600030101010101" pitchFamily="2" charset="-122"/>
                          </a:rPr>
                          <m:t>(1)</m:t>
                        </m:r>
                      </m:sup>
                    </m:sSup>
                    <m:r>
                      <a:rPr lang="en-US" altLang="zh-CN" sz="2200" i="1" kern="100">
                        <a:latin typeface="Cambria Math" panose="02040503050406030204" pitchFamily="18" charset="0"/>
                        <a:ea typeface="宋体" panose="02010600030101010101" pitchFamily="2" charset="-122"/>
                      </a:rPr>
                      <m:t>:=</m:t>
                    </m:r>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𝑥</m:t>
                        </m:r>
                      </m:e>
                      <m:sup>
                        <m:r>
                          <a:rPr lang="en-US" altLang="zh-CN" sz="2200" i="1" kern="100">
                            <a:latin typeface="Cambria Math" panose="02040503050406030204" pitchFamily="18" charset="0"/>
                            <a:ea typeface="宋体" panose="02010600030101010101" pitchFamily="2" charset="-122"/>
                          </a:rPr>
                          <m:t>(</m:t>
                        </m:r>
                        <m:r>
                          <a:rPr lang="en-US" altLang="zh-CN" sz="2200" i="1" kern="100">
                            <a:latin typeface="Cambria Math" panose="02040503050406030204" pitchFamily="18" charset="0"/>
                            <a:ea typeface="宋体" panose="02010600030101010101" pitchFamily="2" charset="-122"/>
                          </a:rPr>
                          <m:t>𝑛</m:t>
                        </m:r>
                        <m:r>
                          <a:rPr lang="en-US" altLang="zh-CN" sz="2200" i="1" kern="100">
                            <a:latin typeface="Cambria Math" panose="02040503050406030204" pitchFamily="18" charset="0"/>
                            <a:ea typeface="宋体" panose="02010600030101010101" pitchFamily="2" charset="-122"/>
                          </a:rPr>
                          <m:t>+1)</m:t>
                        </m:r>
                      </m:sup>
                    </m:sSup>
                  </m:oMath>
                </a14:m>
                <a:r>
                  <a:rPr lang="zh-CN" altLang="zh-CN" sz="2200" kern="100" dirty="0">
                    <a:latin typeface="Times New Roman" panose="02020603050405020304" pitchFamily="18" charset="0"/>
                    <a:ea typeface="宋体" panose="02010600030101010101" pitchFamily="2" charset="-122"/>
                  </a:rPr>
                  <a:t>，转第</a:t>
                </a:r>
                <a:r>
                  <a:rPr lang="en-US" altLang="zh-CN" sz="2200" kern="100" dirty="0">
                    <a:latin typeface="Times New Roman" panose="02020603050405020304" pitchFamily="18" charset="0"/>
                    <a:ea typeface="宋体" panose="02010600030101010101" pitchFamily="2" charset="-122"/>
                  </a:rPr>
                  <a:t>3</a:t>
                </a:r>
                <a:r>
                  <a:rPr lang="zh-CN" altLang="zh-CN" sz="2200" kern="100" dirty="0">
                    <a:latin typeface="Times New Roman" panose="02020603050405020304" pitchFamily="18" charset="0"/>
                    <a:ea typeface="宋体" panose="02010600030101010101" pitchFamily="2" charset="-122"/>
                  </a:rPr>
                  <a:t>步</a:t>
                </a:r>
                <a:r>
                  <a:rPr lang="zh-CN" altLang="en-US" sz="2200" kern="100" dirty="0">
                    <a:latin typeface="Times New Roman" panose="02020603050405020304" pitchFamily="18" charset="0"/>
                    <a:ea typeface="宋体" panose="02010600030101010101" pitchFamily="2" charset="-122"/>
                  </a:rPr>
                  <a:t>，</a:t>
                </a:r>
                <a:r>
                  <a:rPr lang="zh-CN" altLang="zh-CN" sz="2200" kern="100" dirty="0">
                    <a:latin typeface="Times New Roman" panose="02020603050405020304" pitchFamily="18" charset="0"/>
                    <a:ea typeface="宋体" panose="02010600030101010101" pitchFamily="2" charset="-122"/>
                  </a:rPr>
                  <a:t>否则进行第</a:t>
                </a:r>
                <a:r>
                  <a:rPr lang="en-US" altLang="zh-CN" sz="2200" kern="100" dirty="0">
                    <a:latin typeface="Times New Roman" panose="02020603050405020304" pitchFamily="18" charset="0"/>
                    <a:ea typeface="宋体" panose="02010600030101010101" pitchFamily="2" charset="-122"/>
                  </a:rPr>
                  <a:t>7</a:t>
                </a:r>
                <a:r>
                  <a:rPr lang="zh-CN" altLang="zh-CN" sz="2200" kern="100" dirty="0">
                    <a:latin typeface="Times New Roman" panose="02020603050405020304" pitchFamily="18" charset="0"/>
                    <a:ea typeface="宋体" panose="02010600030101010101" pitchFamily="2" charset="-122"/>
                  </a:rPr>
                  <a:t>步</a:t>
                </a:r>
                <a:r>
                  <a:rPr lang="zh-CN" altLang="en-US" sz="2200" kern="100" dirty="0">
                    <a:latin typeface="Times New Roman" panose="02020603050405020304" pitchFamily="18" charset="0"/>
                    <a:ea typeface="宋体" panose="02010600030101010101" pitchFamily="2" charset="-122"/>
                  </a:rPr>
                  <a:t>。</a:t>
                </a:r>
                <a:endParaRPr lang="zh-CN" altLang="zh-CN" sz="2200" kern="100" dirty="0">
                  <a:latin typeface="Times New Roman" panose="02020603050405020304" pitchFamily="18" charset="0"/>
                  <a:ea typeface="宋体" panose="02010600030101010101" pitchFamily="2" charset="-122"/>
                </a:endParaRPr>
              </a:p>
              <a:p>
                <a:pPr algn="just">
                  <a:lnSpc>
                    <a:spcPct val="150000"/>
                  </a:lnSpc>
                </a:pPr>
                <a:r>
                  <a:rPr lang="en-US" altLang="zh-CN" sz="2200" kern="100" dirty="0">
                    <a:latin typeface="宋体" panose="02010600030101010101" pitchFamily="2" charset="-122"/>
                    <a:ea typeface="宋体" panose="02010600030101010101" pitchFamily="2" charset="-122"/>
                  </a:rPr>
                  <a:t>7.</a:t>
                </a:r>
                <a:r>
                  <a:rPr lang="zh-CN" altLang="zh-CN" sz="2200" kern="100" dirty="0">
                    <a:latin typeface="Times New Roman" panose="02020603050405020304" pitchFamily="18" charset="0"/>
                    <a:ea typeface="宋体" panose="02010600030101010101" pitchFamily="2" charset="-122"/>
                  </a:rPr>
                  <a:t>构造搜索方向，利用公式</a:t>
                </a:r>
                <a:endParaRPr lang="en-US" altLang="zh-CN" sz="2200" kern="100" dirty="0">
                  <a:latin typeface="Times New Roman" panose="02020603050405020304" pitchFamily="18" charset="0"/>
                  <a:ea typeface="宋体" panose="02010600030101010101" pitchFamily="2" charset="-122"/>
                </a:endParaRPr>
              </a:p>
              <a:p>
                <a:pPr algn="just">
                  <a:lnSpc>
                    <a:spcPct val="150000"/>
                  </a:lnSpc>
                </a:pPr>
                <a14:m>
                  <m:oMathPara xmlns:m="http://schemas.openxmlformats.org/officeDocument/2006/math">
                    <m:oMathParaPr>
                      <m:jc m:val="centerGroup"/>
                    </m:oMathParaPr>
                    <m:oMath xmlns:m="http://schemas.openxmlformats.org/officeDocument/2006/math">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𝑑</m:t>
                          </m:r>
                        </m:e>
                        <m:sup>
                          <m:r>
                            <a:rPr lang="en-US" altLang="zh-CN" sz="2200" i="1" kern="100">
                              <a:latin typeface="Cambria Math" panose="02040503050406030204" pitchFamily="18" charset="0"/>
                              <a:ea typeface="宋体" panose="02010600030101010101" pitchFamily="2" charset="-122"/>
                            </a:rPr>
                            <m:t>(</m:t>
                          </m:r>
                          <m:r>
                            <a:rPr lang="en-US" altLang="zh-CN" sz="2200" i="1" kern="100">
                              <a:latin typeface="Cambria Math" panose="02040503050406030204" pitchFamily="18" charset="0"/>
                              <a:ea typeface="宋体" panose="02010600030101010101" pitchFamily="2" charset="-122"/>
                            </a:rPr>
                            <m:t>𝑘</m:t>
                          </m:r>
                          <m:r>
                            <a:rPr lang="en-US" altLang="zh-CN" sz="2200" i="1" kern="100">
                              <a:latin typeface="Cambria Math" panose="02040503050406030204" pitchFamily="18" charset="0"/>
                              <a:ea typeface="宋体" panose="02010600030101010101" pitchFamily="2" charset="-122"/>
                            </a:rPr>
                            <m:t>)</m:t>
                          </m:r>
                        </m:sup>
                      </m:sSup>
                      <m:r>
                        <a:rPr lang="en-US" altLang="zh-CN" sz="2200" i="1" kern="100">
                          <a:latin typeface="Cambria Math" panose="02040503050406030204" pitchFamily="18" charset="0"/>
                          <a:ea typeface="宋体" panose="02010600030101010101" pitchFamily="2" charset="-122"/>
                        </a:rPr>
                        <m:t>=</m:t>
                      </m:r>
                      <m:r>
                        <a:rPr lang="zh-CN" altLang="en-US" sz="2200" i="1" kern="100">
                          <a:latin typeface="Cambria Math" panose="02040503050406030204" pitchFamily="18" charset="0"/>
                          <a:ea typeface="微软雅黑" panose="020B0503020204020204" pitchFamily="34" charset="-122"/>
                          <a:cs typeface="微软雅黑" panose="020B0503020204020204" pitchFamily="34" charset="-122"/>
                        </a:rPr>
                        <m:t>−</m:t>
                      </m:r>
                      <m:sSub>
                        <m:sSubPr>
                          <m:ctrlPr>
                            <a:rPr lang="zh-CN" altLang="zh-CN" sz="2200" i="1" kern="100">
                              <a:latin typeface="Cambria Math" panose="02040503050406030204" pitchFamily="18" charset="0"/>
                              <a:ea typeface="Cambria Math" panose="02040503050406030204" pitchFamily="18" charset="0"/>
                            </a:rPr>
                          </m:ctrlPr>
                        </m:sSubPr>
                        <m:e>
                          <m:r>
                            <a:rPr lang="en-US" altLang="zh-CN" sz="2200" i="1" kern="100">
                              <a:latin typeface="Cambria Math" panose="02040503050406030204" pitchFamily="18" charset="0"/>
                              <a:ea typeface="宋体" panose="02010600030101010101" pitchFamily="2" charset="-122"/>
                            </a:rPr>
                            <m:t>𝑔</m:t>
                          </m:r>
                        </m:e>
                        <m:sub>
                          <m:r>
                            <a:rPr lang="en-US" altLang="zh-CN" sz="2200" i="1" kern="100">
                              <a:latin typeface="Cambria Math" panose="02040503050406030204" pitchFamily="18" charset="0"/>
                              <a:ea typeface="宋体" panose="02010600030101010101" pitchFamily="2" charset="-122"/>
                            </a:rPr>
                            <m:t>𝑘</m:t>
                          </m:r>
                        </m:sub>
                      </m:sSub>
                      <m:r>
                        <a:rPr lang="en-US" altLang="zh-CN" sz="2200" i="1" kern="100">
                          <a:latin typeface="Cambria Math" panose="02040503050406030204" pitchFamily="18" charset="0"/>
                          <a:ea typeface="宋体" panose="02010600030101010101" pitchFamily="2" charset="-122"/>
                        </a:rPr>
                        <m:t>+</m:t>
                      </m:r>
                      <m:sSub>
                        <m:sSubPr>
                          <m:ctrlPr>
                            <a:rPr lang="zh-CN" altLang="zh-CN" sz="2200" i="1" kern="100">
                              <a:latin typeface="Cambria Math" panose="02040503050406030204" pitchFamily="18" charset="0"/>
                              <a:ea typeface="Cambria Math" panose="02040503050406030204" pitchFamily="18" charset="0"/>
                            </a:rPr>
                          </m:ctrlPr>
                        </m:sSubPr>
                        <m:e>
                          <m:r>
                            <a:rPr lang="en-US" altLang="zh-CN" sz="2200" i="1" kern="100">
                              <a:latin typeface="Cambria Math" panose="02040503050406030204" pitchFamily="18" charset="0"/>
                              <a:ea typeface="宋体" panose="02010600030101010101" pitchFamily="2" charset="-122"/>
                            </a:rPr>
                            <m:t>𝛽</m:t>
                          </m:r>
                        </m:e>
                        <m:sub>
                          <m:r>
                            <a:rPr lang="en-US" altLang="zh-CN" sz="2200" i="1" kern="100">
                              <a:latin typeface="Cambria Math" panose="02040503050406030204" pitchFamily="18" charset="0"/>
                              <a:ea typeface="宋体" panose="02010600030101010101" pitchFamily="2" charset="-122"/>
                            </a:rPr>
                            <m:t>𝑘</m:t>
                          </m:r>
                          <m:r>
                            <a:rPr lang="zh-CN" altLang="en-US" sz="2200" i="1" kern="100">
                              <a:latin typeface="Cambria Math" panose="02040503050406030204" pitchFamily="18" charset="0"/>
                              <a:ea typeface="微软雅黑" panose="020B0503020204020204" pitchFamily="34" charset="-122"/>
                              <a:cs typeface="微软雅黑" panose="020B0503020204020204" pitchFamily="34" charset="-122"/>
                            </a:rPr>
                            <m:t>−</m:t>
                          </m:r>
                          <m:r>
                            <a:rPr lang="en-US" altLang="zh-CN" sz="2200" i="1" kern="100">
                              <a:latin typeface="Cambria Math" panose="02040503050406030204" pitchFamily="18" charset="0"/>
                              <a:ea typeface="宋体" panose="02010600030101010101" pitchFamily="2" charset="-122"/>
                            </a:rPr>
                            <m:t>1</m:t>
                          </m:r>
                        </m:sub>
                      </m:sSub>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𝑑</m:t>
                          </m:r>
                        </m:e>
                        <m:sup>
                          <m:r>
                            <a:rPr lang="en-US" altLang="zh-CN" sz="2200" i="1" kern="100">
                              <a:latin typeface="Cambria Math" panose="02040503050406030204" pitchFamily="18" charset="0"/>
                              <a:ea typeface="宋体" panose="02010600030101010101" pitchFamily="2" charset="-122"/>
                            </a:rPr>
                            <m:t>(</m:t>
                          </m:r>
                          <m:r>
                            <a:rPr lang="en-US" altLang="zh-CN" sz="2200" i="1" kern="100">
                              <a:latin typeface="Cambria Math" panose="02040503050406030204" pitchFamily="18" charset="0"/>
                              <a:ea typeface="宋体" panose="02010600030101010101" pitchFamily="2" charset="-122"/>
                            </a:rPr>
                            <m:t>𝑘</m:t>
                          </m:r>
                          <m:r>
                            <a:rPr lang="zh-CN" altLang="en-US" sz="2200" i="1" kern="100">
                              <a:latin typeface="Cambria Math" panose="02040503050406030204" pitchFamily="18" charset="0"/>
                              <a:ea typeface="微软雅黑" panose="020B0503020204020204" pitchFamily="34" charset="-122"/>
                              <a:cs typeface="微软雅黑" panose="020B0503020204020204" pitchFamily="34" charset="-122"/>
                            </a:rPr>
                            <m:t>−</m:t>
                          </m:r>
                          <m:r>
                            <a:rPr lang="en-US" altLang="zh-CN" sz="2200" i="1" kern="100">
                              <a:latin typeface="Cambria Math" panose="02040503050406030204" pitchFamily="18" charset="0"/>
                              <a:ea typeface="宋体" panose="02010600030101010101" pitchFamily="2" charset="-122"/>
                            </a:rPr>
                            <m:t>1)</m:t>
                          </m:r>
                        </m:sup>
                      </m:sSup>
                    </m:oMath>
                  </m:oMathPara>
                </a14:m>
                <a:endParaRPr lang="zh-CN" altLang="zh-CN" sz="2200" kern="100" dirty="0">
                  <a:latin typeface="Times New Roman" panose="02020603050405020304" pitchFamily="18" charset="0"/>
                  <a:ea typeface="宋体" panose="02010600030101010101" pitchFamily="2" charset="-122"/>
                </a:endParaRPr>
              </a:p>
              <a:p>
                <a:pPr algn="just">
                  <a:lnSpc>
                    <a:spcPct val="150000"/>
                  </a:lnSpc>
                </a:pPr>
                <a:r>
                  <a:rPr lang="en-US" altLang="zh-CN" sz="2200" kern="100" dirty="0">
                    <a:latin typeface="Times New Roman" panose="02020603050405020304" pitchFamily="18" charset="0"/>
                    <a:ea typeface="宋体" panose="02010600030101010101" pitchFamily="2" charset="-122"/>
                  </a:rPr>
                  <a:t>    </a:t>
                </a:r>
                <a:r>
                  <a:rPr lang="zh-CN" altLang="zh-CN" sz="2200" kern="100" dirty="0">
                    <a:latin typeface="Times New Roman" panose="02020603050405020304" pitchFamily="18" charset="0"/>
                    <a:ea typeface="宋体" panose="02010600030101010101" pitchFamily="2" charset="-122"/>
                  </a:rPr>
                  <a:t>取</a:t>
                </a:r>
                <a14:m>
                  <m:oMath xmlns:m="http://schemas.openxmlformats.org/officeDocument/2006/math">
                    <m:sSub>
                      <m:sSubPr>
                        <m:ctrlPr>
                          <a:rPr lang="zh-CN" altLang="zh-CN" sz="2200" i="1" kern="100">
                            <a:latin typeface="Cambria Math" panose="02040503050406030204" pitchFamily="18" charset="0"/>
                            <a:ea typeface="Cambria Math" panose="02040503050406030204" pitchFamily="18" charset="0"/>
                          </a:rPr>
                        </m:ctrlPr>
                      </m:sSubPr>
                      <m:e>
                        <m:r>
                          <a:rPr lang="en-US" altLang="zh-CN" sz="2200" i="1" kern="100">
                            <a:latin typeface="Cambria Math" panose="02040503050406030204" pitchFamily="18" charset="0"/>
                            <a:ea typeface="宋体" panose="02010600030101010101" pitchFamily="2" charset="-122"/>
                          </a:rPr>
                          <m:t>𝛽</m:t>
                        </m:r>
                      </m:e>
                      <m:sub>
                        <m:r>
                          <a:rPr lang="en-US" altLang="zh-CN" sz="2200" i="1" kern="100">
                            <a:latin typeface="Cambria Math" panose="02040503050406030204" pitchFamily="18" charset="0"/>
                            <a:ea typeface="宋体" panose="02010600030101010101" pitchFamily="2" charset="-122"/>
                          </a:rPr>
                          <m:t>𝑘</m:t>
                        </m:r>
                        <m:r>
                          <a:rPr lang="zh-CN" altLang="en-US" sz="2200" i="1" kern="100">
                            <a:latin typeface="Cambria Math" panose="02040503050406030204" pitchFamily="18" charset="0"/>
                            <a:ea typeface="微软雅黑" panose="020B0503020204020204" pitchFamily="34" charset="-122"/>
                            <a:cs typeface="微软雅黑" panose="020B0503020204020204" pitchFamily="34" charset="-122"/>
                          </a:rPr>
                          <m:t>−</m:t>
                        </m:r>
                        <m:r>
                          <a:rPr lang="en-US" altLang="zh-CN" sz="2200" i="1" kern="100">
                            <a:latin typeface="Cambria Math" panose="02040503050406030204" pitchFamily="18" charset="0"/>
                            <a:ea typeface="宋体" panose="02010600030101010101" pitchFamily="2" charset="-122"/>
                          </a:rPr>
                          <m:t>1</m:t>
                        </m:r>
                      </m:sub>
                    </m:sSub>
                    <m:r>
                      <a:rPr lang="en-US" altLang="zh-CN" sz="2200" i="1" kern="100">
                        <a:latin typeface="Cambria Math" panose="02040503050406030204" pitchFamily="18" charset="0"/>
                        <a:ea typeface="宋体" panose="02010600030101010101" pitchFamily="2" charset="-122"/>
                      </a:rPr>
                      <m:t>=</m:t>
                    </m:r>
                    <m:f>
                      <m:fPr>
                        <m:ctrlPr>
                          <a:rPr lang="zh-CN" altLang="zh-CN" sz="2200" i="1" kern="100">
                            <a:solidFill>
                              <a:srgbClr val="FF0000"/>
                            </a:solidFill>
                            <a:latin typeface="Cambria Math" panose="02040503050406030204" pitchFamily="18" charset="0"/>
                            <a:ea typeface="Cambria Math" panose="02040503050406030204" pitchFamily="18" charset="0"/>
                          </a:rPr>
                        </m:ctrlPr>
                      </m:fPr>
                      <m:num>
                        <m:sSubSup>
                          <m:sSubSupPr>
                            <m:ctrlPr>
                              <a:rPr lang="en-US" altLang="zh-CN" sz="2200" i="1" kern="100">
                                <a:solidFill>
                                  <a:srgbClr val="FF0000"/>
                                </a:solidFill>
                                <a:latin typeface="Cambria Math" panose="02040503050406030204" pitchFamily="18" charset="0"/>
                                <a:ea typeface="宋体" panose="02010600030101010101" pitchFamily="2" charset="-122"/>
                              </a:rPr>
                            </m:ctrlPr>
                          </m:sSubSupPr>
                          <m:e>
                            <m:d>
                              <m:dPr>
                                <m:begChr m:val="‖"/>
                                <m:endChr m:val="‖"/>
                                <m:ctrlPr>
                                  <a:rPr lang="zh-CN" altLang="zh-CN" sz="2200" i="1" kern="100">
                                    <a:solidFill>
                                      <a:srgbClr val="FF0000"/>
                                    </a:solidFill>
                                    <a:latin typeface="Cambria Math" panose="02040503050406030204" pitchFamily="18" charset="0"/>
                                    <a:ea typeface="Cambria Math" panose="02040503050406030204" pitchFamily="18" charset="0"/>
                                  </a:rPr>
                                </m:ctrlPr>
                              </m:dPr>
                              <m:e>
                                <m:sSub>
                                  <m:sSubPr>
                                    <m:ctrlPr>
                                      <a:rPr lang="zh-CN" altLang="zh-CN" sz="2200" i="1" kern="100">
                                        <a:solidFill>
                                          <a:srgbClr val="FF0000"/>
                                        </a:solidFill>
                                        <a:latin typeface="Cambria Math" panose="02040503050406030204" pitchFamily="18" charset="0"/>
                                        <a:ea typeface="Cambria Math" panose="02040503050406030204" pitchFamily="18" charset="0"/>
                                      </a:rPr>
                                    </m:ctrlPr>
                                  </m:sSubPr>
                                  <m:e>
                                    <m:r>
                                      <a:rPr lang="en-US" altLang="zh-CN" sz="2200" i="1" kern="100">
                                        <a:solidFill>
                                          <a:srgbClr val="FF0000"/>
                                        </a:solidFill>
                                        <a:latin typeface="Cambria Math" panose="02040503050406030204" pitchFamily="18" charset="0"/>
                                        <a:ea typeface="宋体" panose="02010600030101010101" pitchFamily="2" charset="-122"/>
                                      </a:rPr>
                                      <m:t>𝑔</m:t>
                                    </m:r>
                                  </m:e>
                                  <m:sub>
                                    <m:r>
                                      <a:rPr lang="en-US" altLang="zh-CN" sz="2200" i="1" kern="100">
                                        <a:solidFill>
                                          <a:srgbClr val="FF0000"/>
                                        </a:solidFill>
                                        <a:latin typeface="Cambria Math" panose="02040503050406030204" pitchFamily="18" charset="0"/>
                                        <a:ea typeface="宋体" panose="02010600030101010101" pitchFamily="2" charset="-122"/>
                                      </a:rPr>
                                      <m:t>𝑘</m:t>
                                    </m:r>
                                  </m:sub>
                                </m:sSub>
                              </m:e>
                            </m:d>
                          </m:e>
                          <m:sub>
                            <m:r>
                              <a:rPr lang="en-US" altLang="zh-CN" sz="2200" i="1" kern="100">
                                <a:solidFill>
                                  <a:srgbClr val="FF0000"/>
                                </a:solidFill>
                                <a:latin typeface="Cambria Math" panose="02040503050406030204" pitchFamily="18" charset="0"/>
                                <a:ea typeface="宋体" panose="02010600030101010101" pitchFamily="2" charset="-122"/>
                              </a:rPr>
                              <m:t>2</m:t>
                            </m:r>
                          </m:sub>
                          <m:sup>
                            <m:r>
                              <a:rPr lang="en-US" altLang="zh-CN" sz="2200" i="1" kern="100">
                                <a:solidFill>
                                  <a:srgbClr val="FF0000"/>
                                </a:solidFill>
                                <a:latin typeface="Cambria Math" panose="02040503050406030204" pitchFamily="18" charset="0"/>
                                <a:ea typeface="宋体" panose="02010600030101010101" pitchFamily="2" charset="-122"/>
                              </a:rPr>
                              <m:t>2</m:t>
                            </m:r>
                          </m:sup>
                        </m:sSubSup>
                      </m:num>
                      <m:den>
                        <m:sSubSup>
                          <m:sSubSupPr>
                            <m:ctrlPr>
                              <a:rPr lang="en-US" altLang="zh-CN" sz="2200" i="1" kern="100">
                                <a:solidFill>
                                  <a:srgbClr val="FF0000"/>
                                </a:solidFill>
                                <a:latin typeface="Cambria Math" panose="02040503050406030204" pitchFamily="18" charset="0"/>
                                <a:ea typeface="宋体" panose="02010600030101010101" pitchFamily="2" charset="-122"/>
                              </a:rPr>
                            </m:ctrlPr>
                          </m:sSubSupPr>
                          <m:e>
                            <m:d>
                              <m:dPr>
                                <m:begChr m:val="‖"/>
                                <m:endChr m:val="‖"/>
                                <m:ctrlPr>
                                  <a:rPr lang="zh-CN" altLang="zh-CN" sz="2200" i="1" kern="100">
                                    <a:solidFill>
                                      <a:srgbClr val="FF0000"/>
                                    </a:solidFill>
                                    <a:latin typeface="Cambria Math" panose="02040503050406030204" pitchFamily="18" charset="0"/>
                                    <a:ea typeface="Cambria Math" panose="02040503050406030204" pitchFamily="18" charset="0"/>
                                  </a:rPr>
                                </m:ctrlPr>
                              </m:dPr>
                              <m:e>
                                <m:sSub>
                                  <m:sSubPr>
                                    <m:ctrlPr>
                                      <a:rPr lang="zh-CN" altLang="zh-CN" sz="2200" i="1" kern="100">
                                        <a:solidFill>
                                          <a:srgbClr val="FF0000"/>
                                        </a:solidFill>
                                        <a:latin typeface="Cambria Math" panose="02040503050406030204" pitchFamily="18" charset="0"/>
                                        <a:ea typeface="Cambria Math" panose="02040503050406030204" pitchFamily="18" charset="0"/>
                                      </a:rPr>
                                    </m:ctrlPr>
                                  </m:sSubPr>
                                  <m:e>
                                    <m:r>
                                      <a:rPr lang="en-US" altLang="zh-CN" sz="2200" i="1" kern="100">
                                        <a:solidFill>
                                          <a:srgbClr val="FF0000"/>
                                        </a:solidFill>
                                        <a:latin typeface="Cambria Math" panose="02040503050406030204" pitchFamily="18" charset="0"/>
                                        <a:ea typeface="宋体" panose="02010600030101010101" pitchFamily="2" charset="-122"/>
                                      </a:rPr>
                                      <m:t>𝑔</m:t>
                                    </m:r>
                                  </m:e>
                                  <m:sub>
                                    <m:r>
                                      <a:rPr lang="en-US" altLang="zh-CN" sz="2200" i="1" kern="100">
                                        <a:solidFill>
                                          <a:srgbClr val="FF0000"/>
                                        </a:solidFill>
                                        <a:latin typeface="Cambria Math" panose="02040503050406030204" pitchFamily="18" charset="0"/>
                                        <a:ea typeface="宋体" panose="02010600030101010101" pitchFamily="2" charset="-122"/>
                                      </a:rPr>
                                      <m:t>𝑘</m:t>
                                    </m:r>
                                    <m:r>
                                      <a:rPr lang="en-US" altLang="zh-CN" sz="2200" i="1" kern="100">
                                        <a:solidFill>
                                          <a:srgbClr val="FF0000"/>
                                        </a:solidFill>
                                        <a:latin typeface="Cambria Math" panose="02040503050406030204" pitchFamily="18" charset="0"/>
                                        <a:ea typeface="宋体" panose="02010600030101010101" pitchFamily="2" charset="-122"/>
                                      </a:rPr>
                                      <m:t>−1</m:t>
                                    </m:r>
                                  </m:sub>
                                </m:sSub>
                              </m:e>
                            </m:d>
                          </m:e>
                          <m:sub>
                            <m:r>
                              <a:rPr lang="en-US" altLang="zh-CN" sz="2200" i="1" kern="100">
                                <a:solidFill>
                                  <a:srgbClr val="FF0000"/>
                                </a:solidFill>
                                <a:latin typeface="Cambria Math" panose="02040503050406030204" pitchFamily="18" charset="0"/>
                                <a:ea typeface="宋体" panose="02010600030101010101" pitchFamily="2" charset="-122"/>
                              </a:rPr>
                              <m:t>2</m:t>
                            </m:r>
                          </m:sub>
                          <m:sup>
                            <m:r>
                              <a:rPr lang="en-US" altLang="zh-CN" sz="2200" i="1" kern="100">
                                <a:solidFill>
                                  <a:srgbClr val="FF0000"/>
                                </a:solidFill>
                                <a:latin typeface="Cambria Math" panose="02040503050406030204" pitchFamily="18" charset="0"/>
                                <a:ea typeface="宋体" panose="02010600030101010101" pitchFamily="2" charset="-122"/>
                              </a:rPr>
                              <m:t>2</m:t>
                            </m:r>
                          </m:sup>
                        </m:sSubSup>
                      </m:den>
                    </m:f>
                  </m:oMath>
                </a14:m>
                <a:r>
                  <a:rPr lang="zh-CN" altLang="zh-CN" sz="2200" kern="100" dirty="0">
                    <a:latin typeface="Times New Roman" panose="02020603050405020304" pitchFamily="18" charset="0"/>
                    <a:ea typeface="宋体" panose="02010600030101010101" pitchFamily="2" charset="-122"/>
                  </a:rPr>
                  <a:t>，令</a:t>
                </a:r>
                <a14:m>
                  <m:oMath xmlns:m="http://schemas.openxmlformats.org/officeDocument/2006/math">
                    <m:r>
                      <a:rPr lang="en-US" altLang="zh-CN" sz="2200" i="1" kern="100">
                        <a:latin typeface="Cambria Math" panose="02040503050406030204" pitchFamily="18" charset="0"/>
                        <a:ea typeface="宋体" panose="02010600030101010101" pitchFamily="2" charset="-122"/>
                      </a:rPr>
                      <m:t>𝑘</m:t>
                    </m:r>
                    <m:r>
                      <a:rPr lang="en-US" altLang="zh-CN" sz="2200" i="1" kern="100">
                        <a:latin typeface="Cambria Math" panose="02040503050406030204" pitchFamily="18" charset="0"/>
                        <a:ea typeface="宋体" panose="02010600030101010101" pitchFamily="2" charset="-122"/>
                      </a:rPr>
                      <m:t>=</m:t>
                    </m:r>
                    <m:r>
                      <a:rPr lang="en-US" altLang="zh-CN" sz="2200" i="1" kern="100">
                        <a:latin typeface="Cambria Math" panose="02040503050406030204" pitchFamily="18" charset="0"/>
                        <a:ea typeface="宋体" panose="02010600030101010101" pitchFamily="2" charset="-122"/>
                      </a:rPr>
                      <m:t>𝑘</m:t>
                    </m:r>
                    <m:r>
                      <a:rPr lang="en-US" altLang="zh-CN" sz="2200" i="1" kern="100">
                        <a:latin typeface="Cambria Math" panose="02040503050406030204" pitchFamily="18" charset="0"/>
                        <a:ea typeface="宋体" panose="02010600030101010101" pitchFamily="2" charset="-122"/>
                      </a:rPr>
                      <m:t>+1</m:t>
                    </m:r>
                  </m:oMath>
                </a14:m>
                <a:r>
                  <a:rPr lang="zh-CN" altLang="zh-CN" sz="2200" kern="100" dirty="0">
                    <a:latin typeface="Times New Roman" panose="02020603050405020304" pitchFamily="18" charset="0"/>
                    <a:ea typeface="宋体" panose="02010600030101010101" pitchFamily="2" charset="-122"/>
                  </a:rPr>
                  <a:t>，转第</a:t>
                </a:r>
                <a:r>
                  <a:rPr lang="en-US" altLang="zh-CN" sz="2200" kern="100" dirty="0">
                    <a:latin typeface="Times New Roman" panose="02020603050405020304" pitchFamily="18" charset="0"/>
                    <a:ea typeface="宋体" panose="02010600030101010101" pitchFamily="2" charset="-122"/>
                  </a:rPr>
                  <a:t>4</a:t>
                </a:r>
                <a:r>
                  <a:rPr lang="zh-CN" altLang="zh-CN" sz="2200" kern="100" dirty="0">
                    <a:latin typeface="Times New Roman" panose="02020603050405020304" pitchFamily="18" charset="0"/>
                    <a:ea typeface="宋体" panose="02010600030101010101" pitchFamily="2" charset="-122"/>
                  </a:rPr>
                  <a:t>步</a:t>
                </a:r>
                <a:r>
                  <a:rPr lang="zh-CN" altLang="en-US" sz="2200" kern="100" dirty="0">
                    <a:latin typeface="Times New Roman" panose="02020603050405020304" pitchFamily="18" charset="0"/>
                    <a:ea typeface="宋体" panose="02010600030101010101" pitchFamily="2" charset="-122"/>
                  </a:rPr>
                  <a:t>。</a:t>
                </a:r>
                <a:endParaRPr lang="zh-CN" altLang="en-US" sz="2200" dirty="0"/>
              </a:p>
            </p:txBody>
          </p:sp>
        </mc:Choice>
        <mc:Fallback xmlns="">
          <p:sp>
            <p:nvSpPr>
              <p:cNvPr id="2" name="文本框 1">
                <a:extLst>
                  <a:ext uri="{FF2B5EF4-FFF2-40B4-BE49-F238E27FC236}">
                    <a16:creationId xmlns:a16="http://schemas.microsoft.com/office/drawing/2014/main" id="{43CE52A8-CFE2-47D5-2463-890B9E764652}"/>
                  </a:ext>
                </a:extLst>
              </p:cNvPr>
              <p:cNvSpPr txBox="1">
                <a:spLocks noRot="1" noChangeAspect="1" noMove="1" noResize="1" noEditPoints="1" noAdjustHandles="1" noChangeArrowheads="1" noChangeShapeType="1" noTextEdit="1"/>
              </p:cNvSpPr>
              <p:nvPr/>
            </p:nvSpPr>
            <p:spPr>
              <a:xfrm>
                <a:off x="360523" y="1160472"/>
                <a:ext cx="8609385" cy="4653710"/>
              </a:xfrm>
              <a:prstGeom prst="rect">
                <a:avLst/>
              </a:prstGeom>
              <a:blipFill>
                <a:blip r:embed="rId2"/>
                <a:stretch>
                  <a:fillRect l="-921" r="-921"/>
                </a:stretch>
              </a:blipFill>
            </p:spPr>
            <p:txBody>
              <a:bodyPr/>
              <a:lstStyle/>
              <a:p>
                <a:r>
                  <a:rPr lang="zh-CN" altLang="en-US">
                    <a:noFill/>
                  </a:rPr>
                  <a:t> </a:t>
                </a:r>
              </a:p>
            </p:txBody>
          </p:sp>
        </mc:Fallback>
      </mc:AlternateContent>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4E052EFD-1693-885F-7C9C-4A1F9FB695BF}"/>
              </a:ext>
            </a:extLst>
          </p:cNvPr>
          <p:cNvSpPr txBox="1">
            <a:spLocks noChangeArrowheads="1"/>
          </p:cNvSpPr>
          <p:nvPr/>
        </p:nvSpPr>
        <p:spPr>
          <a:xfrm>
            <a:off x="359532" y="1157288"/>
            <a:ext cx="6417469" cy="4229100"/>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defRPr/>
            </a:pPr>
            <a:r>
              <a:rPr lang="zh-CN" altLang="en-US" sz="2100" b="1" dirty="0"/>
              <a:t>共轭梯度法流程图</a:t>
            </a:r>
            <a:endParaRPr lang="zh-CN" altLang="en-US" sz="2100" b="1" i="1" dirty="0"/>
          </a:p>
        </p:txBody>
      </p:sp>
      <p:sp>
        <p:nvSpPr>
          <p:cNvPr id="3" name="AutoShape 5">
            <a:extLst>
              <a:ext uri="{FF2B5EF4-FFF2-40B4-BE49-F238E27FC236}">
                <a16:creationId xmlns:a16="http://schemas.microsoft.com/office/drawing/2014/main" id="{863015AC-7227-F636-4984-95B1508A20C5}"/>
              </a:ext>
            </a:extLst>
          </p:cNvPr>
          <p:cNvSpPr>
            <a:spLocks noChangeArrowheads="1"/>
          </p:cNvSpPr>
          <p:nvPr/>
        </p:nvSpPr>
        <p:spPr bwMode="auto">
          <a:xfrm>
            <a:off x="1056849" y="1725799"/>
            <a:ext cx="762000" cy="317897"/>
          </a:xfrm>
          <a:prstGeom prst="flowChartPreparation">
            <a:avLst/>
          </a:prstGeom>
          <a:solidFill>
            <a:srgbClr val="CCFFCC"/>
          </a:solidFill>
          <a:ln w="28575" cap="sq">
            <a:solidFill>
              <a:srgbClr val="00FF00"/>
            </a:solidFill>
            <a:miter lim="800000"/>
            <a:headEnd/>
            <a:tailEnd/>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zh-CN" altLang="en-US" sz="1500" b="1" dirty="0">
                <a:solidFill>
                  <a:srgbClr val="000000"/>
                </a:solidFill>
                <a:latin typeface="Times New Roman" panose="02020603050405020304" pitchFamily="18" charset="0"/>
              </a:rPr>
              <a:t>入口</a:t>
            </a:r>
            <a:endParaRPr lang="zh-CN" altLang="en-US" sz="1500" dirty="0">
              <a:solidFill>
                <a:srgbClr val="000000"/>
              </a:solidFill>
              <a:latin typeface="Times New Roman" panose="02020603050405020304" pitchFamily="18" charset="0"/>
            </a:endParaRPr>
          </a:p>
        </p:txBody>
      </p:sp>
      <p:sp>
        <p:nvSpPr>
          <p:cNvPr id="4" name="AutoShape 6">
            <a:extLst>
              <a:ext uri="{FF2B5EF4-FFF2-40B4-BE49-F238E27FC236}">
                <a16:creationId xmlns:a16="http://schemas.microsoft.com/office/drawing/2014/main" id="{5C7A9F42-1679-276E-41B4-D7CDAD45361B}"/>
              </a:ext>
            </a:extLst>
          </p:cNvPr>
          <p:cNvSpPr>
            <a:spLocks noChangeArrowheads="1"/>
          </p:cNvSpPr>
          <p:nvPr/>
        </p:nvSpPr>
        <p:spPr bwMode="auto">
          <a:xfrm>
            <a:off x="467490" y="2185379"/>
            <a:ext cx="1889522" cy="286941"/>
          </a:xfrm>
          <a:prstGeom prst="flowChartInputOutput">
            <a:avLst/>
          </a:prstGeom>
          <a:solidFill>
            <a:srgbClr val="CCFFCC"/>
          </a:solidFill>
          <a:ln w="28575" cap="sq">
            <a:solidFill>
              <a:srgbClr val="00FF00"/>
            </a:solidFill>
            <a:miter lim="800000"/>
            <a:headEnd/>
            <a:tailEnd/>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zh-CN" altLang="en-US" sz="1500" b="1" dirty="0">
                <a:solidFill>
                  <a:srgbClr val="000000"/>
                </a:solidFill>
                <a:latin typeface="Times New Roman" panose="02020603050405020304" pitchFamily="18" charset="0"/>
              </a:rPr>
              <a:t>给定： </a:t>
            </a:r>
            <a:r>
              <a:rPr lang="en-US" altLang="en-US" sz="1500" b="1" i="1" dirty="0">
                <a:solidFill>
                  <a:srgbClr val="000000"/>
                </a:solidFill>
                <a:latin typeface="Times New Roman" panose="02020603050405020304" pitchFamily="18" charset="0"/>
              </a:rPr>
              <a:t>x</a:t>
            </a:r>
            <a:r>
              <a:rPr lang="en-US" altLang="en-US" sz="1500" b="1" i="1" baseline="30000" dirty="0">
                <a:solidFill>
                  <a:srgbClr val="000000"/>
                </a:solidFill>
                <a:latin typeface="Times New Roman" panose="02020603050405020304" pitchFamily="18" charset="0"/>
              </a:rPr>
              <a:t>(1)</a:t>
            </a:r>
            <a:r>
              <a:rPr lang="zh-CN" altLang="en-US" sz="1500" b="1" i="1" dirty="0">
                <a:solidFill>
                  <a:srgbClr val="000000"/>
                </a:solidFill>
                <a:latin typeface="Times New Roman" panose="02020603050405020304" pitchFamily="18" charset="0"/>
              </a:rPr>
              <a:t>，</a:t>
            </a:r>
            <a:r>
              <a:rPr lang="zh-CN" altLang="en-US" sz="1500" b="1" i="1" dirty="0">
                <a:solidFill>
                  <a:srgbClr val="000000"/>
                </a:solidFill>
                <a:latin typeface="Times New Roman" panose="02020603050405020304" pitchFamily="18" charset="0"/>
                <a:sym typeface="Symbol" panose="05050102010706020507" pitchFamily="18" charset="2"/>
              </a:rPr>
              <a:t></a:t>
            </a:r>
            <a:r>
              <a:rPr lang="zh-CN" altLang="en-US" sz="1500" b="1" dirty="0">
                <a:solidFill>
                  <a:srgbClr val="000000"/>
                </a:solidFill>
                <a:latin typeface="Times New Roman" panose="02020603050405020304" pitchFamily="18" charset="0"/>
              </a:rPr>
              <a:t> </a:t>
            </a:r>
          </a:p>
        </p:txBody>
      </p:sp>
      <p:sp>
        <p:nvSpPr>
          <p:cNvPr id="5" name="AutoShape 9">
            <a:extLst>
              <a:ext uri="{FF2B5EF4-FFF2-40B4-BE49-F238E27FC236}">
                <a16:creationId xmlns:a16="http://schemas.microsoft.com/office/drawing/2014/main" id="{F8ACE07D-594F-42C9-F353-2AC5235D2B5D}"/>
              </a:ext>
            </a:extLst>
          </p:cNvPr>
          <p:cNvSpPr>
            <a:spLocks noChangeArrowheads="1"/>
          </p:cNvSpPr>
          <p:nvPr/>
        </p:nvSpPr>
        <p:spPr bwMode="auto">
          <a:xfrm>
            <a:off x="679676" y="4094213"/>
            <a:ext cx="1546622" cy="542925"/>
          </a:xfrm>
          <a:prstGeom prst="flowChartInputOutput">
            <a:avLst/>
          </a:prstGeom>
          <a:solidFill>
            <a:srgbClr val="CCFFCC"/>
          </a:solidFill>
          <a:ln w="28575" cap="sq">
            <a:solidFill>
              <a:srgbClr val="00FF00"/>
            </a:solidFill>
            <a:miter lim="800000"/>
            <a:headEnd/>
            <a:tailEnd/>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en-US" altLang="en-US" sz="1500" b="1" i="1" dirty="0">
                <a:solidFill>
                  <a:srgbClr val="000000"/>
                </a:solidFill>
                <a:latin typeface="Times New Roman" panose="02020603050405020304" pitchFamily="18" charset="0"/>
              </a:rPr>
              <a:t>x*=x</a:t>
            </a:r>
            <a:r>
              <a:rPr lang="en-US" altLang="en-US" sz="1500" b="1" i="1" baseline="30000" dirty="0">
                <a:solidFill>
                  <a:srgbClr val="000000"/>
                </a:solidFill>
                <a:latin typeface="Times New Roman" panose="02020603050405020304" pitchFamily="18" charset="0"/>
              </a:rPr>
              <a:t>(1)</a:t>
            </a:r>
            <a:endParaRPr lang="en-US" altLang="en-US" sz="1500" b="1" i="1" dirty="0">
              <a:solidFill>
                <a:srgbClr val="000000"/>
              </a:solidFill>
              <a:latin typeface="Times New Roman" panose="02020603050405020304" pitchFamily="18" charset="0"/>
            </a:endParaRPr>
          </a:p>
          <a:p>
            <a:pPr algn="ctr">
              <a:buFont typeface="Wingdings" panose="05000000000000000000" pitchFamily="2" charset="2"/>
              <a:buNone/>
            </a:pPr>
            <a:r>
              <a:rPr lang="en-US" altLang="en-US" sz="1500" b="1" i="1" dirty="0">
                <a:solidFill>
                  <a:srgbClr val="000000"/>
                </a:solidFill>
                <a:latin typeface="Times New Roman" panose="02020603050405020304" pitchFamily="18" charset="0"/>
              </a:rPr>
              <a:t>f*=f(x</a:t>
            </a:r>
            <a:r>
              <a:rPr lang="en-US" altLang="en-US" sz="1500" b="1" i="1" baseline="30000" dirty="0">
                <a:solidFill>
                  <a:srgbClr val="000000"/>
                </a:solidFill>
                <a:latin typeface="Times New Roman" panose="02020603050405020304" pitchFamily="18" charset="0"/>
              </a:rPr>
              <a:t>(1)</a:t>
            </a:r>
            <a:r>
              <a:rPr lang="en-US" altLang="en-US" sz="1500" b="1" i="1" dirty="0">
                <a:solidFill>
                  <a:srgbClr val="000000"/>
                </a:solidFill>
                <a:latin typeface="Times New Roman" panose="02020603050405020304" pitchFamily="18" charset="0"/>
              </a:rPr>
              <a:t>)</a:t>
            </a:r>
            <a:endParaRPr lang="en-US" altLang="zh-CN" sz="1500" dirty="0">
              <a:solidFill>
                <a:srgbClr val="000000"/>
              </a:solidFill>
              <a:latin typeface="Times New Roman" panose="02020603050405020304" pitchFamily="18" charset="0"/>
            </a:endParaRPr>
          </a:p>
        </p:txBody>
      </p:sp>
      <p:sp>
        <p:nvSpPr>
          <p:cNvPr id="6" name="AutoShape 10">
            <a:extLst>
              <a:ext uri="{FF2B5EF4-FFF2-40B4-BE49-F238E27FC236}">
                <a16:creationId xmlns:a16="http://schemas.microsoft.com/office/drawing/2014/main" id="{4621A9E4-D7FD-6740-8EE5-8851EA0F59FA}"/>
              </a:ext>
            </a:extLst>
          </p:cNvPr>
          <p:cNvSpPr>
            <a:spLocks noChangeArrowheads="1"/>
          </p:cNvSpPr>
          <p:nvPr/>
        </p:nvSpPr>
        <p:spPr bwMode="auto">
          <a:xfrm>
            <a:off x="931982" y="4836900"/>
            <a:ext cx="952500" cy="258365"/>
          </a:xfrm>
          <a:prstGeom prst="flowChartTerminator">
            <a:avLst/>
          </a:prstGeom>
          <a:solidFill>
            <a:srgbClr val="CCFFCC"/>
          </a:solidFill>
          <a:ln w="28575" cap="sq">
            <a:solidFill>
              <a:srgbClr val="00FF00"/>
            </a:solidFill>
            <a:miter lim="800000"/>
            <a:headEnd/>
            <a:tailEnd/>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zh-CN" altLang="en-US" sz="1500" b="1" dirty="0">
                <a:solidFill>
                  <a:srgbClr val="000000"/>
                </a:solidFill>
                <a:latin typeface="Times New Roman" panose="02020603050405020304" pitchFamily="18" charset="0"/>
              </a:rPr>
              <a:t>出口</a:t>
            </a:r>
            <a:endParaRPr lang="zh-CN" altLang="en-US" sz="1500" dirty="0">
              <a:solidFill>
                <a:srgbClr val="000000"/>
              </a:solidFill>
              <a:latin typeface="Times New Roman" panose="02020603050405020304" pitchFamily="18" charset="0"/>
            </a:endParaRPr>
          </a:p>
        </p:txBody>
      </p:sp>
      <p:sp>
        <p:nvSpPr>
          <p:cNvPr id="7" name="AutoShape 11">
            <a:extLst>
              <a:ext uri="{FF2B5EF4-FFF2-40B4-BE49-F238E27FC236}">
                <a16:creationId xmlns:a16="http://schemas.microsoft.com/office/drawing/2014/main" id="{06C44C8C-0955-89F0-E09B-745C0DFCF340}"/>
              </a:ext>
            </a:extLst>
          </p:cNvPr>
          <p:cNvSpPr>
            <a:spLocks noChangeArrowheads="1"/>
          </p:cNvSpPr>
          <p:nvPr/>
        </p:nvSpPr>
        <p:spPr bwMode="auto">
          <a:xfrm>
            <a:off x="3162388" y="5390833"/>
            <a:ext cx="1348979" cy="301228"/>
          </a:xfrm>
          <a:prstGeom prst="flowChartProcess">
            <a:avLst/>
          </a:prstGeom>
          <a:solidFill>
            <a:srgbClr val="CCFFCC"/>
          </a:solidFill>
          <a:ln w="28575" cap="sq">
            <a:solidFill>
              <a:srgbClr val="00FF00"/>
            </a:solidFill>
            <a:miter lim="800000"/>
            <a:headEnd/>
            <a:tailEnd/>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en-US" altLang="en-US" sz="1500" b="1" i="1" dirty="0">
                <a:solidFill>
                  <a:srgbClr val="000000"/>
                </a:solidFill>
                <a:latin typeface="Times New Roman" panose="02020603050405020304" pitchFamily="18" charset="0"/>
              </a:rPr>
              <a:t>x</a:t>
            </a:r>
            <a:r>
              <a:rPr lang="en-US" altLang="en-US" sz="1500" b="1" i="1" baseline="30000" dirty="0">
                <a:solidFill>
                  <a:srgbClr val="000000"/>
                </a:solidFill>
                <a:latin typeface="Times New Roman" panose="02020603050405020304" pitchFamily="18" charset="0"/>
              </a:rPr>
              <a:t>(1)</a:t>
            </a:r>
            <a:r>
              <a:rPr lang="en-US" altLang="en-US" sz="1500" b="1" i="1" dirty="0">
                <a:solidFill>
                  <a:srgbClr val="000000"/>
                </a:solidFill>
                <a:latin typeface="Times New Roman" panose="02020603050405020304" pitchFamily="18" charset="0"/>
              </a:rPr>
              <a:t>=</a:t>
            </a:r>
            <a:r>
              <a:rPr lang="en-US" altLang="en-US" sz="1500" b="1" i="1" baseline="30000" dirty="0">
                <a:solidFill>
                  <a:srgbClr val="000000"/>
                </a:solidFill>
                <a:latin typeface="Times New Roman" panose="02020603050405020304" pitchFamily="18" charset="0"/>
              </a:rPr>
              <a:t> </a:t>
            </a:r>
            <a:r>
              <a:rPr lang="en-US" altLang="en-US" sz="1500" b="1" i="1" dirty="0">
                <a:solidFill>
                  <a:srgbClr val="000000"/>
                </a:solidFill>
                <a:latin typeface="Times New Roman" panose="02020603050405020304" pitchFamily="18" charset="0"/>
              </a:rPr>
              <a:t>x</a:t>
            </a:r>
            <a:r>
              <a:rPr lang="en-US" altLang="en-US" sz="1500" b="1" i="1" baseline="30000" dirty="0">
                <a:solidFill>
                  <a:srgbClr val="000000"/>
                </a:solidFill>
                <a:latin typeface="Times New Roman" panose="02020603050405020304" pitchFamily="18" charset="0"/>
              </a:rPr>
              <a:t>(n+1)</a:t>
            </a:r>
            <a:endParaRPr lang="en-US" altLang="zh-CN" sz="1500" b="1" i="1" baseline="30000" dirty="0">
              <a:solidFill>
                <a:srgbClr val="000000"/>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AutoShape 12">
                <a:extLst>
                  <a:ext uri="{FF2B5EF4-FFF2-40B4-BE49-F238E27FC236}">
                    <a16:creationId xmlns:a16="http://schemas.microsoft.com/office/drawing/2014/main" id="{C865BED5-D699-D2E6-1642-D01A6C8BCC4D}"/>
                  </a:ext>
                </a:extLst>
              </p:cNvPr>
              <p:cNvSpPr>
                <a:spLocks noChangeArrowheads="1"/>
              </p:cNvSpPr>
              <p:nvPr/>
            </p:nvSpPr>
            <p:spPr bwMode="auto">
              <a:xfrm>
                <a:off x="776145" y="2747262"/>
                <a:ext cx="1348979" cy="301228"/>
              </a:xfrm>
              <a:prstGeom prst="flowChartProcess">
                <a:avLst/>
              </a:prstGeom>
              <a:solidFill>
                <a:srgbClr val="CCFFCC"/>
              </a:solidFill>
              <a:ln w="28575" cap="sq">
                <a:solidFill>
                  <a:srgbClr val="00FF00"/>
                </a:solidFill>
                <a:miter lim="800000"/>
              </a:ln>
              <a:effectLst/>
              <a:extLst>
                <a:ext uri="{AF507438-7753-43E0-B8FC-AC1667EBCBE1}">
                  <a14:hiddenEffects>
                    <a:effectLst>
                      <a:outerShdw dist="35921" dir="2700000" algn="ctr" rotWithShape="0">
                        <a:schemeClr val="bg2"/>
                      </a:outerShdw>
                    </a:effectLst>
                  </a14:hiddenEffects>
                </a:ext>
              </a:extLst>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a:buFontTx/>
                  <a:buNone/>
                  <a:defRPr/>
                </a:pPr>
                <a:r>
                  <a:rPr lang="zh-CN" altLang="zh-CN" sz="1500" b="1" i="1" dirty="0">
                    <a:solidFill>
                      <a:srgbClr val="000000"/>
                    </a:solidFill>
                    <a:latin typeface="Times New Roman" panose="02020603050405020304" pitchFamily="18" charset="0"/>
                  </a:rPr>
                  <a:t>计算：</a:t>
                </a:r>
                <a:r>
                  <a:rPr lang="zh-CN" altLang="zh-CN" sz="1500" kern="100" dirty="0">
                    <a:ea typeface="Cambria Math" panose="02040503050406030204" pitchFamily="18" charset="0"/>
                  </a:rPr>
                  <a:t> </a:t>
                </a:r>
                <a14:m>
                  <m:oMath xmlns:m="http://schemas.openxmlformats.org/officeDocument/2006/math">
                    <m:sSub>
                      <m:sSubPr>
                        <m:ctrlPr>
                          <a:rPr lang="zh-CN" altLang="zh-CN" sz="1500" i="1" kern="100">
                            <a:latin typeface="Cambria Math" panose="02040503050406030204" pitchFamily="18" charset="0"/>
                            <a:ea typeface="Cambria Math" panose="02040503050406030204" pitchFamily="18" charset="0"/>
                          </a:rPr>
                        </m:ctrlPr>
                      </m:sSubPr>
                      <m:e>
                        <m:r>
                          <a:rPr lang="en-US" altLang="zh-CN" sz="1500" i="1" kern="100">
                            <a:latin typeface="Cambria Math" panose="02040503050406030204" pitchFamily="18" charset="0"/>
                          </a:rPr>
                          <m:t>𝑔</m:t>
                        </m:r>
                      </m:e>
                      <m:sub>
                        <m:r>
                          <a:rPr lang="en-US" altLang="zh-CN" sz="1500" i="1" kern="100">
                            <a:latin typeface="Cambria Math" panose="02040503050406030204" pitchFamily="18" charset="0"/>
                          </a:rPr>
                          <m:t>1</m:t>
                        </m:r>
                      </m:sub>
                    </m:sSub>
                  </m:oMath>
                </a14:m>
                <a:endParaRPr lang="en-US" altLang="zh-CN" sz="1500" b="1" i="1" baseline="30000" dirty="0">
                  <a:solidFill>
                    <a:srgbClr val="000000"/>
                  </a:solidFill>
                  <a:latin typeface="Times New Roman" panose="02020603050405020304" pitchFamily="18" charset="0"/>
                </a:endParaRPr>
              </a:p>
            </p:txBody>
          </p:sp>
        </mc:Choice>
        <mc:Fallback xmlns="">
          <p:sp>
            <p:nvSpPr>
              <p:cNvPr id="8" name="AutoShape 12">
                <a:extLst>
                  <a:ext uri="{FF2B5EF4-FFF2-40B4-BE49-F238E27FC236}">
                    <a16:creationId xmlns:a16="http://schemas.microsoft.com/office/drawing/2014/main" id="{C865BED5-D699-D2E6-1642-D01A6C8BCC4D}"/>
                  </a:ext>
                </a:extLst>
              </p:cNvPr>
              <p:cNvSpPr>
                <a:spLocks noRot="1" noChangeAspect="1" noMove="1" noResize="1" noEditPoints="1" noAdjustHandles="1" noChangeArrowheads="1" noChangeShapeType="1" noTextEdit="1"/>
              </p:cNvSpPr>
              <p:nvPr/>
            </p:nvSpPr>
            <p:spPr bwMode="auto">
              <a:xfrm>
                <a:off x="776145" y="2747262"/>
                <a:ext cx="1348979" cy="301228"/>
              </a:xfrm>
              <a:prstGeom prst="flowChartProcess">
                <a:avLst/>
              </a:prstGeom>
              <a:blipFill>
                <a:blip r:embed="rId2"/>
                <a:stretch>
                  <a:fillRect t="-5556" b="-16667"/>
                </a:stretch>
              </a:blipFill>
              <a:ln w="28575" cap="sq">
                <a:solidFill>
                  <a:srgbClr val="00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AutoShape 14">
                <a:extLst>
                  <a:ext uri="{FF2B5EF4-FFF2-40B4-BE49-F238E27FC236}">
                    <a16:creationId xmlns:a16="http://schemas.microsoft.com/office/drawing/2014/main" id="{6FF46793-FC31-34B6-23E1-CD3B07CC3A4F}"/>
                  </a:ext>
                </a:extLst>
              </p:cNvPr>
              <p:cNvSpPr>
                <a:spLocks noChangeArrowheads="1"/>
              </p:cNvSpPr>
              <p:nvPr/>
            </p:nvSpPr>
            <p:spPr bwMode="auto">
              <a:xfrm>
                <a:off x="4657294" y="3003224"/>
                <a:ext cx="2052638" cy="1132284"/>
              </a:xfrm>
              <a:prstGeom prst="flowChartProcess">
                <a:avLst/>
              </a:prstGeom>
              <a:solidFill>
                <a:srgbClr val="CCFFCC"/>
              </a:solidFill>
              <a:ln w="28575" cap="sq">
                <a:solidFill>
                  <a:srgbClr val="00FF00"/>
                </a:solidFill>
                <a:miter lim="800000"/>
              </a:ln>
              <a:effectLst/>
              <a:extLst>
                <a:ext uri="{AF507438-7753-43E0-B8FC-AC1667EBCBE1}">
                  <a14:hiddenEffects>
                    <a:effectLst>
                      <a:outerShdw dist="35921" dir="2700000" algn="ctr" rotWithShape="0">
                        <a:schemeClr val="bg2"/>
                      </a:outerShdw>
                    </a:effectLst>
                  </a14:hiddenEffects>
                </a:ext>
              </a:extLst>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a:buFontTx/>
                  <a:buNone/>
                  <a:defRPr/>
                </a:pPr>
                <a:r>
                  <a:rPr lang="zh-CN" altLang="en-US" sz="1500" b="1" dirty="0">
                    <a:solidFill>
                      <a:srgbClr val="000000"/>
                    </a:solidFill>
                    <a:latin typeface="Times New Roman" panose="02020603050405020304" pitchFamily="18" charset="0"/>
                  </a:rPr>
                  <a:t>沿</a:t>
                </a:r>
                <a:r>
                  <a:rPr lang="en-US" altLang="en-US" sz="1500" b="1" i="1" dirty="0">
                    <a:solidFill>
                      <a:srgbClr val="000000"/>
                    </a:solidFill>
                    <a:latin typeface="Times New Roman" panose="02020603050405020304" pitchFamily="18" charset="0"/>
                  </a:rPr>
                  <a:t>d</a:t>
                </a:r>
                <a:r>
                  <a:rPr lang="en-US" altLang="zh-CN" sz="1500" b="1" i="1" baseline="30000" dirty="0">
                    <a:solidFill>
                      <a:srgbClr val="000000"/>
                    </a:solidFill>
                    <a:latin typeface="Times New Roman" panose="02020603050405020304" pitchFamily="18" charset="0"/>
                  </a:rPr>
                  <a:t>(k)</a:t>
                </a:r>
                <a:r>
                  <a:rPr lang="zh-CN" altLang="en-US" sz="1500" b="1" dirty="0">
                    <a:solidFill>
                      <a:srgbClr val="000000"/>
                    </a:solidFill>
                    <a:latin typeface="Times New Roman" panose="02020603050405020304" pitchFamily="18" charset="0"/>
                  </a:rPr>
                  <a:t>方向一维搜索，</a:t>
                </a:r>
              </a:p>
              <a:p>
                <a:pPr algn="ctr">
                  <a:buFontTx/>
                  <a:buNone/>
                  <a:defRPr/>
                </a:pPr>
                <a:r>
                  <a:rPr lang="zh-CN" altLang="en-US" sz="1500" b="1" dirty="0">
                    <a:solidFill>
                      <a:srgbClr val="000000"/>
                    </a:solidFill>
                    <a:latin typeface="Times New Roman" panose="02020603050405020304" pitchFamily="18" charset="0"/>
                  </a:rPr>
                  <a:t>求</a:t>
                </a:r>
                <a:r>
                  <a:rPr lang="zh-CN" altLang="en-US" sz="1500" b="1" dirty="0">
                    <a:latin typeface="Times New Roman" panose="02020603050405020304" pitchFamily="18" charset="0"/>
                  </a:rPr>
                  <a:t>最优步长</a:t>
                </a:r>
                <a14:m>
                  <m:oMath xmlns:m="http://schemas.openxmlformats.org/officeDocument/2006/math">
                    <m:sSup>
                      <m:sSup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500" i="1" kern="100">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15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15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1500" i="1" kern="100">
                            <a:latin typeface="Cambria Math" panose="02040503050406030204" pitchFamily="18" charset="0"/>
                            <a:ea typeface="Cambria Math" panose="02040503050406030204" pitchFamily="18" charset="0"/>
                            <a:cs typeface="Times New Roman" panose="02020603050405020304" pitchFamily="18" charset="0"/>
                          </a:rPr>
                          <m:t>)</m:t>
                        </m:r>
                      </m:sup>
                    </m:sSup>
                  </m:oMath>
                </a14:m>
                <a:endParaRPr lang="zh-CN" altLang="en-US" sz="1500" b="1" dirty="0">
                  <a:solidFill>
                    <a:srgbClr val="000000"/>
                  </a:solidFill>
                  <a:latin typeface="Times New Roman" panose="02020603050405020304" pitchFamily="18" charset="0"/>
                </a:endParaRPr>
              </a:p>
              <a:p>
                <a:pPr algn="ctr">
                  <a:buFontTx/>
                  <a:buNone/>
                  <a:defRPr/>
                </a:pPr>
                <a:r>
                  <a:rPr lang="en-US" altLang="en-US" sz="1500" b="1" i="1" dirty="0">
                    <a:solidFill>
                      <a:srgbClr val="000000"/>
                    </a:solidFill>
                    <a:latin typeface="Times New Roman" panose="02020603050405020304" pitchFamily="18" charset="0"/>
                  </a:rPr>
                  <a:t>x</a:t>
                </a:r>
                <a:r>
                  <a:rPr lang="en-US" altLang="en-US" sz="1500" b="1" i="1" baseline="30000" dirty="0">
                    <a:solidFill>
                      <a:srgbClr val="000000"/>
                    </a:solidFill>
                    <a:latin typeface="Times New Roman" panose="02020603050405020304" pitchFamily="18" charset="0"/>
                  </a:rPr>
                  <a:t>(k+1)</a:t>
                </a:r>
                <a:r>
                  <a:rPr lang="en-US" altLang="en-US" sz="1500" b="1" i="1" dirty="0">
                    <a:solidFill>
                      <a:srgbClr val="000000"/>
                    </a:solidFill>
                    <a:latin typeface="Times New Roman" panose="02020603050405020304" pitchFamily="18" charset="0"/>
                  </a:rPr>
                  <a:t>=</a:t>
                </a:r>
                <a:r>
                  <a:rPr lang="en-US" altLang="en-US" sz="1500" b="1" i="1" baseline="30000" dirty="0">
                    <a:solidFill>
                      <a:srgbClr val="000000"/>
                    </a:solidFill>
                    <a:latin typeface="Times New Roman" panose="02020603050405020304" pitchFamily="18" charset="0"/>
                  </a:rPr>
                  <a:t> </a:t>
                </a:r>
                <a:r>
                  <a:rPr lang="en-US" altLang="en-US" sz="1500" b="1" i="1" dirty="0">
                    <a:solidFill>
                      <a:srgbClr val="000000"/>
                    </a:solidFill>
                    <a:latin typeface="Times New Roman" panose="02020603050405020304" pitchFamily="18" charset="0"/>
                  </a:rPr>
                  <a:t>x</a:t>
                </a:r>
                <a:r>
                  <a:rPr lang="en-US" altLang="en-US" sz="1500" b="1" i="1" baseline="30000" dirty="0">
                    <a:solidFill>
                      <a:srgbClr val="000000"/>
                    </a:solidFill>
                    <a:latin typeface="Times New Roman" panose="02020603050405020304" pitchFamily="18" charset="0"/>
                  </a:rPr>
                  <a:t>(k)</a:t>
                </a:r>
                <a:r>
                  <a:rPr lang="en-US" altLang="zh-CN" sz="1500" b="1" i="1" baseline="30000" dirty="0">
                    <a:solidFill>
                      <a:srgbClr val="000000"/>
                    </a:solidFill>
                    <a:latin typeface="Times New Roman" panose="02020603050405020304" pitchFamily="18" charset="0"/>
                  </a:rPr>
                  <a:t>+</a:t>
                </a:r>
                <a14:m>
                  <m:oMath xmlns:m="http://schemas.openxmlformats.org/officeDocument/2006/math">
                    <m:sSup>
                      <m:sSupPr>
                        <m:ctrlPr>
                          <a:rPr lang="zh-CN" altLang="zh-CN" sz="15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1500" i="1" kern="100">
                            <a:latin typeface="Cambria Math" panose="02040503050406030204" pitchFamily="18" charset="0"/>
                            <a:ea typeface="Cambria Math" panose="02040503050406030204" pitchFamily="18" charset="0"/>
                            <a:cs typeface="Times New Roman" panose="02020603050405020304" pitchFamily="18" charset="0"/>
                          </a:rPr>
                          <m:t>𝛼</m:t>
                        </m:r>
                      </m:e>
                      <m:sup>
                        <m:r>
                          <a:rPr lang="en-US" altLang="zh-CN" sz="15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1500" i="1" kern="100">
                            <a:latin typeface="Cambria Math" panose="02040503050406030204" pitchFamily="18" charset="0"/>
                            <a:ea typeface="Cambria Math" panose="02040503050406030204" pitchFamily="18" charset="0"/>
                            <a:cs typeface="Times New Roman" panose="02020603050405020304" pitchFamily="18" charset="0"/>
                          </a:rPr>
                          <m:t>𝑘</m:t>
                        </m:r>
                        <m:r>
                          <a:rPr lang="en-US" altLang="zh-CN" sz="1500" i="1" kern="100">
                            <a:latin typeface="Cambria Math" panose="02040503050406030204" pitchFamily="18" charset="0"/>
                            <a:ea typeface="Cambria Math" panose="02040503050406030204" pitchFamily="18" charset="0"/>
                            <a:cs typeface="Times New Roman" panose="02020603050405020304" pitchFamily="18" charset="0"/>
                          </a:rPr>
                          <m:t>)</m:t>
                        </m:r>
                      </m:sup>
                    </m:sSup>
                  </m:oMath>
                </a14:m>
                <a:r>
                  <a:rPr lang="en-US" altLang="en-US" sz="1500" b="1" i="1" dirty="0">
                    <a:solidFill>
                      <a:srgbClr val="000000"/>
                    </a:solidFill>
                    <a:latin typeface="Times New Roman" panose="02020603050405020304" pitchFamily="18" charset="0"/>
                  </a:rPr>
                  <a:t>d</a:t>
                </a:r>
                <a:r>
                  <a:rPr lang="en-US" altLang="zh-CN" sz="1500" b="1" i="1" baseline="30000" dirty="0">
                    <a:solidFill>
                      <a:srgbClr val="000000"/>
                    </a:solidFill>
                    <a:latin typeface="Times New Roman" panose="02020603050405020304" pitchFamily="18" charset="0"/>
                  </a:rPr>
                  <a:t>(k)</a:t>
                </a:r>
                <a:endParaRPr lang="en-US" altLang="zh-CN" sz="1500" b="1" i="1" dirty="0">
                  <a:solidFill>
                    <a:srgbClr val="000000"/>
                  </a:solidFill>
                  <a:latin typeface="Times New Roman" panose="02020603050405020304" pitchFamily="18" charset="0"/>
                </a:endParaRPr>
              </a:p>
            </p:txBody>
          </p:sp>
        </mc:Choice>
        <mc:Fallback xmlns="">
          <p:sp>
            <p:nvSpPr>
              <p:cNvPr id="9" name="AutoShape 14">
                <a:extLst>
                  <a:ext uri="{FF2B5EF4-FFF2-40B4-BE49-F238E27FC236}">
                    <a16:creationId xmlns:a16="http://schemas.microsoft.com/office/drawing/2014/main" id="{6FF46793-FC31-34B6-23E1-CD3B07CC3A4F}"/>
                  </a:ext>
                </a:extLst>
              </p:cNvPr>
              <p:cNvSpPr>
                <a:spLocks noRot="1" noChangeAspect="1" noMove="1" noResize="1" noEditPoints="1" noAdjustHandles="1" noChangeArrowheads="1" noChangeShapeType="1" noTextEdit="1"/>
              </p:cNvSpPr>
              <p:nvPr/>
            </p:nvSpPr>
            <p:spPr bwMode="auto">
              <a:xfrm>
                <a:off x="4657294" y="3003224"/>
                <a:ext cx="2052638" cy="1132284"/>
              </a:xfrm>
              <a:prstGeom prst="flowChartProcess">
                <a:avLst/>
              </a:prstGeom>
              <a:blipFill>
                <a:blip r:embed="rId3"/>
                <a:stretch>
                  <a:fillRect/>
                </a:stretch>
              </a:blipFill>
              <a:ln w="28575" cap="sq">
                <a:solidFill>
                  <a:srgbClr val="00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0" name="Line 15">
            <a:extLst>
              <a:ext uri="{FF2B5EF4-FFF2-40B4-BE49-F238E27FC236}">
                <a16:creationId xmlns:a16="http://schemas.microsoft.com/office/drawing/2014/main" id="{CD912C26-8D06-B87C-DA11-626C55035E10}"/>
              </a:ext>
            </a:extLst>
          </p:cNvPr>
          <p:cNvSpPr>
            <a:spLocks noChangeShapeType="1"/>
          </p:cNvSpPr>
          <p:nvPr/>
        </p:nvSpPr>
        <p:spPr bwMode="auto">
          <a:xfrm>
            <a:off x="1441421" y="2040124"/>
            <a:ext cx="0" cy="136922"/>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11" name="Line 16">
            <a:extLst>
              <a:ext uri="{FF2B5EF4-FFF2-40B4-BE49-F238E27FC236}">
                <a16:creationId xmlns:a16="http://schemas.microsoft.com/office/drawing/2014/main" id="{8C25D858-8D52-D501-9182-7E11DE7C5985}"/>
              </a:ext>
            </a:extLst>
          </p:cNvPr>
          <p:cNvSpPr>
            <a:spLocks noChangeShapeType="1"/>
          </p:cNvSpPr>
          <p:nvPr/>
        </p:nvSpPr>
        <p:spPr bwMode="auto">
          <a:xfrm>
            <a:off x="1450634" y="2529378"/>
            <a:ext cx="0" cy="217884"/>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12" name="Line 17">
            <a:extLst>
              <a:ext uri="{FF2B5EF4-FFF2-40B4-BE49-F238E27FC236}">
                <a16:creationId xmlns:a16="http://schemas.microsoft.com/office/drawing/2014/main" id="{52A4806A-71D0-F241-6BFB-5CC5C5BF3108}"/>
              </a:ext>
            </a:extLst>
          </p:cNvPr>
          <p:cNvSpPr>
            <a:spLocks noChangeShapeType="1"/>
          </p:cNvSpPr>
          <p:nvPr/>
        </p:nvSpPr>
        <p:spPr bwMode="auto">
          <a:xfrm>
            <a:off x="5554196" y="2795081"/>
            <a:ext cx="1602" cy="218814"/>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13" name="Line 18">
            <a:extLst>
              <a:ext uri="{FF2B5EF4-FFF2-40B4-BE49-F238E27FC236}">
                <a16:creationId xmlns:a16="http://schemas.microsoft.com/office/drawing/2014/main" id="{EE6E6B95-D445-50DE-3E57-C4AD5B6CF1FB}"/>
              </a:ext>
            </a:extLst>
          </p:cNvPr>
          <p:cNvSpPr>
            <a:spLocks noChangeShapeType="1"/>
          </p:cNvSpPr>
          <p:nvPr/>
        </p:nvSpPr>
        <p:spPr bwMode="auto">
          <a:xfrm>
            <a:off x="5587574" y="4174988"/>
            <a:ext cx="4844" cy="364011"/>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14" name="Line 19">
            <a:extLst>
              <a:ext uri="{FF2B5EF4-FFF2-40B4-BE49-F238E27FC236}">
                <a16:creationId xmlns:a16="http://schemas.microsoft.com/office/drawing/2014/main" id="{6BB94BF9-A08A-119C-1638-BDBBD5393E44}"/>
              </a:ext>
            </a:extLst>
          </p:cNvPr>
          <p:cNvSpPr>
            <a:spLocks noChangeShapeType="1"/>
          </p:cNvSpPr>
          <p:nvPr/>
        </p:nvSpPr>
        <p:spPr bwMode="auto">
          <a:xfrm>
            <a:off x="1455707" y="3048490"/>
            <a:ext cx="0" cy="275035"/>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15" name="Line 20">
            <a:extLst>
              <a:ext uri="{FF2B5EF4-FFF2-40B4-BE49-F238E27FC236}">
                <a16:creationId xmlns:a16="http://schemas.microsoft.com/office/drawing/2014/main" id="{461ADA45-ADD0-BCE7-EA87-5861560D6A4B}"/>
              </a:ext>
            </a:extLst>
          </p:cNvPr>
          <p:cNvSpPr>
            <a:spLocks noChangeShapeType="1"/>
          </p:cNvSpPr>
          <p:nvPr/>
        </p:nvSpPr>
        <p:spPr bwMode="auto">
          <a:xfrm>
            <a:off x="1453581" y="3882282"/>
            <a:ext cx="0" cy="251222"/>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16" name="Line 21">
            <a:extLst>
              <a:ext uri="{FF2B5EF4-FFF2-40B4-BE49-F238E27FC236}">
                <a16:creationId xmlns:a16="http://schemas.microsoft.com/office/drawing/2014/main" id="{5E42058F-3A66-8308-FEDA-C2294E326043}"/>
              </a:ext>
            </a:extLst>
          </p:cNvPr>
          <p:cNvSpPr>
            <a:spLocks noChangeShapeType="1"/>
          </p:cNvSpPr>
          <p:nvPr/>
        </p:nvSpPr>
        <p:spPr bwMode="auto">
          <a:xfrm>
            <a:off x="6165413" y="5541446"/>
            <a:ext cx="544519" cy="332"/>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17" name="Line 23">
            <a:extLst>
              <a:ext uri="{FF2B5EF4-FFF2-40B4-BE49-F238E27FC236}">
                <a16:creationId xmlns:a16="http://schemas.microsoft.com/office/drawing/2014/main" id="{78960F41-B002-D60A-67B2-7036808648A9}"/>
              </a:ext>
            </a:extLst>
          </p:cNvPr>
          <p:cNvSpPr>
            <a:spLocks noChangeShapeType="1"/>
          </p:cNvSpPr>
          <p:nvPr/>
        </p:nvSpPr>
        <p:spPr bwMode="auto">
          <a:xfrm flipH="1">
            <a:off x="4513415" y="5559860"/>
            <a:ext cx="514350" cy="0"/>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18" name="Line 24">
            <a:extLst>
              <a:ext uri="{FF2B5EF4-FFF2-40B4-BE49-F238E27FC236}">
                <a16:creationId xmlns:a16="http://schemas.microsoft.com/office/drawing/2014/main" id="{E83B42CC-8B9C-4881-BB4E-36B5A8F2268E}"/>
              </a:ext>
            </a:extLst>
          </p:cNvPr>
          <p:cNvSpPr>
            <a:spLocks noChangeShapeType="1"/>
          </p:cNvSpPr>
          <p:nvPr/>
        </p:nvSpPr>
        <p:spPr bwMode="auto">
          <a:xfrm flipH="1">
            <a:off x="1435723" y="4625232"/>
            <a:ext cx="7143" cy="223838"/>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19" name="Text Box 25">
            <a:extLst>
              <a:ext uri="{FF2B5EF4-FFF2-40B4-BE49-F238E27FC236}">
                <a16:creationId xmlns:a16="http://schemas.microsoft.com/office/drawing/2014/main" id="{66E4F29B-4FC9-3B37-9E4F-ABEE86B9C272}"/>
              </a:ext>
            </a:extLst>
          </p:cNvPr>
          <p:cNvSpPr txBox="1">
            <a:spLocks noChangeArrowheads="1"/>
          </p:cNvSpPr>
          <p:nvPr/>
        </p:nvSpPr>
        <p:spPr bwMode="auto">
          <a:xfrm>
            <a:off x="2097406" y="3201735"/>
            <a:ext cx="278923"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9056" tIns="34529" rIns="69056" bIns="34529"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spcBef>
                <a:spcPct val="50000"/>
              </a:spcBef>
              <a:buFont typeface="Wingdings" panose="05000000000000000000" pitchFamily="2" charset="2"/>
              <a:buNone/>
            </a:pPr>
            <a:r>
              <a:rPr lang="en-US" altLang="en-US" sz="1500" b="1" dirty="0">
                <a:latin typeface="Times New Roman" panose="02020603050405020304" pitchFamily="18" charset="0"/>
              </a:rPr>
              <a:t>N</a:t>
            </a:r>
            <a:endParaRPr lang="en-US" altLang="zh-CN" sz="1500" dirty="0">
              <a:latin typeface="Times New Roman" panose="02020603050405020304" pitchFamily="18" charset="0"/>
            </a:endParaRPr>
          </a:p>
        </p:txBody>
      </p:sp>
      <p:sp>
        <p:nvSpPr>
          <p:cNvPr id="20" name="Text Box 26">
            <a:extLst>
              <a:ext uri="{FF2B5EF4-FFF2-40B4-BE49-F238E27FC236}">
                <a16:creationId xmlns:a16="http://schemas.microsoft.com/office/drawing/2014/main" id="{0C86B46F-FBD0-1984-B6F5-0671035EF52E}"/>
              </a:ext>
            </a:extLst>
          </p:cNvPr>
          <p:cNvSpPr txBox="1">
            <a:spLocks noChangeArrowheads="1"/>
          </p:cNvSpPr>
          <p:nvPr/>
        </p:nvSpPr>
        <p:spPr bwMode="auto">
          <a:xfrm>
            <a:off x="1156800" y="3757191"/>
            <a:ext cx="278923"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9056" tIns="34529" rIns="69056" bIns="34529"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spcBef>
                <a:spcPct val="50000"/>
              </a:spcBef>
              <a:buFont typeface="Wingdings" panose="05000000000000000000" pitchFamily="2" charset="2"/>
              <a:buNone/>
            </a:pPr>
            <a:r>
              <a:rPr lang="en-US" altLang="en-US" sz="1500" b="1" dirty="0">
                <a:latin typeface="Times New Roman" panose="02020603050405020304" pitchFamily="18" charset="0"/>
              </a:rPr>
              <a:t>Y</a:t>
            </a:r>
            <a:endParaRPr lang="en-US" altLang="zh-CN" sz="1500"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21" name="AutoShape 8">
                <a:extLst>
                  <a:ext uri="{FF2B5EF4-FFF2-40B4-BE49-F238E27FC236}">
                    <a16:creationId xmlns:a16="http://schemas.microsoft.com/office/drawing/2014/main" id="{713F925A-1AB2-D450-9568-879B438B6D85}"/>
                  </a:ext>
                </a:extLst>
              </p:cNvPr>
              <p:cNvSpPr>
                <a:spLocks noChangeArrowheads="1"/>
              </p:cNvSpPr>
              <p:nvPr/>
            </p:nvSpPr>
            <p:spPr bwMode="auto">
              <a:xfrm>
                <a:off x="720186" y="3300533"/>
                <a:ext cx="1460897" cy="537666"/>
              </a:xfrm>
              <a:prstGeom prst="flowChartDecision">
                <a:avLst/>
              </a:prstGeom>
              <a:solidFill>
                <a:srgbClr val="CCFFCC"/>
              </a:solidFill>
              <a:ln w="28575" cap="sq">
                <a:solidFill>
                  <a:srgbClr val="00FF00"/>
                </a:solidFill>
                <a:miter lim="800000"/>
              </a:ln>
              <a:effectLst/>
              <a:extLst>
                <a:ext uri="{AF507438-7753-43E0-B8FC-AC1667EBCBE1}">
                  <a14:hiddenEffects>
                    <a:effectLst>
                      <a:outerShdw dist="35921" dir="2700000" algn="ctr" rotWithShape="0">
                        <a:schemeClr val="bg2"/>
                      </a:outerShdw>
                    </a:effectLst>
                  </a14:hiddenEffects>
                </a:ext>
              </a:extLst>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a:buFontTx/>
                  <a:buNone/>
                  <a:defRPr/>
                </a:pPr>
                <a14:m>
                  <m:oMathPara xmlns:m="http://schemas.openxmlformats.org/officeDocument/2006/math">
                    <m:oMathParaPr>
                      <m:jc m:val="centerGroup"/>
                    </m:oMathParaPr>
                    <m:oMath xmlns:m="http://schemas.openxmlformats.org/officeDocument/2006/math">
                      <m:sSub>
                        <m:sSubPr>
                          <m:ctrlPr>
                            <a:rPr lang="en-US" altLang="zh-CN" sz="1350" i="1" kern="100">
                              <a:latin typeface="Cambria Math" panose="02040503050406030204" pitchFamily="18" charset="0"/>
                              <a:ea typeface="Cambria Math" panose="02040503050406030204" pitchFamily="18" charset="0"/>
                            </a:rPr>
                          </m:ctrlPr>
                        </m:sSubPr>
                        <m:e>
                          <m:d>
                            <m:dPr>
                              <m:begChr m:val="‖"/>
                              <m:endChr m:val="‖"/>
                              <m:ctrlPr>
                                <a:rPr lang="zh-CN" altLang="zh-CN" sz="1350" i="1" kern="100">
                                  <a:latin typeface="Cambria Math" panose="02040503050406030204" pitchFamily="18" charset="0"/>
                                  <a:ea typeface="Cambria Math" panose="02040503050406030204" pitchFamily="18" charset="0"/>
                                </a:rPr>
                              </m:ctrlPr>
                            </m:dPr>
                            <m:e>
                              <m:sSub>
                                <m:sSubPr>
                                  <m:ctrlPr>
                                    <a:rPr lang="zh-CN" altLang="zh-CN" sz="1350" i="1" kern="100">
                                      <a:latin typeface="Cambria Math" panose="02040503050406030204" pitchFamily="18" charset="0"/>
                                      <a:ea typeface="Cambria Math" panose="02040503050406030204" pitchFamily="18" charset="0"/>
                                    </a:rPr>
                                  </m:ctrlPr>
                                </m:sSubPr>
                                <m:e>
                                  <m:r>
                                    <a:rPr lang="en-US" altLang="zh-CN" sz="1350" i="1" kern="100">
                                      <a:latin typeface="Cambria Math" panose="02040503050406030204" pitchFamily="18" charset="0"/>
                                    </a:rPr>
                                    <m:t>𝑔</m:t>
                                  </m:r>
                                </m:e>
                                <m:sub>
                                  <m:r>
                                    <a:rPr lang="en-US" altLang="zh-CN" sz="1350" i="1" kern="100">
                                      <a:latin typeface="Cambria Math" panose="02040503050406030204" pitchFamily="18" charset="0"/>
                                    </a:rPr>
                                    <m:t>1</m:t>
                                  </m:r>
                                </m:sub>
                              </m:sSub>
                            </m:e>
                          </m:d>
                        </m:e>
                        <m:sub>
                          <m:r>
                            <a:rPr lang="en-US" altLang="zh-CN" sz="1350" i="1" kern="100">
                              <a:latin typeface="Cambria Math" panose="02040503050406030204" pitchFamily="18" charset="0"/>
                              <a:ea typeface="Cambria Math" panose="02040503050406030204" pitchFamily="18" charset="0"/>
                            </a:rPr>
                            <m:t>2</m:t>
                          </m:r>
                        </m:sub>
                      </m:sSub>
                      <m:r>
                        <a:rPr lang="en-US" altLang="zh-CN" sz="1350" i="1" kern="100">
                          <a:latin typeface="Cambria Math" panose="02040503050406030204" pitchFamily="18" charset="0"/>
                          <a:ea typeface="Cambria Math" panose="02040503050406030204" pitchFamily="18" charset="0"/>
                        </a:rPr>
                        <m:t>≤</m:t>
                      </m:r>
                      <m:r>
                        <a:rPr lang="en-US" altLang="zh-CN" sz="1350" i="1" kern="100">
                          <a:latin typeface="Cambria Math" panose="02040503050406030204" pitchFamily="18" charset="0"/>
                        </a:rPr>
                        <m:t>𝜀</m:t>
                      </m:r>
                    </m:oMath>
                  </m:oMathPara>
                </a14:m>
                <a:endParaRPr lang="zh-CN" altLang="en-US" sz="1350" b="1" i="1" dirty="0">
                  <a:solidFill>
                    <a:srgbClr val="000000"/>
                  </a:solidFill>
                  <a:latin typeface="Times New Roman" panose="02020603050405020304" pitchFamily="18" charset="0"/>
                  <a:sym typeface="Symbol" panose="05050102010706020507" pitchFamily="18" charset="2"/>
                </a:endParaRPr>
              </a:p>
            </p:txBody>
          </p:sp>
        </mc:Choice>
        <mc:Fallback xmlns="">
          <p:sp>
            <p:nvSpPr>
              <p:cNvPr id="21" name="AutoShape 8">
                <a:extLst>
                  <a:ext uri="{FF2B5EF4-FFF2-40B4-BE49-F238E27FC236}">
                    <a16:creationId xmlns:a16="http://schemas.microsoft.com/office/drawing/2014/main" id="{713F925A-1AB2-D450-9568-879B438B6D85}"/>
                  </a:ext>
                </a:extLst>
              </p:cNvPr>
              <p:cNvSpPr>
                <a:spLocks noRot="1" noChangeAspect="1" noMove="1" noResize="1" noEditPoints="1" noAdjustHandles="1" noChangeArrowheads="1" noChangeShapeType="1" noTextEdit="1"/>
              </p:cNvSpPr>
              <p:nvPr/>
            </p:nvSpPr>
            <p:spPr bwMode="auto">
              <a:xfrm>
                <a:off x="720186" y="3300533"/>
                <a:ext cx="1460897" cy="537666"/>
              </a:xfrm>
              <a:prstGeom prst="flowChartDecision">
                <a:avLst/>
              </a:prstGeom>
              <a:blipFill>
                <a:blip r:embed="rId4"/>
                <a:stretch>
                  <a:fillRect/>
                </a:stretch>
              </a:blipFill>
              <a:ln w="28575" cap="sq">
                <a:solidFill>
                  <a:srgbClr val="00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AutoShape 12">
                <a:extLst>
                  <a:ext uri="{FF2B5EF4-FFF2-40B4-BE49-F238E27FC236}">
                    <a16:creationId xmlns:a16="http://schemas.microsoft.com/office/drawing/2014/main" id="{1828E30F-ECA6-E615-17F8-2ED7523AE3D3}"/>
                  </a:ext>
                </a:extLst>
              </p:cNvPr>
              <p:cNvSpPr>
                <a:spLocks noChangeArrowheads="1"/>
              </p:cNvSpPr>
              <p:nvPr/>
            </p:nvSpPr>
            <p:spPr bwMode="auto">
              <a:xfrm>
                <a:off x="4813173" y="1927128"/>
                <a:ext cx="1639305" cy="301228"/>
              </a:xfrm>
              <a:prstGeom prst="flowChartProcess">
                <a:avLst/>
              </a:prstGeom>
              <a:solidFill>
                <a:srgbClr val="CCFFCC"/>
              </a:solidFill>
              <a:ln w="28575" cap="sq">
                <a:solidFill>
                  <a:srgbClr val="00FF00"/>
                </a:solidFill>
                <a:miter lim="800000"/>
              </a:ln>
              <a:effectLst/>
              <a:extLst>
                <a:ext uri="{AF507438-7753-43E0-B8FC-AC1667EBCBE1}">
                  <a14:hiddenEffects>
                    <a:effectLst>
                      <a:outerShdw dist="35921" dir="2700000" algn="ctr" rotWithShape="0">
                        <a:schemeClr val="bg2"/>
                      </a:outerShdw>
                    </a:effectLst>
                  </a14:hiddenEffects>
                </a:ext>
              </a:extLst>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a:lnSpc>
                    <a:spcPct val="150000"/>
                  </a:lnSpc>
                </a:pPr>
                <a14:m>
                  <m:oMathPara xmlns:m="http://schemas.openxmlformats.org/officeDocument/2006/math">
                    <m:oMathParaPr>
                      <m:jc m:val="centerGroup"/>
                    </m:oMathParaPr>
                    <m:oMath xmlns:m="http://schemas.openxmlformats.org/officeDocument/2006/math">
                      <m:sSup>
                        <m:sSupPr>
                          <m:ctrlPr>
                            <a:rPr lang="zh-CN" altLang="zh-CN" sz="1500" i="1" kern="100">
                              <a:latin typeface="Cambria Math" panose="02040503050406030204" pitchFamily="18" charset="0"/>
                              <a:ea typeface="Cambria Math" panose="02040503050406030204" pitchFamily="18" charset="0"/>
                            </a:rPr>
                          </m:ctrlPr>
                        </m:sSupPr>
                        <m:e>
                          <m:r>
                            <a:rPr lang="en-US" altLang="zh-CN" sz="1500" i="1" kern="100">
                              <a:latin typeface="Cambria Math" panose="02040503050406030204" pitchFamily="18" charset="0"/>
                            </a:rPr>
                            <m:t>𝑑</m:t>
                          </m:r>
                        </m:e>
                        <m:sup>
                          <m:r>
                            <a:rPr lang="en-US" altLang="zh-CN" sz="1500" i="1" kern="100">
                              <a:latin typeface="Cambria Math" panose="02040503050406030204" pitchFamily="18" charset="0"/>
                            </a:rPr>
                            <m:t>(1)</m:t>
                          </m:r>
                        </m:sup>
                      </m:sSup>
                      <m:r>
                        <a:rPr lang="en-US" altLang="zh-CN" sz="1500" i="1" kern="100">
                          <a:latin typeface="Cambria Math" panose="02040503050406030204" pitchFamily="18" charset="0"/>
                        </a:rPr>
                        <m:t>=</m:t>
                      </m:r>
                      <m:r>
                        <a:rPr lang="zh-CN" altLang="en-US" sz="1500" i="1" kern="100">
                          <a:latin typeface="Cambria Math" panose="02040503050406030204" pitchFamily="18" charset="0"/>
                          <a:ea typeface="微软雅黑" panose="020B0503020204020204" pitchFamily="34" charset="-122"/>
                          <a:cs typeface="微软雅黑" panose="020B0503020204020204" pitchFamily="34" charset="-122"/>
                        </a:rPr>
                        <m:t>−</m:t>
                      </m:r>
                      <m:r>
                        <a:rPr lang="en-US" altLang="zh-CN" sz="1500" i="1" kern="100">
                          <a:latin typeface="Cambria Math" panose="02040503050406030204" pitchFamily="18" charset="0"/>
                          <a:cs typeface="Cambria Math" panose="02040503050406030204" pitchFamily="18" charset="0"/>
                        </a:rPr>
                        <m:t>𝛻</m:t>
                      </m:r>
                      <m:r>
                        <a:rPr lang="en-US" altLang="zh-CN" sz="1500" i="1" kern="100">
                          <a:latin typeface="Cambria Math" panose="02040503050406030204" pitchFamily="18" charset="0"/>
                        </a:rPr>
                        <m:t>𝑓</m:t>
                      </m:r>
                      <m:r>
                        <a:rPr lang="en-US" altLang="zh-CN" sz="1500" i="1" kern="100">
                          <a:latin typeface="Cambria Math" panose="02040503050406030204" pitchFamily="18" charset="0"/>
                        </a:rPr>
                        <m:t>(</m:t>
                      </m:r>
                      <m:sSup>
                        <m:sSupPr>
                          <m:ctrlPr>
                            <a:rPr lang="zh-CN" altLang="zh-CN" sz="1500" i="1" kern="100">
                              <a:latin typeface="Cambria Math" panose="02040503050406030204" pitchFamily="18" charset="0"/>
                              <a:ea typeface="Cambria Math" panose="02040503050406030204" pitchFamily="18" charset="0"/>
                            </a:rPr>
                          </m:ctrlPr>
                        </m:sSupPr>
                        <m:e>
                          <m:r>
                            <a:rPr lang="en-US" altLang="zh-CN" sz="1500" i="1" kern="100">
                              <a:latin typeface="Cambria Math" panose="02040503050406030204" pitchFamily="18" charset="0"/>
                            </a:rPr>
                            <m:t>𝑥</m:t>
                          </m:r>
                        </m:e>
                        <m:sup>
                          <m:r>
                            <a:rPr lang="en-US" altLang="zh-CN" sz="1500" i="1" kern="100">
                              <a:latin typeface="Cambria Math" panose="02040503050406030204" pitchFamily="18" charset="0"/>
                            </a:rPr>
                            <m:t>(1)</m:t>
                          </m:r>
                        </m:sup>
                      </m:sSup>
                      <m:r>
                        <a:rPr lang="en-US" altLang="zh-CN" sz="1500" i="1" kern="100">
                          <a:latin typeface="Cambria Math" panose="02040503050406030204" pitchFamily="18" charset="0"/>
                        </a:rPr>
                        <m:t>)</m:t>
                      </m:r>
                    </m:oMath>
                  </m:oMathPara>
                </a14:m>
                <a:endParaRPr lang="zh-CN" altLang="zh-CN" sz="1500" kern="100" dirty="0">
                  <a:latin typeface="Times New Roman" panose="02020603050405020304" pitchFamily="18" charset="0"/>
                </a:endParaRPr>
              </a:p>
            </p:txBody>
          </p:sp>
        </mc:Choice>
        <mc:Fallback xmlns="">
          <p:sp>
            <p:nvSpPr>
              <p:cNvPr id="22" name="AutoShape 12">
                <a:extLst>
                  <a:ext uri="{FF2B5EF4-FFF2-40B4-BE49-F238E27FC236}">
                    <a16:creationId xmlns:a16="http://schemas.microsoft.com/office/drawing/2014/main" id="{1828E30F-ECA6-E615-17F8-2ED7523AE3D3}"/>
                  </a:ext>
                </a:extLst>
              </p:cNvPr>
              <p:cNvSpPr>
                <a:spLocks noRot="1" noChangeAspect="1" noMove="1" noResize="1" noEditPoints="1" noAdjustHandles="1" noChangeArrowheads="1" noChangeShapeType="1" noTextEdit="1"/>
              </p:cNvSpPr>
              <p:nvPr/>
            </p:nvSpPr>
            <p:spPr bwMode="auto">
              <a:xfrm>
                <a:off x="4813173" y="1927128"/>
                <a:ext cx="1639305" cy="301228"/>
              </a:xfrm>
              <a:prstGeom prst="flowChartProcess">
                <a:avLst/>
              </a:prstGeom>
              <a:blipFill>
                <a:blip r:embed="rId5"/>
                <a:stretch>
                  <a:fillRect/>
                </a:stretch>
              </a:blipFill>
              <a:ln w="28575" cap="sq">
                <a:solidFill>
                  <a:srgbClr val="00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3" name="AutoShape 7">
            <a:extLst>
              <a:ext uri="{FF2B5EF4-FFF2-40B4-BE49-F238E27FC236}">
                <a16:creationId xmlns:a16="http://schemas.microsoft.com/office/drawing/2014/main" id="{C2FBEB92-06B5-F487-1A6C-C02A3A20777B}"/>
              </a:ext>
            </a:extLst>
          </p:cNvPr>
          <p:cNvSpPr>
            <a:spLocks noChangeArrowheads="1"/>
          </p:cNvSpPr>
          <p:nvPr/>
        </p:nvSpPr>
        <p:spPr bwMode="auto">
          <a:xfrm>
            <a:off x="4909027" y="2470511"/>
            <a:ext cx="1348979" cy="301229"/>
          </a:xfrm>
          <a:prstGeom prst="flowChartProcess">
            <a:avLst/>
          </a:prstGeom>
          <a:solidFill>
            <a:srgbClr val="CCFFCC"/>
          </a:solidFill>
          <a:ln w="28575" cap="sq">
            <a:solidFill>
              <a:srgbClr val="00FF00"/>
            </a:solidFill>
            <a:miter lim="800000"/>
            <a:headEnd/>
            <a:tailEnd/>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en-US" altLang="en-US" sz="1500" b="1" i="1" dirty="0">
                <a:solidFill>
                  <a:srgbClr val="000000"/>
                </a:solidFill>
                <a:latin typeface="Times New Roman" panose="02020603050405020304" pitchFamily="18" charset="0"/>
              </a:rPr>
              <a:t>k=1</a:t>
            </a:r>
            <a:endParaRPr lang="en-US" altLang="zh-CN" sz="1500" b="1" i="1" dirty="0">
              <a:solidFill>
                <a:srgbClr val="000000"/>
              </a:solidFill>
              <a:latin typeface="Times New Roman" panose="02020603050405020304" pitchFamily="18" charset="0"/>
            </a:endParaRPr>
          </a:p>
        </p:txBody>
      </p:sp>
      <p:sp>
        <p:nvSpPr>
          <p:cNvPr id="24" name="Line 16">
            <a:extLst>
              <a:ext uri="{FF2B5EF4-FFF2-40B4-BE49-F238E27FC236}">
                <a16:creationId xmlns:a16="http://schemas.microsoft.com/office/drawing/2014/main" id="{095833FE-1CFE-FB0C-E15E-401B9A31D225}"/>
              </a:ext>
            </a:extLst>
          </p:cNvPr>
          <p:cNvSpPr>
            <a:spLocks noChangeShapeType="1"/>
          </p:cNvSpPr>
          <p:nvPr/>
        </p:nvSpPr>
        <p:spPr bwMode="auto">
          <a:xfrm>
            <a:off x="5550774" y="2269296"/>
            <a:ext cx="0" cy="217884"/>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mc:AlternateContent xmlns:mc="http://schemas.openxmlformats.org/markup-compatibility/2006" xmlns:a14="http://schemas.microsoft.com/office/drawing/2010/main">
        <mc:Choice Requires="a14">
          <p:sp>
            <p:nvSpPr>
              <p:cNvPr id="25" name="AutoShape 8">
                <a:extLst>
                  <a:ext uri="{FF2B5EF4-FFF2-40B4-BE49-F238E27FC236}">
                    <a16:creationId xmlns:a16="http://schemas.microsoft.com/office/drawing/2014/main" id="{09E69D7A-1287-6195-75F6-6C65111D584E}"/>
                  </a:ext>
                </a:extLst>
              </p:cNvPr>
              <p:cNvSpPr>
                <a:spLocks noChangeArrowheads="1"/>
              </p:cNvSpPr>
              <p:nvPr/>
            </p:nvSpPr>
            <p:spPr bwMode="auto">
              <a:xfrm>
                <a:off x="4899557" y="4543443"/>
                <a:ext cx="1460897" cy="537666"/>
              </a:xfrm>
              <a:prstGeom prst="flowChartDecision">
                <a:avLst/>
              </a:prstGeom>
              <a:solidFill>
                <a:srgbClr val="CCFFCC"/>
              </a:solidFill>
              <a:ln w="28575" cap="sq">
                <a:solidFill>
                  <a:srgbClr val="00FF00"/>
                </a:solidFill>
                <a:miter lim="800000"/>
              </a:ln>
              <a:effectLst/>
              <a:extLst>
                <a:ext uri="{AF507438-7753-43E0-B8FC-AC1667EBCBE1}">
                  <a14:hiddenEffects>
                    <a:effectLst>
                      <a:outerShdw dist="35921" dir="2700000" algn="ctr" rotWithShape="0">
                        <a:schemeClr val="bg2"/>
                      </a:outerShdw>
                    </a:effectLst>
                  </a14:hiddenEffects>
                </a:ext>
              </a:extLst>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a:buFontTx/>
                  <a:buNone/>
                  <a:defRPr/>
                </a:pPr>
                <a14:m>
                  <m:oMathPara xmlns:m="http://schemas.openxmlformats.org/officeDocument/2006/math">
                    <m:oMathParaPr>
                      <m:jc m:val="centerGroup"/>
                    </m:oMathParaPr>
                    <m:oMath xmlns:m="http://schemas.openxmlformats.org/officeDocument/2006/math">
                      <m:sSub>
                        <m:sSubPr>
                          <m:ctrlPr>
                            <a:rPr lang="en-US" altLang="zh-CN" sz="1200" i="1" kern="100">
                              <a:latin typeface="Cambria Math" panose="02040503050406030204" pitchFamily="18" charset="0"/>
                              <a:ea typeface="Cambria Math" panose="02040503050406030204" pitchFamily="18" charset="0"/>
                            </a:rPr>
                          </m:ctrlPr>
                        </m:sSubPr>
                        <m:e>
                          <m:d>
                            <m:dPr>
                              <m:begChr m:val="‖"/>
                              <m:endChr m:val="‖"/>
                              <m:ctrlPr>
                                <a:rPr lang="zh-CN" altLang="zh-CN" sz="1200" i="1" kern="100">
                                  <a:latin typeface="Cambria Math" panose="02040503050406030204" pitchFamily="18" charset="0"/>
                                  <a:ea typeface="Cambria Math" panose="02040503050406030204" pitchFamily="18" charset="0"/>
                                </a:rPr>
                              </m:ctrlPr>
                            </m:dPr>
                            <m:e>
                              <m:r>
                                <a:rPr lang="en-US" altLang="zh-CN" sz="1200" i="1" kern="100">
                                  <a:latin typeface="Cambria Math" panose="02040503050406030204" pitchFamily="18" charset="0"/>
                                  <a:cs typeface="Cambria Math" panose="02040503050406030204" pitchFamily="18" charset="0"/>
                                </a:rPr>
                                <m:t>𝛻</m:t>
                              </m:r>
                              <m:r>
                                <a:rPr lang="en-US" altLang="zh-CN" sz="1200" i="1" kern="100">
                                  <a:latin typeface="Cambria Math" panose="02040503050406030204" pitchFamily="18" charset="0"/>
                                </a:rPr>
                                <m:t>𝑓</m:t>
                              </m:r>
                              <m:r>
                                <a:rPr lang="en-US" altLang="zh-CN" sz="1200" i="1" kern="100">
                                  <a:latin typeface="Cambria Math" panose="02040503050406030204" pitchFamily="18" charset="0"/>
                                </a:rPr>
                                <m:t>(</m:t>
                              </m:r>
                              <m:sSup>
                                <m:sSupPr>
                                  <m:ctrlPr>
                                    <a:rPr lang="zh-CN" altLang="zh-CN" sz="1200" i="1" kern="100">
                                      <a:latin typeface="Cambria Math" panose="02040503050406030204" pitchFamily="18" charset="0"/>
                                      <a:ea typeface="Cambria Math" panose="02040503050406030204" pitchFamily="18" charset="0"/>
                                    </a:rPr>
                                  </m:ctrlPr>
                                </m:sSupPr>
                                <m:e>
                                  <m:r>
                                    <a:rPr lang="en-US" altLang="zh-CN" sz="1200" i="1" kern="100">
                                      <a:latin typeface="Cambria Math" panose="02040503050406030204" pitchFamily="18" charset="0"/>
                                    </a:rPr>
                                    <m:t>𝑥</m:t>
                                  </m:r>
                                </m:e>
                                <m:sup>
                                  <m:r>
                                    <a:rPr lang="en-US" altLang="zh-CN" sz="1200" i="1" kern="100">
                                      <a:latin typeface="Cambria Math" panose="02040503050406030204" pitchFamily="18" charset="0"/>
                                    </a:rPr>
                                    <m:t>(</m:t>
                                  </m:r>
                                  <m:r>
                                    <a:rPr lang="en-US" altLang="zh-CN" sz="1200" i="1" kern="100">
                                      <a:latin typeface="Cambria Math" panose="02040503050406030204" pitchFamily="18" charset="0"/>
                                    </a:rPr>
                                    <m:t>𝑘</m:t>
                                  </m:r>
                                  <m:r>
                                    <a:rPr lang="en-US" altLang="zh-CN" sz="1200" i="1" kern="100">
                                      <a:latin typeface="Cambria Math" panose="02040503050406030204" pitchFamily="18" charset="0"/>
                                    </a:rPr>
                                    <m:t>+1)</m:t>
                                  </m:r>
                                </m:sup>
                              </m:sSup>
                              <m:r>
                                <a:rPr lang="en-US" altLang="zh-CN" sz="1200" i="1" kern="100">
                                  <a:latin typeface="Cambria Math" panose="02040503050406030204" pitchFamily="18" charset="0"/>
                                </a:rPr>
                                <m:t>)</m:t>
                              </m:r>
                            </m:e>
                          </m:d>
                        </m:e>
                        <m:sub>
                          <m:r>
                            <a:rPr lang="en-US" altLang="zh-CN" sz="1200" i="1" kern="100">
                              <a:latin typeface="Cambria Math" panose="02040503050406030204" pitchFamily="18" charset="0"/>
                              <a:ea typeface="Cambria Math" panose="02040503050406030204" pitchFamily="18" charset="0"/>
                            </a:rPr>
                            <m:t>2</m:t>
                          </m:r>
                        </m:sub>
                      </m:sSub>
                      <m:r>
                        <a:rPr lang="en-US" altLang="zh-CN" sz="1200" i="1" kern="100">
                          <a:latin typeface="Cambria Math" panose="02040503050406030204" pitchFamily="18" charset="0"/>
                          <a:ea typeface="Cambria Math" panose="02040503050406030204" pitchFamily="18" charset="0"/>
                        </a:rPr>
                        <m:t>≤</m:t>
                      </m:r>
                      <m:r>
                        <a:rPr lang="en-US" altLang="zh-CN" sz="1200" i="1" kern="100">
                          <a:latin typeface="Cambria Math" panose="02040503050406030204" pitchFamily="18" charset="0"/>
                        </a:rPr>
                        <m:t>𝜀</m:t>
                      </m:r>
                    </m:oMath>
                  </m:oMathPara>
                </a14:m>
                <a:endParaRPr lang="zh-CN" altLang="en-US" sz="1200" b="1" i="1" dirty="0">
                  <a:solidFill>
                    <a:srgbClr val="000000"/>
                  </a:solidFill>
                  <a:latin typeface="Times New Roman" panose="02020603050405020304" pitchFamily="18" charset="0"/>
                  <a:sym typeface="Symbol" panose="05050102010706020507" pitchFamily="18" charset="2"/>
                </a:endParaRPr>
              </a:p>
            </p:txBody>
          </p:sp>
        </mc:Choice>
        <mc:Fallback xmlns="">
          <p:sp>
            <p:nvSpPr>
              <p:cNvPr id="25" name="AutoShape 8">
                <a:extLst>
                  <a:ext uri="{FF2B5EF4-FFF2-40B4-BE49-F238E27FC236}">
                    <a16:creationId xmlns:a16="http://schemas.microsoft.com/office/drawing/2014/main" id="{09E69D7A-1287-6195-75F6-6C65111D584E}"/>
                  </a:ext>
                </a:extLst>
              </p:cNvPr>
              <p:cNvSpPr>
                <a:spLocks noRot="1" noChangeAspect="1" noMove="1" noResize="1" noEditPoints="1" noAdjustHandles="1" noChangeArrowheads="1" noChangeShapeType="1" noTextEdit="1"/>
              </p:cNvSpPr>
              <p:nvPr/>
            </p:nvSpPr>
            <p:spPr bwMode="auto">
              <a:xfrm>
                <a:off x="4899557" y="4543443"/>
                <a:ext cx="1460897" cy="537666"/>
              </a:xfrm>
              <a:prstGeom prst="flowChartDecision">
                <a:avLst/>
              </a:prstGeom>
              <a:blipFill>
                <a:blip r:embed="rId6"/>
                <a:stretch>
                  <a:fillRect/>
                </a:stretch>
              </a:blipFill>
              <a:ln w="28575" cap="sq">
                <a:solidFill>
                  <a:srgbClr val="00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6" name="Text Box 26">
            <a:extLst>
              <a:ext uri="{FF2B5EF4-FFF2-40B4-BE49-F238E27FC236}">
                <a16:creationId xmlns:a16="http://schemas.microsoft.com/office/drawing/2014/main" id="{A775C43C-8B07-3846-D35C-4732A03BDC53}"/>
              </a:ext>
            </a:extLst>
          </p:cNvPr>
          <p:cNvSpPr txBox="1">
            <a:spLocks noChangeArrowheads="1"/>
          </p:cNvSpPr>
          <p:nvPr/>
        </p:nvSpPr>
        <p:spPr bwMode="auto">
          <a:xfrm>
            <a:off x="5271852" y="4910375"/>
            <a:ext cx="278923"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9056" tIns="34529" rIns="69056" bIns="34529"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spcBef>
                <a:spcPct val="50000"/>
              </a:spcBef>
              <a:buFont typeface="Wingdings" panose="05000000000000000000" pitchFamily="2" charset="2"/>
              <a:buNone/>
            </a:pPr>
            <a:r>
              <a:rPr lang="en-US" altLang="en-US" sz="1500" b="1" dirty="0">
                <a:latin typeface="Times New Roman" panose="02020603050405020304" pitchFamily="18" charset="0"/>
              </a:rPr>
              <a:t>N</a:t>
            </a:r>
            <a:endParaRPr lang="en-US" altLang="zh-CN" sz="1500" dirty="0">
              <a:latin typeface="Times New Roman" panose="02020603050405020304" pitchFamily="18" charset="0"/>
            </a:endParaRPr>
          </a:p>
        </p:txBody>
      </p:sp>
      <p:sp>
        <p:nvSpPr>
          <p:cNvPr id="27" name="Line 16">
            <a:extLst>
              <a:ext uri="{FF2B5EF4-FFF2-40B4-BE49-F238E27FC236}">
                <a16:creationId xmlns:a16="http://schemas.microsoft.com/office/drawing/2014/main" id="{3831B990-0E1B-B321-ECE8-F371F79A0923}"/>
              </a:ext>
            </a:extLst>
          </p:cNvPr>
          <p:cNvSpPr>
            <a:spLocks noChangeShapeType="1"/>
          </p:cNvSpPr>
          <p:nvPr/>
        </p:nvSpPr>
        <p:spPr bwMode="auto">
          <a:xfrm>
            <a:off x="5622702" y="5075763"/>
            <a:ext cx="4932" cy="254983"/>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mc:AlternateContent xmlns:mc="http://schemas.openxmlformats.org/markup-compatibility/2006" xmlns:a14="http://schemas.microsoft.com/office/drawing/2010/main">
        <mc:Choice Requires="a14">
          <p:sp>
            <p:nvSpPr>
              <p:cNvPr id="28" name="AutoShape 8">
                <a:extLst>
                  <a:ext uri="{FF2B5EF4-FFF2-40B4-BE49-F238E27FC236}">
                    <a16:creationId xmlns:a16="http://schemas.microsoft.com/office/drawing/2014/main" id="{8B3BA9D2-CDA4-7112-F9BB-BB3D4DB2BD3F}"/>
                  </a:ext>
                </a:extLst>
              </p:cNvPr>
              <p:cNvSpPr>
                <a:spLocks noChangeArrowheads="1"/>
              </p:cNvSpPr>
              <p:nvPr/>
            </p:nvSpPr>
            <p:spPr bwMode="auto">
              <a:xfrm>
                <a:off x="5027765" y="5330745"/>
                <a:ext cx="1228510" cy="424099"/>
              </a:xfrm>
              <a:prstGeom prst="flowChartDecision">
                <a:avLst/>
              </a:prstGeom>
              <a:solidFill>
                <a:srgbClr val="CCFFCC"/>
              </a:solidFill>
              <a:ln w="28575" cap="sq">
                <a:solidFill>
                  <a:srgbClr val="00FF00"/>
                </a:solidFill>
                <a:miter lim="800000"/>
              </a:ln>
              <a:effectLst/>
              <a:extLst>
                <a:ext uri="{AF507438-7753-43E0-B8FC-AC1667EBCBE1}">
                  <a14:hiddenEffects>
                    <a:effectLst>
                      <a:outerShdw dist="35921" dir="2700000" algn="ctr" rotWithShape="0">
                        <a:schemeClr val="bg2"/>
                      </a:outerShdw>
                    </a:effectLst>
                  </a14:hiddenEffects>
                </a:ext>
              </a:extLst>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a:buFontTx/>
                  <a:buNone/>
                  <a:defRPr/>
                </a:pPr>
                <a14:m>
                  <m:oMathPara xmlns:m="http://schemas.openxmlformats.org/officeDocument/2006/math">
                    <m:oMathParaPr>
                      <m:jc m:val="centerGroup"/>
                    </m:oMathParaPr>
                    <m:oMath xmlns:m="http://schemas.openxmlformats.org/officeDocument/2006/math">
                      <m:r>
                        <a:rPr lang="en-US" altLang="zh-CN" sz="1350" i="1" kern="100">
                          <a:latin typeface="Cambria Math" panose="02040503050406030204" pitchFamily="18" charset="0"/>
                          <a:ea typeface="Cambria Math" panose="02040503050406030204" pitchFamily="18" charset="0"/>
                        </a:rPr>
                        <m:t>𝑘</m:t>
                      </m:r>
                      <m:r>
                        <a:rPr lang="en-US" altLang="zh-CN" sz="1350" i="1" kern="100">
                          <a:latin typeface="Cambria Math" panose="02040503050406030204" pitchFamily="18" charset="0"/>
                          <a:ea typeface="Cambria Math" panose="02040503050406030204" pitchFamily="18" charset="0"/>
                        </a:rPr>
                        <m:t>=</m:t>
                      </m:r>
                      <m:r>
                        <a:rPr lang="en-US" altLang="zh-CN" sz="1350" i="1" kern="100">
                          <a:latin typeface="Cambria Math" panose="02040503050406030204" pitchFamily="18" charset="0"/>
                          <a:ea typeface="Cambria Math" panose="02040503050406030204" pitchFamily="18" charset="0"/>
                        </a:rPr>
                        <m:t>𝑛</m:t>
                      </m:r>
                    </m:oMath>
                  </m:oMathPara>
                </a14:m>
                <a:endParaRPr lang="zh-CN" altLang="en-US" sz="1350" b="1" i="1" dirty="0">
                  <a:solidFill>
                    <a:srgbClr val="000000"/>
                  </a:solidFill>
                  <a:latin typeface="Times New Roman" panose="02020603050405020304" pitchFamily="18" charset="0"/>
                  <a:sym typeface="Symbol" panose="05050102010706020507" pitchFamily="18" charset="2"/>
                </a:endParaRPr>
              </a:p>
            </p:txBody>
          </p:sp>
        </mc:Choice>
        <mc:Fallback xmlns="">
          <p:sp>
            <p:nvSpPr>
              <p:cNvPr id="28" name="AutoShape 8">
                <a:extLst>
                  <a:ext uri="{FF2B5EF4-FFF2-40B4-BE49-F238E27FC236}">
                    <a16:creationId xmlns:a16="http://schemas.microsoft.com/office/drawing/2014/main" id="{8B3BA9D2-CDA4-7112-F9BB-BB3D4DB2BD3F}"/>
                  </a:ext>
                </a:extLst>
              </p:cNvPr>
              <p:cNvSpPr>
                <a:spLocks noRot="1" noChangeAspect="1" noMove="1" noResize="1" noEditPoints="1" noAdjustHandles="1" noChangeArrowheads="1" noChangeShapeType="1" noTextEdit="1"/>
              </p:cNvSpPr>
              <p:nvPr/>
            </p:nvSpPr>
            <p:spPr bwMode="auto">
              <a:xfrm>
                <a:off x="5027765" y="5330745"/>
                <a:ext cx="1228510" cy="424099"/>
              </a:xfrm>
              <a:prstGeom prst="flowChartDecision">
                <a:avLst/>
              </a:prstGeom>
              <a:blipFill>
                <a:blip r:embed="rId7"/>
                <a:stretch>
                  <a:fillRect/>
                </a:stretch>
              </a:blipFill>
              <a:ln w="28575" cap="sq">
                <a:solidFill>
                  <a:srgbClr val="00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9" name="Text Box 26">
            <a:extLst>
              <a:ext uri="{FF2B5EF4-FFF2-40B4-BE49-F238E27FC236}">
                <a16:creationId xmlns:a16="http://schemas.microsoft.com/office/drawing/2014/main" id="{D304F2ED-75C5-F25D-61CA-F2263A4CC8D7}"/>
              </a:ext>
            </a:extLst>
          </p:cNvPr>
          <p:cNvSpPr txBox="1">
            <a:spLocks noChangeArrowheads="1"/>
          </p:cNvSpPr>
          <p:nvPr/>
        </p:nvSpPr>
        <p:spPr bwMode="auto">
          <a:xfrm>
            <a:off x="4674371" y="4541996"/>
            <a:ext cx="278923"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9056" tIns="34529" rIns="69056" bIns="34529"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spcBef>
                <a:spcPct val="50000"/>
              </a:spcBef>
              <a:buFont typeface="Wingdings" panose="05000000000000000000" pitchFamily="2" charset="2"/>
              <a:buNone/>
            </a:pPr>
            <a:r>
              <a:rPr lang="en-US" altLang="en-US" sz="1500" b="1" dirty="0">
                <a:latin typeface="Times New Roman" panose="02020603050405020304" pitchFamily="18" charset="0"/>
              </a:rPr>
              <a:t>Y</a:t>
            </a:r>
            <a:endParaRPr lang="en-US" altLang="zh-CN" sz="1500" dirty="0">
              <a:latin typeface="Times New Roman" panose="02020603050405020304" pitchFamily="18" charset="0"/>
            </a:endParaRPr>
          </a:p>
        </p:txBody>
      </p:sp>
      <p:sp>
        <p:nvSpPr>
          <p:cNvPr id="30" name="Text Box 26">
            <a:extLst>
              <a:ext uri="{FF2B5EF4-FFF2-40B4-BE49-F238E27FC236}">
                <a16:creationId xmlns:a16="http://schemas.microsoft.com/office/drawing/2014/main" id="{55F01A1C-8998-64B8-9AA9-96FC86783A3C}"/>
              </a:ext>
            </a:extLst>
          </p:cNvPr>
          <p:cNvSpPr txBox="1">
            <a:spLocks noChangeArrowheads="1"/>
          </p:cNvSpPr>
          <p:nvPr/>
        </p:nvSpPr>
        <p:spPr bwMode="auto">
          <a:xfrm>
            <a:off x="6256275" y="5533525"/>
            <a:ext cx="278923"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9056" tIns="34529" rIns="69056" bIns="34529"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spcBef>
                <a:spcPct val="50000"/>
              </a:spcBef>
              <a:buFont typeface="Wingdings" panose="05000000000000000000" pitchFamily="2" charset="2"/>
              <a:buNone/>
            </a:pPr>
            <a:r>
              <a:rPr lang="en-US" altLang="en-US" sz="1500" b="1" dirty="0">
                <a:latin typeface="Times New Roman" panose="02020603050405020304" pitchFamily="18" charset="0"/>
              </a:rPr>
              <a:t>N</a:t>
            </a:r>
            <a:endParaRPr lang="en-US" altLang="zh-CN" sz="1500"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31" name="AutoShape 12">
                <a:extLst>
                  <a:ext uri="{FF2B5EF4-FFF2-40B4-BE49-F238E27FC236}">
                    <a16:creationId xmlns:a16="http://schemas.microsoft.com/office/drawing/2014/main" id="{C4F5C956-B4F9-115C-E13D-B10F72B17C00}"/>
                  </a:ext>
                </a:extLst>
              </p:cNvPr>
              <p:cNvSpPr>
                <a:spLocks noChangeArrowheads="1"/>
              </p:cNvSpPr>
              <p:nvPr/>
            </p:nvSpPr>
            <p:spPr bwMode="auto">
              <a:xfrm>
                <a:off x="6709931" y="5376806"/>
                <a:ext cx="1639305" cy="301228"/>
              </a:xfrm>
              <a:prstGeom prst="flowChartProcess">
                <a:avLst/>
              </a:prstGeom>
              <a:solidFill>
                <a:srgbClr val="CCFFCC"/>
              </a:solidFill>
              <a:ln w="28575" cap="sq">
                <a:solidFill>
                  <a:srgbClr val="00FF00"/>
                </a:solidFill>
                <a:miter lim="800000"/>
              </a:ln>
              <a:effectLst/>
              <a:extLst>
                <a:ext uri="{AF507438-7753-43E0-B8FC-AC1667EBCBE1}">
                  <a14:hiddenEffects>
                    <a:effectLst>
                      <a:outerShdw dist="35921" dir="2700000" algn="ctr" rotWithShape="0">
                        <a:schemeClr val="bg2"/>
                      </a:outerShdw>
                    </a:effectLst>
                  </a14:hiddenEffects>
                </a:ext>
              </a:extLst>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marL="742950" indent="-285750" eaLnBrk="0" hangingPunct="0">
                  <a:defRPr sz="2400">
                    <a:solidFill>
                      <a:schemeClr val="tx1"/>
                    </a:solidFill>
                    <a:latin typeface="Arial" panose="020B0604020202020204" pitchFamily="34" charset="0"/>
                    <a:ea typeface="宋体" panose="02010600030101010101" pitchFamily="2" charset="-122"/>
                  </a:defRPr>
                </a:lvl2pPr>
                <a:lvl3pPr marL="1143000" indent="-228600" eaLnBrk="0" hangingPunct="0">
                  <a:defRPr sz="2400">
                    <a:solidFill>
                      <a:schemeClr val="tx1"/>
                    </a:solidFill>
                    <a:latin typeface="Arial" panose="020B0604020202020204" pitchFamily="34" charset="0"/>
                    <a:ea typeface="宋体" panose="02010600030101010101" pitchFamily="2" charset="-122"/>
                  </a:defRPr>
                </a:lvl3pPr>
                <a:lvl4pPr marL="1600200" indent="-228600" eaLnBrk="0" hangingPunct="0">
                  <a:defRPr sz="2400">
                    <a:solidFill>
                      <a:schemeClr val="tx1"/>
                    </a:solidFill>
                    <a:latin typeface="Arial" panose="020B0604020202020204" pitchFamily="34" charset="0"/>
                    <a:ea typeface="宋体" panose="02010600030101010101" pitchFamily="2" charset="-122"/>
                  </a:defRPr>
                </a:lvl4pPr>
                <a:lvl5pPr marL="2057400" indent="-228600" eaLnBrk="0" hangingPunct="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a:lnSpc>
                    <a:spcPct val="150000"/>
                  </a:lnSpc>
                </a:pPr>
                <a14:m>
                  <m:oMathPara xmlns:m="http://schemas.openxmlformats.org/officeDocument/2006/math">
                    <m:oMathParaPr>
                      <m:jc m:val="centerGroup"/>
                    </m:oMathParaPr>
                    <m:oMath xmlns:m="http://schemas.openxmlformats.org/officeDocument/2006/math">
                      <m:sSup>
                        <m:sSupPr>
                          <m:ctrlPr>
                            <a:rPr lang="zh-CN" altLang="zh-CN" sz="1200" i="1" kern="100">
                              <a:latin typeface="Cambria Math" panose="02040503050406030204" pitchFamily="18" charset="0"/>
                              <a:ea typeface="Cambria Math" panose="02040503050406030204" pitchFamily="18" charset="0"/>
                            </a:rPr>
                          </m:ctrlPr>
                        </m:sSupPr>
                        <m:e>
                          <m:r>
                            <a:rPr lang="en-US" altLang="zh-CN" sz="1200" i="1" kern="100">
                              <a:latin typeface="Cambria Math" panose="02040503050406030204" pitchFamily="18" charset="0"/>
                            </a:rPr>
                            <m:t>𝑑</m:t>
                          </m:r>
                        </m:e>
                        <m:sup>
                          <m:r>
                            <a:rPr lang="en-US" altLang="zh-CN" sz="1200" i="1" kern="100">
                              <a:latin typeface="Cambria Math" panose="02040503050406030204" pitchFamily="18" charset="0"/>
                            </a:rPr>
                            <m:t>(</m:t>
                          </m:r>
                          <m:r>
                            <a:rPr lang="en-US" altLang="zh-CN" sz="1200" i="1" kern="100">
                              <a:latin typeface="Cambria Math" panose="02040503050406030204" pitchFamily="18" charset="0"/>
                            </a:rPr>
                            <m:t>𝑘</m:t>
                          </m:r>
                          <m:r>
                            <a:rPr lang="en-US" altLang="zh-CN" sz="1200" i="1" kern="100">
                              <a:latin typeface="Cambria Math" panose="02040503050406030204" pitchFamily="18" charset="0"/>
                            </a:rPr>
                            <m:t>)</m:t>
                          </m:r>
                        </m:sup>
                      </m:sSup>
                      <m:r>
                        <a:rPr lang="en-US" altLang="zh-CN" sz="1200" i="1" kern="100">
                          <a:latin typeface="Cambria Math" panose="02040503050406030204" pitchFamily="18" charset="0"/>
                        </a:rPr>
                        <m:t>=</m:t>
                      </m:r>
                      <m:r>
                        <a:rPr lang="zh-CN" altLang="en-US" sz="1200" i="1" kern="100">
                          <a:latin typeface="Cambria Math" panose="02040503050406030204" pitchFamily="18" charset="0"/>
                          <a:ea typeface="微软雅黑" panose="020B0503020204020204" pitchFamily="34" charset="-122"/>
                          <a:cs typeface="微软雅黑" panose="020B0503020204020204" pitchFamily="34" charset="-122"/>
                        </a:rPr>
                        <m:t>−</m:t>
                      </m:r>
                      <m:sSub>
                        <m:sSubPr>
                          <m:ctrlPr>
                            <a:rPr lang="zh-CN" altLang="zh-CN" sz="1200" i="1" kern="100">
                              <a:latin typeface="Cambria Math" panose="02040503050406030204" pitchFamily="18" charset="0"/>
                              <a:ea typeface="Cambria Math" panose="02040503050406030204" pitchFamily="18" charset="0"/>
                            </a:rPr>
                          </m:ctrlPr>
                        </m:sSubPr>
                        <m:e>
                          <m:r>
                            <a:rPr lang="en-US" altLang="zh-CN" sz="1200" i="1" kern="100">
                              <a:latin typeface="Cambria Math" panose="02040503050406030204" pitchFamily="18" charset="0"/>
                            </a:rPr>
                            <m:t>𝑔</m:t>
                          </m:r>
                        </m:e>
                        <m:sub>
                          <m:r>
                            <a:rPr lang="en-US" altLang="zh-CN" sz="1200" i="1" kern="100">
                              <a:latin typeface="Cambria Math" panose="02040503050406030204" pitchFamily="18" charset="0"/>
                            </a:rPr>
                            <m:t>𝑘</m:t>
                          </m:r>
                        </m:sub>
                      </m:sSub>
                      <m:r>
                        <a:rPr lang="en-US" altLang="zh-CN" sz="1200" i="1" kern="100">
                          <a:latin typeface="Cambria Math" panose="02040503050406030204" pitchFamily="18" charset="0"/>
                        </a:rPr>
                        <m:t>+</m:t>
                      </m:r>
                      <m:sSub>
                        <m:sSubPr>
                          <m:ctrlPr>
                            <a:rPr lang="zh-CN" altLang="zh-CN" sz="1200" i="1" kern="100">
                              <a:latin typeface="Cambria Math" panose="02040503050406030204" pitchFamily="18" charset="0"/>
                              <a:ea typeface="Cambria Math" panose="02040503050406030204" pitchFamily="18" charset="0"/>
                            </a:rPr>
                          </m:ctrlPr>
                        </m:sSubPr>
                        <m:e>
                          <m:r>
                            <a:rPr lang="en-US" altLang="zh-CN" sz="1200" i="1" kern="100">
                              <a:latin typeface="Cambria Math" panose="02040503050406030204" pitchFamily="18" charset="0"/>
                            </a:rPr>
                            <m:t>𝛽</m:t>
                          </m:r>
                        </m:e>
                        <m:sub>
                          <m:r>
                            <a:rPr lang="en-US" altLang="zh-CN" sz="1200" i="1" kern="100">
                              <a:latin typeface="Cambria Math" panose="02040503050406030204" pitchFamily="18" charset="0"/>
                            </a:rPr>
                            <m:t>𝑘</m:t>
                          </m:r>
                          <m:r>
                            <a:rPr lang="zh-CN" altLang="en-US" sz="1200" i="1" kern="100">
                              <a:latin typeface="Cambria Math" panose="02040503050406030204" pitchFamily="18" charset="0"/>
                              <a:ea typeface="微软雅黑" panose="020B0503020204020204" pitchFamily="34" charset="-122"/>
                              <a:cs typeface="微软雅黑" panose="020B0503020204020204" pitchFamily="34" charset="-122"/>
                            </a:rPr>
                            <m:t>−</m:t>
                          </m:r>
                          <m:r>
                            <a:rPr lang="en-US" altLang="zh-CN" sz="1200" i="1" kern="100">
                              <a:latin typeface="Cambria Math" panose="02040503050406030204" pitchFamily="18" charset="0"/>
                            </a:rPr>
                            <m:t>1</m:t>
                          </m:r>
                        </m:sub>
                      </m:sSub>
                      <m:sSup>
                        <m:sSupPr>
                          <m:ctrlPr>
                            <a:rPr lang="zh-CN" altLang="zh-CN" sz="1200" i="1" kern="100">
                              <a:latin typeface="Cambria Math" panose="02040503050406030204" pitchFamily="18" charset="0"/>
                              <a:ea typeface="Cambria Math" panose="02040503050406030204" pitchFamily="18" charset="0"/>
                            </a:rPr>
                          </m:ctrlPr>
                        </m:sSupPr>
                        <m:e>
                          <m:r>
                            <a:rPr lang="en-US" altLang="zh-CN" sz="1200" i="1" kern="100">
                              <a:latin typeface="Cambria Math" panose="02040503050406030204" pitchFamily="18" charset="0"/>
                            </a:rPr>
                            <m:t>𝑑</m:t>
                          </m:r>
                        </m:e>
                        <m:sup>
                          <m:r>
                            <a:rPr lang="en-US" altLang="zh-CN" sz="1200" i="1" kern="100">
                              <a:latin typeface="Cambria Math" panose="02040503050406030204" pitchFamily="18" charset="0"/>
                            </a:rPr>
                            <m:t>(</m:t>
                          </m:r>
                          <m:r>
                            <a:rPr lang="en-US" altLang="zh-CN" sz="1200" i="1" kern="100">
                              <a:latin typeface="Cambria Math" panose="02040503050406030204" pitchFamily="18" charset="0"/>
                            </a:rPr>
                            <m:t>𝑘</m:t>
                          </m:r>
                          <m:r>
                            <a:rPr lang="zh-CN" altLang="en-US" sz="1200" i="1" kern="100">
                              <a:latin typeface="Cambria Math" panose="02040503050406030204" pitchFamily="18" charset="0"/>
                              <a:ea typeface="微软雅黑" panose="020B0503020204020204" pitchFamily="34" charset="-122"/>
                              <a:cs typeface="微软雅黑" panose="020B0503020204020204" pitchFamily="34" charset="-122"/>
                            </a:rPr>
                            <m:t>−</m:t>
                          </m:r>
                          <m:r>
                            <a:rPr lang="en-US" altLang="zh-CN" sz="1200" i="1" kern="100">
                              <a:latin typeface="Cambria Math" panose="02040503050406030204" pitchFamily="18" charset="0"/>
                            </a:rPr>
                            <m:t>1)</m:t>
                          </m:r>
                        </m:sup>
                      </m:sSup>
                    </m:oMath>
                  </m:oMathPara>
                </a14:m>
                <a:endParaRPr lang="zh-CN" altLang="zh-CN" sz="1200" kern="100" dirty="0">
                  <a:latin typeface="Times New Roman" panose="02020603050405020304" pitchFamily="18" charset="0"/>
                </a:endParaRPr>
              </a:p>
            </p:txBody>
          </p:sp>
        </mc:Choice>
        <mc:Fallback xmlns="">
          <p:sp>
            <p:nvSpPr>
              <p:cNvPr id="31" name="AutoShape 12">
                <a:extLst>
                  <a:ext uri="{FF2B5EF4-FFF2-40B4-BE49-F238E27FC236}">
                    <a16:creationId xmlns:a16="http://schemas.microsoft.com/office/drawing/2014/main" id="{C4F5C956-B4F9-115C-E13D-B10F72B17C00}"/>
                  </a:ext>
                </a:extLst>
              </p:cNvPr>
              <p:cNvSpPr>
                <a:spLocks noRot="1" noChangeAspect="1" noMove="1" noResize="1" noEditPoints="1" noAdjustHandles="1" noChangeArrowheads="1" noChangeShapeType="1" noTextEdit="1"/>
              </p:cNvSpPr>
              <p:nvPr/>
            </p:nvSpPr>
            <p:spPr bwMode="auto">
              <a:xfrm>
                <a:off x="6709931" y="5376806"/>
                <a:ext cx="1639305" cy="301228"/>
              </a:xfrm>
              <a:prstGeom prst="flowChartProcess">
                <a:avLst/>
              </a:prstGeom>
              <a:blipFill>
                <a:blip r:embed="rId8"/>
                <a:stretch>
                  <a:fillRect r="-5474" b="-1852"/>
                </a:stretch>
              </a:blipFill>
              <a:ln w="28575" cap="sq">
                <a:solidFill>
                  <a:srgbClr val="00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32" name="AutoShape 13">
            <a:extLst>
              <a:ext uri="{FF2B5EF4-FFF2-40B4-BE49-F238E27FC236}">
                <a16:creationId xmlns:a16="http://schemas.microsoft.com/office/drawing/2014/main" id="{7D72A185-3A7F-4FB0-324C-46E7F2B17533}"/>
              </a:ext>
            </a:extLst>
          </p:cNvPr>
          <p:cNvSpPr>
            <a:spLocks noChangeArrowheads="1"/>
          </p:cNvSpPr>
          <p:nvPr/>
        </p:nvSpPr>
        <p:spPr bwMode="auto">
          <a:xfrm>
            <a:off x="6963969" y="3567528"/>
            <a:ext cx="1348978" cy="301228"/>
          </a:xfrm>
          <a:prstGeom prst="flowChartProcess">
            <a:avLst/>
          </a:prstGeom>
          <a:solidFill>
            <a:srgbClr val="CCFFCC"/>
          </a:solidFill>
          <a:ln w="28575" cap="sq">
            <a:solidFill>
              <a:srgbClr val="00FF00"/>
            </a:solidFill>
            <a:miter lim="800000"/>
            <a:headEnd/>
            <a:tailEnd/>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en-US" altLang="zh-CN" sz="1500" b="1" i="1" dirty="0">
                <a:solidFill>
                  <a:srgbClr val="000000"/>
                </a:solidFill>
                <a:latin typeface="Times New Roman" panose="02020603050405020304" pitchFamily="18" charset="0"/>
              </a:rPr>
              <a:t>k=k+1</a:t>
            </a:r>
            <a:endParaRPr lang="en-US" altLang="zh-CN" sz="1500" b="1" i="1" baseline="30000" dirty="0">
              <a:solidFill>
                <a:srgbClr val="000000"/>
              </a:solidFill>
              <a:latin typeface="Times New Roman" panose="02020603050405020304" pitchFamily="18" charset="0"/>
            </a:endParaRPr>
          </a:p>
        </p:txBody>
      </p:sp>
      <p:sp>
        <p:nvSpPr>
          <p:cNvPr id="33" name="Line 22">
            <a:extLst>
              <a:ext uri="{FF2B5EF4-FFF2-40B4-BE49-F238E27FC236}">
                <a16:creationId xmlns:a16="http://schemas.microsoft.com/office/drawing/2014/main" id="{AB7AE297-A441-17A9-5C75-13768E753070}"/>
              </a:ext>
            </a:extLst>
          </p:cNvPr>
          <p:cNvSpPr>
            <a:spLocks noChangeShapeType="1"/>
          </p:cNvSpPr>
          <p:nvPr/>
        </p:nvSpPr>
        <p:spPr bwMode="auto">
          <a:xfrm flipV="1">
            <a:off x="7431794" y="3868756"/>
            <a:ext cx="5900" cy="1511207"/>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34" name="Line 23">
            <a:extLst>
              <a:ext uri="{FF2B5EF4-FFF2-40B4-BE49-F238E27FC236}">
                <a16:creationId xmlns:a16="http://schemas.microsoft.com/office/drawing/2014/main" id="{06B95236-D690-7778-DEA3-3291A2978F3D}"/>
              </a:ext>
            </a:extLst>
          </p:cNvPr>
          <p:cNvSpPr>
            <a:spLocks noChangeShapeType="1"/>
          </p:cNvSpPr>
          <p:nvPr/>
        </p:nvSpPr>
        <p:spPr bwMode="auto">
          <a:xfrm flipH="1">
            <a:off x="6709929" y="3711485"/>
            <a:ext cx="229211" cy="6657"/>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35" name="AutoShape 9">
            <a:extLst>
              <a:ext uri="{FF2B5EF4-FFF2-40B4-BE49-F238E27FC236}">
                <a16:creationId xmlns:a16="http://schemas.microsoft.com/office/drawing/2014/main" id="{A92F640B-9E1B-9624-1042-8D442ED045E4}"/>
              </a:ext>
            </a:extLst>
          </p:cNvPr>
          <p:cNvSpPr>
            <a:spLocks noChangeArrowheads="1"/>
          </p:cNvSpPr>
          <p:nvPr/>
        </p:nvSpPr>
        <p:spPr bwMode="auto">
          <a:xfrm>
            <a:off x="3133991" y="4644783"/>
            <a:ext cx="1546622" cy="542925"/>
          </a:xfrm>
          <a:prstGeom prst="flowChartInputOutput">
            <a:avLst/>
          </a:prstGeom>
          <a:solidFill>
            <a:srgbClr val="CCFFCC"/>
          </a:solidFill>
          <a:ln w="28575" cap="sq">
            <a:solidFill>
              <a:srgbClr val="00FF00"/>
            </a:solidFill>
            <a:miter lim="800000"/>
            <a:headEnd/>
            <a:tailEnd/>
          </a:ln>
        </p:spPr>
        <p:txBody>
          <a:bodyPr wrap="none" lIns="69056" tIns="34529" rIns="69056" bIns="34529" anchor="ct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buFont typeface="Wingdings" panose="05000000000000000000" pitchFamily="2" charset="2"/>
              <a:buNone/>
            </a:pPr>
            <a:r>
              <a:rPr lang="en-US" altLang="en-US" sz="1500" b="1" i="1" dirty="0">
                <a:solidFill>
                  <a:srgbClr val="000000"/>
                </a:solidFill>
                <a:latin typeface="Times New Roman" panose="02020603050405020304" pitchFamily="18" charset="0"/>
              </a:rPr>
              <a:t>x*=x</a:t>
            </a:r>
            <a:r>
              <a:rPr lang="en-US" altLang="en-US" sz="1500" b="1" i="1" baseline="30000" dirty="0">
                <a:solidFill>
                  <a:srgbClr val="000000"/>
                </a:solidFill>
                <a:latin typeface="Times New Roman" panose="02020603050405020304" pitchFamily="18" charset="0"/>
              </a:rPr>
              <a:t>(k+1)</a:t>
            </a:r>
            <a:endParaRPr lang="en-US" altLang="en-US" sz="1500" b="1" i="1" dirty="0">
              <a:solidFill>
                <a:srgbClr val="000000"/>
              </a:solidFill>
              <a:latin typeface="Times New Roman" panose="02020603050405020304" pitchFamily="18" charset="0"/>
            </a:endParaRPr>
          </a:p>
          <a:p>
            <a:pPr algn="ctr">
              <a:buFont typeface="Wingdings" panose="05000000000000000000" pitchFamily="2" charset="2"/>
              <a:buNone/>
            </a:pPr>
            <a:r>
              <a:rPr lang="en-US" altLang="en-US" sz="1500" b="1" i="1" dirty="0">
                <a:solidFill>
                  <a:srgbClr val="000000"/>
                </a:solidFill>
                <a:latin typeface="Times New Roman" panose="02020603050405020304" pitchFamily="18" charset="0"/>
              </a:rPr>
              <a:t>f*=f(x</a:t>
            </a:r>
            <a:r>
              <a:rPr lang="en-US" altLang="en-US" sz="1500" b="1" i="1" baseline="30000" dirty="0">
                <a:solidFill>
                  <a:srgbClr val="000000"/>
                </a:solidFill>
                <a:latin typeface="Times New Roman" panose="02020603050405020304" pitchFamily="18" charset="0"/>
              </a:rPr>
              <a:t>(k+1)</a:t>
            </a:r>
            <a:r>
              <a:rPr lang="en-US" altLang="en-US" sz="1500" b="1" i="1" dirty="0">
                <a:solidFill>
                  <a:srgbClr val="000000"/>
                </a:solidFill>
                <a:latin typeface="Times New Roman" panose="02020603050405020304" pitchFamily="18" charset="0"/>
              </a:rPr>
              <a:t>)</a:t>
            </a:r>
            <a:endParaRPr lang="en-US" altLang="zh-CN" sz="1500" dirty="0">
              <a:solidFill>
                <a:srgbClr val="000000"/>
              </a:solidFill>
              <a:latin typeface="Times New Roman" panose="02020603050405020304" pitchFamily="18" charset="0"/>
            </a:endParaRPr>
          </a:p>
        </p:txBody>
      </p:sp>
      <p:sp>
        <p:nvSpPr>
          <p:cNvPr id="36" name="Line 23">
            <a:extLst>
              <a:ext uri="{FF2B5EF4-FFF2-40B4-BE49-F238E27FC236}">
                <a16:creationId xmlns:a16="http://schemas.microsoft.com/office/drawing/2014/main" id="{FB5B1397-8A5D-64DA-568E-FE6B223A4E40}"/>
              </a:ext>
            </a:extLst>
          </p:cNvPr>
          <p:cNvSpPr>
            <a:spLocks noChangeShapeType="1"/>
          </p:cNvSpPr>
          <p:nvPr/>
        </p:nvSpPr>
        <p:spPr bwMode="auto">
          <a:xfrm flipH="1" flipV="1">
            <a:off x="4578098" y="4812276"/>
            <a:ext cx="314865" cy="6663"/>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sp>
        <p:nvSpPr>
          <p:cNvPr id="37" name="Line 23">
            <a:extLst>
              <a:ext uri="{FF2B5EF4-FFF2-40B4-BE49-F238E27FC236}">
                <a16:creationId xmlns:a16="http://schemas.microsoft.com/office/drawing/2014/main" id="{EFC75E1A-E84A-AE81-CB89-42FCB6B5E72E}"/>
              </a:ext>
            </a:extLst>
          </p:cNvPr>
          <p:cNvSpPr>
            <a:spLocks noChangeShapeType="1"/>
          </p:cNvSpPr>
          <p:nvPr/>
        </p:nvSpPr>
        <p:spPr bwMode="auto">
          <a:xfrm flipH="1">
            <a:off x="1858391" y="4962763"/>
            <a:ext cx="1364198" cy="15944"/>
          </a:xfrm>
          <a:prstGeom prst="line">
            <a:avLst/>
          </a:prstGeom>
          <a:noFill/>
          <a:ln w="28575" cap="sq">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350"/>
          </a:p>
        </p:txBody>
      </p:sp>
      <p:cxnSp>
        <p:nvCxnSpPr>
          <p:cNvPr id="39" name="直接连接符 38">
            <a:extLst>
              <a:ext uri="{FF2B5EF4-FFF2-40B4-BE49-F238E27FC236}">
                <a16:creationId xmlns:a16="http://schemas.microsoft.com/office/drawing/2014/main" id="{56E7FC49-58E0-81E9-3C8B-DED6CE889B30}"/>
              </a:ext>
            </a:extLst>
          </p:cNvPr>
          <p:cNvCxnSpPr>
            <a:cxnSpLocks/>
            <a:stCxn id="21" idx="3"/>
          </p:cNvCxnSpPr>
          <p:nvPr/>
        </p:nvCxnSpPr>
        <p:spPr>
          <a:xfrm>
            <a:off x="2181083" y="3569366"/>
            <a:ext cx="434267" cy="0"/>
          </a:xfrm>
          <a:prstGeom prst="line">
            <a:avLst/>
          </a:prstGeom>
        </p:spPr>
        <p:style>
          <a:lnRef idx="3">
            <a:schemeClr val="accent6"/>
          </a:lnRef>
          <a:fillRef idx="0">
            <a:schemeClr val="accent6"/>
          </a:fillRef>
          <a:effectRef idx="2">
            <a:schemeClr val="accent6"/>
          </a:effectRef>
          <a:fontRef idx="minor">
            <a:schemeClr val="tx1"/>
          </a:fontRef>
        </p:style>
      </p:cxnSp>
      <p:cxnSp>
        <p:nvCxnSpPr>
          <p:cNvPr id="40" name="直接连接符 39">
            <a:extLst>
              <a:ext uri="{FF2B5EF4-FFF2-40B4-BE49-F238E27FC236}">
                <a16:creationId xmlns:a16="http://schemas.microsoft.com/office/drawing/2014/main" id="{80727D13-88E4-F3DA-93CA-1DD509CE052C}"/>
              </a:ext>
            </a:extLst>
          </p:cNvPr>
          <p:cNvCxnSpPr>
            <a:cxnSpLocks/>
          </p:cNvCxnSpPr>
          <p:nvPr/>
        </p:nvCxnSpPr>
        <p:spPr>
          <a:xfrm flipV="1">
            <a:off x="2628564" y="1991391"/>
            <a:ext cx="0" cy="1576138"/>
          </a:xfrm>
          <a:prstGeom prst="line">
            <a:avLst/>
          </a:prstGeom>
        </p:spPr>
        <p:style>
          <a:lnRef idx="3">
            <a:schemeClr val="accent6"/>
          </a:lnRef>
          <a:fillRef idx="0">
            <a:schemeClr val="accent6"/>
          </a:fillRef>
          <a:effectRef idx="2">
            <a:schemeClr val="accent6"/>
          </a:effectRef>
          <a:fontRef idx="minor">
            <a:schemeClr val="tx1"/>
          </a:fontRef>
        </p:style>
      </p:cxnSp>
      <p:cxnSp>
        <p:nvCxnSpPr>
          <p:cNvPr id="41" name="直接箭头连接符 40">
            <a:extLst>
              <a:ext uri="{FF2B5EF4-FFF2-40B4-BE49-F238E27FC236}">
                <a16:creationId xmlns:a16="http://schemas.microsoft.com/office/drawing/2014/main" id="{68984E3B-FF19-4FDB-262C-C2F9E87ED32D}"/>
              </a:ext>
            </a:extLst>
          </p:cNvPr>
          <p:cNvCxnSpPr>
            <a:cxnSpLocks/>
          </p:cNvCxnSpPr>
          <p:nvPr/>
        </p:nvCxnSpPr>
        <p:spPr>
          <a:xfrm>
            <a:off x="2628564" y="2001763"/>
            <a:ext cx="2184609" cy="1594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42" name="Text Box 26">
            <a:extLst>
              <a:ext uri="{FF2B5EF4-FFF2-40B4-BE49-F238E27FC236}">
                <a16:creationId xmlns:a16="http://schemas.microsoft.com/office/drawing/2014/main" id="{335BE899-081C-B5B8-B248-11949A4B99D9}"/>
              </a:ext>
            </a:extLst>
          </p:cNvPr>
          <p:cNvSpPr txBox="1">
            <a:spLocks noChangeArrowheads="1"/>
          </p:cNvSpPr>
          <p:nvPr/>
        </p:nvSpPr>
        <p:spPr bwMode="auto">
          <a:xfrm>
            <a:off x="4631128" y="5509120"/>
            <a:ext cx="278923"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lIns="69056" tIns="34529" rIns="69056" bIns="34529" anchor="ctr">
            <a:spAutoFit/>
          </a:bodyPr>
          <a:lstStyle>
            <a:lvl1pPr eaLnBrk="0" hangingPunct="0">
              <a:defRPr sz="2400">
                <a:solidFill>
                  <a:schemeClr val="tx1"/>
                </a:solidFill>
                <a:latin typeface="Arial" panose="020B0604020202020204" pitchFamily="34" charset="0"/>
                <a:ea typeface="宋体" panose="02010600030101010101" pitchFamily="2" charset="-122"/>
              </a:defRPr>
            </a:lvl1pPr>
            <a:lvl2pPr eaLnBrk="0" hangingPunct="0">
              <a:defRPr sz="2400">
                <a:solidFill>
                  <a:schemeClr val="tx1"/>
                </a:solidFill>
                <a:latin typeface="Arial" panose="020B0604020202020204" pitchFamily="34" charset="0"/>
                <a:ea typeface="宋体" panose="02010600030101010101" pitchFamily="2" charset="-122"/>
              </a:defRPr>
            </a:lvl2pPr>
            <a:lvl3pPr eaLnBrk="0" hangingPunct="0">
              <a:defRPr sz="2400">
                <a:solidFill>
                  <a:schemeClr val="tx1"/>
                </a:solidFill>
                <a:latin typeface="Arial" panose="020B0604020202020204" pitchFamily="34" charset="0"/>
                <a:ea typeface="宋体" panose="02010600030101010101" pitchFamily="2" charset="-122"/>
              </a:defRPr>
            </a:lvl3pPr>
            <a:lvl4pPr eaLnBrk="0" hangingPunct="0">
              <a:defRPr sz="2400">
                <a:solidFill>
                  <a:schemeClr val="tx1"/>
                </a:solidFill>
                <a:latin typeface="Arial" panose="020B0604020202020204" pitchFamily="34" charset="0"/>
                <a:ea typeface="宋体" panose="02010600030101010101" pitchFamily="2" charset="-122"/>
              </a:defRPr>
            </a:lvl4pPr>
            <a:lvl5pPr eaLnBrk="0" hangingPunct="0">
              <a:defRPr sz="2400">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sz="2400">
                <a:solidFill>
                  <a:schemeClr val="tx1"/>
                </a:solidFill>
                <a:latin typeface="Arial" panose="020B0604020202020204" pitchFamily="34" charset="0"/>
                <a:ea typeface="宋体" panose="02010600030101010101" pitchFamily="2" charset="-122"/>
              </a:defRPr>
            </a:lvl9pPr>
          </a:lstStyle>
          <a:p>
            <a:pPr algn="ctr">
              <a:spcBef>
                <a:spcPct val="50000"/>
              </a:spcBef>
              <a:buFont typeface="Wingdings" panose="05000000000000000000" pitchFamily="2" charset="2"/>
              <a:buNone/>
            </a:pPr>
            <a:r>
              <a:rPr lang="en-US" altLang="en-US" sz="1500" b="1" dirty="0">
                <a:latin typeface="Times New Roman" panose="02020603050405020304" pitchFamily="18" charset="0"/>
              </a:rPr>
              <a:t>Y</a:t>
            </a:r>
            <a:endParaRPr lang="en-US" altLang="zh-CN" sz="1500" dirty="0">
              <a:latin typeface="Times New Roman" panose="02020603050405020304" pitchFamily="18" charset="0"/>
            </a:endParaRPr>
          </a:p>
        </p:txBody>
      </p:sp>
      <p:cxnSp>
        <p:nvCxnSpPr>
          <p:cNvPr id="43" name="直接连接符 42">
            <a:extLst>
              <a:ext uri="{FF2B5EF4-FFF2-40B4-BE49-F238E27FC236}">
                <a16:creationId xmlns:a16="http://schemas.microsoft.com/office/drawing/2014/main" id="{5180F5CF-65D2-3834-A9DF-B3A9690C77BB}"/>
              </a:ext>
            </a:extLst>
          </p:cNvPr>
          <p:cNvCxnSpPr>
            <a:cxnSpLocks/>
          </p:cNvCxnSpPr>
          <p:nvPr/>
        </p:nvCxnSpPr>
        <p:spPr>
          <a:xfrm flipH="1">
            <a:off x="3799981" y="5865532"/>
            <a:ext cx="4842431" cy="26171"/>
          </a:xfrm>
          <a:prstGeom prst="line">
            <a:avLst/>
          </a:prstGeom>
        </p:spPr>
        <p:style>
          <a:lnRef idx="3">
            <a:schemeClr val="accent6"/>
          </a:lnRef>
          <a:fillRef idx="0">
            <a:schemeClr val="accent6"/>
          </a:fillRef>
          <a:effectRef idx="2">
            <a:schemeClr val="accent6"/>
          </a:effectRef>
          <a:fontRef idx="minor">
            <a:schemeClr val="tx1"/>
          </a:fontRef>
        </p:style>
      </p:cxnSp>
      <p:cxnSp>
        <p:nvCxnSpPr>
          <p:cNvPr id="44" name="直接连接符 43">
            <a:extLst>
              <a:ext uri="{FF2B5EF4-FFF2-40B4-BE49-F238E27FC236}">
                <a16:creationId xmlns:a16="http://schemas.microsoft.com/office/drawing/2014/main" id="{057B9662-3436-1647-6C06-64011C78F969}"/>
              </a:ext>
            </a:extLst>
          </p:cNvPr>
          <p:cNvCxnSpPr>
            <a:cxnSpLocks/>
          </p:cNvCxnSpPr>
          <p:nvPr/>
        </p:nvCxnSpPr>
        <p:spPr>
          <a:xfrm flipV="1">
            <a:off x="8642412" y="2040124"/>
            <a:ext cx="0" cy="3816083"/>
          </a:xfrm>
          <a:prstGeom prst="line">
            <a:avLst/>
          </a:prstGeom>
        </p:spPr>
        <p:style>
          <a:lnRef idx="3">
            <a:schemeClr val="accent6"/>
          </a:lnRef>
          <a:fillRef idx="0">
            <a:schemeClr val="accent6"/>
          </a:fillRef>
          <a:effectRef idx="2">
            <a:schemeClr val="accent6"/>
          </a:effectRef>
          <a:fontRef idx="minor">
            <a:schemeClr val="tx1"/>
          </a:fontRef>
        </p:style>
      </p:cxnSp>
      <p:cxnSp>
        <p:nvCxnSpPr>
          <p:cNvPr id="46" name="直接连接符 45">
            <a:extLst>
              <a:ext uri="{FF2B5EF4-FFF2-40B4-BE49-F238E27FC236}">
                <a16:creationId xmlns:a16="http://schemas.microsoft.com/office/drawing/2014/main" id="{E13D30AA-EC0C-DE40-C5F6-47DA243E73C3}"/>
              </a:ext>
            </a:extLst>
          </p:cNvPr>
          <p:cNvCxnSpPr>
            <a:cxnSpLocks/>
          </p:cNvCxnSpPr>
          <p:nvPr/>
        </p:nvCxnSpPr>
        <p:spPr>
          <a:xfrm flipV="1">
            <a:off x="3791273" y="5677533"/>
            <a:ext cx="0" cy="226673"/>
          </a:xfrm>
          <a:prstGeom prst="line">
            <a:avLst/>
          </a:prstGeom>
        </p:spPr>
        <p:style>
          <a:lnRef idx="3">
            <a:schemeClr val="accent6"/>
          </a:lnRef>
          <a:fillRef idx="0">
            <a:schemeClr val="accent6"/>
          </a:fillRef>
          <a:effectRef idx="2">
            <a:schemeClr val="accent6"/>
          </a:effectRef>
          <a:fontRef idx="minor">
            <a:schemeClr val="tx1"/>
          </a:fontRef>
        </p:style>
      </p:cxnSp>
      <p:cxnSp>
        <p:nvCxnSpPr>
          <p:cNvPr id="47" name="直接箭头连接符 46">
            <a:extLst>
              <a:ext uri="{FF2B5EF4-FFF2-40B4-BE49-F238E27FC236}">
                <a16:creationId xmlns:a16="http://schemas.microsoft.com/office/drawing/2014/main" id="{5DECE34E-E685-871D-C8C1-4EA38D3F1A1C}"/>
              </a:ext>
            </a:extLst>
          </p:cNvPr>
          <p:cNvCxnSpPr>
            <a:cxnSpLocks/>
          </p:cNvCxnSpPr>
          <p:nvPr/>
        </p:nvCxnSpPr>
        <p:spPr>
          <a:xfrm flipH="1">
            <a:off x="6452478" y="2077742"/>
            <a:ext cx="2189934"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2462579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1E4B120-14D3-2BA0-D56B-153411AC96CF}"/>
              </a:ext>
            </a:extLst>
          </p:cNvPr>
          <p:cNvSpPr txBox="1"/>
          <p:nvPr/>
        </p:nvSpPr>
        <p:spPr>
          <a:xfrm>
            <a:off x="610802" y="461371"/>
            <a:ext cx="5154215" cy="461665"/>
          </a:xfrm>
          <a:prstGeom prst="rect">
            <a:avLst/>
          </a:prstGeom>
          <a:noFill/>
        </p:spPr>
        <p:txBody>
          <a:bodyPr>
            <a:spAutoFit/>
          </a:bodyPr>
          <a:lstStyle/>
          <a:p>
            <a:pPr algn="just">
              <a:spcBef>
                <a:spcPts val="450"/>
              </a:spcBef>
              <a:spcAft>
                <a:spcPts val="450"/>
              </a:spcAft>
              <a:defRPr/>
            </a:pPr>
            <a:r>
              <a:rPr lang="zh-CN" altLang="en-US" sz="2400" kern="100" dirty="0">
                <a:latin typeface="Times New Roman" panose="02020603050405020304" pitchFamily="18" charset="0"/>
                <a:ea typeface="黑体" panose="02010609060101010101" pitchFamily="49" charset="-122"/>
              </a:rPr>
              <a:t>四、小结</a:t>
            </a:r>
            <a:endParaRPr lang="zh-CN" altLang="zh-CN" sz="2400" kern="100" dirty="0">
              <a:latin typeface="Times New Roman" panose="02020603050405020304" pitchFamily="18" charset="0"/>
              <a:ea typeface="宋体" panose="02010600030101010101" pitchFamily="2" charset="-122"/>
            </a:endParaRPr>
          </a:p>
        </p:txBody>
      </p:sp>
      <p:sp>
        <p:nvSpPr>
          <p:cNvPr id="5" name="文本框 4">
            <a:extLst>
              <a:ext uri="{FF2B5EF4-FFF2-40B4-BE49-F238E27FC236}">
                <a16:creationId xmlns:a16="http://schemas.microsoft.com/office/drawing/2014/main" id="{C85A03A4-D263-F4A4-CD07-693783AA6F67}"/>
              </a:ext>
            </a:extLst>
          </p:cNvPr>
          <p:cNvSpPr txBox="1"/>
          <p:nvPr/>
        </p:nvSpPr>
        <p:spPr>
          <a:xfrm>
            <a:off x="467544" y="1268760"/>
            <a:ext cx="8044937" cy="5983882"/>
          </a:xfrm>
          <a:prstGeom prst="rect">
            <a:avLst/>
          </a:prstGeom>
          <a:noFill/>
        </p:spPr>
        <p:txBody>
          <a:bodyPr wrap="square">
            <a:spAutoFit/>
          </a:bodyPr>
          <a:lstStyle/>
          <a:p>
            <a:pPr marL="257175" indent="-257175" algn="just">
              <a:lnSpc>
                <a:spcPct val="150000"/>
              </a:lnSpc>
              <a:spcBef>
                <a:spcPts val="450"/>
              </a:spcBef>
              <a:spcAft>
                <a:spcPts val="450"/>
              </a:spcAft>
              <a:buFont typeface="Wingdings" panose="05000000000000000000" pitchFamily="2" charset="2"/>
              <a:buChar char="Ø"/>
              <a:defRPr/>
            </a:pPr>
            <a:r>
              <a:rPr lang="zh-CN" altLang="en-US" sz="2200" dirty="0">
                <a:latin typeface="宋体" panose="02010600030101010101" pitchFamily="2" charset="-122"/>
                <a:ea typeface="宋体" panose="02010600030101010101" pitchFamily="2" charset="-122"/>
              </a:rPr>
              <a:t>共轭梯度法对正定二次函数具有二次终止性。对于一般函数，共轭梯度法在一定条件下也是收敛的，且收敛速度通常优于最速下降法。共轭梯度法不用求矩阵的逆，所需存储空间较小，因此求解大规模问题可用共轭梯度法。</a:t>
            </a:r>
            <a:endParaRPr lang="en-US" altLang="zh-CN" sz="2200" dirty="0">
              <a:latin typeface="宋体" panose="02010600030101010101" pitchFamily="2" charset="-122"/>
              <a:ea typeface="宋体" panose="02010600030101010101" pitchFamily="2" charset="-122"/>
            </a:endParaRPr>
          </a:p>
          <a:p>
            <a:pPr marL="257175" indent="-257175" algn="just">
              <a:lnSpc>
                <a:spcPct val="150000"/>
              </a:lnSpc>
              <a:spcBef>
                <a:spcPts val="450"/>
              </a:spcBef>
              <a:spcAft>
                <a:spcPts val="450"/>
              </a:spcAft>
              <a:buFont typeface="Wingdings" panose="05000000000000000000" pitchFamily="2" charset="2"/>
              <a:buChar char="Ø"/>
              <a:defRPr/>
            </a:pPr>
            <a:r>
              <a:rPr lang="zh-CN" altLang="zh-CN" sz="2200" kern="100" dirty="0">
                <a:latin typeface="宋体" panose="02010600030101010101" pitchFamily="2" charset="-122"/>
                <a:ea typeface="宋体" panose="02010600030101010101" pitchFamily="2" charset="-122"/>
                <a:cs typeface="Arial" panose="020B0604020202020204" pitchFamily="34" charset="0"/>
              </a:rPr>
              <a:t>共轭梯度法不仅是解大型非线性最优化最有用的方法之一，也是解决大型</a:t>
            </a:r>
            <a:r>
              <a:rPr lang="zh-CN" altLang="en-US" sz="2200" kern="100" dirty="0">
                <a:latin typeface="宋体" panose="02010600030101010101" pitchFamily="2" charset="-122"/>
                <a:ea typeface="宋体" panose="02010600030101010101" pitchFamily="2" charset="-122"/>
                <a:cs typeface="Arial" panose="020B0604020202020204" pitchFamily="34" charset="0"/>
              </a:rPr>
              <a:t>线性方程组</a:t>
            </a:r>
            <a:r>
              <a:rPr lang="zh-CN" altLang="zh-CN" sz="2200" kern="100" dirty="0">
                <a:latin typeface="宋体" panose="02010600030101010101" pitchFamily="2" charset="-122"/>
                <a:ea typeface="宋体" panose="02010600030101010101" pitchFamily="2" charset="-122"/>
                <a:cs typeface="Arial" panose="020B0604020202020204" pitchFamily="34" charset="0"/>
              </a:rPr>
              <a:t>最有效的算法之一。</a:t>
            </a:r>
            <a:endParaRPr lang="en-US" altLang="zh-CN" sz="2200" kern="100" dirty="0">
              <a:latin typeface="宋体" panose="02010600030101010101" pitchFamily="2" charset="-122"/>
              <a:ea typeface="宋体" panose="02010600030101010101" pitchFamily="2" charset="-122"/>
              <a:cs typeface="Arial" panose="020B0604020202020204" pitchFamily="34" charset="0"/>
            </a:endParaRPr>
          </a:p>
          <a:p>
            <a:pPr marL="257175" indent="-257175" algn="just">
              <a:lnSpc>
                <a:spcPct val="150000"/>
              </a:lnSpc>
              <a:spcBef>
                <a:spcPts val="450"/>
              </a:spcBef>
              <a:spcAft>
                <a:spcPts val="450"/>
              </a:spcAft>
              <a:buFont typeface="Wingdings" panose="05000000000000000000" pitchFamily="2" charset="2"/>
              <a:buChar char="Ø"/>
              <a:defRPr/>
            </a:pPr>
            <a:r>
              <a:rPr lang="zh-CN" altLang="zh-CN" sz="2200" kern="100" dirty="0">
                <a:latin typeface="宋体" panose="02010600030101010101" pitchFamily="2" charset="-122"/>
                <a:ea typeface="宋体" panose="02010600030101010101" pitchFamily="2" charset="-122"/>
              </a:rPr>
              <a:t>选择最速下降方向作为初始搜索方向是十分重要的，如果选择别的方向作为初始搜索方向，其余方向均按</a:t>
            </a:r>
            <a:r>
              <a:rPr lang="en-US" altLang="zh-CN" sz="2200" kern="100" dirty="0">
                <a:latin typeface="宋体" panose="02010600030101010101" pitchFamily="2" charset="-122"/>
                <a:ea typeface="宋体" panose="02010600030101010101" pitchFamily="2" charset="-122"/>
              </a:rPr>
              <a:t>FR</a:t>
            </a:r>
            <a:r>
              <a:rPr lang="zh-CN" altLang="zh-CN" sz="2200" kern="100" dirty="0">
                <a:latin typeface="宋体" panose="02010600030101010101" pitchFamily="2" charset="-122"/>
                <a:ea typeface="宋体" panose="02010600030101010101" pitchFamily="2" charset="-122"/>
              </a:rPr>
              <a:t>方法构造，那么极小化正定二次函数时，这样构造出来的一组方向不能保证共轭性</a:t>
            </a:r>
            <a:r>
              <a:rPr lang="zh-CN" altLang="en-US" sz="2200" kern="100" dirty="0">
                <a:latin typeface="宋体" panose="02010600030101010101" pitchFamily="2" charset="-122"/>
                <a:ea typeface="宋体" panose="02010600030101010101" pitchFamily="2" charset="-122"/>
              </a:rPr>
              <a:t>。</a:t>
            </a:r>
            <a:endParaRPr lang="zh-CN" altLang="zh-CN" sz="2200" kern="100" dirty="0">
              <a:latin typeface="宋体" panose="02010600030101010101" pitchFamily="2" charset="-122"/>
              <a:ea typeface="宋体" panose="02010600030101010101" pitchFamily="2" charset="-122"/>
            </a:endParaRPr>
          </a:p>
          <a:p>
            <a:pPr indent="266700" algn="just">
              <a:lnSpc>
                <a:spcPct val="150000"/>
              </a:lnSpc>
              <a:spcBef>
                <a:spcPts val="450"/>
              </a:spcBef>
              <a:spcAft>
                <a:spcPts val="450"/>
              </a:spcAft>
              <a:defRPr/>
            </a:pPr>
            <a:endParaRPr lang="zh-CN" altLang="zh-CN" sz="2200" kern="100" dirty="0">
              <a:latin typeface="宋体" panose="02010600030101010101" pitchFamily="2" charset="-122"/>
              <a:ea typeface="宋体" panose="02010600030101010101" pitchFamily="2" charset="-122"/>
            </a:endParaRPr>
          </a:p>
        </p:txBody>
      </p:sp>
    </p:spTree>
  </p:cSld>
  <p:clrMapOvr>
    <a:masterClrMapping/>
  </p:clrMapOvr>
  <p:transition spd="slow"/>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1CDB37FE-F7AB-227A-1702-57E743FD377F}"/>
                  </a:ext>
                </a:extLst>
              </p:cNvPr>
              <p:cNvSpPr txBox="1"/>
              <p:nvPr/>
            </p:nvSpPr>
            <p:spPr>
              <a:xfrm>
                <a:off x="251520" y="692696"/>
                <a:ext cx="8075645" cy="4913333"/>
              </a:xfrm>
              <a:prstGeom prst="rect">
                <a:avLst/>
              </a:prstGeom>
              <a:noFill/>
            </p:spPr>
            <p:txBody>
              <a:bodyPr wrap="square" rtlCol="0">
                <a:spAutoFit/>
              </a:bodyPr>
              <a:lstStyle/>
              <a:p>
                <a:pPr indent="464400" algn="just">
                  <a:lnSpc>
                    <a:spcPct val="150000"/>
                  </a:lnSpc>
                </a:pPr>
                <a:r>
                  <a:rPr lang="zh-CN" altLang="en-US" sz="2400" b="1" dirty="0">
                    <a:solidFill>
                      <a:srgbClr val="0070C0"/>
                    </a:solidFill>
                    <a:latin typeface="宋体" panose="02010600030101010101" pitchFamily="2" charset="-122"/>
                  </a:rPr>
                  <a:t>练习</a:t>
                </a:r>
                <a:r>
                  <a:rPr lang="en-US" altLang="zh-CN" sz="2400" b="1"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rPr>
                  <a:t>试用原始牛顿法、共轭梯度法、拟牛顿法求下述二次函数的极小点</a:t>
                </a:r>
                <a:endParaRPr lang="en-US" altLang="zh-CN" sz="2400" dirty="0">
                  <a:latin typeface="宋体" panose="02010600030101010101" pitchFamily="2" charset="-122"/>
                  <a:ea typeface="宋体" panose="02010600030101010101" pitchFamily="2" charset="-122"/>
                </a:endParaRPr>
              </a:p>
              <a:p>
                <a:pPr indent="464400" algn="just">
                  <a:lnSpc>
                    <a:spcPct val="150000"/>
                  </a:lnSpc>
                </a:pPr>
                <a14:m>
                  <m:oMathPara xmlns:m="http://schemas.openxmlformats.org/officeDocument/2006/math">
                    <m:oMathParaPr>
                      <m:jc m:val="centerGroup"/>
                    </m:oMathParaPr>
                    <m:oMath xmlns:m="http://schemas.openxmlformats.org/officeDocument/2006/math">
                      <m:func>
                        <m:funcPr>
                          <m:ctrlPr>
                            <a:rPr lang="en-US" altLang="zh-CN" sz="2400" i="1">
                              <a:latin typeface="Cambria Math" panose="02040503050406030204" pitchFamily="18" charset="0"/>
                              <a:ea typeface="宋体" panose="02010600030101010101" pitchFamily="2" charset="-122"/>
                            </a:rPr>
                          </m:ctrlPr>
                        </m:funcPr>
                        <m:fName>
                          <m:limLow>
                            <m:limLowPr>
                              <m:ctrlPr>
                                <a:rPr lang="en-US" altLang="zh-CN" sz="2400" i="1">
                                  <a:latin typeface="Cambria Math" panose="02040503050406030204" pitchFamily="18" charset="0"/>
                                  <a:ea typeface="宋体" panose="02010600030101010101" pitchFamily="2" charset="-122"/>
                                </a:rPr>
                              </m:ctrlPr>
                            </m:limLowPr>
                            <m:e>
                              <m:r>
                                <m:rPr>
                                  <m:sty m:val="p"/>
                                </m:rPr>
                                <a:rPr lang="en-US" altLang="zh-CN" sz="2400">
                                  <a:latin typeface="Cambria Math" panose="02040503050406030204" pitchFamily="18" charset="0"/>
                                  <a:ea typeface="宋体" panose="02010600030101010101" pitchFamily="2" charset="-122"/>
                                </a:rPr>
                                <m:t>min</m:t>
                              </m:r>
                            </m:e>
                            <m:lim/>
                          </m:limLow>
                        </m:fName>
                        <m:e>
                          <m:r>
                            <a:rPr lang="en-US" altLang="zh-CN" sz="2400" i="1">
                              <a:latin typeface="Cambria Math" panose="02040503050406030204" pitchFamily="18" charset="0"/>
                              <a:ea typeface="宋体" panose="02010600030101010101" pitchFamily="2" charset="-122"/>
                            </a:rPr>
                            <m:t>𝑓</m:t>
                          </m:r>
                          <m:d>
                            <m:dPr>
                              <m:ctrlPr>
                                <a:rPr lang="en-US" altLang="zh-CN" sz="2400" i="1">
                                  <a:latin typeface="Cambria Math" panose="02040503050406030204" pitchFamily="18" charset="0"/>
                                  <a:ea typeface="宋体" panose="02010600030101010101" pitchFamily="2" charset="-122"/>
                                </a:rPr>
                              </m:ctrlPr>
                            </m:dPr>
                            <m:e>
                              <m:r>
                                <a:rPr lang="en-US" altLang="zh-CN" sz="2400" i="1">
                                  <a:latin typeface="Cambria Math" panose="02040503050406030204" pitchFamily="18" charset="0"/>
                                  <a:ea typeface="宋体" panose="02010600030101010101" pitchFamily="2" charset="-122"/>
                                </a:rPr>
                                <m:t>𝑥</m:t>
                              </m:r>
                            </m:e>
                          </m:d>
                          <m:r>
                            <a:rPr lang="en-US" altLang="zh-CN" sz="2400" i="1">
                              <a:latin typeface="Cambria Math" panose="02040503050406030204" pitchFamily="18" charset="0"/>
                              <a:ea typeface="宋体" panose="02010600030101010101" pitchFamily="2" charset="-122"/>
                            </a:rPr>
                            <m:t>=</m:t>
                          </m:r>
                          <m:r>
                            <a:rPr lang="en-US" altLang="zh-CN" sz="2400" b="0" i="1" smtClean="0">
                              <a:latin typeface="Cambria Math" panose="02040503050406030204" pitchFamily="18" charset="0"/>
                              <a:ea typeface="宋体" panose="02010600030101010101" pitchFamily="2" charset="-122"/>
                            </a:rPr>
                            <m:t>2</m:t>
                          </m:r>
                          <m:sSubSup>
                            <m:sSubSupPr>
                              <m:ctrlPr>
                                <a:rPr lang="en-US" altLang="zh-CN" sz="2400" i="1">
                                  <a:latin typeface="Cambria Math" panose="02040503050406030204" pitchFamily="18" charset="0"/>
                                  <a:ea typeface="宋体" panose="02010600030101010101" pitchFamily="2" charset="-122"/>
                                </a:rPr>
                              </m:ctrlPr>
                            </m:sSubSupPr>
                            <m:e>
                              <m:r>
                                <a:rPr lang="en-US" altLang="zh-CN" sz="2400" i="1">
                                  <a:latin typeface="Cambria Math" panose="02040503050406030204" pitchFamily="18" charset="0"/>
                                  <a:ea typeface="宋体" panose="02010600030101010101" pitchFamily="2" charset="-122"/>
                                </a:rPr>
                                <m:t>𝑥</m:t>
                              </m:r>
                            </m:e>
                            <m:sub>
                              <m:r>
                                <a:rPr lang="en-US" altLang="zh-CN" sz="2400" i="1">
                                  <a:latin typeface="Cambria Math" panose="02040503050406030204" pitchFamily="18" charset="0"/>
                                  <a:ea typeface="宋体" panose="02010600030101010101" pitchFamily="2" charset="-122"/>
                                </a:rPr>
                                <m:t>1</m:t>
                              </m:r>
                            </m:sub>
                            <m:sup>
                              <m:r>
                                <a:rPr lang="en-US" altLang="zh-CN" sz="2400" i="1">
                                  <a:latin typeface="Cambria Math" panose="02040503050406030204" pitchFamily="18" charset="0"/>
                                  <a:ea typeface="宋体" panose="02010600030101010101" pitchFamily="2" charset="-122"/>
                                </a:rPr>
                                <m:t>2</m:t>
                              </m:r>
                            </m:sup>
                          </m:sSubSup>
                          <m:r>
                            <a:rPr lang="en-US" altLang="zh-CN" sz="2400" i="1">
                              <a:latin typeface="Cambria Math" panose="02040503050406030204" pitchFamily="18" charset="0"/>
                              <a:ea typeface="宋体" panose="02010600030101010101" pitchFamily="2" charset="-122"/>
                            </a:rPr>
                            <m:t>+</m:t>
                          </m:r>
                          <m:sSubSup>
                            <m:sSubSupPr>
                              <m:ctrlPr>
                                <a:rPr lang="en-US" altLang="zh-CN" sz="2400" i="1">
                                  <a:latin typeface="Cambria Math" panose="02040503050406030204" pitchFamily="18" charset="0"/>
                                  <a:ea typeface="宋体" panose="02010600030101010101" pitchFamily="2" charset="-122"/>
                                </a:rPr>
                              </m:ctrlPr>
                            </m:sSubSupPr>
                            <m:e>
                              <m:r>
                                <a:rPr lang="en-US" altLang="zh-CN" sz="2400" i="1">
                                  <a:latin typeface="Cambria Math" panose="02040503050406030204" pitchFamily="18" charset="0"/>
                                  <a:ea typeface="宋体" panose="02010600030101010101" pitchFamily="2" charset="-122"/>
                                </a:rPr>
                                <m:t>𝑥</m:t>
                              </m:r>
                            </m:e>
                            <m:sub>
                              <m:r>
                                <a:rPr lang="en-US" altLang="zh-CN" sz="2400" i="1">
                                  <a:latin typeface="Cambria Math" panose="02040503050406030204" pitchFamily="18" charset="0"/>
                                  <a:ea typeface="宋体" panose="02010600030101010101" pitchFamily="2" charset="-122"/>
                                </a:rPr>
                                <m:t>2</m:t>
                              </m:r>
                            </m:sub>
                            <m:sup>
                              <m:r>
                                <a:rPr lang="en-US" altLang="zh-CN" sz="2400" i="1">
                                  <a:latin typeface="Cambria Math" panose="02040503050406030204" pitchFamily="18" charset="0"/>
                                  <a:ea typeface="宋体" panose="02010600030101010101" pitchFamily="2" charset="-122"/>
                                </a:rPr>
                                <m:t>2</m:t>
                              </m:r>
                            </m:sup>
                          </m:sSubSup>
                          <m:r>
                            <a:rPr lang="en-US" altLang="zh-CN" sz="2400" b="0" i="1" smtClean="0">
                              <a:latin typeface="Cambria Math" panose="02040503050406030204" pitchFamily="18" charset="0"/>
                              <a:ea typeface="宋体" panose="02010600030101010101" pitchFamily="2" charset="-122"/>
                            </a:rPr>
                            <m:t>+2</m:t>
                          </m:r>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𝑥</m:t>
                              </m:r>
                            </m:e>
                            <m:sub>
                              <m:r>
                                <a:rPr lang="en-US" altLang="zh-CN" sz="2400" i="1">
                                  <a:latin typeface="Cambria Math" panose="02040503050406030204" pitchFamily="18" charset="0"/>
                                  <a:ea typeface="宋体" panose="02010600030101010101" pitchFamily="2" charset="-122"/>
                                </a:rPr>
                                <m:t>1</m:t>
                              </m:r>
                            </m:sub>
                          </m:sSub>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𝑥</m:t>
                              </m:r>
                            </m:e>
                            <m:sub>
                              <m:r>
                                <a:rPr lang="en-US" altLang="zh-CN" sz="2400" i="1">
                                  <a:latin typeface="Cambria Math" panose="02040503050406030204" pitchFamily="18" charset="0"/>
                                  <a:ea typeface="宋体" panose="02010600030101010101" pitchFamily="2" charset="-122"/>
                                </a:rPr>
                                <m:t>2</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i="1">
                                  <a:latin typeface="Cambria Math" panose="02040503050406030204" pitchFamily="18" charset="0"/>
                                </a:rPr>
                                <m:t>1</m:t>
                              </m:r>
                            </m:sub>
                          </m:sSub>
                          <m:r>
                            <a:rPr lang="en-US" altLang="zh-CN" sz="2400" i="1">
                              <a:latin typeface="Cambria Math" panose="02040503050406030204" pitchFamily="18" charset="0"/>
                              <a:ea typeface="宋体" panose="02010600030101010101" pitchFamily="2" charset="-122"/>
                            </a:rPr>
                            <m:t>−</m:t>
                          </m:r>
                          <m:sSub>
                            <m:sSubPr>
                              <m:ctrlPr>
                                <a:rPr lang="en-US" altLang="zh-CN" sz="2400" i="1">
                                  <a:latin typeface="Cambria Math" panose="02040503050406030204" pitchFamily="18" charset="0"/>
                                  <a:ea typeface="宋体" panose="02010600030101010101" pitchFamily="2" charset="-122"/>
                                </a:rPr>
                              </m:ctrlPr>
                            </m:sSubPr>
                            <m:e>
                              <m:r>
                                <a:rPr lang="en-US" altLang="zh-CN" sz="2400" i="1">
                                  <a:latin typeface="Cambria Math" panose="02040503050406030204" pitchFamily="18" charset="0"/>
                                  <a:ea typeface="宋体" panose="02010600030101010101" pitchFamily="2" charset="-122"/>
                                </a:rPr>
                                <m:t>𝑥</m:t>
                              </m:r>
                            </m:e>
                            <m:sub>
                              <m:r>
                                <a:rPr lang="en-US" altLang="zh-CN" sz="2400" b="0" i="1" smtClean="0">
                                  <a:latin typeface="Cambria Math" panose="02040503050406030204" pitchFamily="18" charset="0"/>
                                  <a:ea typeface="宋体" panose="02010600030101010101" pitchFamily="2" charset="-122"/>
                                </a:rPr>
                                <m:t>2</m:t>
                              </m:r>
                            </m:sub>
                          </m:sSub>
                        </m:e>
                      </m:func>
                    </m:oMath>
                  </m:oMathPara>
                </a14:m>
                <a:endParaRPr lang="en-US" altLang="zh-CN" sz="2400" dirty="0">
                  <a:latin typeface="宋体" panose="02010600030101010101" pitchFamily="2" charset="-122"/>
                  <a:ea typeface="宋体" panose="02010600030101010101" pitchFamily="2" charset="-122"/>
                </a:endParaRPr>
              </a:p>
              <a:p>
                <a:pPr algn="just">
                  <a:lnSpc>
                    <a:spcPct val="150000"/>
                  </a:lnSpc>
                </a:pPr>
                <a:r>
                  <a:rPr lang="zh-CN" altLang="en-US" sz="2400" dirty="0">
                    <a:latin typeface="宋体" panose="02010600030101010101" pitchFamily="2" charset="-122"/>
                    <a:ea typeface="宋体" panose="02010600030101010101" pitchFamily="2" charset="-122"/>
                  </a:rPr>
                  <a:t>取</a:t>
                </a:r>
                <a14:m>
                  <m:oMath xmlns:m="http://schemas.openxmlformats.org/officeDocument/2006/math">
                    <m:r>
                      <a:rPr lang="zh-CN" altLang="en-US" sz="2400" i="1" smtClean="0">
                        <a:latin typeface="Cambria Math" panose="02040503050406030204" pitchFamily="18" charset="0"/>
                        <a:ea typeface="宋体" panose="02010600030101010101" pitchFamily="2" charset="-122"/>
                      </a:rPr>
                      <m:t>𝜀</m:t>
                    </m:r>
                    <m:r>
                      <a:rPr lang="en-US" altLang="zh-CN" sz="2400" i="1">
                        <a:latin typeface="Cambria Math" panose="02040503050406030204" pitchFamily="18" charset="0"/>
                        <a:ea typeface="宋体" panose="02010600030101010101" pitchFamily="2" charset="-122"/>
                      </a:rPr>
                      <m:t>=</m:t>
                    </m:r>
                    <m:sSup>
                      <m:sSupPr>
                        <m:ctrlPr>
                          <a:rPr lang="en-US" altLang="zh-CN" sz="2400" i="1">
                            <a:latin typeface="Cambria Math" panose="02040503050406030204" pitchFamily="18" charset="0"/>
                            <a:ea typeface="宋体" panose="02010600030101010101" pitchFamily="2" charset="-122"/>
                          </a:rPr>
                        </m:ctrlPr>
                      </m:sSupPr>
                      <m:e>
                        <m:r>
                          <a:rPr lang="en-US" altLang="zh-CN" sz="2400" i="1">
                            <a:latin typeface="Cambria Math" panose="02040503050406030204" pitchFamily="18" charset="0"/>
                            <a:ea typeface="宋体" panose="02010600030101010101" pitchFamily="2" charset="-122"/>
                          </a:rPr>
                          <m:t>10</m:t>
                        </m:r>
                      </m:e>
                      <m:sup>
                        <m:r>
                          <a:rPr lang="en-US" altLang="zh-CN" sz="2400" i="1">
                            <a:latin typeface="Cambria Math" panose="02040503050406030204" pitchFamily="18" charset="0"/>
                            <a:ea typeface="宋体" panose="02010600030101010101" pitchFamily="2" charset="-122"/>
                          </a:rPr>
                          <m:t>−4</m:t>
                        </m:r>
                      </m:sup>
                    </m:sSup>
                    <m:r>
                      <a:rPr lang="zh-CN" altLang="en-US" sz="2400" i="1">
                        <a:latin typeface="Cambria Math" panose="02040503050406030204" pitchFamily="18" charset="0"/>
                        <a:ea typeface="宋体" panose="02010600030101010101" pitchFamily="2" charset="-122"/>
                      </a:rPr>
                      <m:t>，</m:t>
                    </m:r>
                    <m:sSup>
                      <m:sSupPr>
                        <m:ctrlPr>
                          <a:rPr lang="en-US" altLang="zh-CN" sz="2400" i="1">
                            <a:latin typeface="Cambria Math" panose="02040503050406030204" pitchFamily="18" charset="0"/>
                            <a:ea typeface="宋体" panose="02010600030101010101" pitchFamily="2" charset="-122"/>
                          </a:rPr>
                        </m:ctrlPr>
                      </m:sSupPr>
                      <m:e>
                        <m:r>
                          <a:rPr lang="en-US" altLang="zh-CN" sz="2400" i="1">
                            <a:latin typeface="Cambria Math" panose="02040503050406030204" pitchFamily="18" charset="0"/>
                            <a:ea typeface="宋体" panose="02010600030101010101" pitchFamily="2" charset="-122"/>
                          </a:rPr>
                          <m:t>𝑥</m:t>
                        </m:r>
                      </m:e>
                      <m:sup>
                        <m:r>
                          <a:rPr lang="en-US" altLang="zh-CN" sz="2400" i="1">
                            <a:latin typeface="Cambria Math" panose="02040503050406030204" pitchFamily="18" charset="0"/>
                            <a:ea typeface="宋体" panose="02010600030101010101" pitchFamily="2" charset="-122"/>
                          </a:rPr>
                          <m:t>(</m:t>
                        </m:r>
                        <m:r>
                          <a:rPr lang="en-US" altLang="zh-CN" sz="2400" b="0" i="1" smtClean="0">
                            <a:latin typeface="Cambria Math" panose="02040503050406030204" pitchFamily="18" charset="0"/>
                            <a:ea typeface="宋体" panose="02010600030101010101" pitchFamily="2" charset="-122"/>
                          </a:rPr>
                          <m:t>1</m:t>
                        </m:r>
                        <m:r>
                          <a:rPr lang="en-US" altLang="zh-CN" sz="2400" i="1">
                            <a:latin typeface="Cambria Math" panose="02040503050406030204" pitchFamily="18" charset="0"/>
                            <a:ea typeface="宋体" panose="02010600030101010101" pitchFamily="2" charset="-122"/>
                          </a:rPr>
                          <m:t>)</m:t>
                        </m:r>
                      </m:sup>
                    </m:sSup>
                    <m:r>
                      <a:rPr lang="en-US" altLang="zh-CN" sz="2400" i="1">
                        <a:latin typeface="Cambria Math" panose="02040503050406030204" pitchFamily="18" charset="0"/>
                        <a:ea typeface="宋体" panose="02010600030101010101" pitchFamily="2" charset="-122"/>
                      </a:rPr>
                      <m:t>=</m:t>
                    </m:r>
                    <m:d>
                      <m:dPr>
                        <m:begChr m:val="["/>
                        <m:endChr m:val="]"/>
                        <m:ctrlPr>
                          <a:rPr lang="en-US" altLang="zh-CN" sz="2400" i="1">
                            <a:latin typeface="Cambria Math" panose="02040503050406030204" pitchFamily="18" charset="0"/>
                            <a:ea typeface="宋体" panose="02010600030101010101" pitchFamily="2" charset="-122"/>
                          </a:rPr>
                        </m:ctrlPr>
                      </m:dPr>
                      <m:e>
                        <m:m>
                          <m:mPr>
                            <m:mcs>
                              <m:mc>
                                <m:mcPr>
                                  <m:count m:val="1"/>
                                  <m:mcJc m:val="center"/>
                                </m:mcPr>
                              </m:mc>
                            </m:mcs>
                            <m:ctrlPr>
                              <a:rPr lang="en-US" altLang="zh-CN" sz="2400" i="1">
                                <a:latin typeface="Cambria Math" panose="02040503050406030204" pitchFamily="18" charset="0"/>
                                <a:ea typeface="宋体" panose="02010600030101010101" pitchFamily="2" charset="-122"/>
                              </a:rPr>
                            </m:ctrlPr>
                          </m:mPr>
                          <m:mr>
                            <m:e>
                              <m:r>
                                <a:rPr lang="en-US" altLang="zh-CN" sz="2400" b="0" i="1" smtClean="0">
                                  <a:latin typeface="Cambria Math" panose="02040503050406030204" pitchFamily="18" charset="0"/>
                                  <a:ea typeface="宋体" panose="02010600030101010101" pitchFamily="2" charset="-122"/>
                                </a:rPr>
                                <m:t>0</m:t>
                              </m:r>
                            </m:e>
                          </m:mr>
                          <m:mr>
                            <m:e>
                              <m:r>
                                <a:rPr lang="en-US" altLang="zh-CN" sz="2400" b="0" i="1" smtClean="0">
                                  <a:latin typeface="Cambria Math" panose="02040503050406030204" pitchFamily="18" charset="0"/>
                                  <a:ea typeface="宋体" panose="02010600030101010101" pitchFamily="2" charset="-122"/>
                                </a:rPr>
                                <m:t>0</m:t>
                              </m:r>
                            </m:e>
                          </m:mr>
                        </m:m>
                      </m:e>
                    </m:d>
                    <m:r>
                      <a:rPr lang="en-US" altLang="zh-CN" sz="2400" i="1">
                        <a:latin typeface="Cambria Math" panose="02040503050406030204" pitchFamily="18" charset="0"/>
                        <a:ea typeface="宋体" panose="02010600030101010101" pitchFamily="2" charset="-122"/>
                      </a:rPr>
                      <m:t>.</m:t>
                    </m:r>
                  </m:oMath>
                </a14:m>
                <a:endParaRPr lang="en-US" altLang="zh-CN" sz="2400" dirty="0">
                  <a:latin typeface="宋体" panose="02010600030101010101" pitchFamily="2" charset="-122"/>
                  <a:ea typeface="宋体" panose="02010600030101010101" pitchFamily="2" charset="-122"/>
                </a:endParaRPr>
              </a:p>
              <a:p>
                <a:pPr indent="464400" algn="just">
                  <a:lnSpc>
                    <a:spcPct val="150000"/>
                  </a:lnSpc>
                </a:pPr>
                <a:endParaRPr lang="en-US" altLang="zh-CN" sz="2400" dirty="0">
                  <a:ea typeface="宋体" panose="02010600030101010101" pitchFamily="2" charset="-122"/>
                </a:endParaRPr>
              </a:p>
              <a:p>
                <a:pPr indent="464400" algn="just">
                  <a:lnSpc>
                    <a:spcPct val="150000"/>
                  </a:lnSpc>
                </a:pPr>
                <a:r>
                  <a:rPr lang="zh-CN" altLang="en-US" sz="2400" dirty="0"/>
                  <a:t>答案</a:t>
                </a:r>
                <a14:m>
                  <m:oMath xmlns:m="http://schemas.openxmlformats.org/officeDocument/2006/math">
                    <m:r>
                      <a:rPr lang="zh-CN" altLang="en-US" sz="2400" i="1" dirty="0" smtClean="0">
                        <a:latin typeface="Cambria Math" panose="02040503050406030204" pitchFamily="18" charset="0"/>
                        <a:ea typeface="宋体" panose="02010600030101010101" pitchFamily="2" charset="-122"/>
                      </a:rPr>
                      <m:t>：</m:t>
                    </m:r>
                    <m:d>
                      <m:dPr>
                        <m:begChr m:val="["/>
                        <m:endChr m:val="]"/>
                        <m:ctrlPr>
                          <a:rPr lang="en-US" altLang="zh-CN" sz="2400" i="1">
                            <a:latin typeface="Cambria Math" panose="02040503050406030204" pitchFamily="18" charset="0"/>
                            <a:ea typeface="宋体" panose="02010600030101010101" pitchFamily="2" charset="-122"/>
                          </a:rPr>
                        </m:ctrlPr>
                      </m:dPr>
                      <m:e>
                        <m:m>
                          <m:mPr>
                            <m:mcs>
                              <m:mc>
                                <m:mcPr>
                                  <m:count m:val="1"/>
                                  <m:mcJc m:val="center"/>
                                </m:mcPr>
                              </m:mc>
                            </m:mcs>
                            <m:ctrlPr>
                              <a:rPr lang="en-US" altLang="zh-CN" sz="2400" i="1">
                                <a:latin typeface="Cambria Math" panose="02040503050406030204" pitchFamily="18" charset="0"/>
                                <a:ea typeface="宋体" panose="02010600030101010101" pitchFamily="2" charset="-122"/>
                              </a:rPr>
                            </m:ctrlPr>
                          </m:mPr>
                          <m:mr>
                            <m:e>
                              <m:r>
                                <m:rPr>
                                  <m:brk m:alnAt="7"/>
                                </m:rPr>
                                <a:rPr lang="en-US" altLang="zh-CN" sz="2400" i="1">
                                  <a:latin typeface="Cambria Math" panose="02040503050406030204" pitchFamily="18" charset="0"/>
                                  <a:ea typeface="宋体" panose="02010600030101010101" pitchFamily="2" charset="-122"/>
                                </a:rPr>
                                <m:t>−</m:t>
                              </m:r>
                              <m:r>
                                <a:rPr lang="en-US" altLang="zh-CN" sz="2400" b="0" i="1" smtClean="0">
                                  <a:latin typeface="Cambria Math" panose="02040503050406030204" pitchFamily="18" charset="0"/>
                                  <a:ea typeface="宋体" panose="02010600030101010101" pitchFamily="2" charset="-122"/>
                                </a:rPr>
                                <m:t>1</m:t>
                              </m:r>
                            </m:e>
                          </m:mr>
                          <m:mr>
                            <m:e>
                              <m:r>
                                <a:rPr lang="en-US" altLang="zh-CN" sz="2400" b="0" i="1" smtClean="0">
                                  <a:latin typeface="Cambria Math" panose="02040503050406030204" pitchFamily="18" charset="0"/>
                                  <a:ea typeface="宋体" panose="02010600030101010101" pitchFamily="2" charset="-122"/>
                                </a:rPr>
                                <m:t>3/2</m:t>
                              </m:r>
                            </m:e>
                          </m:mr>
                        </m:m>
                      </m:e>
                    </m:d>
                  </m:oMath>
                </a14:m>
                <a:r>
                  <a:rPr lang="en-US" altLang="zh-CN" sz="2400" dirty="0">
                    <a:latin typeface="宋体" panose="02010600030101010101" pitchFamily="2" charset="-122"/>
                    <a:ea typeface="宋体" panose="02010600030101010101" pitchFamily="2" charset="-122"/>
                  </a:rPr>
                  <a:t>.</a:t>
                </a:r>
              </a:p>
              <a:p>
                <a:pPr indent="464400" algn="just">
                  <a:lnSpc>
                    <a:spcPct val="150000"/>
                  </a:lnSpc>
                </a:pPr>
                <a:endParaRPr lang="zh-CN" altLang="en-US" sz="2400" dirty="0">
                  <a:latin typeface="宋体" panose="02010600030101010101" pitchFamily="2" charset="-122"/>
                  <a:ea typeface="宋体" panose="02010600030101010101" pitchFamily="2" charset="-122"/>
                </a:endParaRPr>
              </a:p>
            </p:txBody>
          </p:sp>
        </mc:Choice>
        <mc:Fallback xmlns="">
          <p:sp>
            <p:nvSpPr>
              <p:cNvPr id="3" name="文本框 2">
                <a:extLst>
                  <a:ext uri="{FF2B5EF4-FFF2-40B4-BE49-F238E27FC236}">
                    <a16:creationId xmlns:a16="http://schemas.microsoft.com/office/drawing/2014/main" id="{1CDB37FE-F7AB-227A-1702-57E743FD377F}"/>
                  </a:ext>
                </a:extLst>
              </p:cNvPr>
              <p:cNvSpPr txBox="1">
                <a:spLocks noRot="1" noChangeAspect="1" noMove="1" noResize="1" noEditPoints="1" noAdjustHandles="1" noChangeArrowheads="1" noChangeShapeType="1" noTextEdit="1"/>
              </p:cNvSpPr>
              <p:nvPr/>
            </p:nvSpPr>
            <p:spPr>
              <a:xfrm>
                <a:off x="251520" y="692696"/>
                <a:ext cx="8075645" cy="4913333"/>
              </a:xfrm>
              <a:prstGeom prst="rect">
                <a:avLst/>
              </a:prstGeom>
              <a:blipFill>
                <a:blip r:embed="rId2"/>
                <a:stretch>
                  <a:fillRect l="-1132" r="-120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06859329"/>
      </p:ext>
    </p:extLst>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3528</TotalTime>
  <Words>5672</Words>
  <Application>Microsoft Office PowerPoint</Application>
  <PresentationFormat>全屏显示(4:3)</PresentationFormat>
  <Paragraphs>526</Paragraphs>
  <Slides>75</Slides>
  <Notes>2</Notes>
  <HiddenSlides>1</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75</vt:i4>
      </vt:variant>
    </vt:vector>
  </HeadingPairs>
  <TitlesOfParts>
    <vt:vector size="85" baseType="lpstr">
      <vt:lpstr>等线</vt:lpstr>
      <vt:lpstr>黑体</vt:lpstr>
      <vt:lpstr>宋体</vt:lpstr>
      <vt:lpstr>Arial</vt:lpstr>
      <vt:lpstr>Cambria Math</vt:lpstr>
      <vt:lpstr>Symbol</vt:lpstr>
      <vt:lpstr>Times New Roman</vt:lpstr>
      <vt:lpstr>Wingdings</vt:lpstr>
      <vt:lpstr>默认设计模板</vt:lpstr>
      <vt:lpstr>AutoCAD.Drawing.14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一、 基本概念和基本定理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定义4（二次终止性）      对于正定二次函数，如果算法经有限步迭代必达到极小点，称算法具有二次终止性。</vt:lpstr>
      <vt:lpstr>二、 正定二次函数的共轭梯度法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三、 一般函数的共轭梯度法 </vt:lpstr>
      <vt:lpstr>PowerPoint 演示文稿</vt:lpstr>
      <vt:lpstr>PowerPoint 演示文稿</vt:lpstr>
      <vt:lpstr>PowerPoint 演示文稿</vt:lpstr>
      <vt:lpstr>PowerPoint 演示文稿</vt:lpstr>
      <vt:lpstr>PowerPoint 演示文稿</vt:lpstr>
    </vt:vector>
  </TitlesOfParts>
  <Company>kingsun01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kingsun</dc:creator>
  <cp:lastModifiedBy>Wei Zhang</cp:lastModifiedBy>
  <cp:revision>107</cp:revision>
  <dcterms:created xsi:type="dcterms:W3CDTF">2007-11-11T03:06:23Z</dcterms:created>
  <dcterms:modified xsi:type="dcterms:W3CDTF">2025-11-21T10:03:20Z</dcterms:modified>
</cp:coreProperties>
</file>