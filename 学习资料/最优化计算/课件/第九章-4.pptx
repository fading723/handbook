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66" r:id="rId3"/>
    <p:sldId id="257" r:id="rId4"/>
    <p:sldId id="258" r:id="rId5"/>
    <p:sldId id="472" r:id="rId6"/>
    <p:sldId id="474" r:id="rId7"/>
    <p:sldId id="457" r:id="rId8"/>
    <p:sldId id="470" r:id="rId9"/>
    <p:sldId id="276" r:id="rId10"/>
    <p:sldId id="482" r:id="rId11"/>
    <p:sldId id="278" r:id="rId12"/>
    <p:sldId id="279" r:id="rId13"/>
    <p:sldId id="280" r:id="rId14"/>
    <p:sldId id="281" r:id="rId15"/>
    <p:sldId id="282" r:id="rId16"/>
    <p:sldId id="450" r:id="rId17"/>
    <p:sldId id="283" r:id="rId18"/>
    <p:sldId id="483" r:id="rId19"/>
    <p:sldId id="484" r:id="rId20"/>
    <p:sldId id="284" r:id="rId21"/>
    <p:sldId id="285" r:id="rId22"/>
    <p:sldId id="286" r:id="rId23"/>
    <p:sldId id="485" r:id="rId24"/>
    <p:sldId id="486" r:id="rId25"/>
    <p:sldId id="475" r:id="rId26"/>
    <p:sldId id="262" r:id="rId27"/>
    <p:sldId id="473" r:id="rId28"/>
    <p:sldId id="447" r:id="rId29"/>
    <p:sldId id="448" r:id="rId30"/>
    <p:sldId id="469" r:id="rId31"/>
    <p:sldId id="477" r:id="rId32"/>
    <p:sldId id="478" r:id="rId33"/>
    <p:sldId id="271" r:id="rId34"/>
    <p:sldId id="272" r:id="rId35"/>
    <p:sldId id="273" r:id="rId36"/>
    <p:sldId id="479" r:id="rId37"/>
    <p:sldId id="480" r:id="rId38"/>
  </p:sldIdLst>
  <p:sldSz cx="12192000" cy="6858000"/>
  <p:notesSz cx="6858000" cy="9144000"/>
  <p:custDataLst>
    <p:tags r:id="rId42"/>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691" y="7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gs" Target="tags/tag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C640118-3BC7-46B3-84AD-4682D2B1147E}"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C923F5F-9A3F-4EB4-9755-CFF7A1EAC9EF}"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AD8541B-36A0-417F-8C59-647BD9F9AE70}"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402EF33A-22F9-43D6-B9F7-F43CC941C2F4}"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469EC9B8-0A19-4B58-B164-A10B629CF111}"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D8E21915-2ABB-4C2E-B5E5-F68C48701971}"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6C0EBBF8-9450-4B0E-8AE9-C08CE37FCA3E}"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08B22EF-4F14-43B4-A865-C6487A32B705}"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1176461-393A-492A-97BE-EB57B4CEF0C4}"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19C6E95-2BC2-4827-865F-7F2F4867B5D2}"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45B817D-28C5-40ED-9DA7-93FFA8A26DF2}"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61CAE76D-2CC7-4019-9458-31B35D7D4034}"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09600" y="1600201"/>
            <a:ext cx="5384800" cy="45259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97600" y="1600201"/>
            <a:ext cx="5384800" cy="45259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26"/>
          <p:cNvSpPr>
            <a:spLocks noGrp="1" noChangeArrowheads="1"/>
          </p:cNvSpPr>
          <p:nvPr>
            <p:ph type="sldNum" sz="quarter" idx="10"/>
          </p:nvPr>
        </p:nvSpPr>
        <p:spPr/>
        <p:txBody>
          <a:bodyPr/>
          <a:lstStyle>
            <a:lvl1pPr>
              <a:defRPr/>
            </a:lvl1pPr>
          </a:lstStyle>
          <a:p>
            <a:fld id="{BA6B2DA0-0277-431B-B721-F865BE31C132}" type="slidenum">
              <a:rPr lang="en-US" altLang="zh-CN"/>
            </a:fld>
            <a:endParaRPr lang="en-US" altLang="zh-CN"/>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a:defRPr/>
            </a:pPr>
            <a:endParaRPr lang="en-US" altLang="zh-CN"/>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a:defRPr/>
            </a:pPr>
            <a:endParaRPr lang="en-US" altLang="zh-CN"/>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a:defRPr/>
            </a:pPr>
            <a:fld id="{873C72C7-9116-43AF-B6AA-27D79EF3F4F7}"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2.xml"/><Relationship Id="rId3" Type="http://schemas.openxmlformats.org/officeDocument/2006/relationships/image" Target="../media/image18.wmf"/><Relationship Id="rId2" Type="http://schemas.openxmlformats.org/officeDocument/2006/relationships/oleObject" Target="../embeddings/oleObject1.bin"/><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2" Type="http://schemas.openxmlformats.org/officeDocument/2006/relationships/slideLayout" Target="../slideLayouts/slideLayout12.xml"/><Relationship Id="rId11" Type="http://schemas.openxmlformats.org/officeDocument/2006/relationships/image" Target="../media/image36.png"/><Relationship Id="rId10" Type="http://schemas.openxmlformats.org/officeDocument/2006/relationships/image" Target="../media/image35.png"/><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8.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14089" y="2276872"/>
            <a:ext cx="8012129" cy="769441"/>
          </a:xfrm>
          <a:prstGeom prst="rect">
            <a:avLst/>
          </a:prstGeom>
        </p:spPr>
        <p:txBody>
          <a:bodyPr wrap="none">
            <a:spAutoFit/>
          </a:bodyPr>
          <a:lstStyle/>
          <a:p>
            <a:pPr algn="ctr"/>
            <a:r>
              <a:rPr lang="en-US" altLang="zh-CN" sz="4400" b="1" dirty="0"/>
              <a:t>   </a:t>
            </a:r>
            <a:r>
              <a:rPr lang="zh-CN" altLang="en-US" sz="4400" b="1" dirty="0"/>
              <a:t>二次规划基本概念与基本性质</a:t>
            </a:r>
            <a:endParaRPr lang="zh-CN" altLang="en-US" sz="4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p:cNvSpPr txBox="1"/>
          <p:nvPr/>
        </p:nvSpPr>
        <p:spPr>
          <a:xfrm>
            <a:off x="551384" y="404664"/>
            <a:ext cx="3528392" cy="523220"/>
          </a:xfrm>
          <a:prstGeom prst="rect">
            <a:avLst/>
          </a:prstGeom>
          <a:noFill/>
        </p:spPr>
        <p:txBody>
          <a:bodyPr wrap="square">
            <a:spAutoFit/>
          </a:bodyPr>
          <a:lstStyle>
            <a:defPPr>
              <a:defRPr lang="zh-CN"/>
            </a:defPPr>
            <a:lvl1pPr algn="just">
              <a:spcBef>
                <a:spcPts val="600"/>
              </a:spcBef>
              <a:spcAft>
                <a:spcPts val="600"/>
              </a:spcAft>
              <a:defRPr sz="3200" kern="100">
                <a:latin typeface="Times New Roman" panose="02020603050405020304" pitchFamily="18" charset="0"/>
                <a:ea typeface="黑体" panose="02010609060101010101" pitchFamily="49" charset="-122"/>
              </a:defRPr>
            </a:lvl1pPr>
          </a:lstStyle>
          <a:p>
            <a:r>
              <a:rPr lang="zh-CN" altLang="en-US" dirty="0"/>
              <a:t>一、二次规划定义</a:t>
            </a:r>
            <a:endParaRPr lang="zh-CN" altLang="en-US" dirty="0"/>
          </a:p>
        </p:txBody>
      </p:sp>
      <mc:AlternateContent xmlns:mc="http://schemas.openxmlformats.org/markup-compatibility/2006">
        <mc:Choice xmlns:a14="http://schemas.microsoft.com/office/drawing/2010/main" Requires="a14">
          <p:sp>
            <p:nvSpPr>
              <p:cNvPr id="2" name="文本框 1"/>
              <p:cNvSpPr txBox="1"/>
              <p:nvPr/>
            </p:nvSpPr>
            <p:spPr>
              <a:xfrm>
                <a:off x="407368" y="980728"/>
                <a:ext cx="11521280" cy="4699635"/>
              </a:xfrm>
              <a:prstGeom prst="rect">
                <a:avLst/>
              </a:prstGeom>
              <a:noFill/>
            </p:spPr>
            <p:txBody>
              <a:bodyPr wrap="square" rtlCol="0">
                <a:spAutoFit/>
              </a:bodyPr>
              <a:lstStyle/>
              <a:p>
                <a:pPr indent="355600" algn="just">
                  <a:lnSpc>
                    <a:spcPct val="150000"/>
                  </a:lnSpc>
                </a:pPr>
                <a:r>
                  <a:rPr lang="en-US" altLang="zh-CN" sz="2400" kern="100" dirty="0">
                    <a:effectLst/>
                    <a:latin typeface="Times New Roman" panose="02020603050405020304" pitchFamily="18" charset="0"/>
                    <a:ea typeface="宋体" panose="02010600030101010101" pitchFamily="2" charset="-122"/>
                  </a:rPr>
                  <a:t>   </a:t>
                </a:r>
                <a:r>
                  <a:rPr lang="zh-CN" altLang="zh-CN" sz="2400" kern="100" dirty="0">
                    <a:effectLst/>
                    <a:latin typeface="Times New Roman" panose="02020603050405020304" pitchFamily="18" charset="0"/>
                    <a:ea typeface="宋体" panose="02010600030101010101" pitchFamily="2" charset="-122"/>
                  </a:rPr>
                  <a:t>二次规划的目标函数是二次函数，等式约束和不等式约束都是线性函数，可写成</a:t>
                </a:r>
                <a:endParaRPr lang="en-US" altLang="zh-CN" sz="2400" kern="100" dirty="0">
                  <a:effectLst/>
                  <a:latin typeface="Times New Roman" panose="02020603050405020304" pitchFamily="18" charset="0"/>
                  <a:ea typeface="宋体" panose="02010600030101010101" pitchFamily="2" charset="-122"/>
                </a:endParaRPr>
              </a:p>
              <a:p>
                <a:pPr algn="just"/>
                <a14:m>
                  <m:oMathPara xmlns:m="http://schemas.openxmlformats.org/officeDocument/2006/math">
                    <m:oMathParaPr>
                      <m:jc m:val="centerGroup"/>
                    </m:oMathParaPr>
                    <m:oMath xmlns:m="http://schemas.openxmlformats.org/officeDocument/2006/math">
                      <m:limLow>
                        <m:limLowPr>
                          <m:ctrlPr>
                            <a:rPr lang="zh-CN" altLang="zh-CN" sz="2400" i="1" kern="100">
                              <a:effectLst/>
                              <a:latin typeface="Cambria Math" panose="02040503050406030204" pitchFamily="18" charset="0"/>
                              <a:ea typeface="Cambria Math" panose="02040503050406030204" pitchFamily="18" charset="0"/>
                            </a:rPr>
                          </m:ctrlPr>
                        </m:limLowPr>
                        <m:e>
                          <m:r>
                            <a:rPr lang="en-US" altLang="zh-CN" sz="2400" i="1" kern="100">
                              <a:effectLst/>
                              <a:latin typeface="Cambria Math" panose="02040503050406030204" pitchFamily="18" charset="0"/>
                              <a:ea typeface="宋体" panose="02010600030101010101" pitchFamily="2" charset="-122"/>
                            </a:rPr>
                            <m:t>𝑚𝑖𝑛</m:t>
                          </m:r>
                        </m:e>
                        <m:lim>
                          <m:r>
                            <a:rPr lang="en-US" altLang="zh-CN" sz="2400" i="1" kern="100">
                              <a:effectLst/>
                              <a:latin typeface="Cambria Math" panose="02040503050406030204" pitchFamily="18" charset="0"/>
                              <a:ea typeface="宋体" panose="02010600030101010101" pitchFamily="2" charset="-122"/>
                            </a:rPr>
                            <m:t>𝑥</m:t>
                          </m:r>
                          <m:r>
                            <a:rPr lang="en-US" altLang="zh-CN" sz="2400" i="1" kern="100">
                              <a:effectLst/>
                              <a:latin typeface="Cambria Math" panose="02040503050406030204" pitchFamily="18" charset="0"/>
                              <a:ea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𝑅</m:t>
                              </m:r>
                            </m:e>
                            <m:sup>
                              <m:r>
                                <a:rPr lang="en-US" altLang="zh-CN" sz="2400" i="1" kern="100">
                                  <a:effectLst/>
                                  <a:latin typeface="Cambria Math" panose="02040503050406030204" pitchFamily="18" charset="0"/>
                                  <a:ea typeface="宋体" panose="02010600030101010101" pitchFamily="2" charset="-122"/>
                                </a:rPr>
                                <m:t>𝑛</m:t>
                              </m:r>
                            </m:sup>
                          </m:sSup>
                        </m:lim>
                      </m:limLow>
                      <m:r>
                        <a:rPr lang="zh-CN" altLang="zh-CN" sz="2400" i="1" kern="100">
                          <a:effectLst/>
                          <a:latin typeface="Cambria Math" panose="02040503050406030204" pitchFamily="18" charset="0"/>
                          <a:ea typeface="MS Gothic" panose="020B0609070205080204" pitchFamily="49" charset="-128"/>
                          <a:cs typeface="MS Gothic" panose="020B0609070205080204" pitchFamily="49" charset="-128"/>
                        </a:rPr>
                        <m:t> </m:t>
                      </m:r>
                      <m:r>
                        <a:rPr lang="en-US" altLang="zh-CN" sz="2400" i="1" kern="100">
                          <a:effectLst/>
                          <a:latin typeface="Cambria Math" panose="02040503050406030204" pitchFamily="18" charset="0"/>
                          <a:ea typeface="宋体" panose="02010600030101010101" pitchFamily="2" charset="-122"/>
                        </a:rPr>
                        <m:t>𝑓</m:t>
                      </m:r>
                      <m:d>
                        <m:dPr>
                          <m:ctrlPr>
                            <a:rPr lang="en-US" altLang="zh-CN" sz="2400" i="1" kern="100">
                              <a:effectLst/>
                              <a:latin typeface="Cambria Math" panose="02040503050406030204" pitchFamily="18" charset="0"/>
                              <a:ea typeface="宋体" panose="02010600030101010101" pitchFamily="2" charset="-122"/>
                            </a:rPr>
                          </m:ctrlPr>
                        </m:dPr>
                        <m:e>
                          <m:r>
                            <a:rPr lang="en-US" altLang="zh-CN" sz="2400" i="1" kern="100">
                              <a:effectLst/>
                              <a:latin typeface="Cambria Math" panose="02040503050406030204" pitchFamily="18" charset="0"/>
                              <a:ea typeface="宋体" panose="02010600030101010101" pitchFamily="2" charset="-122"/>
                            </a:rPr>
                            <m:t>𝑥</m:t>
                          </m:r>
                        </m:e>
                      </m:d>
                      <m:r>
                        <a:rPr lang="en-US"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ea typeface="宋体" panose="02010600030101010101" pitchFamily="2" charset="-122"/>
                            </a:rPr>
                            <m:t>1</m:t>
                          </m:r>
                        </m:num>
                        <m:den>
                          <m:r>
                            <a:rPr lang="en-US" altLang="zh-CN" sz="2400" i="1" kern="100">
                              <a:effectLst/>
                              <a:latin typeface="Cambria Math" panose="02040503050406030204" pitchFamily="18" charset="0"/>
                              <a:ea typeface="宋体" panose="02010600030101010101" pitchFamily="2" charset="-122"/>
                            </a:rPr>
                            <m:t>2</m:t>
                          </m:r>
                        </m:den>
                      </m:f>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𝑥</m:t>
                          </m:r>
                        </m:e>
                        <m:sup>
                          <m:r>
                            <a:rPr lang="en-US" altLang="zh-CN" sz="2400" i="1" kern="100">
                              <a:effectLst/>
                              <a:latin typeface="Cambria Math" panose="02040503050406030204" pitchFamily="18" charset="0"/>
                              <a:ea typeface="宋体" panose="02010600030101010101" pitchFamily="2" charset="-122"/>
                            </a:rPr>
                            <m:t>𝑇</m:t>
                          </m:r>
                        </m:sup>
                      </m:sSup>
                      <m:r>
                        <a:rPr lang="en-US" altLang="zh-CN" sz="2400" i="1" kern="100">
                          <a:effectLst/>
                          <a:latin typeface="Cambria Math" panose="02040503050406030204" pitchFamily="18" charset="0"/>
                          <a:ea typeface="宋体" panose="02010600030101010101" pitchFamily="2" charset="-122"/>
                        </a:rPr>
                        <m:t>𝐺𝑥</m:t>
                      </m:r>
                      <m:r>
                        <a:rPr lang="en-US" altLang="zh-CN" sz="2400" i="1" kern="100">
                          <a:effectLst/>
                          <a:latin typeface="Cambria Math" panose="02040503050406030204" pitchFamily="18" charset="0"/>
                          <a:ea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𝑟</m:t>
                          </m:r>
                        </m:e>
                        <m:sup>
                          <m:r>
                            <a:rPr lang="en-US" altLang="zh-CN" sz="2400" i="1" kern="100">
                              <a:effectLst/>
                              <a:latin typeface="Cambria Math" panose="02040503050406030204" pitchFamily="18" charset="0"/>
                              <a:ea typeface="宋体" panose="02010600030101010101" pitchFamily="2" charset="-122"/>
                            </a:rPr>
                            <m:t>𝑇</m:t>
                          </m:r>
                        </m:sup>
                      </m:sSup>
                      <m:r>
                        <a:rPr lang="en-US" altLang="zh-CN" sz="2400" i="1" kern="100">
                          <a:effectLst/>
                          <a:latin typeface="Cambria Math" panose="02040503050406030204" pitchFamily="18" charset="0"/>
                          <a:ea typeface="宋体" panose="02010600030101010101" pitchFamily="2" charset="-122"/>
                        </a:rPr>
                        <m:t>𝑥</m:t>
                      </m:r>
                      <m:r>
                        <a:rPr lang="en-US" altLang="zh-CN" sz="2400" i="1" kern="100">
                          <a:effectLst/>
                          <a:latin typeface="Cambria Math" panose="02040503050406030204" pitchFamily="18" charset="0"/>
                          <a:ea typeface="宋体" panose="02010600030101010101" pitchFamily="2" charset="-122"/>
                        </a:rPr>
                        <m:t> </m:t>
                      </m:r>
                    </m:oMath>
                  </m:oMathPara>
                </a14:m>
                <a:endParaRPr lang="en-US" altLang="zh-CN" sz="2400" i="1" kern="100" dirty="0">
                  <a:effectLst/>
                  <a:latin typeface="Cambria Math" panose="02040503050406030204" pitchFamily="18" charset="0"/>
                  <a:ea typeface="宋体" panose="02010600030101010101" pitchFamily="2" charset="-122"/>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𝑠</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𝑡</m:t>
                      </m:r>
                      <m:r>
                        <a:rPr lang="en-US" altLang="zh-CN" sz="2400" i="1" kern="100">
                          <a:effectLst/>
                          <a:latin typeface="Cambria Math" panose="02040503050406030204" pitchFamily="18" charset="0"/>
                          <a:ea typeface="宋体" panose="02010600030101010101" pitchFamily="2" charset="-122"/>
                        </a:rPr>
                        <m:t>.      </m:t>
                      </m:r>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ea typeface="宋体" panose="02010600030101010101" pitchFamily="2" charset="-122"/>
                            </a:rPr>
                            <m:t>𝐴</m:t>
                          </m:r>
                        </m:e>
                        <m:sub>
                          <m:r>
                            <a:rPr lang="en-US" altLang="zh-CN" sz="2400" i="1" kern="100">
                              <a:effectLst/>
                              <a:latin typeface="Cambria Math" panose="02040503050406030204" pitchFamily="18" charset="0"/>
                              <a:ea typeface="宋体" panose="02010600030101010101" pitchFamily="2" charset="-122"/>
                            </a:rPr>
                            <m:t>𝑖</m:t>
                          </m:r>
                        </m:sub>
                        <m:sup>
                          <m:r>
                            <a:rPr lang="en-US" altLang="zh-CN" sz="2400" i="1" kern="100">
                              <a:effectLst/>
                              <a:latin typeface="Cambria Math" panose="02040503050406030204" pitchFamily="18" charset="0"/>
                              <a:ea typeface="宋体" panose="02010600030101010101" pitchFamily="2" charset="-122"/>
                            </a:rPr>
                            <m:t>𝑇</m:t>
                          </m:r>
                        </m:sup>
                      </m:sSubSup>
                      <m:r>
                        <a:rPr lang="en-US" altLang="zh-CN" sz="2400" i="1" kern="100">
                          <a:effectLst/>
                          <a:latin typeface="Cambria Math" panose="02040503050406030204" pitchFamily="18" charset="0"/>
                          <a:ea typeface="宋体" panose="02010600030101010101" pitchFamily="2" charset="-122"/>
                        </a:rPr>
                        <m:t>𝑥</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𝑏</m:t>
                          </m:r>
                        </m:e>
                        <m:sub>
                          <m:r>
                            <a:rPr lang="en-US" altLang="zh-CN" sz="2400" i="1" kern="100">
                              <a:effectLst/>
                              <a:latin typeface="Cambria Math" panose="02040503050406030204" pitchFamily="18" charset="0"/>
                              <a:ea typeface="宋体" panose="02010600030101010101" pitchFamily="2" charset="-122"/>
                            </a:rPr>
                            <m:t>𝑖</m:t>
                          </m:r>
                        </m:sub>
                      </m:sSub>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0</m:t>
                      </m:r>
                      <m:r>
                        <a:rPr lang="en-US" altLang="zh-CN" sz="2400" i="1" kern="100">
                          <a:effectLst/>
                          <a:latin typeface="Cambria Math" panose="02040503050406030204" pitchFamily="18" charset="0"/>
                          <a:ea typeface="宋体" panose="02010600030101010101" pitchFamily="2" charset="-122"/>
                        </a:rPr>
                        <m:t>, </m:t>
                      </m:r>
                      <m:r>
                        <a:rPr lang="en-US" altLang="zh-CN" sz="2400" i="1" kern="100">
                          <a:effectLst/>
                          <a:latin typeface="Cambria Math" panose="02040503050406030204" pitchFamily="18" charset="0"/>
                          <a:ea typeface="宋体" panose="02010600030101010101" pitchFamily="2" charset="-122"/>
                        </a:rPr>
                        <m:t>𝑖</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1</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2</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𝑚</m:t>
                      </m:r>
                      <m:r>
                        <a:rPr lang="en-US" altLang="zh-CN" sz="2400" i="1" kern="100">
                          <a:effectLst/>
                          <a:latin typeface="Cambria Math" panose="02040503050406030204" pitchFamily="18" charset="0"/>
                          <a:ea typeface="宋体" panose="02010600030101010101" pitchFamily="2" charset="-122"/>
                        </a:rPr>
                        <m:t>  </m:t>
                      </m:r>
                      <m:r>
                        <a:rPr lang="en-US" altLang="zh-CN" sz="2400" b="0" i="0" kern="100" smtClean="0">
                          <a:effectLst/>
                          <a:latin typeface="Cambria Math" panose="02040503050406030204" pitchFamily="18" charset="0"/>
                          <a:ea typeface="宋体" panose="02010600030101010101" pitchFamily="2" charset="-122"/>
                        </a:rPr>
                        <m:t>(∗)</m:t>
                      </m:r>
                    </m:oMath>
                  </m:oMathPara>
                </a14:m>
                <a:endParaRPr lang="en-US" altLang="zh-CN" sz="2400" i="1" kern="100" dirty="0">
                  <a:effectLst/>
                  <a:latin typeface="Cambria Math" panose="02040503050406030204" pitchFamily="18" charset="0"/>
                  <a:ea typeface="宋体" panose="02010600030101010101" pitchFamily="2" charset="-122"/>
                </a:endParaRPr>
              </a:p>
              <a:p>
                <a:pPr algn="r">
                  <a:lnSpc>
                    <a:spcPct val="150000"/>
                  </a:lnSpc>
                </a:pPr>
                <a14:m>
                  <m:oMathPara xmlns:m="http://schemas.openxmlformats.org/officeDocument/2006/math">
                    <m:oMathParaPr>
                      <m:jc m:val="center"/>
                    </m:oMathParaPr>
                    <m:oMath xmlns:m="http://schemas.openxmlformats.org/officeDocument/2006/math">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b="0" i="1" kern="100" smtClean="0">
                              <a:effectLst/>
                              <a:latin typeface="Cambria Math" panose="02040503050406030204" pitchFamily="18" charset="0"/>
                              <a:ea typeface="Cambria Math" panose="02040503050406030204" pitchFamily="18" charset="0"/>
                            </a:rPr>
                            <m:t> </m:t>
                          </m:r>
                          <m:r>
                            <a:rPr lang="en-US" altLang="zh-CN" sz="2400" i="1" kern="100">
                              <a:effectLst/>
                              <a:latin typeface="Cambria Math" panose="02040503050406030204" pitchFamily="18" charset="0"/>
                              <a:ea typeface="宋体" panose="02010600030101010101" pitchFamily="2" charset="-122"/>
                            </a:rPr>
                            <m:t>𝐴</m:t>
                          </m:r>
                        </m:e>
                        <m:sub>
                          <m:r>
                            <a:rPr lang="en-US" altLang="zh-CN" sz="2400" i="1" kern="100">
                              <a:effectLst/>
                              <a:latin typeface="Cambria Math" panose="02040503050406030204" pitchFamily="18" charset="0"/>
                              <a:ea typeface="宋体" panose="02010600030101010101" pitchFamily="2" charset="-122"/>
                            </a:rPr>
                            <m:t>𝑖</m:t>
                          </m:r>
                        </m:sub>
                        <m:sup>
                          <m:r>
                            <a:rPr lang="en-US" altLang="zh-CN" sz="2400" i="1" kern="100">
                              <a:effectLst/>
                              <a:latin typeface="Cambria Math" panose="02040503050406030204" pitchFamily="18" charset="0"/>
                              <a:ea typeface="宋体" panose="02010600030101010101" pitchFamily="2" charset="-122"/>
                            </a:rPr>
                            <m:t>𝑇</m:t>
                          </m:r>
                        </m:sup>
                      </m:sSubSup>
                      <m:r>
                        <a:rPr lang="en-US" altLang="zh-CN" sz="2400" i="1" kern="100">
                          <a:effectLst/>
                          <a:latin typeface="Cambria Math" panose="02040503050406030204" pitchFamily="18" charset="0"/>
                          <a:ea typeface="宋体" panose="02010600030101010101" pitchFamily="2" charset="-122"/>
                        </a:rPr>
                        <m:t>𝑥</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𝑏</m:t>
                          </m:r>
                        </m:e>
                        <m:sub>
                          <m:r>
                            <a:rPr lang="en-US" altLang="zh-CN" sz="2400" i="1" kern="100">
                              <a:effectLst/>
                              <a:latin typeface="Cambria Math" panose="02040503050406030204" pitchFamily="18" charset="0"/>
                              <a:ea typeface="宋体" panose="02010600030101010101" pitchFamily="2" charset="-122"/>
                            </a:rPr>
                            <m:t>𝑖</m:t>
                          </m:r>
                        </m:sub>
                      </m:sSub>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0</m:t>
                      </m:r>
                      <m:r>
                        <a:rPr lang="en-US" altLang="zh-CN" sz="2400" i="1" kern="100">
                          <a:effectLst/>
                          <a:latin typeface="Cambria Math" panose="02040503050406030204" pitchFamily="18" charset="0"/>
                          <a:ea typeface="宋体" panose="02010600030101010101" pitchFamily="2" charset="-122"/>
                        </a:rPr>
                        <m:t>, </m:t>
                      </m:r>
                      <m:r>
                        <a:rPr lang="en-US" altLang="zh-CN" sz="2400" i="1" kern="100">
                          <a:effectLst/>
                          <a:latin typeface="Cambria Math" panose="02040503050406030204" pitchFamily="18" charset="0"/>
                          <a:ea typeface="宋体" panose="02010600030101010101" pitchFamily="2" charset="-122"/>
                        </a:rPr>
                        <m:t>𝑖</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𝑚</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1</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𝑚</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2</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𝑚</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𝑙</m:t>
                      </m:r>
                    </m:oMath>
                  </m:oMathPara>
                </a14:m>
                <a:endParaRPr lang="en-US" altLang="zh-CN" sz="2400" kern="100" dirty="0">
                  <a:effectLst/>
                  <a:latin typeface="Times New Roman" panose="02020603050405020304" pitchFamily="18" charset="0"/>
                  <a:ea typeface="宋体" panose="02010600030101010101" pitchFamily="2" charset="-122"/>
                </a:endParaRPr>
              </a:p>
              <a:p>
                <a:pPr algn="just">
                  <a:lnSpc>
                    <a:spcPct val="150000"/>
                  </a:lnSpc>
                </a:pPr>
                <a:r>
                  <a:rPr lang="zh-CN" altLang="zh-CN" sz="2400" kern="100" dirty="0">
                    <a:effectLst/>
                    <a:latin typeface="Times New Roman" panose="02020603050405020304" pitchFamily="18" charset="0"/>
                    <a:ea typeface="宋体" panose="02010600030101010101" pitchFamily="2" charset="-122"/>
                  </a:rPr>
                  <a:t>其中</a:t>
                </a:r>
                <a:r>
                  <a:rPr lang="en-US" altLang="zh-CN" sz="2400" i="1" kern="100" dirty="0">
                    <a:effectLst/>
                    <a:latin typeface="Times New Roman" panose="02020603050405020304" pitchFamily="18" charset="0"/>
                    <a:ea typeface="宋体" panose="02010600030101010101" pitchFamily="2" charset="-122"/>
                  </a:rPr>
                  <a:t>G</a:t>
                </a:r>
                <a:r>
                  <a:rPr lang="zh-CN" altLang="zh-CN" sz="2400" kern="100" dirty="0">
                    <a:effectLst/>
                    <a:latin typeface="Times New Roman" panose="02020603050405020304" pitchFamily="18" charset="0"/>
                    <a:ea typeface="宋体" panose="02010600030101010101" pitchFamily="2" charset="-122"/>
                  </a:rPr>
                  <a:t>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𝑛</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𝑛</m:t>
                    </m:r>
                  </m:oMath>
                </a14:m>
                <a:r>
                  <a:rPr lang="zh-CN" altLang="zh-CN" sz="2400" kern="100" dirty="0">
                    <a:effectLst/>
                    <a:latin typeface="Times New Roman" panose="02020603050405020304" pitchFamily="18" charset="0"/>
                    <a:ea typeface="宋体" panose="02010600030101010101" pitchFamily="2" charset="-122"/>
                  </a:rPr>
                  <a:t>阶对称矩阵</a:t>
                </a:r>
                <a:r>
                  <a:rPr lang="zh-CN" altLang="en-US" sz="2400" kern="100" dirty="0">
                    <a:latin typeface="Times New Roman" panose="02020603050405020304" pitchFamily="18" charset="0"/>
                  </a:rPr>
                  <a:t>，</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𝑟</m:t>
                    </m:r>
                    <m:r>
                      <a:rPr lang="zh-CN" altLang="en-US" sz="2400" i="1" kern="100">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𝐴</m:t>
                        </m:r>
                      </m:e>
                      <m:sub>
                        <m:r>
                          <a:rPr lang="en-US" altLang="zh-CN" sz="2400" i="1" kern="100">
                            <a:effectLst/>
                            <a:latin typeface="Cambria Math" panose="02040503050406030204" pitchFamily="18" charset="0"/>
                            <a:ea typeface="宋体" panose="02010600030101010101" pitchFamily="2" charset="-122"/>
                          </a:rPr>
                          <m:t>𝑖</m:t>
                        </m:r>
                      </m:sub>
                    </m:sSub>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𝑖</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1</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2</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𝑚</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𝑙</m:t>
                    </m:r>
                    <m:r>
                      <a:rPr lang="en-US" altLang="zh-CN" sz="2400" i="1" kern="100">
                        <a:effectLst/>
                        <a:latin typeface="Cambria Math" panose="02040503050406030204" pitchFamily="18" charset="0"/>
                        <a:ea typeface="宋体" panose="02010600030101010101" pitchFamily="2" charset="-122"/>
                      </a:rPr>
                      <m:t>)</m:t>
                    </m:r>
                  </m:oMath>
                </a14:m>
                <a:r>
                  <a:rPr lang="zh-CN" altLang="zh-CN" sz="2400" kern="100" dirty="0">
                    <a:effectLst/>
                    <a:latin typeface="Times New Roman" panose="02020603050405020304" pitchFamily="18" charset="0"/>
                    <a:ea typeface="宋体" panose="02010600030101010101" pitchFamily="2" charset="-122"/>
                  </a:rPr>
                  <a:t>为</a:t>
                </a:r>
                <a:r>
                  <a:rPr lang="en-US" altLang="zh-CN" sz="2400" i="1" kern="100" dirty="0">
                    <a:effectLst/>
                    <a:latin typeface="Times New Roman" panose="02020603050405020304" pitchFamily="18" charset="0"/>
                    <a:ea typeface="宋体" panose="02010600030101010101" pitchFamily="2" charset="-122"/>
                  </a:rPr>
                  <a:t>n</a:t>
                </a:r>
                <a:r>
                  <a:rPr lang="zh-CN" altLang="zh-CN" sz="2400" kern="100" dirty="0">
                    <a:effectLst/>
                    <a:latin typeface="Times New Roman" panose="02020603050405020304" pitchFamily="18" charset="0"/>
                    <a:ea typeface="宋体" panose="02010600030101010101" pitchFamily="2" charset="-122"/>
                  </a:rPr>
                  <a:t>维列向量</a:t>
                </a:r>
                <a:r>
                  <a:rPr lang="en-US" altLang="zh-CN" sz="2400" kern="100" dirty="0">
                    <a:latin typeface="Times New Roman" panose="02020603050405020304" pitchFamily="18" charset="0"/>
                  </a:rPr>
                  <a:t>, </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𝑏</m:t>
                        </m:r>
                      </m:e>
                      <m:sub>
                        <m:r>
                          <a:rPr lang="en-US" altLang="zh-CN" sz="2400" i="1" kern="100">
                            <a:effectLst/>
                            <a:latin typeface="Cambria Math" panose="02040503050406030204" pitchFamily="18" charset="0"/>
                            <a:ea typeface="宋体" panose="02010600030101010101" pitchFamily="2" charset="-122"/>
                          </a:rPr>
                          <m:t>𝑖</m:t>
                        </m:r>
                      </m:sub>
                    </m:sSub>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𝑖</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1</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2</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𝑚</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𝑙</m:t>
                    </m:r>
                    <m:r>
                      <a:rPr lang="en-US" altLang="zh-CN" sz="2400" i="1" kern="100">
                        <a:effectLst/>
                        <a:latin typeface="Cambria Math" panose="02040503050406030204" pitchFamily="18" charset="0"/>
                        <a:ea typeface="宋体" panose="02010600030101010101" pitchFamily="2" charset="-122"/>
                      </a:rPr>
                      <m:t>)</m:t>
                    </m:r>
                  </m:oMath>
                </a14:m>
                <a:r>
                  <a:rPr lang="zh-CN" altLang="zh-CN" sz="2400" kern="100" dirty="0">
                    <a:effectLst/>
                    <a:latin typeface="Times New Roman" panose="02020603050405020304" pitchFamily="18" charset="0"/>
                    <a:ea typeface="宋体" panose="02010600030101010101" pitchFamily="2" charset="-122"/>
                  </a:rPr>
                  <a:t>为实数。若矩阵</a:t>
                </a:r>
                <a:r>
                  <a:rPr lang="en-US" altLang="zh-CN" sz="2400" i="1" kern="100" dirty="0">
                    <a:effectLst/>
                    <a:latin typeface="Times New Roman" panose="02020603050405020304" pitchFamily="18" charset="0"/>
                    <a:ea typeface="宋体" panose="02010600030101010101" pitchFamily="2" charset="-122"/>
                  </a:rPr>
                  <a:t>G</a:t>
                </a:r>
                <a:r>
                  <a:rPr lang="zh-CN" altLang="zh-CN" sz="2400" kern="100" dirty="0">
                    <a:effectLst/>
                    <a:latin typeface="Times New Roman" panose="02020603050405020304" pitchFamily="18" charset="0"/>
                    <a:ea typeface="宋体" panose="02010600030101010101" pitchFamily="2" charset="-122"/>
                  </a:rPr>
                  <a:t>为（正定）半正定矩阵</a:t>
                </a:r>
                <a:r>
                  <a:rPr lang="en-US" altLang="zh-CN" sz="2400" kern="100" dirty="0">
                    <a:effectLst/>
                    <a:latin typeface="Times New Roman" panose="02020603050405020304" pitchFamily="18" charset="0"/>
                    <a:ea typeface="宋体" panose="02010600030101010101" pitchFamily="2" charset="-122"/>
                  </a:rPr>
                  <a:t>, </a:t>
                </a:r>
                <a:r>
                  <a:rPr lang="zh-CN" altLang="zh-CN" sz="2400" kern="100" dirty="0">
                    <a:effectLst/>
                    <a:latin typeface="Times New Roman" panose="02020603050405020304" pitchFamily="18" charset="0"/>
                    <a:ea typeface="宋体" panose="02010600030101010101" pitchFamily="2" charset="-122"/>
                  </a:rPr>
                  <a:t>则称问题</a:t>
                </a:r>
                <a:r>
                  <a:rPr lang="en-US" altLang="zh-CN" sz="2400" kern="100" dirty="0">
                    <a:effectLst/>
                    <a:latin typeface="宋体" panose="02010600030101010101" pitchFamily="2" charset="-122"/>
                    <a:ea typeface="宋体" panose="02010600030101010101" pitchFamily="2" charset="-122"/>
                  </a:rPr>
                  <a:t>(*)</a:t>
                </a:r>
                <a:r>
                  <a:rPr lang="zh-CN" altLang="zh-CN" sz="2400" kern="100" dirty="0">
                    <a:effectLst/>
                    <a:latin typeface="Times New Roman" panose="02020603050405020304" pitchFamily="18" charset="0"/>
                    <a:ea typeface="宋体" panose="02010600030101010101" pitchFamily="2" charset="-122"/>
                  </a:rPr>
                  <a:t>为（严格）凸二次规划，它是一种特殊形式的凸规划。对于二次规划，可行域必定是凸集，所以当目标函数是凸函数时，二次规划的任何</a:t>
                </a:r>
                <a:r>
                  <a:rPr lang="en-US" altLang="zh-CN" sz="2400" kern="100" dirty="0">
                    <a:effectLst/>
                    <a:latin typeface="Times New Roman" panose="02020603050405020304" pitchFamily="18" charset="0"/>
                    <a:ea typeface="宋体" panose="02010600030101010101" pitchFamily="2" charset="-122"/>
                  </a:rPr>
                  <a:t>KKT</a:t>
                </a:r>
                <a:r>
                  <a:rPr lang="zh-CN" altLang="zh-CN" sz="2400" kern="100" dirty="0">
                    <a:effectLst/>
                    <a:latin typeface="Times New Roman" panose="02020603050405020304" pitchFamily="18" charset="0"/>
                    <a:ea typeface="宋体" panose="02010600030101010101" pitchFamily="2" charset="-122"/>
                  </a:rPr>
                  <a:t>点必为二次规划的全局极小点。</a:t>
                </a:r>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407368" y="980728"/>
                <a:ext cx="11521280" cy="4699635"/>
              </a:xfrm>
              <a:prstGeom prst="rect">
                <a:avLst/>
              </a:prstGeom>
              <a:blipFill rotWithShape="1">
                <a:blip r:embed="rId1"/>
                <a:stretch>
                  <a:fillRect l="-3" t="-6" r="2" b="6"/>
                </a:stretch>
              </a:blipFill>
            </p:spPr>
            <p:txBody>
              <a:bodyPr/>
              <a:lstStyle/>
              <a:p>
                <a:r>
                  <a:rPr lang="zh-CN" altLang="en-US">
                    <a:noFill/>
                  </a:rPr>
                  <a:t> </a:t>
                </a:r>
              </a:p>
            </p:txBody>
          </p:sp>
        </mc:Fallback>
      </mc:AlternateContent>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51384" y="404664"/>
            <a:ext cx="4536504" cy="584775"/>
          </a:xfrm>
          <a:prstGeom prst="rect">
            <a:avLst/>
          </a:prstGeom>
          <a:noFill/>
        </p:spPr>
        <p:txBody>
          <a:bodyPr wrap="square">
            <a:spAutoFit/>
          </a:bodyPr>
          <a:lstStyle>
            <a:defPPr>
              <a:defRPr lang="zh-CN"/>
            </a:defPPr>
            <a:lvl1pPr algn="just">
              <a:spcBef>
                <a:spcPts val="600"/>
              </a:spcBef>
              <a:spcAft>
                <a:spcPts val="600"/>
              </a:spcAft>
              <a:defRPr sz="3200" kern="100">
                <a:latin typeface="Times New Roman" panose="02020603050405020304" pitchFamily="18" charset="0"/>
                <a:ea typeface="黑体" panose="02010609060101010101" pitchFamily="49" charset="-122"/>
              </a:defRPr>
            </a:lvl1pPr>
          </a:lstStyle>
          <a:p>
            <a:r>
              <a:rPr lang="zh-CN" altLang="en-US" dirty="0"/>
              <a:t>二、凸二次规划性质</a:t>
            </a:r>
            <a:endParaRPr lang="zh-CN" altLang="en-US" dirty="0"/>
          </a:p>
        </p:txBody>
      </p:sp>
      <mc:AlternateContent xmlns:mc="http://schemas.openxmlformats.org/markup-compatibility/2006">
        <mc:Choice xmlns:a14="http://schemas.microsoft.com/office/drawing/2010/main" Requires="a14">
          <p:sp>
            <p:nvSpPr>
              <p:cNvPr id="2" name="文本框 1"/>
              <p:cNvSpPr txBox="1"/>
              <p:nvPr/>
            </p:nvSpPr>
            <p:spPr>
              <a:xfrm>
                <a:off x="839416" y="1196752"/>
                <a:ext cx="10225136" cy="5681980"/>
              </a:xfrm>
              <a:prstGeom prst="rect">
                <a:avLst/>
              </a:prstGeom>
              <a:noFill/>
            </p:spPr>
            <p:txBody>
              <a:bodyPr wrap="square" rtlCol="0">
                <a:spAutoFit/>
              </a:bodyPr>
              <a:lstStyle/>
              <a:p>
                <a:pPr indent="266700" algn="just">
                  <a:lnSpc>
                    <a:spcPct val="150000"/>
                  </a:lnSpc>
                </a:pPr>
                <a:r>
                  <a:rPr lang="en-US" altLang="zh-CN" sz="2400" kern="100" dirty="0">
                    <a:effectLst/>
                    <a:latin typeface="+mn-ea"/>
                    <a:ea typeface="+mn-ea"/>
                  </a:rPr>
                  <a:t>  </a:t>
                </a:r>
                <a:r>
                  <a:rPr lang="zh-CN" altLang="zh-CN" sz="2400" b="1" kern="100" dirty="0">
                    <a:effectLst/>
                    <a:latin typeface="+mn-ea"/>
                    <a:ea typeface="+mn-ea"/>
                  </a:rPr>
                  <a:t>定理</a:t>
                </a:r>
                <a:r>
                  <a:rPr lang="en-US" altLang="zh-CN" sz="2400" b="1" kern="100" dirty="0">
                    <a:effectLst/>
                    <a:latin typeface="+mn-ea"/>
                    <a:ea typeface="+mn-ea"/>
                  </a:rPr>
                  <a:t>1</a:t>
                </a:r>
                <a:r>
                  <a:rPr lang="en-US" altLang="zh-CN" sz="2400" kern="100" dirty="0">
                    <a:effectLst/>
                    <a:latin typeface="+mn-ea"/>
                    <a:ea typeface="+mn-ea"/>
                  </a:rPr>
                  <a:t> </a:t>
                </a:r>
                <a:r>
                  <a:rPr lang="zh-CN" altLang="zh-CN" sz="2400" kern="100" dirty="0">
                    <a:effectLst/>
                    <a:latin typeface="+mn-ea"/>
                    <a:ea typeface="+mn-ea"/>
                  </a:rPr>
                  <a:t>矩阵</a:t>
                </a:r>
                <a:r>
                  <a:rPr lang="en-US" altLang="zh-CN" sz="2400" i="1" kern="100" dirty="0">
                    <a:latin typeface="Times New Roman" panose="02020603050405020304" pitchFamily="18" charset="0"/>
                  </a:rPr>
                  <a:t>G</a:t>
                </a:r>
                <a:r>
                  <a:rPr lang="zh-CN" altLang="zh-CN" sz="2400" kern="100" dirty="0">
                    <a:effectLst/>
                    <a:latin typeface="+mn-ea"/>
                    <a:ea typeface="+mn-ea"/>
                  </a:rPr>
                  <a:t>半正定，则</a:t>
                </a:r>
                <a14:m>
                  <m:oMath xmlns:m="http://schemas.openxmlformats.org/officeDocument/2006/math">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oMath>
                </a14:m>
                <a:r>
                  <a:rPr lang="zh-CN" altLang="zh-CN" sz="2400" kern="100" dirty="0">
                    <a:effectLst/>
                    <a:latin typeface="+mn-ea"/>
                    <a:ea typeface="+mn-ea"/>
                  </a:rPr>
                  <a:t>是二次规划问题</a:t>
                </a:r>
                <a:r>
                  <a:rPr lang="en-US" altLang="zh-CN" sz="2400" kern="100" dirty="0">
                    <a:effectLst/>
                    <a:latin typeface="+mn-ea"/>
                    <a:ea typeface="+mn-ea"/>
                  </a:rPr>
                  <a:t>(*)</a:t>
                </a:r>
                <a:r>
                  <a:rPr lang="zh-CN" altLang="zh-CN" sz="2400" kern="100" dirty="0">
                    <a:effectLst/>
                    <a:latin typeface="+mn-ea"/>
                    <a:ea typeface="+mn-ea"/>
                  </a:rPr>
                  <a:t>全局极小点的充分必要条件是，</a:t>
                </a:r>
                <a14:m>
                  <m:oMath xmlns:m="http://schemas.openxmlformats.org/officeDocument/2006/math">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oMath>
                </a14:m>
                <a:r>
                  <a:rPr lang="zh-CN" altLang="zh-CN" sz="2400" kern="100" dirty="0">
                    <a:effectLst/>
                    <a:latin typeface="+mn-ea"/>
                    <a:ea typeface="+mn-ea"/>
                  </a:rPr>
                  <a:t>是一个</a:t>
                </a:r>
                <a:r>
                  <a:rPr lang="en-US" altLang="zh-CN" sz="2400" kern="100" dirty="0">
                    <a:effectLst/>
                    <a:latin typeface="+mn-ea"/>
                    <a:ea typeface="+mn-ea"/>
                  </a:rPr>
                  <a:t>KKT</a:t>
                </a:r>
                <a:r>
                  <a:rPr lang="zh-CN" altLang="zh-CN" sz="2400" kern="100" dirty="0">
                    <a:effectLst/>
                    <a:latin typeface="+mn-ea"/>
                    <a:ea typeface="+mn-ea"/>
                  </a:rPr>
                  <a:t>点，即存在</a:t>
                </a:r>
                <a14:m>
                  <m:oMath xmlns:m="http://schemas.openxmlformats.org/officeDocument/2006/math">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𝜆</m:t>
                        </m:r>
                      </m:e>
                      <m:sup>
                        <m:r>
                          <a:rPr lang="en-US" altLang="zh-CN" sz="2400" i="1" kern="100">
                            <a:effectLst/>
                            <a:latin typeface="Cambria Math" panose="02040503050406030204" pitchFamily="18" charset="0"/>
                            <a:ea typeface="+mn-ea"/>
                          </a:rPr>
                          <m:t>∗</m:t>
                        </m:r>
                      </m:sup>
                    </m:sSup>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𝜆</m:t>
                        </m:r>
                      </m:e>
                      <m:sub>
                        <m:r>
                          <a:rPr lang="en-US" altLang="zh-CN" sz="2400" i="1" kern="100">
                            <a:effectLst/>
                            <a:latin typeface="Cambria Math" panose="02040503050406030204" pitchFamily="18" charset="0"/>
                            <a:ea typeface="+mn-ea"/>
                          </a:rPr>
                          <m:t>1</m:t>
                        </m:r>
                      </m:sub>
                      <m:sup>
                        <m:r>
                          <a:rPr lang="en-US" altLang="zh-CN" sz="2400" i="1" kern="100">
                            <a:effectLst/>
                            <a:latin typeface="Cambria Math" panose="02040503050406030204" pitchFamily="18" charset="0"/>
                            <a:ea typeface="+mn-ea"/>
                          </a:rPr>
                          <m:t>∗</m:t>
                        </m:r>
                      </m:sup>
                    </m:sSubSup>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𝜆</m:t>
                        </m:r>
                      </m:e>
                      <m:sub>
                        <m:r>
                          <a:rPr lang="en-US" altLang="zh-CN" sz="2400" i="1" kern="100">
                            <a:effectLst/>
                            <a:latin typeface="Cambria Math" panose="02040503050406030204" pitchFamily="18" charset="0"/>
                            <a:ea typeface="+mn-ea"/>
                          </a:rPr>
                          <m:t>2</m:t>
                        </m:r>
                      </m:sub>
                      <m:sup>
                        <m:r>
                          <a:rPr lang="en-US" altLang="zh-CN" sz="2400" i="1" kern="100">
                            <a:effectLst/>
                            <a:latin typeface="Cambria Math" panose="02040503050406030204" pitchFamily="18" charset="0"/>
                            <a:ea typeface="+mn-ea"/>
                          </a:rPr>
                          <m:t>∗</m:t>
                        </m:r>
                      </m:sup>
                    </m:sSubSup>
                    <m:r>
                      <a:rPr lang="en-US" altLang="zh-CN" sz="2400" i="1" kern="100">
                        <a:effectLst/>
                        <a:latin typeface="Cambria Math" panose="02040503050406030204" pitchFamily="18" charset="0"/>
                        <a:ea typeface="+mn-ea"/>
                      </a:rPr>
                      <m:t>,</m:t>
                    </m:r>
                    <m:r>
                      <a:rPr lang="zh-CN" altLang="zh-CN" sz="2400" i="1" kern="100">
                        <a:effectLst/>
                        <a:latin typeface="Cambria Math" panose="02040503050406030204" pitchFamily="18" charset="0"/>
                        <a:ea typeface="+mn-ea"/>
                        <a:cs typeface="MS Gothic" panose="020B0609070205080204" pitchFamily="49" charset="-128"/>
                      </a:rPr>
                      <m:t>⋯</m:t>
                    </m:r>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𝜆</m:t>
                        </m:r>
                      </m:e>
                      <m:sub>
                        <m:r>
                          <a:rPr lang="en-US" altLang="zh-CN" sz="2400" i="1" kern="100">
                            <a:effectLst/>
                            <a:latin typeface="Cambria Math" panose="02040503050406030204" pitchFamily="18" charset="0"/>
                            <a:ea typeface="+mn-ea"/>
                          </a:rPr>
                          <m:t>𝑚</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𝑙</m:t>
                        </m:r>
                      </m:sub>
                      <m:sup>
                        <m:r>
                          <a:rPr lang="en-US" altLang="zh-CN" sz="2400" i="1" kern="100">
                            <a:effectLst/>
                            <a:latin typeface="Cambria Math" panose="02040503050406030204" pitchFamily="18" charset="0"/>
                            <a:ea typeface="+mn-ea"/>
                          </a:rPr>
                          <m:t>∗</m:t>
                        </m:r>
                      </m:sup>
                    </m:sSub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en-US" altLang="zh-CN" sz="2400" i="1" kern="100">
                            <a:effectLst/>
                            <a:latin typeface="Cambria Math" panose="02040503050406030204" pitchFamily="18" charset="0"/>
                            <a:ea typeface="+mn-ea"/>
                          </a:rPr>
                          <m:t>𝑇</m:t>
                        </m:r>
                      </m:sup>
                    </m:sSup>
                  </m:oMath>
                </a14:m>
                <a:r>
                  <a:rPr lang="zh-CN" altLang="zh-CN" sz="2400" kern="100" dirty="0">
                    <a:effectLst/>
                    <a:latin typeface="+mn-ea"/>
                    <a:ea typeface="+mn-ea"/>
                  </a:rPr>
                  <a:t>，使得</a:t>
                </a:r>
                <a:endParaRPr lang="zh-CN" altLang="zh-CN" sz="2400" kern="100" dirty="0">
                  <a:effectLst/>
                  <a:latin typeface="+mn-ea"/>
                  <a:ea typeface="+mn-ea"/>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n-ea"/>
                        </a:rPr>
                        <m:t>𝐺</m:t>
                      </m:r>
                      <m:sSup>
                        <m:sSupPr>
                          <m:ctrlPr>
                            <a:rPr lang="zh-CN" altLang="zh-CN" sz="2400" i="1">
                              <a:latin typeface="Cambria Math" panose="02040503050406030204" pitchFamily="18" charset="0"/>
                              <a:ea typeface="+mn-ea"/>
                            </a:rPr>
                          </m:ctrlPr>
                        </m:sSupPr>
                        <m:e>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sup>
                      </m:sSup>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𝑟</m:t>
                      </m:r>
                      <m:r>
                        <a:rPr lang="zh-CN" altLang="en-US" sz="2400" i="1">
                          <a:latin typeface="Cambria Math" panose="02040503050406030204" pitchFamily="18" charset="0"/>
                          <a:ea typeface="+mn-ea"/>
                        </a:rPr>
                        <m:t>−</m:t>
                      </m:r>
                      <m:nary>
                        <m:naryPr>
                          <m:chr m:val="∑"/>
                          <m:ctrlPr>
                            <a:rPr lang="zh-CN" altLang="zh-CN" sz="2400" i="1">
                              <a:latin typeface="Cambria Math" panose="02040503050406030204" pitchFamily="18" charset="0"/>
                              <a:ea typeface="+mn-ea"/>
                            </a:rPr>
                          </m:ctrlPr>
                        </m:naryPr>
                        <m:sub>
                          <m:r>
                            <a:rPr lang="en-US" altLang="zh-CN" sz="2400" i="1">
                              <a:latin typeface="Cambria Math" panose="02040503050406030204" pitchFamily="18" charset="0"/>
                              <a:ea typeface="+mn-ea"/>
                            </a:rPr>
                            <m:t>𝑖</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1</m:t>
                          </m:r>
                        </m:sub>
                        <m:sup>
                          <m:r>
                            <a:rPr lang="en-US" altLang="zh-CN" sz="2400" i="1">
                              <a:latin typeface="Cambria Math" panose="02040503050406030204" pitchFamily="18" charset="0"/>
                              <a:ea typeface="+mn-ea"/>
                            </a:rPr>
                            <m:t>𝑚</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𝑙</m:t>
                          </m:r>
                        </m:sup>
                        <m:e>
                          <m:sSubSup>
                            <m:sSubSupPr>
                              <m:ctrlPr>
                                <a:rPr lang="zh-CN" altLang="zh-CN" sz="2400" i="1">
                                  <a:latin typeface="Cambria Math" panose="02040503050406030204" pitchFamily="18" charset="0"/>
                                  <a:ea typeface="+mn-ea"/>
                                </a:rPr>
                              </m:ctrlPr>
                            </m:sSubSupPr>
                            <m:e>
                              <m:r>
                                <a:rPr lang="en-US" altLang="zh-CN" sz="2400" i="1">
                                  <a:latin typeface="Cambria Math" panose="02040503050406030204" pitchFamily="18" charset="0"/>
                                  <a:ea typeface="+mn-ea"/>
                                </a:rPr>
                                <m:t>𝜆</m:t>
                              </m:r>
                            </m:e>
                            <m:sub>
                              <m:r>
                                <a:rPr lang="en-US" altLang="zh-CN" sz="2400" i="1">
                                  <a:latin typeface="Cambria Math" panose="02040503050406030204" pitchFamily="18" charset="0"/>
                                  <a:ea typeface="+mn-ea"/>
                                </a:rPr>
                                <m:t>𝑖</m:t>
                              </m:r>
                            </m:sub>
                            <m:sup>
                              <m:r>
                                <a:rPr lang="en-US" altLang="zh-CN" sz="2400" i="1">
                                  <a:latin typeface="Cambria Math" panose="02040503050406030204" pitchFamily="18" charset="0"/>
                                  <a:ea typeface="+mn-ea"/>
                                </a:rPr>
                                <m:t>∗</m:t>
                              </m:r>
                            </m:sup>
                          </m:sSubSup>
                          <m:sSub>
                            <m:sSubPr>
                              <m:ctrlPr>
                                <a:rPr lang="zh-CN" altLang="zh-CN" sz="2400" i="1">
                                  <a:latin typeface="Cambria Math" panose="02040503050406030204" pitchFamily="18" charset="0"/>
                                  <a:ea typeface="+mn-ea"/>
                                </a:rPr>
                              </m:ctrlPr>
                            </m:sSubPr>
                            <m:e>
                              <m:r>
                                <a:rPr lang="en-US" altLang="zh-CN" sz="2400" i="1">
                                  <a:latin typeface="Cambria Math" panose="02040503050406030204" pitchFamily="18" charset="0"/>
                                  <a:ea typeface="+mn-ea"/>
                                </a:rPr>
                                <m:t>𝐴</m:t>
                              </m:r>
                            </m:e>
                            <m:sub>
                              <m:r>
                                <a:rPr lang="en-US" altLang="zh-CN" sz="2400" i="1">
                                  <a:latin typeface="Cambria Math" panose="02040503050406030204" pitchFamily="18" charset="0"/>
                                  <a:ea typeface="+mn-ea"/>
                                </a:rPr>
                                <m:t>𝑖</m:t>
                              </m:r>
                            </m:sub>
                          </m:sSub>
                        </m:e>
                      </m:nary>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0</m:t>
                      </m:r>
                      <m:r>
                        <a:rPr lang="en-US" altLang="zh-CN" sz="2400" i="1">
                          <a:latin typeface="Cambria Math" panose="02040503050406030204" pitchFamily="18" charset="0"/>
                          <a:ea typeface="+mn-ea"/>
                        </a:rPr>
                        <m:t>,</m:t>
                      </m:r>
                    </m:oMath>
                    <m:oMath xmlns:m="http://schemas.openxmlformats.org/officeDocument/2006/math">
                      <m:sSubSup>
                        <m:sSubSupPr>
                          <m:ctrlPr>
                            <a:rPr lang="zh-CN" altLang="zh-CN" sz="2400" i="1">
                              <a:latin typeface="Cambria Math" panose="02040503050406030204" pitchFamily="18" charset="0"/>
                              <a:ea typeface="+mn-ea"/>
                            </a:rPr>
                          </m:ctrlPr>
                        </m:sSubSupPr>
                        <m:e>
                          <m:r>
                            <a:rPr lang="en-US" altLang="zh-CN" sz="2400" i="1">
                              <a:latin typeface="Cambria Math" panose="02040503050406030204" pitchFamily="18" charset="0"/>
                              <a:ea typeface="+mn-ea"/>
                            </a:rPr>
                            <m:t>𝐴</m:t>
                          </m:r>
                        </m:e>
                        <m:sub>
                          <m:r>
                            <a:rPr lang="en-US" altLang="zh-CN" sz="2400" i="1">
                              <a:latin typeface="Cambria Math" panose="02040503050406030204" pitchFamily="18" charset="0"/>
                              <a:ea typeface="+mn-ea"/>
                            </a:rPr>
                            <m:t>𝑖</m:t>
                          </m:r>
                        </m:sub>
                        <m:sup>
                          <m:r>
                            <a:rPr lang="en-US" altLang="zh-CN" sz="2400" i="1">
                              <a:latin typeface="Cambria Math" panose="02040503050406030204" pitchFamily="18" charset="0"/>
                              <a:ea typeface="+mn-ea"/>
                            </a:rPr>
                            <m:t>𝑇</m:t>
                          </m:r>
                        </m:sup>
                      </m:sSubSup>
                      <m:sSup>
                        <m:sSupPr>
                          <m:ctrlPr>
                            <a:rPr lang="zh-CN" altLang="zh-CN" sz="2400" i="1">
                              <a:latin typeface="Cambria Math" panose="02040503050406030204" pitchFamily="18" charset="0"/>
                              <a:ea typeface="+mn-ea"/>
                            </a:rPr>
                          </m:ctrlPr>
                        </m:sSupPr>
                        <m:e>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sup>
                      </m:sSup>
                      <m:r>
                        <a:rPr lang="zh-CN" altLang="en-US" sz="2400" i="1">
                          <a:latin typeface="Cambria Math" panose="02040503050406030204" pitchFamily="18" charset="0"/>
                          <a:ea typeface="+mn-ea"/>
                        </a:rPr>
                        <m:t>−</m:t>
                      </m:r>
                      <m:sSub>
                        <m:sSubPr>
                          <m:ctrlPr>
                            <a:rPr lang="zh-CN" altLang="zh-CN" sz="2400" i="1">
                              <a:latin typeface="Cambria Math" panose="02040503050406030204" pitchFamily="18" charset="0"/>
                              <a:ea typeface="+mn-ea"/>
                            </a:rPr>
                          </m:ctrlPr>
                        </m:sSubPr>
                        <m:e>
                          <m:r>
                            <a:rPr lang="en-US" altLang="zh-CN" sz="2400" i="1">
                              <a:latin typeface="Cambria Math" panose="02040503050406030204" pitchFamily="18" charset="0"/>
                              <a:ea typeface="+mn-ea"/>
                            </a:rPr>
                            <m:t>𝑏</m:t>
                          </m:r>
                        </m:e>
                        <m:sub>
                          <m:r>
                            <a:rPr lang="en-US" altLang="zh-CN" sz="2400" i="1">
                              <a:latin typeface="Cambria Math" panose="02040503050406030204" pitchFamily="18" charset="0"/>
                              <a:ea typeface="+mn-ea"/>
                            </a:rPr>
                            <m:t>𝑖</m:t>
                          </m:r>
                        </m:sub>
                      </m:sSub>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0</m:t>
                      </m:r>
                      <m:r>
                        <a:rPr lang="en-US" altLang="zh-CN" sz="2400" i="1">
                          <a:latin typeface="Cambria Math" panose="02040503050406030204" pitchFamily="18" charset="0"/>
                          <a:ea typeface="+mn-ea"/>
                        </a:rPr>
                        <m:t>,  </m:t>
                      </m:r>
                      <m:r>
                        <a:rPr lang="en-US" altLang="zh-CN" sz="2400" b="0" i="1" smtClean="0">
                          <a:latin typeface="Cambria Math" panose="02040503050406030204" pitchFamily="18" charset="0"/>
                          <a:ea typeface="+mn-ea"/>
                        </a:rPr>
                        <m:t>        </m:t>
                      </m:r>
                      <m:r>
                        <a:rPr lang="en-US" altLang="zh-CN" sz="2400" i="1">
                          <a:latin typeface="Cambria Math" panose="02040503050406030204" pitchFamily="18" charset="0"/>
                          <a:ea typeface="+mn-ea"/>
                        </a:rPr>
                        <m:t>1</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𝑖</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𝑚</m:t>
                      </m:r>
                      <m:r>
                        <a:rPr lang="en-US" altLang="zh-CN" sz="2400" i="1">
                          <a:latin typeface="Cambria Math" panose="02040503050406030204" pitchFamily="18" charset="0"/>
                          <a:ea typeface="+mn-ea"/>
                        </a:rPr>
                        <m:t>,</m:t>
                      </m:r>
                    </m:oMath>
                    <m:oMath xmlns:m="http://schemas.openxmlformats.org/officeDocument/2006/math">
                      <m:sSubSup>
                        <m:sSubSupPr>
                          <m:ctrlPr>
                            <a:rPr lang="zh-CN" altLang="zh-CN" sz="2400" i="1">
                              <a:latin typeface="Cambria Math" panose="02040503050406030204" pitchFamily="18" charset="0"/>
                              <a:ea typeface="+mn-ea"/>
                            </a:rPr>
                          </m:ctrlPr>
                        </m:sSubSupPr>
                        <m:e>
                          <m:r>
                            <a:rPr lang="en-US" altLang="zh-CN" sz="2400" i="1">
                              <a:latin typeface="Cambria Math" panose="02040503050406030204" pitchFamily="18" charset="0"/>
                              <a:ea typeface="+mn-ea"/>
                            </a:rPr>
                            <m:t>𝐴</m:t>
                          </m:r>
                        </m:e>
                        <m:sub>
                          <m:r>
                            <a:rPr lang="en-US" altLang="zh-CN" sz="2400" i="1">
                              <a:latin typeface="Cambria Math" panose="02040503050406030204" pitchFamily="18" charset="0"/>
                              <a:ea typeface="+mn-ea"/>
                            </a:rPr>
                            <m:t>𝑖</m:t>
                          </m:r>
                        </m:sub>
                        <m:sup>
                          <m:r>
                            <a:rPr lang="en-US" altLang="zh-CN" sz="2400" i="1">
                              <a:latin typeface="Cambria Math" panose="02040503050406030204" pitchFamily="18" charset="0"/>
                              <a:ea typeface="+mn-ea"/>
                            </a:rPr>
                            <m:t>𝑇</m:t>
                          </m:r>
                        </m:sup>
                      </m:sSubSup>
                      <m:sSup>
                        <m:sSupPr>
                          <m:ctrlPr>
                            <a:rPr lang="zh-CN" altLang="zh-CN" sz="2400" i="1">
                              <a:latin typeface="Cambria Math" panose="02040503050406030204" pitchFamily="18" charset="0"/>
                              <a:ea typeface="+mn-ea"/>
                            </a:rPr>
                          </m:ctrlPr>
                        </m:sSupPr>
                        <m:e>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sup>
                      </m:sSup>
                      <m:r>
                        <a:rPr lang="zh-CN" altLang="en-US" sz="2400" i="1">
                          <a:latin typeface="Cambria Math" panose="02040503050406030204" pitchFamily="18" charset="0"/>
                          <a:ea typeface="+mn-ea"/>
                        </a:rPr>
                        <m:t>−</m:t>
                      </m:r>
                      <m:sSub>
                        <m:sSubPr>
                          <m:ctrlPr>
                            <a:rPr lang="zh-CN" altLang="zh-CN" sz="2400" i="1">
                              <a:latin typeface="Cambria Math" panose="02040503050406030204" pitchFamily="18" charset="0"/>
                              <a:ea typeface="+mn-ea"/>
                            </a:rPr>
                          </m:ctrlPr>
                        </m:sSubPr>
                        <m:e>
                          <m:r>
                            <a:rPr lang="en-US" altLang="zh-CN" sz="2400" i="1">
                              <a:latin typeface="Cambria Math" panose="02040503050406030204" pitchFamily="18" charset="0"/>
                              <a:ea typeface="+mn-ea"/>
                            </a:rPr>
                            <m:t>𝑏</m:t>
                          </m:r>
                        </m:e>
                        <m:sub>
                          <m:r>
                            <a:rPr lang="en-US" altLang="zh-CN" sz="2400" i="1">
                              <a:latin typeface="Cambria Math" panose="02040503050406030204" pitchFamily="18" charset="0"/>
                              <a:ea typeface="+mn-ea"/>
                            </a:rPr>
                            <m:t>𝑖</m:t>
                          </m:r>
                        </m:sub>
                      </m:sSub>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0</m:t>
                      </m:r>
                      <m:r>
                        <a:rPr lang="en-US" altLang="zh-CN" sz="2400" i="1">
                          <a:latin typeface="Cambria Math" panose="02040503050406030204" pitchFamily="18" charset="0"/>
                          <a:ea typeface="+mn-ea"/>
                        </a:rPr>
                        <m:t>,</m:t>
                      </m:r>
                      <m:r>
                        <a:rPr lang="en-US" altLang="zh-CN" sz="2400" b="0" i="1" smtClean="0">
                          <a:latin typeface="Cambria Math" panose="02040503050406030204" pitchFamily="18" charset="0"/>
                          <a:ea typeface="+mn-ea"/>
                        </a:rPr>
                        <m:t>        </m:t>
                      </m:r>
                      <m:r>
                        <a:rPr lang="en-US" altLang="zh-CN" sz="2400" i="1">
                          <a:latin typeface="Cambria Math" panose="02040503050406030204" pitchFamily="18" charset="0"/>
                          <a:ea typeface="+mn-ea"/>
                        </a:rPr>
                        <m:t>  </m:t>
                      </m:r>
                      <m:r>
                        <a:rPr lang="en-US" altLang="zh-CN" sz="2400" i="1">
                          <a:latin typeface="Cambria Math" panose="02040503050406030204" pitchFamily="18" charset="0"/>
                          <a:ea typeface="+mn-ea"/>
                        </a:rPr>
                        <m:t>𝑚</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1</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𝑖</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𝑚</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𝑙</m:t>
                      </m:r>
                      <m:r>
                        <a:rPr lang="en-US" altLang="zh-CN" sz="2400" i="1">
                          <a:latin typeface="Cambria Math" panose="02040503050406030204" pitchFamily="18" charset="0"/>
                          <a:ea typeface="+mn-ea"/>
                        </a:rPr>
                        <m:t>,</m:t>
                      </m:r>
                    </m:oMath>
                    <m:oMath xmlns:m="http://schemas.openxmlformats.org/officeDocument/2006/math">
                      <m:sSubSup>
                        <m:sSubSupPr>
                          <m:ctrlPr>
                            <a:rPr lang="zh-CN" altLang="zh-CN" sz="2400" i="1">
                              <a:latin typeface="Cambria Math" panose="02040503050406030204" pitchFamily="18" charset="0"/>
                              <a:ea typeface="+mn-ea"/>
                            </a:rPr>
                          </m:ctrlPr>
                        </m:sSubSupPr>
                        <m:e>
                          <m:r>
                            <a:rPr lang="en-US" altLang="zh-CN" sz="2400" i="1">
                              <a:latin typeface="Cambria Math" panose="02040503050406030204" pitchFamily="18" charset="0"/>
                              <a:ea typeface="+mn-ea"/>
                            </a:rPr>
                            <m:t>𝜆</m:t>
                          </m:r>
                        </m:e>
                        <m:sub>
                          <m:r>
                            <a:rPr lang="en-US" altLang="zh-CN" sz="2400" i="1">
                              <a:latin typeface="Cambria Math" panose="02040503050406030204" pitchFamily="18" charset="0"/>
                              <a:ea typeface="+mn-ea"/>
                            </a:rPr>
                            <m:t>𝑖</m:t>
                          </m:r>
                        </m:sub>
                        <m:sup>
                          <m:r>
                            <a:rPr lang="en-US" altLang="zh-CN" sz="2400" i="1">
                              <a:latin typeface="Cambria Math" panose="02040503050406030204" pitchFamily="18" charset="0"/>
                              <a:ea typeface="+mn-ea"/>
                            </a:rPr>
                            <m:t>∗</m:t>
                          </m:r>
                        </m:sup>
                      </m:sSubSup>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0</m:t>
                      </m:r>
                      <m:r>
                        <a:rPr lang="en-US" altLang="zh-CN" sz="2400" i="1">
                          <a:latin typeface="Cambria Math" panose="02040503050406030204" pitchFamily="18" charset="0"/>
                          <a:ea typeface="+mn-ea"/>
                        </a:rPr>
                        <m:t>,  </m:t>
                      </m:r>
                      <m:r>
                        <a:rPr lang="en-US" altLang="zh-CN" sz="2400" b="0" i="1" smtClean="0">
                          <a:latin typeface="Cambria Math" panose="02040503050406030204" pitchFamily="18" charset="0"/>
                          <a:ea typeface="+mn-ea"/>
                        </a:rPr>
                        <m:t>                       </m:t>
                      </m:r>
                      <m:r>
                        <a:rPr lang="en-US" altLang="zh-CN" sz="2400" i="1">
                          <a:latin typeface="Cambria Math" panose="02040503050406030204" pitchFamily="18" charset="0"/>
                          <a:ea typeface="+mn-ea"/>
                        </a:rPr>
                        <m:t>𝑚</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1</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𝑖</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𝑚</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𝑙</m:t>
                      </m:r>
                      <m:r>
                        <a:rPr lang="en-US" altLang="zh-CN" sz="2400" i="1">
                          <a:latin typeface="Cambria Math" panose="02040503050406030204" pitchFamily="18" charset="0"/>
                          <a:ea typeface="+mn-ea"/>
                        </a:rPr>
                        <m:t>,</m:t>
                      </m:r>
                    </m:oMath>
                    <m:oMath xmlns:m="http://schemas.openxmlformats.org/officeDocument/2006/math">
                      <m:sSubSup>
                        <m:sSubSupPr>
                          <m:ctrlPr>
                            <a:rPr lang="zh-CN" altLang="zh-CN" sz="2400" i="1">
                              <a:latin typeface="Cambria Math" panose="02040503050406030204" pitchFamily="18" charset="0"/>
                              <a:ea typeface="+mn-ea"/>
                            </a:rPr>
                          </m:ctrlPr>
                        </m:sSubSupPr>
                        <m:e>
                          <m:r>
                            <a:rPr lang="en-US" altLang="zh-CN" sz="2400" i="1">
                              <a:latin typeface="Cambria Math" panose="02040503050406030204" pitchFamily="18" charset="0"/>
                              <a:ea typeface="+mn-ea"/>
                            </a:rPr>
                            <m:t>𝜆</m:t>
                          </m:r>
                        </m:e>
                        <m:sub>
                          <m:r>
                            <a:rPr lang="en-US" altLang="zh-CN" sz="2400" i="1">
                              <a:latin typeface="Cambria Math" panose="02040503050406030204" pitchFamily="18" charset="0"/>
                              <a:ea typeface="+mn-ea"/>
                            </a:rPr>
                            <m:t>𝑖</m:t>
                          </m:r>
                        </m:sub>
                        <m:sup>
                          <m:r>
                            <a:rPr lang="en-US" altLang="zh-CN" sz="2400" i="1">
                              <a:latin typeface="Cambria Math" panose="02040503050406030204" pitchFamily="18" charset="0"/>
                              <a:ea typeface="+mn-ea"/>
                            </a:rPr>
                            <m:t>∗</m:t>
                          </m:r>
                        </m:sup>
                      </m:sSubSup>
                      <m:r>
                        <a:rPr lang="en-US" altLang="zh-CN" sz="2400" i="1">
                          <a:latin typeface="Cambria Math" panose="02040503050406030204" pitchFamily="18" charset="0"/>
                          <a:ea typeface="+mn-ea"/>
                        </a:rPr>
                        <m:t>(</m:t>
                      </m:r>
                      <m:sSubSup>
                        <m:sSubSupPr>
                          <m:ctrlPr>
                            <a:rPr lang="zh-CN" altLang="zh-CN" sz="2400" i="1">
                              <a:latin typeface="Cambria Math" panose="02040503050406030204" pitchFamily="18" charset="0"/>
                              <a:ea typeface="+mn-ea"/>
                            </a:rPr>
                          </m:ctrlPr>
                        </m:sSubSupPr>
                        <m:e>
                          <m:r>
                            <a:rPr lang="en-US" altLang="zh-CN" sz="2400" i="1">
                              <a:latin typeface="Cambria Math" panose="02040503050406030204" pitchFamily="18" charset="0"/>
                              <a:ea typeface="+mn-ea"/>
                            </a:rPr>
                            <m:t>𝐴</m:t>
                          </m:r>
                        </m:e>
                        <m:sub>
                          <m:r>
                            <a:rPr lang="en-US" altLang="zh-CN" sz="2400" i="1">
                              <a:latin typeface="Cambria Math" panose="02040503050406030204" pitchFamily="18" charset="0"/>
                              <a:ea typeface="+mn-ea"/>
                            </a:rPr>
                            <m:t>𝑖</m:t>
                          </m:r>
                        </m:sub>
                        <m:sup>
                          <m:r>
                            <a:rPr lang="en-US" altLang="zh-CN" sz="2400" i="1">
                              <a:latin typeface="Cambria Math" panose="02040503050406030204" pitchFamily="18" charset="0"/>
                              <a:ea typeface="+mn-ea"/>
                            </a:rPr>
                            <m:t>𝑇</m:t>
                          </m:r>
                        </m:sup>
                      </m:sSubSup>
                      <m:sSup>
                        <m:sSupPr>
                          <m:ctrlPr>
                            <a:rPr lang="zh-CN" altLang="zh-CN" sz="2400" i="1">
                              <a:latin typeface="Cambria Math" panose="02040503050406030204" pitchFamily="18" charset="0"/>
                              <a:ea typeface="+mn-ea"/>
                            </a:rPr>
                          </m:ctrlPr>
                        </m:sSupPr>
                        <m:e>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sup>
                      </m:sSup>
                      <m:r>
                        <a:rPr lang="zh-CN" altLang="en-US" sz="2400" i="1">
                          <a:latin typeface="Cambria Math" panose="02040503050406030204" pitchFamily="18" charset="0"/>
                          <a:ea typeface="+mn-ea"/>
                        </a:rPr>
                        <m:t>−</m:t>
                      </m:r>
                      <m:sSub>
                        <m:sSubPr>
                          <m:ctrlPr>
                            <a:rPr lang="zh-CN" altLang="zh-CN" sz="2400" i="1">
                              <a:latin typeface="Cambria Math" panose="02040503050406030204" pitchFamily="18" charset="0"/>
                              <a:ea typeface="+mn-ea"/>
                            </a:rPr>
                          </m:ctrlPr>
                        </m:sSubPr>
                        <m:e>
                          <m:r>
                            <a:rPr lang="en-US" altLang="zh-CN" sz="2400" i="1">
                              <a:latin typeface="Cambria Math" panose="02040503050406030204" pitchFamily="18" charset="0"/>
                              <a:ea typeface="+mn-ea"/>
                            </a:rPr>
                            <m:t>𝑏</m:t>
                          </m:r>
                        </m:e>
                        <m:sub>
                          <m:r>
                            <a:rPr lang="en-US" altLang="zh-CN" sz="2400" i="1">
                              <a:latin typeface="Cambria Math" panose="02040503050406030204" pitchFamily="18" charset="0"/>
                              <a:ea typeface="+mn-ea"/>
                            </a:rPr>
                            <m:t>𝑖</m:t>
                          </m:r>
                        </m:sub>
                      </m:sSub>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0</m:t>
                      </m:r>
                      <m:r>
                        <a:rPr lang="en-US" altLang="zh-CN" sz="2400" i="1">
                          <a:latin typeface="Cambria Math" panose="02040503050406030204" pitchFamily="18" charset="0"/>
                          <a:ea typeface="+mn-ea"/>
                        </a:rPr>
                        <m:t>, </m:t>
                      </m:r>
                      <m:r>
                        <a:rPr lang="en-US" altLang="zh-CN" sz="2400" b="0" i="1" smtClean="0">
                          <a:latin typeface="Cambria Math" panose="02040503050406030204" pitchFamily="18" charset="0"/>
                          <a:ea typeface="+mn-ea"/>
                        </a:rPr>
                        <m:t> </m:t>
                      </m:r>
                      <m:r>
                        <a:rPr lang="en-US" altLang="zh-CN" sz="2400" i="1">
                          <a:latin typeface="Cambria Math" panose="02040503050406030204" pitchFamily="18" charset="0"/>
                          <a:ea typeface="+mn-ea"/>
                        </a:rPr>
                        <m:t>𝑚</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1</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𝑖</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𝑚</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𝑙</m:t>
                      </m:r>
                    </m:oMath>
                  </m:oMathPara>
                </a14:m>
                <a:endParaRPr lang="zh-CN" altLang="zh-CN" sz="2400" dirty="0">
                  <a:latin typeface="+mn-ea"/>
                  <a:ea typeface="+mn-ea"/>
                </a:endParaRPr>
              </a:p>
              <a:p>
                <a:pPr algn="just">
                  <a:lnSpc>
                    <a:spcPct val="150000"/>
                  </a:lnSpc>
                </a:pPr>
                <a:r>
                  <a:rPr lang="en-US" altLang="zh-CN" sz="2400" dirty="0">
                    <a:effectLst/>
                    <a:latin typeface="+mn-ea"/>
                    <a:ea typeface="+mn-ea"/>
                    <a:cs typeface="Times New Roman" panose="02020603050405020304" pitchFamily="18" charset="0"/>
                  </a:rPr>
                  <a:t>		</a:t>
                </a:r>
                <a:endParaRPr lang="zh-CN" altLang="en-US" sz="2400" dirty="0">
                  <a:latin typeface="+mn-ea"/>
                  <a:ea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839416" y="1196752"/>
                <a:ext cx="10225136" cy="5681980"/>
              </a:xfrm>
              <a:prstGeom prst="rect">
                <a:avLst/>
              </a:prstGeom>
              <a:blipFill rotWithShape="1">
                <a:blip r:embed="rId1"/>
                <a:stretch>
                  <a:fillRect l="-6" t="-7" r="3" b="7"/>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422134" y="244121"/>
                <a:ext cx="11521280" cy="5624553"/>
              </a:xfrm>
              <a:prstGeom prst="rect">
                <a:avLst/>
              </a:prstGeom>
              <a:noFill/>
            </p:spPr>
            <p:txBody>
              <a:bodyPr wrap="square" rtlCol="0">
                <a:spAutoFit/>
              </a:bodyPr>
              <a:lstStyle/>
              <a:p>
                <a:pPr indent="266700" algn="just">
                  <a:lnSpc>
                    <a:spcPct val="150000"/>
                  </a:lnSpc>
                </a:pPr>
                <a:r>
                  <a:rPr lang="zh-CN" altLang="zh-CN" sz="2400" b="1" kern="100" dirty="0">
                    <a:latin typeface="+mn-ea"/>
                    <a:ea typeface="+mn-ea"/>
                  </a:rPr>
                  <a:t>证</a:t>
                </a:r>
                <a:r>
                  <a:rPr lang="zh-CN" altLang="zh-CN" sz="2400" kern="100" dirty="0">
                    <a:latin typeface="+mn-ea"/>
                    <a:ea typeface="+mn-ea"/>
                  </a:rPr>
                  <a:t> </a:t>
                </a:r>
                <a:r>
                  <a:rPr lang="en-US" altLang="zh-CN" sz="2400" kern="100" dirty="0">
                    <a:latin typeface="+mn-ea"/>
                    <a:ea typeface="+mn-ea"/>
                  </a:rPr>
                  <a:t> </a:t>
                </a:r>
                <a:r>
                  <a:rPr lang="zh-CN" altLang="zh-CN" sz="2400" kern="100" dirty="0">
                    <a:latin typeface="+mn-ea"/>
                    <a:ea typeface="+mn-ea"/>
                  </a:rPr>
                  <a:t>必要性由约束问题的一阶必要条件得证</a:t>
                </a:r>
                <a:r>
                  <a:rPr lang="zh-CN" altLang="en-US" sz="2400" kern="100" dirty="0">
                    <a:latin typeface="+mn-ea"/>
                    <a:ea typeface="+mn-ea"/>
                  </a:rPr>
                  <a:t>，</a:t>
                </a:r>
                <a:r>
                  <a:rPr lang="zh-CN" altLang="zh-CN" sz="2400" kern="100" dirty="0">
                    <a:latin typeface="+mn-ea"/>
                    <a:ea typeface="+mn-ea"/>
                  </a:rPr>
                  <a:t>下面证明充分性</a:t>
                </a:r>
                <a:r>
                  <a:rPr lang="zh-CN" altLang="en-US" sz="2400" kern="100" dirty="0">
                    <a:latin typeface="+mn-ea"/>
                    <a:ea typeface="+mn-ea"/>
                  </a:rPr>
                  <a:t>。</a:t>
                </a:r>
                <a:endParaRPr lang="zh-CN" altLang="zh-CN" sz="2400" kern="100" dirty="0">
                  <a:latin typeface="+mn-ea"/>
                  <a:ea typeface="+mn-ea"/>
                </a:endParaRPr>
              </a:p>
              <a:p>
                <a:pPr algn="just"/>
                <a:r>
                  <a:rPr lang="en-US" altLang="zh-CN" sz="2400" kern="100" dirty="0">
                    <a:latin typeface="+mn-ea"/>
                    <a:ea typeface="+mn-ea"/>
                  </a:rPr>
                  <a:t>	</a:t>
                </a:r>
                <a:r>
                  <a:rPr lang="zh-CN" altLang="zh-CN" sz="2400" kern="100" dirty="0">
                    <a:latin typeface="+mn-ea"/>
                    <a:ea typeface="+mn-ea"/>
                  </a:rPr>
                  <a:t>设</a:t>
                </a:r>
                <a14:m>
                  <m:oMath xmlns:m="http://schemas.openxmlformats.org/officeDocument/2006/math">
                    <m:sSup>
                      <m:sSupPr>
                        <m:ctrlPr>
                          <a:rPr lang="zh-CN" altLang="zh-CN" sz="2400" i="1" kern="100">
                            <a:latin typeface="Cambria Math" panose="02040503050406030204" pitchFamily="18" charset="0"/>
                            <a:ea typeface="+mn-ea"/>
                          </a:rPr>
                        </m:ctrlPr>
                      </m:sSupPr>
                      <m:e>
                        <m:r>
                          <a:rPr lang="en-US" altLang="zh-CN" sz="2400" i="1" kern="100">
                            <a:latin typeface="Cambria Math" panose="02040503050406030204" pitchFamily="18" charset="0"/>
                            <a:ea typeface="+mn-ea"/>
                          </a:rPr>
                          <m:t>𝑥</m:t>
                        </m:r>
                      </m:e>
                      <m:sup>
                        <m:r>
                          <a:rPr lang="en-US" altLang="zh-CN" sz="2400" i="1" kern="100">
                            <a:latin typeface="Cambria Math" panose="02040503050406030204" pitchFamily="18" charset="0"/>
                            <a:ea typeface="+mn-ea"/>
                          </a:rPr>
                          <m:t>∗</m:t>
                        </m:r>
                      </m:sup>
                    </m:sSup>
                  </m:oMath>
                </a14:m>
                <a:r>
                  <a:rPr lang="zh-CN" altLang="zh-CN" sz="2400" kern="100" dirty="0">
                    <a:latin typeface="+mn-ea"/>
                    <a:ea typeface="+mn-ea"/>
                  </a:rPr>
                  <a:t>是一个</a:t>
                </a:r>
                <a:r>
                  <a:rPr lang="en-US" altLang="zh-CN" sz="2400" kern="100" dirty="0">
                    <a:latin typeface="+mn-ea"/>
                    <a:ea typeface="+mn-ea"/>
                  </a:rPr>
                  <a:t>KKT</a:t>
                </a:r>
                <a:r>
                  <a:rPr lang="zh-CN" altLang="zh-CN" sz="2400" kern="100" dirty="0">
                    <a:latin typeface="+mn-ea"/>
                    <a:ea typeface="+mn-ea"/>
                  </a:rPr>
                  <a:t>点，考虑</a:t>
                </a:r>
                <a14:m>
                  <m:oMath xmlns:m="http://schemas.openxmlformats.org/officeDocument/2006/math">
                    <m:r>
                      <a:rPr lang="en-US" altLang="zh-CN" sz="2400" i="1" kern="100">
                        <a:latin typeface="Cambria Math" panose="02040503050406030204" pitchFamily="18" charset="0"/>
                        <a:ea typeface="+mn-ea"/>
                        <a:cs typeface="Cambria Math" panose="02040503050406030204" pitchFamily="18" charset="0"/>
                      </a:rPr>
                      <m:t>∀</m:t>
                    </m:r>
                    <m:r>
                      <a:rPr lang="en-US" altLang="zh-CN" sz="2400" i="1" kern="100">
                        <a:latin typeface="Cambria Math" panose="02040503050406030204" pitchFamily="18" charset="0"/>
                        <a:ea typeface="+mn-ea"/>
                      </a:rPr>
                      <m:t>𝑥</m:t>
                    </m:r>
                    <m:r>
                      <a:rPr lang="en-US" altLang="zh-CN" sz="2400" i="1" kern="100">
                        <a:latin typeface="Cambria Math" panose="02040503050406030204" pitchFamily="18" charset="0"/>
                        <a:ea typeface="+mn-ea"/>
                      </a:rPr>
                      <m:t>≠</m:t>
                    </m:r>
                    <m:sSup>
                      <m:sSupPr>
                        <m:ctrlPr>
                          <a:rPr lang="zh-CN" altLang="zh-CN" sz="2400" i="1" kern="100">
                            <a:latin typeface="Cambria Math" panose="02040503050406030204" pitchFamily="18" charset="0"/>
                            <a:ea typeface="+mn-ea"/>
                          </a:rPr>
                        </m:ctrlPr>
                      </m:sSupPr>
                      <m:e>
                        <m:r>
                          <a:rPr lang="en-US" altLang="zh-CN" sz="2400" i="1" kern="100">
                            <a:latin typeface="Cambria Math" panose="02040503050406030204" pitchFamily="18" charset="0"/>
                            <a:ea typeface="+mn-ea"/>
                          </a:rPr>
                          <m:t>𝑥</m:t>
                        </m:r>
                      </m:e>
                      <m:sup>
                        <m:r>
                          <a:rPr lang="en-US" altLang="zh-CN" sz="2400" i="1" kern="100">
                            <a:latin typeface="Cambria Math" panose="02040503050406030204" pitchFamily="18" charset="0"/>
                            <a:ea typeface="+mn-ea"/>
                          </a:rPr>
                          <m:t>∗</m:t>
                        </m:r>
                      </m:sup>
                    </m:sSup>
                    <m:r>
                      <a:rPr lang="en-US" altLang="zh-CN" sz="2400" i="1" kern="100">
                        <a:latin typeface="Cambria Math" panose="02040503050406030204" pitchFamily="18" charset="0"/>
                        <a:ea typeface="+mn-ea"/>
                      </a:rPr>
                      <m:t>,</m:t>
                    </m:r>
                    <m:r>
                      <a:rPr lang="en-US" altLang="zh-CN" sz="2400" i="1" kern="100">
                        <a:latin typeface="Cambria Math" panose="02040503050406030204" pitchFamily="18" charset="0"/>
                        <a:ea typeface="+mn-ea"/>
                      </a:rPr>
                      <m:t>𝑥</m:t>
                    </m:r>
                  </m:oMath>
                </a14:m>
                <a:r>
                  <a:rPr lang="zh-CN" altLang="en-US" sz="2400" kern="100" dirty="0">
                    <a:latin typeface="+mn-ea"/>
                    <a:ea typeface="+mn-ea"/>
                  </a:rPr>
                  <a:t>是可行点</a:t>
                </a:r>
                <a:r>
                  <a:rPr lang="zh-CN" altLang="zh-CN" sz="2400" kern="100" dirty="0">
                    <a:latin typeface="+mn-ea"/>
                    <a:ea typeface="+mn-ea"/>
                  </a:rPr>
                  <a:t>，注意到矩阵</a:t>
                </a:r>
                <a:r>
                  <a:rPr lang="en-US" altLang="zh-CN" sz="2400" i="1" kern="100" dirty="0">
                    <a:latin typeface="Times New Roman" panose="02020603050405020304" pitchFamily="18" charset="0"/>
                  </a:rPr>
                  <a:t>G</a:t>
                </a:r>
                <a:r>
                  <a:rPr lang="zh-CN" altLang="zh-CN" sz="2400" kern="100" dirty="0">
                    <a:latin typeface="+mn-ea"/>
                    <a:ea typeface="+mn-ea"/>
                  </a:rPr>
                  <a:t>半正定，因此有</a:t>
                </a:r>
                <a:endParaRPr lang="zh-CN" altLang="zh-CN" sz="2400" kern="100" dirty="0">
                  <a:latin typeface="+mn-ea"/>
                  <a:ea typeface="+mn-ea"/>
                </a:endParaRPr>
              </a:p>
              <a:p>
                <a:pPr algn="just"/>
                <a14:m>
                  <m:oMathPara xmlns:m="http://schemas.openxmlformats.org/officeDocument/2006/math">
                    <m:oMathParaPr>
                      <m:jc m:val="centerGroup"/>
                    </m:oMathParaPr>
                    <m:oMath xmlns:m="http://schemas.openxmlformats.org/officeDocument/2006/math">
                      <m:r>
                        <a:rPr lang="en-US" altLang="zh-CN" sz="2400" i="1" kern="100" smtClean="0">
                          <a:effectLst/>
                          <a:latin typeface="Cambria Math" panose="02040503050406030204" pitchFamily="18" charset="0"/>
                          <a:ea typeface="+mn-ea"/>
                        </a:rPr>
                        <m:t>𝑓</m:t>
                      </m:r>
                      <m:r>
                        <a:rPr lang="en-US" altLang="zh-CN" sz="2400" i="1" kern="100" smtClean="0">
                          <a:effectLst/>
                          <a:latin typeface="Cambria Math" panose="02040503050406030204" pitchFamily="18" charset="0"/>
                          <a:ea typeface="+mn-ea"/>
                        </a:rPr>
                        <m:t>(</m:t>
                      </m:r>
                      <m:r>
                        <a:rPr lang="en-US" altLang="zh-CN" sz="2400" i="1" kern="100" smtClean="0">
                          <a:effectLst/>
                          <a:latin typeface="Cambria Math" panose="02040503050406030204" pitchFamily="18" charset="0"/>
                          <a:ea typeface="+mn-ea"/>
                        </a:rPr>
                        <m:t>𝑥</m:t>
                      </m:r>
                      <m:r>
                        <a:rPr lang="en-US" altLang="zh-CN" sz="2400" i="1" kern="100" smtClean="0">
                          <a:effectLst/>
                          <a:latin typeface="Cambria Math" panose="02040503050406030204" pitchFamily="18" charset="0"/>
                          <a:ea typeface="+mn-ea"/>
                        </a:rPr>
                        <m:t>)−</m:t>
                      </m:r>
                      <m:r>
                        <a:rPr lang="en-US" altLang="zh-CN" sz="2400" i="1" kern="100" smtClean="0">
                          <a:effectLst/>
                          <a:latin typeface="Cambria Math" panose="02040503050406030204" pitchFamily="18" charset="0"/>
                          <a:ea typeface="+mn-ea"/>
                        </a:rPr>
                        <m:t>𝑓</m:t>
                      </m:r>
                      <m:r>
                        <a:rPr lang="en-US" altLang="zh-CN" sz="2400" i="1" kern="100" smtClean="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cs typeface="Cambria Math" panose="02040503050406030204" pitchFamily="18" charset="0"/>
                        </a:rPr>
                        <m:t>𝛻</m:t>
                      </m:r>
                      <m:r>
                        <a:rPr lang="en-US" altLang="zh-CN" sz="2400" i="1" kern="100">
                          <a:effectLst/>
                          <a:latin typeface="Cambria Math" panose="02040503050406030204" pitchFamily="18" charset="0"/>
                          <a:ea typeface="+mn-ea"/>
                        </a:rPr>
                        <m:t>𝑓</m:t>
                      </m:r>
                      <m:r>
                        <a:rPr lang="en-US" altLang="zh-CN" sz="2400" i="1" kern="10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en-US" altLang="zh-CN" sz="2400" i="1" kern="100">
                              <a:effectLst/>
                              <a:latin typeface="Cambria Math" panose="02040503050406030204" pitchFamily="18" charset="0"/>
                              <a:ea typeface="+mn-ea"/>
                            </a:rPr>
                            <m:t>𝑇</m:t>
                          </m:r>
                        </m:sup>
                      </m:sSup>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𝑥</m:t>
                      </m:r>
                      <m:r>
                        <a:rPr lang="en-US" altLang="zh-CN" sz="2400" i="1" kern="10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1</m:t>
                          </m:r>
                        </m:num>
                        <m:den>
                          <m:r>
                            <a:rPr lang="en-US" altLang="zh-CN" sz="2400" i="1" kern="100">
                              <a:effectLst/>
                              <a:latin typeface="Cambria Math" panose="02040503050406030204" pitchFamily="18" charset="0"/>
                              <a:ea typeface="+mn-ea"/>
                            </a:rPr>
                            <m:t>2</m:t>
                          </m:r>
                        </m:den>
                      </m:f>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𝑥</m:t>
                      </m:r>
                      <m:r>
                        <a:rPr lang="en-US" altLang="zh-CN" sz="2400" i="1" kern="10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en-US" altLang="zh-CN" sz="2400" i="1" kern="100">
                              <a:effectLst/>
                              <a:latin typeface="Cambria Math" panose="02040503050406030204" pitchFamily="18" charset="0"/>
                              <a:ea typeface="+mn-ea"/>
                            </a:rPr>
                            <m:t>𝑇</m:t>
                          </m:r>
                        </m:sup>
                      </m:sSup>
                      <m:r>
                        <a:rPr lang="en-US" altLang="zh-CN" sz="2400" i="1" kern="100">
                          <a:effectLst/>
                          <a:latin typeface="Cambria Math" panose="02040503050406030204" pitchFamily="18" charset="0"/>
                          <a:ea typeface="+mn-ea"/>
                        </a:rPr>
                        <m:t>𝐺</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𝑥</m:t>
                      </m:r>
                      <m:r>
                        <a:rPr lang="en-US" altLang="zh-CN" sz="2400" i="1" kern="10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r>
                        <a:rPr lang="en-US" altLang="zh-CN" sz="2400" i="1" kern="100">
                          <a:effectLst/>
                          <a:latin typeface="Cambria Math" panose="02040503050406030204" pitchFamily="18" charset="0"/>
                          <a:ea typeface="+mn-ea"/>
                        </a:rPr>
                        <m:t>)</m:t>
                      </m:r>
                    </m:oMath>
                    <m:oMath xmlns:m="http://schemas.openxmlformats.org/officeDocument/2006/math">
                      <m:r>
                        <a:rPr lang="en-US" altLang="zh-CN" sz="2400" i="1" kern="100">
                          <a:effectLst/>
                          <a:latin typeface="Cambria Math" panose="02040503050406030204" pitchFamily="18" charset="0"/>
                          <a:ea typeface="+mn-ea"/>
                        </a:rPr>
                        <m:t>                         ≥</m:t>
                      </m:r>
                      <m:r>
                        <a:rPr lang="en-US" altLang="zh-CN" sz="2400" i="1" kern="100">
                          <a:effectLst/>
                          <a:latin typeface="Cambria Math" panose="02040503050406030204" pitchFamily="18" charset="0"/>
                          <a:ea typeface="+mn-ea"/>
                          <a:cs typeface="Cambria Math" panose="02040503050406030204" pitchFamily="18" charset="0"/>
                        </a:rPr>
                        <m:t>𝛻</m:t>
                      </m:r>
                      <m:r>
                        <a:rPr lang="en-US" altLang="zh-CN" sz="2400" i="1" kern="100">
                          <a:effectLst/>
                          <a:latin typeface="Cambria Math" panose="02040503050406030204" pitchFamily="18" charset="0"/>
                          <a:ea typeface="+mn-ea"/>
                        </a:rPr>
                        <m:t>𝑓</m:t>
                      </m:r>
                      <m:r>
                        <a:rPr lang="en-US" altLang="zh-CN" sz="2400" i="1" kern="10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en-US" altLang="zh-CN" sz="2400" i="1" kern="100">
                              <a:effectLst/>
                              <a:latin typeface="Cambria Math" panose="02040503050406030204" pitchFamily="18" charset="0"/>
                              <a:ea typeface="+mn-ea"/>
                            </a:rPr>
                            <m:t>𝑇</m:t>
                          </m:r>
                        </m:sup>
                      </m:sSup>
                      <m:d>
                        <m:dPr>
                          <m:ctrlPr>
                            <a:rPr lang="en-US" altLang="zh-CN" sz="2400" i="1" kern="100">
                              <a:effectLst/>
                              <a:latin typeface="Cambria Math" panose="02040503050406030204" pitchFamily="18" charset="0"/>
                              <a:ea typeface="+mn-ea"/>
                            </a:rPr>
                          </m:ctrlPr>
                        </m:dPr>
                        <m:e>
                          <m:r>
                            <a:rPr lang="en-US" altLang="zh-CN" sz="2400" i="1" kern="100">
                              <a:effectLst/>
                              <a:latin typeface="Cambria Math" panose="02040503050406030204" pitchFamily="18" charset="0"/>
                              <a:ea typeface="+mn-ea"/>
                            </a:rPr>
                            <m:t>𝑥</m:t>
                          </m:r>
                          <m:r>
                            <a:rPr lang="en-US" altLang="zh-CN" sz="2400" i="1" kern="10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e>
                      </m:d>
                      <m:r>
                        <a:rPr lang="en-US" altLang="zh-CN" sz="2400" b="0" i="1" kern="100" smtClean="0">
                          <a:effectLst/>
                          <a:latin typeface="Cambria Math" panose="02040503050406030204" pitchFamily="18" charset="0"/>
                          <a:ea typeface="+mn-ea"/>
                        </a:rPr>
                        <m:t>=</m:t>
                      </m:r>
                      <m:r>
                        <a:rPr lang="en-US" altLang="zh-CN" sz="2400" i="1" kern="100">
                          <a:latin typeface="Cambria Math" panose="02040503050406030204" pitchFamily="18" charset="0"/>
                        </a:rPr>
                        <m:t>(</m:t>
                      </m:r>
                      <m:r>
                        <a:rPr lang="en-US" altLang="zh-CN" sz="2400" i="1" smtClean="0">
                          <a:solidFill>
                            <a:schemeClr val="tx1"/>
                          </a:solidFill>
                          <a:latin typeface="Cambria Math" panose="02040503050406030204" pitchFamily="18" charset="0"/>
                        </a:rPr>
                        <m:t>𝐺</m:t>
                      </m:r>
                      <m:sSup>
                        <m:sSupPr>
                          <m:ctrlPr>
                            <a:rPr lang="zh-CN" altLang="zh-CN" sz="2400" i="1">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𝑥</m:t>
                          </m:r>
                        </m:e>
                        <m:sup>
                          <m:r>
                            <a:rPr lang="en-US" altLang="zh-CN" sz="2400" i="1">
                              <a:solidFill>
                                <a:schemeClr val="tx1"/>
                              </a:solidFill>
                              <a:latin typeface="Cambria Math" panose="02040503050406030204" pitchFamily="18" charset="0"/>
                            </a:rPr>
                            <m:t>∗</m:t>
                          </m:r>
                        </m:sup>
                      </m:sSup>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𝑟</m:t>
                      </m:r>
                      <m:sSup>
                        <m:sSupPr>
                          <m:ctrlPr>
                            <a:rPr lang="zh-CN" altLang="zh-CN" sz="2400" i="1" kern="100">
                              <a:latin typeface="Cambria Math" panose="02040503050406030204" pitchFamily="18" charset="0"/>
                            </a:rPr>
                          </m:ctrlPr>
                        </m:sSupPr>
                        <m:e>
                          <m:r>
                            <a:rPr lang="en-US" altLang="zh-CN" sz="2400" i="1" kern="100">
                              <a:latin typeface="Cambria Math" panose="02040503050406030204" pitchFamily="18" charset="0"/>
                            </a:rPr>
                            <m:t>)</m:t>
                          </m:r>
                        </m:e>
                        <m:sup>
                          <m:r>
                            <a:rPr lang="en-US" altLang="zh-CN" sz="2400" i="1" kern="100">
                              <a:latin typeface="Cambria Math" panose="02040503050406030204" pitchFamily="18" charset="0"/>
                            </a:rPr>
                            <m:t>𝑇</m:t>
                          </m:r>
                        </m:sup>
                      </m:sSup>
                      <m:d>
                        <m:dPr>
                          <m:ctrlPr>
                            <a:rPr lang="en-US" altLang="zh-CN" sz="2400" i="1" kern="100">
                              <a:latin typeface="Cambria Math" panose="02040503050406030204" pitchFamily="18" charset="0"/>
                            </a:rPr>
                          </m:ctrlPr>
                        </m:dPr>
                        <m:e>
                          <m:r>
                            <a:rPr lang="en-US" altLang="zh-CN" sz="2400" i="1" kern="100">
                              <a:latin typeface="Cambria Math" panose="02040503050406030204" pitchFamily="18" charset="0"/>
                            </a:rPr>
                            <m:t>𝑥</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sup>
                          </m:sSup>
                        </m:e>
                      </m:d>
                    </m:oMath>
                    <m:oMath xmlns:m="http://schemas.openxmlformats.org/officeDocument/2006/math">
                      <m:r>
                        <a:rPr lang="en-US" altLang="zh-CN" sz="2400" i="1" kern="100">
                          <a:effectLst/>
                          <a:latin typeface="Cambria Math" panose="02040503050406030204" pitchFamily="18" charset="0"/>
                          <a:ea typeface="+mn-ea"/>
                        </a:rPr>
                        <m:t>                         =</m:t>
                      </m:r>
                      <m:nary>
                        <m:naryPr>
                          <m:chr m:val="∑"/>
                          <m:ctrlPr>
                            <a:rPr lang="zh-CN" altLang="zh-CN" sz="2400" i="1" kern="100">
                              <a:effectLst/>
                              <a:latin typeface="Cambria Math" panose="02040503050406030204" pitchFamily="18" charset="0"/>
                              <a:ea typeface="+mn-ea"/>
                            </a:rPr>
                          </m:ctrlPr>
                        </m:naryPr>
                        <m:sub>
                          <m:r>
                            <a:rPr lang="en-US" altLang="zh-CN" sz="2400" i="1" kern="100">
                              <a:effectLst/>
                              <a:latin typeface="Cambria Math" panose="02040503050406030204" pitchFamily="18" charset="0"/>
                              <a:ea typeface="+mn-ea"/>
                            </a:rPr>
                            <m:t>𝑖</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1</m:t>
                          </m:r>
                        </m:sub>
                        <m:sup>
                          <m:r>
                            <a:rPr lang="en-US" altLang="zh-CN" sz="2400" i="1" kern="100">
                              <a:effectLst/>
                              <a:latin typeface="Cambria Math" panose="02040503050406030204" pitchFamily="18" charset="0"/>
                              <a:ea typeface="+mn-ea"/>
                            </a:rPr>
                            <m:t>𝑚</m:t>
                          </m:r>
                        </m:sup>
                        <m:e>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𝜆</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m:t>
                              </m:r>
                            </m:sup>
                          </m:sSubSup>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𝑇</m:t>
                              </m:r>
                            </m:sup>
                          </m:sSubSup>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𝑥</m:t>
                          </m:r>
                          <m:r>
                            <a:rPr lang="en-US" altLang="zh-CN" sz="2400" i="1" kern="10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r>
                            <a:rPr lang="en-US" altLang="zh-CN" sz="2400" i="1" kern="100">
                              <a:effectLst/>
                              <a:latin typeface="Cambria Math" panose="02040503050406030204" pitchFamily="18" charset="0"/>
                              <a:ea typeface="+mn-ea"/>
                            </a:rPr>
                            <m:t>)</m:t>
                          </m:r>
                        </m:e>
                      </m:nary>
                      <m:r>
                        <a:rPr lang="en-US" altLang="zh-CN" sz="2400" i="1" kern="100">
                          <a:effectLst/>
                          <a:latin typeface="Cambria Math" panose="02040503050406030204" pitchFamily="18" charset="0"/>
                          <a:ea typeface="+mn-ea"/>
                        </a:rPr>
                        <m:t>+</m:t>
                      </m:r>
                      <m:nary>
                        <m:naryPr>
                          <m:chr m:val="∑"/>
                          <m:ctrlPr>
                            <a:rPr lang="zh-CN" altLang="zh-CN" sz="2400" i="1" kern="100">
                              <a:effectLst/>
                              <a:latin typeface="Cambria Math" panose="02040503050406030204" pitchFamily="18" charset="0"/>
                              <a:ea typeface="+mn-ea"/>
                            </a:rPr>
                          </m:ctrlPr>
                        </m:naryPr>
                        <m:sub>
                          <m:r>
                            <a:rPr lang="en-US" altLang="zh-CN" sz="2400" i="1" kern="100">
                              <a:effectLst/>
                              <a:latin typeface="Cambria Math" panose="02040503050406030204" pitchFamily="18" charset="0"/>
                              <a:ea typeface="+mn-ea"/>
                            </a:rPr>
                            <m:t>𝑖</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𝑚</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1</m:t>
                          </m:r>
                        </m:sub>
                        <m:sup>
                          <m:r>
                            <a:rPr lang="en-US" altLang="zh-CN" sz="2400" i="1" kern="100">
                              <a:effectLst/>
                              <a:latin typeface="Cambria Math" panose="02040503050406030204" pitchFamily="18" charset="0"/>
                              <a:ea typeface="+mn-ea"/>
                            </a:rPr>
                            <m:t>𝑚</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𝑙</m:t>
                          </m:r>
                        </m:sup>
                        <m:e>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𝜆</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m:t>
                              </m:r>
                            </m:sup>
                          </m:sSubSup>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𝑇</m:t>
                              </m:r>
                            </m:sup>
                          </m:sSubSup>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𝑥</m:t>
                          </m:r>
                          <m:r>
                            <a:rPr lang="en-US" altLang="zh-CN" sz="2400" i="1" kern="10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r>
                            <a:rPr lang="en-US" altLang="zh-CN" sz="2400" i="1" kern="100">
                              <a:effectLst/>
                              <a:latin typeface="Cambria Math" panose="02040503050406030204" pitchFamily="18" charset="0"/>
                              <a:ea typeface="+mn-ea"/>
                            </a:rPr>
                            <m:t>)</m:t>
                          </m:r>
                        </m:e>
                      </m:nary>
                    </m:oMath>
                    <m:oMath xmlns:m="http://schemas.openxmlformats.org/officeDocument/2006/math">
                      <m:r>
                        <a:rPr lang="en-US" altLang="zh-CN" sz="2400" i="1" kern="100">
                          <a:effectLst/>
                          <a:latin typeface="Cambria Math" panose="02040503050406030204" pitchFamily="18" charset="0"/>
                          <a:ea typeface="+mn-ea"/>
                        </a:rPr>
                        <m:t>                       =</m:t>
                      </m:r>
                      <m:nary>
                        <m:naryPr>
                          <m:chr m:val="∑"/>
                          <m:ctrlPr>
                            <a:rPr lang="zh-CN" altLang="zh-CN" sz="2400" i="1" kern="100">
                              <a:effectLst/>
                              <a:latin typeface="Cambria Math" panose="02040503050406030204" pitchFamily="18" charset="0"/>
                              <a:ea typeface="+mn-ea"/>
                            </a:rPr>
                          </m:ctrlPr>
                        </m:naryPr>
                        <m:sub>
                          <m:r>
                            <a:rPr lang="en-US" altLang="zh-CN" sz="2400" i="1" kern="100">
                              <a:effectLst/>
                              <a:latin typeface="Cambria Math" panose="02040503050406030204" pitchFamily="18" charset="0"/>
                              <a:ea typeface="+mn-ea"/>
                            </a:rPr>
                            <m:t>𝑖</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1</m:t>
                          </m:r>
                        </m:sub>
                        <m:sup>
                          <m:r>
                            <a:rPr lang="en-US" altLang="zh-CN" sz="2400" i="1" kern="100">
                              <a:effectLst/>
                              <a:latin typeface="Cambria Math" panose="02040503050406030204" pitchFamily="18" charset="0"/>
                              <a:ea typeface="+mn-ea"/>
                            </a:rPr>
                            <m:t>𝑚</m:t>
                          </m:r>
                        </m:sup>
                        <m:e>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𝜆</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m:t>
                              </m:r>
                            </m:sup>
                          </m:sSubSup>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𝑇</m:t>
                              </m:r>
                            </m:sup>
                          </m:sSubSup>
                          <m:r>
                            <a:rPr lang="en-US" altLang="zh-CN" sz="2400" i="1" kern="100">
                              <a:effectLst/>
                              <a:latin typeface="Cambria Math" panose="02040503050406030204" pitchFamily="18" charset="0"/>
                              <a:ea typeface="+mn-ea"/>
                            </a:rPr>
                            <m:t>𝑥</m:t>
                          </m:r>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𝑏</m:t>
                              </m:r>
                            </m:e>
                            <m:sub>
                              <m:r>
                                <a:rPr lang="en-US" altLang="zh-CN" sz="2400" i="1" kern="100">
                                  <a:effectLst/>
                                  <a:latin typeface="Cambria Math" panose="02040503050406030204" pitchFamily="18" charset="0"/>
                                  <a:ea typeface="+mn-ea"/>
                                </a:rPr>
                                <m:t>𝑖</m:t>
                              </m:r>
                            </m:sub>
                          </m:sSub>
                          <m:r>
                            <a:rPr lang="en-US" altLang="zh-CN" sz="2400" i="1" kern="100">
                              <a:effectLst/>
                              <a:latin typeface="Cambria Math" panose="02040503050406030204" pitchFamily="18" charset="0"/>
                              <a:ea typeface="+mn-ea"/>
                            </a:rPr>
                            <m:t>)</m:t>
                          </m:r>
                        </m:e>
                      </m:nary>
                      <m:r>
                        <a:rPr lang="en-US" altLang="zh-CN" sz="2400" i="1" kern="100">
                          <a:effectLst/>
                          <a:latin typeface="Cambria Math" panose="02040503050406030204" pitchFamily="18" charset="0"/>
                          <a:ea typeface="+mn-ea"/>
                        </a:rPr>
                        <m:t>+</m:t>
                      </m:r>
                      <m:nary>
                        <m:naryPr>
                          <m:chr m:val="∑"/>
                          <m:ctrlPr>
                            <a:rPr lang="zh-CN" altLang="zh-CN" sz="2400" i="1" kern="100">
                              <a:effectLst/>
                              <a:latin typeface="Cambria Math" panose="02040503050406030204" pitchFamily="18" charset="0"/>
                              <a:ea typeface="+mn-ea"/>
                            </a:rPr>
                          </m:ctrlPr>
                        </m:naryPr>
                        <m:sub>
                          <m:r>
                            <a:rPr lang="en-US" altLang="zh-CN" sz="2400" i="1" kern="100">
                              <a:effectLst/>
                              <a:latin typeface="Cambria Math" panose="02040503050406030204" pitchFamily="18" charset="0"/>
                              <a:ea typeface="+mn-ea"/>
                            </a:rPr>
                            <m:t>𝑖</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𝑚</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1</m:t>
                          </m:r>
                        </m:sub>
                        <m:sup>
                          <m:r>
                            <a:rPr lang="en-US" altLang="zh-CN" sz="2400" i="1" kern="100">
                              <a:effectLst/>
                              <a:latin typeface="Cambria Math" panose="02040503050406030204" pitchFamily="18" charset="0"/>
                              <a:ea typeface="+mn-ea"/>
                            </a:rPr>
                            <m:t>𝑚</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𝑙</m:t>
                          </m:r>
                        </m:sup>
                        <m:e>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𝜆</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m:t>
                              </m:r>
                            </m:sup>
                          </m:sSubSup>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𝑇</m:t>
                              </m:r>
                            </m:sup>
                          </m:sSubSup>
                          <m:r>
                            <a:rPr lang="en-US" altLang="zh-CN" sz="2400" i="1" kern="100">
                              <a:effectLst/>
                              <a:latin typeface="Cambria Math" panose="02040503050406030204" pitchFamily="18" charset="0"/>
                              <a:ea typeface="+mn-ea"/>
                            </a:rPr>
                            <m:t>𝑥</m:t>
                          </m:r>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𝑏</m:t>
                              </m:r>
                            </m:e>
                            <m:sub>
                              <m:r>
                                <a:rPr lang="en-US" altLang="zh-CN" sz="2400" i="1" kern="100">
                                  <a:effectLst/>
                                  <a:latin typeface="Cambria Math" panose="02040503050406030204" pitchFamily="18" charset="0"/>
                                  <a:ea typeface="+mn-ea"/>
                                </a:rPr>
                                <m:t>𝑖</m:t>
                              </m:r>
                            </m:sub>
                          </m:sSub>
                          <m:r>
                            <a:rPr lang="en-US" altLang="zh-CN" sz="2400" i="1" kern="100">
                              <a:effectLst/>
                              <a:latin typeface="Cambria Math" panose="02040503050406030204" pitchFamily="18" charset="0"/>
                              <a:ea typeface="+mn-ea"/>
                            </a:rPr>
                            <m:t>)</m:t>
                          </m:r>
                        </m:e>
                      </m:nary>
                      <m:r>
                        <a:rPr lang="en-US" altLang="zh-CN" sz="2400" i="1" kern="100">
                          <a:effectLst/>
                          <a:latin typeface="Cambria Math" panose="02040503050406030204" pitchFamily="18" charset="0"/>
                          <a:ea typeface="+mn-ea"/>
                        </a:rPr>
                        <m:t>−</m:t>
                      </m:r>
                      <m:nary>
                        <m:naryPr>
                          <m:chr m:val="∑"/>
                          <m:ctrlPr>
                            <a:rPr lang="zh-CN" altLang="zh-CN" sz="2400" i="1" kern="100">
                              <a:effectLst/>
                              <a:latin typeface="Cambria Math" panose="02040503050406030204" pitchFamily="18" charset="0"/>
                              <a:ea typeface="+mn-ea"/>
                            </a:rPr>
                          </m:ctrlPr>
                        </m:naryPr>
                        <m:sub>
                          <m:r>
                            <a:rPr lang="en-US" altLang="zh-CN" sz="2400" i="1" kern="100">
                              <a:effectLst/>
                              <a:latin typeface="Cambria Math" panose="02040503050406030204" pitchFamily="18" charset="0"/>
                              <a:ea typeface="+mn-ea"/>
                            </a:rPr>
                            <m:t>𝑖</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𝑚</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1</m:t>
                          </m:r>
                        </m:sub>
                        <m:sup>
                          <m:r>
                            <a:rPr lang="en-US" altLang="zh-CN" sz="2400" i="1" kern="100">
                              <a:effectLst/>
                              <a:latin typeface="Cambria Math" panose="02040503050406030204" pitchFamily="18" charset="0"/>
                              <a:ea typeface="+mn-ea"/>
                            </a:rPr>
                            <m:t>𝑚</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𝑙</m:t>
                          </m:r>
                        </m:sup>
                        <m:e>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𝜆</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m:t>
                              </m:r>
                            </m:sup>
                          </m:sSubSup>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𝑇</m:t>
                              </m:r>
                            </m:sup>
                          </m:sSub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𝑏</m:t>
                              </m:r>
                            </m:e>
                            <m:sub>
                              <m:r>
                                <a:rPr lang="en-US" altLang="zh-CN" sz="2400" i="1" kern="100">
                                  <a:effectLst/>
                                  <a:latin typeface="Cambria Math" panose="02040503050406030204" pitchFamily="18" charset="0"/>
                                  <a:ea typeface="+mn-ea"/>
                                </a:rPr>
                                <m:t>𝑖</m:t>
                              </m:r>
                            </m:sub>
                          </m:sSub>
                          <m:r>
                            <a:rPr lang="en-US" altLang="zh-CN" sz="2400" i="1" kern="100">
                              <a:effectLst/>
                              <a:latin typeface="Cambria Math" panose="02040503050406030204" pitchFamily="18" charset="0"/>
                              <a:ea typeface="+mn-ea"/>
                            </a:rPr>
                            <m:t>)</m:t>
                          </m:r>
                        </m:e>
                      </m:nary>
                    </m:oMath>
                    <m:oMath xmlns:m="http://schemas.openxmlformats.org/officeDocument/2006/math">
                      <m:r>
                        <a:rPr lang="en-US" altLang="zh-CN" sz="2400" i="1" kern="100">
                          <a:effectLst/>
                          <a:latin typeface="Cambria Math" panose="02040503050406030204" pitchFamily="18" charset="0"/>
                          <a:ea typeface="+mn-ea"/>
                        </a:rPr>
                        <m:t>                         =</m:t>
                      </m:r>
                      <m:nary>
                        <m:naryPr>
                          <m:chr m:val="∑"/>
                          <m:ctrlPr>
                            <a:rPr lang="zh-CN" altLang="zh-CN" sz="2400" i="1" kern="100">
                              <a:effectLst/>
                              <a:latin typeface="Cambria Math" panose="02040503050406030204" pitchFamily="18" charset="0"/>
                              <a:ea typeface="+mn-ea"/>
                            </a:rPr>
                          </m:ctrlPr>
                        </m:naryPr>
                        <m:sub>
                          <m:r>
                            <a:rPr lang="en-US" altLang="zh-CN" sz="2400" i="1" kern="100">
                              <a:effectLst/>
                              <a:latin typeface="Cambria Math" panose="02040503050406030204" pitchFamily="18" charset="0"/>
                              <a:ea typeface="+mn-ea"/>
                            </a:rPr>
                            <m:t>𝑖</m:t>
                          </m:r>
                          <m:r>
                            <a:rPr lang="en-US" altLang="zh-CN" sz="2400" i="1" kern="100">
                              <a:effectLst/>
                              <a:latin typeface="Cambria Math" panose="02040503050406030204" pitchFamily="18" charset="0"/>
                              <a:ea typeface="+mn-ea"/>
                            </a:rPr>
                            <m:t>=</m:t>
                          </m:r>
                          <m:r>
                            <a:rPr lang="en-US" altLang="zh-CN" sz="2400" i="1" kern="100" smtClean="0">
                              <a:effectLst/>
                              <a:latin typeface="Cambria Math" panose="02040503050406030204" pitchFamily="18" charset="0"/>
                              <a:ea typeface="+mn-ea"/>
                            </a:rPr>
                            <m:t>𝑚</m:t>
                          </m:r>
                          <m:r>
                            <a:rPr lang="en-US" altLang="zh-CN" sz="2400" i="1" kern="100" smtClean="0">
                              <a:effectLst/>
                              <a:latin typeface="Cambria Math" panose="02040503050406030204" pitchFamily="18" charset="0"/>
                              <a:ea typeface="+mn-ea"/>
                            </a:rPr>
                            <m:t>+</m:t>
                          </m:r>
                          <m:r>
                            <a:rPr lang="en-US" altLang="zh-CN" sz="2400" i="1" kern="100" smtClean="0">
                              <a:effectLst/>
                              <a:latin typeface="Cambria Math" panose="02040503050406030204" pitchFamily="18" charset="0"/>
                              <a:ea typeface="+mn-ea"/>
                            </a:rPr>
                            <m:t>1</m:t>
                          </m:r>
                        </m:sub>
                        <m:sup>
                          <m:r>
                            <a:rPr lang="en-US" altLang="zh-CN" sz="2400" i="1" kern="100">
                              <a:effectLst/>
                              <a:latin typeface="Cambria Math" panose="02040503050406030204" pitchFamily="18" charset="0"/>
                              <a:ea typeface="+mn-ea"/>
                            </a:rPr>
                            <m:t>𝑚</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𝑙</m:t>
                          </m:r>
                        </m:sup>
                        <m:e>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𝜆</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m:t>
                              </m:r>
                            </m:sup>
                          </m:sSubSup>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𝑖</m:t>
                              </m:r>
                            </m:sub>
                            <m:sup>
                              <m:r>
                                <a:rPr lang="en-US" altLang="zh-CN" sz="2400" i="1" kern="100">
                                  <a:effectLst/>
                                  <a:latin typeface="Cambria Math" panose="02040503050406030204" pitchFamily="18" charset="0"/>
                                  <a:ea typeface="+mn-ea"/>
                                </a:rPr>
                                <m:t>𝑇</m:t>
                              </m:r>
                            </m:sup>
                          </m:sSubSup>
                          <m:r>
                            <a:rPr lang="en-US" altLang="zh-CN" sz="2400" i="1" kern="100">
                              <a:effectLst/>
                              <a:latin typeface="Cambria Math" panose="02040503050406030204" pitchFamily="18" charset="0"/>
                              <a:ea typeface="+mn-ea"/>
                            </a:rPr>
                            <m:t>𝑥</m:t>
                          </m:r>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𝑏</m:t>
                              </m:r>
                            </m:e>
                            <m:sub>
                              <m:r>
                                <a:rPr lang="en-US" altLang="zh-CN" sz="2400" i="1" kern="100">
                                  <a:effectLst/>
                                  <a:latin typeface="Cambria Math" panose="02040503050406030204" pitchFamily="18" charset="0"/>
                                  <a:ea typeface="+mn-ea"/>
                                </a:rPr>
                                <m:t>𝑖</m:t>
                              </m:r>
                            </m:sub>
                          </m:sSub>
                          <m:r>
                            <a:rPr lang="en-US" altLang="zh-CN" sz="2400" i="1" kern="100">
                              <a:effectLst/>
                              <a:latin typeface="Cambria Math" panose="02040503050406030204" pitchFamily="18" charset="0"/>
                              <a:ea typeface="+mn-ea"/>
                            </a:rPr>
                            <m:t>)</m:t>
                          </m:r>
                        </m:e>
                      </m:nary>
                    </m:oMath>
                    <m:oMath xmlns:m="http://schemas.openxmlformats.org/officeDocument/2006/math">
                      <m:r>
                        <a:rPr lang="en-US" altLang="zh-CN" sz="2400" i="1" kern="100">
                          <a:effectLst/>
                          <a:latin typeface="Cambria Math" panose="02040503050406030204" pitchFamily="18" charset="0"/>
                          <a:ea typeface="+mn-ea"/>
                        </a:rPr>
                        <m:t>                         ≥</m:t>
                      </m:r>
                      <m:r>
                        <a:rPr lang="en-US" altLang="zh-CN" sz="2400" i="1" kern="100">
                          <a:effectLst/>
                          <a:latin typeface="Cambria Math" panose="02040503050406030204" pitchFamily="18" charset="0"/>
                          <a:ea typeface="+mn-ea"/>
                        </a:rPr>
                        <m:t>0</m:t>
                      </m:r>
                    </m:oMath>
                  </m:oMathPara>
                </a14:m>
                <a:endParaRPr lang="zh-CN" altLang="zh-CN" sz="2400" kern="100" dirty="0">
                  <a:effectLst/>
                  <a:latin typeface="+mn-ea"/>
                  <a:ea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422134" y="244121"/>
                <a:ext cx="11521280" cy="5624553"/>
              </a:xfrm>
              <a:prstGeom prst="rect">
                <a:avLst/>
              </a:prstGeom>
              <a:blipFill rotWithShape="1">
                <a:blip r:embed="rId1"/>
                <a:stretch>
                  <a:fillRect l="-4" t="-5" r="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0" y="3044471"/>
                <a:ext cx="2927648" cy="384529"/>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defPPr>
                  <a:defRPr lang="zh-CN"/>
                </a:defPPr>
                <a:lvl1pPr>
                  <a:defRPr sz="1800" i="1">
                    <a:ln w="0"/>
                    <a:effectLst>
                      <a:outerShdw blurRad="38100" dist="19050" dir="2700000" algn="tl" rotWithShape="0">
                        <a:schemeClr val="dk1">
                          <a:alpha val="40000"/>
                        </a:schemeClr>
                      </a:outerShdw>
                    </a:effectLst>
                    <a:latin typeface="Cambria Math" panose="02040503050406030204" pitchFamily="18" charset="0"/>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14:m>
                  <m:oMathPara xmlns:m="http://schemas.openxmlformats.org/officeDocument/2006/math">
                    <m:oMathParaPr>
                      <m:jc m:val="centerGroup"/>
                    </m:oMathParaPr>
                    <m:oMath xmlns:m="http://schemas.openxmlformats.org/officeDocument/2006/math">
                      <m:sSubSup>
                        <m:sSubSupPr>
                          <m:ctrlPr>
                            <a:rPr lang="zh-CN" altLang="zh-CN" i="1" smtClean="0">
                              <a:solidFill>
                                <a:schemeClr val="tx1"/>
                              </a:solidFill>
                              <a:latin typeface="Cambria Math" panose="02040503050406030204" pitchFamily="18" charset="0"/>
                            </a:rPr>
                          </m:ctrlPr>
                        </m:sSubSupPr>
                        <m:e>
                          <m:r>
                            <a:rPr lang="en-US" altLang="zh-CN">
                              <a:solidFill>
                                <a:schemeClr val="tx1"/>
                              </a:solidFill>
                              <a:latin typeface="Cambria Math" panose="02040503050406030204" pitchFamily="18" charset="0"/>
                            </a:rPr>
                            <m:t>𝐴</m:t>
                          </m:r>
                        </m:e>
                        <m:sub>
                          <m:r>
                            <a:rPr lang="en-US" altLang="zh-CN">
                              <a:solidFill>
                                <a:schemeClr val="tx1"/>
                              </a:solidFill>
                              <a:latin typeface="Cambria Math" panose="02040503050406030204" pitchFamily="18" charset="0"/>
                            </a:rPr>
                            <m:t>𝑖</m:t>
                          </m:r>
                        </m:sub>
                        <m:sup>
                          <m:r>
                            <a:rPr lang="en-US" altLang="zh-CN">
                              <a:solidFill>
                                <a:schemeClr val="tx1"/>
                              </a:solidFill>
                              <a:latin typeface="Cambria Math" panose="02040503050406030204" pitchFamily="18" charset="0"/>
                            </a:rPr>
                            <m:t>𝑇</m:t>
                          </m:r>
                        </m:sup>
                      </m:sSubSup>
                      <m:sSup>
                        <m:sSupPr>
                          <m:ctrlPr>
                            <a:rPr lang="zh-CN" altLang="zh-CN" i="1">
                              <a:solidFill>
                                <a:schemeClr val="tx1"/>
                              </a:solidFill>
                              <a:latin typeface="Cambria Math" panose="02040503050406030204" pitchFamily="18" charset="0"/>
                            </a:rPr>
                          </m:ctrlPr>
                        </m:sSupPr>
                        <m:e>
                          <m:r>
                            <a:rPr lang="en-US" altLang="zh-CN">
                              <a:solidFill>
                                <a:schemeClr val="tx1"/>
                              </a:solidFill>
                              <a:latin typeface="Cambria Math" panose="02040503050406030204" pitchFamily="18" charset="0"/>
                            </a:rPr>
                            <m:t>𝑥</m:t>
                          </m:r>
                        </m:e>
                        <m:sup>
                          <m:r>
                            <a:rPr lang="en-US" altLang="zh-CN">
                              <a:solidFill>
                                <a:schemeClr val="tx1"/>
                              </a:solidFill>
                              <a:latin typeface="Cambria Math" panose="02040503050406030204" pitchFamily="18" charset="0"/>
                            </a:rPr>
                            <m:t>∗</m:t>
                          </m:r>
                        </m:sup>
                      </m:sSup>
                      <m:r>
                        <a:rPr lang="zh-CN" altLang="en-US">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a:solidFill>
                                <a:schemeClr val="tx1"/>
                              </a:solidFill>
                              <a:latin typeface="Cambria Math" panose="02040503050406030204" pitchFamily="18" charset="0"/>
                            </a:rPr>
                            <m:t>𝑏</m:t>
                          </m:r>
                        </m:e>
                        <m:sub>
                          <m:r>
                            <a:rPr lang="en-US" altLang="zh-CN">
                              <a:solidFill>
                                <a:schemeClr val="tx1"/>
                              </a:solidFill>
                              <a:latin typeface="Cambria Math" panose="02040503050406030204" pitchFamily="18" charset="0"/>
                            </a:rPr>
                            <m:t>𝑖</m:t>
                          </m:r>
                        </m:sub>
                      </m:sSub>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0</m:t>
                      </m:r>
                      <m:r>
                        <a:rPr lang="en-US" altLang="zh-CN">
                          <a:solidFill>
                            <a:schemeClr val="tx1"/>
                          </a:solidFill>
                          <a:latin typeface="Cambria Math" panose="02040503050406030204" pitchFamily="18" charset="0"/>
                        </a:rPr>
                        <m:t>, </m:t>
                      </m:r>
                      <m:r>
                        <a:rPr lang="en-US" altLang="zh-CN">
                          <a:solidFill>
                            <a:schemeClr val="tx1"/>
                          </a:solidFill>
                          <a:latin typeface="Cambria Math" panose="02040503050406030204" pitchFamily="18" charset="0"/>
                        </a:rPr>
                        <m:t>1</m:t>
                      </m:r>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𝑖</m:t>
                      </m:r>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𝑚</m:t>
                      </m:r>
                    </m:oMath>
                  </m:oMathPara>
                </a14:m>
                <a:br>
                  <a:rPr lang="zh-CN" altLang="zh-CN" dirty="0">
                    <a:solidFill>
                      <a:schemeClr val="tx1"/>
                    </a:solidFill>
                  </a:rPr>
                </a:br>
                <a:endParaRPr lang="zh-CN" altLang="en-US" dirty="0">
                  <a:solidFill>
                    <a:schemeClr val="tx1"/>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0" y="3044471"/>
                <a:ext cx="2927648" cy="384529"/>
              </a:xfrm>
              <a:prstGeom prst="rect">
                <a:avLst/>
              </a:prstGeom>
              <a:blipFill rotWithShape="1">
                <a:blip r:embed="rId2"/>
                <a:stretch>
                  <a:fillRect l="-1800" t="-8660" r="-1790" b="-70679"/>
                </a:stretch>
              </a:blipFill>
            </p:spPr>
            <p:style>
              <a:lnRef idx="3">
                <a:schemeClr val="lt1"/>
              </a:lnRef>
              <a:fillRef idx="1">
                <a:schemeClr val="accent5"/>
              </a:fillRef>
              <a:effectRef idx="1">
                <a:schemeClr val="accent5"/>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7464152" y="4892186"/>
                <a:ext cx="3471082" cy="661463"/>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zh-CN" altLang="zh-CN" sz="18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SupPr>
                        <m:e>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𝜆</m:t>
                          </m:r>
                        </m:e>
                        <m:sub>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𝑖</m:t>
                          </m:r>
                        </m:sub>
                        <m:sup>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sup>
                      </m:sSubSup>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sSubSup>
                        <m:sSubSupPr>
                          <m:ctrlPr>
                            <a:rPr lang="zh-CN"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SupPr>
                        <m:e>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𝐴</m:t>
                          </m:r>
                        </m:e>
                        <m:sub>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𝑖</m:t>
                          </m:r>
                        </m:sub>
                        <m:sup>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𝑇</m:t>
                          </m:r>
                        </m:sup>
                      </m:sSubSup>
                      <m:sSup>
                        <m:sSupPr>
                          <m:ctrlPr>
                            <a:rPr lang="zh-CN"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pPr>
                        <m:e>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𝑥</m:t>
                          </m:r>
                        </m:e>
                        <m:sup>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sup>
                      </m:sSup>
                      <m:r>
                        <a:rPr lang="zh-CN" altLang="en-US"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sSub>
                        <m:sSubPr>
                          <m:ctrlPr>
                            <a:rPr lang="zh-CN"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𝑏</m:t>
                          </m:r>
                        </m:e>
                        <m:sub>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𝑖</m:t>
                          </m:r>
                        </m:sub>
                      </m:sSub>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0</m:t>
                      </m:r>
                      <m:r>
                        <a:rPr lang="en-US" altLang="zh-CN" sz="18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 </m:t>
                      </m:r>
                      <m:r>
                        <a:rPr lang="en-US" altLang="zh-CN" sz="1800"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 </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𝑚</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1</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𝑖</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𝑚</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m:t>
                      </m:r>
                      <m:r>
                        <a:rPr lang="en-US" altLang="zh-CN" sz="1800" i="1">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𝑙</m:t>
                      </m:r>
                    </m:oMath>
                  </m:oMathPara>
                </a14:m>
                <a:endParaRPr lang="zh-CN" altLang="zh-CN" sz="1800" dirty="0"/>
              </a:p>
            </p:txBody>
          </p:sp>
        </mc:Choice>
        <mc:Fallback>
          <p:sp>
            <p:nvSpPr>
              <p:cNvPr id="13" name="文本框 12"/>
              <p:cNvSpPr txBox="1">
                <a:spLocks noRot="1" noChangeAspect="1" noMove="1" noResize="1" noEditPoints="1" noAdjustHandles="1" noChangeArrowheads="1" noChangeShapeType="1" noTextEdit="1"/>
              </p:cNvSpPr>
              <p:nvPr/>
            </p:nvSpPr>
            <p:spPr>
              <a:xfrm>
                <a:off x="7464152" y="4892186"/>
                <a:ext cx="3471082" cy="661463"/>
              </a:xfrm>
              <a:prstGeom prst="rect">
                <a:avLst/>
              </a:prstGeom>
              <a:blipFill rotWithShape="1">
                <a:blip r:embed="rId3"/>
                <a:stretch>
                  <a:fillRect l="-1529" t="-5014" r="-1503" b="-10953"/>
                </a:stretch>
              </a:blipFill>
            </p:spPr>
            <p:style>
              <a:lnRef idx="3">
                <a:schemeClr val="lt1"/>
              </a:lnRef>
              <a:fillRef idx="1">
                <a:schemeClr val="accent5"/>
              </a:fillRef>
              <a:effectRef idx="1">
                <a:schemeClr val="accent5"/>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8976320" y="1527359"/>
                <a:ext cx="2592288" cy="876907"/>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defPPr>
                  <a:defRPr lang="zh-CN"/>
                </a:defPPr>
                <a:lvl1pPr>
                  <a:defRPr sz="1800" i="1">
                    <a:ln w="0"/>
                    <a:effectLst>
                      <a:outerShdw blurRad="38100" dist="19050" dir="2700000" algn="tl" rotWithShape="0">
                        <a:schemeClr val="dk1">
                          <a:alpha val="40000"/>
                        </a:schemeClr>
                      </a:outerShdw>
                    </a:effectLst>
                    <a:latin typeface="Cambria Math" panose="02040503050406030204" pitchFamily="18" charset="0"/>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14:m>
                  <m:oMathPara xmlns:m="http://schemas.openxmlformats.org/officeDocument/2006/math">
                    <m:oMathParaPr>
                      <m:jc m:val="centerGroup"/>
                    </m:oMathParaPr>
                    <m:oMath xmlns:m="http://schemas.openxmlformats.org/officeDocument/2006/math">
                      <m:r>
                        <a:rPr lang="en-US" altLang="zh-CN" smtClean="0">
                          <a:solidFill>
                            <a:schemeClr val="tx1"/>
                          </a:solidFill>
                          <a:latin typeface="Cambria Math" panose="02040503050406030204" pitchFamily="18" charset="0"/>
                        </a:rPr>
                        <m:t>𝐺</m:t>
                      </m:r>
                      <m:sSup>
                        <m:sSupPr>
                          <m:ctrlPr>
                            <a:rPr lang="zh-CN" altLang="zh-CN" i="1">
                              <a:solidFill>
                                <a:schemeClr val="tx1"/>
                              </a:solidFill>
                              <a:latin typeface="Cambria Math" panose="02040503050406030204" pitchFamily="18" charset="0"/>
                            </a:rPr>
                          </m:ctrlPr>
                        </m:sSupPr>
                        <m:e>
                          <m:r>
                            <a:rPr lang="en-US" altLang="zh-CN">
                              <a:solidFill>
                                <a:schemeClr val="tx1"/>
                              </a:solidFill>
                              <a:latin typeface="Cambria Math" panose="02040503050406030204" pitchFamily="18" charset="0"/>
                            </a:rPr>
                            <m:t>𝑥</m:t>
                          </m:r>
                        </m:e>
                        <m:sup>
                          <m:r>
                            <a:rPr lang="en-US" altLang="zh-CN">
                              <a:solidFill>
                                <a:schemeClr val="tx1"/>
                              </a:solidFill>
                              <a:latin typeface="Cambria Math" panose="02040503050406030204" pitchFamily="18" charset="0"/>
                            </a:rPr>
                            <m:t>∗</m:t>
                          </m:r>
                        </m:sup>
                      </m:sSup>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𝑟</m:t>
                      </m:r>
                      <m:r>
                        <a:rPr lang="zh-CN" altLang="en-US">
                          <a:solidFill>
                            <a:schemeClr val="tx1"/>
                          </a:solidFill>
                          <a:latin typeface="Cambria Math" panose="02040503050406030204" pitchFamily="18" charset="0"/>
                        </a:rPr>
                        <m:t>−</m:t>
                      </m:r>
                      <m:nary>
                        <m:naryPr>
                          <m:chr m:val="∑"/>
                          <m:ctrlPr>
                            <a:rPr lang="zh-CN" altLang="zh-CN" i="1">
                              <a:solidFill>
                                <a:schemeClr val="tx1"/>
                              </a:solidFill>
                              <a:latin typeface="Cambria Math" panose="02040503050406030204" pitchFamily="18" charset="0"/>
                            </a:rPr>
                          </m:ctrlPr>
                        </m:naryPr>
                        <m:sub>
                          <m:r>
                            <a:rPr lang="en-US" altLang="zh-CN">
                              <a:solidFill>
                                <a:schemeClr val="tx1"/>
                              </a:solidFill>
                              <a:latin typeface="Cambria Math" panose="02040503050406030204" pitchFamily="18" charset="0"/>
                            </a:rPr>
                            <m:t>𝑖</m:t>
                          </m:r>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1</m:t>
                          </m:r>
                        </m:sub>
                        <m:sup>
                          <m:r>
                            <a:rPr lang="en-US" altLang="zh-CN">
                              <a:solidFill>
                                <a:schemeClr val="tx1"/>
                              </a:solidFill>
                              <a:latin typeface="Cambria Math" panose="02040503050406030204" pitchFamily="18" charset="0"/>
                            </a:rPr>
                            <m:t>𝑚</m:t>
                          </m:r>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𝑙</m:t>
                          </m:r>
                        </m:sup>
                        <m:e>
                          <m:sSubSup>
                            <m:sSubSupPr>
                              <m:ctrlPr>
                                <a:rPr lang="zh-CN" altLang="zh-CN" i="1">
                                  <a:solidFill>
                                    <a:schemeClr val="tx1"/>
                                  </a:solidFill>
                                  <a:latin typeface="Cambria Math" panose="02040503050406030204" pitchFamily="18" charset="0"/>
                                </a:rPr>
                              </m:ctrlPr>
                            </m:sSubSupPr>
                            <m:e>
                              <m:r>
                                <a:rPr lang="en-US" altLang="zh-CN">
                                  <a:solidFill>
                                    <a:schemeClr val="tx1"/>
                                  </a:solidFill>
                                  <a:latin typeface="Cambria Math" panose="02040503050406030204" pitchFamily="18" charset="0"/>
                                </a:rPr>
                                <m:t>𝜆</m:t>
                              </m:r>
                            </m:e>
                            <m:sub>
                              <m:r>
                                <a:rPr lang="en-US" altLang="zh-CN">
                                  <a:solidFill>
                                    <a:schemeClr val="tx1"/>
                                  </a:solidFill>
                                  <a:latin typeface="Cambria Math" panose="02040503050406030204" pitchFamily="18" charset="0"/>
                                </a:rPr>
                                <m:t>𝑖</m:t>
                              </m:r>
                            </m:sub>
                            <m:sup>
                              <m:r>
                                <a:rPr lang="en-US" altLang="zh-CN">
                                  <a:solidFill>
                                    <a:schemeClr val="tx1"/>
                                  </a:solidFill>
                                  <a:latin typeface="Cambria Math" panose="02040503050406030204" pitchFamily="18" charset="0"/>
                                </a:rPr>
                                <m:t>∗</m:t>
                              </m:r>
                            </m:sup>
                          </m:sSubSup>
                          <m:sSub>
                            <m:sSubPr>
                              <m:ctrlPr>
                                <a:rPr lang="zh-CN" altLang="zh-CN" i="1">
                                  <a:solidFill>
                                    <a:schemeClr val="tx1"/>
                                  </a:solidFill>
                                  <a:latin typeface="Cambria Math" panose="02040503050406030204" pitchFamily="18" charset="0"/>
                                </a:rPr>
                              </m:ctrlPr>
                            </m:sSubPr>
                            <m:e>
                              <m:r>
                                <a:rPr lang="en-US" altLang="zh-CN">
                                  <a:solidFill>
                                    <a:schemeClr val="tx1"/>
                                  </a:solidFill>
                                  <a:latin typeface="Cambria Math" panose="02040503050406030204" pitchFamily="18" charset="0"/>
                                </a:rPr>
                                <m:t>𝐴</m:t>
                              </m:r>
                            </m:e>
                            <m:sub>
                              <m:r>
                                <a:rPr lang="en-US" altLang="zh-CN">
                                  <a:solidFill>
                                    <a:schemeClr val="tx1"/>
                                  </a:solidFill>
                                  <a:latin typeface="Cambria Math" panose="02040503050406030204" pitchFamily="18" charset="0"/>
                                </a:rPr>
                                <m:t>𝑖</m:t>
                              </m:r>
                            </m:sub>
                          </m:sSub>
                        </m:e>
                      </m:nary>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0</m:t>
                      </m:r>
                    </m:oMath>
                  </m:oMathPara>
                </a14:m>
                <a:endParaRPr lang="zh-CN" altLang="en-US" dirty="0">
                  <a:solidFill>
                    <a:schemeClr val="tx1"/>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8976320" y="1527359"/>
                <a:ext cx="2592288" cy="876907"/>
              </a:xfrm>
              <a:prstGeom prst="rect">
                <a:avLst/>
              </a:prstGeom>
              <a:blipFill rotWithShape="1">
                <a:blip r:embed="rId4"/>
                <a:stretch>
                  <a:fillRect l="-2056" t="-3786" r="-2026" b="-8237"/>
                </a:stretch>
              </a:blipFill>
            </p:spPr>
            <p:style>
              <a:lnRef idx="3">
                <a:schemeClr val="lt1"/>
              </a:lnRef>
              <a:fillRef idx="1">
                <a:schemeClr val="accent5"/>
              </a:fillRef>
              <a:effectRef idx="1">
                <a:schemeClr val="accent5"/>
              </a:effectRef>
              <a:fontRef idx="minor">
                <a:schemeClr val="lt1"/>
              </a:fontRef>
            </p:style>
            <p:txBody>
              <a:bodyPr/>
              <a:lstStyle/>
              <a:p>
                <a:r>
                  <a:rPr lang="zh-CN" altLang="en-US">
                    <a:noFill/>
                  </a:rPr>
                  <a:t> </a:t>
                </a:r>
              </a:p>
            </p:txBody>
          </p:sp>
        </mc:Fallback>
      </mc:AlternateContent>
      <p:cxnSp>
        <p:nvCxnSpPr>
          <p:cNvPr id="5" name="直接箭头连接符 4"/>
          <p:cNvCxnSpPr/>
          <p:nvPr/>
        </p:nvCxnSpPr>
        <p:spPr>
          <a:xfrm flipV="1">
            <a:off x="9552384" y="4221088"/>
            <a:ext cx="360040" cy="57606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7" name="直接箭头连接符 6"/>
          <p:cNvCxnSpPr/>
          <p:nvPr/>
        </p:nvCxnSpPr>
        <p:spPr>
          <a:xfrm>
            <a:off x="2279576" y="3429000"/>
            <a:ext cx="1008112" cy="36004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8" name="直接箭头连接符 7"/>
          <p:cNvCxnSpPr/>
          <p:nvPr/>
        </p:nvCxnSpPr>
        <p:spPr>
          <a:xfrm flipH="1">
            <a:off x="8477221" y="2276872"/>
            <a:ext cx="427091" cy="36004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407368" y="1484784"/>
                <a:ext cx="6073911" cy="2147960"/>
              </a:xfrm>
              <a:prstGeom prst="rect">
                <a:avLst/>
              </a:prstGeom>
              <a:noFill/>
            </p:spPr>
            <p:txBody>
              <a:bodyPr wrap="square" rtlCol="0">
                <a:spAutoFit/>
              </a:bodyPr>
              <a:lstStyle/>
              <a:p>
                <a:pPr>
                  <a:lnSpc>
                    <a:spcPct val="110000"/>
                  </a:lnSpc>
                </a:pPr>
                <a:r>
                  <a:rPr lang="zh-CN" altLang="en-US" sz="2400" dirty="0"/>
                  <a:t>凸二次规划问题（</a:t>
                </a:r>
                <a:r>
                  <a:rPr lang="en-US" altLang="zh-CN" sz="2400" dirty="0"/>
                  <a:t>1</a:t>
                </a:r>
                <a:r>
                  <a:rPr lang="zh-CN" altLang="en-US" sz="2400" dirty="0"/>
                  <a:t>）</a:t>
                </a:r>
                <a:endParaRPr lang="en-US" altLang="zh-CN" sz="2400" dirty="0"/>
              </a:p>
              <a:p>
                <a:pPr>
                  <a:lnSpc>
                    <a:spcPct val="110000"/>
                  </a:lnSpc>
                </a:pPr>
                <a14:m>
                  <m:oMathPara xmlns:m="http://schemas.openxmlformats.org/officeDocument/2006/math">
                    <m:oMathParaPr>
                      <m:jc m:val="centerGroup"/>
                    </m:oMathParaPr>
                    <m:oMath xmlns:m="http://schemas.openxmlformats.org/officeDocument/2006/math">
                      <m:limLow>
                        <m:limLowPr>
                          <m:ctrlPr>
                            <a:rPr lang="zh-CN" altLang="en-US" sz="2400" i="1" smtClean="0">
                              <a:solidFill>
                                <a:srgbClr val="000000"/>
                              </a:solidFill>
                              <a:latin typeface="Cambria Math" panose="02040503050406030204" pitchFamily="18" charset="0"/>
                            </a:rPr>
                          </m:ctrlPr>
                        </m:limLowPr>
                        <m:e>
                          <m:r>
                            <m:rPr>
                              <m:sty m:val="p"/>
                            </m:rPr>
                            <a:rPr lang="zh-CN" altLang="en-US" sz="2400" i="0">
                              <a:solidFill>
                                <a:srgbClr val="000000"/>
                              </a:solidFill>
                              <a:latin typeface="Cambria Math" panose="02040503050406030204" pitchFamily="18" charset="0"/>
                            </a:rPr>
                            <m:t>min</m:t>
                          </m:r>
                        </m:e>
                        <m:lim>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𝑅</m:t>
                              </m:r>
                            </m:e>
                            <m:sup>
                              <m:r>
                                <a:rPr lang="zh-CN" altLang="en-US" sz="2400" i="1">
                                  <a:solidFill>
                                    <a:srgbClr val="000000"/>
                                  </a:solidFill>
                                  <a:latin typeface="Cambria Math" panose="02040503050406030204" pitchFamily="18" charset="0"/>
                                </a:rPr>
                                <m:t>𝑛</m:t>
                              </m:r>
                            </m:sup>
                          </m:sSup>
                        </m:lim>
                      </m:limLow>
                      <m:r>
                        <a:rPr lang="zh-CN" altLang="en-US" sz="2400" i="1">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𝑓</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𝑥</m:t>
                          </m:r>
                        </m:e>
                      </m:d>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𝑇</m:t>
                          </m:r>
                        </m:sup>
                      </m:sSup>
                      <m:r>
                        <a:rPr lang="zh-CN" altLang="en-US" sz="2400" i="1">
                          <a:solidFill>
                            <a:srgbClr val="000000"/>
                          </a:solidFill>
                          <a:latin typeface="Cambria Math" panose="02040503050406030204" pitchFamily="18" charset="0"/>
                        </a:rPr>
                        <m:t>𝐺𝑥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𝑟</m:t>
                          </m:r>
                        </m:e>
                        <m:sup>
                          <m:r>
                            <a:rPr lang="zh-CN" altLang="en-US" sz="2400" i="1">
                              <a:solidFill>
                                <a:srgbClr val="000000"/>
                              </a:solidFill>
                              <a:latin typeface="Cambria Math" panose="02040503050406030204" pitchFamily="18" charset="0"/>
                            </a:rPr>
                            <m:t>𝑇</m:t>
                          </m:r>
                        </m:sup>
                      </m:sSup>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 </m:t>
                      </m:r>
                    </m:oMath>
                  </m:oMathPara>
                </a14:m>
                <a:endParaRPr lang="en-US" altLang="zh-CN" sz="2400" i="1" dirty="0">
                  <a:solidFill>
                    <a:srgbClr val="000000"/>
                  </a:solidFill>
                  <a:latin typeface="Cambria Math" panose="02040503050406030204" pitchFamily="18" charset="0"/>
                </a:endParaRPr>
              </a:p>
              <a:p>
                <a:pPr algn="just">
                  <a:lnSpc>
                    <a:spcPct val="110000"/>
                  </a:lnSpc>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.  </m:t>
                      </m:r>
                      <m:sSubSup>
                        <m:sSubSupPr>
                          <m:ctrlPr>
                            <a:rPr lang="zh-CN" altLang="en-US" sz="2400" i="1">
                              <a:solidFill>
                                <a:srgbClr val="000000"/>
                              </a:solidFill>
                              <a:latin typeface="Cambria Math" panose="02040503050406030204" pitchFamily="18" charset="0"/>
                            </a:rPr>
                          </m:ctrlPr>
                        </m:sSubSupPr>
                        <m:e>
                          <m:r>
                            <a:rPr lang="en-US" altLang="zh-CN" sz="2400" b="0" i="1" smtClean="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𝐴</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𝑇</m:t>
                          </m:r>
                        </m:sup>
                      </m:sSubSup>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𝑚</m:t>
                      </m:r>
                    </m:oMath>
                  </m:oMathPara>
                </a14:m>
                <a:br>
                  <a:rPr lang="zh-CN" altLang="en-US" sz="2400" i="1" dirty="0">
                    <a:solidFill>
                      <a:srgbClr val="000000"/>
                    </a:solidFill>
                    <a:latin typeface="Cambria Math" panose="02040503050406030204" pitchFamily="18" charset="0"/>
                  </a:rPr>
                </a:br>
                <a14:m>
                  <m:oMath xmlns:m="http://schemas.openxmlformats.org/officeDocument/2006/math">
                    <m:r>
                      <a:rPr lang="zh-CN" altLang="en-US" sz="2400" i="1">
                        <a:solidFill>
                          <a:srgbClr val="000000"/>
                        </a:solidFill>
                        <a:latin typeface="Cambria Math" panose="02040503050406030204" pitchFamily="18" charset="0"/>
                      </a:rPr>
                      <m:t>  </m:t>
                    </m:r>
                    <m:r>
                      <a:rPr lang="en-US" altLang="zh-CN" sz="2400" b="0" i="1" smtClean="0">
                        <a:solidFill>
                          <a:srgbClr val="000000"/>
                        </a:solidFill>
                        <a:latin typeface="Cambria Math" panose="02040503050406030204" pitchFamily="18" charset="0"/>
                      </a:rPr>
                      <m:t>   </m:t>
                    </m:r>
                    <m:sSubSup>
                      <m:sSubSupPr>
                        <m:ctrlPr>
                          <a:rPr lang="zh-CN" altLang="en-US" sz="2400" i="1">
                            <a:solidFill>
                              <a:srgbClr val="000000"/>
                            </a:solidFill>
                            <a:latin typeface="Cambria Math" panose="02040503050406030204" pitchFamily="18" charset="0"/>
                          </a:rPr>
                        </m:ctrlPr>
                      </m:sSubSupPr>
                      <m:e>
                        <m:r>
                          <a:rPr lang="en-US" altLang="zh-CN" sz="2400" b="0" i="1" smtClean="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𝐴</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𝑇</m:t>
                        </m:r>
                      </m:sup>
                    </m:sSubSup>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, </m:t>
                    </m:r>
                    <m:r>
                      <a:rPr lang="en-US" altLang="zh-CN" sz="2400" b="0" i="1" smtClean="0">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𝑙</m:t>
                    </m:r>
                  </m:oMath>
                </a14:m>
                <a:r>
                  <a:rPr lang="en-US" altLang="zh-CN" sz="2400" dirty="0"/>
                  <a:t>.</a:t>
                </a:r>
                <a:endParaRPr lang="zh-CN" altLang="en-US" sz="2400" dirty="0"/>
              </a:p>
            </p:txBody>
          </p:sp>
        </mc:Choice>
        <mc:Fallback>
          <p:sp>
            <p:nvSpPr>
              <p:cNvPr id="3" name="文本框 2"/>
              <p:cNvSpPr txBox="1">
                <a:spLocks noRot="1" noChangeAspect="1" noMove="1" noResize="1" noEditPoints="1" noAdjustHandles="1" noChangeArrowheads="1" noChangeShapeType="1" noTextEdit="1"/>
              </p:cNvSpPr>
              <p:nvPr/>
            </p:nvSpPr>
            <p:spPr>
              <a:xfrm>
                <a:off x="407368" y="1484784"/>
                <a:ext cx="6073911" cy="2147960"/>
              </a:xfrm>
              <a:prstGeom prst="rect">
                <a:avLst/>
              </a:prstGeom>
              <a:blipFill rotWithShape="1">
                <a:blip r:embed="rId1"/>
                <a:stretch>
                  <a:fillRect l="-5" t="-7" r="8"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对象 18"/>
              <p:cNvSpPr txBox="1"/>
              <p:nvPr/>
            </p:nvSpPr>
            <p:spPr bwMode="auto">
              <a:xfrm>
                <a:off x="6696362" y="1484784"/>
                <a:ext cx="5088270" cy="2136867"/>
              </a:xfrm>
              <a:prstGeom prst="rect">
                <a:avLst/>
              </a:prstGeom>
              <a:noFill/>
            </p:spPr>
            <p:txBody>
              <a:bodyPr wrap="square" rtlCol="0">
                <a:spAutoFit/>
              </a:bodyPr>
              <a:lstStyle>
                <a:defPPr>
                  <a:defRPr lang="zh-CN"/>
                </a:defPPr>
                <a:lvl1pPr algn="just">
                  <a:lnSpc>
                    <a:spcPct val="110000"/>
                  </a:lnSpc>
                  <a:defRPr sz="2400"/>
                </a:lvl1pPr>
              </a:lstStyle>
              <a:p>
                <a14:m>
                  <m:oMathPara xmlns:m="http://schemas.openxmlformats.org/officeDocument/2006/math">
                    <m:oMathParaPr>
                      <m:jc m:val="left"/>
                    </m:oMathParaPr>
                    <m:oMath xmlns:m="http://schemas.openxmlformats.org/officeDocument/2006/math">
                      <m:r>
                        <m:rPr>
                          <m:nor/>
                        </m:rPr>
                        <a:rPr lang="zh-CN" altLang="en-US" dirty="0">
                          <a:latin typeface="Cambria Math" panose="02040503050406030204" pitchFamily="18" charset="0"/>
                        </a:rPr>
                        <m:t>凸二次规划问题（</m:t>
                      </m:r>
                      <m:r>
                        <m:rPr>
                          <m:nor/>
                        </m:rPr>
                        <a:rPr lang="en-US" altLang="zh-CN" dirty="0" smtClean="0">
                          <a:latin typeface="Cambria Math" panose="02040503050406030204" pitchFamily="18" charset="0"/>
                        </a:rPr>
                        <m:t>2</m:t>
                      </m:r>
                      <m:r>
                        <m:rPr>
                          <m:nor/>
                        </m:rPr>
                        <a:rPr lang="zh-CN" altLang="en-US" dirty="0">
                          <a:latin typeface="Cambria Math" panose="02040503050406030204" pitchFamily="18" charset="0"/>
                        </a:rPr>
                        <m:t>）</m:t>
                      </m:r>
                    </m:oMath>
                  </m:oMathPara>
                </a14:m>
                <a:endParaRPr lang="en-US" altLang="zh-CN" dirty="0"/>
              </a:p>
              <a:p>
                <a14:m>
                  <m:oMathPara xmlns:m="http://schemas.openxmlformats.org/officeDocument/2006/math">
                    <m:oMathParaPr>
                      <m:jc m:val="left"/>
                    </m:oMathParaPr>
                    <m:oMath xmlns:m="http://schemas.openxmlformats.org/officeDocument/2006/math">
                      <m:limLow>
                        <m:limLowPr>
                          <m:ctrlPr>
                            <a:rPr lang="zh-CN" altLang="en-US" i="1">
                              <a:latin typeface="Cambria Math" panose="02040503050406030204" pitchFamily="18" charset="0"/>
                            </a:rPr>
                          </m:ctrlPr>
                        </m:limLowPr>
                        <m:e>
                          <m:r>
                            <m:rPr>
                              <m:sty m:val="p"/>
                            </m:rPr>
                            <a:rPr lang="zh-CN" altLang="en-US">
                              <a:latin typeface="Cambria Math" panose="02040503050406030204" pitchFamily="18" charset="0"/>
                            </a:rPr>
                            <m:t>min</m:t>
                          </m:r>
                        </m:e>
                        <m:lim>
                          <m:r>
                            <a:rPr lang="zh-CN" altLang="en-US">
                              <a:latin typeface="Cambria Math" panose="02040503050406030204" pitchFamily="18" charset="0"/>
                            </a:rPr>
                            <m:t>𝑥</m:t>
                          </m:r>
                          <m:r>
                            <a:rPr lang="zh-CN" altLang="en-US">
                              <a:latin typeface="Cambria Math" panose="02040503050406030204" pitchFamily="18" charset="0"/>
                            </a:rPr>
                            <m:t>∈</m:t>
                          </m:r>
                          <m:sSup>
                            <m:sSupPr>
                              <m:ctrlPr>
                                <a:rPr lang="zh-CN" altLang="en-US" i="1">
                                  <a:latin typeface="Cambria Math" panose="02040503050406030204" pitchFamily="18" charset="0"/>
                                </a:rPr>
                              </m:ctrlPr>
                            </m:sSupPr>
                            <m:e>
                              <m:r>
                                <a:rPr lang="zh-CN" altLang="en-US">
                                  <a:latin typeface="Cambria Math" panose="02040503050406030204" pitchFamily="18" charset="0"/>
                                </a:rPr>
                                <m:t>𝑅</m:t>
                              </m:r>
                            </m:e>
                            <m:sup>
                              <m:r>
                                <a:rPr lang="zh-CN" altLang="en-US">
                                  <a:latin typeface="Cambria Math" panose="02040503050406030204" pitchFamily="18" charset="0"/>
                                </a:rPr>
                                <m:t>𝑛</m:t>
                              </m:r>
                            </m:sup>
                          </m:sSup>
                        </m:lim>
                      </m:limLow>
                      <m:r>
                        <a:rPr lang="zh-CN" altLang="en-US">
                          <a:latin typeface="Cambria Math" panose="02040503050406030204" pitchFamily="18" charset="0"/>
                        </a:rPr>
                        <m:t> </m:t>
                      </m:r>
                      <m:r>
                        <a:rPr lang="zh-CN" altLang="en-US">
                          <a:latin typeface="Cambria Math" panose="02040503050406030204" pitchFamily="18" charset="0"/>
                        </a:rPr>
                        <m:t>𝑓</m:t>
                      </m:r>
                      <m:r>
                        <a:rPr lang="zh-CN" altLang="en-US">
                          <a:latin typeface="Cambria Math" panose="02040503050406030204" pitchFamily="18" charset="0"/>
                        </a:rPr>
                        <m:t>(</m:t>
                      </m:r>
                      <m:r>
                        <a:rPr lang="zh-CN" altLang="en-US">
                          <a:latin typeface="Cambria Math" panose="02040503050406030204" pitchFamily="18" charset="0"/>
                        </a:rPr>
                        <m:t>𝑥</m:t>
                      </m:r>
                      <m:r>
                        <a:rPr lang="zh-CN" altLang="en-US">
                          <a:latin typeface="Cambria Math" panose="02040503050406030204" pitchFamily="18" charset="0"/>
                        </a:rPr>
                        <m:t>)=</m:t>
                      </m:r>
                      <m:f>
                        <m:fPr>
                          <m:ctrlPr>
                            <a:rPr lang="zh-CN" altLang="en-US" i="1">
                              <a:latin typeface="Cambria Math" panose="02040503050406030204" pitchFamily="18" charset="0"/>
                            </a:rPr>
                          </m:ctrlPr>
                        </m:fPr>
                        <m:num>
                          <m:r>
                            <a:rPr lang="zh-CN" altLang="en-US">
                              <a:latin typeface="Cambria Math" panose="02040503050406030204" pitchFamily="18" charset="0"/>
                            </a:rPr>
                            <m:t>1</m:t>
                          </m:r>
                        </m:num>
                        <m:den>
                          <m:r>
                            <a:rPr lang="zh-CN" altLang="en-US">
                              <a:latin typeface="Cambria Math" panose="02040503050406030204" pitchFamily="18" charset="0"/>
                            </a:rPr>
                            <m:t>2</m:t>
                          </m:r>
                        </m:den>
                      </m:f>
                      <m:sSup>
                        <m:sSupPr>
                          <m:ctrlPr>
                            <a:rPr lang="zh-CN" altLang="en-US" i="1">
                              <a:latin typeface="Cambria Math" panose="02040503050406030204" pitchFamily="18" charset="0"/>
                            </a:rPr>
                          </m:ctrlPr>
                        </m:sSupPr>
                        <m:e>
                          <m:r>
                            <a:rPr lang="zh-CN" altLang="en-US">
                              <a:latin typeface="Cambria Math" panose="02040503050406030204" pitchFamily="18" charset="0"/>
                            </a:rPr>
                            <m:t>𝑥</m:t>
                          </m:r>
                        </m:e>
                        <m:sup>
                          <m:r>
                            <a:rPr lang="zh-CN" altLang="en-US">
                              <a:latin typeface="Cambria Math" panose="02040503050406030204" pitchFamily="18" charset="0"/>
                            </a:rPr>
                            <m:t>𝑇</m:t>
                          </m:r>
                        </m:sup>
                      </m:sSup>
                      <m:r>
                        <a:rPr lang="zh-CN" altLang="en-US">
                          <a:latin typeface="Cambria Math" panose="02040503050406030204" pitchFamily="18" charset="0"/>
                        </a:rPr>
                        <m:t>𝐺𝑥</m:t>
                      </m:r>
                      <m:r>
                        <a:rPr lang="zh-CN" altLang="en-US">
                          <a:latin typeface="Cambria Math" panose="02040503050406030204" pitchFamily="18" charset="0"/>
                        </a:rPr>
                        <m:t>+</m:t>
                      </m:r>
                      <m:sSup>
                        <m:sSupPr>
                          <m:ctrlPr>
                            <a:rPr lang="zh-CN" altLang="en-US" i="1">
                              <a:latin typeface="Cambria Math" panose="02040503050406030204" pitchFamily="18" charset="0"/>
                            </a:rPr>
                          </m:ctrlPr>
                        </m:sSupPr>
                        <m:e>
                          <m:r>
                            <a:rPr lang="zh-CN" altLang="en-US">
                              <a:latin typeface="Cambria Math" panose="02040503050406030204" pitchFamily="18" charset="0"/>
                            </a:rPr>
                            <m:t>𝑟</m:t>
                          </m:r>
                        </m:e>
                        <m:sup>
                          <m:r>
                            <a:rPr lang="zh-CN" altLang="en-US">
                              <a:latin typeface="Cambria Math" panose="02040503050406030204" pitchFamily="18" charset="0"/>
                            </a:rPr>
                            <m:t>𝑇</m:t>
                          </m:r>
                        </m:sup>
                      </m:sSup>
                      <m:r>
                        <a:rPr lang="zh-CN" altLang="en-US">
                          <a:latin typeface="Cambria Math" panose="02040503050406030204" pitchFamily="18" charset="0"/>
                        </a:rPr>
                        <m:t>𝑥</m:t>
                      </m:r>
                      <m:r>
                        <a:rPr lang="zh-CN" altLang="en-US">
                          <a:latin typeface="Cambria Math" panose="02040503050406030204" pitchFamily="18" charset="0"/>
                        </a:rPr>
                        <m:t> </m:t>
                      </m:r>
                    </m:oMath>
                    <m:oMath xmlns:m="http://schemas.openxmlformats.org/officeDocument/2006/math">
                      <m:r>
                        <a:rPr lang="zh-CN" altLang="en-US">
                          <a:latin typeface="Cambria Math" panose="02040503050406030204" pitchFamily="18" charset="0"/>
                        </a:rPr>
                        <m:t>𝑠</m:t>
                      </m:r>
                      <m:r>
                        <a:rPr lang="zh-CN" altLang="en-US">
                          <a:latin typeface="Cambria Math" panose="02040503050406030204" pitchFamily="18" charset="0"/>
                        </a:rPr>
                        <m:t>.</m:t>
                      </m:r>
                      <m:r>
                        <a:rPr lang="zh-CN" altLang="en-US">
                          <a:latin typeface="Cambria Math" panose="02040503050406030204" pitchFamily="18" charset="0"/>
                        </a:rPr>
                        <m:t>𝑡</m:t>
                      </m:r>
                      <m:r>
                        <a:rPr lang="zh-CN" altLang="en-US">
                          <a:latin typeface="Cambria Math" panose="02040503050406030204" pitchFamily="18" charset="0"/>
                        </a:rPr>
                        <m:t>. </m:t>
                      </m:r>
                      <m:sSubSup>
                        <m:sSubSupPr>
                          <m:ctrlPr>
                            <a:rPr lang="zh-CN" altLang="en-US" i="1">
                              <a:latin typeface="Cambria Math" panose="02040503050406030204" pitchFamily="18" charset="0"/>
                            </a:rPr>
                          </m:ctrlPr>
                        </m:sSubSupPr>
                        <m:e>
                          <m:r>
                            <a:rPr lang="zh-CN" altLang="en-US">
                              <a:latin typeface="Cambria Math" panose="02040503050406030204" pitchFamily="18" charset="0"/>
                            </a:rPr>
                            <m:t>𝐴</m:t>
                          </m:r>
                        </m:e>
                        <m:sub>
                          <m:r>
                            <a:rPr lang="zh-CN" altLang="en-US">
                              <a:latin typeface="Cambria Math" panose="02040503050406030204" pitchFamily="18" charset="0"/>
                            </a:rPr>
                            <m:t>𝑖</m:t>
                          </m:r>
                        </m:sub>
                        <m:sup>
                          <m:r>
                            <a:rPr lang="zh-CN" altLang="en-US">
                              <a:latin typeface="Cambria Math" panose="02040503050406030204" pitchFamily="18" charset="0"/>
                            </a:rPr>
                            <m:t>𝑇</m:t>
                          </m:r>
                        </m:sup>
                      </m:sSubSup>
                      <m:r>
                        <a:rPr lang="zh-CN" altLang="en-US">
                          <a:latin typeface="Cambria Math" panose="02040503050406030204" pitchFamily="18" charset="0"/>
                        </a:rPr>
                        <m:t>𝑥</m:t>
                      </m:r>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𝑏</m:t>
                          </m:r>
                        </m:e>
                        <m:sub>
                          <m:r>
                            <a:rPr lang="zh-CN" altLang="en-US">
                              <a:latin typeface="Cambria Math" panose="02040503050406030204" pitchFamily="18" charset="0"/>
                            </a:rPr>
                            <m:t>𝑖</m:t>
                          </m:r>
                        </m:sub>
                      </m:sSub>
                      <m:r>
                        <a:rPr lang="zh-CN" altLang="en-US">
                          <a:latin typeface="Cambria Math" panose="02040503050406030204" pitchFamily="18" charset="0"/>
                        </a:rPr>
                        <m:t>=</m:t>
                      </m:r>
                      <m:r>
                        <a:rPr lang="zh-CN" altLang="en-US">
                          <a:latin typeface="Cambria Math" panose="02040503050406030204" pitchFamily="18" charset="0"/>
                        </a:rPr>
                        <m:t>0</m:t>
                      </m:r>
                      <m:r>
                        <a:rPr lang="zh-CN" altLang="en-US">
                          <a:latin typeface="Cambria Math" panose="02040503050406030204" pitchFamily="18" charset="0"/>
                        </a:rPr>
                        <m:t>, </m:t>
                      </m:r>
                      <m:r>
                        <a:rPr lang="zh-CN" altLang="en-US">
                          <a:latin typeface="Cambria Math" panose="02040503050406030204" pitchFamily="18" charset="0"/>
                        </a:rPr>
                        <m:t>𝑖</m:t>
                      </m:r>
                      <m:r>
                        <a:rPr lang="zh-CN" altLang="en-US">
                          <a:latin typeface="Cambria Math" panose="02040503050406030204" pitchFamily="18" charset="0"/>
                        </a:rPr>
                        <m:t>=</m:t>
                      </m:r>
                      <m:r>
                        <a:rPr lang="zh-CN" altLang="en-US">
                          <a:latin typeface="Cambria Math" panose="02040503050406030204" pitchFamily="18" charset="0"/>
                        </a:rPr>
                        <m:t>1</m:t>
                      </m:r>
                      <m:r>
                        <a:rPr lang="zh-CN" altLang="en-US">
                          <a:latin typeface="Cambria Math" panose="02040503050406030204" pitchFamily="18" charset="0"/>
                        </a:rPr>
                        <m:t>,</m:t>
                      </m:r>
                      <m:r>
                        <a:rPr lang="zh-CN" altLang="en-US">
                          <a:latin typeface="Cambria Math" panose="02040503050406030204" pitchFamily="18" charset="0"/>
                        </a:rPr>
                        <m:t>2</m:t>
                      </m:r>
                      <m:r>
                        <a:rPr lang="zh-CN" altLang="en-US">
                          <a:latin typeface="Cambria Math" panose="02040503050406030204" pitchFamily="18" charset="0"/>
                        </a:rPr>
                        <m:t>,⋯,</m:t>
                      </m:r>
                      <m:r>
                        <a:rPr lang="zh-CN" altLang="en-US">
                          <a:latin typeface="Cambria Math" panose="02040503050406030204" pitchFamily="18" charset="0"/>
                        </a:rPr>
                        <m:t>𝑚</m:t>
                      </m:r>
                    </m:oMath>
                  </m:oMathPara>
                </a14:m>
                <a:br>
                  <a:rPr lang="zh-CN" altLang="en-US" dirty="0"/>
                </a:br>
                <a14:m>
                  <m:oMath xmlns:m="http://schemas.openxmlformats.org/officeDocument/2006/math">
                    <m:r>
                      <a:rPr lang="zh-CN" altLang="en-US">
                        <a:latin typeface="Cambria Math" panose="02040503050406030204" pitchFamily="18" charset="0"/>
                      </a:rPr>
                      <m:t>  </m:t>
                    </m:r>
                    <m:r>
                      <a:rPr lang="en-US" altLang="zh-CN">
                        <a:latin typeface="Cambria Math" panose="02040503050406030204" pitchFamily="18" charset="0"/>
                      </a:rPr>
                      <m:t>  </m:t>
                    </m:r>
                    <m:sSubSup>
                      <m:sSubSupPr>
                        <m:ctrlPr>
                          <a:rPr lang="zh-CN" altLang="en-US" i="1">
                            <a:latin typeface="Cambria Math" panose="02040503050406030204" pitchFamily="18" charset="0"/>
                          </a:rPr>
                        </m:ctrlPr>
                      </m:sSubSupPr>
                      <m:e>
                        <m:r>
                          <a:rPr lang="en-US" altLang="zh-CN">
                            <a:latin typeface="Cambria Math" panose="02040503050406030204" pitchFamily="18" charset="0"/>
                          </a:rPr>
                          <m:t> </m:t>
                        </m:r>
                        <m:r>
                          <a:rPr lang="zh-CN" altLang="en-US">
                            <a:latin typeface="Cambria Math" panose="02040503050406030204" pitchFamily="18" charset="0"/>
                          </a:rPr>
                          <m:t>𝐴</m:t>
                        </m:r>
                      </m:e>
                      <m:sub>
                        <m:r>
                          <a:rPr lang="zh-CN" altLang="en-US">
                            <a:latin typeface="Cambria Math" panose="02040503050406030204" pitchFamily="18" charset="0"/>
                          </a:rPr>
                          <m:t>𝑖</m:t>
                        </m:r>
                      </m:sub>
                      <m:sup>
                        <m:r>
                          <a:rPr lang="zh-CN" altLang="en-US">
                            <a:latin typeface="Cambria Math" panose="02040503050406030204" pitchFamily="18" charset="0"/>
                          </a:rPr>
                          <m:t>𝑇</m:t>
                        </m:r>
                      </m:sup>
                    </m:sSubSup>
                    <m:r>
                      <a:rPr lang="zh-CN" altLang="en-US">
                        <a:latin typeface="Cambria Math" panose="02040503050406030204" pitchFamily="18" charset="0"/>
                      </a:rPr>
                      <m:t>𝑥</m:t>
                    </m:r>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𝑏</m:t>
                        </m:r>
                      </m:e>
                      <m:sub>
                        <m:r>
                          <a:rPr lang="zh-CN" altLang="en-US">
                            <a:latin typeface="Cambria Math" panose="02040503050406030204" pitchFamily="18" charset="0"/>
                          </a:rPr>
                          <m:t>𝑖</m:t>
                        </m:r>
                      </m:sub>
                    </m:sSub>
                    <m:r>
                      <a:rPr lang="en-US" altLang="zh-CN" b="0" i="0" smtClean="0">
                        <a:latin typeface="Cambria Math" panose="02040503050406030204" pitchFamily="18" charset="0"/>
                      </a:rPr>
                      <m:t>=</m:t>
                    </m:r>
                    <m:r>
                      <a:rPr lang="zh-CN" altLang="en-US">
                        <a:latin typeface="Cambria Math" panose="02040503050406030204" pitchFamily="18" charset="0"/>
                      </a:rPr>
                      <m:t>0</m:t>
                    </m:r>
                    <m:r>
                      <a:rPr lang="zh-CN" altLang="en-US">
                        <a:latin typeface="Cambria Math" panose="02040503050406030204" pitchFamily="18" charset="0"/>
                      </a:rPr>
                      <m:t>, </m:t>
                    </m:r>
                    <m:r>
                      <a:rPr lang="en-US" altLang="zh-CN">
                        <a:latin typeface="Cambria Math" panose="02040503050406030204" pitchFamily="18" charset="0"/>
                      </a:rPr>
                      <m:t>𝑖</m:t>
                    </m:r>
                    <m:r>
                      <a:rPr lang="zh-CN" altLang="en-US">
                        <a:latin typeface="Cambria Math" panose="02040503050406030204" pitchFamily="18" charset="0"/>
                      </a:rPr>
                      <m:t>∈</m:t>
                    </m:r>
                    <m:r>
                      <a:rPr lang="en-US" altLang="zh-CN">
                        <a:latin typeface="Cambria Math" panose="02040503050406030204" pitchFamily="18" charset="0"/>
                      </a:rPr>
                      <m:t>𝐼</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r>
                      <a:rPr lang="en-US" altLang="zh-CN">
                        <a:latin typeface="Cambria Math" panose="02040503050406030204" pitchFamily="18" charset="0"/>
                      </a:rPr>
                      <m:t>)</m:t>
                    </m:r>
                  </m:oMath>
                </a14:m>
                <a:r>
                  <a:rPr lang="en-US" altLang="zh-CN" dirty="0"/>
                  <a:t>.</a:t>
                </a:r>
                <a:endParaRPr lang="zh-CN" altLang="en-US" dirty="0"/>
              </a:p>
            </p:txBody>
          </p:sp>
        </mc:Choice>
        <mc:Fallback>
          <p:sp>
            <p:nvSpPr>
              <p:cNvPr id="4" name="对象 18"/>
              <p:cNvSpPr txBox="1">
                <a:spLocks noRot="1" noChangeAspect="1" noMove="1" noResize="1" noEditPoints="1" noAdjustHandles="1" noChangeArrowheads="1" noChangeShapeType="1" noTextEdit="1"/>
              </p:cNvSpPr>
              <p:nvPr/>
            </p:nvSpPr>
            <p:spPr bwMode="auto">
              <a:xfrm>
                <a:off x="6696362" y="1484784"/>
                <a:ext cx="5088270" cy="2136867"/>
              </a:xfrm>
              <a:prstGeom prst="rect">
                <a:avLst/>
              </a:prstGeom>
              <a:blipFill rotWithShape="1">
                <a:blip r:embed="rId2"/>
                <a:stretch>
                  <a:fillRect l="-6" t="-7" r="6" b="12"/>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5977467" y="191242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6485467" y="81784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12" name="直接连接符 11"/>
          <p:cNvCxnSpPr/>
          <p:nvPr/>
        </p:nvCxnSpPr>
        <p:spPr>
          <a:xfrm>
            <a:off x="6383337" y="397933"/>
            <a:ext cx="0" cy="6127411"/>
          </a:xfrm>
          <a:prstGeom prst="line">
            <a:avLst/>
          </a:prstGeom>
          <a:ln w="22225"/>
        </p:spPr>
        <p:style>
          <a:lnRef idx="2">
            <a:schemeClr val="accent6"/>
          </a:lnRef>
          <a:fillRef idx="0">
            <a:schemeClr val="accent6"/>
          </a:fillRef>
          <a:effectRef idx="1">
            <a:schemeClr val="accent6"/>
          </a:effectRef>
          <a:fontRef idx="minor">
            <a:schemeClr val="tx1"/>
          </a:fontRef>
        </p:style>
      </p:cxnSp>
      <mc:AlternateContent xmlns:mc="http://schemas.openxmlformats.org/markup-compatibility/2006">
        <mc:Choice xmlns:a14="http://schemas.microsoft.com/office/drawing/2010/main" Requires="a14">
          <p:sp>
            <p:nvSpPr>
              <p:cNvPr id="2" name="文本框 1"/>
              <p:cNvSpPr txBox="1"/>
              <p:nvPr/>
            </p:nvSpPr>
            <p:spPr>
              <a:xfrm>
                <a:off x="186385" y="199647"/>
                <a:ext cx="6073911" cy="2408223"/>
              </a:xfrm>
              <a:prstGeom prst="rect">
                <a:avLst/>
              </a:prstGeom>
              <a:noFill/>
            </p:spPr>
            <p:txBody>
              <a:bodyPr wrap="square" rtlCol="0">
                <a:spAutoFit/>
              </a:bodyPr>
              <a:lstStyle/>
              <a:p>
                <a:pPr>
                  <a:lnSpc>
                    <a:spcPct val="110000"/>
                  </a:lnSpc>
                </a:pPr>
                <a:r>
                  <a:rPr lang="zh-CN" altLang="en-US" sz="2400" dirty="0"/>
                  <a:t>    假设</a:t>
                </a: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m:t>
                        </m:r>
                      </m:sup>
                    </m:sSup>
                  </m:oMath>
                </a14:m>
                <a:r>
                  <a:rPr lang="zh-CN" altLang="en-US" sz="2400" dirty="0"/>
                  <a:t>是凸二次规划问题（</a:t>
                </a:r>
                <a:r>
                  <a:rPr lang="en-US" altLang="zh-CN" sz="2400" dirty="0"/>
                  <a:t>1</a:t>
                </a:r>
                <a:r>
                  <a:rPr lang="zh-CN" altLang="en-US" sz="2400" dirty="0"/>
                  <a:t>）</a:t>
                </a:r>
                <a14:m>
                  <m:oMath xmlns:m="http://schemas.openxmlformats.org/officeDocument/2006/math">
                    <m:limLow>
                      <m:limLowPr>
                        <m:ctrlPr>
                          <a:rPr lang="zh-CN" altLang="en-US" sz="2400" i="1" smtClean="0">
                            <a:solidFill>
                              <a:srgbClr val="000000"/>
                            </a:solidFill>
                            <a:latin typeface="Cambria Math" panose="02040503050406030204" pitchFamily="18" charset="0"/>
                          </a:rPr>
                        </m:ctrlPr>
                      </m:limLowPr>
                      <m:e>
                        <m:r>
                          <m:rPr>
                            <m:sty m:val="p"/>
                          </m:rPr>
                          <a:rPr lang="zh-CN" altLang="en-US" sz="2400" i="0">
                            <a:solidFill>
                              <a:srgbClr val="000000"/>
                            </a:solidFill>
                            <a:latin typeface="Cambria Math" panose="02040503050406030204" pitchFamily="18" charset="0"/>
                          </a:rPr>
                          <m:t>min</m:t>
                        </m:r>
                      </m:e>
                      <m:lim>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𝑅</m:t>
                            </m:r>
                          </m:e>
                          <m:sup>
                            <m:r>
                              <a:rPr lang="zh-CN" altLang="en-US" sz="2400" i="1">
                                <a:solidFill>
                                  <a:srgbClr val="000000"/>
                                </a:solidFill>
                                <a:latin typeface="Cambria Math" panose="02040503050406030204" pitchFamily="18" charset="0"/>
                              </a:rPr>
                              <m:t>𝑛</m:t>
                            </m:r>
                          </m:sup>
                        </m:sSup>
                      </m:lim>
                    </m:limLow>
                    <m:r>
                      <a:rPr lang="zh-CN" altLang="en-US" sz="2400" i="1">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𝑓</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𝑥</m:t>
                        </m:r>
                      </m:e>
                    </m:d>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𝑇</m:t>
                        </m:r>
                      </m:sup>
                    </m:sSup>
                    <m:r>
                      <a:rPr lang="zh-CN" altLang="en-US" sz="2400" i="1">
                        <a:solidFill>
                          <a:srgbClr val="000000"/>
                        </a:solidFill>
                        <a:latin typeface="Cambria Math" panose="02040503050406030204" pitchFamily="18" charset="0"/>
                      </a:rPr>
                      <m:t>𝐺𝑥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𝑟</m:t>
                        </m:r>
                      </m:e>
                      <m:sup>
                        <m:r>
                          <a:rPr lang="zh-CN" altLang="en-US" sz="2400" i="1">
                            <a:solidFill>
                              <a:srgbClr val="000000"/>
                            </a:solidFill>
                            <a:latin typeface="Cambria Math" panose="02040503050406030204" pitchFamily="18" charset="0"/>
                          </a:rPr>
                          <m:t>𝑇</m:t>
                        </m:r>
                      </m:sup>
                    </m:sSup>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 </m:t>
                    </m:r>
                  </m:oMath>
                </a14:m>
                <a:endParaRPr lang="en-US" altLang="zh-CN" sz="2400" i="1" dirty="0">
                  <a:solidFill>
                    <a:srgbClr val="000000"/>
                  </a:solidFill>
                  <a:latin typeface="Cambria Math" panose="02040503050406030204" pitchFamily="18" charset="0"/>
                </a:endParaRPr>
              </a:p>
              <a:p>
                <a:pPr algn="just">
                  <a:lnSpc>
                    <a:spcPct val="110000"/>
                  </a:lnSpc>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.  </m:t>
                      </m:r>
                      <m:sSubSup>
                        <m:sSubSupPr>
                          <m:ctrlPr>
                            <a:rPr lang="zh-CN" altLang="en-US" sz="2400" i="1">
                              <a:solidFill>
                                <a:srgbClr val="000000"/>
                              </a:solidFill>
                              <a:latin typeface="Cambria Math" panose="02040503050406030204" pitchFamily="18" charset="0"/>
                            </a:rPr>
                          </m:ctrlPr>
                        </m:sSubSupPr>
                        <m:e>
                          <m:r>
                            <a:rPr lang="en-US" altLang="zh-CN" sz="2400" b="0" i="1" smtClean="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𝐴</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𝑇</m:t>
                          </m:r>
                        </m:sup>
                      </m:sSubSup>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𝑚</m:t>
                      </m:r>
                    </m:oMath>
                  </m:oMathPara>
                </a14:m>
                <a:br>
                  <a:rPr lang="zh-CN" altLang="en-US" sz="2400" i="1" dirty="0">
                    <a:solidFill>
                      <a:srgbClr val="000000"/>
                    </a:solidFill>
                    <a:latin typeface="Cambria Math" panose="02040503050406030204" pitchFamily="18" charset="0"/>
                  </a:rPr>
                </a:br>
                <a14:m>
                  <m:oMath xmlns:m="http://schemas.openxmlformats.org/officeDocument/2006/math">
                    <m:r>
                      <a:rPr lang="zh-CN" altLang="en-US" sz="2400" i="1">
                        <a:solidFill>
                          <a:srgbClr val="000000"/>
                        </a:solidFill>
                        <a:latin typeface="Cambria Math" panose="02040503050406030204" pitchFamily="18" charset="0"/>
                      </a:rPr>
                      <m:t>  </m:t>
                    </m:r>
                    <m:r>
                      <a:rPr lang="en-US" altLang="zh-CN" sz="2400" b="0" i="1" smtClean="0">
                        <a:solidFill>
                          <a:srgbClr val="000000"/>
                        </a:solidFill>
                        <a:latin typeface="Cambria Math" panose="02040503050406030204" pitchFamily="18" charset="0"/>
                      </a:rPr>
                      <m:t>   </m:t>
                    </m:r>
                    <m:sSubSup>
                      <m:sSubSupPr>
                        <m:ctrlPr>
                          <a:rPr lang="zh-CN" altLang="en-US" sz="2400" i="1">
                            <a:solidFill>
                              <a:srgbClr val="000000"/>
                            </a:solidFill>
                            <a:latin typeface="Cambria Math" panose="02040503050406030204" pitchFamily="18" charset="0"/>
                          </a:rPr>
                        </m:ctrlPr>
                      </m:sSubSupPr>
                      <m:e>
                        <m:r>
                          <a:rPr lang="en-US" altLang="zh-CN" sz="2400" b="0" i="1" smtClean="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𝐴</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𝑇</m:t>
                        </m:r>
                      </m:sup>
                    </m:sSubSup>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, </m:t>
                    </m:r>
                    <m:r>
                      <a:rPr lang="en-US" altLang="zh-CN" sz="2400" b="0" i="1" smtClean="0">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𝑙</m:t>
                    </m:r>
                  </m:oMath>
                </a14:m>
                <a:r>
                  <a:rPr lang="en-US" altLang="zh-CN" sz="2400" dirty="0"/>
                  <a:t>.</a:t>
                </a:r>
                <a:endParaRPr lang="zh-CN" altLang="en-US" sz="2400" dirty="0"/>
              </a:p>
              <a:p>
                <a:pPr algn="just">
                  <a:lnSpc>
                    <a:spcPct val="110000"/>
                  </a:lnSpc>
                </a:pPr>
                <a:r>
                  <a:rPr lang="zh-CN" altLang="en-US" sz="2400" dirty="0"/>
                  <a:t>的最优解。</a:t>
                </a:r>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186385" y="199647"/>
                <a:ext cx="6073911" cy="2408223"/>
              </a:xfrm>
              <a:prstGeom prst="rect">
                <a:avLst/>
              </a:prstGeom>
              <a:blipFill rotWithShape="1">
                <a:blip r:embed="rId1"/>
                <a:stretch>
                  <a:fillRect l="-5" t="-11" r="8" b="23"/>
                </a:stretch>
              </a:blipFill>
            </p:spPr>
            <p:txBody>
              <a:bodyPr/>
              <a:lstStyle/>
              <a:p>
                <a:r>
                  <a:rPr lang="zh-CN" altLang="en-US">
                    <a:noFill/>
                  </a:rPr>
                  <a:t> </a:t>
                </a:r>
              </a:p>
            </p:txBody>
          </p:sp>
        </mc:Fallback>
      </mc:AlternateContent>
      <p:sp>
        <p:nvSpPr>
          <p:cNvPr id="11" name="箭头: 上下 10"/>
          <p:cNvSpPr/>
          <p:nvPr/>
        </p:nvSpPr>
        <p:spPr>
          <a:xfrm>
            <a:off x="3259362" y="2537508"/>
            <a:ext cx="45719" cy="53675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上下 14"/>
          <p:cNvSpPr/>
          <p:nvPr/>
        </p:nvSpPr>
        <p:spPr>
          <a:xfrm>
            <a:off x="9249584" y="2654350"/>
            <a:ext cx="45719" cy="53675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Rectangle 2"/>
          <p:cNvSpPr>
            <a:spLocks noChangeArrowheads="1"/>
          </p:cNvSpPr>
          <p:nvPr/>
        </p:nvSpPr>
        <p:spPr bwMode="auto">
          <a:xfrm>
            <a:off x="2346500" y="11342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8" name="文本框 7"/>
              <p:cNvSpPr txBox="1"/>
              <p:nvPr/>
            </p:nvSpPr>
            <p:spPr>
              <a:xfrm>
                <a:off x="268127" y="3059921"/>
                <a:ext cx="6013082" cy="3712619"/>
              </a:xfrm>
              <a:prstGeom prst="rect">
                <a:avLst/>
              </a:prstGeom>
              <a:noFill/>
            </p:spPr>
            <p:txBody>
              <a:bodyPr wrap="square" rtlCol="0">
                <a:spAutoFit/>
              </a:bodyPr>
              <a:lstStyle/>
              <a:p>
                <a:pPr algn="just">
                  <a:lnSpc>
                    <a:spcPct val="110000"/>
                  </a:lnSpc>
                </a:pPr>
                <a:r>
                  <a:rPr lang="zh-CN" altLang="en-US" sz="2400" dirty="0"/>
                  <a:t>    存在</a:t>
                </a:r>
                <a14:m>
                  <m:oMath xmlns:m="http://schemas.openxmlformats.org/officeDocument/2006/math">
                    <m:sSup>
                      <m:sSupPr>
                        <m:ctrlPr>
                          <a:rPr lang="en-US" altLang="zh-CN" sz="2400" i="1">
                            <a:latin typeface="Cambria Math" panose="02040503050406030204" pitchFamily="18" charset="0"/>
                          </a:rPr>
                        </m:ctrlPr>
                      </m:sSupPr>
                      <m:e>
                        <m:r>
                          <a:rPr lang="zh-CN" altLang="en-US" sz="2400" i="1">
                            <a:latin typeface="Cambria Math" panose="02040503050406030204" pitchFamily="18" charset="0"/>
                          </a:rPr>
                          <m:t>𝜆</m:t>
                        </m:r>
                      </m:e>
                      <m:sup>
                        <m:r>
                          <a:rPr lang="en-US" altLang="zh-CN" sz="2400" i="1">
                            <a:latin typeface="Cambria Math" panose="02040503050406030204" pitchFamily="18" charset="0"/>
                          </a:rPr>
                          <m:t>∗</m:t>
                        </m:r>
                      </m:sup>
                    </m:sSup>
                  </m:oMath>
                </a14:m>
                <a:r>
                  <a:rPr lang="zh-CN" altLang="en-US" sz="2400" dirty="0"/>
                  <a:t>，使得</a:t>
                </a:r>
                <a:r>
                  <a:rPr lang="en-US" altLang="zh-CN" sz="2400" dirty="0"/>
                  <a:t> </a:t>
                </a:r>
                <a14:m>
                  <m:oMath xmlns:m="http://schemas.openxmlformats.org/officeDocument/2006/math">
                    <m:sSup>
                      <m:sSupPr>
                        <m:ctrlPr>
                          <a:rPr lang="en-US" altLang="zh-CN" sz="2400" i="1">
                            <a:latin typeface="Cambria Math" panose="02040503050406030204" pitchFamily="18" charset="0"/>
                          </a:rPr>
                        </m:ctrlPr>
                      </m:sSup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m:t>
                            </m:r>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r>
                          <a:rPr lang="zh-CN" altLang="en-US" sz="2400" i="1">
                            <a:latin typeface="Cambria Math" panose="02040503050406030204" pitchFamily="18" charset="0"/>
                          </a:rPr>
                          <m:t>𝜆</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oMath>
                </a14:m>
                <a:r>
                  <a:rPr lang="zh-CN" altLang="en-US" sz="2400" dirty="0"/>
                  <a:t>满足</a:t>
                </a:r>
                <a:r>
                  <a:rPr lang="en-US" altLang="zh-CN" sz="2400" dirty="0"/>
                  <a:t>KKT</a:t>
                </a:r>
                <a:r>
                  <a:rPr lang="zh-CN" altLang="en-US" sz="2400" dirty="0"/>
                  <a:t>条件</a:t>
                </a:r>
                <a:endParaRPr lang="zh-CN" altLang="en-US" sz="2400" dirty="0"/>
              </a:p>
              <a:p>
                <a:pPr algn="just">
                  <a:lnSpc>
                    <a:spcPct val="11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𝐺</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r>
                        <a:rPr lang="en-US" altLang="zh-CN" sz="2400" i="1">
                          <a:latin typeface="Cambria Math" panose="02040503050406030204" pitchFamily="18" charset="0"/>
                        </a:rPr>
                        <m:t>𝑟</m:t>
                      </m:r>
                      <m:r>
                        <a:rPr lang="zh-CN" altLang="en-US" sz="2400" i="1">
                          <a:latin typeface="Cambria Math" panose="02040503050406030204" pitchFamily="18" charset="0"/>
                        </a:rPr>
                        <m:t>−</m:t>
                      </m:r>
                      <m:nary>
                        <m:naryPr>
                          <m:chr m:val="∑"/>
                          <m:ctrlPr>
                            <a:rPr lang="zh-CN" altLang="zh-CN" sz="2400" i="1">
                              <a:latin typeface="Cambria Math" panose="02040503050406030204" pitchFamily="18" charset="0"/>
                            </a:rPr>
                          </m:ctrlPr>
                        </m:naryPr>
                        <m:sub>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1</m:t>
                          </m:r>
                        </m:sub>
                        <m:sup>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𝑙</m:t>
                          </m:r>
                        </m:sup>
                        <m:e>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𝜆</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sup>
                          </m:sSubSup>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𝑖</m:t>
                              </m:r>
                            </m:sub>
                          </m:sSub>
                        </m:e>
                      </m:nary>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oMath>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𝐴</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𝑇</m:t>
                          </m:r>
                        </m:sup>
                      </m:sSubSup>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zh-CN" altLang="en-US"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𝑏</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          </m:t>
                      </m:r>
                      <m:r>
                        <a:rPr lang="en-US" altLang="zh-CN" sz="2400" i="1">
                          <a:latin typeface="Cambria Math" panose="02040503050406030204" pitchFamily="18" charset="0"/>
                        </a:rPr>
                        <m:t>1</m:t>
                      </m:r>
                      <m:r>
                        <a:rPr lang="en-US" altLang="zh-CN" sz="2400" i="1">
                          <a:latin typeface="Cambria Math" panose="02040503050406030204" pitchFamily="18" charset="0"/>
                        </a:rPr>
                        <m:t>≤</m:t>
                      </m:r>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m:t>
                      </m:r>
                    </m:oMath>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𝐴</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𝑇</m:t>
                          </m:r>
                        </m:sup>
                      </m:sSubSup>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zh-CN" altLang="en-US"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𝑏</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          </m:t>
                      </m:r>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1</m:t>
                      </m:r>
                      <m:r>
                        <a:rPr lang="en-US" altLang="zh-CN" sz="2400" i="1">
                          <a:latin typeface="Cambria Math" panose="02040503050406030204" pitchFamily="18" charset="0"/>
                        </a:rPr>
                        <m:t>≤</m:t>
                      </m:r>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oMath>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𝜆</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                         </m:t>
                      </m:r>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1</m:t>
                      </m:r>
                      <m:r>
                        <a:rPr lang="en-US" altLang="zh-CN" sz="2400" i="1">
                          <a:latin typeface="Cambria Math" panose="02040503050406030204" pitchFamily="18" charset="0"/>
                        </a:rPr>
                        <m:t>≤</m:t>
                      </m:r>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oMath>
                  </m:oMathPara>
                </a14:m>
                <a:br>
                  <a:rPr lang="en-US" altLang="zh-CN" sz="2400" i="1" dirty="0">
                    <a:latin typeface="Cambria Math" panose="02040503050406030204" pitchFamily="18" charset="0"/>
                  </a:rPr>
                </a:b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𝜆</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𝐴</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𝑇</m:t>
                        </m:r>
                      </m:sup>
                    </m:sSubSup>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zh-CN" altLang="en-US"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𝑏</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  </m:t>
                    </m:r>
                    <m:r>
                      <a:rPr lang="en-US" altLang="zh-CN" sz="2400" b="0" i="1" smtClean="0">
                        <a:latin typeface="Cambria Math" panose="02040503050406030204" pitchFamily="18" charset="0"/>
                      </a:rPr>
                      <m:t>         </m:t>
                    </m:r>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1</m:t>
                    </m:r>
                    <m:r>
                      <a:rPr lang="en-US" altLang="zh-CN" sz="2400" i="1">
                        <a:latin typeface="Cambria Math" panose="02040503050406030204" pitchFamily="18" charset="0"/>
                      </a:rPr>
                      <m:t>≤</m:t>
                    </m:r>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𝑙</m:t>
                    </m:r>
                  </m:oMath>
                </a14:m>
                <a:r>
                  <a:rPr lang="en-US" altLang="zh-CN" sz="2400" dirty="0">
                    <a:latin typeface="+mn-ea"/>
                  </a:rPr>
                  <a:t>.</a:t>
                </a:r>
                <a:endParaRPr lang="zh-CN" altLang="zh-CN" sz="2400" dirty="0">
                  <a:latin typeface="+mn-ea"/>
                </a:endParaRPr>
              </a:p>
              <a:p>
                <a:pPr algn="just">
                  <a:lnSpc>
                    <a:spcPct val="110000"/>
                  </a:lnSpc>
                </a:pPr>
                <a:r>
                  <a:rPr lang="en-US" altLang="zh-CN" sz="2400" dirty="0">
                    <a:latin typeface="+mn-ea"/>
                    <a:cs typeface="Times New Roman" panose="02020603050405020304" pitchFamily="18" charset="0"/>
                  </a:rPr>
                  <a:t>		</a:t>
                </a:r>
                <a:endParaRPr lang="zh-CN" altLang="en-US" sz="2400" dirty="0"/>
              </a:p>
            </p:txBody>
          </p:sp>
        </mc:Choice>
        <mc:Fallback>
          <p:sp>
            <p:nvSpPr>
              <p:cNvPr id="8" name="文本框 7"/>
              <p:cNvSpPr txBox="1">
                <a:spLocks noRot="1" noChangeAspect="1" noMove="1" noResize="1" noEditPoints="1" noAdjustHandles="1" noChangeArrowheads="1" noChangeShapeType="1" noTextEdit="1"/>
              </p:cNvSpPr>
              <p:nvPr/>
            </p:nvSpPr>
            <p:spPr>
              <a:xfrm>
                <a:off x="268127" y="3059921"/>
                <a:ext cx="6013082" cy="3712619"/>
              </a:xfrm>
              <a:prstGeom prst="rect">
                <a:avLst/>
              </a:prstGeom>
              <a:blipFill rotWithShape="1">
                <a:blip r:embed="rId2"/>
                <a:stretch>
                  <a:fillRect l="-3" t="-13" r="7"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对象 18"/>
              <p:cNvSpPr txBox="1"/>
              <p:nvPr/>
            </p:nvSpPr>
            <p:spPr bwMode="auto">
              <a:xfrm>
                <a:off x="6789234" y="199647"/>
                <a:ext cx="5088270" cy="2558201"/>
              </a:xfrm>
              <a:prstGeom prst="rect">
                <a:avLst/>
              </a:prstGeom>
              <a:noFill/>
            </p:spPr>
            <p:txBody>
              <a:bodyPr wrap="square" rtlCol="0">
                <a:spAutoFit/>
              </a:bodyPr>
              <a:lstStyle>
                <a:defPPr>
                  <a:defRPr lang="zh-CN"/>
                </a:defPPr>
                <a:lvl1pPr algn="just">
                  <a:lnSpc>
                    <a:spcPct val="110000"/>
                  </a:lnSpc>
                  <a:defRPr sz="2400"/>
                </a:lvl1pPr>
              </a:lstStyle>
              <a:p>
                <a14:m>
                  <m:oMathPara xmlns:m="http://schemas.openxmlformats.org/officeDocument/2006/math">
                    <m:oMathParaPr>
                      <m:jc m:val="left"/>
                    </m:oMathParaPr>
                    <m:oMath xmlns:m="http://schemas.openxmlformats.org/officeDocument/2006/math">
                      <m:r>
                        <m:rPr>
                          <m:nor/>
                        </m:rPr>
                        <a:rPr lang="zh-CN" altLang="en-US" dirty="0" smtClean="0">
                          <a:latin typeface="Cambria Math" panose="02040503050406030204" pitchFamily="18" charset="0"/>
                        </a:rPr>
                        <m:t>假设</m:t>
                      </m:r>
                      <m:sSup>
                        <m:sSupPr>
                          <m:ctrlPr>
                            <a:rPr lang="en-US" altLang="zh-CN" i="1" smtClean="0">
                              <a:latin typeface="Cambria Math" panose="02040503050406030204" pitchFamily="18" charset="0"/>
                            </a:rPr>
                          </m:ctrlPr>
                        </m:sSupPr>
                        <m:e>
                          <m:r>
                            <a:rPr lang="en-US" altLang="zh-CN" smtClean="0">
                              <a:latin typeface="Cambria Math" panose="02040503050406030204" pitchFamily="18" charset="0"/>
                            </a:rPr>
                            <m:t>𝑥</m:t>
                          </m:r>
                        </m:e>
                        <m:sup>
                          <m:r>
                            <a:rPr lang="en-US" altLang="zh-CN" smtClean="0">
                              <a:latin typeface="Cambria Math" panose="02040503050406030204" pitchFamily="18" charset="0"/>
                            </a:rPr>
                            <m:t>∗</m:t>
                          </m:r>
                        </m:sup>
                      </m:sSup>
                      <m:r>
                        <m:rPr>
                          <m:nor/>
                        </m:rPr>
                        <a:rPr lang="zh-CN" altLang="en-US" dirty="0">
                          <a:latin typeface="Cambria Math" panose="02040503050406030204" pitchFamily="18" charset="0"/>
                        </a:rPr>
                        <m:t>是凸二次规划问题（</m:t>
                      </m:r>
                      <m:r>
                        <m:rPr>
                          <m:nor/>
                        </m:rPr>
                        <a:rPr lang="en-US" altLang="zh-CN" dirty="0" smtClean="0">
                          <a:latin typeface="Cambria Math" panose="02040503050406030204" pitchFamily="18" charset="0"/>
                        </a:rPr>
                        <m:t>2</m:t>
                      </m:r>
                      <m:r>
                        <m:rPr>
                          <m:nor/>
                        </m:rPr>
                        <a:rPr lang="zh-CN" altLang="en-US" dirty="0">
                          <a:latin typeface="Cambria Math" panose="02040503050406030204" pitchFamily="18" charset="0"/>
                        </a:rPr>
                        <m:t>）</m:t>
                      </m:r>
                    </m:oMath>
                  </m:oMathPara>
                </a14:m>
                <a:endParaRPr lang="en-US" altLang="zh-CN" dirty="0"/>
              </a:p>
              <a:p>
                <a14:m>
                  <m:oMathPara xmlns:m="http://schemas.openxmlformats.org/officeDocument/2006/math">
                    <m:oMathParaPr>
                      <m:jc m:val="left"/>
                    </m:oMathParaPr>
                    <m:oMath xmlns:m="http://schemas.openxmlformats.org/officeDocument/2006/math">
                      <m:limLow>
                        <m:limLowPr>
                          <m:ctrlPr>
                            <a:rPr lang="zh-CN" altLang="en-US" i="1">
                              <a:latin typeface="Cambria Math" panose="02040503050406030204" pitchFamily="18" charset="0"/>
                            </a:rPr>
                          </m:ctrlPr>
                        </m:limLowPr>
                        <m:e>
                          <m:r>
                            <m:rPr>
                              <m:sty m:val="p"/>
                            </m:rPr>
                            <a:rPr lang="zh-CN" altLang="en-US">
                              <a:latin typeface="Cambria Math" panose="02040503050406030204" pitchFamily="18" charset="0"/>
                            </a:rPr>
                            <m:t>min</m:t>
                          </m:r>
                        </m:e>
                        <m:lim>
                          <m:r>
                            <a:rPr lang="zh-CN" altLang="en-US">
                              <a:latin typeface="Cambria Math" panose="02040503050406030204" pitchFamily="18" charset="0"/>
                            </a:rPr>
                            <m:t>𝑥</m:t>
                          </m:r>
                          <m:r>
                            <a:rPr lang="zh-CN" altLang="en-US">
                              <a:latin typeface="Cambria Math" panose="02040503050406030204" pitchFamily="18" charset="0"/>
                            </a:rPr>
                            <m:t>∈</m:t>
                          </m:r>
                          <m:sSup>
                            <m:sSupPr>
                              <m:ctrlPr>
                                <a:rPr lang="zh-CN" altLang="en-US" i="1">
                                  <a:latin typeface="Cambria Math" panose="02040503050406030204" pitchFamily="18" charset="0"/>
                                </a:rPr>
                              </m:ctrlPr>
                            </m:sSupPr>
                            <m:e>
                              <m:r>
                                <a:rPr lang="zh-CN" altLang="en-US">
                                  <a:latin typeface="Cambria Math" panose="02040503050406030204" pitchFamily="18" charset="0"/>
                                </a:rPr>
                                <m:t>𝑅</m:t>
                              </m:r>
                            </m:e>
                            <m:sup>
                              <m:r>
                                <a:rPr lang="zh-CN" altLang="en-US">
                                  <a:latin typeface="Cambria Math" panose="02040503050406030204" pitchFamily="18" charset="0"/>
                                </a:rPr>
                                <m:t>𝑛</m:t>
                              </m:r>
                            </m:sup>
                          </m:sSup>
                        </m:lim>
                      </m:limLow>
                      <m:r>
                        <a:rPr lang="zh-CN" altLang="en-US">
                          <a:latin typeface="Cambria Math" panose="02040503050406030204" pitchFamily="18" charset="0"/>
                        </a:rPr>
                        <m:t> </m:t>
                      </m:r>
                      <m:r>
                        <a:rPr lang="zh-CN" altLang="en-US">
                          <a:latin typeface="Cambria Math" panose="02040503050406030204" pitchFamily="18" charset="0"/>
                        </a:rPr>
                        <m:t>𝑓</m:t>
                      </m:r>
                      <m:r>
                        <a:rPr lang="zh-CN" altLang="en-US">
                          <a:latin typeface="Cambria Math" panose="02040503050406030204" pitchFamily="18" charset="0"/>
                        </a:rPr>
                        <m:t>(</m:t>
                      </m:r>
                      <m:r>
                        <a:rPr lang="zh-CN" altLang="en-US">
                          <a:latin typeface="Cambria Math" panose="02040503050406030204" pitchFamily="18" charset="0"/>
                        </a:rPr>
                        <m:t>𝑥</m:t>
                      </m:r>
                      <m:r>
                        <a:rPr lang="zh-CN" altLang="en-US">
                          <a:latin typeface="Cambria Math" panose="02040503050406030204" pitchFamily="18" charset="0"/>
                        </a:rPr>
                        <m:t>)=</m:t>
                      </m:r>
                      <m:f>
                        <m:fPr>
                          <m:ctrlPr>
                            <a:rPr lang="zh-CN" altLang="en-US" i="1">
                              <a:latin typeface="Cambria Math" panose="02040503050406030204" pitchFamily="18" charset="0"/>
                            </a:rPr>
                          </m:ctrlPr>
                        </m:fPr>
                        <m:num>
                          <m:r>
                            <a:rPr lang="zh-CN" altLang="en-US">
                              <a:latin typeface="Cambria Math" panose="02040503050406030204" pitchFamily="18" charset="0"/>
                            </a:rPr>
                            <m:t>1</m:t>
                          </m:r>
                        </m:num>
                        <m:den>
                          <m:r>
                            <a:rPr lang="zh-CN" altLang="en-US">
                              <a:latin typeface="Cambria Math" panose="02040503050406030204" pitchFamily="18" charset="0"/>
                            </a:rPr>
                            <m:t>2</m:t>
                          </m:r>
                        </m:den>
                      </m:f>
                      <m:sSup>
                        <m:sSupPr>
                          <m:ctrlPr>
                            <a:rPr lang="zh-CN" altLang="en-US" i="1">
                              <a:latin typeface="Cambria Math" panose="02040503050406030204" pitchFamily="18" charset="0"/>
                            </a:rPr>
                          </m:ctrlPr>
                        </m:sSupPr>
                        <m:e>
                          <m:r>
                            <a:rPr lang="zh-CN" altLang="en-US">
                              <a:latin typeface="Cambria Math" panose="02040503050406030204" pitchFamily="18" charset="0"/>
                            </a:rPr>
                            <m:t>𝑥</m:t>
                          </m:r>
                        </m:e>
                        <m:sup>
                          <m:r>
                            <a:rPr lang="zh-CN" altLang="en-US">
                              <a:latin typeface="Cambria Math" panose="02040503050406030204" pitchFamily="18" charset="0"/>
                            </a:rPr>
                            <m:t>𝑇</m:t>
                          </m:r>
                        </m:sup>
                      </m:sSup>
                      <m:r>
                        <a:rPr lang="zh-CN" altLang="en-US">
                          <a:latin typeface="Cambria Math" panose="02040503050406030204" pitchFamily="18" charset="0"/>
                        </a:rPr>
                        <m:t>𝐺𝑥</m:t>
                      </m:r>
                      <m:r>
                        <a:rPr lang="zh-CN" altLang="en-US">
                          <a:latin typeface="Cambria Math" panose="02040503050406030204" pitchFamily="18" charset="0"/>
                        </a:rPr>
                        <m:t>+</m:t>
                      </m:r>
                      <m:sSup>
                        <m:sSupPr>
                          <m:ctrlPr>
                            <a:rPr lang="zh-CN" altLang="en-US" i="1">
                              <a:latin typeface="Cambria Math" panose="02040503050406030204" pitchFamily="18" charset="0"/>
                            </a:rPr>
                          </m:ctrlPr>
                        </m:sSupPr>
                        <m:e>
                          <m:r>
                            <a:rPr lang="zh-CN" altLang="en-US">
                              <a:latin typeface="Cambria Math" panose="02040503050406030204" pitchFamily="18" charset="0"/>
                            </a:rPr>
                            <m:t>𝑟</m:t>
                          </m:r>
                        </m:e>
                        <m:sup>
                          <m:r>
                            <a:rPr lang="zh-CN" altLang="en-US">
                              <a:latin typeface="Cambria Math" panose="02040503050406030204" pitchFamily="18" charset="0"/>
                            </a:rPr>
                            <m:t>𝑇</m:t>
                          </m:r>
                        </m:sup>
                      </m:sSup>
                      <m:r>
                        <a:rPr lang="zh-CN" altLang="en-US">
                          <a:latin typeface="Cambria Math" panose="02040503050406030204" pitchFamily="18" charset="0"/>
                        </a:rPr>
                        <m:t>𝑥</m:t>
                      </m:r>
                      <m:r>
                        <a:rPr lang="zh-CN" altLang="en-US">
                          <a:latin typeface="Cambria Math" panose="02040503050406030204" pitchFamily="18" charset="0"/>
                        </a:rPr>
                        <m:t> </m:t>
                      </m:r>
                    </m:oMath>
                    <m:oMath xmlns:m="http://schemas.openxmlformats.org/officeDocument/2006/math">
                      <m:r>
                        <a:rPr lang="zh-CN" altLang="en-US">
                          <a:latin typeface="Cambria Math" panose="02040503050406030204" pitchFamily="18" charset="0"/>
                        </a:rPr>
                        <m:t>𝑠</m:t>
                      </m:r>
                      <m:r>
                        <a:rPr lang="zh-CN" altLang="en-US">
                          <a:latin typeface="Cambria Math" panose="02040503050406030204" pitchFamily="18" charset="0"/>
                        </a:rPr>
                        <m:t>.</m:t>
                      </m:r>
                      <m:r>
                        <a:rPr lang="zh-CN" altLang="en-US">
                          <a:latin typeface="Cambria Math" panose="02040503050406030204" pitchFamily="18" charset="0"/>
                        </a:rPr>
                        <m:t>𝑡</m:t>
                      </m:r>
                      <m:r>
                        <a:rPr lang="zh-CN" altLang="en-US">
                          <a:latin typeface="Cambria Math" panose="02040503050406030204" pitchFamily="18" charset="0"/>
                        </a:rPr>
                        <m:t>. </m:t>
                      </m:r>
                      <m:sSubSup>
                        <m:sSubSupPr>
                          <m:ctrlPr>
                            <a:rPr lang="zh-CN" altLang="en-US" i="1">
                              <a:latin typeface="Cambria Math" panose="02040503050406030204" pitchFamily="18" charset="0"/>
                            </a:rPr>
                          </m:ctrlPr>
                        </m:sSubSupPr>
                        <m:e>
                          <m:r>
                            <a:rPr lang="zh-CN" altLang="en-US">
                              <a:latin typeface="Cambria Math" panose="02040503050406030204" pitchFamily="18" charset="0"/>
                            </a:rPr>
                            <m:t>𝐴</m:t>
                          </m:r>
                        </m:e>
                        <m:sub>
                          <m:r>
                            <a:rPr lang="zh-CN" altLang="en-US">
                              <a:latin typeface="Cambria Math" panose="02040503050406030204" pitchFamily="18" charset="0"/>
                            </a:rPr>
                            <m:t>𝑖</m:t>
                          </m:r>
                        </m:sub>
                        <m:sup>
                          <m:r>
                            <a:rPr lang="zh-CN" altLang="en-US">
                              <a:latin typeface="Cambria Math" panose="02040503050406030204" pitchFamily="18" charset="0"/>
                            </a:rPr>
                            <m:t>𝑇</m:t>
                          </m:r>
                        </m:sup>
                      </m:sSubSup>
                      <m:r>
                        <a:rPr lang="zh-CN" altLang="en-US">
                          <a:latin typeface="Cambria Math" panose="02040503050406030204" pitchFamily="18" charset="0"/>
                        </a:rPr>
                        <m:t>𝑥</m:t>
                      </m:r>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𝑏</m:t>
                          </m:r>
                        </m:e>
                        <m:sub>
                          <m:r>
                            <a:rPr lang="zh-CN" altLang="en-US">
                              <a:latin typeface="Cambria Math" panose="02040503050406030204" pitchFamily="18" charset="0"/>
                            </a:rPr>
                            <m:t>𝑖</m:t>
                          </m:r>
                        </m:sub>
                      </m:sSub>
                      <m:r>
                        <a:rPr lang="zh-CN" altLang="en-US">
                          <a:latin typeface="Cambria Math" panose="02040503050406030204" pitchFamily="18" charset="0"/>
                        </a:rPr>
                        <m:t>=</m:t>
                      </m:r>
                      <m:r>
                        <a:rPr lang="zh-CN" altLang="en-US">
                          <a:latin typeface="Cambria Math" panose="02040503050406030204" pitchFamily="18" charset="0"/>
                        </a:rPr>
                        <m:t>0</m:t>
                      </m:r>
                      <m:r>
                        <a:rPr lang="zh-CN" altLang="en-US">
                          <a:latin typeface="Cambria Math" panose="02040503050406030204" pitchFamily="18" charset="0"/>
                        </a:rPr>
                        <m:t>, </m:t>
                      </m:r>
                      <m:r>
                        <a:rPr lang="zh-CN" altLang="en-US">
                          <a:latin typeface="Cambria Math" panose="02040503050406030204" pitchFamily="18" charset="0"/>
                        </a:rPr>
                        <m:t>𝑖</m:t>
                      </m:r>
                      <m:r>
                        <a:rPr lang="zh-CN" altLang="en-US">
                          <a:latin typeface="Cambria Math" panose="02040503050406030204" pitchFamily="18" charset="0"/>
                        </a:rPr>
                        <m:t>=</m:t>
                      </m:r>
                      <m:r>
                        <a:rPr lang="zh-CN" altLang="en-US">
                          <a:latin typeface="Cambria Math" panose="02040503050406030204" pitchFamily="18" charset="0"/>
                        </a:rPr>
                        <m:t>1</m:t>
                      </m:r>
                      <m:r>
                        <a:rPr lang="zh-CN" altLang="en-US">
                          <a:latin typeface="Cambria Math" panose="02040503050406030204" pitchFamily="18" charset="0"/>
                        </a:rPr>
                        <m:t>,</m:t>
                      </m:r>
                      <m:r>
                        <a:rPr lang="zh-CN" altLang="en-US">
                          <a:latin typeface="Cambria Math" panose="02040503050406030204" pitchFamily="18" charset="0"/>
                        </a:rPr>
                        <m:t>2</m:t>
                      </m:r>
                      <m:r>
                        <a:rPr lang="zh-CN" altLang="en-US">
                          <a:latin typeface="Cambria Math" panose="02040503050406030204" pitchFamily="18" charset="0"/>
                        </a:rPr>
                        <m:t>,⋯,</m:t>
                      </m:r>
                      <m:r>
                        <a:rPr lang="zh-CN" altLang="en-US">
                          <a:latin typeface="Cambria Math" panose="02040503050406030204" pitchFamily="18" charset="0"/>
                        </a:rPr>
                        <m:t>𝑚</m:t>
                      </m:r>
                    </m:oMath>
                  </m:oMathPara>
                </a14:m>
                <a:br>
                  <a:rPr lang="zh-CN" altLang="en-US" dirty="0"/>
                </a:br>
                <a14:m>
                  <m:oMath xmlns:m="http://schemas.openxmlformats.org/officeDocument/2006/math">
                    <m:r>
                      <a:rPr lang="zh-CN" altLang="en-US">
                        <a:latin typeface="Cambria Math" panose="02040503050406030204" pitchFamily="18" charset="0"/>
                      </a:rPr>
                      <m:t>  </m:t>
                    </m:r>
                    <m:r>
                      <a:rPr lang="en-US" altLang="zh-CN">
                        <a:latin typeface="Cambria Math" panose="02040503050406030204" pitchFamily="18" charset="0"/>
                      </a:rPr>
                      <m:t>  </m:t>
                    </m:r>
                    <m:sSubSup>
                      <m:sSubSupPr>
                        <m:ctrlPr>
                          <a:rPr lang="zh-CN" altLang="en-US" i="1">
                            <a:latin typeface="Cambria Math" panose="02040503050406030204" pitchFamily="18" charset="0"/>
                          </a:rPr>
                        </m:ctrlPr>
                      </m:sSubSupPr>
                      <m:e>
                        <m:r>
                          <a:rPr lang="en-US" altLang="zh-CN">
                            <a:latin typeface="Cambria Math" panose="02040503050406030204" pitchFamily="18" charset="0"/>
                          </a:rPr>
                          <m:t> </m:t>
                        </m:r>
                        <m:r>
                          <a:rPr lang="zh-CN" altLang="en-US">
                            <a:latin typeface="Cambria Math" panose="02040503050406030204" pitchFamily="18" charset="0"/>
                          </a:rPr>
                          <m:t>𝐴</m:t>
                        </m:r>
                      </m:e>
                      <m:sub>
                        <m:r>
                          <a:rPr lang="zh-CN" altLang="en-US">
                            <a:latin typeface="Cambria Math" panose="02040503050406030204" pitchFamily="18" charset="0"/>
                          </a:rPr>
                          <m:t>𝑖</m:t>
                        </m:r>
                      </m:sub>
                      <m:sup>
                        <m:r>
                          <a:rPr lang="zh-CN" altLang="en-US">
                            <a:latin typeface="Cambria Math" panose="02040503050406030204" pitchFamily="18" charset="0"/>
                          </a:rPr>
                          <m:t>𝑇</m:t>
                        </m:r>
                      </m:sup>
                    </m:sSubSup>
                    <m:r>
                      <a:rPr lang="zh-CN" altLang="en-US">
                        <a:latin typeface="Cambria Math" panose="02040503050406030204" pitchFamily="18" charset="0"/>
                      </a:rPr>
                      <m:t>𝑥</m:t>
                    </m:r>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𝑏</m:t>
                        </m:r>
                      </m:e>
                      <m:sub>
                        <m:r>
                          <a:rPr lang="zh-CN" altLang="en-US">
                            <a:latin typeface="Cambria Math" panose="02040503050406030204" pitchFamily="18" charset="0"/>
                          </a:rPr>
                          <m:t>𝑖</m:t>
                        </m:r>
                      </m:sub>
                    </m:sSub>
                    <m:r>
                      <a:rPr lang="en-US" altLang="zh-CN" b="0" i="0" smtClean="0">
                        <a:latin typeface="Cambria Math" panose="02040503050406030204" pitchFamily="18" charset="0"/>
                      </a:rPr>
                      <m:t>=</m:t>
                    </m:r>
                    <m:r>
                      <a:rPr lang="zh-CN" altLang="en-US">
                        <a:latin typeface="Cambria Math" panose="02040503050406030204" pitchFamily="18" charset="0"/>
                      </a:rPr>
                      <m:t>0</m:t>
                    </m:r>
                    <m:r>
                      <a:rPr lang="zh-CN" altLang="en-US">
                        <a:latin typeface="Cambria Math" panose="02040503050406030204" pitchFamily="18" charset="0"/>
                      </a:rPr>
                      <m:t>, </m:t>
                    </m:r>
                    <m:r>
                      <a:rPr lang="en-US" altLang="zh-CN">
                        <a:latin typeface="Cambria Math" panose="02040503050406030204" pitchFamily="18" charset="0"/>
                      </a:rPr>
                      <m:t>𝑖</m:t>
                    </m:r>
                    <m:r>
                      <a:rPr lang="zh-CN" altLang="en-US">
                        <a:latin typeface="Cambria Math" panose="02040503050406030204" pitchFamily="18" charset="0"/>
                      </a:rPr>
                      <m:t>∈</m:t>
                    </m:r>
                    <m:r>
                      <a:rPr lang="en-US" altLang="zh-CN">
                        <a:latin typeface="Cambria Math" panose="02040503050406030204" pitchFamily="18" charset="0"/>
                      </a:rPr>
                      <m:t>𝐼</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r>
                      <a:rPr lang="en-US" altLang="zh-CN">
                        <a:latin typeface="Cambria Math" panose="02040503050406030204" pitchFamily="18" charset="0"/>
                      </a:rPr>
                      <m:t>)</m:t>
                    </m:r>
                  </m:oMath>
                </a14:m>
                <a:r>
                  <a:rPr lang="en-US" altLang="zh-CN" dirty="0"/>
                  <a:t>.</a:t>
                </a:r>
                <a:endParaRPr lang="en-US" altLang="zh-CN" dirty="0"/>
              </a:p>
              <a:p>
                <a:r>
                  <a:rPr lang="zh-CN" altLang="en-US" sz="2400" dirty="0"/>
                  <a:t>的最优解。</a:t>
                </a:r>
                <a:endParaRPr lang="zh-CN" altLang="en-US" sz="2400" dirty="0"/>
              </a:p>
            </p:txBody>
          </p:sp>
        </mc:Choice>
        <mc:Fallback>
          <p:sp>
            <p:nvSpPr>
              <p:cNvPr id="20" name="对象 18"/>
              <p:cNvSpPr txBox="1">
                <a:spLocks noRot="1" noChangeAspect="1" noMove="1" noResize="1" noEditPoints="1" noAdjustHandles="1" noChangeArrowheads="1" noChangeShapeType="1" noTextEdit="1"/>
              </p:cNvSpPr>
              <p:nvPr/>
            </p:nvSpPr>
            <p:spPr bwMode="auto">
              <a:xfrm>
                <a:off x="6789234" y="199647"/>
                <a:ext cx="5088270" cy="2558201"/>
              </a:xfrm>
              <a:prstGeom prst="rect">
                <a:avLst/>
              </a:prstGeom>
              <a:blipFill rotWithShape="1">
                <a:blip r:embed="rId3"/>
                <a:stretch>
                  <a:fillRect l="-9" t="-10" r="9"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6670198" y="3429000"/>
                <a:ext cx="5394790" cy="2457532"/>
              </a:xfrm>
              <a:prstGeom prst="rect">
                <a:avLst/>
              </a:prstGeom>
              <a:noFill/>
            </p:spPr>
            <p:txBody>
              <a:bodyPr wrap="square" rtlCol="0">
                <a:spAutoFit/>
              </a:bodyPr>
              <a:lstStyle>
                <a:defPPr>
                  <a:defRPr lang="zh-CN"/>
                </a:defPPr>
                <a:lvl1pPr algn="just">
                  <a:lnSpc>
                    <a:spcPct val="110000"/>
                  </a:lnSpc>
                  <a:defRPr sz="2400"/>
                </a:lvl1pPr>
              </a:lstStyle>
              <a:p>
                <a:r>
                  <a:rPr lang="zh-CN" altLang="en-US" dirty="0"/>
                  <a:t>     存在</a:t>
                </a:r>
                <a14:m>
                  <m:oMath xmlns:m="http://schemas.openxmlformats.org/officeDocument/2006/math">
                    <m:sSup>
                      <m:sSupPr>
                        <m:ctrlPr>
                          <a:rPr lang="en-US" altLang="zh-CN" i="1">
                            <a:latin typeface="Cambria Math" panose="02040503050406030204" pitchFamily="18" charset="0"/>
                          </a:rPr>
                        </m:ctrlPr>
                      </m:sSupPr>
                      <m:e>
                        <m:r>
                          <a:rPr lang="zh-CN" altLang="en-US">
                            <a:latin typeface="Cambria Math" panose="02040503050406030204" pitchFamily="18" charset="0"/>
                          </a:rPr>
                          <m:t>𝜆</m:t>
                        </m:r>
                      </m:e>
                      <m:sup>
                        <m:r>
                          <a:rPr lang="en-US" altLang="zh-CN">
                            <a:latin typeface="Cambria Math" panose="02040503050406030204" pitchFamily="18" charset="0"/>
                          </a:rPr>
                          <m:t>∗</m:t>
                        </m:r>
                      </m:sup>
                    </m:sSup>
                  </m:oMath>
                </a14:m>
                <a:r>
                  <a:rPr lang="zh-CN" altLang="en-US" dirty="0"/>
                  <a:t>，使得</a:t>
                </a:r>
                <a:r>
                  <a:rPr lang="en-US" altLang="zh-CN" dirty="0"/>
                  <a:t> </a:t>
                </a:r>
                <a14:m>
                  <m:oMath xmlns:m="http://schemas.openxmlformats.org/officeDocument/2006/math">
                    <m:sSup>
                      <m:sSupPr>
                        <m:ctrlPr>
                          <a:rPr lang="en-US" altLang="zh-CN" i="1">
                            <a:latin typeface="Cambria Math" panose="02040503050406030204" pitchFamily="18" charset="0"/>
                          </a:rPr>
                        </m:ctrlPr>
                      </m:sSupPr>
                      <m:e>
                        <m:sSup>
                          <m:sSupPr>
                            <m:ctrlPr>
                              <a:rPr lang="en-US" altLang="zh-CN" i="1">
                                <a:latin typeface="Cambria Math" panose="02040503050406030204" pitchFamily="18" charset="0"/>
                              </a:rPr>
                            </m:ctrlPr>
                          </m:sSupPr>
                          <m:e>
                            <m:r>
                              <a:rPr lang="en-US" altLang="zh-CN">
                                <a:latin typeface="Cambria Math" panose="02040503050406030204" pitchFamily="18" charset="0"/>
                              </a:rPr>
                              <m:t>(</m:t>
                            </m:r>
                            <m:r>
                              <a:rPr lang="en-US" altLang="zh-CN">
                                <a:latin typeface="Cambria Math" panose="02040503050406030204" pitchFamily="18" charset="0"/>
                              </a:rPr>
                              <m:t>𝑥</m:t>
                            </m:r>
                          </m:e>
                          <m:sup>
                            <m:r>
                              <a:rPr lang="en-US" altLang="zh-CN">
                                <a:latin typeface="Cambria Math" panose="02040503050406030204" pitchFamily="18" charset="0"/>
                              </a:rPr>
                              <m:t>∗</m:t>
                            </m:r>
                          </m:sup>
                        </m:sSup>
                        <m:r>
                          <a:rPr lang="en-US" altLang="zh-CN">
                            <a:latin typeface="Cambria Math" panose="02040503050406030204" pitchFamily="18" charset="0"/>
                          </a:rPr>
                          <m:t>,</m:t>
                        </m:r>
                        <m:r>
                          <a:rPr lang="zh-CN" altLang="en-US">
                            <a:latin typeface="Cambria Math" panose="02040503050406030204" pitchFamily="18" charset="0"/>
                          </a:rPr>
                          <m:t>𝜆</m:t>
                        </m:r>
                      </m:e>
                      <m:sup>
                        <m:r>
                          <a:rPr lang="en-US" altLang="zh-CN">
                            <a:latin typeface="Cambria Math" panose="02040503050406030204" pitchFamily="18" charset="0"/>
                          </a:rPr>
                          <m:t>∗</m:t>
                        </m:r>
                      </m:sup>
                    </m:sSup>
                    <m:r>
                      <a:rPr lang="en-US" altLang="zh-CN">
                        <a:latin typeface="Cambria Math" panose="02040503050406030204" pitchFamily="18" charset="0"/>
                      </a:rPr>
                      <m:t>) </m:t>
                    </m:r>
                  </m:oMath>
                </a14:m>
                <a:r>
                  <a:rPr lang="zh-CN" altLang="en-US" dirty="0"/>
                  <a:t>满足</a:t>
                </a:r>
                <a:r>
                  <a:rPr lang="en-US" altLang="zh-CN" dirty="0"/>
                  <a:t>KKT</a:t>
                </a:r>
                <a:r>
                  <a:rPr lang="zh-CN" altLang="en-US" dirty="0"/>
                  <a:t>条件</a:t>
                </a:r>
                <a:endParaRPr lang="zh-CN" altLang="en-US" dirty="0"/>
              </a:p>
              <a:p>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𝐺</m:t>
                      </m:r>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a:latin typeface="Cambria Math" panose="02040503050406030204" pitchFamily="18" charset="0"/>
                        </a:rPr>
                        <m:t>𝑟</m:t>
                      </m:r>
                      <m:r>
                        <a:rPr lang="zh-CN" altLang="en-US">
                          <a:latin typeface="Cambria Math" panose="02040503050406030204" pitchFamily="18" charset="0"/>
                        </a:rPr>
                        <m:t>−</m:t>
                      </m:r>
                      <m:nary>
                        <m:naryPr>
                          <m:chr m:val="∑"/>
                          <m:ctrlPr>
                            <a:rPr lang="zh-CN" altLang="zh-CN" i="1">
                              <a:latin typeface="Cambria Math" panose="02040503050406030204" pitchFamily="18" charset="0"/>
                            </a:rPr>
                          </m:ctrlPr>
                        </m:naryPr>
                        <m:sub>
                          <m:r>
                            <a:rPr lang="en-US" altLang="zh-CN">
                              <a:latin typeface="Cambria Math" panose="02040503050406030204" pitchFamily="18" charset="0"/>
                            </a:rPr>
                            <m:t>𝑖</m:t>
                          </m:r>
                          <m:r>
                            <a:rPr lang="en-US" altLang="zh-CN">
                              <a:latin typeface="Cambria Math" panose="02040503050406030204" pitchFamily="18" charset="0"/>
                            </a:rPr>
                            <m:t>=</m:t>
                          </m:r>
                          <m:r>
                            <a:rPr lang="en-US" altLang="zh-CN">
                              <a:latin typeface="Cambria Math" panose="02040503050406030204" pitchFamily="18" charset="0"/>
                            </a:rPr>
                            <m:t>1</m:t>
                          </m:r>
                        </m:sub>
                        <m:sup>
                          <m:r>
                            <a:rPr lang="en-US" altLang="zh-CN">
                              <a:latin typeface="Cambria Math" panose="02040503050406030204" pitchFamily="18" charset="0"/>
                            </a:rPr>
                            <m:t>𝑚</m:t>
                          </m:r>
                        </m:sup>
                        <m:e>
                          <m:sSubSup>
                            <m:sSubSupPr>
                              <m:ctrlPr>
                                <a:rPr lang="zh-CN" altLang="zh-CN" i="1">
                                  <a:latin typeface="Cambria Math" panose="02040503050406030204" pitchFamily="18" charset="0"/>
                                </a:rPr>
                              </m:ctrlPr>
                            </m:sSubSupPr>
                            <m:e>
                              <m:r>
                                <a:rPr lang="en-US" altLang="zh-CN">
                                  <a:latin typeface="Cambria Math" panose="02040503050406030204" pitchFamily="18" charset="0"/>
                                </a:rPr>
                                <m:t>𝜆</m:t>
                              </m:r>
                            </m:e>
                            <m:sub>
                              <m:r>
                                <a:rPr lang="en-US" altLang="zh-CN">
                                  <a:latin typeface="Cambria Math" panose="02040503050406030204" pitchFamily="18" charset="0"/>
                                </a:rPr>
                                <m:t>𝑖</m:t>
                              </m:r>
                            </m:sub>
                            <m:sup>
                              <m:r>
                                <a:rPr lang="en-US" altLang="zh-CN">
                                  <a:latin typeface="Cambria Math" panose="02040503050406030204" pitchFamily="18" charset="0"/>
                                </a:rPr>
                                <m:t>∗</m:t>
                              </m:r>
                            </m:sup>
                          </m:sSubSup>
                          <m:sSub>
                            <m:sSubPr>
                              <m:ctrlPr>
                                <a:rPr lang="zh-CN" altLang="zh-CN" i="1">
                                  <a:latin typeface="Cambria Math" panose="02040503050406030204" pitchFamily="18" charset="0"/>
                                </a:rPr>
                              </m:ctrlPr>
                            </m:sSubPr>
                            <m:e>
                              <m:r>
                                <a:rPr lang="en-US" altLang="zh-CN">
                                  <a:latin typeface="Cambria Math" panose="02040503050406030204" pitchFamily="18" charset="0"/>
                                </a:rPr>
                                <m:t>𝐴</m:t>
                              </m:r>
                            </m:e>
                            <m:sub>
                              <m:r>
                                <a:rPr lang="en-US" altLang="zh-CN">
                                  <a:latin typeface="Cambria Math" panose="02040503050406030204" pitchFamily="18" charset="0"/>
                                </a:rPr>
                                <m:t>𝑖</m:t>
                              </m:r>
                            </m:sub>
                          </m:sSub>
                        </m:e>
                      </m:nary>
                      <m:r>
                        <a:rPr lang="en-US" altLang="zh-CN">
                          <a:latin typeface="Cambria Math" panose="02040503050406030204" pitchFamily="18" charset="0"/>
                        </a:rPr>
                        <m:t>−</m:t>
                      </m:r>
                      <m:nary>
                        <m:naryPr>
                          <m:chr m:val="∑"/>
                          <m:ctrlPr>
                            <a:rPr lang="zh-CN" altLang="zh-CN" i="1">
                              <a:latin typeface="Cambria Math" panose="02040503050406030204" pitchFamily="18" charset="0"/>
                            </a:rPr>
                          </m:ctrlPr>
                        </m:naryPr>
                        <m:sub>
                          <m:r>
                            <a:rPr lang="en-US" altLang="zh-CN">
                              <a:latin typeface="Cambria Math" panose="02040503050406030204" pitchFamily="18" charset="0"/>
                            </a:rPr>
                            <m:t>𝑖</m:t>
                          </m:r>
                          <m:r>
                            <a:rPr lang="zh-CN" altLang="en-US">
                              <a:latin typeface="Cambria Math" panose="02040503050406030204" pitchFamily="18" charset="0"/>
                            </a:rPr>
                            <m:t>∈</m:t>
                          </m:r>
                          <m:r>
                            <a:rPr lang="en-US" altLang="zh-CN">
                              <a:latin typeface="Cambria Math" panose="02040503050406030204" pitchFamily="18" charset="0"/>
                            </a:rPr>
                            <m:t>𝐼</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r>
                            <a:rPr lang="en-US" altLang="zh-CN">
                              <a:latin typeface="Cambria Math" panose="02040503050406030204" pitchFamily="18" charset="0"/>
                            </a:rPr>
                            <m:t>)</m:t>
                          </m:r>
                        </m:sub>
                        <m:sup>
                          <m:r>
                            <a:rPr lang="en-US" altLang="zh-CN">
                              <a:latin typeface="Cambria Math" panose="02040503050406030204" pitchFamily="18" charset="0"/>
                            </a:rPr>
                            <m:t>𝑚</m:t>
                          </m:r>
                        </m:sup>
                        <m:e>
                          <m:sSubSup>
                            <m:sSubSupPr>
                              <m:ctrlPr>
                                <a:rPr lang="zh-CN" altLang="zh-CN" i="1">
                                  <a:latin typeface="Cambria Math" panose="02040503050406030204" pitchFamily="18" charset="0"/>
                                </a:rPr>
                              </m:ctrlPr>
                            </m:sSubSupPr>
                            <m:e>
                              <m:r>
                                <a:rPr lang="en-US" altLang="zh-CN">
                                  <a:latin typeface="Cambria Math" panose="02040503050406030204" pitchFamily="18" charset="0"/>
                                </a:rPr>
                                <m:t>𝜆</m:t>
                              </m:r>
                            </m:e>
                            <m:sub>
                              <m:r>
                                <a:rPr lang="en-US" altLang="zh-CN">
                                  <a:latin typeface="Cambria Math" panose="02040503050406030204" pitchFamily="18" charset="0"/>
                                </a:rPr>
                                <m:t>𝑖</m:t>
                              </m:r>
                            </m:sub>
                            <m:sup>
                              <m:r>
                                <a:rPr lang="en-US" altLang="zh-CN">
                                  <a:latin typeface="Cambria Math" panose="02040503050406030204" pitchFamily="18" charset="0"/>
                                </a:rPr>
                                <m:t>∗</m:t>
                              </m:r>
                            </m:sup>
                          </m:sSubSup>
                          <m:sSub>
                            <m:sSubPr>
                              <m:ctrlPr>
                                <a:rPr lang="zh-CN" altLang="zh-CN" i="1">
                                  <a:latin typeface="Cambria Math" panose="02040503050406030204" pitchFamily="18" charset="0"/>
                                </a:rPr>
                              </m:ctrlPr>
                            </m:sSubPr>
                            <m:e>
                              <m:r>
                                <a:rPr lang="en-US" altLang="zh-CN">
                                  <a:latin typeface="Cambria Math" panose="02040503050406030204" pitchFamily="18" charset="0"/>
                                </a:rPr>
                                <m:t>𝐴</m:t>
                              </m:r>
                            </m:e>
                            <m:sub>
                              <m:r>
                                <a:rPr lang="en-US" altLang="zh-CN">
                                  <a:latin typeface="Cambria Math" panose="02040503050406030204" pitchFamily="18" charset="0"/>
                                </a:rPr>
                                <m:t>𝑖</m:t>
                              </m:r>
                            </m:sub>
                          </m:sSub>
                        </m:e>
                      </m:nary>
                      <m:r>
                        <a:rPr lang="en-US" altLang="zh-CN">
                          <a:latin typeface="Cambria Math" panose="02040503050406030204" pitchFamily="18" charset="0"/>
                        </a:rPr>
                        <m:t>=</m:t>
                      </m:r>
                      <m:r>
                        <a:rPr lang="en-US" altLang="zh-CN" smtClean="0">
                          <a:latin typeface="Cambria Math" panose="02040503050406030204" pitchFamily="18" charset="0"/>
                        </a:rPr>
                        <m:t>0</m:t>
                      </m:r>
                    </m:oMath>
                    <m:oMath xmlns:m="http://schemas.openxmlformats.org/officeDocument/2006/math">
                      <m:sSubSup>
                        <m:sSubSupPr>
                          <m:ctrlPr>
                            <a:rPr lang="zh-CN" altLang="zh-CN" i="1">
                              <a:latin typeface="Cambria Math" panose="02040503050406030204" pitchFamily="18" charset="0"/>
                            </a:rPr>
                          </m:ctrlPr>
                        </m:sSubSupPr>
                        <m:e>
                          <m:r>
                            <a:rPr lang="en-US" altLang="zh-CN">
                              <a:latin typeface="Cambria Math" panose="02040503050406030204" pitchFamily="18" charset="0"/>
                            </a:rPr>
                            <m:t>𝐴</m:t>
                          </m:r>
                        </m:e>
                        <m:sub>
                          <m:r>
                            <a:rPr lang="en-US" altLang="zh-CN">
                              <a:latin typeface="Cambria Math" panose="02040503050406030204" pitchFamily="18" charset="0"/>
                            </a:rPr>
                            <m:t>𝑖</m:t>
                          </m:r>
                        </m:sub>
                        <m:sup>
                          <m:r>
                            <a:rPr lang="en-US" altLang="zh-CN">
                              <a:latin typeface="Cambria Math" panose="02040503050406030204" pitchFamily="18" charset="0"/>
                            </a:rPr>
                            <m:t>𝑇</m:t>
                          </m:r>
                        </m:sup>
                      </m:sSubSup>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r>
                        <a:rPr lang="zh-CN" altLang="en-US">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𝑏</m:t>
                          </m:r>
                        </m:e>
                        <m:sub>
                          <m:r>
                            <a:rPr lang="en-US" altLang="zh-CN">
                              <a:latin typeface="Cambria Math" panose="02040503050406030204" pitchFamily="18" charset="0"/>
                            </a:rPr>
                            <m:t>𝑖</m:t>
                          </m:r>
                        </m:sub>
                      </m:sSub>
                      <m:r>
                        <a:rPr lang="en-US" altLang="zh-CN">
                          <a:latin typeface="Cambria Math" panose="02040503050406030204" pitchFamily="18" charset="0"/>
                        </a:rPr>
                        <m:t>=</m:t>
                      </m:r>
                      <m:r>
                        <a:rPr lang="en-US" altLang="zh-CN">
                          <a:latin typeface="Cambria Math" panose="02040503050406030204" pitchFamily="18" charset="0"/>
                        </a:rPr>
                        <m:t>0</m:t>
                      </m:r>
                      <m:r>
                        <a:rPr lang="en-US" altLang="zh-CN">
                          <a:latin typeface="Cambria Math" panose="02040503050406030204" pitchFamily="18" charset="0"/>
                        </a:rPr>
                        <m:t>,  </m:t>
                      </m:r>
                      <m:r>
                        <a:rPr lang="en-US" altLang="zh-CN">
                          <a:latin typeface="Cambria Math" panose="02040503050406030204" pitchFamily="18" charset="0"/>
                        </a:rPr>
                        <m:t>1</m:t>
                      </m:r>
                      <m:r>
                        <a:rPr lang="en-US" altLang="zh-CN">
                          <a:latin typeface="Cambria Math" panose="02040503050406030204" pitchFamily="18" charset="0"/>
                        </a:rPr>
                        <m:t>≤</m:t>
                      </m:r>
                      <m:r>
                        <a:rPr lang="en-US" altLang="zh-CN">
                          <a:latin typeface="Cambria Math" panose="02040503050406030204" pitchFamily="18" charset="0"/>
                        </a:rPr>
                        <m:t>𝑖</m:t>
                      </m:r>
                      <m:r>
                        <a:rPr lang="en-US" altLang="zh-CN">
                          <a:latin typeface="Cambria Math" panose="02040503050406030204" pitchFamily="18" charset="0"/>
                        </a:rPr>
                        <m:t>≤</m:t>
                      </m:r>
                      <m:r>
                        <a:rPr lang="en-US" altLang="zh-CN">
                          <a:latin typeface="Cambria Math" panose="02040503050406030204" pitchFamily="18" charset="0"/>
                        </a:rPr>
                        <m:t>𝑚</m:t>
                      </m:r>
                    </m:oMath>
                  </m:oMathPara>
                </a14:m>
                <a:br>
                  <a:rPr lang="en-US" altLang="zh-CN" dirty="0"/>
                </a:br>
                <a:r>
                  <a:rPr lang="en-US" altLang="zh-CN" dirty="0"/>
                  <a:t>   </a:t>
                </a:r>
                <a14:m>
                  <m:oMath xmlns:m="http://schemas.openxmlformats.org/officeDocument/2006/math">
                    <m:sSubSup>
                      <m:sSubSupPr>
                        <m:ctrlPr>
                          <a:rPr lang="zh-CN" altLang="zh-CN" i="1">
                            <a:latin typeface="Cambria Math" panose="02040503050406030204" pitchFamily="18" charset="0"/>
                          </a:rPr>
                        </m:ctrlPr>
                      </m:sSubSupPr>
                      <m:e>
                        <m:r>
                          <a:rPr lang="en-US" altLang="zh-CN">
                            <a:latin typeface="Cambria Math" panose="02040503050406030204" pitchFamily="18" charset="0"/>
                          </a:rPr>
                          <m:t>𝐴</m:t>
                        </m:r>
                      </m:e>
                      <m:sub>
                        <m:r>
                          <a:rPr lang="en-US" altLang="zh-CN">
                            <a:latin typeface="Cambria Math" panose="02040503050406030204" pitchFamily="18" charset="0"/>
                          </a:rPr>
                          <m:t>𝑖</m:t>
                        </m:r>
                      </m:sub>
                      <m:sup>
                        <m:r>
                          <a:rPr lang="en-US" altLang="zh-CN">
                            <a:latin typeface="Cambria Math" panose="02040503050406030204" pitchFamily="18" charset="0"/>
                          </a:rPr>
                          <m:t>𝑇</m:t>
                        </m:r>
                      </m:sup>
                    </m:sSubSup>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r>
                      <a:rPr lang="zh-CN" altLang="en-US">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𝑏</m:t>
                        </m:r>
                      </m:e>
                      <m:sub>
                        <m:r>
                          <a:rPr lang="en-US" altLang="zh-CN">
                            <a:latin typeface="Cambria Math" panose="02040503050406030204" pitchFamily="18" charset="0"/>
                          </a:rPr>
                          <m:t>𝑖</m:t>
                        </m:r>
                      </m:sub>
                    </m:sSub>
                    <m:r>
                      <a:rPr lang="en-US" altLang="zh-CN">
                        <a:latin typeface="Cambria Math" panose="02040503050406030204" pitchFamily="18" charset="0"/>
                      </a:rPr>
                      <m:t>=</m:t>
                    </m:r>
                    <m:r>
                      <a:rPr lang="en-US" altLang="zh-CN">
                        <a:latin typeface="Cambria Math" panose="02040503050406030204" pitchFamily="18" charset="0"/>
                      </a:rPr>
                      <m:t>0</m:t>
                    </m:r>
                    <m:r>
                      <a:rPr lang="en-US" altLang="zh-CN">
                        <a:latin typeface="Cambria Math" panose="02040503050406030204" pitchFamily="18" charset="0"/>
                      </a:rPr>
                      <m:t>,   </m:t>
                    </m:r>
                    <m:r>
                      <a:rPr lang="en-US" altLang="zh-CN">
                        <a:latin typeface="Cambria Math" panose="02040503050406030204" pitchFamily="18" charset="0"/>
                      </a:rPr>
                      <m:t>𝑖</m:t>
                    </m:r>
                    <m:r>
                      <a:rPr lang="zh-CN" altLang="en-US">
                        <a:latin typeface="Cambria Math" panose="02040503050406030204" pitchFamily="18" charset="0"/>
                      </a:rPr>
                      <m:t>∈</m:t>
                    </m:r>
                    <m:r>
                      <a:rPr lang="en-US" altLang="zh-CN">
                        <a:latin typeface="Cambria Math" panose="02040503050406030204" pitchFamily="18" charset="0"/>
                      </a:rPr>
                      <m:t>𝐼</m:t>
                    </m:r>
                    <m:d>
                      <m:dPr>
                        <m:ctrlPr>
                          <a:rPr lang="en-US" altLang="zh-CN" i="1">
                            <a:latin typeface="Cambria Math" panose="02040503050406030204" pitchFamily="18" charset="0"/>
                          </a:rPr>
                        </m:ctrlPr>
                      </m:dPr>
                      <m:e>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e>
                    </m:d>
                    <m:r>
                      <a:rPr lang="en-US" altLang="zh-CN">
                        <a:latin typeface="Cambria Math" panose="02040503050406030204" pitchFamily="18" charset="0"/>
                      </a:rPr>
                      <m:t>.</m:t>
                    </m:r>
                  </m:oMath>
                </a14:m>
                <a:endParaRPr lang="zh-CN" altLang="en-US" dirty="0"/>
              </a:p>
            </p:txBody>
          </p:sp>
        </mc:Choice>
        <mc:Fallback>
          <p:sp>
            <p:nvSpPr>
              <p:cNvPr id="21" name="文本框 20"/>
              <p:cNvSpPr txBox="1">
                <a:spLocks noRot="1" noChangeAspect="1" noMove="1" noResize="1" noEditPoints="1" noAdjustHandles="1" noChangeArrowheads="1" noChangeShapeType="1" noTextEdit="1"/>
              </p:cNvSpPr>
              <p:nvPr/>
            </p:nvSpPr>
            <p:spPr>
              <a:xfrm>
                <a:off x="6670198" y="3429000"/>
                <a:ext cx="5394790" cy="2457532"/>
              </a:xfrm>
              <a:prstGeom prst="rect">
                <a:avLst/>
              </a:prstGeom>
              <a:blipFill rotWithShape="1">
                <a:blip r:embed="rId4"/>
                <a:stretch>
                  <a:fillRect l="-3" r="12" b="-1004"/>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551384" y="947322"/>
                <a:ext cx="10657184" cy="4209870"/>
              </a:xfrm>
              <a:prstGeom prst="rect">
                <a:avLst/>
              </a:prstGeom>
              <a:noFill/>
            </p:spPr>
            <p:txBody>
              <a:bodyPr wrap="square" rtlCol="0">
                <a:spAutoFit/>
              </a:bodyPr>
              <a:lstStyle/>
              <a:p>
                <a:pPr algn="just">
                  <a:lnSpc>
                    <a:spcPct val="150000"/>
                  </a:lnSpc>
                </a:pPr>
                <a:r>
                  <a:rPr lang="en-US" altLang="zh-CN" sz="2400" dirty="0">
                    <a:latin typeface="黑体" panose="02010609060101010101" pitchFamily="49" charset="-122"/>
                    <a:ea typeface="黑体" panose="02010609060101010101" pitchFamily="49" charset="-122"/>
                  </a:rPr>
                  <a:t>    </a:t>
                </a:r>
                <a:r>
                  <a:rPr lang="zh-CN" altLang="zh-CN" sz="2400" dirty="0">
                    <a:latin typeface="黑体" panose="02010609060101010101" pitchFamily="49" charset="-122"/>
                    <a:ea typeface="黑体" panose="02010609060101010101" pitchFamily="49" charset="-122"/>
                  </a:rPr>
                  <a:t>定理</a:t>
                </a:r>
                <a:r>
                  <a:rPr lang="en-US" altLang="zh-CN" sz="2400" dirty="0">
                    <a:latin typeface="黑体" panose="02010609060101010101" pitchFamily="49" charset="-122"/>
                    <a:ea typeface="黑体" panose="02010609060101010101" pitchFamily="49" charset="-122"/>
                  </a:rPr>
                  <a:t>2  </a:t>
                </a:r>
                <a:r>
                  <a:rPr lang="zh-CN" altLang="zh-CN" sz="2400" dirty="0"/>
                  <a:t>若</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oMath>
                </a14:m>
                <a:r>
                  <a:rPr lang="zh-CN" altLang="zh-CN" sz="2400" dirty="0"/>
                  <a:t>是凸二次规划</a:t>
                </a:r>
                <a:r>
                  <a:rPr lang="en-US" altLang="zh-CN" sz="2400" dirty="0"/>
                  <a:t>(1)</a:t>
                </a:r>
                <a:r>
                  <a:rPr lang="zh-CN" altLang="zh-CN" sz="2400" dirty="0"/>
                  <a:t>的全局极小点，设</a:t>
                </a:r>
                <a14:m>
                  <m:oMath xmlns:m="http://schemas.openxmlformats.org/officeDocument/2006/math">
                    <m:r>
                      <a:rPr lang="en-US" altLang="zh-CN" sz="2400" i="1">
                        <a:latin typeface="Cambria Math" panose="02040503050406030204" pitchFamily="18" charset="0"/>
                      </a:rPr>
                      <m:t>𝐼</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oMath>
                </a14:m>
                <a:r>
                  <a:rPr lang="zh-CN" altLang="zh-CN" sz="2400" dirty="0"/>
                  <a:t>为凸二次规划</a:t>
                </a:r>
                <a:r>
                  <a:rPr lang="en-US" altLang="zh-CN" sz="2400" dirty="0"/>
                  <a:t>(1) </a:t>
                </a:r>
                <a:r>
                  <a:rPr lang="zh-CN" altLang="zh-CN" sz="2400" dirty="0"/>
                  <a:t>在</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oMath>
                </a14:m>
                <a:r>
                  <a:rPr lang="zh-CN" altLang="zh-CN" sz="2400" dirty="0"/>
                  <a:t>处起作用的不等式约束下标集，则</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oMath>
                </a14:m>
                <a:r>
                  <a:rPr lang="zh-CN" altLang="zh-CN" sz="2400" dirty="0"/>
                  <a:t>是如下等式约束二次规划问题</a:t>
                </a:r>
                <a:r>
                  <a:rPr lang="en-US" altLang="zh-CN" sz="2400" dirty="0"/>
                  <a:t>(2)</a:t>
                </a:r>
                <a:endParaRPr lang="zh-CN" altLang="zh-CN" sz="2400" dirty="0"/>
              </a:p>
              <a:p>
                <a:pPr algn="just">
                  <a:lnSpc>
                    <a:spcPct val="150000"/>
                  </a:lnSpc>
                </a:pPr>
                <a:r>
                  <a:rPr lang="en-US" altLang="zh-CN" sz="2400" dirty="0"/>
                  <a:t>			</a:t>
                </a:r>
                <a14:m>
                  <m:oMath xmlns:m="http://schemas.openxmlformats.org/officeDocument/2006/math">
                    <m:func>
                      <m:funcPr>
                        <m:ctrlPr>
                          <a:rPr lang="zh-CN" altLang="zh-CN" sz="2400" i="1">
                            <a:latin typeface="Cambria Math" panose="02040503050406030204" pitchFamily="18" charset="0"/>
                          </a:rPr>
                        </m:ctrlPr>
                      </m:funcPr>
                      <m:fName>
                        <m:r>
                          <a:rPr lang="en-US" altLang="zh-CN" sz="2400" i="1">
                            <a:latin typeface="Cambria Math" panose="02040503050406030204" pitchFamily="18" charset="0"/>
                          </a:rPr>
                          <m:t>𝑚𝑖𝑛</m:t>
                        </m:r>
                      </m:fName>
                      <m:e>
                        <m:r>
                          <a:rPr lang="zh-CN" altLang="zh-CN" sz="2400" i="1">
                            <a:latin typeface="Cambria Math" panose="02040503050406030204" pitchFamily="18" charset="0"/>
                          </a:rPr>
                          <m:t> </m:t>
                        </m:r>
                      </m:e>
                    </m:func>
                    <m:r>
                      <a:rPr lang="en-US" altLang="zh-CN" sz="2400" i="1">
                        <a:latin typeface="Cambria Math" panose="02040503050406030204" pitchFamily="18" charset="0"/>
                      </a:rPr>
                      <m:t>𝑓</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𝑥</m:t>
                        </m:r>
                      </m:e>
                    </m:d>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𝐺𝑥</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𝑟</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𝑥</m:t>
                    </m:r>
                    <m:r>
                      <a:rPr lang="en-US" altLang="zh-CN" sz="2400" i="1">
                        <a:latin typeface="Cambria Math" panose="02040503050406030204" pitchFamily="18" charset="0"/>
                      </a:rPr>
                      <m:t>,    </m:t>
                    </m:r>
                    <m:r>
                      <a:rPr lang="en-US" altLang="zh-CN" sz="2400" i="1">
                        <a:latin typeface="Cambria Math" panose="02040503050406030204" pitchFamily="18" charset="0"/>
                      </a:rPr>
                      <m:t>𝑥</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𝑅</m:t>
                        </m:r>
                      </m:e>
                      <m:sup>
                        <m:r>
                          <a:rPr lang="en-US" altLang="zh-CN" sz="2400" i="1">
                            <a:latin typeface="Cambria Math" panose="02040503050406030204" pitchFamily="18" charset="0"/>
                          </a:rPr>
                          <m:t>𝑛</m:t>
                        </m:r>
                      </m:sup>
                    </m:sSup>
                  </m:oMath>
                </a14:m>
                <a:endParaRPr lang="en-US" altLang="zh-CN" sz="2400" i="1" dirty="0"/>
              </a:p>
              <a:p>
                <a:pPr algn="ctr">
                  <a:lnSpc>
                    <a:spcPct val="150000"/>
                  </a:lnSpc>
                </a:pPr>
                <a14:m>
                  <m:oMath xmlns:m="http://schemas.openxmlformats.org/officeDocument/2006/math">
                    <m:r>
                      <a:rPr lang="en-US" altLang="zh-CN" sz="2400" i="1">
                        <a:latin typeface="Cambria Math" panose="02040503050406030204" pitchFamily="18" charset="0"/>
                      </a:rPr>
                      <m:t>𝑠</m:t>
                    </m:r>
                    <m:r>
                      <a:rPr lang="en-US" altLang="zh-CN" sz="2400" i="1">
                        <a:latin typeface="Cambria Math" panose="02040503050406030204" pitchFamily="18" charset="0"/>
                      </a:rPr>
                      <m:t>.</m:t>
                    </m:r>
                    <m:r>
                      <a:rPr lang="en-US" altLang="zh-CN" sz="2400" i="1">
                        <a:latin typeface="Cambria Math" panose="02040503050406030204" pitchFamily="18" charset="0"/>
                      </a:rPr>
                      <m:t>𝑡</m:t>
                    </m:r>
                    <m:r>
                      <a:rPr lang="en-US" altLang="zh-CN" sz="240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ℎ</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𝐴</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𝑇</m:t>
                        </m:r>
                      </m:sup>
                    </m:sSubSup>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𝑏</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, </m:t>
                    </m:r>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1</m:t>
                    </m:r>
                    <m:r>
                      <a:rPr lang="en-US" altLang="zh-CN" sz="2400" i="1">
                        <a:latin typeface="Cambria Math" panose="02040503050406030204" pitchFamily="18" charset="0"/>
                      </a:rPr>
                      <m:t>,</m:t>
                    </m:r>
                    <m:r>
                      <a:rPr lang="en-US" altLang="zh-CN" sz="2400" i="1">
                        <a:latin typeface="Cambria Math" panose="02040503050406030204" pitchFamily="18" charset="0"/>
                      </a:rPr>
                      <m:t>2</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𝐼</m:t>
                    </m:r>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oMath>
                </a14:m>
                <a:r>
                  <a:rPr lang="en-US" altLang="zh-CN" sz="2400" dirty="0"/>
                  <a:t>    </a:t>
                </a:r>
                <a:endParaRPr lang="zh-CN" altLang="zh-CN" sz="2400" dirty="0"/>
              </a:p>
              <a:p>
                <a:pPr algn="just">
                  <a:lnSpc>
                    <a:spcPct val="150000"/>
                  </a:lnSpc>
                </a:pPr>
                <a:r>
                  <a:rPr lang="en-US" altLang="zh-CN" sz="2400" dirty="0"/>
                  <a:t> </a:t>
                </a:r>
                <a:r>
                  <a:rPr lang="zh-CN" altLang="zh-CN" sz="2400" dirty="0"/>
                  <a:t>的全局极小点</a:t>
                </a:r>
                <a:r>
                  <a:rPr lang="zh-CN" altLang="en-US" sz="2400" dirty="0"/>
                  <a:t>。</a:t>
                </a:r>
                <a:endParaRPr lang="zh-CN" altLang="zh-CN" sz="2400" dirty="0"/>
              </a:p>
              <a:p>
                <a:pPr algn="just">
                  <a:lnSpc>
                    <a:spcPct val="150000"/>
                  </a:lnSpc>
                </a:pPr>
                <a:r>
                  <a:rPr lang="en-US" altLang="zh-CN" sz="2400" dirty="0"/>
                  <a:t>        </a:t>
                </a:r>
                <a:r>
                  <a:rPr lang="zh-CN" altLang="zh-CN" sz="2400" dirty="0">
                    <a:latin typeface="黑体" panose="02010609060101010101" pitchFamily="49" charset="-122"/>
                    <a:ea typeface="黑体" panose="02010609060101010101" pitchFamily="49" charset="-122"/>
                  </a:rPr>
                  <a:t>证</a:t>
                </a:r>
                <a:r>
                  <a:rPr lang="zh-CN" altLang="zh-CN" sz="2400" dirty="0"/>
                  <a:t> 若</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oMath>
                </a14:m>
                <a:r>
                  <a:rPr lang="zh-CN" altLang="zh-CN" sz="2400" dirty="0"/>
                  <a:t>是凸二次规划</a:t>
                </a:r>
                <a:r>
                  <a:rPr lang="en-US" altLang="zh-CN" sz="2400" dirty="0"/>
                  <a:t>(1)</a:t>
                </a:r>
                <a:r>
                  <a:rPr lang="zh-CN" altLang="zh-CN" sz="2400" dirty="0"/>
                  <a:t>的全局极小点，则</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oMath>
                </a14:m>
                <a:r>
                  <a:rPr lang="zh-CN" altLang="zh-CN" sz="2400" dirty="0"/>
                  <a:t>是问题</a:t>
                </a:r>
                <a:r>
                  <a:rPr lang="en-US" altLang="zh-CN" sz="2400" dirty="0"/>
                  <a:t>(1)</a:t>
                </a:r>
                <a:r>
                  <a:rPr lang="zh-CN" altLang="zh-CN" sz="2400" dirty="0"/>
                  <a:t>的</a:t>
                </a:r>
                <a:r>
                  <a:rPr lang="en-US" altLang="zh-CN" sz="2400" dirty="0"/>
                  <a:t>KKT</a:t>
                </a:r>
                <a:r>
                  <a:rPr lang="zh-CN" altLang="zh-CN" sz="2400" dirty="0"/>
                  <a:t>点，也是问题</a:t>
                </a:r>
                <a:r>
                  <a:rPr lang="en-US" altLang="zh-CN" sz="2400" dirty="0"/>
                  <a:t>(2)</a:t>
                </a:r>
                <a:r>
                  <a:rPr lang="zh-CN" altLang="zh-CN" sz="2400" dirty="0"/>
                  <a:t>的</a:t>
                </a:r>
                <a:r>
                  <a:rPr lang="en-US" altLang="zh-CN" sz="2400" dirty="0"/>
                  <a:t>KKT</a:t>
                </a:r>
                <a:r>
                  <a:rPr lang="zh-CN" altLang="zh-CN" sz="2400" dirty="0"/>
                  <a:t>点，由定理</a:t>
                </a:r>
                <a:r>
                  <a:rPr lang="en-US" altLang="zh-CN" sz="2400" dirty="0"/>
                  <a:t>1</a:t>
                </a:r>
                <a:r>
                  <a:rPr lang="zh-CN" altLang="zh-CN" sz="2400" dirty="0"/>
                  <a:t>可知，</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oMath>
                </a14:m>
                <a:r>
                  <a:rPr lang="zh-CN" altLang="zh-CN" sz="2400" dirty="0"/>
                  <a:t>是问题</a:t>
                </a:r>
                <a:r>
                  <a:rPr lang="en-US" altLang="zh-CN" sz="2400" dirty="0"/>
                  <a:t>(2)</a:t>
                </a:r>
                <a:r>
                  <a:rPr lang="zh-CN" altLang="zh-CN" sz="2400" dirty="0"/>
                  <a:t>的全局极小点。</a:t>
                </a:r>
                <a:endParaRPr lang="zh-CN" altLang="zh-CN" sz="2400" dirty="0"/>
              </a:p>
            </p:txBody>
          </p:sp>
        </mc:Choice>
        <mc:Fallback>
          <p:sp>
            <p:nvSpPr>
              <p:cNvPr id="2" name="文本框 1"/>
              <p:cNvSpPr txBox="1">
                <a:spLocks noRot="1" noChangeAspect="1" noMove="1" noResize="1" noEditPoints="1" noAdjustHandles="1" noChangeArrowheads="1" noChangeShapeType="1" noTextEdit="1"/>
              </p:cNvSpPr>
              <p:nvPr/>
            </p:nvSpPr>
            <p:spPr>
              <a:xfrm>
                <a:off x="551384" y="947322"/>
                <a:ext cx="10657184" cy="4209870"/>
              </a:xfrm>
              <a:prstGeom prst="rect">
                <a:avLst/>
              </a:prstGeom>
              <a:blipFill rotWithShape="1">
                <a:blip r:embed="rId1"/>
                <a:stretch>
                  <a:fillRect l="-2" t="-13" r="2" b="8"/>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文本框 10"/>
              <p:cNvSpPr txBox="1"/>
              <p:nvPr/>
            </p:nvSpPr>
            <p:spPr>
              <a:xfrm>
                <a:off x="767408" y="2636912"/>
                <a:ext cx="10513168" cy="2861310"/>
              </a:xfrm>
              <a:prstGeom prst="rect">
                <a:avLst/>
              </a:prstGeom>
              <a:noFill/>
            </p:spPr>
            <p:txBody>
              <a:bodyPr wrap="square">
                <a:spAutoFit/>
              </a:bodyPr>
              <a:lstStyle/>
              <a:p>
                <a:pPr indent="170180" algn="just" latinLnBrk="0">
                  <a:lnSpc>
                    <a:spcPct val="150000"/>
                  </a:lnSpc>
                </a:pPr>
                <a:r>
                  <a:rPr lang="en-US" altLang="zh-CN" sz="2400" kern="100" dirty="0">
                    <a:effectLst/>
                    <a:latin typeface="+mn-ea"/>
                    <a:ea typeface="+mn-ea"/>
                  </a:rPr>
                  <a:t>   </a:t>
                </a:r>
                <a:r>
                  <a:rPr lang="zh-CN" altLang="zh-CN" sz="2400" kern="100" dirty="0">
                    <a:effectLst/>
                    <a:latin typeface="+mn-ea"/>
                    <a:ea typeface="+mn-ea"/>
                  </a:rPr>
                  <a:t>由</a:t>
                </a:r>
                <a:r>
                  <a:rPr lang="zh-CN" altLang="en-US" sz="2400" kern="100" dirty="0">
                    <a:effectLst/>
                    <a:latin typeface="+mn-ea"/>
                    <a:ea typeface="+mn-ea"/>
                  </a:rPr>
                  <a:t>二次规划</a:t>
                </a:r>
                <a:r>
                  <a:rPr lang="zh-CN" altLang="zh-CN" sz="2400" kern="100" dirty="0">
                    <a:effectLst/>
                    <a:latin typeface="+mn-ea"/>
                    <a:ea typeface="+mn-ea"/>
                  </a:rPr>
                  <a:t>定理</a:t>
                </a:r>
                <a:r>
                  <a:rPr lang="en-US" altLang="zh-CN" sz="2400" kern="100" dirty="0">
                    <a:effectLst/>
                    <a:latin typeface="+mn-ea"/>
                    <a:ea typeface="+mn-ea"/>
                  </a:rPr>
                  <a:t>2</a:t>
                </a:r>
                <a:r>
                  <a:rPr lang="zh-CN" altLang="zh-CN" sz="2400" kern="100" dirty="0">
                    <a:effectLst/>
                    <a:latin typeface="+mn-ea"/>
                    <a:ea typeface="+mn-ea"/>
                  </a:rPr>
                  <a:t>可知，若</a:t>
                </a:r>
                <a14:m>
                  <m:oMath xmlns:m="http://schemas.openxmlformats.org/officeDocument/2006/math">
                    <m:sSup>
                      <m:sSupPr>
                        <m:ctrlPr>
                          <a:rPr lang="en-US" altLang="zh-CN" sz="2400" i="1" smtClean="0">
                            <a:latin typeface="Cambria Math" panose="02040503050406030204" pitchFamily="18" charset="0"/>
                            <a:ea typeface="+mn-ea"/>
                          </a:rPr>
                        </m:ctrlPr>
                      </m:sSupPr>
                      <m:e>
                        <m:r>
                          <a:rPr lang="en-US" altLang="zh-CN" sz="2400" b="0" i="1" smtClean="0">
                            <a:latin typeface="Cambria Math" panose="02040503050406030204" pitchFamily="18" charset="0"/>
                            <a:ea typeface="+mn-ea"/>
                          </a:rPr>
                          <m:t>𝑥</m:t>
                        </m:r>
                      </m:e>
                      <m:sup>
                        <m:r>
                          <a:rPr lang="en-US" altLang="zh-CN" sz="2400" b="0" i="1" smtClean="0">
                            <a:latin typeface="Cambria Math" panose="02040503050406030204" pitchFamily="18" charset="0"/>
                            <a:ea typeface="+mn-ea"/>
                          </a:rPr>
                          <m:t>∗</m:t>
                        </m:r>
                      </m:sup>
                    </m:sSup>
                  </m:oMath>
                </a14:m>
                <a:r>
                  <a:rPr lang="zh-CN" altLang="zh-CN" sz="2400" kern="100" dirty="0">
                    <a:effectLst/>
                    <a:latin typeface="+mn-ea"/>
                    <a:ea typeface="+mn-ea"/>
                  </a:rPr>
                  <a:t>是约束问题</a:t>
                </a:r>
                <a:r>
                  <a:rPr lang="en-US" altLang="zh-CN" sz="2400" kern="100" dirty="0">
                    <a:effectLst/>
                    <a:latin typeface="+mn-ea"/>
                    <a:ea typeface="+mn-ea"/>
                  </a:rPr>
                  <a:t>(1)</a:t>
                </a:r>
                <a:r>
                  <a:rPr lang="zh-CN" altLang="zh-CN" sz="2400" kern="100" dirty="0">
                    <a:effectLst/>
                    <a:latin typeface="+mn-ea"/>
                    <a:ea typeface="+mn-ea"/>
                  </a:rPr>
                  <a:t>的全局最优解，则</a:t>
                </a:r>
                <a14:m>
                  <m:oMath xmlns:m="http://schemas.openxmlformats.org/officeDocument/2006/math">
                    <m:sSup>
                      <m:sSupPr>
                        <m:ctrlPr>
                          <a:rPr lang="en-US" altLang="zh-CN" sz="2400" i="1" smtClean="0">
                            <a:latin typeface="Cambria Math" panose="02040503050406030204" pitchFamily="18" charset="0"/>
                            <a:ea typeface="+mn-ea"/>
                          </a:rPr>
                        </m:ctrlPr>
                      </m:sSupPr>
                      <m:e>
                        <m:r>
                          <a:rPr lang="en-US" altLang="zh-CN" sz="2400" b="0" i="1" smtClean="0">
                            <a:latin typeface="Cambria Math" panose="02040503050406030204" pitchFamily="18" charset="0"/>
                            <a:ea typeface="+mn-ea"/>
                          </a:rPr>
                          <m:t>𝑥</m:t>
                        </m:r>
                      </m:e>
                      <m:sup>
                        <m:r>
                          <a:rPr lang="en-US" altLang="zh-CN" sz="2400" b="0" i="1" smtClean="0">
                            <a:latin typeface="Cambria Math" panose="02040503050406030204" pitchFamily="18" charset="0"/>
                            <a:ea typeface="+mn-ea"/>
                          </a:rPr>
                          <m:t>∗</m:t>
                        </m:r>
                      </m:sup>
                    </m:sSup>
                  </m:oMath>
                </a14:m>
                <a:r>
                  <a:rPr lang="zh-CN" altLang="zh-CN" sz="2400" kern="100" dirty="0">
                    <a:effectLst/>
                    <a:latin typeface="+mn-ea"/>
                    <a:ea typeface="+mn-ea"/>
                  </a:rPr>
                  <a:t>是等式约束问题</a:t>
                </a:r>
                <a:r>
                  <a:rPr lang="en-US" altLang="zh-CN" sz="2400" kern="100" dirty="0">
                    <a:effectLst/>
                    <a:latin typeface="+mn-ea"/>
                    <a:ea typeface="+mn-ea"/>
                  </a:rPr>
                  <a:t>(2)</a:t>
                </a:r>
                <a:r>
                  <a:rPr lang="zh-CN" altLang="zh-CN" sz="2400" kern="100" dirty="0">
                    <a:effectLst/>
                    <a:latin typeface="+mn-ea"/>
                    <a:ea typeface="+mn-ea"/>
                  </a:rPr>
                  <a:t>的全局最优解</a:t>
                </a:r>
                <a:r>
                  <a:rPr lang="zh-CN" altLang="en-US" sz="2400" kern="100" dirty="0">
                    <a:effectLst/>
                    <a:latin typeface="+mn-ea"/>
                    <a:ea typeface="+mn-ea"/>
                  </a:rPr>
                  <a:t>。</a:t>
                </a:r>
                <a:r>
                  <a:rPr lang="zh-CN" altLang="zh-CN" sz="2400" kern="100" dirty="0">
                    <a:effectLst/>
                    <a:latin typeface="+mn-ea"/>
                    <a:ea typeface="+mn-ea"/>
                  </a:rPr>
                  <a:t>因此，只要能确定出</a:t>
                </a:r>
                <a14:m>
                  <m:oMath xmlns:m="http://schemas.openxmlformats.org/officeDocument/2006/math">
                    <m:sSup>
                      <m:sSupPr>
                        <m:ctrlPr>
                          <a:rPr lang="en-US" altLang="zh-CN" sz="2400" i="1" smtClean="0">
                            <a:latin typeface="Cambria Math" panose="02040503050406030204" pitchFamily="18" charset="0"/>
                            <a:ea typeface="+mn-ea"/>
                          </a:rPr>
                        </m:ctrlPr>
                      </m:sSupPr>
                      <m:e>
                        <m:r>
                          <a:rPr lang="en-US" altLang="zh-CN" sz="2400" b="0" i="1" smtClean="0">
                            <a:latin typeface="Cambria Math" panose="02040503050406030204" pitchFamily="18" charset="0"/>
                            <a:ea typeface="+mn-ea"/>
                          </a:rPr>
                          <m:t>𝑥</m:t>
                        </m:r>
                      </m:e>
                      <m:sup>
                        <m:r>
                          <a:rPr lang="en-US" altLang="zh-CN" sz="2400" b="0" i="1" smtClean="0">
                            <a:latin typeface="Cambria Math" panose="02040503050406030204" pitchFamily="18" charset="0"/>
                            <a:ea typeface="+mn-ea"/>
                          </a:rPr>
                          <m:t>∗</m:t>
                        </m:r>
                      </m:sup>
                    </m:sSup>
                  </m:oMath>
                </a14:m>
                <a:r>
                  <a:rPr lang="zh-CN" altLang="zh-CN" sz="2400" kern="100" dirty="0">
                    <a:effectLst/>
                    <a:latin typeface="+mn-ea"/>
                    <a:ea typeface="+mn-ea"/>
                  </a:rPr>
                  <a:t>处起作用约束的下标集</a:t>
                </a:r>
                <a14:m>
                  <m:oMath xmlns:m="http://schemas.openxmlformats.org/officeDocument/2006/math">
                    <m:sSup>
                      <m:sSupPr>
                        <m:ctrlPr>
                          <a:rPr lang="en-US" altLang="zh-CN" sz="2400" i="1">
                            <a:latin typeface="Cambria Math" panose="02040503050406030204" pitchFamily="18" charset="0"/>
                            <a:ea typeface="+mn-ea"/>
                          </a:rPr>
                        </m:ctrlPr>
                      </m:sSupPr>
                      <m:e>
                        <m:r>
                          <a:rPr lang="en-US" altLang="zh-CN" sz="2400" b="0" i="1" smtClean="0">
                            <a:latin typeface="Cambria Math" panose="02040503050406030204" pitchFamily="18" charset="0"/>
                            <a:ea typeface="+mn-ea"/>
                          </a:rPr>
                          <m:t>𝐼</m:t>
                        </m:r>
                        <m:r>
                          <a:rPr lang="en-US" altLang="zh-CN" sz="2400" b="0" i="1" smtClean="0">
                            <a:latin typeface="Cambria Math" panose="02040503050406030204" pitchFamily="18" charset="0"/>
                            <a:ea typeface="+mn-ea"/>
                          </a:rPr>
                          <m:t>(</m:t>
                        </m:r>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sup>
                    </m:sSup>
                    <m:r>
                      <a:rPr lang="en-US" altLang="zh-CN" sz="2400" b="0" i="1" smtClean="0">
                        <a:latin typeface="Cambria Math" panose="02040503050406030204" pitchFamily="18" charset="0"/>
                        <a:ea typeface="+mn-ea"/>
                      </a:rPr>
                      <m:t>)</m:t>
                    </m:r>
                    <m:r>
                      <a:rPr lang="en-US" altLang="zh-CN" sz="2400" i="1">
                        <a:latin typeface="Cambria Math" panose="02040503050406030204" pitchFamily="18" charset="0"/>
                        <a:ea typeface="+mn-ea"/>
                      </a:rPr>
                      <m:t> </m:t>
                    </m:r>
                  </m:oMath>
                </a14:m>
                <a:r>
                  <a:rPr lang="zh-CN" altLang="zh-CN" sz="2400" kern="100" dirty="0">
                    <a:effectLst/>
                    <a:latin typeface="+mn-ea"/>
                    <a:ea typeface="+mn-ea"/>
                  </a:rPr>
                  <a:t>，通过求解等式约束问题</a:t>
                </a:r>
                <a:r>
                  <a:rPr lang="en-US" altLang="zh-CN" sz="2400" kern="100" dirty="0">
                    <a:effectLst/>
                    <a:latin typeface="+mn-ea"/>
                    <a:ea typeface="+mn-ea"/>
                  </a:rPr>
                  <a:t>(2)</a:t>
                </a:r>
                <a:r>
                  <a:rPr lang="zh-CN" altLang="zh-CN" sz="2400" kern="100" dirty="0">
                    <a:effectLst/>
                    <a:latin typeface="+mn-ea"/>
                    <a:ea typeface="+mn-ea"/>
                  </a:rPr>
                  <a:t>就可得到一般约束问题的最优解。</a:t>
                </a:r>
                <a:r>
                  <a:rPr lang="zh-CN" altLang="en-US" sz="2400" kern="100" dirty="0">
                    <a:effectLst/>
                    <a:latin typeface="+mn-ea"/>
                    <a:ea typeface="+mn-ea"/>
                  </a:rPr>
                  <a:t>但是，</a:t>
                </a:r>
                <a:r>
                  <a:rPr lang="en-US" altLang="zh-CN" sz="2400" dirty="0"/>
                  <a:t> </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oMath>
                </a14:m>
                <a:r>
                  <a:rPr lang="zh-CN" altLang="en-US" sz="2400" kern="100" dirty="0">
                    <a:effectLst/>
                    <a:latin typeface="+mn-ea"/>
                    <a:ea typeface="+mn-ea"/>
                  </a:rPr>
                  <a:t>是未知的，所以，有效集方法的基本思想就是通过求解有限个等式约束二次规划问题来求解一般约束下的二次规划问题</a:t>
                </a:r>
                <a:r>
                  <a:rPr lang="zh-CN" altLang="en-US" sz="2400" kern="100" dirty="0">
                    <a:latin typeface="+mn-ea"/>
                    <a:ea typeface="+mn-ea"/>
                  </a:rPr>
                  <a:t>（</a:t>
                </a:r>
                <a:r>
                  <a:rPr lang="en-US" altLang="zh-CN" sz="2400" kern="100" dirty="0">
                    <a:latin typeface="+mn-ea"/>
                    <a:ea typeface="+mn-ea"/>
                  </a:rPr>
                  <a:t>1</a:t>
                </a:r>
                <a:r>
                  <a:rPr lang="zh-CN" altLang="en-US" sz="2400" kern="100" dirty="0">
                    <a:latin typeface="+mn-ea"/>
                    <a:ea typeface="+mn-ea"/>
                  </a:rPr>
                  <a:t>）。</a:t>
                </a:r>
                <a:endParaRPr lang="en-US" altLang="zh-CN" sz="2400" kern="100" dirty="0">
                  <a:effectLst/>
                  <a:latin typeface="+mn-ea"/>
                  <a:ea typeface="+mn-ea"/>
                </a:endParaRPr>
              </a:p>
            </p:txBody>
          </p:sp>
        </mc:Choice>
        <mc:Fallback>
          <p:sp>
            <p:nvSpPr>
              <p:cNvPr id="11" name="文本框 10"/>
              <p:cNvSpPr txBox="1">
                <a:spLocks noRot="1" noChangeAspect="1" noMove="1" noResize="1" noEditPoints="1" noAdjustHandles="1" noChangeArrowheads="1" noChangeShapeType="1" noTextEdit="1"/>
              </p:cNvSpPr>
              <p:nvPr/>
            </p:nvSpPr>
            <p:spPr>
              <a:xfrm>
                <a:off x="767408" y="2636912"/>
                <a:ext cx="10513168" cy="2861310"/>
              </a:xfrm>
              <a:prstGeom prst="rect">
                <a:avLst/>
              </a:prstGeom>
              <a:blipFill rotWithShape="1">
                <a:blip r:embed="rId1"/>
                <a:stretch>
                  <a:fillRect l="-3" t="-14" r="4"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19336" y="260648"/>
                <a:ext cx="7259320" cy="1932196"/>
              </a:xfrm>
              <a:prstGeom prst="rect">
                <a:avLst/>
              </a:prstGeom>
              <a:noFill/>
            </p:spPr>
            <p:txBody>
              <a:bodyPr wrap="square" rtlCol="0">
                <a:spAutoFit/>
              </a:bodyPr>
              <a:lstStyle/>
              <a:p>
                <a:r>
                  <a:rPr lang="zh-CN" altLang="en-US" sz="2400" dirty="0"/>
                  <a:t>凸二次规划问题(1)</a:t>
                </a:r>
                <a:endParaRPr lang="en-US" altLang="zh-CN" sz="2400" dirty="0"/>
              </a:p>
              <a:p>
                <a14:m>
                  <m:oMathPara xmlns:m="http://schemas.openxmlformats.org/officeDocument/2006/math">
                    <m:oMathParaPr>
                      <m:jc m:val="left"/>
                    </m:oMathParaPr>
                    <m:oMath xmlns:m="http://schemas.openxmlformats.org/officeDocument/2006/math">
                      <m:func>
                        <m:funcPr>
                          <m:ctrlPr>
                            <a:rPr kumimoji="1" lang="en-US" altLang="zh-CN" sz="2400" i="1" smtClean="0">
                              <a:solidFill>
                                <a:schemeClr val="tx1"/>
                              </a:solidFill>
                              <a:latin typeface="Cambria Math" panose="02040503050406030204" pitchFamily="18" charset="0"/>
                              <a:ea typeface="MS Mincho" panose="02020609040205080304" charset="-128"/>
                              <a:cs typeface="Cambria Math" panose="02040503050406030204" pitchFamily="18" charset="0"/>
                            </a:rPr>
                          </m:ctrlPr>
                        </m:funcPr>
                        <m:fName>
                          <m:limLow>
                            <m:limLow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limLowPr>
                            <m:e>
                              <m:r>
                                <m:rPr>
                                  <m:sty m:val="p"/>
                                </m:rPr>
                                <a:rPr kumimoji="1" lang="en-US" altLang="zh-CN" sz="2400">
                                  <a:solidFill>
                                    <a:schemeClr val="tx1"/>
                                  </a:solidFill>
                                  <a:latin typeface="Cambria Math" panose="02040503050406030204" pitchFamily="18" charset="0"/>
                                  <a:ea typeface="MS Mincho" panose="02020609040205080304" charset="-128"/>
                                  <a:cs typeface="Cambria Math" panose="02040503050406030204" pitchFamily="18" charset="0"/>
                                </a:rPr>
                                <m:t>min</m:t>
                              </m:r>
                            </m:e>
                            <m:lim>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𝑅</m:t>
                                  </m:r>
                                </m:e>
                                <m: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𝑛</m:t>
                                  </m:r>
                                </m:sup>
                              </m:sSup>
                            </m:lim>
                          </m:limLow>
                        </m:fName>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f>
                            <m:f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fPr>
                            <m:num>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num>
                            <m:den>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den>
                          </m:f>
                          <m:sSup>
                            <m:sSup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e>
                            <m: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𝐺𝑥</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𝑟</m:t>
                              </m:r>
                            </m:e>
                            <m: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e>
                      </m:func>
                    </m:oMath>
                  </m:oMathPara>
                </a14:m>
                <a:endParaRPr kumimoji="1" lang="en-US" altLang="zh-CN" sz="2400" i="1" dirty="0">
                  <a:solidFill>
                    <a:schemeClr val="tx1"/>
                  </a:solidFill>
                  <a:latin typeface="Cambria Math" panose="02040503050406030204" pitchFamily="18" charset="0"/>
                  <a:ea typeface="MS Mincho" panose="02020609040205080304" charset="-128"/>
                  <a:cs typeface="Cambria Math" panose="02040503050406030204" pitchFamily="18" charset="0"/>
                </a:endParaRPr>
              </a:p>
              <a:p>
                <a14:m>
                  <m:oMathPara xmlns:m="http://schemas.openxmlformats.org/officeDocument/2006/math">
                    <m:oMathParaPr>
                      <m:jc m:val="left"/>
                    </m:oMathParaPr>
                    <m:oMath xmlns:m="http://schemas.openxmlformats.org/officeDocument/2006/math">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𝑠</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𝑡</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   </m:t>
                      </m:r>
                      <m:sSubSup>
                        <m:sSubSup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𝑇</m:t>
                          </m:r>
                        </m:sup>
                      </m:sSub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0</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  </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𝑖</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𝑚</m:t>
                      </m:r>
                    </m:oMath>
                  </m:oMathPara>
                </a14:m>
                <a:endParaRPr kumimoji="1" lang="en-US" altLang="zh-CN" sz="2400" i="1" dirty="0">
                  <a:solidFill>
                    <a:schemeClr val="tx1"/>
                  </a:solidFill>
                  <a:latin typeface="Cambria Math" panose="02040503050406030204" pitchFamily="18" charset="0"/>
                  <a:ea typeface="MS Mincho" panose="02020609040205080304" charset="-128"/>
                  <a:cs typeface="Cambria Math" panose="02040503050406030204" pitchFamily="18" charset="0"/>
                </a:endParaRPr>
              </a:p>
              <a:p>
                <a14:m>
                  <m:oMathPara xmlns:m="http://schemas.openxmlformats.org/officeDocument/2006/math">
                    <m:oMathParaPr>
                      <m:jc m:val="left"/>
                    </m:oMathParaPr>
                    <m:oMath xmlns:m="http://schemas.openxmlformats.org/officeDocument/2006/math">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        </m:t>
                      </m:r>
                      <m:sSubSup>
                        <m:sSubSup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𝑇</m:t>
                          </m:r>
                        </m:sup>
                      </m:sSub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0</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  </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𝑖</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𝑚</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𝑚</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𝑙</m:t>
                      </m:r>
                    </m:oMath>
                  </m:oMathPara>
                </a14:m>
                <a:endParaRPr lang="en-US" altLang="zh-CN" sz="2400" dirty="0"/>
              </a:p>
            </p:txBody>
          </p:sp>
        </mc:Choice>
        <mc:Fallback>
          <p:sp>
            <p:nvSpPr>
              <p:cNvPr id="3" name="文本框 2"/>
              <p:cNvSpPr txBox="1">
                <a:spLocks noRot="1" noChangeAspect="1" noMove="1" noResize="1" noEditPoints="1" noAdjustHandles="1" noChangeArrowheads="1" noChangeShapeType="1" noTextEdit="1"/>
              </p:cNvSpPr>
              <p:nvPr/>
            </p:nvSpPr>
            <p:spPr>
              <a:xfrm>
                <a:off x="119336" y="260648"/>
                <a:ext cx="7259320" cy="1932196"/>
              </a:xfrm>
              <a:prstGeom prst="rect">
                <a:avLst/>
              </a:prstGeom>
              <a:blipFill rotWithShape="1">
                <a:blip r:embed="rId2"/>
                <a:stretch>
                  <a:fillRect l="-8" t="-15" r="8"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6251847" y="260648"/>
                <a:ext cx="5820817" cy="1562864"/>
              </a:xfrm>
              <a:prstGeom prst="rect">
                <a:avLst/>
              </a:prstGeom>
              <a:noFill/>
            </p:spPr>
            <p:txBody>
              <a:bodyPr wrap="square" rtlCol="0" anchor="t">
                <a:spAutoFit/>
              </a:bodyPr>
              <a:lstStyle/>
              <a:p>
                <a:r>
                  <a:rPr lang="zh-CN" altLang="en-US" sz="2400" dirty="0"/>
                  <a:t>凸二次规划问题(</a:t>
                </a:r>
                <a:r>
                  <a:rPr lang="en-US" altLang="zh-CN" sz="2400" dirty="0"/>
                  <a:t>2</a:t>
                </a:r>
                <a:r>
                  <a:rPr lang="zh-CN" altLang="en-US" sz="2400" dirty="0"/>
                  <a:t>)</a:t>
                </a:r>
                <a:endParaRPr lang="en-US" altLang="zh-CN" sz="2400" dirty="0"/>
              </a:p>
              <a:p>
                <a14:m>
                  <m:oMathPara xmlns:m="http://schemas.openxmlformats.org/officeDocument/2006/math">
                    <m:oMathParaPr>
                      <m:jc m:val="left"/>
                    </m:oMathParaPr>
                    <m:oMath xmlns:m="http://schemas.openxmlformats.org/officeDocument/2006/math">
                      <m:func>
                        <m:func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funcPr>
                        <m:fName>
                          <m:limLow>
                            <m:limLow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limLowPr>
                            <m:e>
                              <m:r>
                                <m:rPr>
                                  <m:sty m:val="p"/>
                                </m:rPr>
                                <a:rPr kumimoji="1" lang="en-US" altLang="zh-CN" sz="2400">
                                  <a:solidFill>
                                    <a:schemeClr val="tx1"/>
                                  </a:solidFill>
                                  <a:latin typeface="Cambria Math" panose="02040503050406030204" pitchFamily="18" charset="0"/>
                                  <a:ea typeface="MS Mincho" panose="02020609040205080304" charset="-128"/>
                                  <a:cs typeface="Cambria Math" panose="02040503050406030204" pitchFamily="18" charset="0"/>
                                </a:rPr>
                                <m:t>min</m:t>
                              </m:r>
                            </m:e>
                            <m:lim>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𝑅</m:t>
                                  </m:r>
                                </m:e>
                                <m: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𝑛</m:t>
                                  </m:r>
                                </m:sup>
                              </m:sSup>
                            </m:lim>
                          </m:limLow>
                        </m:fName>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f>
                            <m:f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fPr>
                            <m:num>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num>
                            <m:den>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den>
                          </m:f>
                          <m:sSup>
                            <m:sSup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e>
                            <m: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𝐺𝑥</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𝑟</m:t>
                              </m:r>
                            </m:e>
                            <m: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e>
                      </m:func>
                    </m:oMath>
                  </m:oMathPara>
                </a14:m>
                <a:endParaRPr kumimoji="1" lang="en-US" altLang="zh-CN" sz="2400" i="1" dirty="0">
                  <a:solidFill>
                    <a:schemeClr val="tx1"/>
                  </a:solidFill>
                  <a:latin typeface="Cambria Math" panose="02040503050406030204" pitchFamily="18" charset="0"/>
                  <a:ea typeface="MS Mincho" panose="02020609040205080304" charset="-128"/>
                  <a:cs typeface="Cambria Math" panose="02040503050406030204" pitchFamily="18" charset="0"/>
                </a:endParaRPr>
              </a:p>
              <a:p>
                <a14:m>
                  <m:oMathPara xmlns:m="http://schemas.openxmlformats.org/officeDocument/2006/math">
                    <m:oMathParaPr>
                      <m:jc m:val="left"/>
                    </m:oMathParaPr>
                    <m:oMath xmlns:m="http://schemas.openxmlformats.org/officeDocument/2006/math">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𝑠</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𝑡</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   </m:t>
                      </m:r>
                      <m:sSubSup>
                        <m:sSubSup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𝑇</m:t>
                          </m:r>
                        </m:sup>
                      </m:sSubSup>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𝑥</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0</m:t>
                      </m:r>
                      <m:r>
                        <a:rPr kumimoji="1" lang="en-US" altLang="zh-CN" sz="2400" i="1" smtClean="0">
                          <a:solidFill>
                            <a:schemeClr val="tx1"/>
                          </a:solidFill>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𝑖</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2</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𝑚</m:t>
                      </m:r>
                      <m:r>
                        <a:rPr lang="en-US" altLang="zh-CN" sz="2400" i="1">
                          <a:latin typeface="Cambria Math" panose="02040503050406030204" pitchFamily="18" charset="0"/>
                          <a:cs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𝐼</m:t>
                          </m:r>
                          <m:r>
                            <a:rPr lang="en-US" altLang="zh-CN" sz="2400" i="1">
                              <a:latin typeface="Cambria Math" panose="02040503050406030204" pitchFamily="18" charset="0"/>
                            </a:rPr>
                            <m:t>(</m:t>
                          </m:r>
                          <m:r>
                            <a:rPr lang="en-US" altLang="zh-CN" sz="2400" i="1">
                              <a:latin typeface="Cambria Math" panose="02040503050406030204" pitchFamily="18" charset="0"/>
                            </a:rPr>
                            <m:t>𝑥</m:t>
                          </m:r>
                        </m:e>
                        <m:sup>
                          <m:r>
                            <a:rPr lang="en-US" altLang="zh-CN" sz="2400" b="0" i="1" smtClean="0">
                              <a:latin typeface="Cambria Math" panose="02040503050406030204" pitchFamily="18" charset="0"/>
                            </a:rPr>
                            <m:t>∗</m:t>
                          </m:r>
                        </m:sup>
                      </m:sSup>
                      <m:r>
                        <a:rPr lang="en-US" altLang="zh-CN" sz="2400" i="1">
                          <a:latin typeface="Cambria Math" panose="02040503050406030204" pitchFamily="18" charset="0"/>
                        </a:rPr>
                        <m:t>)</m:t>
                      </m:r>
                    </m:oMath>
                  </m:oMathPara>
                </a14:m>
                <a:endParaRPr lang="zh-CN" altLang="en-US" sz="2400" dirty="0"/>
              </a:p>
            </p:txBody>
          </p:sp>
        </mc:Choice>
        <mc:Fallback>
          <p:sp>
            <p:nvSpPr>
              <p:cNvPr id="4" name="文本框 3"/>
              <p:cNvSpPr txBox="1">
                <a:spLocks noRot="1" noChangeAspect="1" noMove="1" noResize="1" noEditPoints="1" noAdjustHandles="1" noChangeArrowheads="1" noChangeShapeType="1" noTextEdit="1"/>
              </p:cNvSpPr>
              <p:nvPr/>
            </p:nvSpPr>
            <p:spPr>
              <a:xfrm>
                <a:off x="6251847" y="260648"/>
                <a:ext cx="5820817" cy="1562864"/>
              </a:xfrm>
              <a:prstGeom prst="rect">
                <a:avLst/>
              </a:prstGeom>
              <a:blipFill rotWithShape="1">
                <a:blip r:embed="rId3"/>
                <a:stretch>
                  <a:fillRect l="-5" t="-19" r="1" b="27"/>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199300" y="2276872"/>
            <a:ext cx="3441700" cy="768350"/>
          </a:xfrm>
          <a:prstGeom prst="rect">
            <a:avLst/>
          </a:prstGeom>
        </p:spPr>
        <p:txBody>
          <a:bodyPr wrap="none">
            <a:spAutoFit/>
          </a:bodyPr>
          <a:lstStyle/>
          <a:p>
            <a:pPr algn="ctr"/>
            <a:r>
              <a:rPr lang="en-US" altLang="zh-CN" sz="4400" b="1" dirty="0"/>
              <a:t>   </a:t>
            </a:r>
            <a:r>
              <a:rPr lang="zh-CN" altLang="en-US" sz="4400" b="1" dirty="0">
                <a:latin typeface="等线" panose="02010600030101010101" charset="-122"/>
                <a:ea typeface="等线" panose="02010600030101010101" charset="-122"/>
              </a:rPr>
              <a:t>有效集方法</a:t>
            </a:r>
            <a:endParaRPr lang="zh-CN" altLang="en-US" sz="4400" b="1" dirty="0">
              <a:latin typeface="等线" panose="02010600030101010101" charset="-122"/>
              <a:ea typeface="等线" panose="0201060003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51384" y="404664"/>
            <a:ext cx="5472608" cy="584775"/>
          </a:xfrm>
          <a:prstGeom prst="rect">
            <a:avLst/>
          </a:prstGeom>
          <a:noFill/>
        </p:spPr>
        <p:txBody>
          <a:bodyPr wrap="square" rtlCol="0">
            <a:spAutoFit/>
          </a:bodyPr>
          <a:lstStyle/>
          <a:p>
            <a:r>
              <a:rPr lang="zh-CN" altLang="en-US" sz="3200" dirty="0">
                <a:latin typeface="黑体" panose="02010609060101010101" pitchFamily="49" charset="-122"/>
                <a:ea typeface="黑体" panose="02010609060101010101" pitchFamily="49" charset="-122"/>
              </a:rPr>
              <a:t>一、基本原理</a:t>
            </a:r>
            <a:endParaRPr lang="zh-CN" altLang="en-US" sz="3200"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4" name="文本框 3"/>
              <p:cNvSpPr txBox="1"/>
              <p:nvPr/>
            </p:nvSpPr>
            <p:spPr>
              <a:xfrm>
                <a:off x="407368" y="1052830"/>
                <a:ext cx="10355247" cy="5649595"/>
              </a:xfrm>
              <a:prstGeom prst="rect">
                <a:avLst/>
              </a:prstGeom>
              <a:noFill/>
            </p:spPr>
            <p:txBody>
              <a:bodyPr wrap="square" rtlCol="0">
                <a:spAutoFit/>
              </a:bodyPr>
              <a:lstStyle/>
              <a:p>
                <a:pPr algn="just" latinLnBrk="0">
                  <a:lnSpc>
                    <a:spcPct val="150000"/>
                  </a:lnSpc>
                </a:pPr>
                <a:r>
                  <a:rPr lang="en-US" altLang="zh-CN" sz="2400" dirty="0">
                    <a:latin typeface="+mn-ea"/>
                    <a:ea typeface="+mn-ea"/>
                  </a:rPr>
                  <a:t>    </a:t>
                </a:r>
                <a:r>
                  <a:rPr lang="zh-CN" altLang="en-US" sz="2400" dirty="0">
                    <a:latin typeface="+mn-ea"/>
                    <a:ea typeface="+mn-ea"/>
                  </a:rPr>
                  <a:t>已知</a:t>
                </a:r>
                <a14:m>
                  <m:oMath xmlns:m="http://schemas.openxmlformats.org/officeDocument/2006/math">
                    <m:sSup>
                      <m:sSupPr>
                        <m:ctrlPr>
                          <a:rPr lang="en-US" altLang="zh-CN" sz="2400" i="1">
                            <a:latin typeface="Cambria Math" panose="02040503050406030204" pitchFamily="18" charset="0"/>
                            <a:ea typeface="+mn-ea"/>
                          </a:rPr>
                        </m:ctrlPr>
                      </m:sSupPr>
                      <m:e>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1</m:t>
                        </m:r>
                        <m:r>
                          <a:rPr lang="en-US" altLang="zh-CN" sz="2400" i="1">
                            <a:latin typeface="Cambria Math" panose="02040503050406030204" pitchFamily="18" charset="0"/>
                            <a:ea typeface="+mn-ea"/>
                          </a:rPr>
                          <m:t>)</m:t>
                        </m:r>
                      </m:sup>
                    </m:sSup>
                    <m:r>
                      <a:rPr lang="en-US" altLang="zh-CN" sz="2400" i="1">
                        <a:latin typeface="Cambria Math" panose="02040503050406030204" pitchFamily="18" charset="0"/>
                        <a:ea typeface="+mn-ea"/>
                      </a:rPr>
                      <m:t> </m:t>
                    </m:r>
                  </m:oMath>
                </a14:m>
                <a:r>
                  <a:rPr lang="zh-CN" altLang="en-US" sz="2400" dirty="0">
                    <a:latin typeface="+mn-ea"/>
                    <a:ea typeface="+mn-ea"/>
                  </a:rPr>
                  <a:t>是一般约束二次规划问题(1)的可行点，确定相应的起作用约束下标集</a:t>
                </a:r>
                <a:endParaRPr lang="zh-CN" altLang="en-US" sz="2400" dirty="0">
                  <a:latin typeface="+mn-ea"/>
                  <a:ea typeface="+mn-ea"/>
                </a:endParaRPr>
              </a:p>
              <a:p>
                <a:pPr algn="just" latinLnBrk="0">
                  <a:lnSpc>
                    <a:spcPct val="150000"/>
                  </a:lnSpc>
                </a:pPr>
                <a14:m>
                  <m:oMathPara xmlns:m="http://schemas.openxmlformats.org/officeDocument/2006/math">
                    <m:oMathParaPr>
                      <m:jc m:val="centerGroup"/>
                    </m:oMathParaPr>
                    <m:oMath xmlns:m="http://schemas.openxmlformats.org/officeDocument/2006/math">
                      <m:sSup>
                        <m:sSupPr>
                          <m:ctrlPr>
                            <a:rPr lang="en-US" altLang="zh-CN" sz="2400" i="1">
                              <a:latin typeface="Cambria Math" panose="02040503050406030204" pitchFamily="18" charset="0"/>
                              <a:ea typeface="+mn-ea"/>
                            </a:rPr>
                          </m:ctrlPr>
                        </m:sSupPr>
                        <m:e>
                          <m:r>
                            <a:rPr lang="en-US" altLang="zh-CN" sz="2400" b="0" i="1" smtClean="0">
                              <a:latin typeface="Cambria Math" panose="02040503050406030204" pitchFamily="18" charset="0"/>
                              <a:ea typeface="+mn-ea"/>
                            </a:rPr>
                            <m:t>𝐼</m:t>
                          </m:r>
                          <m:r>
                            <a:rPr lang="en-US" altLang="zh-CN" sz="2400" b="0" i="1" smtClean="0">
                              <a:latin typeface="Cambria Math" panose="02040503050406030204" pitchFamily="18" charset="0"/>
                              <a:ea typeface="+mn-ea"/>
                            </a:rPr>
                            <m:t>(</m:t>
                          </m:r>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1</m:t>
                          </m:r>
                          <m:r>
                            <a:rPr lang="en-US" altLang="zh-CN" sz="2400" i="1">
                              <a:latin typeface="Cambria Math" panose="02040503050406030204" pitchFamily="18" charset="0"/>
                              <a:ea typeface="+mn-ea"/>
                            </a:rPr>
                            <m:t>)</m:t>
                          </m:r>
                        </m:sup>
                      </m:sSup>
                      <m:r>
                        <a:rPr lang="en-US" altLang="zh-CN" sz="2400" b="0" i="1" smtClean="0">
                          <a:latin typeface="Cambria Math" panose="02040503050406030204" pitchFamily="18" charset="0"/>
                          <a:ea typeface="+mn-ea"/>
                        </a:rPr>
                        <m:t>)={</m:t>
                      </m:r>
                      <m:r>
                        <a:rPr lang="en-US" altLang="zh-CN" sz="2400" b="0" i="1" smtClean="0">
                          <a:latin typeface="Cambria Math" panose="02040503050406030204" pitchFamily="18" charset="0"/>
                          <a:ea typeface="+mn-ea"/>
                        </a:rPr>
                        <m:t>𝑖</m:t>
                      </m:r>
                      <m:r>
                        <a:rPr lang="en-US" altLang="zh-CN" sz="2400" b="0" i="1" smtClean="0">
                          <a:latin typeface="Cambria Math" panose="02040503050406030204" pitchFamily="18" charset="0"/>
                          <a:ea typeface="+mn-ea"/>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rPr>
                          </m:ctrlPr>
                        </m:sSupPr>
                        <m:e>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1</m:t>
                          </m:r>
                          <m:r>
                            <a:rPr lang="en-US" altLang="zh-CN" sz="2400" i="1">
                              <a:latin typeface="Cambria Math" panose="02040503050406030204" pitchFamily="18" charset="0"/>
                              <a:ea typeface="+mn-ea"/>
                            </a:rPr>
                            <m:t>)</m:t>
                          </m:r>
                        </m:sup>
                      </m:sSup>
                      <m:r>
                        <a:rPr lang="en-US" altLang="zh-CN" sz="2400" b="0" i="1" smtClean="0">
                          <a:latin typeface="Cambria Math" panose="02040503050406030204" pitchFamily="18" charset="0"/>
                          <a:ea typeface="+mn-ea"/>
                        </a:rPr>
                        <m:t>=</m:t>
                      </m:r>
                      <m:sSub>
                        <m:sSubPr>
                          <m:ctrlPr>
                            <a:rPr lang="en-US" altLang="zh-CN" sz="2400" b="0" i="1" smtClean="0">
                              <a:latin typeface="Cambria Math" panose="02040503050406030204" pitchFamily="18" charset="0"/>
                              <a:ea typeface="+mn-ea"/>
                              <a:cs typeface="Cambria Math" panose="02040503050406030204" pitchFamily="18" charset="0"/>
                            </a:rPr>
                          </m:ctrlPr>
                        </m:sSubPr>
                        <m:e>
                          <m:r>
                            <a:rPr lang="en-US" altLang="zh-CN" sz="2400" b="0" i="1" smtClean="0">
                              <a:latin typeface="Cambria Math" panose="02040503050406030204" pitchFamily="18" charset="0"/>
                              <a:ea typeface="+mn-ea"/>
                              <a:cs typeface="Cambria Math" panose="02040503050406030204" pitchFamily="18" charset="0"/>
                            </a:rPr>
                            <m:t>𝑏</m:t>
                          </m:r>
                        </m:e>
                        <m:sub>
                          <m:r>
                            <a:rPr lang="en-US" altLang="zh-CN" sz="2400" b="0" i="1" smtClean="0">
                              <a:latin typeface="Cambria Math" panose="02040503050406030204" pitchFamily="18" charset="0"/>
                              <a:ea typeface="+mn-ea"/>
                              <a:cs typeface="Cambria Math" panose="02040503050406030204" pitchFamily="18" charset="0"/>
                            </a:rPr>
                            <m:t>𝑖</m:t>
                          </m:r>
                        </m:sub>
                      </m:sSub>
                      <m:r>
                        <a:rPr lang="en-US" altLang="zh-CN" sz="2400" b="0" i="1" smtClean="0">
                          <a:latin typeface="Cambria Math" panose="02040503050406030204" pitchFamily="18" charset="0"/>
                          <a:ea typeface="+mn-ea"/>
                        </a:rPr>
                        <m:t>,</m:t>
                      </m:r>
                      <m:r>
                        <a:rPr lang="en-US" altLang="zh-CN" sz="2400" b="0" i="1" smtClean="0">
                          <a:latin typeface="Cambria Math" panose="02040503050406030204" pitchFamily="18" charset="0"/>
                          <a:ea typeface="+mn-ea"/>
                        </a:rPr>
                        <m:t>𝑚</m:t>
                      </m:r>
                      <m:r>
                        <a:rPr lang="en-US" altLang="zh-CN" sz="2400" b="0" i="1" smtClean="0">
                          <a:latin typeface="Cambria Math" panose="02040503050406030204" pitchFamily="18" charset="0"/>
                          <a:ea typeface="+mn-ea"/>
                        </a:rPr>
                        <m:t>+</m:t>
                      </m:r>
                      <m:r>
                        <a:rPr lang="en-US" altLang="zh-CN" sz="2400" b="0" i="1" smtClean="0">
                          <a:latin typeface="Cambria Math" panose="02040503050406030204" pitchFamily="18" charset="0"/>
                          <a:ea typeface="+mn-ea"/>
                        </a:rPr>
                        <m:t>1</m:t>
                      </m:r>
                      <m:r>
                        <a:rPr lang="en-US" altLang="zh-CN" sz="2400" b="0" i="1" smtClean="0">
                          <a:latin typeface="Cambria Math" panose="02040503050406030204" pitchFamily="18" charset="0"/>
                          <a:ea typeface="+mn-ea"/>
                        </a:rPr>
                        <m:t>≤</m:t>
                      </m:r>
                      <m:r>
                        <a:rPr lang="en-US" altLang="zh-CN" sz="2400" i="1" smtClean="0">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𝑙</m:t>
                      </m:r>
                      <m:r>
                        <a:rPr lang="en-US" altLang="zh-CN" sz="2400" b="0" i="1" smtClean="0">
                          <a:latin typeface="Cambria Math" panose="02040503050406030204" pitchFamily="18" charset="0"/>
                          <a:ea typeface="+mn-ea"/>
                        </a:rPr>
                        <m:t>}</m:t>
                      </m:r>
                    </m:oMath>
                  </m:oMathPara>
                </a14:m>
                <a:endParaRPr lang="zh-CN" altLang="en-US" sz="2400" dirty="0">
                  <a:latin typeface="+mn-ea"/>
                  <a:ea typeface="+mn-ea"/>
                </a:endParaRPr>
              </a:p>
              <a:p>
                <a:pPr algn="just" latinLnBrk="0">
                  <a:lnSpc>
                    <a:spcPct val="150000"/>
                  </a:lnSpc>
                </a:pPr>
                <a:r>
                  <a:rPr lang="zh-CN" altLang="en-US" sz="2400" dirty="0">
                    <a:latin typeface="+mn-ea"/>
                    <a:ea typeface="+mn-ea"/>
                  </a:rPr>
                  <a:t>并假设</a:t>
                </a:r>
                <a14:m>
                  <m:oMath xmlns:m="http://schemas.openxmlformats.org/officeDocument/2006/math">
                    <m:sSub>
                      <m:sSubPr>
                        <m:ctrlPr>
                          <a:rPr lang="en-US" altLang="zh-CN" sz="2400" b="0" i="1" smtClean="0">
                            <a:latin typeface="Cambria Math" panose="02040503050406030204" pitchFamily="18" charset="0"/>
                            <a:ea typeface="+mn-ea"/>
                            <a:cs typeface="Cambria Math" panose="02040503050406030204" pitchFamily="18" charset="0"/>
                          </a:rPr>
                        </m:ctrlPr>
                      </m:sSubPr>
                      <m:e>
                        <m:r>
                          <a:rPr lang="en-US" altLang="zh-CN" sz="2400" b="0" i="1" smtClean="0">
                            <a:latin typeface="Cambria Math" panose="02040503050406030204" pitchFamily="18" charset="0"/>
                            <a:ea typeface="+mn-ea"/>
                            <a:cs typeface="Cambria Math" panose="02040503050406030204" pitchFamily="18" charset="0"/>
                          </a:rPr>
                          <m:t>𝐴</m:t>
                        </m:r>
                      </m:e>
                      <m:sub>
                        <m:r>
                          <a:rPr lang="en-US" altLang="zh-CN" sz="2400" b="0" i="1" smtClean="0">
                            <a:latin typeface="Cambria Math" panose="02040503050406030204" pitchFamily="18" charset="0"/>
                            <a:ea typeface="+mn-ea"/>
                            <a:cs typeface="Cambria Math" panose="02040503050406030204" pitchFamily="18" charset="0"/>
                          </a:rPr>
                          <m:t>𝑖</m:t>
                        </m:r>
                      </m:sub>
                    </m:sSub>
                    <m:r>
                      <a:rPr lang="en-US" altLang="zh-CN" sz="2400" b="0" i="1" smtClean="0">
                        <a:latin typeface="Cambria Math" panose="02040503050406030204" pitchFamily="18" charset="0"/>
                        <a:ea typeface="+mn-ea"/>
                        <a:cs typeface="Cambria Math" panose="02040503050406030204" pitchFamily="18" charset="0"/>
                      </a:rPr>
                      <m:t>(</m:t>
                    </m:r>
                    <m:r>
                      <a:rPr lang="en-US" altLang="zh-CN" sz="2400" b="0" i="1" smtClean="0">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1</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2</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rPr>
                        </m:ctrlPr>
                      </m:sSupPr>
                      <m:e>
                        <m:r>
                          <a:rPr lang="en-US" altLang="zh-CN" sz="2400" b="0" i="1" smtClean="0">
                            <a:latin typeface="Cambria Math" panose="02040503050406030204" pitchFamily="18" charset="0"/>
                            <a:ea typeface="+mn-ea"/>
                          </a:rPr>
                          <m:t>𝐼</m:t>
                        </m:r>
                        <m:r>
                          <a:rPr lang="en-US" altLang="zh-CN" sz="2400" b="0" i="1" smtClean="0">
                            <a:latin typeface="Cambria Math" panose="02040503050406030204" pitchFamily="18" charset="0"/>
                            <a:ea typeface="+mn-ea"/>
                          </a:rPr>
                          <m:t>(</m:t>
                        </m:r>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1</m:t>
                        </m:r>
                        <m:r>
                          <a:rPr lang="en-US" altLang="zh-CN" sz="2400" i="1">
                            <a:latin typeface="Cambria Math" panose="02040503050406030204" pitchFamily="18" charset="0"/>
                            <a:ea typeface="+mn-ea"/>
                          </a:rPr>
                          <m:t>)</m:t>
                        </m:r>
                      </m:sup>
                    </m:sSup>
                    <m:r>
                      <a:rPr lang="en-US" altLang="zh-CN" sz="2400" b="0" i="1" smtClean="0">
                        <a:latin typeface="Cambria Math" panose="02040503050406030204" pitchFamily="18" charset="0"/>
                        <a:ea typeface="+mn-ea"/>
                      </a:rPr>
                      <m:t>)</m:t>
                    </m:r>
                    <m:r>
                      <a:rPr lang="en-US" altLang="zh-CN" sz="2400" b="0" i="1" smtClean="0">
                        <a:latin typeface="Cambria Math" panose="02040503050406030204" pitchFamily="18" charset="0"/>
                        <a:ea typeface="+mn-ea"/>
                        <a:cs typeface="Cambria Math" panose="02040503050406030204" pitchFamily="18" charset="0"/>
                      </a:rPr>
                      <m:t>)</m:t>
                    </m:r>
                  </m:oMath>
                </a14:m>
                <a:r>
                  <a:rPr lang="zh-CN" altLang="en-US" sz="2400" dirty="0">
                    <a:latin typeface="+mn-ea"/>
                    <a:ea typeface="+mn-ea"/>
                  </a:rPr>
                  <a:t>线性无关。</a:t>
                </a:r>
                <a:endParaRPr lang="en-US" altLang="zh-CN" sz="2400" dirty="0">
                  <a:latin typeface="+mn-ea"/>
                  <a:ea typeface="+mn-ea"/>
                </a:endParaRPr>
              </a:p>
              <a:p>
                <a:pPr algn="just" latinLnBrk="0">
                  <a:lnSpc>
                    <a:spcPct val="150000"/>
                  </a:lnSpc>
                </a:pPr>
                <a:r>
                  <a:rPr lang="en-US" altLang="zh-CN" sz="2400" dirty="0">
                    <a:latin typeface="+mn-ea"/>
                    <a:ea typeface="+mn-ea"/>
                  </a:rPr>
                  <a:t>    </a:t>
                </a:r>
                <a:r>
                  <a:rPr lang="zh-CN" altLang="en-US" sz="2400" dirty="0">
                    <a:latin typeface="+mn-ea"/>
                    <a:ea typeface="+mn-ea"/>
                  </a:rPr>
                  <a:t>考虑等式约束</a:t>
                </a:r>
                <a:r>
                  <a:rPr lang="zh-CN" altLang="en-US" sz="2400" b="1" dirty="0">
                    <a:latin typeface="+mn-ea"/>
                    <a:ea typeface="+mn-ea"/>
                  </a:rPr>
                  <a:t>问题</a:t>
                </a:r>
                <a:r>
                  <a:rPr lang="en-US" altLang="zh-CN" sz="2400" b="1" dirty="0">
                    <a:latin typeface="+mn-ea"/>
                    <a:ea typeface="+mn-ea"/>
                  </a:rPr>
                  <a:t>(3)</a:t>
                </a:r>
                <a:endParaRPr lang="zh-CN" altLang="en-US" sz="2400" b="1" dirty="0">
                  <a:latin typeface="+mn-ea"/>
                  <a:ea typeface="+mn-ea"/>
                </a:endParaRPr>
              </a:p>
              <a:p>
                <a:pPr algn="just">
                  <a:lnSpc>
                    <a:spcPct val="150000"/>
                  </a:lnSpc>
                </a:pPr>
                <a14:m>
                  <m:oMathPara xmlns:m="http://schemas.openxmlformats.org/officeDocument/2006/math">
                    <m:oMathParaPr>
                      <m:jc m:val="center"/>
                    </m:oMathParaPr>
                    <m:oMath xmlns:m="http://schemas.openxmlformats.org/officeDocument/2006/math">
                      <m:func>
                        <m:funcPr>
                          <m:ctrlPr>
                            <a:rPr kumimoji="1" lang="en-US" altLang="zh-CN" sz="2400" i="1" smtClean="0">
                              <a:solidFill>
                                <a:schemeClr val="tx1"/>
                              </a:solidFill>
                              <a:latin typeface="Cambria Math" panose="02040503050406030204" pitchFamily="18" charset="0"/>
                              <a:ea typeface="+mn-ea"/>
                              <a:cs typeface="Cambria Math" panose="02040503050406030204" pitchFamily="18" charset="0"/>
                            </a:rPr>
                          </m:ctrlPr>
                        </m:funcPr>
                        <m:fName>
                          <m:limLow>
                            <m:limLow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limLowPr>
                            <m:e>
                              <m:r>
                                <m:rPr>
                                  <m:sty m:val="p"/>
                                </m:rPr>
                                <a:rPr kumimoji="1" lang="en-US" altLang="zh-CN" sz="2400">
                                  <a:solidFill>
                                    <a:schemeClr val="tx1"/>
                                  </a:solidFill>
                                  <a:latin typeface="Cambria Math" panose="02040503050406030204" pitchFamily="18" charset="0"/>
                                  <a:ea typeface="+mn-ea"/>
                                  <a:cs typeface="Cambria Math" panose="02040503050406030204" pitchFamily="18" charset="0"/>
                                </a:rPr>
                                <m:t>min</m:t>
                              </m:r>
                            </m:e>
                            <m:lim>
                              <m:r>
                                <a:rPr kumimoji="1" lang="en-US" altLang="zh-CN" sz="2400" i="1">
                                  <a:solidFill>
                                    <a:schemeClr val="tx1"/>
                                  </a:solidFill>
                                  <a:latin typeface="Cambria Math" panose="02040503050406030204" pitchFamily="18" charset="0"/>
                                  <a:ea typeface="+mn-ea"/>
                                  <a:cs typeface="Cambria Math" panose="02040503050406030204" pitchFamily="18" charset="0"/>
                                </a:rPr>
                                <m:t>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𝑅</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𝑛</m:t>
                                  </m:r>
                                </m:sup>
                              </m:sSup>
                            </m:lim>
                          </m:limLow>
                        </m:fName>
                        <m:e>
                          <m:r>
                            <a:rPr kumimoji="1" lang="en-US" altLang="zh-CN" sz="2400" i="1">
                              <a:solidFill>
                                <a:schemeClr val="tx1"/>
                              </a:solidFill>
                              <a:latin typeface="Cambria Math" panose="02040503050406030204" pitchFamily="18" charset="0"/>
                              <a:ea typeface="+mn-ea"/>
                              <a:cs typeface="Cambria Math" panose="02040503050406030204" pitchFamily="18" charset="0"/>
                            </a:rPr>
                            <m:t>𝑓</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f>
                            <m:f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fPr>
                            <m:num>
                              <m:r>
                                <a:rPr kumimoji="1" lang="en-US" altLang="zh-CN" sz="2400" i="1">
                                  <a:solidFill>
                                    <a:schemeClr val="tx1"/>
                                  </a:solidFill>
                                  <a:latin typeface="Cambria Math" panose="02040503050406030204" pitchFamily="18" charset="0"/>
                                  <a:ea typeface="+mn-ea"/>
                                  <a:cs typeface="Cambria Math" panose="02040503050406030204" pitchFamily="18" charset="0"/>
                                </a:rPr>
                                <m:t>1</m:t>
                              </m:r>
                            </m:num>
                            <m:den>
                              <m:r>
                                <a:rPr kumimoji="1" lang="en-US" altLang="zh-CN" sz="2400" i="1">
                                  <a:solidFill>
                                    <a:schemeClr val="tx1"/>
                                  </a:solidFill>
                                  <a:latin typeface="Cambria Math" panose="02040503050406030204" pitchFamily="18" charset="0"/>
                                  <a:ea typeface="+mn-ea"/>
                                  <a:cs typeface="Cambria Math" panose="02040503050406030204" pitchFamily="18" charset="0"/>
                                </a:rPr>
                                <m:t>2</m:t>
                              </m:r>
                            </m:den>
                          </m:f>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𝐺𝑥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𝑟</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func>
                    </m:oMath>
                  </m:oMathPara>
                </a14:m>
                <a:endParaRPr kumimoji="1" lang="en-US" altLang="zh-CN" sz="2400" i="1" dirty="0">
                  <a:solidFill>
                    <a:schemeClr val="tx1"/>
                  </a:solidFill>
                  <a:latin typeface="+mn-ea"/>
                  <a:ea typeface="+mn-ea"/>
                  <a:cs typeface="Cambria Math" panose="02040503050406030204" pitchFamily="18" charset="0"/>
                </a:endParaRPr>
              </a:p>
              <a:p>
                <a:pPr algn="just">
                  <a:lnSpc>
                    <a:spcPct val="150000"/>
                  </a:lnSpc>
                </a:pPr>
                <a14:m>
                  <m:oMathPara xmlns:m="http://schemas.openxmlformats.org/officeDocument/2006/math">
                    <m:oMathParaPr>
                      <m:jc m:val="center"/>
                    </m:oMathParaPr>
                    <m:oMath xmlns:m="http://schemas.openxmlformats.org/officeDocument/2006/math">
                      <m:r>
                        <a:rPr kumimoji="1" lang="en-US" altLang="zh-CN" sz="2400" i="1">
                          <a:solidFill>
                            <a:schemeClr val="tx1"/>
                          </a:solidFill>
                          <a:latin typeface="Cambria Math" panose="02040503050406030204" pitchFamily="18" charset="0"/>
                          <a:ea typeface="+mn-ea"/>
                          <a:cs typeface="Cambria Math" panose="02040503050406030204" pitchFamily="18" charset="0"/>
                        </a:rPr>
                        <m:t>𝑠</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𝑡</m:t>
                      </m:r>
                      <m:r>
                        <a:rPr kumimoji="1" lang="en-US" altLang="zh-CN" sz="2400" i="1">
                          <a:solidFill>
                            <a:schemeClr val="tx1"/>
                          </a:solidFill>
                          <a:latin typeface="Cambria Math" panose="02040503050406030204" pitchFamily="18" charset="0"/>
                          <a:ea typeface="+mn-ea"/>
                          <a:cs typeface="Cambria Math" panose="02040503050406030204" pitchFamily="18" charset="0"/>
                        </a:rPr>
                        <m:t>.   </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𝑖</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𝑚</m:t>
                      </m:r>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rPr>
                          </m:ctrlPr>
                        </m:sSupPr>
                        <m:e>
                          <m:r>
                            <a:rPr lang="en-US" altLang="zh-CN" sz="2400" i="1">
                              <a:latin typeface="Cambria Math" panose="02040503050406030204" pitchFamily="18" charset="0"/>
                              <a:ea typeface="+mn-ea"/>
                            </a:rPr>
                            <m:t>𝐼</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r>
                            <a:rPr lang="en-US" altLang="zh-CN" sz="2400" b="0" i="1" smtClean="0">
                              <a:latin typeface="Cambria Math" panose="02040503050406030204" pitchFamily="18" charset="0"/>
                              <a:ea typeface="+mn-ea"/>
                            </a:rPr>
                            <m:t>1</m:t>
                          </m:r>
                          <m:r>
                            <a:rPr lang="en-US" altLang="zh-CN" sz="2400" i="1">
                              <a:latin typeface="Cambria Math" panose="02040503050406030204" pitchFamily="18" charset="0"/>
                              <a:ea typeface="+mn-ea"/>
                            </a:rPr>
                            <m:t>)</m:t>
                          </m:r>
                        </m:sup>
                      </m:sSup>
                      <m:r>
                        <a:rPr lang="en-US" altLang="zh-CN" sz="2400" i="1">
                          <a:latin typeface="Cambria Math" panose="02040503050406030204" pitchFamily="18" charset="0"/>
                          <a:ea typeface="+mn-ea"/>
                        </a:rPr>
                        <m:t>)</m:t>
                      </m:r>
                    </m:oMath>
                  </m:oMathPara>
                </a14:m>
                <a:endParaRPr kumimoji="1" lang="en-US" altLang="zh-CN" sz="2400" i="1" dirty="0">
                  <a:solidFill>
                    <a:schemeClr val="tx1"/>
                  </a:solidFill>
                  <a:latin typeface="+mn-ea"/>
                  <a:ea typeface="+mn-ea"/>
                  <a:cs typeface="Cambria Math" panose="02040503050406030204" pitchFamily="18" charset="0"/>
                </a:endParaRPr>
              </a:p>
              <a:p>
                <a:pPr algn="just" latinLnBrk="0">
                  <a:lnSpc>
                    <a:spcPct val="150000"/>
                  </a:lnSpc>
                </a:pPr>
                <a:r>
                  <a:rPr lang="zh-CN" altLang="en-US" sz="2400" dirty="0">
                    <a:latin typeface="+mn-ea"/>
                    <a:ea typeface="+mn-ea"/>
                  </a:rPr>
                  <a:t>求解等式约束问题</a:t>
                </a:r>
                <a:r>
                  <a:rPr lang="en-US" altLang="zh-CN" sz="2400" b="1" dirty="0">
                    <a:latin typeface="+mn-ea"/>
                  </a:rPr>
                  <a:t>(3)</a:t>
                </a:r>
                <a:r>
                  <a:rPr lang="zh-CN" altLang="en-US" sz="2400" dirty="0">
                    <a:latin typeface="+mn-ea"/>
                    <a:ea typeface="+mn-ea"/>
                  </a:rPr>
                  <a:t>得最优解</a:t>
                </a:r>
                <a14:m>
                  <m:oMath xmlns:m="http://schemas.openxmlformats.org/officeDocument/2006/math">
                    <m:sSup>
                      <m:sSupPr>
                        <m:ctrlPr>
                          <a:rPr lang="en-US" altLang="zh-CN" sz="2400" i="1">
                            <a:latin typeface="Cambria Math" panose="02040503050406030204" pitchFamily="18" charset="0"/>
                            <a:ea typeface="+mn-ea"/>
                          </a:rPr>
                        </m:ctrlPr>
                      </m:sSupPr>
                      <m:e>
                        <m:acc>
                          <m:accPr>
                            <m:chr m:val="̅"/>
                            <m:ctrlPr>
                              <a:rPr lang="en-US" altLang="zh-CN" sz="2400" i="1">
                                <a:latin typeface="Cambria Math" panose="02040503050406030204" pitchFamily="18" charset="0"/>
                                <a:ea typeface="+mn-ea"/>
                                <a:cs typeface="Cambria Math" panose="02040503050406030204" pitchFamily="18" charset="0"/>
                              </a:rPr>
                            </m:ctrlPr>
                          </m:accPr>
                          <m:e>
                            <m:r>
                              <a:rPr lang="en-US" altLang="zh-CN" sz="2400" i="1">
                                <a:latin typeface="Cambria Math" panose="02040503050406030204" pitchFamily="18" charset="0"/>
                                <a:ea typeface="+mn-ea"/>
                                <a:cs typeface="Cambria Math" panose="02040503050406030204" pitchFamily="18" charset="0"/>
                              </a:rPr>
                              <m:t>𝑥</m:t>
                            </m:r>
                          </m:e>
                        </m:acc>
                      </m:e>
                      <m:sup>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1</m:t>
                        </m:r>
                        <m:r>
                          <a:rPr lang="en-US" altLang="zh-CN" sz="2400" i="1">
                            <a:latin typeface="Cambria Math" panose="02040503050406030204" pitchFamily="18" charset="0"/>
                            <a:ea typeface="+mn-ea"/>
                          </a:rPr>
                          <m:t>)</m:t>
                        </m:r>
                      </m:sup>
                    </m:sSup>
                  </m:oMath>
                </a14:m>
                <a:r>
                  <a:rPr lang="zh-CN" altLang="en-US" sz="2400" dirty="0">
                    <a:latin typeface="+mn-ea"/>
                    <a:ea typeface="+mn-ea"/>
                  </a:rPr>
                  <a:t>，相应的乘子为</a:t>
                </a:r>
                <a14:m>
                  <m:oMath xmlns:m="http://schemas.openxmlformats.org/officeDocument/2006/math">
                    <m:sSup>
                      <m:sSupPr>
                        <m:ctrlPr>
                          <a:rPr lang="en-US" altLang="zh-CN" sz="2400" i="1">
                            <a:latin typeface="Cambria Math" panose="02040503050406030204" pitchFamily="18" charset="0"/>
                            <a:ea typeface="+mn-ea"/>
                          </a:rPr>
                        </m:ctrlPr>
                      </m:sSupPr>
                      <m:e>
                        <m:r>
                          <a:rPr lang="en-US" altLang="zh-CN" sz="2400" i="1">
                            <a:latin typeface="Cambria Math" panose="02040503050406030204" pitchFamily="18" charset="0"/>
                            <a:ea typeface="+mn-ea"/>
                            <a:cs typeface="Cambria Math" panose="02040503050406030204" pitchFamily="18" charset="0"/>
                          </a:rPr>
                          <m:t>𝜆</m:t>
                        </m:r>
                      </m:e>
                      <m:sup>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1</m:t>
                        </m:r>
                        <m:r>
                          <a:rPr lang="en-US" altLang="zh-CN" sz="2400" i="1">
                            <a:latin typeface="Cambria Math" panose="02040503050406030204" pitchFamily="18" charset="0"/>
                            <a:ea typeface="+mn-ea"/>
                          </a:rPr>
                          <m:t>)</m:t>
                        </m:r>
                      </m:sup>
                    </m:sSup>
                  </m:oMath>
                </a14:m>
                <a:r>
                  <a:rPr lang="zh-CN" altLang="en-US" sz="2400" dirty="0">
                    <a:latin typeface="+mn-ea"/>
                    <a:ea typeface="+mn-ea"/>
                  </a:rPr>
                  <a:t>，下面分几种情况进行讨论：</a:t>
                </a:r>
                <a:endParaRPr lang="zh-CN" altLang="en-US" sz="2400" dirty="0">
                  <a:latin typeface="+mn-ea"/>
                  <a:ea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407368" y="1052830"/>
                <a:ext cx="10355247" cy="5649595"/>
              </a:xfrm>
              <a:prstGeom prst="rect">
                <a:avLst/>
              </a:prstGeom>
              <a:blipFill rotWithShape="1">
                <a:blip r:embed="rId1"/>
                <a:stretch>
                  <a:fillRect l="-3"/>
                </a:stretch>
              </a:blipFill>
            </p:spPr>
            <p:txBody>
              <a:bodyPr/>
              <a:lstStyle/>
              <a:p>
                <a:r>
                  <a:rPr lang="zh-CN" altLang="en-US">
                    <a:noFill/>
                  </a:rPr>
                  <a:t> </a:t>
                </a:r>
              </a:p>
            </p:txBody>
          </p:sp>
        </mc:Fallback>
      </mc:AlternateContent>
      <p:graphicFrame>
        <p:nvGraphicFramePr>
          <p:cNvPr id="5" name="对象 4">
            <a:hlinkClick r:id="" action="ppaction://ole?verb=0"/>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0" name="" r:id="rId2" imgW="914400" imgH="215900" progId="Equation.KSEE3">
                  <p:embed/>
                </p:oleObj>
              </mc:Choice>
              <mc:Fallback>
                <p:oleObj name="" r:id="rId2" imgW="914400" imgH="215900" progId="Equation.KSEE3">
                  <p:embed/>
                  <p:pic>
                    <p:nvPicPr>
                      <p:cNvPr id="0" name="对象 4">
                        <a:hlinkClick r:id="" action="ppaction://ole?verb=0"/>
                      </p:cNvPr>
                      <p:cNvPicPr/>
                      <p:nvPr/>
                    </p:nvPicPr>
                    <p:blipFill>
                      <a:blip r:embed="rId3"/>
                      <a:stretch>
                        <a:fillRect/>
                      </a:stretch>
                    </p:blipFill>
                    <p:spPr>
                      <a:xfrm>
                        <a:off x="5638800" y="3321050"/>
                        <a:ext cx="914400" cy="215900"/>
                      </a:xfrm>
                      <a:prstGeom prst="rect">
                        <a:avLst/>
                      </a:prstGeom>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335360" y="332656"/>
                <a:ext cx="11521280" cy="5849620"/>
              </a:xfrm>
              <a:prstGeom prst="rect">
                <a:avLst/>
              </a:prstGeom>
              <a:noFill/>
            </p:spPr>
            <p:txBody>
              <a:bodyPr wrap="square" rtlCol="0">
                <a:spAutoFit/>
              </a:bodyPr>
              <a:lstStyle/>
              <a:p>
                <a:pPr latinLnBrk="0">
                  <a:lnSpc>
                    <a:spcPct val="150000"/>
                  </a:lnSpc>
                </a:pPr>
                <a:r>
                  <a:rPr lang="en-US" altLang="zh-CN" sz="2400" dirty="0">
                    <a:latin typeface="宋体" panose="02010600030101010101" pitchFamily="2" charset="-122"/>
                    <a:cs typeface="宋体" panose="02010600030101010101" pitchFamily="2" charset="-122"/>
                  </a:rPr>
                  <a:t>1.</a:t>
                </a:r>
                <a:r>
                  <a:rPr lang="zh-CN" altLang="en-US" sz="2400" dirty="0">
                    <a:latin typeface="宋体" panose="02010600030101010101" pitchFamily="2" charset="-122"/>
                    <a:cs typeface="宋体" panose="02010600030101010101" pitchFamily="2" charset="-122"/>
                  </a:rPr>
                  <a:t>若</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acc>
                          <m:accPr>
                            <m:chr m:val="̅"/>
                            <m:ctrlPr>
                              <a:rPr lang="en-US" altLang="zh-CN" sz="2400" i="1">
                                <a:latin typeface="Cambria Math" panose="02040503050406030204" pitchFamily="18" charset="0"/>
                                <a:cs typeface="Cambria Math" panose="02040503050406030204" pitchFamily="18" charset="0"/>
                              </a:rPr>
                            </m:ctrlPr>
                          </m:accPr>
                          <m:e>
                            <m:r>
                              <a:rPr lang="en-US" altLang="zh-CN" sz="2400" i="1">
                                <a:latin typeface="Cambria Math" panose="02040503050406030204" pitchFamily="18" charset="0"/>
                                <a:cs typeface="Cambria Math" panose="02040503050406030204" pitchFamily="18" charset="0"/>
                              </a:rPr>
                              <m:t>𝑥</m:t>
                            </m:r>
                          </m:e>
                        </m:acc>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r>
                      <a:rPr lang="en-US" altLang="zh-CN" sz="2400" i="1" smtClean="0">
                        <a:latin typeface="Cambria Math" panose="02040503050406030204" pitchFamily="18" charset="0"/>
                        <a:ea typeface="Cambria Math" panose="02040503050406030204" pitchFamily="18" charset="0"/>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b="0" i="1" smtClean="0">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，因为</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acc>
                          <m:accPr>
                            <m:chr m:val="̅"/>
                            <m:ctrlPr>
                              <a:rPr lang="en-US" altLang="zh-CN" sz="2400" i="1">
                                <a:latin typeface="Cambria Math" panose="02040503050406030204" pitchFamily="18" charset="0"/>
                                <a:cs typeface="Cambria Math" panose="02040503050406030204" pitchFamily="18" charset="0"/>
                              </a:rPr>
                            </m:ctrlPr>
                          </m:accPr>
                          <m:e>
                            <m:r>
                              <a:rPr lang="en-US" altLang="zh-CN" sz="2400" i="1">
                                <a:latin typeface="Cambria Math" panose="02040503050406030204" pitchFamily="18" charset="0"/>
                                <a:cs typeface="Cambria Math" panose="02040503050406030204" pitchFamily="18" charset="0"/>
                              </a:rPr>
                              <m:t>𝑥</m:t>
                            </m:r>
                          </m:e>
                        </m:acc>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是问题</a:t>
                </a:r>
                <a:r>
                  <a:rPr lang="en-US" altLang="zh-CN" sz="2400" dirty="0">
                    <a:latin typeface="宋体" panose="02010600030101010101" pitchFamily="2" charset="-122"/>
                    <a:cs typeface="宋体" panose="02010600030101010101" pitchFamily="2" charset="-122"/>
                  </a:rPr>
                  <a:t>(3)</a:t>
                </a:r>
                <a:r>
                  <a:rPr lang="zh-CN" altLang="en-US" sz="2400" dirty="0">
                    <a:latin typeface="宋体" panose="02010600030101010101" pitchFamily="2" charset="-122"/>
                    <a:cs typeface="宋体" panose="02010600030101010101" pitchFamily="2" charset="-122"/>
                  </a:rPr>
                  <a:t>的最优解，有</a:t>
                </a:r>
                <a14:m>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𝑓</m:t>
                    </m:r>
                    <m:d>
                      <m:dPr>
                        <m:ctrlPr>
                          <a:rPr lang="en-US" altLang="zh-CN" sz="2400" b="0" i="1" smtClean="0">
                            <a:latin typeface="Cambria Math" panose="02040503050406030204" pitchFamily="18" charset="0"/>
                            <a:cs typeface="Cambria Math" panose="02040503050406030204" pitchFamily="18" charset="0"/>
                          </a:rPr>
                        </m:ctrlPr>
                      </m:dPr>
                      <m:e>
                        <m:sSup>
                          <m:sSupPr>
                            <m:ctrlPr>
                              <a:rPr lang="en-US" altLang="zh-CN" sz="2400" i="1">
                                <a:latin typeface="Cambria Math" panose="02040503050406030204" pitchFamily="18" charset="0"/>
                                <a:cs typeface="Cambria Math" panose="02040503050406030204" pitchFamily="18" charset="0"/>
                              </a:rPr>
                            </m:ctrlPr>
                          </m:sSupPr>
                          <m:e>
                            <m:acc>
                              <m:accPr>
                                <m:chr m:val="̅"/>
                                <m:ctrlPr>
                                  <a:rPr lang="en-US" altLang="zh-CN" sz="2400" i="1">
                                    <a:latin typeface="Cambria Math" panose="02040503050406030204" pitchFamily="18" charset="0"/>
                                    <a:cs typeface="Cambria Math" panose="02040503050406030204" pitchFamily="18" charset="0"/>
                                  </a:rPr>
                                </m:ctrlPr>
                              </m:accPr>
                              <m:e>
                                <m:r>
                                  <a:rPr lang="en-US" altLang="zh-CN" sz="2400" i="1">
                                    <a:latin typeface="Cambria Math" panose="02040503050406030204" pitchFamily="18" charset="0"/>
                                    <a:cs typeface="Cambria Math" panose="02040503050406030204" pitchFamily="18" charset="0"/>
                                  </a:rPr>
                                  <m:t>𝑥</m:t>
                                </m:r>
                              </m:e>
                            </m:acc>
                          </m:e>
                          <m:sup>
                            <m:d>
                              <m:dPr>
                                <m:ctrlPr>
                                  <a:rPr lang="en-US" altLang="zh-CN" sz="2400" i="1">
                                    <a:latin typeface="Cambria Math" panose="02040503050406030204" pitchFamily="18" charset="0"/>
                                    <a:ea typeface="MS Mincho" panose="02020609040205080304" charset="-128"/>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1</m:t>
                                </m:r>
                              </m:e>
                            </m:d>
                          </m:sup>
                        </m:sSup>
                      </m:e>
                    </m:d>
                    <m:r>
                      <a:rPr lang="en-US" altLang="zh-CN" sz="2400" b="0" i="1" smtClean="0">
                        <a:latin typeface="Cambria Math" panose="02040503050406030204" pitchFamily="18" charset="0"/>
                        <a:ea typeface="MS Mincho" panose="02020609040205080304" charset="-128"/>
                        <a:cs typeface="Cambria Math" panose="02040503050406030204" pitchFamily="18" charset="0"/>
                      </a:rPr>
                      <m:t>&lt;</m:t>
                    </m:r>
                    <m:r>
                      <a:rPr lang="en-US" altLang="zh-CN" sz="2400" b="0" i="1" smtClean="0">
                        <a:latin typeface="Cambria Math" panose="02040503050406030204" pitchFamily="18" charset="0"/>
                        <a:ea typeface="MS Mincho" panose="02020609040205080304" charset="-128"/>
                        <a:cs typeface="Cambria Math" panose="02040503050406030204" pitchFamily="18" charset="0"/>
                      </a:rPr>
                      <m:t>𝑓</m:t>
                    </m:r>
                    <m:r>
                      <a:rPr lang="en-US" altLang="zh-CN" sz="2400" b="0" i="1" smtClean="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d>
                          <m:dPr>
                            <m:ctrlPr>
                              <a:rPr lang="en-US" altLang="zh-CN" sz="2400" i="1">
                                <a:latin typeface="Cambria Math" panose="02040503050406030204" pitchFamily="18" charset="0"/>
                                <a:ea typeface="MS Mincho" panose="02020609040205080304" charset="-128"/>
                                <a:cs typeface="Cambria Math" panose="02040503050406030204" pitchFamily="18" charset="0"/>
                              </a:rPr>
                            </m:ctrlPr>
                          </m:dPr>
                          <m:e>
                            <m:r>
                              <a:rPr lang="en-US" altLang="zh-CN" sz="2400" i="1">
                                <a:latin typeface="Cambria Math" panose="02040503050406030204" pitchFamily="18" charset="0"/>
                                <a:ea typeface="MS Mincho" panose="02020609040205080304" charset="-128"/>
                                <a:cs typeface="Cambria Math" panose="02040503050406030204" pitchFamily="18" charset="0"/>
                              </a:rPr>
                              <m:t>1</m:t>
                            </m:r>
                          </m:e>
                        </m:d>
                      </m:sup>
                    </m:sSup>
                    <m:r>
                      <a:rPr lang="en-US" altLang="zh-CN" sz="2400" b="0" i="1" smtClean="0">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cs typeface="宋体" panose="02010600030101010101" pitchFamily="2" charset="-122"/>
                  </a:rPr>
                  <a:t>，再分两种情   </a:t>
                </a:r>
                <a:endParaRPr lang="en-US" altLang="zh-CN" sz="2400" dirty="0">
                  <a:latin typeface="宋体" panose="02010600030101010101" pitchFamily="2" charset="-122"/>
                  <a:cs typeface="宋体" panose="02010600030101010101" pitchFamily="2" charset="-122"/>
                </a:endParaRPr>
              </a:p>
              <a:p>
                <a:pPr latinLnBrk="0">
                  <a:lnSpc>
                    <a:spcPct val="150000"/>
                  </a:lnSpc>
                </a:pPr>
                <a:r>
                  <a:rPr lang="en-US" altLang="zh-CN" sz="2400" dirty="0">
                    <a:latin typeface="宋体" panose="02010600030101010101" pitchFamily="2" charset="-122"/>
                    <a:cs typeface="宋体" panose="02010600030101010101" pitchFamily="2" charset="-122"/>
                  </a:rPr>
                  <a:t>  </a:t>
                </a:r>
                <a:r>
                  <a:rPr lang="zh-CN" altLang="en-US" sz="2400" dirty="0">
                    <a:latin typeface="宋体" panose="02010600030101010101" pitchFamily="2" charset="-122"/>
                    <a:cs typeface="宋体" panose="02010600030101010101" pitchFamily="2" charset="-122"/>
                  </a:rPr>
                  <a:t>况讨论：</a:t>
                </a:r>
                <a:endParaRPr lang="en-US" altLang="zh-CN" sz="2400" dirty="0">
                  <a:latin typeface="宋体" panose="02010600030101010101" pitchFamily="2" charset="-122"/>
                  <a:cs typeface="宋体" panose="02010600030101010101" pitchFamily="2" charset="-122"/>
                </a:endParaRPr>
              </a:p>
              <a:p>
                <a:pPr algn="just" latinLnBrk="0">
                  <a:lnSpc>
                    <a:spcPct val="150000"/>
                  </a:lnSpc>
                </a:pPr>
                <a:r>
                  <a:rPr lang="zh-CN" altLang="en-US" sz="2400" dirty="0">
                    <a:latin typeface="宋体" panose="02010600030101010101" pitchFamily="2" charset="-122"/>
                    <a:cs typeface="宋体" panose="02010600030101010101" pitchFamily="2" charset="-122"/>
                  </a:rPr>
                  <a:t>  ①若</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acc>
                          <m:accPr>
                            <m:chr m:val="̅"/>
                            <m:ctrlPr>
                              <a:rPr lang="en-US" altLang="zh-CN" sz="2400" i="1">
                                <a:latin typeface="Cambria Math" panose="02040503050406030204" pitchFamily="18" charset="0"/>
                                <a:cs typeface="Cambria Math" panose="02040503050406030204" pitchFamily="18" charset="0"/>
                              </a:rPr>
                            </m:ctrlPr>
                          </m:accPr>
                          <m:e>
                            <m:r>
                              <a:rPr lang="en-US" altLang="zh-CN" sz="2400" i="1">
                                <a:latin typeface="Cambria Math" panose="02040503050406030204" pitchFamily="18" charset="0"/>
                                <a:cs typeface="Cambria Math" panose="02040503050406030204" pitchFamily="18" charset="0"/>
                              </a:rPr>
                              <m:t>𝑥</m:t>
                            </m:r>
                          </m:e>
                        </m:acc>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是原问题(1)的可行点，此时取</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2</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acc>
                          <m:accPr>
                            <m:chr m:val="̅"/>
                            <m:ctrlPr>
                              <a:rPr lang="en-US" altLang="zh-CN" sz="2400" i="1">
                                <a:latin typeface="Cambria Math" panose="02040503050406030204" pitchFamily="18" charset="0"/>
                                <a:cs typeface="Cambria Math" panose="02040503050406030204" pitchFamily="18" charset="0"/>
                              </a:rPr>
                            </m:ctrlPr>
                          </m:accPr>
                          <m:e>
                            <m:r>
                              <a:rPr lang="en-US" altLang="zh-CN" sz="2400" i="1">
                                <a:latin typeface="Cambria Math" panose="02040503050406030204" pitchFamily="18" charset="0"/>
                                <a:cs typeface="Cambria Math" panose="02040503050406030204" pitchFamily="18" charset="0"/>
                              </a:rPr>
                              <m:t>𝑥</m:t>
                            </m:r>
                          </m:e>
                        </m:acc>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r>
                      <a:rPr lang="en-US" altLang="zh-CN" sz="2400" i="1">
                        <a:latin typeface="Cambria Math" panose="02040503050406030204" pitchFamily="18" charset="0"/>
                        <a:ea typeface="MS Mincho" panose="02020609040205080304" charset="-128"/>
                        <a:cs typeface="Cambria Math" panose="02040503050406030204" pitchFamily="18" charset="0"/>
                      </a:rPr>
                      <m:t> </m:t>
                    </m:r>
                  </m:oMath>
                </a14:m>
                <a:r>
                  <a:rPr lang="zh-CN" altLang="en-US" sz="2400" dirty="0">
                    <a:latin typeface="宋体" panose="02010600030101010101" pitchFamily="2" charset="-122"/>
                    <a:cs typeface="宋体" panose="02010600030101010101" pitchFamily="2" charset="-122"/>
                  </a:rPr>
                  <a:t>，若</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2</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在不等式约束域内部， </a:t>
                </a:r>
                <a:endParaRPr lang="en-US" altLang="zh-CN" sz="2400" dirty="0">
                  <a:latin typeface="宋体" panose="02010600030101010101" pitchFamily="2" charset="-122"/>
                  <a:cs typeface="宋体" panose="02010600030101010101" pitchFamily="2" charset="-122"/>
                </a:endParaRPr>
              </a:p>
              <a:p>
                <a:pPr algn="just" latinLnBrk="0">
                  <a:lnSpc>
                    <a:spcPct val="150000"/>
                  </a:lnSpc>
                </a:pPr>
                <a:r>
                  <a:rPr lang="en-US" altLang="zh-CN" sz="2400" dirty="0">
                    <a:latin typeface="宋体" panose="02010600030101010101" pitchFamily="2" charset="-122"/>
                    <a:cs typeface="宋体" panose="02010600030101010101" pitchFamily="2" charset="-122"/>
                  </a:rPr>
                  <a:t>    </a:t>
                </a:r>
                <a:r>
                  <a:rPr lang="zh-CN" altLang="en-US" sz="2400" dirty="0">
                    <a:latin typeface="宋体" panose="02010600030101010101" pitchFamily="2" charset="-122"/>
                    <a:cs typeface="宋体" panose="02010600030101010101" pitchFamily="2" charset="-122"/>
                  </a:rPr>
                  <a:t>则</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2</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处起作用不等式约束个数不变，且</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b="0" i="1" smtClean="0">
                            <a:latin typeface="Cambria Math" panose="02040503050406030204" pitchFamily="18" charset="0"/>
                            <a:cs typeface="Cambria Math" panose="02040503050406030204" pitchFamily="18" charset="0"/>
                          </a:rPr>
                          <m:t>𝐼</m:t>
                        </m:r>
                        <m:r>
                          <a:rPr lang="en-US" altLang="zh-CN" sz="2400" b="0" i="1" smtClean="0">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2</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r>
                      <a:rPr lang="en-US" altLang="zh-CN" sz="2400" b="0" i="1" smtClean="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r>
                          <a:rPr lang="en-US" altLang="zh-CN" sz="2400" b="0" i="1" smtClean="0">
                            <a:latin typeface="Cambria Math" panose="02040503050406030204" pitchFamily="18" charset="0"/>
                            <a:cs typeface="Cambria Math" panose="02040503050406030204" pitchFamily="18" charset="0"/>
                          </a:rPr>
                          <m:t>𝐼</m:t>
                        </m:r>
                        <m:r>
                          <a:rPr lang="en-US" altLang="zh-CN" sz="2400" b="0" i="1" smtClean="0">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r>
                      <a:rPr lang="en-US" altLang="zh-CN" sz="2400" b="0" i="1" smtClean="0">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cs typeface="宋体" panose="02010600030101010101" pitchFamily="2" charset="-122"/>
                  </a:rPr>
                  <a:t>。若</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2</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位于某一不</a:t>
                </a:r>
                <a:endParaRPr lang="en-US" altLang="zh-CN" sz="2400" dirty="0">
                  <a:latin typeface="宋体" panose="02010600030101010101" pitchFamily="2" charset="-122"/>
                  <a:cs typeface="宋体" panose="02010600030101010101" pitchFamily="2" charset="-122"/>
                </a:endParaRPr>
              </a:p>
              <a:p>
                <a:pPr algn="just" latinLnBrk="0">
                  <a:lnSpc>
                    <a:spcPct val="150000"/>
                  </a:lnSpc>
                </a:pPr>
                <a:r>
                  <a:rPr lang="en-US" altLang="zh-CN" sz="2400" dirty="0">
                    <a:latin typeface="宋体" panose="02010600030101010101" pitchFamily="2" charset="-122"/>
                    <a:cs typeface="宋体" panose="02010600030101010101" pitchFamily="2" charset="-122"/>
                  </a:rPr>
                  <a:t>    </a:t>
                </a:r>
                <a:r>
                  <a:rPr lang="zh-CN" altLang="en-US" sz="2400" dirty="0">
                    <a:latin typeface="宋体" panose="02010600030101010101" pitchFamily="2" charset="-122"/>
                    <a:cs typeface="宋体" panose="02010600030101010101" pitchFamily="2" charset="-122"/>
                  </a:rPr>
                  <a:t>等式约束的边界上（不妨设是第</a:t>
                </a:r>
                <a14:m>
                  <m:oMath xmlns:m="http://schemas.openxmlformats.org/officeDocument/2006/math">
                    <m:r>
                      <a:rPr lang="en-US" altLang="zh-CN" sz="2400" i="1">
                        <a:latin typeface="Cambria Math" panose="02040503050406030204" pitchFamily="18" charset="0"/>
                        <a:cs typeface="Cambria Math" panose="02040503050406030204" pitchFamily="18" charset="0"/>
                      </a:rPr>
                      <m:t>𝑝</m:t>
                    </m:r>
                  </m:oMath>
                </a14:m>
                <a:r>
                  <a:rPr lang="zh-CN" altLang="en-US" sz="2400" dirty="0">
                    <a:latin typeface="宋体" panose="02010600030101010101" pitchFamily="2" charset="-122"/>
                    <a:cs typeface="宋体" panose="02010600030101010101" pitchFamily="2" charset="-122"/>
                  </a:rPr>
                  <a:t>个约束），则</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2</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处起作用不等式约束的</a:t>
                </a:r>
                <a:endParaRPr lang="en-US" altLang="zh-CN" sz="2400" dirty="0">
                  <a:latin typeface="宋体" panose="02010600030101010101" pitchFamily="2" charset="-122"/>
                  <a:cs typeface="宋体" panose="02010600030101010101" pitchFamily="2" charset="-122"/>
                </a:endParaRPr>
              </a:p>
              <a:p>
                <a:pPr algn="just" latinLnBrk="0">
                  <a:lnSpc>
                    <a:spcPct val="150000"/>
                  </a:lnSpc>
                </a:pPr>
                <a:r>
                  <a:rPr lang="en-US" altLang="zh-CN" sz="2400" dirty="0">
                    <a:latin typeface="宋体" panose="02010600030101010101" pitchFamily="2" charset="-122"/>
                    <a:cs typeface="宋体" panose="02010600030101010101" pitchFamily="2" charset="-122"/>
                  </a:rPr>
                  <a:t>    </a:t>
                </a:r>
                <a:r>
                  <a:rPr lang="zh-CN" altLang="en-US" sz="2400" dirty="0">
                    <a:latin typeface="宋体" panose="02010600030101010101" pitchFamily="2" charset="-122"/>
                    <a:cs typeface="宋体" panose="02010600030101010101" pitchFamily="2" charset="-122"/>
                  </a:rPr>
                  <a:t>个数增加一个，即</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b="0" i="1" smtClean="0">
                            <a:latin typeface="Cambria Math" panose="02040503050406030204" pitchFamily="18" charset="0"/>
                            <a:cs typeface="Cambria Math" panose="02040503050406030204" pitchFamily="18" charset="0"/>
                          </a:rPr>
                          <m:t>𝐼</m:t>
                        </m:r>
                        <m:r>
                          <a:rPr lang="en-US" altLang="zh-CN" sz="2400" b="0" i="1" smtClean="0">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2</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r>
                      <a:rPr lang="en-US" altLang="zh-CN" sz="2400" b="0" i="1" smtClean="0">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r>
                          <a:rPr lang="en-US" altLang="zh-CN" sz="2400" b="0" i="1" smtClean="0">
                            <a:latin typeface="Cambria Math" panose="02040503050406030204" pitchFamily="18" charset="0"/>
                            <a:cs typeface="Cambria Math" panose="02040503050406030204" pitchFamily="18" charset="0"/>
                          </a:rPr>
                          <m:t>𝐼</m:t>
                        </m:r>
                        <m:r>
                          <a:rPr lang="en-US" altLang="zh-CN" sz="2400" b="0" i="1" smtClean="0">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r>
                      <a:rPr lang="en-US" altLang="zh-CN" sz="2400" b="0" i="1" smtClean="0">
                        <a:latin typeface="Cambria Math" panose="02040503050406030204" pitchFamily="18" charset="0"/>
                        <a:ea typeface="MS Mincho" panose="02020609040205080304" charset="-128"/>
                        <a:cs typeface="Cambria Math" panose="02040503050406030204" pitchFamily="18" charset="0"/>
                      </a:rPr>
                      <m:t>)</m:t>
                    </m:r>
                    <m:r>
                      <a:rPr lang="en-US" altLang="zh-CN" sz="2400" i="1" smtClean="0">
                        <a:latin typeface="Cambria Math" panose="02040503050406030204" pitchFamily="18" charset="0"/>
                        <a:ea typeface="MS Mincho" panose="02020609040205080304" charset="-128"/>
                        <a:cs typeface="Cambria Math" panose="02040503050406030204" pitchFamily="18" charset="0"/>
                      </a:rPr>
                      <m:t>∪{</m:t>
                    </m:r>
                    <m:r>
                      <a:rPr lang="en-US" altLang="zh-CN" sz="2400" i="1" smtClean="0">
                        <a:latin typeface="Cambria Math" panose="02040503050406030204" pitchFamily="18" charset="0"/>
                        <a:cs typeface="Cambria Math" panose="02040503050406030204" pitchFamily="18" charset="0"/>
                      </a:rPr>
                      <m:t>𝑝</m:t>
                    </m:r>
                    <m:r>
                      <a:rPr lang="en-US" altLang="zh-CN" sz="2400" i="1" smtClean="0">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cs typeface="宋体" panose="02010600030101010101" pitchFamily="2" charset="-122"/>
                  </a:rPr>
                  <a:t>，重复上一轮的计算。</a:t>
                </a:r>
                <a:endParaRPr lang="zh-CN" altLang="en-US" sz="2400" dirty="0">
                  <a:latin typeface="宋体" panose="02010600030101010101" pitchFamily="2" charset="-122"/>
                  <a:cs typeface="宋体" panose="02010600030101010101" pitchFamily="2" charset="-122"/>
                </a:endParaRPr>
              </a:p>
              <a:p>
                <a:pPr latinLnBrk="0">
                  <a:lnSpc>
                    <a:spcPct val="150000"/>
                  </a:lnSpc>
                </a:pPr>
                <a:r>
                  <a:rPr lang="zh-CN" altLang="en-US" sz="2400" dirty="0">
                    <a:latin typeface="宋体" panose="02010600030101010101" pitchFamily="2" charset="-122"/>
                    <a:cs typeface="宋体" panose="02010600030101010101" pitchFamily="2" charset="-122"/>
                  </a:rPr>
                  <a:t>  ②若</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acc>
                          <m:accPr>
                            <m:chr m:val="̅"/>
                            <m:ctrlPr>
                              <a:rPr lang="en-US" altLang="zh-CN" sz="2400" i="1">
                                <a:latin typeface="Cambria Math" panose="02040503050406030204" pitchFamily="18" charset="0"/>
                                <a:cs typeface="Cambria Math" panose="02040503050406030204" pitchFamily="18" charset="0"/>
                              </a:rPr>
                            </m:ctrlPr>
                          </m:accPr>
                          <m:e>
                            <m:r>
                              <a:rPr lang="en-US" altLang="zh-CN" sz="2400" i="1">
                                <a:latin typeface="Cambria Math" panose="02040503050406030204" pitchFamily="18" charset="0"/>
                                <a:cs typeface="Cambria Math" panose="02040503050406030204" pitchFamily="18" charset="0"/>
                              </a:rPr>
                              <m:t>𝑥</m:t>
                            </m:r>
                          </m:e>
                        </m:acc>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不是原问题(1)的可行点，构造方向</a:t>
                </a:r>
                <a:endParaRPr lang="zh-CN" altLang="en-US" sz="2400" dirty="0">
                  <a:latin typeface="宋体" panose="02010600030101010101" pitchFamily="2" charset="-122"/>
                  <a:cs typeface="宋体" panose="02010600030101010101" pitchFamily="2" charset="-122"/>
                </a:endParaRPr>
              </a:p>
              <a:p>
                <a:pPr algn="ctr" latinLnBrk="0">
                  <a:lnSpc>
                    <a:spcPct val="150000"/>
                  </a:lnSpc>
                </a:pPr>
                <a:r>
                  <a:rPr lang="en-US" altLang="zh-CN" sz="2400" dirty="0">
                    <a:latin typeface="宋体" panose="02010600030101010101" pitchFamily="2" charset="-122"/>
                    <a:cs typeface="宋体" panose="02010600030101010101" pitchFamily="2" charset="-122"/>
                  </a:rPr>
                  <a:t>                      </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𝑑</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r>
                      <a:rPr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acc>
                          <m:accPr>
                            <m:chr m:val="̅"/>
                            <m:ctrlPr>
                              <a:rPr lang="en-US" altLang="zh-CN" sz="2400" i="1">
                                <a:latin typeface="Cambria Math" panose="02040503050406030204" pitchFamily="18" charset="0"/>
                                <a:cs typeface="Cambria Math" panose="02040503050406030204" pitchFamily="18" charset="0"/>
                              </a:rPr>
                            </m:ctrlPr>
                          </m:accPr>
                          <m:e>
                            <m:r>
                              <a:rPr lang="en-US" altLang="zh-CN" sz="2400" i="1">
                                <a:latin typeface="Cambria Math" panose="02040503050406030204" pitchFamily="18" charset="0"/>
                                <a:cs typeface="Cambria Math" panose="02040503050406030204" pitchFamily="18" charset="0"/>
                              </a:rPr>
                              <m:t>𝑥</m:t>
                            </m:r>
                          </m:e>
                        </m:acc>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r>
                      <a:rPr lang="en-US" altLang="zh-CN" sz="2400" i="1">
                        <a:latin typeface="Cambria Math" panose="02040503050406030204" pitchFamily="18" charset="0"/>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				</a:t>
                </a:r>
                <a:endParaRPr lang="zh-CN" altLang="en-US" sz="2400" dirty="0">
                  <a:latin typeface="宋体" panose="02010600030101010101" pitchFamily="2" charset="-122"/>
                  <a:cs typeface="宋体" panose="02010600030101010101" pitchFamily="2" charset="-122"/>
                </a:endParaRPr>
              </a:p>
              <a:p>
                <a:pPr latinLnBrk="0">
                  <a:lnSpc>
                    <a:spcPct val="150000"/>
                  </a:lnSpc>
                </a:pPr>
                <a:r>
                  <a:rPr lang="zh-CN" altLang="en-US" sz="2400" dirty="0">
                    <a:latin typeface="宋体" panose="02010600030101010101" pitchFamily="2" charset="-122"/>
                    <a:cs typeface="宋体" panose="02010600030101010101" pitchFamily="2" charset="-122"/>
                  </a:rPr>
                  <a:t>    由于</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是可行点，这表明从</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出发，沿方向</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𝑑</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前进，在达到</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acc>
                          <m:accPr>
                            <m:chr m:val="̅"/>
                            <m:ctrlPr>
                              <a:rPr lang="en-US" altLang="zh-CN" sz="2400" i="1">
                                <a:latin typeface="Cambria Math" panose="02040503050406030204" pitchFamily="18" charset="0"/>
                                <a:cs typeface="Cambria Math" panose="02040503050406030204" pitchFamily="18" charset="0"/>
                              </a:rPr>
                            </m:ctrlPr>
                          </m:accPr>
                          <m:e>
                            <m:r>
                              <a:rPr lang="en-US" altLang="zh-CN" sz="2400" i="1">
                                <a:latin typeface="Cambria Math" panose="02040503050406030204" pitchFamily="18" charset="0"/>
                                <a:cs typeface="Cambria Math" panose="02040503050406030204" pitchFamily="18" charset="0"/>
                              </a:rPr>
                              <m:t>𝑥</m:t>
                            </m:r>
                          </m:e>
                        </m:acc>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之前，一定  </a:t>
                </a:r>
                <a:endParaRPr lang="en-US" altLang="zh-CN" sz="2400" dirty="0">
                  <a:latin typeface="宋体" panose="02010600030101010101" pitchFamily="2" charset="-122"/>
                  <a:cs typeface="宋体" panose="02010600030101010101" pitchFamily="2" charset="-122"/>
                </a:endParaRPr>
              </a:p>
              <a:p>
                <a:pPr latinLnBrk="0">
                  <a:lnSpc>
                    <a:spcPct val="150000"/>
                  </a:lnSpc>
                </a:pPr>
                <a:r>
                  <a:rPr lang="en-US" altLang="zh-CN" sz="2400" dirty="0">
                    <a:latin typeface="宋体" panose="02010600030101010101" pitchFamily="2" charset="-122"/>
                    <a:cs typeface="宋体" panose="02010600030101010101" pitchFamily="2" charset="-122"/>
                  </a:rPr>
                  <a:t>    </a:t>
                </a:r>
                <a:r>
                  <a:rPr lang="zh-CN" altLang="en-US" sz="2400" dirty="0">
                    <a:latin typeface="宋体" panose="02010600030101010101" pitchFamily="2" charset="-122"/>
                    <a:cs typeface="宋体" panose="02010600030101010101" pitchFamily="2" charset="-122"/>
                  </a:rPr>
                  <a:t>能遇到原问题(1)的某个边界点，下面作进一步分析。</a:t>
                </a:r>
                <a:endParaRPr lang="zh-CN" altLang="en-US" sz="2400" dirty="0">
                  <a:latin typeface="宋体" panose="02010600030101010101" pitchFamily="2" charset="-122"/>
                  <a:cs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335360" y="332656"/>
                <a:ext cx="11521280" cy="5849620"/>
              </a:xfrm>
              <a:prstGeom prst="rect">
                <a:avLst/>
              </a:prstGeom>
              <a:blipFill rotWithShape="1">
                <a:blip r:embed="rId1"/>
                <a:stretch>
                  <a:fillRect l="-1" t="-9" r="5" b="9"/>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407368" y="86610"/>
                <a:ext cx="10451465" cy="6691630"/>
              </a:xfrm>
              <a:prstGeom prst="rect">
                <a:avLst/>
              </a:prstGeom>
              <a:noFill/>
            </p:spPr>
            <p:txBody>
              <a:bodyPr wrap="square" rtlCol="0">
                <a:spAutoFit/>
              </a:bodyPr>
              <a:lstStyle/>
              <a:p>
                <a:pPr algn="just" latinLnBrk="0">
                  <a:lnSpc>
                    <a:spcPct val="150000"/>
                  </a:lnSpc>
                </a:pPr>
                <a:r>
                  <a:rPr lang="zh-CN" altLang="en-US" sz="2400" dirty="0">
                    <a:latin typeface="+mn-ea"/>
                    <a:ea typeface="+mn-ea"/>
                    <a:cs typeface="宋体" panose="02010600030101010101" pitchFamily="2" charset="-122"/>
                  </a:rPr>
                  <a:t>    由于</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acc>
                          <m:accPr>
                            <m:chr m:val="̅"/>
                            <m:ctrlPr>
                              <a:rPr lang="en-US" altLang="zh-CN" sz="2400" i="1">
                                <a:latin typeface="Cambria Math" panose="02040503050406030204" pitchFamily="18" charset="0"/>
                                <a:ea typeface="+mn-ea"/>
                                <a:cs typeface="Cambria Math" panose="02040503050406030204" pitchFamily="18" charset="0"/>
                              </a:rPr>
                            </m:ctrlPr>
                          </m:accPr>
                          <m:e>
                            <m:r>
                              <a:rPr lang="en-US" altLang="zh-CN" sz="2400" i="1">
                                <a:latin typeface="Cambria Math" panose="02040503050406030204" pitchFamily="18" charset="0"/>
                                <a:ea typeface="+mn-ea"/>
                                <a:cs typeface="Cambria Math" panose="02040503050406030204" pitchFamily="18" charset="0"/>
                              </a:rPr>
                              <m:t>𝑥</m:t>
                            </m:r>
                          </m:e>
                        </m:acc>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cs typeface="宋体" panose="02010600030101010101" pitchFamily="2" charset="-122"/>
                  </a:rPr>
                  <a:t>和</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m:t>
                        </m:r>
                      </m:sup>
                    </m:sSup>
                  </m:oMath>
                </a14:m>
                <a:r>
                  <a:rPr lang="zh-CN" altLang="en-US" sz="2400" dirty="0">
                    <a:latin typeface="+mn-ea"/>
                    <a:ea typeface="+mn-ea"/>
                    <a:cs typeface="宋体" panose="02010600030101010101" pitchFamily="2" charset="-122"/>
                  </a:rPr>
                  <a:t>都是问题(3)的可行解，因此，都满足约束</a:t>
                </a:r>
                <a:endParaRPr lang="en-US" altLang="zh-CN" sz="2400" dirty="0">
                  <a:latin typeface="+mn-ea"/>
                  <a:ea typeface="+mn-ea"/>
                  <a:cs typeface="宋体" panose="02010600030101010101" pitchFamily="2" charset="-122"/>
                </a:endParaRPr>
              </a:p>
              <a:p>
                <a:pPr algn="just" latinLnBrk="0">
                  <a:lnSpc>
                    <a:spcPct val="150000"/>
                  </a:lnSpc>
                </a:pPr>
                <a14:m>
                  <m:oMathPara xmlns:m="http://schemas.openxmlformats.org/officeDocument/2006/math">
                    <m:oMathParaPr>
                      <m:jc m:val="centerGroup"/>
                    </m:oMathParaPr>
                    <m:oMath xmlns:m="http://schemas.openxmlformats.org/officeDocument/2006/math">
                      <m:sSubSup>
                        <m:sSubSupPr>
                          <m:ctrlPr>
                            <a:rPr kumimoji="1" lang="en-US" altLang="zh-CN" sz="2400" i="1" smtClean="0">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𝑖</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𝑚</m:t>
                      </m:r>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rPr>
                          </m:ctrlPr>
                        </m:sSupPr>
                        <m:e>
                          <m:r>
                            <a:rPr lang="en-US" altLang="zh-CN" sz="2400" i="1">
                              <a:latin typeface="Cambria Math" panose="02040503050406030204" pitchFamily="18" charset="0"/>
                              <a:ea typeface="+mn-ea"/>
                            </a:rPr>
                            <m:t>𝐼</m:t>
                          </m:r>
                          <m:r>
                            <a:rPr lang="en-US" altLang="zh-CN" sz="2400" i="1">
                              <a:latin typeface="Cambria Math" panose="02040503050406030204" pitchFamily="18" charset="0"/>
                              <a:ea typeface="+mn-ea"/>
                            </a:rPr>
                            <m:t>(</m:t>
                          </m:r>
                          <m:r>
                            <a:rPr lang="en-US" altLang="zh-CN" sz="2400" i="1">
                              <a:latin typeface="Cambria Math" panose="02040503050406030204" pitchFamily="18" charset="0"/>
                              <a:ea typeface="+mn-ea"/>
                            </a:rPr>
                            <m:t>𝑥</m:t>
                          </m:r>
                        </m:e>
                        <m:sup>
                          <m:r>
                            <a:rPr lang="en-US" altLang="zh-CN" sz="2400" i="1">
                              <a:latin typeface="Cambria Math" panose="02040503050406030204" pitchFamily="18" charset="0"/>
                              <a:ea typeface="+mn-ea"/>
                            </a:rPr>
                            <m:t>(</m:t>
                          </m:r>
                          <m:r>
                            <a:rPr lang="en-US" altLang="zh-CN" sz="2400" b="0" i="1" smtClean="0">
                              <a:latin typeface="Cambria Math" panose="02040503050406030204" pitchFamily="18" charset="0"/>
                              <a:ea typeface="+mn-ea"/>
                            </a:rPr>
                            <m:t>1</m:t>
                          </m:r>
                          <m:r>
                            <a:rPr lang="en-US" altLang="zh-CN" sz="2400" i="1">
                              <a:latin typeface="Cambria Math" panose="02040503050406030204" pitchFamily="18" charset="0"/>
                              <a:ea typeface="+mn-ea"/>
                            </a:rPr>
                            <m:t>)</m:t>
                          </m:r>
                        </m:sup>
                      </m:sSup>
                      <m:r>
                        <a:rPr lang="en-US" altLang="zh-CN" sz="2400" i="1">
                          <a:latin typeface="Cambria Math" panose="02040503050406030204" pitchFamily="18" charset="0"/>
                          <a:ea typeface="+mn-ea"/>
                        </a:rPr>
                        <m:t>)</m:t>
                      </m:r>
                    </m:oMath>
                  </m:oMathPara>
                </a14:m>
                <a:endParaRPr lang="en-US" altLang="zh-CN" sz="2400" dirty="0">
                  <a:latin typeface="+mn-ea"/>
                  <a:ea typeface="+mn-ea"/>
                  <a:cs typeface="Cambria Math" panose="02040503050406030204" pitchFamily="18" charset="0"/>
                </a:endParaRPr>
              </a:p>
              <a:p>
                <a:pPr algn="just" latinLnBrk="0">
                  <a:lnSpc>
                    <a:spcPct val="150000"/>
                  </a:lnSpc>
                </a:pPr>
                <a:r>
                  <a:rPr lang="zh-CN" altLang="en-US" sz="2400" dirty="0">
                    <a:latin typeface="宋体" panose="02010600030101010101" pitchFamily="2" charset="-122"/>
                    <a:cs typeface="宋体" panose="02010600030101010101" pitchFamily="2" charset="-122"/>
                  </a:rPr>
                  <a:t>所以，</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和</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acc>
                          <m:accPr>
                            <m:chr m:val="̅"/>
                            <m:ctrlPr>
                              <a:rPr lang="en-US" altLang="zh-CN" sz="2400" i="1">
                                <a:latin typeface="Cambria Math" panose="02040503050406030204" pitchFamily="18" charset="0"/>
                                <a:cs typeface="Cambria Math" panose="02040503050406030204" pitchFamily="18" charset="0"/>
                              </a:rPr>
                            </m:ctrlPr>
                          </m:accPr>
                          <m:e>
                            <m:r>
                              <a:rPr lang="en-US" altLang="zh-CN" sz="2400" i="1">
                                <a:latin typeface="Cambria Math" panose="02040503050406030204" pitchFamily="18" charset="0"/>
                                <a:cs typeface="Cambria Math" panose="02040503050406030204" pitchFamily="18" charset="0"/>
                              </a:rPr>
                              <m:t>𝑥</m:t>
                            </m:r>
                          </m:e>
                        </m:acc>
                      </m:e>
                      <m: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MS Mincho" panose="02020609040205080304" charset="-128"/>
                            <a:cs typeface="Cambria Math" panose="02040503050406030204" pitchFamily="18" charset="0"/>
                          </a:rPr>
                          <m:t>1</m:t>
                        </m:r>
                        <m:r>
                          <a:rPr lang="en-US" altLang="zh-CN" sz="24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400" dirty="0">
                    <a:latin typeface="宋体" panose="02010600030101010101" pitchFamily="2" charset="-122"/>
                    <a:cs typeface="宋体" panose="02010600030101010101" pitchFamily="2" charset="-122"/>
                  </a:rPr>
                  <a:t>连线上的点均满足上述约束，且连线与原问题(1)边界的交点也满足上述约束，我们</a:t>
                </a:r>
                <a:r>
                  <a:rPr lang="zh-CN" altLang="en-US" sz="2400" dirty="0">
                    <a:latin typeface="+mn-ea"/>
                    <a:ea typeface="+mn-ea"/>
                    <a:cs typeface="宋体" panose="02010600030101010101" pitchFamily="2" charset="-122"/>
                  </a:rPr>
                  <a:t>只需再考虑</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处的不起作用约束。令</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𝛼</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sym typeface="+mn-ea"/>
                  </a:rPr>
                  <a:t>，</a:t>
                </a:r>
                <a:r>
                  <a:rPr lang="zh-CN" altLang="en-US" sz="2400" dirty="0">
                    <a:latin typeface="+mn-ea"/>
                    <a:ea typeface="+mn-ea"/>
                    <a:cs typeface="宋体" panose="02010600030101010101" pitchFamily="2" charset="-122"/>
                  </a:rPr>
                  <a:t>考虑</a:t>
                </a:r>
                <a14:m>
                  <m:oMath xmlns:m="http://schemas.openxmlformats.org/officeDocument/2006/math">
                    <m:r>
                      <a:rPr lang="en-US" altLang="zh-CN" sz="2400" b="0" i="1" smtClean="0">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1</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𝑙</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b="0" i="1" smtClean="0">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，要求</a:t>
                </a:r>
                <a:endParaRPr lang="zh-CN" altLang="en-US" sz="2400" dirty="0">
                  <a:latin typeface="+mn-ea"/>
                  <a:ea typeface="+mn-ea"/>
                  <a:cs typeface="宋体" panose="02010600030101010101" pitchFamily="2" charset="-122"/>
                </a:endParaRPr>
              </a:p>
              <a:p>
                <a:pPr algn="just" latinLnBrk="0">
                  <a:lnSpc>
                    <a:spcPct val="150000"/>
                  </a:lnSpc>
                </a:pPr>
                <a:r>
                  <a:rPr kumimoji="1" lang="en-US" altLang="zh-CN" sz="2400" dirty="0">
                    <a:solidFill>
                      <a:schemeClr val="tx1"/>
                    </a:solidFill>
                    <a:latin typeface="+mn-ea"/>
                    <a:ea typeface="+mn-ea"/>
                    <a:cs typeface="宋体" panose="02010600030101010101" pitchFamily="2" charset="-122"/>
                  </a:rPr>
                  <a:t>                 </a:t>
                </a:r>
                <a14:m>
                  <m:oMath xmlns:m="http://schemas.openxmlformats.org/officeDocument/2006/math">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oMath>
                </a14:m>
                <a:r>
                  <a:rPr lang="zh-CN" altLang="en-US" sz="2400" dirty="0">
                    <a:latin typeface="+mn-ea"/>
                    <a:ea typeface="+mn-ea"/>
                    <a:cs typeface="宋体" panose="02010600030101010101" pitchFamily="2" charset="-122"/>
                  </a:rPr>
                  <a:t> 即</a:t>
                </a:r>
                <a14:m>
                  <m:oMath xmlns:m="http://schemas.openxmlformats.org/officeDocument/2006/math">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𝛼</m:t>
                        </m:r>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lang="en-US" altLang="zh-CN"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   </a:t>
                </a:r>
                <a:endParaRPr lang="zh-CN" altLang="en-US" sz="2400" dirty="0">
                  <a:latin typeface="+mn-ea"/>
                  <a:ea typeface="+mn-ea"/>
                  <a:cs typeface="宋体" panose="02010600030101010101" pitchFamily="2" charset="-122"/>
                </a:endParaRPr>
              </a:p>
              <a:p>
                <a:pPr algn="just" latinLnBrk="0">
                  <a:lnSpc>
                    <a:spcPct val="150000"/>
                  </a:lnSpc>
                </a:pPr>
                <a:r>
                  <a:rPr lang="zh-CN" altLang="en-US" sz="2400" dirty="0">
                    <a:latin typeface="+mn-ea"/>
                    <a:ea typeface="+mn-ea"/>
                    <a:cs typeface="宋体" panose="02010600030101010101" pitchFamily="2" charset="-122"/>
                  </a:rPr>
                  <a:t>当</a:t>
                </a:r>
                <a14:m>
                  <m:oMath xmlns:m="http://schemas.openxmlformats.org/officeDocument/2006/math">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oMath>
                </a14:m>
                <a:r>
                  <a:rPr lang="zh-CN" altLang="en-US" sz="2400" dirty="0">
                    <a:latin typeface="+mn-ea"/>
                    <a:ea typeface="+mn-ea"/>
                    <a:cs typeface="宋体" panose="02010600030101010101" pitchFamily="2" charset="-122"/>
                  </a:rPr>
                  <a:t>时，任意正数</a:t>
                </a:r>
                <a14:m>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𝛼</m:t>
                    </m:r>
                  </m:oMath>
                </a14:m>
                <a:r>
                  <a:rPr lang="zh-CN" altLang="en-US" sz="2400">
                    <a:latin typeface="Cambria Math" panose="02040503050406030204" pitchFamily="18" charset="0"/>
                    <a:ea typeface="+mn-ea"/>
                    <a:cs typeface="Cambria Math" panose="02040503050406030204" pitchFamily="18" charset="0"/>
                  </a:rPr>
                  <a:t>可使</a:t>
                </a:r>
                <a:r>
                  <a:rPr lang="zh-CN" altLang="en-US" sz="2400" dirty="0">
                    <a:latin typeface="+mn-ea"/>
                    <a:ea typeface="+mn-ea"/>
                    <a:cs typeface="宋体" panose="02010600030101010101" pitchFamily="2" charset="-122"/>
                  </a:rPr>
                  <a:t>上式成立；当</a:t>
                </a:r>
                <a14:m>
                  <m:oMath xmlns:m="http://schemas.openxmlformats.org/officeDocument/2006/math">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&lt;</m:t>
                    </m:r>
                    <m:r>
                      <a:rPr lang="en-US" altLang="zh-CN" sz="2400" i="1">
                        <a:latin typeface="Cambria Math" panose="02040503050406030204" pitchFamily="18" charset="0"/>
                        <a:ea typeface="+mn-ea"/>
                        <a:cs typeface="Cambria Math" panose="02040503050406030204" pitchFamily="18" charset="0"/>
                      </a:rPr>
                      <m:t>0</m:t>
                    </m:r>
                  </m:oMath>
                </a14:m>
                <a:r>
                  <a:rPr lang="zh-CN" altLang="en-US" sz="2400" dirty="0">
                    <a:latin typeface="+mn-ea"/>
                    <a:ea typeface="+mn-ea"/>
                    <a:cs typeface="宋体" panose="02010600030101010101" pitchFamily="2" charset="-122"/>
                  </a:rPr>
                  <a:t>时，上式成立需要</a:t>
                </a:r>
                <a:endParaRPr lang="zh-CN" altLang="en-US" sz="2400" dirty="0">
                  <a:latin typeface="+mn-ea"/>
                  <a:ea typeface="+mn-ea"/>
                  <a:cs typeface="宋体" panose="02010600030101010101" pitchFamily="2" charset="-122"/>
                </a:endParaRPr>
              </a:p>
              <a:p>
                <a:pPr algn="just" latinLnBrk="0">
                  <a:lnSpc>
                    <a:spcPct val="150000"/>
                  </a:lnSpc>
                </a:pPr>
                <a:r>
                  <a:rPr lang="en-US" altLang="zh-CN" sz="2400" dirty="0">
                    <a:latin typeface="+mn-ea"/>
                    <a:ea typeface="+mn-ea"/>
                    <a:cs typeface="宋体" panose="02010600030101010101" pitchFamily="2" charset="-122"/>
                  </a:rPr>
                  <a:t>                        </a:t>
                </a:r>
                <a14:m>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𝛼</m:t>
                    </m:r>
                    <m:r>
                      <a:rPr lang="en-US" altLang="zh-CN" sz="2400" i="1">
                        <a:latin typeface="Cambria Math" panose="02040503050406030204" pitchFamily="18" charset="0"/>
                        <a:ea typeface="+mn-ea"/>
                        <a:cs typeface="Cambria Math" panose="02040503050406030204" pitchFamily="18" charset="0"/>
                      </a:rPr>
                      <m:t>≤</m:t>
                    </m:r>
                    <m:f>
                      <m:fPr>
                        <m:ctrlPr>
                          <a:rPr lang="en-US" altLang="zh-CN" sz="2400" i="1">
                            <a:latin typeface="Cambria Math" panose="02040503050406030204" pitchFamily="18" charset="0"/>
                            <a:ea typeface="+mn-ea"/>
                            <a:cs typeface="Cambria Math" panose="02040503050406030204" pitchFamily="18" charset="0"/>
                          </a:rPr>
                        </m:ctrlPr>
                      </m:fPr>
                      <m:num>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num>
                      <m:den>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den>
                    </m:f>
                  </m:oMath>
                </a14:m>
                <a:r>
                  <a:rPr lang="en-US" altLang="zh-CN" sz="2400" dirty="0">
                    <a:latin typeface="+mn-ea"/>
                    <a:ea typeface="+mn-ea"/>
                    <a:cs typeface="宋体" panose="02010600030101010101" pitchFamily="2" charset="-122"/>
                  </a:rPr>
                  <a:t>, </a:t>
                </a:r>
                <a14:m>
                  <m:oMath xmlns:m="http://schemas.openxmlformats.org/officeDocument/2006/math">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&lt;</m:t>
                    </m:r>
                    <m:r>
                      <a:rPr lang="en-US" altLang="zh-CN" sz="2400" i="1">
                        <a:latin typeface="Cambria Math" panose="02040503050406030204" pitchFamily="18" charset="0"/>
                        <a:ea typeface="+mn-ea"/>
                        <a:cs typeface="Cambria Math" panose="02040503050406030204" pitchFamily="18" charset="0"/>
                      </a:rPr>
                      <m:t>0</m:t>
                    </m:r>
                  </m:oMath>
                </a14:m>
                <a:endParaRPr lang="zh-CN" altLang="en-US" sz="2400" dirty="0">
                  <a:latin typeface="+mn-ea"/>
                  <a:ea typeface="+mn-ea"/>
                  <a:cs typeface="宋体" panose="02010600030101010101" pitchFamily="2" charset="-122"/>
                </a:endParaRPr>
              </a:p>
              <a:p>
                <a:pPr algn="just" latinLnBrk="0">
                  <a:lnSpc>
                    <a:spcPct val="150000"/>
                  </a:lnSpc>
                </a:pPr>
                <a:r>
                  <a:rPr lang="zh-CN" altLang="en-US" sz="2400" dirty="0">
                    <a:latin typeface="+mn-ea"/>
                    <a:ea typeface="+mn-ea"/>
                    <a:cs typeface="宋体" panose="02010600030101010101" pitchFamily="2" charset="-122"/>
                  </a:rPr>
                  <a:t>即得到</a:t>
                </a:r>
                <a:endParaRPr lang="en-US" altLang="zh-CN" sz="2400" dirty="0">
                  <a:latin typeface="+mn-ea"/>
                  <a:ea typeface="+mn-ea"/>
                  <a:cs typeface="宋体" panose="02010600030101010101" pitchFamily="2" charset="-122"/>
                </a:endParaRPr>
              </a:p>
              <a:p>
                <a:pPr algn="ctr" latinLnBrk="0">
                  <a:lnSpc>
                    <a:spcPct val="150000"/>
                  </a:lnSpc>
                </a:pPr>
                <a14:m>
                  <m:oMath xmlns:m="http://schemas.openxmlformats.org/officeDocument/2006/math">
                    <m:sSub>
                      <m:sSubPr>
                        <m:ctrlPr>
                          <a:rPr lang="en-US" altLang="zh-CN" sz="2400" i="1" smtClean="0">
                            <a:latin typeface="Cambria Math" panose="02040503050406030204" pitchFamily="18" charset="0"/>
                            <a:ea typeface="+mn-ea"/>
                            <a:cs typeface="Cambria Math" panose="02040503050406030204" pitchFamily="18" charset="0"/>
                          </a:rPr>
                        </m:ctrlPr>
                      </m:sSubPr>
                      <m:e>
                        <m:r>
                          <a:rPr lang="en-US" altLang="zh-CN" sz="2400" i="1">
                            <a:latin typeface="Cambria Math" panose="02040503050406030204" pitchFamily="18" charset="0"/>
                            <a:ea typeface="+mn-ea"/>
                            <a:cs typeface="Cambria Math" panose="02040503050406030204" pitchFamily="18" charset="0"/>
                          </a:rPr>
                          <m:t> </m:t>
                        </m:r>
                        <m:r>
                          <a:rPr lang="en-US" altLang="zh-CN" sz="2400" i="1">
                            <a:latin typeface="Cambria Math" panose="02040503050406030204" pitchFamily="18" charset="0"/>
                            <a:ea typeface="+mn-ea"/>
                            <a:cs typeface="Cambria Math" panose="02040503050406030204" pitchFamily="18" charset="0"/>
                          </a:rPr>
                          <m:t>𝛼</m:t>
                        </m:r>
                      </m:e>
                      <m:sub>
                        <m:r>
                          <a:rPr lang="en-US" altLang="zh-CN" sz="2400" i="1">
                            <a:latin typeface="Cambria Math" panose="02040503050406030204" pitchFamily="18" charset="0"/>
                            <a:ea typeface="+mn-ea"/>
                            <a:cs typeface="Cambria Math" panose="02040503050406030204" pitchFamily="18" charset="0"/>
                          </a:rPr>
                          <m:t>1</m:t>
                        </m:r>
                      </m:sub>
                    </m:sSub>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𝑚𝑖𝑛</m:t>
                    </m:r>
                    <m:r>
                      <a:rPr lang="en-US" altLang="zh-CN" sz="2400" i="1">
                        <a:latin typeface="Cambria Math" panose="02040503050406030204" pitchFamily="18" charset="0"/>
                        <a:ea typeface="+mn-ea"/>
                        <a:cs typeface="Cambria Math" panose="02040503050406030204" pitchFamily="18" charset="0"/>
                      </a:rPr>
                      <m:t>{</m:t>
                    </m:r>
                    <m:f>
                      <m:fPr>
                        <m:ctrlPr>
                          <a:rPr lang="en-US" altLang="zh-CN" sz="2400" i="1">
                            <a:latin typeface="Cambria Math" panose="02040503050406030204" pitchFamily="18" charset="0"/>
                            <a:ea typeface="+mn-ea"/>
                            <a:cs typeface="Cambria Math" panose="02040503050406030204" pitchFamily="18" charset="0"/>
                          </a:rPr>
                        </m:ctrlPr>
                      </m:fPr>
                      <m:num>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d>
                              <m:dPr>
                                <m:ctrlPr>
                                  <a:rPr lang="en-US" altLang="zh-CN" sz="2400" i="1">
                                    <a:latin typeface="Cambria Math" panose="02040503050406030204" pitchFamily="18" charset="0"/>
                                    <a:ea typeface="+mn-ea"/>
                                    <a:cs typeface="Cambria Math" panose="02040503050406030204" pitchFamily="18" charset="0"/>
                                  </a:rPr>
                                </m:ctrlPr>
                              </m:dPr>
                              <m:e>
                                <m:r>
                                  <a:rPr lang="en-US" altLang="zh-CN" sz="2400" i="1">
                                    <a:latin typeface="Cambria Math" panose="02040503050406030204" pitchFamily="18" charset="0"/>
                                    <a:ea typeface="+mn-ea"/>
                                    <a:cs typeface="Cambria Math" panose="02040503050406030204" pitchFamily="18" charset="0"/>
                                  </a:rPr>
                                  <m:t>1</m:t>
                                </m:r>
                              </m:e>
                            </m:d>
                          </m:sup>
                        </m:sSup>
                      </m:num>
                      <m:den>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d>
                              <m:dPr>
                                <m:ctrlPr>
                                  <a:rPr lang="en-US" altLang="zh-CN" sz="2400" i="1">
                                    <a:latin typeface="Cambria Math" panose="02040503050406030204" pitchFamily="18" charset="0"/>
                                    <a:ea typeface="+mn-ea"/>
                                    <a:cs typeface="Cambria Math" panose="02040503050406030204" pitchFamily="18" charset="0"/>
                                  </a:rPr>
                                </m:ctrlPr>
                              </m:dPr>
                              <m:e>
                                <m:r>
                                  <a:rPr lang="en-US" altLang="zh-CN" sz="2400" i="1">
                                    <a:latin typeface="Cambria Math" panose="02040503050406030204" pitchFamily="18" charset="0"/>
                                    <a:ea typeface="+mn-ea"/>
                                    <a:cs typeface="Cambria Math" panose="02040503050406030204" pitchFamily="18" charset="0"/>
                                  </a:rPr>
                                  <m:t>1</m:t>
                                </m:r>
                              </m:e>
                            </m:d>
                          </m:sup>
                        </m:sSup>
                      </m:den>
                    </m:f>
                    <m:r>
                      <a:rPr lang="en-US" altLang="zh-CN" sz="2400" i="1">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d>
                          <m:dPr>
                            <m:ctrlPr>
                              <a:rPr lang="en-US" altLang="zh-CN" sz="2400" i="1">
                                <a:latin typeface="Cambria Math" panose="02040503050406030204" pitchFamily="18" charset="0"/>
                                <a:ea typeface="+mn-ea"/>
                                <a:cs typeface="Cambria Math" panose="02040503050406030204" pitchFamily="18" charset="0"/>
                              </a:rPr>
                            </m:ctrlPr>
                          </m:dPr>
                          <m:e>
                            <m:r>
                              <a:rPr lang="en-US" altLang="zh-CN" sz="2400" i="1">
                                <a:latin typeface="Cambria Math" panose="02040503050406030204" pitchFamily="18" charset="0"/>
                                <a:ea typeface="+mn-ea"/>
                                <a:cs typeface="Cambria Math" panose="02040503050406030204" pitchFamily="18" charset="0"/>
                              </a:rPr>
                              <m:t>1</m:t>
                            </m:r>
                          </m:e>
                        </m:d>
                      </m:sup>
                    </m:sSup>
                    <m:r>
                      <a:rPr lang="en-US" altLang="zh-CN" sz="2400" i="1">
                        <a:latin typeface="Cambria Math" panose="02040503050406030204" pitchFamily="18" charset="0"/>
                        <a:ea typeface="+mn-ea"/>
                        <a:cs typeface="Cambria Math" panose="02040503050406030204" pitchFamily="18" charset="0"/>
                      </a:rPr>
                      <m:t>&lt;</m:t>
                    </m:r>
                    <m:r>
                      <a:rPr lang="en-US" altLang="zh-CN" sz="2400" i="1">
                        <a:latin typeface="Cambria Math" panose="02040503050406030204" pitchFamily="18" charset="0"/>
                        <a:ea typeface="+mn-ea"/>
                        <a:cs typeface="Cambria Math" panose="02040503050406030204" pitchFamily="18" charset="0"/>
                      </a:rPr>
                      <m:t>0</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𝑖</m:t>
                    </m:r>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d>
                          <m:dPr>
                            <m:ctrlPr>
                              <a:rPr lang="en-US" altLang="zh-CN" sz="2400" i="1">
                                <a:latin typeface="Cambria Math" panose="02040503050406030204" pitchFamily="18" charset="0"/>
                                <a:ea typeface="+mn-ea"/>
                                <a:cs typeface="Cambria Math" panose="02040503050406030204" pitchFamily="18" charset="0"/>
                              </a:rPr>
                            </m:ctrlPr>
                          </m:dPr>
                          <m:e>
                            <m:r>
                              <a:rPr lang="en-US" altLang="zh-CN" sz="2400" i="1">
                                <a:latin typeface="Cambria Math" panose="02040503050406030204" pitchFamily="18" charset="0"/>
                                <a:ea typeface="+mn-ea"/>
                                <a:cs typeface="Cambria Math" panose="02040503050406030204" pitchFamily="18" charset="0"/>
                              </a:rPr>
                              <m:t>1</m:t>
                            </m:r>
                          </m:e>
                        </m:d>
                      </m:sup>
                    </m:sSup>
                    <m:r>
                      <a:rPr lang="en-US" altLang="zh-CN" sz="2400" b="0" i="1" smtClean="0">
                        <a:latin typeface="Cambria Math" panose="02040503050406030204" pitchFamily="18" charset="0"/>
                        <a:ea typeface="+mn-ea"/>
                        <a:cs typeface="Cambria Math" panose="02040503050406030204" pitchFamily="18" charset="0"/>
                      </a:rPr>
                      <m:t>)}</m:t>
                    </m:r>
                  </m:oMath>
                </a14:m>
                <a:r>
                  <a:rPr lang="en-US" altLang="zh-CN" sz="2400" dirty="0">
                    <a:cs typeface="Cambria Math" panose="02040503050406030204" pitchFamily="18" charset="0"/>
                  </a:rPr>
                  <a:t> </a:t>
                </a:r>
                <a14:m>
                  <m:oMath xmlns:m="http://schemas.openxmlformats.org/officeDocument/2006/math">
                    <m:r>
                      <a:rPr lang="en-US" altLang="zh-CN" sz="2400" i="1">
                        <a:latin typeface="Cambria Math" panose="02040503050406030204" pitchFamily="18" charset="0"/>
                        <a:cs typeface="Cambria Math" panose="02040503050406030204" pitchFamily="18" charset="0"/>
                      </a:rPr>
                      <m:t>=</m:t>
                    </m:r>
                    <m:f>
                      <m:fPr>
                        <m:ctrlPr>
                          <a:rPr lang="en-US" altLang="zh-CN" sz="2400" i="1">
                            <a:latin typeface="Cambria Math" panose="02040503050406030204" pitchFamily="18" charset="0"/>
                            <a:cs typeface="Cambria Math" panose="02040503050406030204" pitchFamily="18" charset="0"/>
                          </a:rPr>
                        </m:ctrlPr>
                      </m:fPr>
                      <m:num>
                        <m:sSub>
                          <m:sSubPr>
                            <m:ctrlPr>
                              <a:rPr kumimoji="1" lang="en-US" altLang="zh-CN" sz="2400" i="1">
                                <a:latin typeface="Cambria Math" panose="02040503050406030204" pitchFamily="18" charset="0"/>
                                <a:cs typeface="Cambria Math" panose="02040503050406030204" pitchFamily="18" charset="0"/>
                              </a:rPr>
                            </m:ctrlPr>
                          </m:sSubPr>
                          <m:e>
                            <m:r>
                              <a:rPr kumimoji="1" lang="en-US" altLang="zh-CN" sz="2400" i="1">
                                <a:latin typeface="Cambria Math" panose="02040503050406030204" pitchFamily="18" charset="0"/>
                                <a:cs typeface="Cambria Math" panose="02040503050406030204" pitchFamily="18" charset="0"/>
                              </a:rPr>
                              <m:t>𝑏</m:t>
                            </m:r>
                          </m:e>
                          <m:sub>
                            <m:r>
                              <a:rPr kumimoji="1" lang="en-US" altLang="zh-CN" sz="2400" i="1">
                                <a:latin typeface="Cambria Math" panose="02040503050406030204" pitchFamily="18" charset="0"/>
                                <a:cs typeface="Cambria Math" panose="02040503050406030204" pitchFamily="18" charset="0"/>
                              </a:rPr>
                              <m:t>𝑝</m:t>
                            </m:r>
                          </m:sub>
                        </m:sSub>
                        <m:r>
                          <a:rPr kumimoji="1" lang="en-US" altLang="zh-CN" sz="2400" i="1">
                            <a:latin typeface="Cambria Math" panose="02040503050406030204" pitchFamily="18" charset="0"/>
                            <a:cs typeface="Cambria Math" panose="02040503050406030204" pitchFamily="18" charset="0"/>
                          </a:rPr>
                          <m:t>−</m:t>
                        </m:r>
                        <m:sSubSup>
                          <m:sSubSupPr>
                            <m:ctrlPr>
                              <a:rPr kumimoji="1" lang="en-US" altLang="zh-CN" sz="2400" i="1">
                                <a:latin typeface="Cambria Math" panose="02040503050406030204" pitchFamily="18" charset="0"/>
                                <a:cs typeface="Cambria Math" panose="02040503050406030204" pitchFamily="18" charset="0"/>
                              </a:rPr>
                            </m:ctrlPr>
                          </m:sSubSupPr>
                          <m:e>
                            <m:r>
                              <a:rPr kumimoji="1" lang="en-US" altLang="zh-CN" sz="2400" i="1">
                                <a:latin typeface="Cambria Math" panose="02040503050406030204" pitchFamily="18" charset="0"/>
                                <a:cs typeface="Cambria Math" panose="02040503050406030204" pitchFamily="18" charset="0"/>
                              </a:rPr>
                              <m:t>𝐴</m:t>
                            </m:r>
                          </m:e>
                          <m:sub>
                            <m:r>
                              <a:rPr kumimoji="1" lang="en-US" altLang="zh-CN" sz="2400" i="1">
                                <a:latin typeface="Cambria Math" panose="02040503050406030204" pitchFamily="18" charset="0"/>
                                <a:cs typeface="Cambria Math" panose="02040503050406030204" pitchFamily="18" charset="0"/>
                              </a:rPr>
                              <m:t>𝑝</m:t>
                            </m:r>
                          </m:sub>
                          <m:sup>
                            <m:r>
                              <a:rPr kumimoji="1" lang="en-US" altLang="zh-CN" sz="2400" i="1">
                                <a:latin typeface="Cambria Math" panose="02040503050406030204" pitchFamily="18" charset="0"/>
                                <a:cs typeface="Cambria Math" panose="02040503050406030204" pitchFamily="18" charset="0"/>
                              </a:rPr>
                              <m:t>𝑇</m:t>
                            </m:r>
                          </m:sup>
                        </m:sSubSup>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m:t>
                            </m:r>
                          </m:sup>
                        </m:sSup>
                      </m:num>
                      <m:den>
                        <m:sSubSup>
                          <m:sSubSupPr>
                            <m:ctrlPr>
                              <a:rPr kumimoji="1" lang="en-US" altLang="zh-CN" sz="2400" i="1">
                                <a:latin typeface="Cambria Math" panose="02040503050406030204" pitchFamily="18" charset="0"/>
                                <a:cs typeface="Cambria Math" panose="02040503050406030204" pitchFamily="18" charset="0"/>
                              </a:rPr>
                            </m:ctrlPr>
                          </m:sSubSupPr>
                          <m:e>
                            <m:r>
                              <a:rPr kumimoji="1" lang="en-US" altLang="zh-CN" sz="2400" i="1">
                                <a:latin typeface="Cambria Math" panose="02040503050406030204" pitchFamily="18" charset="0"/>
                                <a:cs typeface="Cambria Math" panose="02040503050406030204" pitchFamily="18" charset="0"/>
                              </a:rPr>
                              <m:t>𝐴</m:t>
                            </m:r>
                          </m:e>
                          <m:sub>
                            <m:r>
                              <a:rPr kumimoji="1" lang="en-US" altLang="zh-CN" sz="2400" i="1">
                                <a:latin typeface="Cambria Math" panose="02040503050406030204" pitchFamily="18" charset="0"/>
                                <a:cs typeface="Cambria Math" panose="02040503050406030204" pitchFamily="18" charset="0"/>
                              </a:rPr>
                              <m:t>𝑝</m:t>
                            </m:r>
                          </m:sub>
                          <m:sup>
                            <m:r>
                              <a:rPr kumimoji="1" lang="en-US" altLang="zh-CN" sz="2400" i="1">
                                <a:latin typeface="Cambria Math" panose="02040503050406030204" pitchFamily="18" charset="0"/>
                                <a:cs typeface="Cambria Math" panose="02040503050406030204" pitchFamily="18" charset="0"/>
                              </a:rPr>
                              <m:t>𝑇</m:t>
                            </m:r>
                          </m:sup>
                        </m:sSubSup>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𝑑</m:t>
                            </m:r>
                          </m:e>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m:t>
                            </m:r>
                          </m:sup>
                        </m:sSup>
                      </m:den>
                    </m:f>
                  </m:oMath>
                </a14:m>
                <a:r>
                  <a:rPr lang="en-US" altLang="zh-CN" sz="2400" dirty="0">
                    <a:latin typeface="+mn-ea"/>
                    <a:ea typeface="+mn-ea"/>
                    <a:cs typeface="宋体" panose="02010600030101010101" pitchFamily="2" charset="-122"/>
                  </a:rPr>
                  <a:t>          </a:t>
                </a:r>
                <a:endParaRPr lang="en-US" altLang="zh-CN" sz="2400" dirty="0">
                  <a:latin typeface="+mn-ea"/>
                  <a:ea typeface="+mn-ea"/>
                  <a:cs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407368" y="86610"/>
                <a:ext cx="10451465" cy="6691630"/>
              </a:xfrm>
              <a:prstGeom prst="rect">
                <a:avLst/>
              </a:prstGeom>
              <a:blipFill rotWithShape="1">
                <a:blip r:embed="rId1"/>
                <a:stretch>
                  <a:fillRect l="-3" t="-4" r="3" b="4"/>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443372" y="13060"/>
                <a:ext cx="11305256" cy="6574107"/>
              </a:xfrm>
              <a:prstGeom prst="rect">
                <a:avLst/>
              </a:prstGeom>
              <a:noFill/>
            </p:spPr>
            <p:txBody>
              <a:bodyPr wrap="square" rtlCol="0">
                <a:spAutoFit/>
              </a:bodyPr>
              <a:lstStyle/>
              <a:p>
                <a:pPr lvl="1" algn="just">
                  <a:lnSpc>
                    <a:spcPct val="150000"/>
                  </a:lnSpc>
                </a:pPr>
                <a:r>
                  <a:rPr lang="zh-CN" altLang="en-US" sz="2400" dirty="0">
                    <a:latin typeface="+mn-ea"/>
                    <a:ea typeface="+mn-ea"/>
                    <a:cs typeface="宋体" panose="02010600030101010101" pitchFamily="2" charset="-122"/>
                  </a:rPr>
                  <a:t>此时取</a:t>
                </a:r>
                <a:endParaRPr lang="zh-CN" altLang="en-US" sz="2400" dirty="0">
                  <a:latin typeface="+mn-ea"/>
                  <a:ea typeface="+mn-ea"/>
                  <a:cs typeface="宋体" panose="02010600030101010101" pitchFamily="2" charset="-122"/>
                </a:endParaRPr>
              </a:p>
              <a:p>
                <a:pPr lvl="1" algn="just">
                  <a:lnSpc>
                    <a:spcPct val="150000"/>
                  </a:lnSpc>
                </a:pPr>
                <a:r>
                  <a:rPr lang="en-US" altLang="zh-CN" sz="2400" dirty="0">
                    <a:latin typeface="+mn-ea"/>
                    <a:ea typeface="+mn-ea"/>
                    <a:cs typeface="宋体" panose="02010600030101010101" pitchFamily="2" charset="-122"/>
                    <a:sym typeface="+mn-ea"/>
                  </a:rPr>
                  <a:t>                       </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b>
                      <m:sSubPr>
                        <m:ctrlPr>
                          <a:rPr lang="en-US" altLang="zh-CN" sz="2400" i="1">
                            <a:latin typeface="Cambria Math" panose="02040503050406030204" pitchFamily="18" charset="0"/>
                            <a:ea typeface="+mn-ea"/>
                            <a:cs typeface="Cambria Math" panose="02040503050406030204" pitchFamily="18" charset="0"/>
                          </a:rPr>
                        </m:ctrlPr>
                      </m:sSubPr>
                      <m:e>
                        <m:r>
                          <a:rPr lang="en-US" altLang="zh-CN" sz="2400" i="1">
                            <a:latin typeface="Cambria Math" panose="02040503050406030204" pitchFamily="18" charset="0"/>
                            <a:ea typeface="+mn-ea"/>
                            <a:cs typeface="Cambria Math" panose="02040503050406030204" pitchFamily="18" charset="0"/>
                          </a:rPr>
                          <m:t>𝛼</m:t>
                        </m:r>
                      </m:e>
                      <m:sub>
                        <m:r>
                          <a:rPr lang="en-US" altLang="zh-CN" sz="2400" i="1">
                            <a:latin typeface="Cambria Math" panose="02040503050406030204" pitchFamily="18" charset="0"/>
                            <a:ea typeface="+mn-ea"/>
                            <a:cs typeface="Cambria Math" panose="02040503050406030204" pitchFamily="18" charset="0"/>
                          </a:rPr>
                          <m:t>1</m:t>
                        </m:r>
                      </m:sub>
                    </m:sSub>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				</a:t>
                </a:r>
                <a:endParaRPr lang="zh-CN" altLang="en-US" sz="2400" dirty="0">
                  <a:latin typeface="+mn-ea"/>
                  <a:ea typeface="+mn-ea"/>
                  <a:cs typeface="宋体" panose="02010600030101010101" pitchFamily="2" charset="-122"/>
                </a:endParaRPr>
              </a:p>
              <a:p>
                <a:pPr lvl="1" algn="just">
                  <a:lnSpc>
                    <a:spcPct val="150000"/>
                  </a:lnSpc>
                </a:pPr>
                <a:r>
                  <a:rPr lang="zh-CN" altLang="en-US" sz="2400" dirty="0">
                    <a:latin typeface="+mn-ea"/>
                    <a:ea typeface="+mn-ea"/>
                    <a:cs typeface="宋体" panose="02010600030101010101" pitchFamily="2" charset="-122"/>
                  </a:rPr>
                  <a:t>必是问题(1)的可行点，</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𝐼</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𝐼</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𝑝</m:t>
                    </m:r>
                    <m:r>
                      <a:rPr lang="en-US" altLang="zh-CN"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，并且由</a:t>
                </a:r>
                <a14:m>
                  <m:oMath xmlns:m="http://schemas.openxmlformats.org/officeDocument/2006/math">
                    <m:r>
                      <a:rPr kumimoji="1" lang="en-US" altLang="zh-CN" sz="2400" i="1">
                        <a:latin typeface="Cambria Math" panose="02040503050406030204" pitchFamily="18" charset="0"/>
                        <a:ea typeface="+mn-ea"/>
                        <a:cs typeface="Cambria Math" panose="02040503050406030204" pitchFamily="18" charset="0"/>
                      </a:rPr>
                      <m:t>𝑓</m:t>
                    </m:r>
                  </m:oMath>
                </a14:m>
                <a:r>
                  <a:rPr lang="zh-CN" altLang="en-US" sz="2400" dirty="0">
                    <a:latin typeface="+mn-ea"/>
                    <a:ea typeface="+mn-ea"/>
                    <a:cs typeface="宋体" panose="02010600030101010101" pitchFamily="2" charset="-122"/>
                  </a:rPr>
                  <a:t>的凸性保证</a:t>
                </a:r>
                <a:endParaRPr lang="en-US" altLang="zh-CN" sz="2400" dirty="0">
                  <a:latin typeface="+mn-ea"/>
                  <a:ea typeface="+mn-ea"/>
                  <a:cs typeface="宋体" panose="02010600030101010101" pitchFamily="2" charset="-122"/>
                </a:endParaRPr>
              </a:p>
              <a:p>
                <a:pPr lvl="1"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𝑓</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)&lt;</m:t>
                      </m:r>
                      <m:r>
                        <a:rPr lang="en-US" altLang="zh-CN" sz="2400" i="1">
                          <a:latin typeface="Cambria Math" panose="02040503050406030204" pitchFamily="18" charset="0"/>
                          <a:ea typeface="+mn-ea"/>
                          <a:cs typeface="Cambria Math" panose="02040503050406030204" pitchFamily="18" charset="0"/>
                        </a:rPr>
                        <m:t>𝑓</m:t>
                      </m:r>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oMath>
                  </m:oMathPara>
                </a14:m>
                <a:endParaRPr lang="en-US" altLang="zh-CN" sz="2400" dirty="0">
                  <a:latin typeface="+mn-ea"/>
                  <a:ea typeface="+mn-ea"/>
                  <a:cs typeface="宋体" panose="02010600030101010101" pitchFamily="2" charset="-122"/>
                </a:endParaRPr>
              </a:p>
              <a:p>
                <a:pPr lvl="1" algn="just">
                  <a:lnSpc>
                    <a:spcPct val="150000"/>
                  </a:lnSpc>
                </a:pPr>
                <a:r>
                  <a:rPr lang="zh-CN" altLang="en-US" sz="2400" dirty="0">
                    <a:latin typeface="+mn-ea"/>
                    <a:ea typeface="+mn-ea"/>
                    <a:cs typeface="宋体" panose="02010600030101010101" pitchFamily="2" charset="-122"/>
                  </a:rPr>
                  <a:t>重复上一轮计算。</a:t>
                </a:r>
                <a:endParaRPr lang="zh-CN" altLang="en-US" sz="2400" dirty="0">
                  <a:latin typeface="+mn-ea"/>
                  <a:ea typeface="+mn-ea"/>
                  <a:cs typeface="宋体" panose="02010600030101010101" pitchFamily="2" charset="-122"/>
                </a:endParaRPr>
              </a:p>
              <a:p>
                <a:pPr algn="just">
                  <a:lnSpc>
                    <a:spcPct val="150000"/>
                  </a:lnSpc>
                </a:pPr>
                <a:endParaRPr lang="zh-CN" altLang="en-US" sz="2400" dirty="0">
                  <a:latin typeface="+mn-ea"/>
                  <a:ea typeface="+mn-ea"/>
                  <a:cs typeface="宋体" panose="02010600030101010101" pitchFamily="2" charset="-122"/>
                </a:endParaRPr>
              </a:p>
              <a:p>
                <a:pPr algn="just">
                  <a:lnSpc>
                    <a:spcPct val="150000"/>
                  </a:lnSpc>
                </a:pPr>
                <a:r>
                  <a:rPr lang="en-US" altLang="zh-CN" sz="2400" dirty="0">
                    <a:latin typeface="+mn-ea"/>
                    <a:ea typeface="+mn-ea"/>
                    <a:cs typeface="宋体" panose="02010600030101010101" pitchFamily="2" charset="-122"/>
                  </a:rPr>
                  <a:t>2.</a:t>
                </a:r>
                <a:r>
                  <a:rPr lang="zh-CN" altLang="en-US" sz="2400" dirty="0">
                    <a:latin typeface="+mn-ea"/>
                    <a:ea typeface="+mn-ea"/>
                    <a:cs typeface="宋体" panose="02010600030101010101" pitchFamily="2" charset="-122"/>
                  </a:rPr>
                  <a:t>若</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acc>
                          <m:accPr>
                            <m:chr m:val="̅"/>
                            <m:ctrlPr>
                              <a:rPr lang="en-US" altLang="zh-CN" sz="2400" i="1">
                                <a:latin typeface="Cambria Math" panose="02040503050406030204" pitchFamily="18" charset="0"/>
                                <a:ea typeface="+mn-ea"/>
                                <a:cs typeface="Cambria Math" panose="02040503050406030204" pitchFamily="18" charset="0"/>
                              </a:rPr>
                            </m:ctrlPr>
                          </m:accPr>
                          <m:e>
                            <m:r>
                              <a:rPr lang="en-US" altLang="zh-CN" sz="2400" i="1">
                                <a:latin typeface="Cambria Math" panose="02040503050406030204" pitchFamily="18" charset="0"/>
                                <a:ea typeface="+mn-ea"/>
                                <a:cs typeface="Cambria Math" panose="02040503050406030204" pitchFamily="18" charset="0"/>
                              </a:rPr>
                              <m:t>𝑥</m:t>
                            </m:r>
                          </m:e>
                        </m:acc>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，它表明</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acc>
                          <m:accPr>
                            <m:chr m:val="̅"/>
                            <m:ctrlPr>
                              <a:rPr lang="en-US" altLang="zh-CN" sz="2400" i="1">
                                <a:latin typeface="Cambria Math" panose="02040503050406030204" pitchFamily="18" charset="0"/>
                                <a:ea typeface="+mn-ea"/>
                                <a:cs typeface="Cambria Math" panose="02040503050406030204" pitchFamily="18" charset="0"/>
                              </a:rPr>
                            </m:ctrlPr>
                          </m:accPr>
                          <m:e>
                            <m:r>
                              <a:rPr lang="en-US" altLang="zh-CN" sz="2400" i="1">
                                <a:latin typeface="Cambria Math" panose="02040503050406030204" pitchFamily="18" charset="0"/>
                                <a:ea typeface="+mn-ea"/>
                                <a:cs typeface="Cambria Math" panose="02040503050406030204" pitchFamily="18" charset="0"/>
                              </a:rPr>
                              <m:t>𝑥</m:t>
                            </m:r>
                          </m:e>
                        </m:acc>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无进展，仍分两种情况讨论</a:t>
                </a:r>
                <a:r>
                  <a:rPr lang="zh-CN" altLang="en-US" sz="2400" dirty="0">
                    <a:latin typeface="+mn-ea"/>
                    <a:ea typeface="+mn-ea"/>
                    <a:cs typeface="宋体" panose="02010600030101010101" pitchFamily="2" charset="-122"/>
                    <a:sym typeface="+mn-ea"/>
                  </a:rPr>
                  <a:t>。</a:t>
                </a:r>
                <a:endParaRPr lang="zh-CN" altLang="en-US" sz="2400" dirty="0">
                  <a:latin typeface="+mn-ea"/>
                  <a:ea typeface="+mn-ea"/>
                  <a:cs typeface="宋体" panose="02010600030101010101" pitchFamily="2" charset="-122"/>
                </a:endParaRPr>
              </a:p>
              <a:p>
                <a:pPr algn="just">
                  <a:lnSpc>
                    <a:spcPct val="150000"/>
                  </a:lnSpc>
                </a:pPr>
                <a:r>
                  <a:rPr lang="zh-CN" altLang="en-US" sz="2400" dirty="0">
                    <a:latin typeface="+mn-ea"/>
                    <a:ea typeface="+mn-ea"/>
                    <a:cs typeface="宋体" panose="02010600030101010101" pitchFamily="2" charset="-122"/>
                  </a:rPr>
                  <a:t> </a:t>
                </a:r>
                <a:r>
                  <a:rPr lang="en-US" altLang="zh-CN" sz="2400" dirty="0">
                    <a:latin typeface="+mn-ea"/>
                    <a:ea typeface="+mn-ea"/>
                    <a:cs typeface="宋体" panose="02010600030101010101" pitchFamily="2" charset="-122"/>
                  </a:rPr>
                  <a:t>  </a:t>
                </a:r>
                <a:r>
                  <a:rPr lang="zh-CN" altLang="en-US" sz="2400" dirty="0">
                    <a:latin typeface="+mn-ea"/>
                    <a:ea typeface="+mn-ea"/>
                    <a:cs typeface="宋体" panose="02010600030101010101" pitchFamily="2" charset="-122"/>
                  </a:rPr>
                  <a:t>①若存在</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𝑞</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𝐼</m:t>
                        </m:r>
                        <m:r>
                          <a:rPr lang="en-US" altLang="zh-CN" sz="2400" i="1">
                            <a:latin typeface="Cambria Math" panose="02040503050406030204" pitchFamily="18" charset="0"/>
                            <a:ea typeface="+mn-ea"/>
                            <a:cs typeface="Cambria Math" panose="02040503050406030204" pitchFamily="18" charset="0"/>
                          </a:rPr>
                          <m:t>(</m:t>
                        </m:r>
                        <m:acc>
                          <m:accPr>
                            <m:chr m:val="̅"/>
                            <m:ctrlPr>
                              <a:rPr lang="en-US" altLang="zh-CN" sz="2400" i="1">
                                <a:latin typeface="Cambria Math" panose="02040503050406030204" pitchFamily="18" charset="0"/>
                                <a:ea typeface="+mn-ea"/>
                                <a:cs typeface="Cambria Math" panose="02040503050406030204" pitchFamily="18" charset="0"/>
                              </a:rPr>
                            </m:ctrlPr>
                          </m:accPr>
                          <m:e>
                            <m:r>
                              <a:rPr lang="en-US" altLang="zh-CN" sz="2400" i="1">
                                <a:latin typeface="Cambria Math" panose="02040503050406030204" pitchFamily="18" charset="0"/>
                                <a:ea typeface="+mn-ea"/>
                                <a:cs typeface="Cambria Math" panose="02040503050406030204" pitchFamily="18" charset="0"/>
                              </a:rPr>
                              <m:t>𝑥</m:t>
                            </m:r>
                          </m:e>
                        </m:acc>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，且</a:t>
                </a:r>
                <a14:m>
                  <m:oMath xmlns:m="http://schemas.openxmlformats.org/officeDocument/2006/math">
                    <m:sSubSup>
                      <m:sSubSupPr>
                        <m:ctrlPr>
                          <a:rPr lang="en-US" altLang="zh-CN" sz="2400" i="1">
                            <a:latin typeface="Cambria Math" panose="02040503050406030204" pitchFamily="18" charset="0"/>
                            <a:ea typeface="+mn-ea"/>
                            <a:cs typeface="Cambria Math" panose="02040503050406030204" pitchFamily="18" charset="0"/>
                          </a:rPr>
                        </m:ctrlPr>
                      </m:sSubSupPr>
                      <m:e>
                        <m:r>
                          <a:rPr lang="en-US" altLang="zh-CN" sz="2400" i="1">
                            <a:latin typeface="Cambria Math" panose="02040503050406030204" pitchFamily="18" charset="0"/>
                            <a:ea typeface="+mn-ea"/>
                            <a:cs typeface="Cambria Math" panose="02040503050406030204" pitchFamily="18" charset="0"/>
                          </a:rPr>
                          <m:t>𝜆</m:t>
                        </m:r>
                      </m:e>
                      <m:sub>
                        <m:r>
                          <a:rPr lang="en-US" altLang="zh-CN" sz="2400" i="1">
                            <a:latin typeface="Cambria Math" panose="02040503050406030204" pitchFamily="18" charset="0"/>
                            <a:ea typeface="+mn-ea"/>
                            <a:cs typeface="Cambria Math" panose="02040503050406030204" pitchFamily="18" charset="0"/>
                          </a:rPr>
                          <m:t>𝑞</m:t>
                        </m:r>
                      </m:sub>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bSup>
                    <m:r>
                      <a:rPr lang="en-US" altLang="zh-CN" sz="2400" i="1">
                        <a:latin typeface="Cambria Math" panose="02040503050406030204" pitchFamily="18" charset="0"/>
                        <a:ea typeface="+mn-ea"/>
                        <a:cs typeface="Cambria Math" panose="02040503050406030204" pitchFamily="18" charset="0"/>
                      </a:rPr>
                      <m:t>&lt;</m:t>
                    </m:r>
                    <m:r>
                      <a:rPr lang="en-US" altLang="zh-CN" sz="2400" i="1">
                        <a:latin typeface="Cambria Math" panose="02040503050406030204" pitchFamily="18" charset="0"/>
                        <a:ea typeface="+mn-ea"/>
                        <a:cs typeface="Cambria Math" panose="02040503050406030204" pitchFamily="18" charset="0"/>
                      </a:rPr>
                      <m:t>0</m:t>
                    </m:r>
                  </m:oMath>
                </a14:m>
                <a:r>
                  <a:rPr lang="zh-CN" altLang="en-US" sz="2400" dirty="0">
                    <a:latin typeface="+mn-ea"/>
                    <a:ea typeface="+mn-ea"/>
                    <a:cs typeface="宋体" panose="02010600030101010101" pitchFamily="2" charset="-122"/>
                    <a:sym typeface="+mn-ea"/>
                  </a:rPr>
                  <a:t>。</a:t>
                </a:r>
                <a:r>
                  <a:rPr lang="zh-CN" altLang="en-US" sz="2400" dirty="0">
                    <a:latin typeface="+mn-ea"/>
                    <a:ea typeface="+mn-ea"/>
                    <a:cs typeface="宋体" panose="02010600030101010101" pitchFamily="2" charset="-122"/>
                  </a:rPr>
                  <a:t>令</a:t>
                </a:r>
                <a:endParaRPr lang="zh-CN" altLang="en-US" sz="2400" dirty="0">
                  <a:latin typeface="+mn-ea"/>
                  <a:ea typeface="+mn-ea"/>
                  <a:cs typeface="宋体" panose="02010600030101010101" pitchFamily="2" charset="-122"/>
                </a:endParaRPr>
              </a:p>
              <a:p>
                <a:pPr algn="just">
                  <a:lnSpc>
                    <a:spcPct val="150000"/>
                  </a:lnSpc>
                </a:pPr>
                <a:r>
                  <a:rPr lang="en-US" altLang="zh-CN" sz="2400" dirty="0">
                    <a:latin typeface="+mn-ea"/>
                    <a:ea typeface="+mn-ea"/>
                    <a:cs typeface="宋体" panose="02010600030101010101" pitchFamily="2" charset="-122"/>
                    <a:sym typeface="+mn-ea"/>
                  </a:rPr>
                  <a:t>                  </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acc>
                          <m:accPr>
                            <m:chr m:val="̅"/>
                            <m:ctrlPr>
                              <a:rPr lang="en-US" altLang="zh-CN" sz="2400" i="1">
                                <a:latin typeface="Cambria Math" panose="02040503050406030204" pitchFamily="18" charset="0"/>
                                <a:ea typeface="+mn-ea"/>
                                <a:cs typeface="Cambria Math" panose="02040503050406030204" pitchFamily="18" charset="0"/>
                              </a:rPr>
                            </m:ctrlPr>
                          </m:accPr>
                          <m:e>
                            <m:r>
                              <a:rPr lang="en-US" altLang="zh-CN" sz="2400" i="1">
                                <a:latin typeface="Cambria Math" panose="02040503050406030204" pitchFamily="18" charset="0"/>
                                <a:ea typeface="+mn-ea"/>
                                <a:cs typeface="Cambria Math" panose="02040503050406030204" pitchFamily="18" charset="0"/>
                              </a:rPr>
                              <m:t>𝑥</m:t>
                            </m:r>
                          </m:e>
                        </m:acc>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d>
                          <m:dPr>
                            <m:ctrlPr>
                              <a:rPr lang="en-US" altLang="zh-CN" sz="2400" i="1">
                                <a:latin typeface="Cambria Math" panose="02040503050406030204" pitchFamily="18" charset="0"/>
                                <a:ea typeface="+mn-ea"/>
                                <a:cs typeface="Cambria Math" panose="02040503050406030204" pitchFamily="18" charset="0"/>
                              </a:rPr>
                            </m:ctrlPr>
                          </m:dPr>
                          <m:e>
                            <m:r>
                              <a:rPr lang="en-US" altLang="zh-CN" sz="2400" i="1">
                                <a:latin typeface="Cambria Math" panose="02040503050406030204" pitchFamily="18" charset="0"/>
                                <a:ea typeface="+mn-ea"/>
                                <a:cs typeface="Cambria Math" panose="02040503050406030204" pitchFamily="18" charset="0"/>
                              </a:rPr>
                              <m:t>1</m:t>
                            </m:r>
                          </m:e>
                        </m:d>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𝐼</m:t>
                    </m:r>
                    <m:r>
                      <a:rPr lang="en-US" altLang="zh-CN" sz="240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d>
                          <m:dPr>
                            <m:ctrlPr>
                              <a:rPr lang="en-US" altLang="zh-CN" sz="2400" i="1">
                                <a:latin typeface="Cambria Math" panose="02040503050406030204" pitchFamily="18" charset="0"/>
                                <a:ea typeface="+mn-ea"/>
                                <a:cs typeface="Cambria Math" panose="02040503050406030204" pitchFamily="18" charset="0"/>
                              </a:rPr>
                            </m:ctrlPr>
                          </m:dPr>
                          <m:e>
                            <m:r>
                              <a:rPr lang="en-US" altLang="zh-CN" sz="2400" i="1">
                                <a:latin typeface="Cambria Math" panose="02040503050406030204" pitchFamily="18" charset="0"/>
                                <a:ea typeface="+mn-ea"/>
                                <a:cs typeface="Cambria Math" panose="02040503050406030204" pitchFamily="18" charset="0"/>
                              </a:rPr>
                              <m:t>2</m:t>
                            </m:r>
                          </m:e>
                        </m:d>
                      </m:sup>
                    </m:sSup>
                    <m:r>
                      <a:rPr lang="en-US" altLang="zh-CN" sz="240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𝐼</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d>
                          <m:dPr>
                            <m:ctrlPr>
                              <a:rPr lang="en-US" altLang="zh-CN" sz="2400" i="1">
                                <a:latin typeface="Cambria Math" panose="02040503050406030204" pitchFamily="18" charset="0"/>
                                <a:ea typeface="+mn-ea"/>
                                <a:cs typeface="Cambria Math" panose="02040503050406030204" pitchFamily="18" charset="0"/>
                              </a:rPr>
                            </m:ctrlPr>
                          </m:dPr>
                          <m:e>
                            <m:r>
                              <a:rPr lang="en-US" altLang="zh-CN" sz="2400" i="1">
                                <a:latin typeface="Cambria Math" panose="02040503050406030204" pitchFamily="18" charset="0"/>
                                <a:ea typeface="+mn-ea"/>
                                <a:cs typeface="Cambria Math" panose="02040503050406030204" pitchFamily="18" charset="0"/>
                              </a:rPr>
                              <m:t>1</m:t>
                            </m:r>
                          </m:e>
                        </m:d>
                      </m:sup>
                    </m:sSup>
                    <m:r>
                      <a:rPr lang="en-US" altLang="zh-CN" sz="2400" i="1">
                        <a:latin typeface="Cambria Math" panose="02040503050406030204" pitchFamily="18" charset="0"/>
                        <a:ea typeface="+mn-ea"/>
                        <a:cs typeface="Cambria Math" panose="02040503050406030204" pitchFamily="18" charset="0"/>
                      </a:rPr>
                      <m:t>)</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𝑞</m:t>
                    </m:r>
                    <m:r>
                      <a:rPr lang="en-US" altLang="zh-CN" sz="2400" i="1">
                        <a:latin typeface="Cambria Math" panose="02040503050406030204" pitchFamily="18" charset="0"/>
                        <a:ea typeface="+mn-ea"/>
                        <a:cs typeface="Cambria Math" panose="02040503050406030204" pitchFamily="18" charset="0"/>
                      </a:rPr>
                      <m:t>}</m:t>
                    </m:r>
                  </m:oMath>
                </a14:m>
                <a:endParaRPr lang="zh-CN" altLang="en-US" sz="2400" dirty="0">
                  <a:latin typeface="+mn-ea"/>
                  <a:ea typeface="+mn-ea"/>
                  <a:cs typeface="宋体" panose="02010600030101010101" pitchFamily="2" charset="-122"/>
                </a:endParaRPr>
              </a:p>
              <a:p>
                <a:pPr algn="just">
                  <a:lnSpc>
                    <a:spcPct val="150000"/>
                  </a:lnSpc>
                </a:pPr>
                <a:r>
                  <a:rPr lang="zh-CN" altLang="en-US" sz="2400" dirty="0">
                    <a:latin typeface="+mn-ea"/>
                    <a:ea typeface="+mn-ea"/>
                    <a:cs typeface="宋体" panose="02010600030101010101" pitchFamily="2" charset="-122"/>
                  </a:rPr>
                  <a:t>     重复上一轮计算。这样操作是为了扩大问题(3)的可行域找到一个更好的点。</a:t>
                </a:r>
                <a:r>
                  <a:rPr lang="en-US" altLang="zh-CN" sz="2400" dirty="0">
                    <a:latin typeface="+mn-ea"/>
                    <a:ea typeface="+mn-ea"/>
                    <a:cs typeface="宋体" panose="02010600030101010101" pitchFamily="2" charset="-122"/>
                  </a:rPr>
                  <a:t>   </a:t>
                </a:r>
                <a:endParaRPr lang="en-US" altLang="zh-CN" sz="2400" dirty="0">
                  <a:latin typeface="+mn-ea"/>
                  <a:ea typeface="+mn-ea"/>
                  <a:cs typeface="宋体" panose="02010600030101010101" pitchFamily="2" charset="-122"/>
                </a:endParaRPr>
              </a:p>
              <a:p>
                <a:pPr algn="just">
                  <a:lnSpc>
                    <a:spcPct val="150000"/>
                  </a:lnSpc>
                </a:pPr>
                <a:r>
                  <a:rPr lang="en-US" altLang="zh-CN" sz="2400" dirty="0">
                    <a:latin typeface="+mn-ea"/>
                    <a:ea typeface="+mn-ea"/>
                    <a:cs typeface="宋体" panose="02010600030101010101" pitchFamily="2" charset="-122"/>
                  </a:rPr>
                  <a:t>   </a:t>
                </a:r>
                <a:r>
                  <a:rPr lang="zh-CN" altLang="en-US" sz="2400" dirty="0">
                    <a:latin typeface="+mn-ea"/>
                    <a:ea typeface="+mn-ea"/>
                    <a:cs typeface="宋体" panose="02010600030101010101" pitchFamily="2" charset="-122"/>
                  </a:rPr>
                  <a:t>②若</a:t>
                </a:r>
                <a14:m>
                  <m:oMath xmlns:m="http://schemas.openxmlformats.org/officeDocument/2006/math">
                    <m:sSubSup>
                      <m:sSubSupPr>
                        <m:ctrlPr>
                          <a:rPr lang="en-US" altLang="zh-CN" sz="2400" i="1">
                            <a:latin typeface="Cambria Math" panose="02040503050406030204" pitchFamily="18" charset="0"/>
                            <a:ea typeface="+mn-ea"/>
                            <a:cs typeface="Cambria Math" panose="02040503050406030204" pitchFamily="18" charset="0"/>
                          </a:rPr>
                        </m:ctrlPr>
                      </m:sSubSupPr>
                      <m:e>
                        <m:r>
                          <a:rPr lang="en-US" altLang="zh-CN" sz="2400" i="1">
                            <a:latin typeface="Cambria Math" panose="02040503050406030204" pitchFamily="18" charset="0"/>
                            <a:ea typeface="+mn-ea"/>
                            <a:cs typeface="Cambria Math" panose="02040503050406030204" pitchFamily="18" charset="0"/>
                          </a:rPr>
                          <m:t>𝜆</m:t>
                        </m:r>
                      </m:e>
                      <m:sub>
                        <m:r>
                          <a:rPr lang="en-US" altLang="zh-CN" sz="2400" b="0" i="1" smtClean="0">
                            <a:latin typeface="Cambria Math" panose="02040503050406030204" pitchFamily="18" charset="0"/>
                            <a:ea typeface="+mn-ea"/>
                            <a:cs typeface="Cambria Math" panose="02040503050406030204" pitchFamily="18" charset="0"/>
                          </a:rPr>
                          <m:t>𝑖</m:t>
                        </m:r>
                      </m:sub>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b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oMath>
                </a14:m>
                <a:r>
                  <a:rPr lang="zh-CN" altLang="en-US" sz="2400" dirty="0">
                    <a:latin typeface="+mn-ea"/>
                    <a:ea typeface="+mn-ea"/>
                    <a:cs typeface="宋体" panose="02010600030101010101" pitchFamily="2" charset="-122"/>
                  </a:rPr>
                  <a:t>，</a:t>
                </a:r>
                <a14:m>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𝑖</m:t>
                    </m:r>
                    <m:r>
                      <a:rPr lang="en-US" altLang="zh-CN" sz="240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b="0" i="1" smtClean="0">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，此时</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acc>
                          <m:accPr>
                            <m:chr m:val="̅"/>
                            <m:ctrlPr>
                              <a:rPr lang="en-US" altLang="zh-CN" sz="2400" i="1">
                                <a:latin typeface="Cambria Math" panose="02040503050406030204" pitchFamily="18" charset="0"/>
                                <a:ea typeface="+mn-ea"/>
                                <a:cs typeface="Cambria Math" panose="02040503050406030204" pitchFamily="18" charset="0"/>
                              </a:rPr>
                            </m:ctrlPr>
                          </m:accPr>
                          <m:e>
                            <m:r>
                              <a:rPr lang="en-US" altLang="zh-CN" sz="2400" i="1">
                                <a:latin typeface="Cambria Math" panose="02040503050406030204" pitchFamily="18" charset="0"/>
                                <a:ea typeface="+mn-ea"/>
                                <a:cs typeface="Cambria Math" panose="02040503050406030204" pitchFamily="18" charset="0"/>
                              </a:rPr>
                              <m:t>𝑥</m:t>
                            </m:r>
                          </m:e>
                        </m:acc>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en-US" altLang="zh-CN" sz="2400" dirty="0">
                    <a:latin typeface="+mn-ea"/>
                    <a:ea typeface="+mn-ea"/>
                    <a:cs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是问题(</a:t>
                </a:r>
                <a:r>
                  <a:rPr lang="en-US" altLang="zh-CN" sz="2400" dirty="0">
                    <a:latin typeface="+mn-ea"/>
                    <a:ea typeface="+mn-ea"/>
                    <a:cs typeface="宋体" panose="02010600030101010101" pitchFamily="2" charset="-122"/>
                  </a:rPr>
                  <a:t>1</a:t>
                </a:r>
                <a:r>
                  <a:rPr lang="zh-CN" altLang="en-US" sz="2400" dirty="0">
                    <a:latin typeface="+mn-ea"/>
                    <a:ea typeface="+mn-ea"/>
                    <a:cs typeface="宋体" panose="02010600030101010101" pitchFamily="2" charset="-122"/>
                  </a:rPr>
                  <a:t>)的KKT点</a:t>
                </a:r>
                <a:r>
                  <a:rPr lang="en-US" altLang="zh-CN" sz="2400" dirty="0">
                    <a:latin typeface="+mn-ea"/>
                    <a:ea typeface="+mn-ea"/>
                    <a:cs typeface="宋体" panose="02010600030101010101" pitchFamily="2" charset="-122"/>
                    <a:sym typeface="+mn-ea"/>
                  </a:rPr>
                  <a:t>,</a:t>
                </a:r>
                <a:r>
                  <a:rPr lang="zh-CN" altLang="en-US" sz="2400" dirty="0">
                    <a:latin typeface="+mn-ea"/>
                    <a:ea typeface="+mn-ea"/>
                    <a:cs typeface="宋体" panose="02010600030101010101" pitchFamily="2" charset="-122"/>
                    <a:sym typeface="+mn-ea"/>
                  </a:rPr>
                  <a:t>也</a:t>
                </a:r>
                <a:r>
                  <a:rPr lang="zh-CN" altLang="en-US" sz="2400" dirty="0">
                    <a:latin typeface="+mn-ea"/>
                    <a:ea typeface="+mn-ea"/>
                    <a:cs typeface="宋体" panose="02010600030101010101" pitchFamily="2" charset="-122"/>
                  </a:rPr>
                  <a:t>是最优解。</a:t>
                </a:r>
                <a:endParaRPr lang="zh-CN" altLang="en-US" sz="2400" dirty="0">
                  <a:latin typeface="+mn-ea"/>
                  <a:ea typeface="+mn-ea"/>
                  <a:cs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443372" y="13060"/>
                <a:ext cx="11305256" cy="6574107"/>
              </a:xfrm>
              <a:prstGeom prst="rect">
                <a:avLst/>
              </a:prstGeom>
              <a:blipFill rotWithShape="1">
                <a:blip r:embed="rId1"/>
                <a:stretch>
                  <a:fillRect l="-1" t="-5" r="4" b="5"/>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9336" y="235404"/>
            <a:ext cx="5472608" cy="584775"/>
          </a:xfrm>
          <a:prstGeom prst="rect">
            <a:avLst/>
          </a:prstGeom>
          <a:noFill/>
        </p:spPr>
        <p:txBody>
          <a:bodyPr wrap="square" rtlCol="0">
            <a:spAutoFit/>
          </a:bodyPr>
          <a:lstStyle/>
          <a:p>
            <a:r>
              <a:rPr lang="zh-CN" altLang="en-US" sz="3200" dirty="0">
                <a:latin typeface="黑体" panose="02010609060101010101" pitchFamily="49" charset="-122"/>
                <a:ea typeface="黑体" panose="02010609060101010101" pitchFamily="49" charset="-122"/>
              </a:rPr>
              <a:t>二、计算步骤</a:t>
            </a:r>
            <a:endParaRPr lang="zh-CN" altLang="en-US" sz="3200"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4" name="文本框 3"/>
              <p:cNvSpPr txBox="1"/>
              <p:nvPr/>
            </p:nvSpPr>
            <p:spPr>
              <a:xfrm>
                <a:off x="623392" y="836712"/>
                <a:ext cx="11230610" cy="5693610"/>
              </a:xfrm>
              <a:prstGeom prst="rect">
                <a:avLst/>
              </a:prstGeom>
              <a:noFill/>
            </p:spPr>
            <p:txBody>
              <a:bodyPr wrap="square" rtlCol="0">
                <a:spAutoFit/>
              </a:bodyPr>
              <a:lstStyle/>
              <a:p>
                <a:pPr>
                  <a:lnSpc>
                    <a:spcPct val="130000"/>
                  </a:lnSpc>
                </a:pPr>
                <a:r>
                  <a:rPr lang="zh-CN" altLang="en-US" sz="2400" dirty="0">
                    <a:latin typeface="+mn-ea"/>
                    <a:ea typeface="+mn-ea"/>
                    <a:cs typeface="宋体" panose="02010600030101010101" pitchFamily="2" charset="-122"/>
                  </a:rPr>
                  <a:t>求解凸二次规划问题</a:t>
                </a:r>
                <a:r>
                  <a:rPr lang="en-US" altLang="zh-CN" sz="2400" dirty="0">
                    <a:latin typeface="+mn-ea"/>
                    <a:ea typeface="+mn-ea"/>
                    <a:cs typeface="宋体" panose="02010600030101010101" pitchFamily="2" charset="-122"/>
                  </a:rPr>
                  <a:t>(1)</a:t>
                </a:r>
                <a:r>
                  <a:rPr lang="zh-CN" altLang="en-US" sz="2400" dirty="0">
                    <a:latin typeface="+mn-ea"/>
                    <a:ea typeface="+mn-ea"/>
                    <a:cs typeface="宋体" panose="02010600030101010101" pitchFamily="2" charset="-122"/>
                  </a:rPr>
                  <a:t>的</a:t>
                </a:r>
                <a:r>
                  <a:rPr lang="zh-CN" altLang="en-US" sz="2400" b="1" dirty="0">
                    <a:solidFill>
                      <a:srgbClr val="0070C0"/>
                    </a:solidFill>
                    <a:latin typeface="+mn-ea"/>
                    <a:ea typeface="+mn-ea"/>
                    <a:cs typeface="宋体" panose="02010600030101010101" pitchFamily="2" charset="-122"/>
                  </a:rPr>
                  <a:t>有效集法</a:t>
                </a:r>
                <a:endParaRPr lang="zh-CN" altLang="en-US" sz="2400" b="1" dirty="0">
                  <a:solidFill>
                    <a:srgbClr val="0070C0"/>
                  </a:solidFill>
                  <a:latin typeface="+mn-ea"/>
                  <a:ea typeface="+mn-ea"/>
                  <a:cs typeface="宋体" panose="02010600030101010101" pitchFamily="2" charset="-122"/>
                </a:endParaRPr>
              </a:p>
              <a:p>
                <a:pPr>
                  <a:lnSpc>
                    <a:spcPct val="130000"/>
                  </a:lnSpc>
                </a:pPr>
                <a:r>
                  <a:rPr lang="en-US" altLang="zh-CN" sz="2400" dirty="0">
                    <a:latin typeface="+mn-ea"/>
                    <a:ea typeface="+mn-ea"/>
                    <a:cs typeface="宋体" panose="02010600030101010101" pitchFamily="2" charset="-122"/>
                  </a:rPr>
                  <a:t>1.</a:t>
                </a:r>
                <a:r>
                  <a:rPr lang="zh-CN" altLang="en-US" sz="2400" dirty="0">
                    <a:latin typeface="+mn-ea"/>
                    <a:ea typeface="+mn-ea"/>
                    <a:cs typeface="宋体" panose="02010600030101010101" pitchFamily="2" charset="-122"/>
                  </a:rPr>
                  <a:t>取初始可行点</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，即</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满足</a:t>
                </a:r>
                <a:endParaRPr lang="zh-CN" altLang="en-US" sz="2400" dirty="0">
                  <a:latin typeface="+mn-ea"/>
                  <a:ea typeface="+mn-ea"/>
                  <a:cs typeface="宋体" panose="02010600030101010101" pitchFamily="2" charset="-122"/>
                </a:endParaRPr>
              </a:p>
              <a:p>
                <a:pPr>
                  <a:lnSpc>
                    <a:spcPct val="130000"/>
                  </a:lnSpc>
                </a:pPr>
                <a14:m>
                  <m:oMathPara xmlns:m="http://schemas.openxmlformats.org/officeDocument/2006/math">
                    <m:oMathParaPr>
                      <m:jc m:val="centerGroup"/>
                    </m:oMathParaPr>
                    <m:oMath xmlns:m="http://schemas.openxmlformats.org/officeDocument/2006/math">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1</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2</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oMath>
                  </m:oMathPara>
                </a14:m>
                <a:endParaRPr lang="en-US" altLang="zh-CN" sz="2400" i="1" dirty="0">
                  <a:latin typeface="+mn-ea"/>
                  <a:ea typeface="+mn-ea"/>
                  <a:cs typeface="宋体" panose="02010600030101010101" pitchFamily="2" charset="-122"/>
                </a:endParaRPr>
              </a:p>
              <a:p>
                <a:pPr>
                  <a:lnSpc>
                    <a:spcPct val="130000"/>
                  </a:lnSpc>
                </a:pPr>
                <a14:m>
                  <m:oMathPara xmlns:m="http://schemas.openxmlformats.org/officeDocument/2006/math">
                    <m:oMathParaPr>
                      <m:jc m:val="centerGroup"/>
                    </m:oMathParaPr>
                    <m:oMath xmlns:m="http://schemas.openxmlformats.org/officeDocument/2006/math">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1</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𝑙</m:t>
                      </m:r>
                      <m:r>
                        <a:rPr lang="en-US" altLang="zh-CN" sz="2400" i="1" smtClean="0">
                          <a:latin typeface="Cambria Math" panose="02040503050406030204" pitchFamily="18" charset="0"/>
                          <a:ea typeface="+mn-ea"/>
                          <a:cs typeface="Cambria Math" panose="02040503050406030204" pitchFamily="18" charset="0"/>
                        </a:rPr>
                        <m:t>}</m:t>
                      </m:r>
                    </m:oMath>
                  </m:oMathPara>
                </a14:m>
                <a:endParaRPr lang="zh-CN" altLang="en-US" sz="2400" dirty="0">
                  <a:latin typeface="+mn-ea"/>
                  <a:ea typeface="+mn-ea"/>
                  <a:cs typeface="宋体" panose="02010600030101010101" pitchFamily="2" charset="-122"/>
                </a:endParaRPr>
              </a:p>
              <a:p>
                <a:pPr>
                  <a:lnSpc>
                    <a:spcPct val="130000"/>
                  </a:lnSpc>
                </a:pPr>
                <a:r>
                  <a:rPr lang="zh-CN" altLang="en-US" sz="2400" dirty="0">
                    <a:latin typeface="+mn-ea"/>
                    <a:ea typeface="+mn-ea"/>
                    <a:cs typeface="宋体" panose="02010600030101010101" pitchFamily="2" charset="-122"/>
                  </a:rPr>
                  <a:t>  确定</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处的起作用不等式约束下标集</a:t>
                </a:r>
                <a:endParaRPr lang="zh-CN" altLang="en-US" sz="2400" dirty="0">
                  <a:latin typeface="+mn-ea"/>
                  <a:ea typeface="+mn-ea"/>
                  <a:cs typeface="宋体" panose="02010600030101010101" pitchFamily="2" charset="-122"/>
                </a:endParaRPr>
              </a:p>
              <a:p>
                <a:pPr>
                  <a:lnSpc>
                    <a:spcPct val="130000"/>
                  </a:lnSpc>
                </a:pPr>
                <a:r>
                  <a:rPr lang="en-US" altLang="zh-CN" sz="2400" dirty="0">
                    <a:latin typeface="+mn-ea"/>
                    <a:ea typeface="+mn-ea"/>
                    <a:cs typeface="宋体" panose="02010600030101010101" pitchFamily="2" charset="-122"/>
                    <a:sym typeface="+mn-ea"/>
                  </a:rPr>
                  <a:t>             </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b="0" i="1" smtClean="0">
                        <a:latin typeface="Cambria Math" panose="02040503050406030204" pitchFamily="18" charset="0"/>
                        <a:ea typeface="+mn-ea"/>
                        <a:cs typeface="Cambria Math" panose="02040503050406030204" pitchFamily="18" charset="0"/>
                      </a:rPr>
                      <m:t>) ={</m:t>
                    </m:r>
                    <m:r>
                      <a:rPr lang="en-US" altLang="zh-CN" sz="2400" b="0" i="1" smtClean="0">
                        <a:latin typeface="Cambria Math" panose="02040503050406030204" pitchFamily="18" charset="0"/>
                        <a:ea typeface="+mn-ea"/>
                        <a:cs typeface="Cambria Math" panose="02040503050406030204" pitchFamily="18" charset="0"/>
                      </a:rPr>
                      <m:t>𝑖</m:t>
                    </m:r>
                    <m:r>
                      <a:rPr lang="en-US" altLang="zh-CN" sz="2400" b="0" i="1" smtClean="0">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𝑚</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1</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𝑖</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𝑚</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𝑙</m:t>
                    </m:r>
                    <m:r>
                      <a:rPr kumimoji="1" lang="en-US" altLang="zh-CN" sz="2400" i="1">
                        <a:solidFill>
                          <a:schemeClr val="tx1"/>
                        </a:solidFill>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	</a:t>
                </a:r>
                <a:endParaRPr lang="zh-CN" altLang="en-US" sz="2400" dirty="0">
                  <a:latin typeface="+mn-ea"/>
                  <a:ea typeface="+mn-ea"/>
                  <a:cs typeface="宋体" panose="02010600030101010101" pitchFamily="2" charset="-122"/>
                </a:endParaRPr>
              </a:p>
              <a:p>
                <a:pPr>
                  <a:lnSpc>
                    <a:spcPct val="130000"/>
                  </a:lnSpc>
                </a:pPr>
                <a:r>
                  <a:rPr lang="zh-CN" altLang="en-US" sz="2400" dirty="0">
                    <a:latin typeface="+mn-ea"/>
                    <a:ea typeface="+mn-ea"/>
                    <a:cs typeface="宋体" panose="02010600030101010101" pitchFamily="2" charset="-122"/>
                  </a:rPr>
                  <a:t>  置</a:t>
                </a:r>
                <a14:m>
                  <m:oMath xmlns:m="http://schemas.openxmlformats.org/officeDocument/2006/math">
                    <m:r>
                      <a:rPr lang="en-US" altLang="zh-CN" sz="2400" b="0" i="1" smtClean="0">
                        <a:latin typeface="Cambria Math" panose="02040503050406030204" pitchFamily="18" charset="0"/>
                        <a:ea typeface="+mn-ea"/>
                        <a:cs typeface="Cambria Math" panose="02040503050406030204" pitchFamily="18" charset="0"/>
                      </a:rPr>
                      <m:t>𝑘</m:t>
                    </m:r>
                    <m:r>
                      <a:rPr lang="en-US" altLang="zh-CN" sz="2400" b="0" i="1" smtClean="0">
                        <a:latin typeface="Cambria Math" panose="02040503050406030204" pitchFamily="18" charset="0"/>
                        <a:ea typeface="+mn-ea"/>
                        <a:cs typeface="Cambria Math" panose="02040503050406030204" pitchFamily="18" charset="0"/>
                      </a:rPr>
                      <m:t>=</m:t>
                    </m:r>
                    <m:r>
                      <a:rPr lang="en-US" altLang="zh-CN" sz="2400" b="0" i="1" smtClean="0">
                        <a:latin typeface="Cambria Math" panose="02040503050406030204" pitchFamily="18" charset="0"/>
                        <a:ea typeface="+mn-ea"/>
                        <a:cs typeface="Cambria Math" panose="02040503050406030204" pitchFamily="18" charset="0"/>
                      </a:rPr>
                      <m:t>1</m:t>
                    </m:r>
                  </m:oMath>
                </a14:m>
                <a:r>
                  <a:rPr lang="zh-CN" altLang="en-US" sz="2400" dirty="0">
                    <a:latin typeface="+mn-ea"/>
                    <a:ea typeface="+mn-ea"/>
                    <a:cs typeface="宋体" panose="02010600030101010101" pitchFamily="2" charset="-122"/>
                  </a:rPr>
                  <a:t>。</a:t>
                </a:r>
                <a:endParaRPr lang="zh-CN" altLang="en-US" sz="2400" dirty="0">
                  <a:latin typeface="+mn-ea"/>
                  <a:ea typeface="+mn-ea"/>
                  <a:cs typeface="宋体" panose="02010600030101010101" pitchFamily="2" charset="-122"/>
                </a:endParaRPr>
              </a:p>
              <a:p>
                <a:pPr>
                  <a:lnSpc>
                    <a:spcPct val="130000"/>
                  </a:lnSpc>
                </a:pPr>
                <a:r>
                  <a:rPr lang="en-US" altLang="zh-CN" sz="2400" dirty="0">
                    <a:latin typeface="+mn-ea"/>
                    <a:ea typeface="+mn-ea"/>
                    <a:cs typeface="宋体" panose="02010600030101010101" pitchFamily="2" charset="-122"/>
                  </a:rPr>
                  <a:t>2.</a:t>
                </a:r>
                <a:r>
                  <a:rPr lang="zh-CN" altLang="en-US" sz="2400" dirty="0">
                    <a:latin typeface="+mn-ea"/>
                    <a:ea typeface="+mn-ea"/>
                    <a:cs typeface="宋体" panose="02010600030101010101" pitchFamily="2" charset="-122"/>
                  </a:rPr>
                  <a:t>求解等式约束二次规划问题</a:t>
                </a:r>
                <a:endParaRPr lang="zh-CN" altLang="en-US" sz="2400" dirty="0">
                  <a:latin typeface="+mn-ea"/>
                  <a:ea typeface="+mn-ea"/>
                  <a:cs typeface="宋体" panose="02010600030101010101" pitchFamily="2" charset="-122"/>
                </a:endParaRPr>
              </a:p>
              <a:p>
                <a:pPr>
                  <a:lnSpc>
                    <a:spcPct val="130000"/>
                  </a:lnSpc>
                </a:pPr>
                <a:r>
                  <a:rPr lang="en-US" altLang="zh-CN" sz="2400" dirty="0">
                    <a:latin typeface="+mn-ea"/>
                    <a:ea typeface="+mn-ea"/>
                    <a:cs typeface="宋体" panose="02010600030101010101" pitchFamily="2" charset="-122"/>
                    <a:sym typeface="+mn-ea"/>
                  </a:rPr>
                  <a:t>                              </a:t>
                </a:r>
                <a14:m>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𝑚𝑖𝑛</m:t>
                    </m:r>
                    <m:r>
                      <a:rPr lang="en-US" altLang="zh-CN" sz="2400" i="1">
                        <a:latin typeface="Cambria Math" panose="02040503050406030204" pitchFamily="18" charset="0"/>
                        <a:ea typeface="+mn-ea"/>
                        <a:cs typeface="Cambria Math" panose="02040503050406030204" pitchFamily="18" charset="0"/>
                      </a:rPr>
                      <m:t>  </m:t>
                    </m:r>
                    <m:f>
                      <m:f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fPr>
                      <m:num>
                        <m:r>
                          <a:rPr kumimoji="1" lang="en-US" altLang="zh-CN" sz="2400" i="1">
                            <a:solidFill>
                              <a:schemeClr val="tx1"/>
                            </a:solidFill>
                            <a:latin typeface="Cambria Math" panose="02040503050406030204" pitchFamily="18" charset="0"/>
                            <a:ea typeface="+mn-ea"/>
                            <a:cs typeface="Cambria Math" panose="02040503050406030204" pitchFamily="18" charset="0"/>
                          </a:rPr>
                          <m:t>1</m:t>
                        </m:r>
                      </m:num>
                      <m:den>
                        <m:r>
                          <a:rPr kumimoji="1" lang="en-US" altLang="zh-CN" sz="2400" i="1">
                            <a:solidFill>
                              <a:schemeClr val="tx1"/>
                            </a:solidFill>
                            <a:latin typeface="Cambria Math" panose="02040503050406030204" pitchFamily="18" charset="0"/>
                            <a:ea typeface="+mn-ea"/>
                            <a:cs typeface="Cambria Math" panose="02040503050406030204" pitchFamily="18" charset="0"/>
                          </a:rPr>
                          <m:t>2</m:t>
                        </m:r>
                      </m:den>
                    </m:f>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𝐺𝑑</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𝑓</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𝑑</m:t>
                    </m:r>
                  </m:oMath>
                </a14:m>
                <a:r>
                  <a:rPr lang="zh-CN" altLang="en-US" sz="2400" dirty="0">
                    <a:latin typeface="+mn-ea"/>
                    <a:ea typeface="+mn-ea"/>
                    <a:cs typeface="宋体" panose="02010600030101010101" pitchFamily="2" charset="-122"/>
                  </a:rPr>
                  <a:t>			</a:t>
                </a:r>
                <a:endParaRPr lang="zh-CN" altLang="en-US" sz="2400" dirty="0">
                  <a:latin typeface="+mn-ea"/>
                  <a:ea typeface="+mn-ea"/>
                  <a:cs typeface="宋体" panose="02010600030101010101" pitchFamily="2" charset="-122"/>
                </a:endParaRPr>
              </a:p>
              <a:p>
                <a:pPr>
                  <a:lnSpc>
                    <a:spcPct val="130000"/>
                  </a:lnSpc>
                </a:pPr>
                <a:r>
                  <a:rPr lang="en-US" altLang="zh-CN" sz="2400" dirty="0">
                    <a:latin typeface="+mn-ea"/>
                    <a:ea typeface="+mn-ea"/>
                    <a:cs typeface="宋体" panose="02010600030101010101" pitchFamily="2" charset="-122"/>
                    <a:sym typeface="+mn-ea"/>
                  </a:rPr>
                  <a:t>                         </a:t>
                </a:r>
                <a14:m>
                  <m:oMath xmlns:m="http://schemas.openxmlformats.org/officeDocument/2006/math">
                    <m:r>
                      <a:rPr kumimoji="1" lang="en-US" altLang="zh-CN" sz="2400" i="1">
                        <a:solidFill>
                          <a:schemeClr val="tx1"/>
                        </a:solidFill>
                        <a:latin typeface="Cambria Math" panose="02040503050406030204" pitchFamily="18" charset="0"/>
                        <a:ea typeface="+mn-ea"/>
                        <a:cs typeface="Cambria Math" panose="02040503050406030204" pitchFamily="18" charset="0"/>
                      </a:rPr>
                      <m:t>𝑠</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𝑡</m:t>
                    </m:r>
                    <m:r>
                      <a:rPr kumimoji="1" lang="en-US" altLang="zh-CN" sz="2400" i="1">
                        <a:solidFill>
                          <a:schemeClr val="tx1"/>
                        </a:solidFill>
                        <a:latin typeface="Cambria Math" panose="02040503050406030204" pitchFamily="18" charset="0"/>
                        <a:ea typeface="+mn-ea"/>
                        <a:cs typeface="Cambria Math" panose="02040503050406030204" pitchFamily="18" charset="0"/>
                      </a:rPr>
                      <m:t>.   </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𝑑</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1</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2</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	</a:t>
                </a:r>
                <a:endParaRPr lang="zh-CN" altLang="en-US" sz="2400" dirty="0">
                  <a:latin typeface="+mn-ea"/>
                  <a:ea typeface="+mn-ea"/>
                  <a:cs typeface="宋体" panose="02010600030101010101" pitchFamily="2" charset="-122"/>
                </a:endParaRPr>
              </a:p>
              <a:p>
                <a:pPr>
                  <a:lnSpc>
                    <a:spcPct val="130000"/>
                  </a:lnSpc>
                </a:pPr>
                <a:r>
                  <a:rPr lang="zh-CN" altLang="en-US" sz="2400" dirty="0">
                    <a:latin typeface="+mn-ea"/>
                    <a:ea typeface="+mn-ea"/>
                    <a:cs typeface="宋体" panose="02010600030101010101" pitchFamily="2" charset="-122"/>
                  </a:rPr>
                  <a:t>  得到</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b="0" i="1" smtClean="0">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（注：</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a:t>
                </a:r>
                <a:endParaRPr lang="zh-CN" altLang="en-US" sz="2400" dirty="0">
                  <a:latin typeface="+mn-ea"/>
                  <a:ea typeface="+mn-ea"/>
                  <a:cs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623392" y="836712"/>
                <a:ext cx="11230610" cy="5693610"/>
              </a:xfrm>
              <a:prstGeom prst="rect">
                <a:avLst/>
              </a:prstGeom>
              <a:blipFill rotWithShape="1">
                <a:blip r:embed="rId1"/>
                <a:stretch>
                  <a:fillRect l="-4" t="-7" r="4" b="11"/>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2499946" y="844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127448" y="434975"/>
                <a:ext cx="10317480" cy="5988050"/>
              </a:xfrm>
              <a:prstGeom prst="rect">
                <a:avLst/>
              </a:prstGeom>
              <a:noFill/>
            </p:spPr>
            <p:txBody>
              <a:bodyPr wrap="square" rtlCol="0">
                <a:spAutoFit/>
              </a:bodyPr>
              <a:lstStyle/>
              <a:p>
                <a:pPr algn="just">
                  <a:lnSpc>
                    <a:spcPct val="130000"/>
                  </a:lnSpc>
                </a:pPr>
                <a:r>
                  <a:rPr lang="zh-CN" altLang="en-US" sz="2400" b="1" dirty="0">
                    <a:solidFill>
                      <a:srgbClr val="C00000"/>
                    </a:solidFill>
                  </a:rPr>
                  <a:t>     注：</a:t>
                </a:r>
                <a:r>
                  <a:rPr lang="zh-CN" altLang="en-US" sz="2400" dirty="0">
                    <a:latin typeface="+mn-ea"/>
                    <a:ea typeface="+mn-ea"/>
                    <a:cs typeface="宋体" panose="02010600030101010101" pitchFamily="2" charset="-122"/>
                  </a:rPr>
                  <a:t>第</a:t>
                </a:r>
                <a:r>
                  <a:rPr lang="en-US" altLang="zh-CN" sz="2400" dirty="0">
                    <a:latin typeface="+mn-ea"/>
                    <a:ea typeface="+mn-ea"/>
                    <a:cs typeface="宋体" panose="02010600030101010101" pitchFamily="2" charset="-122"/>
                  </a:rPr>
                  <a:t>2</a:t>
                </a:r>
                <a:r>
                  <a:rPr lang="zh-CN" altLang="en-US" sz="2400" dirty="0">
                    <a:latin typeface="+mn-ea"/>
                    <a:ea typeface="+mn-ea"/>
                    <a:cs typeface="宋体" panose="02010600030101010101" pitchFamily="2" charset="-122"/>
                  </a:rPr>
                  <a:t>步应该是求解问题（</a:t>
                </a:r>
                <a:r>
                  <a:rPr lang="en-US" altLang="zh-CN" sz="2400" dirty="0">
                    <a:latin typeface="+mn-ea"/>
                    <a:ea typeface="+mn-ea"/>
                    <a:cs typeface="宋体" panose="02010600030101010101" pitchFamily="2" charset="-122"/>
                  </a:rPr>
                  <a:t>*</a:t>
                </a:r>
                <a:r>
                  <a:rPr lang="zh-CN" altLang="en-US" sz="2400" dirty="0">
                    <a:latin typeface="+mn-ea"/>
                    <a:ea typeface="+mn-ea"/>
                    <a:cs typeface="宋体" panose="02010600030101010101" pitchFamily="2" charset="-122"/>
                  </a:rPr>
                  <a:t>）</a:t>
                </a:r>
                <a:endParaRPr lang="zh-CN" altLang="en-US" sz="2400" dirty="0">
                  <a:latin typeface="+mn-ea"/>
                  <a:ea typeface="+mn-ea"/>
                  <a:cs typeface="宋体" panose="02010600030101010101" pitchFamily="2" charset="-122"/>
                </a:endParaRPr>
              </a:p>
              <a:p>
                <a:pPr algn="ctr">
                  <a:lnSpc>
                    <a:spcPct val="130000"/>
                  </a:lnSpc>
                </a:pPr>
                <a14:m>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𝑚𝑖𝑛</m:t>
                    </m:r>
                    <m:r>
                      <a:rPr lang="en-US" altLang="zh-CN" sz="2400" i="1">
                        <a:latin typeface="Cambria Math" panose="02040503050406030204" pitchFamily="18" charset="0"/>
                        <a:ea typeface="+mn-ea"/>
                        <a:cs typeface="Cambria Math" panose="02040503050406030204" pitchFamily="18" charset="0"/>
                      </a:rPr>
                      <m:t>  </m:t>
                    </m:r>
                    <m:f>
                      <m:f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fPr>
                      <m:num>
                        <m:r>
                          <a:rPr kumimoji="1" lang="en-US" altLang="zh-CN" sz="2400" i="1">
                            <a:solidFill>
                              <a:schemeClr val="tx1"/>
                            </a:solidFill>
                            <a:latin typeface="Cambria Math" panose="02040503050406030204" pitchFamily="18" charset="0"/>
                            <a:ea typeface="+mn-ea"/>
                            <a:cs typeface="Cambria Math" panose="02040503050406030204" pitchFamily="18" charset="0"/>
                          </a:rPr>
                          <m:t>1</m:t>
                        </m:r>
                      </m:num>
                      <m:den>
                        <m:r>
                          <a:rPr kumimoji="1" lang="en-US" altLang="zh-CN" sz="2400" i="1">
                            <a:solidFill>
                              <a:schemeClr val="tx1"/>
                            </a:solidFill>
                            <a:latin typeface="Cambria Math" panose="02040503050406030204" pitchFamily="18" charset="0"/>
                            <a:ea typeface="+mn-ea"/>
                            <a:cs typeface="Cambria Math" panose="02040503050406030204" pitchFamily="18" charset="0"/>
                          </a:rPr>
                          <m:t>2</m:t>
                        </m:r>
                      </m:den>
                    </m:f>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𝐺𝑥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𝑟</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𝑥</m:t>
                    </m:r>
                  </m:oMath>
                </a14:m>
                <a:r>
                  <a:rPr lang="zh-CN" altLang="en-US" sz="2400" dirty="0">
                    <a:latin typeface="+mn-ea"/>
                    <a:ea typeface="+mn-ea"/>
                    <a:cs typeface="宋体" panose="02010600030101010101" pitchFamily="2" charset="-122"/>
                    <a:sym typeface="+mn-ea"/>
                  </a:rPr>
                  <a:t>			</a:t>
                </a:r>
                <a:endParaRPr lang="zh-CN" altLang="en-US" sz="2400" dirty="0">
                  <a:latin typeface="+mn-ea"/>
                  <a:ea typeface="+mn-ea"/>
                  <a:cs typeface="宋体" panose="02010600030101010101" pitchFamily="2" charset="-122"/>
                </a:endParaRPr>
              </a:p>
              <a:p>
                <a:pPr algn="ctr">
                  <a:lnSpc>
                    <a:spcPct val="130000"/>
                  </a:lnSpc>
                </a:pPr>
                <a14:m>
                  <m:oMath xmlns:m="http://schemas.openxmlformats.org/officeDocument/2006/math">
                    <m:r>
                      <a:rPr kumimoji="1" lang="en-US" altLang="zh-CN" sz="2400" i="1">
                        <a:solidFill>
                          <a:schemeClr val="tx1"/>
                        </a:solidFill>
                        <a:latin typeface="Cambria Math" panose="02040503050406030204" pitchFamily="18" charset="0"/>
                        <a:ea typeface="+mn-ea"/>
                        <a:cs typeface="Cambria Math" panose="02040503050406030204" pitchFamily="18" charset="0"/>
                      </a:rPr>
                      <m:t>𝑠</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𝑡</m:t>
                    </m:r>
                    <m:r>
                      <a:rPr kumimoji="1" lang="en-US" altLang="zh-CN" sz="2400" i="1">
                        <a:solidFill>
                          <a:schemeClr val="tx1"/>
                        </a:solidFill>
                        <a:latin typeface="Cambria Math" panose="02040503050406030204" pitchFamily="18" charset="0"/>
                        <a:ea typeface="+mn-ea"/>
                        <a:cs typeface="Cambria Math" panose="02040503050406030204" pitchFamily="18" charset="0"/>
                      </a:rPr>
                      <m:t>.   </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1</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2</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sym typeface="+mn-ea"/>
                  </a:rPr>
                  <a:t>	</a:t>
                </a:r>
                <a:endParaRPr lang="zh-CN" altLang="en-US" sz="2400" dirty="0">
                  <a:latin typeface="+mn-ea"/>
                  <a:ea typeface="+mn-ea"/>
                  <a:cs typeface="宋体" panose="02010600030101010101" pitchFamily="2" charset="-122"/>
                </a:endParaRPr>
              </a:p>
              <a:p>
                <a:pPr algn="just">
                  <a:lnSpc>
                    <a:spcPct val="130000"/>
                  </a:lnSpc>
                </a:pPr>
                <a:r>
                  <a:rPr lang="zh-CN" altLang="en-US" sz="2400" dirty="0">
                    <a:latin typeface="+mn-ea"/>
                    <a:cs typeface="宋体" panose="02010600030101010101" pitchFamily="2" charset="-122"/>
                  </a:rPr>
                  <a:t>且</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𝑘</m:t>
                        </m:r>
                        <m:r>
                          <a:rPr lang="en-US" altLang="zh-CN" sz="2400" i="1">
                            <a:latin typeface="Cambria Math" panose="02040503050406030204" pitchFamily="18" charset="0"/>
                            <a:cs typeface="Cambria Math" panose="02040503050406030204" pitchFamily="18" charset="0"/>
                          </a:rPr>
                          <m:t>)</m:t>
                        </m:r>
                      </m:sup>
                    </m:sSup>
                  </m:oMath>
                </a14:m>
                <a:r>
                  <a:rPr lang="zh-CN" altLang="en-US" sz="2400" dirty="0">
                    <a:latin typeface="+mn-ea"/>
                    <a:cs typeface="宋体" panose="02010600030101010101" pitchFamily="2" charset="-122"/>
                  </a:rPr>
                  <a:t>是问题（</a:t>
                </a:r>
                <a:r>
                  <a:rPr lang="en-US" altLang="zh-CN" sz="2400" dirty="0">
                    <a:latin typeface="+mn-ea"/>
                    <a:cs typeface="宋体" panose="02010600030101010101" pitchFamily="2" charset="-122"/>
                  </a:rPr>
                  <a:t>*</a:t>
                </a:r>
                <a:r>
                  <a:rPr lang="zh-CN" altLang="en-US" sz="2400" dirty="0">
                    <a:latin typeface="+mn-ea"/>
                    <a:cs typeface="宋体" panose="02010600030101010101" pitchFamily="2" charset="-122"/>
                  </a:rPr>
                  <a:t>）的可行点。如果</a:t>
                </a:r>
                <a:r>
                  <a:rPr lang="zh-CN" altLang="en-US" sz="2400" dirty="0">
                    <a:latin typeface="+mn-ea"/>
                    <a:ea typeface="+mn-ea"/>
                    <a:cs typeface="宋体" panose="02010600030101010101" pitchFamily="2" charset="-122"/>
                  </a:rPr>
                  <a:t>令</a:t>
                </a:r>
                <a14:m>
                  <m:oMath xmlns:m="http://schemas.openxmlformats.org/officeDocument/2006/math">
                    <m:r>
                      <a:rPr kumimoji="1" lang="en-US" altLang="zh-CN" sz="2400" i="1">
                        <a:solidFill>
                          <a:schemeClr val="tx1"/>
                        </a:solidFill>
                        <a:latin typeface="Cambria Math" panose="02040503050406030204" pitchFamily="18" charset="0"/>
                        <a:ea typeface="+mn-ea"/>
                        <a:cs typeface="Cambria Math" panose="02040503050406030204" pitchFamily="18" charset="0"/>
                      </a:rPr>
                      <m:t>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𝑑</m:t>
                    </m:r>
                  </m:oMath>
                </a14:m>
                <a:r>
                  <a:rPr lang="zh-CN" altLang="en-US" sz="2400" dirty="0">
                    <a:latin typeface="+mn-ea"/>
                    <a:ea typeface="+mn-ea"/>
                    <a:cs typeface="宋体" panose="02010600030101010101" pitchFamily="2" charset="-122"/>
                  </a:rPr>
                  <a:t>，有</a:t>
                </a:r>
                <a:endParaRPr lang="zh-CN" altLang="en-US" sz="2400" dirty="0">
                  <a:latin typeface="+mn-ea"/>
                  <a:ea typeface="+mn-ea"/>
                  <a:cs typeface="宋体" panose="02010600030101010101" pitchFamily="2" charset="-122"/>
                </a:endParaRPr>
              </a:p>
              <a:p>
                <a:pPr algn="just">
                  <a:lnSpc>
                    <a:spcPct val="130000"/>
                  </a:lnSpc>
                </a:pPr>
                <a14:m>
                  <m:oMathPara xmlns:m="http://schemas.openxmlformats.org/officeDocument/2006/math">
                    <m:oMathParaPr>
                      <m:jc m:val="center"/>
                    </m:oMathParaPr>
                    <m:oMath xmlns:m="http://schemas.openxmlformats.org/officeDocument/2006/math">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𝑑</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1</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2</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oMath>
                  </m:oMathPara>
                </a14:m>
                <a:endParaRPr lang="zh-CN" altLang="en-US" sz="2400" dirty="0">
                  <a:latin typeface="+mn-ea"/>
                  <a:ea typeface="+mn-ea"/>
                  <a:cs typeface="宋体" panose="02010600030101010101" pitchFamily="2" charset="-122"/>
                </a:endParaRPr>
              </a:p>
              <a:p>
                <a:pPr algn="just">
                  <a:lnSpc>
                    <a:spcPct val="130000"/>
                  </a:lnSpc>
                </a:pPr>
                <a:r>
                  <a:rPr lang="zh-CN" altLang="en-US" sz="2400" dirty="0">
                    <a:latin typeface="+mn-ea"/>
                    <a:ea typeface="+mn-ea"/>
                    <a:cs typeface="宋体" panose="02010600030101010101" pitchFamily="2" charset="-122"/>
                  </a:rPr>
                  <a:t>此时，目标函数化为</a:t>
                </a:r>
                <a:endParaRPr lang="zh-CN" altLang="en-US" sz="2400" dirty="0">
                  <a:latin typeface="+mn-ea"/>
                  <a:ea typeface="+mn-ea"/>
                  <a:cs typeface="宋体" panose="02010600030101010101" pitchFamily="2" charset="-122"/>
                </a:endParaRPr>
              </a:p>
              <a:p>
                <a:pPr algn="just">
                  <a:lnSpc>
                    <a:spcPct val="130000"/>
                  </a:lnSpc>
                </a:pPr>
                <a14:m>
                  <m:oMathPara xmlns:m="http://schemas.openxmlformats.org/officeDocument/2006/math">
                    <m:oMathParaPr>
                      <m:jc m:val="center"/>
                    </m:oMathParaPr>
                    <m:oMath xmlns:m="http://schemas.openxmlformats.org/officeDocument/2006/math">
                      <m:f>
                        <m:f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fPr>
                        <m:num>
                          <m:r>
                            <a:rPr kumimoji="1" lang="en-US" altLang="zh-CN" sz="2400" i="1">
                              <a:solidFill>
                                <a:schemeClr val="tx1"/>
                              </a:solidFill>
                              <a:latin typeface="Cambria Math" panose="02040503050406030204" pitchFamily="18" charset="0"/>
                              <a:ea typeface="+mn-ea"/>
                              <a:cs typeface="Cambria Math" panose="02040503050406030204" pitchFamily="18" charset="0"/>
                            </a:rPr>
                            <m:t>1</m:t>
                          </m:r>
                        </m:num>
                        <m:den>
                          <m:r>
                            <a:rPr kumimoji="1" lang="en-US" altLang="zh-CN" sz="2400" i="1">
                              <a:solidFill>
                                <a:schemeClr val="tx1"/>
                              </a:solidFill>
                              <a:latin typeface="Cambria Math" panose="02040503050406030204" pitchFamily="18" charset="0"/>
                              <a:ea typeface="+mn-ea"/>
                              <a:cs typeface="Cambria Math" panose="02040503050406030204" pitchFamily="18" charset="0"/>
                            </a:rPr>
                            <m:t>2</m:t>
                          </m:r>
                        </m:den>
                      </m:f>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𝐺𝑑</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𝐺</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𝑟</m:t>
                          </m:r>
                          <m:r>
                            <a:rPr kumimoji="1" lang="en-US" altLang="zh-CN" sz="2400" i="1">
                              <a:solidFill>
                                <a:schemeClr val="tx1"/>
                              </a:solidFill>
                              <a:latin typeface="Cambria Math" panose="02040503050406030204" pitchFamily="18" charset="0"/>
                              <a:ea typeface="+mn-ea"/>
                              <a:cs typeface="Cambria Math" panose="02040503050406030204" pitchFamily="18" charset="0"/>
                            </a:rPr>
                            <m:t>)</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𝑑</m:t>
                      </m:r>
                      <m:r>
                        <a:rPr kumimoji="1" lang="en-US" altLang="zh-CN" sz="2400" i="1">
                          <a:solidFill>
                            <a:schemeClr val="tx1"/>
                          </a:solidFill>
                          <a:latin typeface="Cambria Math" panose="02040503050406030204" pitchFamily="18" charset="0"/>
                          <a:ea typeface="+mn-ea"/>
                          <a:cs typeface="Cambria Math" panose="02040503050406030204" pitchFamily="18" charset="0"/>
                        </a:rPr>
                        <m:t>+</m:t>
                      </m:r>
                      <m:f>
                        <m:f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fPr>
                        <m:num>
                          <m:r>
                            <a:rPr kumimoji="1" lang="en-US" altLang="zh-CN" sz="2400" i="1">
                              <a:solidFill>
                                <a:schemeClr val="tx1"/>
                              </a:solidFill>
                              <a:latin typeface="Cambria Math" panose="02040503050406030204" pitchFamily="18" charset="0"/>
                              <a:ea typeface="+mn-ea"/>
                              <a:cs typeface="Cambria Math" panose="02040503050406030204" pitchFamily="18" charset="0"/>
                            </a:rPr>
                            <m:t>1</m:t>
                          </m:r>
                        </m:num>
                        <m:den>
                          <m:r>
                            <a:rPr kumimoji="1" lang="en-US" altLang="zh-CN" sz="2400" i="1">
                              <a:solidFill>
                                <a:schemeClr val="tx1"/>
                              </a:solidFill>
                              <a:latin typeface="Cambria Math" panose="02040503050406030204" pitchFamily="18" charset="0"/>
                              <a:ea typeface="+mn-ea"/>
                              <a:cs typeface="Cambria Math" panose="02040503050406030204" pitchFamily="18" charset="0"/>
                            </a:rPr>
                            <m:t>2</m:t>
                          </m:r>
                        </m:den>
                      </m:f>
                      <m:r>
                        <a:rPr kumimoji="1" lang="en-US" altLang="zh-CN" sz="2400" i="1">
                          <a:solidFill>
                            <a:schemeClr val="tx1"/>
                          </a:solidFill>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𝐺</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𝑟</m:t>
                          </m:r>
                        </m:e>
                        <m:sup>
                          <m:r>
                            <a:rPr lang="en-US" altLang="zh-CN" sz="2400" i="1">
                              <a:latin typeface="Cambria Math" panose="02040503050406030204" pitchFamily="18" charset="0"/>
                              <a:ea typeface="+mn-ea"/>
                              <a:cs typeface="Cambria Math" panose="02040503050406030204" pitchFamily="18" charset="0"/>
                            </a:rPr>
                            <m:t>𝑇</m:t>
                          </m:r>
                        </m:sup>
                      </m:s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oMath>
                  </m:oMathPara>
                </a14:m>
                <a:endParaRPr lang="zh-CN" altLang="en-US" sz="2400" dirty="0">
                  <a:latin typeface="+mn-ea"/>
                  <a:ea typeface="+mn-ea"/>
                  <a:cs typeface="宋体" panose="02010600030101010101" pitchFamily="2" charset="-122"/>
                </a:endParaRPr>
              </a:p>
              <a:p>
                <a:pPr algn="just">
                  <a:lnSpc>
                    <a:spcPct val="130000"/>
                  </a:lnSpc>
                </a:pPr>
                <a:r>
                  <a:rPr lang="zh-CN" altLang="en-US" sz="2400" dirty="0">
                    <a:latin typeface="+mn-ea"/>
                    <a:ea typeface="+mn-ea"/>
                    <a:cs typeface="宋体" panose="02010600030101010101" pitchFamily="2" charset="-122"/>
                  </a:rPr>
                  <a:t>所以，问题（</a:t>
                </a:r>
                <a:r>
                  <a:rPr lang="en-US" altLang="zh-CN" sz="2400" dirty="0">
                    <a:latin typeface="+mn-ea"/>
                    <a:ea typeface="+mn-ea"/>
                    <a:cs typeface="宋体" panose="02010600030101010101" pitchFamily="2" charset="-122"/>
                  </a:rPr>
                  <a:t>*</a:t>
                </a:r>
                <a:r>
                  <a:rPr lang="zh-CN" altLang="en-US" sz="2400" dirty="0">
                    <a:latin typeface="+mn-ea"/>
                    <a:ea typeface="+mn-ea"/>
                    <a:cs typeface="宋体" panose="02010600030101010101" pitchFamily="2" charset="-122"/>
                  </a:rPr>
                  <a:t>）等价于</a:t>
                </a:r>
                <a:endParaRPr lang="zh-CN" altLang="en-US" sz="2400" dirty="0">
                  <a:latin typeface="+mn-ea"/>
                  <a:ea typeface="+mn-ea"/>
                  <a:cs typeface="宋体" panose="02010600030101010101" pitchFamily="2" charset="-122"/>
                </a:endParaRPr>
              </a:p>
              <a:p>
                <a:pPr algn="just">
                  <a:lnSpc>
                    <a:spcPct val="130000"/>
                  </a:lnSpc>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𝑚𝑖𝑛</m:t>
                      </m:r>
                      <m:r>
                        <a:rPr lang="en-US" altLang="zh-CN" sz="2400" i="1">
                          <a:latin typeface="Cambria Math" panose="02040503050406030204" pitchFamily="18" charset="0"/>
                          <a:ea typeface="+mn-ea"/>
                          <a:cs typeface="Cambria Math" panose="02040503050406030204" pitchFamily="18" charset="0"/>
                        </a:rPr>
                        <m:t>  </m:t>
                      </m:r>
                      <m:f>
                        <m:f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fPr>
                        <m:num>
                          <m:r>
                            <a:rPr kumimoji="1" lang="en-US" altLang="zh-CN" sz="2400" i="1">
                              <a:solidFill>
                                <a:schemeClr val="tx1"/>
                              </a:solidFill>
                              <a:latin typeface="Cambria Math" panose="02040503050406030204" pitchFamily="18" charset="0"/>
                              <a:ea typeface="+mn-ea"/>
                              <a:cs typeface="Cambria Math" panose="02040503050406030204" pitchFamily="18" charset="0"/>
                            </a:rPr>
                            <m:t>1</m:t>
                          </m:r>
                        </m:num>
                        <m:den>
                          <m:r>
                            <a:rPr kumimoji="1" lang="en-US" altLang="zh-CN" sz="2400" i="1">
                              <a:solidFill>
                                <a:schemeClr val="tx1"/>
                              </a:solidFill>
                              <a:latin typeface="Cambria Math" panose="02040503050406030204" pitchFamily="18" charset="0"/>
                              <a:ea typeface="+mn-ea"/>
                              <a:cs typeface="Cambria Math" panose="02040503050406030204" pitchFamily="18" charset="0"/>
                            </a:rPr>
                            <m:t>2</m:t>
                          </m:r>
                        </m:den>
                      </m:f>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𝐺𝑑</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𝑓</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sSup>
                        <m:s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pPr>
                        <m:e>
                          <m:r>
                            <a:rPr kumimoji="1" lang="en-US" altLang="zh-CN" sz="2400" i="1">
                              <a:solidFill>
                                <a:schemeClr val="tx1"/>
                              </a:solidFill>
                              <a:latin typeface="Cambria Math" panose="02040503050406030204" pitchFamily="18" charset="0"/>
                              <a:ea typeface="+mn-ea"/>
                              <a:cs typeface="Cambria Math" panose="02040503050406030204" pitchFamily="18" charset="0"/>
                            </a:rPr>
                            <m:t>)</m:t>
                          </m:r>
                        </m:e>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p>
                      <m:r>
                        <a:rPr kumimoji="1" lang="en-US" altLang="zh-CN" sz="2400" i="1">
                          <a:solidFill>
                            <a:schemeClr val="tx1"/>
                          </a:solidFill>
                          <a:latin typeface="Cambria Math" panose="02040503050406030204" pitchFamily="18" charset="0"/>
                          <a:ea typeface="+mn-ea"/>
                          <a:cs typeface="Cambria Math" panose="02040503050406030204" pitchFamily="18" charset="0"/>
                        </a:rPr>
                        <m:t>𝑑</m:t>
                      </m:r>
                    </m:oMath>
                  </m:oMathPara>
                </a14:m>
                <a:endParaRPr kumimoji="1" lang="en-US" altLang="zh-CN" sz="2400" i="1" dirty="0">
                  <a:solidFill>
                    <a:schemeClr val="tx1"/>
                  </a:solidFill>
                  <a:latin typeface="+mn-ea"/>
                  <a:ea typeface="+mn-ea"/>
                  <a:cs typeface="宋体" panose="02010600030101010101" pitchFamily="2" charset="-122"/>
                </a:endParaRPr>
              </a:p>
              <a:p>
                <a:pPr algn="just">
                  <a:lnSpc>
                    <a:spcPct val="130000"/>
                  </a:lnSpc>
                </a:pPr>
                <a:r>
                  <a:rPr lang="en-US" altLang="zh-CN" sz="2400" dirty="0">
                    <a:latin typeface="+mn-ea"/>
                    <a:ea typeface="+mn-ea"/>
                    <a:cs typeface="宋体" panose="02010600030101010101" pitchFamily="2" charset="-122"/>
                    <a:sym typeface="+mn-ea"/>
                  </a:rPr>
                  <a:t>              </a:t>
                </a:r>
                <a14:m>
                  <m:oMath xmlns:m="http://schemas.openxmlformats.org/officeDocument/2006/math">
                    <m:r>
                      <a:rPr kumimoji="1" lang="en-US" altLang="zh-CN" sz="2400" i="1">
                        <a:solidFill>
                          <a:schemeClr val="tx1"/>
                        </a:solidFill>
                        <a:latin typeface="Cambria Math" panose="02040503050406030204" pitchFamily="18" charset="0"/>
                        <a:ea typeface="+mn-ea"/>
                        <a:cs typeface="Cambria Math" panose="02040503050406030204" pitchFamily="18" charset="0"/>
                      </a:rPr>
                      <m:t>𝑠</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𝑡</m:t>
                    </m:r>
                    <m:r>
                      <a:rPr kumimoji="1" lang="en-US" altLang="zh-CN" sz="2400" i="1">
                        <a:solidFill>
                          <a:schemeClr val="tx1"/>
                        </a:solidFill>
                        <a:latin typeface="Cambria Math" panose="02040503050406030204" pitchFamily="18" charset="0"/>
                        <a:ea typeface="+mn-ea"/>
                        <a:cs typeface="Cambria Math" panose="02040503050406030204" pitchFamily="18" charset="0"/>
                      </a:rPr>
                      <m:t>.   </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𝑑</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1</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2</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𝑚</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rPr>
                  <a:t>			</a:t>
                </a:r>
                <a:endParaRPr lang="zh-CN" altLang="en-US" sz="2400" dirty="0">
                  <a:latin typeface="+mn-ea"/>
                  <a:ea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1127448" y="434975"/>
                <a:ext cx="10317480" cy="5988050"/>
              </a:xfrm>
              <a:prstGeom prst="rect">
                <a:avLst/>
              </a:prstGeom>
              <a:blipFill rotWithShape="1">
                <a:blip r:embed="rId1"/>
                <a:stretch>
                  <a:fillRect l="-3" r="3"/>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335360" y="908720"/>
                <a:ext cx="10670540" cy="2651760"/>
              </a:xfrm>
              <a:prstGeom prst="rect">
                <a:avLst/>
              </a:prstGeom>
              <a:noFill/>
            </p:spPr>
            <p:txBody>
              <a:bodyPr wrap="square" rtlCol="0">
                <a:spAutoFit/>
              </a:bodyPr>
              <a:lstStyle/>
              <a:p>
                <a:pPr algn="just" latinLnBrk="0">
                  <a:lnSpc>
                    <a:spcPct val="150000"/>
                  </a:lnSpc>
                </a:pPr>
                <a:r>
                  <a:rPr lang="en-US" altLang="zh-CN" sz="2400" dirty="0">
                    <a:latin typeface="+mn-ea"/>
                    <a:ea typeface="+mn-ea"/>
                    <a:cs typeface="宋体" panose="02010600030101010101" pitchFamily="2" charset="-122"/>
                  </a:rPr>
                  <a:t>3.</a:t>
                </a:r>
                <a:r>
                  <a:rPr lang="zh-CN" altLang="en-US" sz="2400" dirty="0">
                    <a:latin typeface="+mn-ea"/>
                    <a:ea typeface="+mn-ea"/>
                    <a:cs typeface="宋体" panose="02010600030101010101" pitchFamily="2" charset="-122"/>
                  </a:rPr>
                  <a:t>若</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=0，则计算相应的乘子</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𝜆</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若</a:t>
                </a:r>
                <a14:m>
                  <m:oMath xmlns:m="http://schemas.openxmlformats.org/officeDocument/2006/math">
                    <m:sSubSup>
                      <m:sSubSupPr>
                        <m:ctrlPr>
                          <a:rPr lang="en-US" altLang="zh-CN" sz="2400" i="1">
                            <a:latin typeface="Cambria Math" panose="02040503050406030204" pitchFamily="18" charset="0"/>
                            <a:ea typeface="+mn-ea"/>
                            <a:cs typeface="Cambria Math" panose="02040503050406030204" pitchFamily="18" charset="0"/>
                          </a:rPr>
                        </m:ctrlPr>
                      </m:sSubSupPr>
                      <m:e>
                        <m:r>
                          <a:rPr lang="en-US" altLang="zh-CN" sz="2400" i="1">
                            <a:latin typeface="Cambria Math" panose="02040503050406030204" pitchFamily="18" charset="0"/>
                            <a:ea typeface="+mn-ea"/>
                            <a:cs typeface="Cambria Math" panose="02040503050406030204" pitchFamily="18" charset="0"/>
                          </a:rPr>
                          <m:t>𝜆</m:t>
                        </m:r>
                      </m:e>
                      <m:sub>
                        <m:r>
                          <a:rPr lang="en-US" altLang="zh-CN" sz="2400" i="1">
                            <a:latin typeface="Cambria Math" panose="02040503050406030204" pitchFamily="18" charset="0"/>
                            <a:ea typeface="+mn-ea"/>
                            <a:cs typeface="Cambria Math" panose="02040503050406030204" pitchFamily="18" charset="0"/>
                          </a:rPr>
                          <m:t>𝑖</m:t>
                        </m:r>
                      </m:sub>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b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oMath>
                </a14:m>
                <a:r>
                  <a:rPr lang="zh-CN" altLang="en-US" sz="2400" dirty="0">
                    <a:latin typeface="+mn-ea"/>
                    <a:ea typeface="+mn-ea"/>
                    <a:cs typeface="宋体" panose="02010600030101010101" pitchFamily="2" charset="-122"/>
                  </a:rPr>
                  <a:t>，</a:t>
                </a:r>
                <a14:m>
                  <m:oMath xmlns:m="http://schemas.openxmlformats.org/officeDocument/2006/math">
                    <m:r>
                      <a:rPr lang="en-US" altLang="zh-CN" sz="2400">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𝐼</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smtClean="0">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，则停止计算，   </a:t>
                </a:r>
                <a:endParaRPr lang="en-US" altLang="zh-CN" sz="2400" dirty="0">
                  <a:latin typeface="+mn-ea"/>
                  <a:ea typeface="+mn-ea"/>
                  <a:cs typeface="宋体" panose="02010600030101010101" pitchFamily="2" charset="-122"/>
                </a:endParaRPr>
              </a:p>
              <a:p>
                <a:pPr algn="just" latinLnBrk="0">
                  <a:lnSpc>
                    <a:spcPct val="150000"/>
                  </a:lnSpc>
                </a:pPr>
                <a:r>
                  <a:rPr lang="en-US" altLang="zh-CN" sz="2400" dirty="0">
                    <a:latin typeface="+mn-ea"/>
                    <a:ea typeface="+mn-ea"/>
                    <a:cs typeface="Cambria Math" panose="02040503050406030204" pitchFamily="18" charset="0"/>
                  </a:rPr>
                  <a:t>  </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为二次规划问题(1)的最优解，</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𝜆</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为相应的乘子向量；否则求</a:t>
                </a:r>
                <a:endParaRPr lang="zh-CN" altLang="en-US" sz="2400" dirty="0">
                  <a:latin typeface="+mn-ea"/>
                  <a:ea typeface="+mn-ea"/>
                  <a:cs typeface="宋体" panose="02010600030101010101" pitchFamily="2" charset="-122"/>
                </a:endParaRPr>
              </a:p>
              <a:p>
                <a:pPr algn="just" latinLnBrk="0">
                  <a:lnSpc>
                    <a:spcPct val="150000"/>
                  </a:lnSpc>
                </a:pPr>
                <a:r>
                  <a:rPr lang="en-US" altLang="zh-CN" sz="2400" dirty="0">
                    <a:latin typeface="+mn-ea"/>
                    <a:ea typeface="+mn-ea"/>
                    <a:cs typeface="宋体" panose="02010600030101010101" pitchFamily="2" charset="-122"/>
                    <a:sym typeface="+mn-ea"/>
                  </a:rPr>
                  <a:t>                     </a:t>
                </a:r>
                <a14:m>
                  <m:oMath xmlns:m="http://schemas.openxmlformats.org/officeDocument/2006/math">
                    <m:sSubSup>
                      <m:sSubSupPr>
                        <m:ctrlPr>
                          <a:rPr lang="en-US" altLang="zh-CN" sz="2400" i="1">
                            <a:latin typeface="Cambria Math" panose="02040503050406030204" pitchFamily="18" charset="0"/>
                            <a:ea typeface="+mn-ea"/>
                            <a:cs typeface="Cambria Math" panose="02040503050406030204" pitchFamily="18" charset="0"/>
                          </a:rPr>
                        </m:ctrlPr>
                      </m:sSubSupPr>
                      <m:e>
                        <m:r>
                          <a:rPr lang="en-US" altLang="zh-CN" sz="2400" i="1">
                            <a:latin typeface="Cambria Math" panose="02040503050406030204" pitchFamily="18" charset="0"/>
                            <a:ea typeface="+mn-ea"/>
                            <a:cs typeface="Cambria Math" panose="02040503050406030204" pitchFamily="18" charset="0"/>
                          </a:rPr>
                          <m:t>𝜆</m:t>
                        </m:r>
                      </m:e>
                      <m:sub>
                        <m:r>
                          <a:rPr lang="en-US" altLang="zh-CN" sz="2400" i="1">
                            <a:latin typeface="Cambria Math" panose="02040503050406030204" pitchFamily="18" charset="0"/>
                            <a:ea typeface="+mn-ea"/>
                            <a:cs typeface="Cambria Math" panose="02040503050406030204" pitchFamily="18" charset="0"/>
                          </a:rPr>
                          <m:t>𝑞</m:t>
                        </m:r>
                      </m:sub>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b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𝑚𝑖𝑛</m:t>
                    </m:r>
                    <m:r>
                      <a:rPr lang="en-US" altLang="zh-CN" sz="2400" i="1">
                        <a:latin typeface="Cambria Math" panose="02040503050406030204" pitchFamily="18" charset="0"/>
                        <a:ea typeface="+mn-ea"/>
                        <a:cs typeface="Cambria Math" panose="02040503050406030204" pitchFamily="18" charset="0"/>
                      </a:rPr>
                      <m:t>{</m:t>
                    </m:r>
                    <m:sSubSup>
                      <m:sSubSupPr>
                        <m:ctrlPr>
                          <a:rPr lang="en-US" altLang="zh-CN" sz="2400" i="1">
                            <a:latin typeface="Cambria Math" panose="02040503050406030204" pitchFamily="18" charset="0"/>
                            <a:ea typeface="+mn-ea"/>
                            <a:cs typeface="Cambria Math" panose="02040503050406030204" pitchFamily="18" charset="0"/>
                          </a:rPr>
                        </m:ctrlPr>
                      </m:sSubSupPr>
                      <m:e>
                        <m:r>
                          <a:rPr lang="en-US" altLang="zh-CN" sz="2400" i="1">
                            <a:latin typeface="Cambria Math" panose="02040503050406030204" pitchFamily="18" charset="0"/>
                            <a:ea typeface="+mn-ea"/>
                            <a:cs typeface="Cambria Math" panose="02040503050406030204" pitchFamily="18" charset="0"/>
                          </a:rPr>
                          <m:t>𝜆</m:t>
                        </m:r>
                      </m:e>
                      <m:sub>
                        <m:r>
                          <a:rPr lang="en-US" altLang="zh-CN" sz="2400" i="1">
                            <a:latin typeface="Cambria Math" panose="02040503050406030204" pitchFamily="18" charset="0"/>
                            <a:ea typeface="+mn-ea"/>
                            <a:cs typeface="Cambria Math" panose="02040503050406030204" pitchFamily="18" charset="0"/>
                          </a:rPr>
                          <m:t>𝑖</m:t>
                        </m:r>
                      </m:sub>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bSup>
                    <m:r>
                      <a:rPr lang="en-US" altLang="zh-CN" sz="2400" i="1">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𝑖</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𝐼</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				    </a:t>
                </a:r>
                <a:endParaRPr lang="zh-CN" altLang="en-US" sz="2400" dirty="0">
                  <a:latin typeface="+mn-ea"/>
                  <a:ea typeface="+mn-ea"/>
                  <a:cs typeface="宋体" panose="02010600030101010101" pitchFamily="2" charset="-122"/>
                </a:endParaRPr>
              </a:p>
              <a:p>
                <a:pPr algn="just" latinLnBrk="0">
                  <a:lnSpc>
                    <a:spcPct val="150000"/>
                  </a:lnSpc>
                </a:pPr>
                <a:r>
                  <a:rPr lang="zh-CN" altLang="en-US" sz="2400" dirty="0">
                    <a:latin typeface="+mn-ea"/>
                    <a:ea typeface="+mn-ea"/>
                    <a:cs typeface="宋体" panose="02010600030101010101" pitchFamily="2" charset="-122"/>
                  </a:rPr>
                  <a:t>  并置</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oMath>
                </a14:m>
                <a:r>
                  <a:rPr lang="en-US" altLang="zh-CN" sz="2400" dirty="0">
                    <a:latin typeface="+mn-ea"/>
                    <a:ea typeface="+mn-ea"/>
                    <a:cs typeface="宋体" panose="02010600030101010101" pitchFamily="2" charset="-122"/>
                  </a:rPr>
                  <a:t>,</a:t>
                </a:r>
                <a14:m>
                  <m:oMath xmlns:m="http://schemas.openxmlformats.org/officeDocument/2006/math">
                    <m:r>
                      <a:rPr lang="en-US" altLang="zh-CN" sz="2400" i="1" smtClean="0">
                        <a:latin typeface="Cambria Math" panose="02040503050406030204" pitchFamily="18" charset="0"/>
                        <a:ea typeface="+mn-ea"/>
                        <a:cs typeface="Cambria Math" panose="02040503050406030204" pitchFamily="18" charset="0"/>
                      </a:rPr>
                      <m:t>𝐼</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𝐼</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𝑞</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𝑘</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𝑘</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1</m:t>
                    </m:r>
                    <m:r>
                      <a:rPr lang="en-US" altLang="zh-CN" sz="2400" i="1" smtClean="0">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转第</a:t>
                </a:r>
                <a:r>
                  <a:rPr lang="en-US" altLang="zh-CN" sz="2400" dirty="0">
                    <a:latin typeface="+mn-ea"/>
                    <a:ea typeface="+mn-ea"/>
                    <a:cs typeface="宋体" panose="02010600030101010101" pitchFamily="2" charset="-122"/>
                  </a:rPr>
                  <a:t>2</a:t>
                </a:r>
                <a:r>
                  <a:rPr lang="zh-CN" altLang="en-US" sz="2400" dirty="0">
                    <a:latin typeface="+mn-ea"/>
                    <a:ea typeface="+mn-ea"/>
                    <a:cs typeface="宋体" panose="02010600030101010101" pitchFamily="2" charset="-122"/>
                  </a:rPr>
                  <a:t>步。</a:t>
                </a:r>
                <a:endParaRPr lang="zh-CN" altLang="en-US" sz="2400" dirty="0">
                  <a:latin typeface="+mn-ea"/>
                  <a:ea typeface="+mn-ea"/>
                  <a:cs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335360" y="908720"/>
                <a:ext cx="10670540" cy="2651760"/>
              </a:xfrm>
              <a:prstGeom prst="rect">
                <a:avLst/>
              </a:prstGeom>
              <a:blipFill rotWithShape="1">
                <a:blip r:embed="rId1"/>
                <a:stretch>
                  <a:fillRect l="-1" t="-1" r="1" b="1"/>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767408" y="404664"/>
                <a:ext cx="10009112" cy="5868670"/>
              </a:xfrm>
              <a:prstGeom prst="rect">
                <a:avLst/>
              </a:prstGeom>
              <a:noFill/>
            </p:spPr>
            <p:txBody>
              <a:bodyPr wrap="square" rtlCol="0">
                <a:spAutoFit/>
              </a:bodyPr>
              <a:lstStyle/>
              <a:p>
                <a:pPr algn="just">
                  <a:lnSpc>
                    <a:spcPct val="120000"/>
                  </a:lnSpc>
                </a:pPr>
                <a:r>
                  <a:rPr lang="en-US" altLang="zh-CN" sz="2400" dirty="0">
                    <a:latin typeface="+mn-ea"/>
                    <a:ea typeface="+mn-ea"/>
                    <a:cs typeface="宋体" panose="02010600030101010101" pitchFamily="2" charset="-122"/>
                  </a:rPr>
                  <a:t>4.</a:t>
                </a:r>
                <a:r>
                  <a:rPr lang="zh-CN" altLang="en-US" sz="2400" dirty="0">
                    <a:latin typeface="+mn-ea"/>
                    <a:ea typeface="+mn-ea"/>
                    <a:cs typeface="宋体" panose="02010600030101010101" pitchFamily="2" charset="-122"/>
                  </a:rPr>
                  <a:t>若</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sym typeface="+mn-ea"/>
                  </a:rPr>
                  <a:t>0</a:t>
                </a:r>
                <a:r>
                  <a:rPr lang="zh-CN" altLang="en-US" sz="2400" dirty="0">
                    <a:latin typeface="+mn-ea"/>
                    <a:ea typeface="+mn-ea"/>
                    <a:cs typeface="宋体" panose="02010600030101010101" pitchFamily="2" charset="-122"/>
                  </a:rPr>
                  <a:t>，计算</a:t>
                </a:r>
                <a:endParaRPr lang="zh-CN" altLang="en-US" sz="2400" dirty="0">
                  <a:latin typeface="+mn-ea"/>
                  <a:ea typeface="+mn-ea"/>
                  <a:cs typeface="宋体" panose="02010600030101010101" pitchFamily="2" charset="-122"/>
                </a:endParaRPr>
              </a:p>
              <a:p>
                <a:pPr algn="just">
                  <a:lnSpc>
                    <a:spcPct val="120000"/>
                  </a:lnSpc>
                </a:pPr>
                <a14:m>
                  <m:oMathPara xmlns:m="http://schemas.openxmlformats.org/officeDocument/2006/math">
                    <m:oMathParaPr>
                      <m:jc m:val="centerGroup"/>
                    </m:oMathParaPr>
                    <m:oMath xmlns:m="http://schemas.openxmlformats.org/officeDocument/2006/math">
                      <m:sSub>
                        <m:sSubPr>
                          <m:ctrlPr>
                            <a:rPr kumimoji="1" lang="en-US" altLang="zh-CN" sz="2400" i="1">
                              <a:latin typeface="Cambria Math" panose="02040503050406030204" pitchFamily="18" charset="0"/>
                              <a:cs typeface="Cambria Math" panose="02040503050406030204" pitchFamily="18" charset="0"/>
                            </a:rPr>
                          </m:ctrlPr>
                        </m:sSubPr>
                        <m:e>
                          <m:acc>
                            <m:accPr>
                              <m:chr m:val="̅"/>
                              <m:ctrlPr>
                                <a:rPr kumimoji="1" lang="en-US" altLang="zh-CN" sz="2400" i="1">
                                  <a:latin typeface="Cambria Math" panose="02040503050406030204" pitchFamily="18" charset="0"/>
                                  <a:cs typeface="Cambria Math" panose="02040503050406030204" pitchFamily="18" charset="0"/>
                                </a:rPr>
                              </m:ctrlPr>
                            </m:accPr>
                            <m:e>
                              <m:r>
                                <a:rPr kumimoji="1" lang="en-US" altLang="zh-CN" sz="2400" i="1">
                                  <a:latin typeface="Cambria Math" panose="02040503050406030204" pitchFamily="18" charset="0"/>
                                  <a:cs typeface="Cambria Math" panose="02040503050406030204" pitchFamily="18" charset="0"/>
                                </a:rPr>
                                <m:t>𝛼</m:t>
                              </m:r>
                            </m:e>
                          </m:acc>
                        </m:e>
                        <m:sub>
                          <m:r>
                            <a:rPr kumimoji="1" lang="en-US" altLang="zh-CN" sz="2400" i="1">
                              <a:latin typeface="Cambria Math" panose="02040503050406030204" pitchFamily="18" charset="0"/>
                              <a:cs typeface="Cambria Math" panose="02040503050406030204" pitchFamily="18" charset="0"/>
                            </a:rPr>
                            <m:t>𝑘</m:t>
                          </m:r>
                        </m:sub>
                      </m:sSub>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𝑚𝑖𝑛</m:t>
                      </m:r>
                      <m:r>
                        <a:rPr lang="en-US" altLang="zh-CN" sz="2400" i="1">
                          <a:latin typeface="Cambria Math" panose="02040503050406030204" pitchFamily="18" charset="0"/>
                          <a:ea typeface="+mn-ea"/>
                          <a:cs typeface="Cambria Math" panose="02040503050406030204" pitchFamily="18" charset="0"/>
                        </a:rPr>
                        <m:t>{</m:t>
                      </m:r>
                      <m:f>
                        <m:fPr>
                          <m:ctrlPr>
                            <a:rPr lang="en-US" altLang="zh-CN" sz="2400" i="1">
                              <a:latin typeface="Cambria Math" panose="02040503050406030204" pitchFamily="18" charset="0"/>
                              <a:ea typeface="+mn-ea"/>
                              <a:cs typeface="Cambria Math" panose="02040503050406030204" pitchFamily="18" charset="0"/>
                            </a:rPr>
                          </m:ctrlPr>
                        </m:fPr>
                        <m:num>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num>
                        <m:den>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den>
                      </m:f>
                      <m:r>
                        <a:rPr lang="en-US" altLang="zh-CN" sz="2400" i="1">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𝑖</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&lt;</m:t>
                      </m:r>
                      <m:r>
                        <a:rPr lang="en-US" altLang="zh-CN" sz="2400" i="1">
                          <a:latin typeface="Cambria Math" panose="02040503050406030204" pitchFamily="18" charset="0"/>
                          <a:ea typeface="+mn-ea"/>
                          <a:cs typeface="Cambria Math" panose="02040503050406030204" pitchFamily="18" charset="0"/>
                        </a:rPr>
                        <m:t>0</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𝑖</m:t>
                      </m:r>
                      <m:r>
                        <a:rPr lang="en-US" altLang="zh-CN" sz="240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m:t>
                      </m:r>
                    </m:oMath>
                  </m:oMathPara>
                </a14:m>
                <a:endParaRPr lang="en-US" altLang="zh-CN" sz="2400" i="1" dirty="0">
                  <a:latin typeface="+mn-ea"/>
                  <a:ea typeface="+mn-ea"/>
                  <a:cs typeface="宋体" panose="02010600030101010101" pitchFamily="2" charset="-122"/>
                </a:endParaRPr>
              </a:p>
              <a:p>
                <a:pPr algn="just">
                  <a:lnSpc>
                    <a:spcPct val="12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m:t>
                      </m:r>
                      <m:f>
                        <m:fPr>
                          <m:ctrlPr>
                            <a:rPr lang="en-US" altLang="zh-CN" sz="2400" i="1">
                              <a:latin typeface="Cambria Math" panose="02040503050406030204" pitchFamily="18" charset="0"/>
                              <a:ea typeface="+mn-ea"/>
                              <a:cs typeface="Cambria Math" panose="02040503050406030204" pitchFamily="18" charset="0"/>
                            </a:rPr>
                          </m:ctrlPr>
                        </m:fPr>
                        <m:num>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𝑝</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𝑝</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num>
                        <m:den>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𝑝</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den>
                      </m:f>
                    </m:oMath>
                  </m:oMathPara>
                </a14:m>
                <a:endParaRPr lang="zh-CN" altLang="en-US" sz="2400" dirty="0">
                  <a:latin typeface="+mn-ea"/>
                  <a:ea typeface="+mn-ea"/>
                  <a:cs typeface="宋体" panose="02010600030101010101" pitchFamily="2" charset="-122"/>
                </a:endParaRPr>
              </a:p>
              <a:p>
                <a:pPr algn="just">
                  <a:lnSpc>
                    <a:spcPct val="120000"/>
                  </a:lnSpc>
                </a:pPr>
                <a:r>
                  <a:rPr lang="zh-CN" altLang="en-US" sz="2400" dirty="0">
                    <a:latin typeface="+mn-ea"/>
                    <a:ea typeface="+mn-ea"/>
                    <a:cs typeface="宋体" panose="02010600030101010101" pitchFamily="2" charset="-122"/>
                  </a:rPr>
                  <a:t>  取</a:t>
                </a:r>
                <a14:m>
                  <m:oMath xmlns:m="http://schemas.openxmlformats.org/officeDocument/2006/math">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𝛼</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𝑘</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𝑚𝑖𝑛</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acc>
                          <m:accPr>
                            <m:chr m:val="̅"/>
                            <m:ctrlPr>
                              <a:rPr kumimoji="1" lang="en-US" altLang="zh-CN" sz="2400" i="1">
                                <a:solidFill>
                                  <a:schemeClr val="tx1"/>
                                </a:solidFill>
                                <a:latin typeface="Cambria Math" panose="02040503050406030204" pitchFamily="18" charset="0"/>
                                <a:ea typeface="+mn-ea"/>
                                <a:cs typeface="Cambria Math" panose="02040503050406030204" pitchFamily="18" charset="0"/>
                              </a:rPr>
                            </m:ctrlPr>
                          </m:accPr>
                          <m:e>
                            <m:r>
                              <a:rPr kumimoji="1" lang="en-US" altLang="zh-CN" sz="2400" i="1">
                                <a:solidFill>
                                  <a:schemeClr val="tx1"/>
                                </a:solidFill>
                                <a:latin typeface="Cambria Math" panose="02040503050406030204" pitchFamily="18" charset="0"/>
                                <a:ea typeface="+mn-ea"/>
                                <a:cs typeface="Cambria Math" panose="02040503050406030204" pitchFamily="18" charset="0"/>
                              </a:rPr>
                              <m:t>𝛼</m:t>
                            </m:r>
                          </m:e>
                        </m:acc>
                      </m:e>
                      <m:sub>
                        <m:r>
                          <a:rPr kumimoji="1" lang="en-US" altLang="zh-CN" sz="2400" i="1">
                            <a:solidFill>
                              <a:schemeClr val="tx1"/>
                            </a:solidFill>
                            <a:latin typeface="Cambria Math" panose="02040503050406030204" pitchFamily="18" charset="0"/>
                            <a:ea typeface="+mn-ea"/>
                            <a:cs typeface="Cambria Math" panose="02040503050406030204" pitchFamily="18" charset="0"/>
                          </a:rPr>
                          <m:t>𝑘</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1</m:t>
                    </m:r>
                    <m:r>
                      <a:rPr kumimoji="1" lang="en-US" altLang="zh-CN" sz="2400" i="1">
                        <a:solidFill>
                          <a:schemeClr val="tx1"/>
                        </a:solidFill>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，置</a:t>
                </a:r>
                <a:endParaRPr lang="zh-CN" altLang="en-US" sz="2400" dirty="0">
                  <a:latin typeface="+mn-ea"/>
                  <a:ea typeface="+mn-ea"/>
                  <a:cs typeface="宋体" panose="02010600030101010101" pitchFamily="2" charset="-122"/>
                </a:endParaRPr>
              </a:p>
              <a:p>
                <a:pPr algn="just">
                  <a:lnSpc>
                    <a:spcPct val="120000"/>
                  </a:lnSpc>
                </a:pPr>
                <a:r>
                  <a:rPr lang="zh-CN" altLang="en-US" sz="2400" dirty="0">
                    <a:latin typeface="+mn-ea"/>
                    <a:ea typeface="+mn-ea"/>
                    <a:cs typeface="宋体" panose="02010600030101010101" pitchFamily="2" charset="-122"/>
                  </a:rPr>
                  <a:t>			</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oMath>
                </a14:m>
                <a:r>
                  <a:rPr lang="en-US" altLang="zh-CN" sz="2400" dirty="0">
                    <a:latin typeface="+mn-ea"/>
                    <a:ea typeface="+mn-ea"/>
                    <a:cs typeface="宋体" panose="02010600030101010101" pitchFamily="2" charset="-122"/>
                  </a:rPr>
                  <a:t>=</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𝛼</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𝑘</m:t>
                        </m:r>
                      </m:sub>
                    </m:sSub>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oMath>
                </a14:m>
                <a:r>
                  <a:rPr lang="zh-CN" altLang="en-US" sz="2400" dirty="0">
                    <a:latin typeface="+mn-ea"/>
                    <a:ea typeface="+mn-ea"/>
                    <a:cs typeface="宋体" panose="02010600030101010101" pitchFamily="2" charset="-122"/>
                  </a:rPr>
                  <a:t>	</a:t>
                </a:r>
                <a:endParaRPr lang="zh-CN" altLang="en-US" sz="2400" dirty="0">
                  <a:latin typeface="+mn-ea"/>
                  <a:ea typeface="+mn-ea"/>
                  <a:cs typeface="宋体" panose="02010600030101010101" pitchFamily="2" charset="-122"/>
                </a:endParaRPr>
              </a:p>
              <a:p>
                <a:pPr algn="just">
                  <a:lnSpc>
                    <a:spcPct val="120000"/>
                  </a:lnSpc>
                </a:pPr>
                <a:r>
                  <a:rPr lang="zh-CN" altLang="en-US" sz="2400" dirty="0">
                    <a:latin typeface="+mn-ea"/>
                    <a:ea typeface="+mn-ea"/>
                    <a:cs typeface="宋体" panose="02010600030101010101" pitchFamily="2" charset="-122"/>
                  </a:rPr>
                  <a:t>  如果</a:t>
                </a:r>
                <a14:m>
                  <m:oMath xmlns:m="http://schemas.openxmlformats.org/officeDocument/2006/math">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𝛼</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𝑘</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acc>
                          <m:accPr>
                            <m:chr m:val="̅"/>
                            <m:ctrlPr>
                              <a:rPr kumimoji="1" lang="en-US" altLang="zh-CN" sz="2400" i="1">
                                <a:solidFill>
                                  <a:schemeClr val="tx1"/>
                                </a:solidFill>
                                <a:latin typeface="Cambria Math" panose="02040503050406030204" pitchFamily="18" charset="0"/>
                                <a:ea typeface="+mn-ea"/>
                                <a:cs typeface="Cambria Math" panose="02040503050406030204" pitchFamily="18" charset="0"/>
                              </a:rPr>
                            </m:ctrlPr>
                          </m:accPr>
                          <m:e>
                            <m:r>
                              <a:rPr kumimoji="1" lang="en-US" altLang="zh-CN" sz="2400" i="1">
                                <a:solidFill>
                                  <a:schemeClr val="tx1"/>
                                </a:solidFill>
                                <a:latin typeface="Cambria Math" panose="02040503050406030204" pitchFamily="18" charset="0"/>
                                <a:ea typeface="+mn-ea"/>
                                <a:cs typeface="Cambria Math" panose="02040503050406030204" pitchFamily="18" charset="0"/>
                              </a:rPr>
                              <m:t>𝛼</m:t>
                            </m:r>
                          </m:e>
                        </m:acc>
                      </m:e>
                      <m:sub>
                        <m:r>
                          <a:rPr kumimoji="1" lang="en-US" altLang="zh-CN" sz="2400" i="1">
                            <a:solidFill>
                              <a:schemeClr val="tx1"/>
                            </a:solidFill>
                            <a:latin typeface="Cambria Math" panose="02040503050406030204" pitchFamily="18" charset="0"/>
                            <a:ea typeface="+mn-ea"/>
                            <a:cs typeface="Cambria Math" panose="02040503050406030204" pitchFamily="18" charset="0"/>
                          </a:rPr>
                          <m:t>𝑘</m:t>
                        </m:r>
                      </m:sub>
                    </m:sSub>
                  </m:oMath>
                </a14:m>
                <a:r>
                  <a:rPr lang="zh-CN" altLang="en-US" sz="2400" dirty="0">
                    <a:latin typeface="+mn-ea"/>
                    <a:ea typeface="+mn-ea"/>
                    <a:cs typeface="宋体" panose="02010600030101010101" pitchFamily="2" charset="-122"/>
                  </a:rPr>
                  <a:t>，则置</a:t>
                </a:r>
                <a:endParaRPr lang="zh-CN" altLang="en-US" sz="2400" dirty="0">
                  <a:latin typeface="+mn-ea"/>
                  <a:ea typeface="+mn-ea"/>
                  <a:cs typeface="宋体" panose="02010600030101010101" pitchFamily="2" charset="-122"/>
                </a:endParaRPr>
              </a:p>
              <a:p>
                <a:pPr algn="just">
                  <a:lnSpc>
                    <a:spcPct val="120000"/>
                  </a:lnSpc>
                </a:pPr>
                <a:r>
                  <a:rPr lang="zh-CN" altLang="en-US" sz="2400" dirty="0">
                    <a:latin typeface="+mn-ea"/>
                    <a:ea typeface="+mn-ea"/>
                    <a:cs typeface="宋体" panose="02010600030101010101" pitchFamily="2" charset="-122"/>
                    <a:sym typeface="+mn-ea"/>
                  </a:rPr>
                  <a:t>		    </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b="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b="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𝑝</m:t>
                    </m:r>
                    <m:r>
                      <a:rPr lang="en-US" altLang="zh-CN" sz="2400" i="1" smtClean="0">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			</a:t>
                </a:r>
                <a:endParaRPr lang="zh-CN" altLang="en-US" sz="2400" dirty="0">
                  <a:latin typeface="+mn-ea"/>
                  <a:ea typeface="+mn-ea"/>
                  <a:cs typeface="宋体" panose="02010600030101010101" pitchFamily="2" charset="-122"/>
                </a:endParaRPr>
              </a:p>
              <a:p>
                <a:pPr algn="just">
                  <a:lnSpc>
                    <a:spcPct val="120000"/>
                  </a:lnSpc>
                </a:pPr>
                <a:r>
                  <a:rPr lang="zh-CN" altLang="en-US" sz="2400" dirty="0">
                    <a:latin typeface="+mn-ea"/>
                    <a:ea typeface="+mn-ea"/>
                    <a:cs typeface="宋体" panose="02010600030101010101" pitchFamily="2" charset="-122"/>
                  </a:rPr>
                  <a:t>  否则置</a:t>
                </a:r>
                <a:endParaRPr lang="zh-CN" altLang="en-US" sz="2400" dirty="0">
                  <a:latin typeface="+mn-ea"/>
                  <a:ea typeface="+mn-ea"/>
                  <a:cs typeface="宋体" panose="02010600030101010101" pitchFamily="2" charset="-122"/>
                </a:endParaRPr>
              </a:p>
              <a:p>
                <a:pPr algn="just">
                  <a:lnSpc>
                    <a:spcPct val="120000"/>
                  </a:lnSpc>
                </a:pPr>
                <a:r>
                  <a:rPr lang="zh-CN" altLang="en-US" sz="2400" dirty="0">
                    <a:latin typeface="+mn-ea"/>
                    <a:ea typeface="+mn-ea"/>
                    <a:cs typeface="宋体" panose="02010600030101010101" pitchFamily="2" charset="-122"/>
                    <a:sym typeface="+mn-ea"/>
                  </a:rPr>
                  <a:t>		    </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b="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𝑘</m:t>
                        </m:r>
                        <m:r>
                          <a:rPr lang="en-US" altLang="zh-CN" sz="2400" i="1">
                            <a:latin typeface="Cambria Math" panose="02040503050406030204" pitchFamily="18" charset="0"/>
                            <a:ea typeface="+mn-ea"/>
                            <a:cs typeface="Cambria Math" panose="02040503050406030204" pitchFamily="18" charset="0"/>
                          </a:rPr>
                          <m:t>)</m:t>
                        </m:r>
                      </m:sup>
                    </m:sSup>
                    <m:r>
                      <a:rPr lang="en-US" altLang="zh-CN" sz="2400" b="0" i="1" smtClean="0">
                        <a:latin typeface="Cambria Math" panose="02040503050406030204" pitchFamily="18" charset="0"/>
                        <a:ea typeface="+mn-ea"/>
                        <a:cs typeface="Cambria Math" panose="02040503050406030204" pitchFamily="18" charset="0"/>
                      </a:rPr>
                      <m:t>)</m:t>
                    </m:r>
                  </m:oMath>
                </a14:m>
                <a:r>
                  <a:rPr lang="zh-CN" altLang="en-US" sz="2400" dirty="0">
                    <a:latin typeface="+mn-ea"/>
                    <a:ea typeface="+mn-ea"/>
                    <a:cs typeface="宋体" panose="02010600030101010101" pitchFamily="2" charset="-122"/>
                  </a:rPr>
                  <a:t>				</a:t>
                </a:r>
                <a:endParaRPr lang="zh-CN" altLang="en-US" sz="2400" dirty="0">
                  <a:latin typeface="+mn-ea"/>
                  <a:ea typeface="+mn-ea"/>
                  <a:cs typeface="宋体" panose="02010600030101010101" pitchFamily="2" charset="-122"/>
                </a:endParaRPr>
              </a:p>
              <a:p>
                <a:pPr algn="just">
                  <a:lnSpc>
                    <a:spcPct val="120000"/>
                  </a:lnSpc>
                </a:pPr>
                <a:r>
                  <a:rPr lang="zh-CN" altLang="en-US" sz="2400" dirty="0">
                    <a:latin typeface="+mn-ea"/>
                    <a:ea typeface="+mn-ea"/>
                    <a:cs typeface="宋体" panose="02010600030101010101" pitchFamily="2" charset="-122"/>
                  </a:rPr>
                  <a:t>  置</a:t>
                </a:r>
                <a14:m>
                  <m:oMath xmlns:m="http://schemas.openxmlformats.org/officeDocument/2006/math">
                    <m:r>
                      <a:rPr lang="en-US" altLang="zh-CN" sz="2400" b="0" i="1" smtClean="0">
                        <a:latin typeface="Cambria Math" panose="02040503050406030204" pitchFamily="18" charset="0"/>
                        <a:ea typeface="+mn-ea"/>
                        <a:cs typeface="Cambria Math" panose="02040503050406030204" pitchFamily="18" charset="0"/>
                      </a:rPr>
                      <m:t>𝑘</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𝑘</m:t>
                    </m:r>
                    <m:r>
                      <a:rPr lang="en-US" altLang="zh-CN" sz="2400" b="0" i="1" smtClean="0">
                        <a:latin typeface="Cambria Math" panose="02040503050406030204" pitchFamily="18" charset="0"/>
                        <a:cs typeface="Cambria Math" panose="02040503050406030204" pitchFamily="18" charset="0"/>
                      </a:rPr>
                      <m:t>+</m:t>
                    </m:r>
                    <m:r>
                      <a:rPr lang="en-US" altLang="zh-CN" sz="2400" b="0" i="1" smtClean="0">
                        <a:latin typeface="Cambria Math" panose="02040503050406030204" pitchFamily="18" charset="0"/>
                        <a:ea typeface="+mn-ea"/>
                        <a:cs typeface="Cambria Math" panose="02040503050406030204" pitchFamily="18" charset="0"/>
                      </a:rPr>
                      <m:t>1</m:t>
                    </m:r>
                  </m:oMath>
                </a14:m>
                <a:r>
                  <a:rPr lang="zh-CN" altLang="en-US" sz="2400" smtClean="0">
                    <a:latin typeface="Cambria Math" panose="02040503050406030204" pitchFamily="18" charset="0"/>
                    <a:ea typeface="+mn-ea"/>
                    <a:cs typeface="Cambria Math" panose="02040503050406030204" pitchFamily="18" charset="0"/>
                  </a:rPr>
                  <a:t>，</a:t>
                </a:r>
                <a:r>
                  <a:rPr lang="zh-CN" altLang="en-US" sz="2400" dirty="0">
                    <a:latin typeface="+mn-ea"/>
                    <a:ea typeface="+mn-ea"/>
                    <a:cs typeface="宋体" panose="02010600030101010101" pitchFamily="2" charset="-122"/>
                  </a:rPr>
                  <a:t>转步骤</a:t>
                </a:r>
                <a:r>
                  <a:rPr lang="en-US" altLang="zh-CN" sz="2400" dirty="0">
                    <a:latin typeface="+mn-ea"/>
                    <a:ea typeface="+mn-ea"/>
                    <a:cs typeface="宋体" panose="02010600030101010101" pitchFamily="2" charset="-122"/>
                  </a:rPr>
                  <a:t>2</a:t>
                </a:r>
                <a:r>
                  <a:rPr lang="zh-CN" altLang="en-US" sz="2400" dirty="0">
                    <a:latin typeface="+mn-ea"/>
                    <a:ea typeface="+mn-ea"/>
                    <a:cs typeface="宋体" panose="02010600030101010101" pitchFamily="2" charset="-122"/>
                  </a:rPr>
                  <a:t>。</a:t>
                </a:r>
                <a:endParaRPr lang="zh-CN" altLang="en-US" sz="2400" dirty="0">
                  <a:latin typeface="+mn-ea"/>
                  <a:ea typeface="+mn-ea"/>
                  <a:cs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767408" y="404664"/>
                <a:ext cx="10009112" cy="5868670"/>
              </a:xfrm>
              <a:prstGeom prst="rect">
                <a:avLst/>
              </a:prstGeom>
              <a:blipFill rotWithShape="1">
                <a:blip r:embed="rId1"/>
                <a:stretch>
                  <a:fillRect l="-3" t="-3" r="6" b="3"/>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999656" y="213504"/>
            <a:ext cx="2893058" cy="2043260"/>
            <a:chOff x="3083215" y="497489"/>
            <a:chExt cx="2893058" cy="2043260"/>
          </a:xfrm>
        </p:grpSpPr>
        <p:sp>
          <p:nvSpPr>
            <p:cNvPr id="3" name="AutoShape 5"/>
            <p:cNvSpPr>
              <a:spLocks noChangeArrowheads="1"/>
            </p:cNvSpPr>
            <p:nvPr/>
          </p:nvSpPr>
          <p:spPr bwMode="auto">
            <a:xfrm>
              <a:off x="3083215" y="1309506"/>
              <a:ext cx="2592288" cy="507831"/>
            </a:xfrm>
            <a:prstGeom prst="parallelogram">
              <a:avLst>
                <a:gd name="adj" fmla="val 124931"/>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dirty="0"/>
            </a:p>
          </p:txBody>
        </p:sp>
        <p:sp>
          <p:nvSpPr>
            <p:cNvPr id="4" name="Line 36"/>
            <p:cNvSpPr>
              <a:spLocks noChangeShapeType="1"/>
            </p:cNvSpPr>
            <p:nvPr/>
          </p:nvSpPr>
          <p:spPr bwMode="auto">
            <a:xfrm>
              <a:off x="4523076" y="952149"/>
              <a:ext cx="0" cy="288925"/>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 name="Line 39"/>
            <p:cNvSpPr>
              <a:spLocks noChangeShapeType="1"/>
            </p:cNvSpPr>
            <p:nvPr/>
          </p:nvSpPr>
          <p:spPr bwMode="auto">
            <a:xfrm>
              <a:off x="4507558" y="1852737"/>
              <a:ext cx="0" cy="360362"/>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3487462" y="1332502"/>
                  <a:ext cx="1955766" cy="387927"/>
                </a:xfrm>
                <a:prstGeom prst="rect">
                  <a:avLst/>
                </a:prstGeom>
                <a:noFill/>
              </p:spPr>
              <p:txBody>
                <a:bodyPr wrap="square" rtlCol="0">
                  <a:spAutoFit/>
                </a:bodyPr>
                <a:lstStyle/>
                <a:p>
                  <a:r>
                    <a:rPr lang="zh-CN" altLang="en-US" dirty="0"/>
                    <a:t>输入 </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𝑥</m:t>
                          </m:r>
                        </m:e>
                        <m:sup>
                          <m:d>
                            <m:dPr>
                              <m:ctrlPr>
                                <a:rPr lang="en-US" altLang="zh-CN" i="1">
                                  <a:latin typeface="Cambria Math" panose="02040503050406030204" pitchFamily="18" charset="0"/>
                                  <a:cs typeface="Cambria Math" panose="02040503050406030204" pitchFamily="18" charset="0"/>
                                </a:rPr>
                              </m:ctrlPr>
                            </m:dPr>
                            <m:e>
                              <m:r>
                                <a:rPr lang="en-US" altLang="zh-CN" b="0" i="1" smtClean="0">
                                  <a:latin typeface="Cambria Math" panose="02040503050406030204" pitchFamily="18" charset="0"/>
                                  <a:cs typeface="Cambria Math" panose="02040503050406030204" pitchFamily="18" charset="0"/>
                                </a:rPr>
                                <m:t>1</m:t>
                              </m:r>
                            </m:e>
                          </m:d>
                        </m:sup>
                      </m:sSup>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𝐼</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oMath>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3487462" y="1332502"/>
                  <a:ext cx="1955766" cy="387927"/>
                </a:xfrm>
                <a:prstGeom prst="rect">
                  <a:avLst/>
                </a:prstGeom>
                <a:blipFill rotWithShape="1">
                  <a:blip r:embed="rId1"/>
                </a:blipFill>
              </p:spPr>
              <p:txBody>
                <a:bodyPr/>
                <a:lstStyle/>
                <a:p>
                  <a:r>
                    <a:rPr lang="zh-CN" altLang="en-US">
                      <a:noFill/>
                    </a:rPr>
                    <a:t> </a:t>
                  </a:r>
                </a:p>
              </p:txBody>
            </p:sp>
          </mc:Fallback>
        </mc:AlternateContent>
        <p:grpSp>
          <p:nvGrpSpPr>
            <p:cNvPr id="7" name="组合 6"/>
            <p:cNvGrpSpPr/>
            <p:nvPr/>
          </p:nvGrpSpPr>
          <p:grpSpPr>
            <a:xfrm>
              <a:off x="3096548" y="2032918"/>
              <a:ext cx="2879725" cy="507831"/>
              <a:chOff x="2724785" y="1988820"/>
              <a:chExt cx="2879725" cy="507831"/>
            </a:xfrm>
          </p:grpSpPr>
          <p:sp>
            <p:nvSpPr>
              <p:cNvPr id="9" name="AutoShape 7"/>
              <p:cNvSpPr>
                <a:spLocks noChangeArrowheads="1"/>
              </p:cNvSpPr>
              <p:nvPr/>
            </p:nvSpPr>
            <p:spPr bwMode="auto">
              <a:xfrm>
                <a:off x="3503539" y="2132221"/>
                <a:ext cx="1197937" cy="363051"/>
              </a:xfrm>
              <a:prstGeom prst="flowChartProcess">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a:p>
            </p:txBody>
          </p:sp>
          <mc:AlternateContent xmlns:mc="http://schemas.openxmlformats.org/markup-compatibility/2006">
            <mc:Choice xmlns:a14="http://schemas.microsoft.com/office/drawing/2010/main" Requires="a14">
              <p:sp>
                <p:nvSpPr>
                  <p:cNvPr id="10" name="文本框 9"/>
                  <p:cNvSpPr txBox="1"/>
                  <p:nvPr/>
                </p:nvSpPr>
                <p:spPr>
                  <a:xfrm>
                    <a:off x="2724785" y="1988820"/>
                    <a:ext cx="2879725" cy="507831"/>
                  </a:xfrm>
                  <a:prstGeom prst="rect">
                    <a:avLst/>
                  </a:prstGeom>
                  <a:noFill/>
                </p:spPr>
                <p:txBody>
                  <a:bodyPr wrap="square" rtlCol="0">
                    <a:spAutoFit/>
                  </a:bodyPr>
                  <a:lstStyle/>
                  <a:p>
                    <a:pPr latinLnBrk="0">
                      <a:lnSpc>
                        <a:spcPct val="150000"/>
                      </a:lnSpc>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cs typeface="Cambria Math" panose="02040503050406030204" pitchFamily="18" charset="0"/>
                            </a:rPr>
                            <m:t>𝑘</m:t>
                          </m:r>
                          <m:r>
                            <a:rPr lang="en-US" altLang="zh-CN" b="0" i="1" smtClean="0">
                              <a:latin typeface="Cambria Math" panose="02040503050406030204" pitchFamily="18" charset="0"/>
                              <a:cs typeface="Cambria Math" panose="02040503050406030204" pitchFamily="18" charset="0"/>
                            </a:rPr>
                            <m:t>=</m:t>
                          </m:r>
                          <m:r>
                            <a:rPr lang="en-US" altLang="zh-CN" b="0" i="1" smtClean="0">
                              <a:latin typeface="Cambria Math" panose="02040503050406030204" pitchFamily="18" charset="0"/>
                              <a:cs typeface="Cambria Math" panose="02040503050406030204" pitchFamily="18" charset="0"/>
                            </a:rPr>
                            <m:t>1</m:t>
                          </m:r>
                        </m:oMath>
                      </m:oMathPara>
                    </a14:m>
                    <a:endParaRPr lang="zh-CN" altLang="en-US" dirty="0"/>
                  </a:p>
                </p:txBody>
              </p:sp>
            </mc:Choice>
            <mc:Fallback>
              <p:sp>
                <p:nvSpPr>
                  <p:cNvPr id="10" name="文本框 9"/>
                  <p:cNvSpPr txBox="1">
                    <a:spLocks noRot="1" noChangeAspect="1" noMove="1" noResize="1" noEditPoints="1" noAdjustHandles="1" noChangeArrowheads="1" noChangeShapeType="1" noTextEdit="1"/>
                  </p:cNvSpPr>
                  <p:nvPr/>
                </p:nvSpPr>
                <p:spPr>
                  <a:xfrm>
                    <a:off x="2724785" y="1988820"/>
                    <a:ext cx="2879725" cy="507831"/>
                  </a:xfrm>
                  <a:prstGeom prst="rect">
                    <a:avLst/>
                  </a:prstGeom>
                  <a:blipFill rotWithShape="1">
                    <a:blip r:embed="rId2"/>
                  </a:blipFill>
                </p:spPr>
                <p:txBody>
                  <a:bodyPr/>
                  <a:lstStyle/>
                  <a:p>
                    <a:r>
                      <a:rPr lang="zh-CN" altLang="en-US">
                        <a:noFill/>
                      </a:rPr>
                      <a:t> </a:t>
                    </a:r>
                  </a:p>
                </p:txBody>
              </p:sp>
            </mc:Fallback>
          </mc:AlternateContent>
        </p:grpSp>
        <p:sp>
          <p:nvSpPr>
            <p:cNvPr id="8" name="AutoShape 5"/>
            <p:cNvSpPr>
              <a:spLocks noChangeArrowheads="1"/>
            </p:cNvSpPr>
            <p:nvPr/>
          </p:nvSpPr>
          <p:spPr bwMode="auto">
            <a:xfrm>
              <a:off x="4057239" y="497489"/>
              <a:ext cx="1016000" cy="423863"/>
            </a:xfrm>
            <a:prstGeom prst="flowChartPreparation">
              <a:avLst/>
            </a:prstGeom>
            <a:solidFill>
              <a:srgbClr val="CCFFCC"/>
            </a:solidFill>
            <a:ln w="28575" cap="sq">
              <a:solidFill>
                <a:srgbClr val="00FF00"/>
              </a:solidFill>
              <a:miter lim="800000"/>
            </a:ln>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2000" b="1" dirty="0">
                  <a:solidFill>
                    <a:srgbClr val="000000"/>
                  </a:solidFill>
                  <a:latin typeface="Times New Roman" panose="02020603050405020304" pitchFamily="18" charset="0"/>
                </a:rPr>
                <a:t>入口</a:t>
              </a:r>
              <a:endParaRPr lang="zh-CN" altLang="en-US" sz="2000" dirty="0">
                <a:solidFill>
                  <a:srgbClr val="000000"/>
                </a:solidFill>
                <a:latin typeface="Times New Roman" panose="02020603050405020304" pitchFamily="18" charset="0"/>
              </a:endParaRPr>
            </a:p>
          </p:txBody>
        </p:sp>
      </p:grpSp>
      <p:sp>
        <p:nvSpPr>
          <p:cNvPr id="11" name="Line 36"/>
          <p:cNvSpPr>
            <a:spLocks noChangeShapeType="1"/>
          </p:cNvSpPr>
          <p:nvPr/>
        </p:nvSpPr>
        <p:spPr bwMode="auto">
          <a:xfrm>
            <a:off x="4423999" y="2292731"/>
            <a:ext cx="0" cy="288925"/>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 name="AutoShape 8"/>
          <p:cNvSpPr>
            <a:spLocks noChangeArrowheads="1"/>
          </p:cNvSpPr>
          <p:nvPr/>
        </p:nvSpPr>
        <p:spPr bwMode="auto">
          <a:xfrm>
            <a:off x="2351583" y="2581656"/>
            <a:ext cx="4320479" cy="1439862"/>
          </a:xfrm>
          <a:prstGeom prst="flowChartProcess">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mc:AlternateContent xmlns:mc="http://schemas.openxmlformats.org/markup-compatibility/2006">
        <mc:Choice xmlns:a14="http://schemas.microsoft.com/office/drawing/2010/main" Requires="a14">
          <p:sp>
            <p:nvSpPr>
              <p:cNvPr id="13" name="文本框 12"/>
              <p:cNvSpPr txBox="1"/>
              <p:nvPr/>
            </p:nvSpPr>
            <p:spPr>
              <a:xfrm>
                <a:off x="2087221" y="2617623"/>
                <a:ext cx="4849202" cy="1559401"/>
              </a:xfrm>
              <a:prstGeom prst="rect">
                <a:avLst/>
              </a:prstGeom>
              <a:noFill/>
            </p:spPr>
            <p:txBody>
              <a:bodyPr wrap="square" rtlCol="0">
                <a:spAutoFit/>
              </a:bodyPr>
              <a:lstStyle/>
              <a:p>
                <a:pPr>
                  <a:lnSpc>
                    <a:spcPct val="130000"/>
                  </a:lnSpc>
                </a:pPr>
                <a14:m>
                  <m:oMathPara xmlns:m="http://schemas.openxmlformats.org/officeDocument/2006/math">
                    <m:oMathParaPr>
                      <m:jc m:val="centerGroup"/>
                    </m:oMathParaPr>
                    <m:oMath xmlns:m="http://schemas.openxmlformats.org/officeDocument/2006/math">
                      <m:sSup>
                        <m:sSupPr>
                          <m:ctrlPr>
                            <a:rPr lang="zh-CN" altLang="en-US" b="1" i="1" smtClean="0">
                              <a:latin typeface="Cambria Math" panose="02040503050406030204" pitchFamily="18" charset="0"/>
                            </a:rPr>
                          </m:ctrlPr>
                        </m:sSupPr>
                        <m:e>
                          <m:r>
                            <a:rPr lang="zh-CN" altLang="en-US" b="1" i="1">
                              <a:latin typeface="Cambria Math" panose="02040503050406030204" pitchFamily="18" charset="0"/>
                            </a:rPr>
                            <m:t>𝒅</m:t>
                          </m:r>
                        </m:e>
                        <m:sup>
                          <m:d>
                            <m:dPr>
                              <m:ctrlPr>
                                <a:rPr lang="zh-CN" altLang="en-US" b="1" i="1">
                                  <a:latin typeface="Cambria Math" panose="02040503050406030204" pitchFamily="18" charset="0"/>
                                </a:rPr>
                              </m:ctrlPr>
                            </m:dPr>
                            <m:e>
                              <m:r>
                                <a:rPr lang="zh-CN" altLang="en-US" b="1" i="1">
                                  <a:latin typeface="Cambria Math" panose="02040503050406030204" pitchFamily="18" charset="0"/>
                                </a:rPr>
                                <m:t>𝒌</m:t>
                              </m:r>
                            </m:e>
                          </m:d>
                        </m:sup>
                      </m:sSup>
                      <m:r>
                        <a:rPr lang="zh-CN" altLang="en-US" b="1">
                          <a:latin typeface="Cambria Math" panose="02040503050406030204" pitchFamily="18" charset="0"/>
                        </a:rPr>
                        <m:t>=</m:t>
                      </m:r>
                      <m:r>
                        <a:rPr lang="en-US" altLang="zh-CN" b="0" i="1" smtClean="0">
                          <a:latin typeface="Cambria Math" panose="02040503050406030204" pitchFamily="18" charset="0"/>
                        </a:rPr>
                        <m:t>𝑎𝑟𝑔</m:t>
                      </m:r>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f>
                        <m:fPr>
                          <m:ctrlPr>
                            <a:rPr kumimoji="1" lang="en-US" altLang="zh-CN" i="1">
                              <a:latin typeface="Cambria Math" panose="02040503050406030204" pitchFamily="18" charset="0"/>
                              <a:cs typeface="Cambria Math" panose="02040503050406030204" pitchFamily="18" charset="0"/>
                            </a:rPr>
                          </m:ctrlPr>
                        </m:fPr>
                        <m:num>
                          <m:r>
                            <a:rPr kumimoji="1" lang="en-US" altLang="zh-CN" i="1">
                              <a:latin typeface="Cambria Math" panose="02040503050406030204" pitchFamily="18" charset="0"/>
                              <a:cs typeface="Cambria Math" panose="02040503050406030204" pitchFamily="18" charset="0"/>
                            </a:rPr>
                            <m:t>1</m:t>
                          </m:r>
                        </m:num>
                        <m:den>
                          <m:r>
                            <a:rPr kumimoji="1" lang="en-US" altLang="zh-CN" i="1">
                              <a:latin typeface="Cambria Math" panose="02040503050406030204" pitchFamily="18" charset="0"/>
                              <a:cs typeface="Cambria Math" panose="02040503050406030204" pitchFamily="18" charset="0"/>
                            </a:rPr>
                            <m:t>2</m:t>
                          </m:r>
                        </m:den>
                      </m:f>
                      <m:sSup>
                        <m:sSupPr>
                          <m:ctrlPr>
                            <a:rPr kumimoji="1" lang="en-US" altLang="zh-CN" i="1">
                              <a:latin typeface="Cambria Math" panose="02040503050406030204" pitchFamily="18" charset="0"/>
                              <a:cs typeface="Cambria Math" panose="02040503050406030204" pitchFamily="18" charset="0"/>
                            </a:rPr>
                          </m:ctrlPr>
                        </m:sSupPr>
                        <m:e>
                          <m:r>
                            <a:rPr kumimoji="1" lang="en-US" altLang="zh-CN" i="1">
                              <a:latin typeface="Cambria Math" panose="02040503050406030204" pitchFamily="18" charset="0"/>
                              <a:cs typeface="Cambria Math" panose="02040503050406030204" pitchFamily="18" charset="0"/>
                            </a:rPr>
                            <m:t>𝑑</m:t>
                          </m:r>
                        </m:e>
                        <m:sup>
                          <m:r>
                            <a:rPr kumimoji="1" lang="en-US" altLang="zh-CN" i="1">
                              <a:latin typeface="Cambria Math" panose="02040503050406030204" pitchFamily="18" charset="0"/>
                              <a:cs typeface="Cambria Math" panose="02040503050406030204" pitchFamily="18" charset="0"/>
                            </a:rPr>
                            <m:t>𝑇</m:t>
                          </m:r>
                        </m:sup>
                      </m:sSup>
                      <m:r>
                        <a:rPr kumimoji="1" lang="en-US" altLang="zh-CN" i="1">
                          <a:latin typeface="Cambria Math" panose="02040503050406030204" pitchFamily="18" charset="0"/>
                          <a:cs typeface="Cambria Math" panose="02040503050406030204" pitchFamily="18" charset="0"/>
                        </a:rPr>
                        <m:t>𝐺𝑑</m:t>
                      </m:r>
                      <m:r>
                        <a:rPr kumimoji="1" lang="en-US" altLang="zh-CN" i="1">
                          <a:latin typeface="Cambria Math" panose="02040503050406030204" pitchFamily="18" charset="0"/>
                          <a:cs typeface="Cambria Math" panose="02040503050406030204" pitchFamily="18" charset="0"/>
                        </a:rPr>
                        <m:t>+</m:t>
                      </m:r>
                      <m:r>
                        <a:rPr kumimoji="1" lang="en-US" altLang="zh-CN" i="1">
                          <a:latin typeface="Cambria Math" panose="02040503050406030204" pitchFamily="18" charset="0"/>
                          <a:cs typeface="Cambria Math" panose="02040503050406030204" pitchFamily="18" charset="0"/>
                        </a:rPr>
                        <m:t>𝛻</m:t>
                      </m:r>
                      <m:r>
                        <a:rPr kumimoji="1" lang="en-US" altLang="zh-CN" i="1">
                          <a:latin typeface="Cambria Math" panose="02040503050406030204" pitchFamily="18" charset="0"/>
                          <a:cs typeface="Cambria Math" panose="02040503050406030204" pitchFamily="18" charset="0"/>
                        </a:rPr>
                        <m:t>𝑓</m:t>
                      </m:r>
                      <m:r>
                        <a:rPr kumimoji="1"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𝑥</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sup>
                      </m:sSup>
                      <m:sSup>
                        <m:sSupPr>
                          <m:ctrlPr>
                            <a:rPr kumimoji="1" lang="en-US" altLang="zh-CN" i="1">
                              <a:latin typeface="Cambria Math" panose="02040503050406030204" pitchFamily="18" charset="0"/>
                              <a:cs typeface="Cambria Math" panose="02040503050406030204" pitchFamily="18" charset="0"/>
                            </a:rPr>
                          </m:ctrlPr>
                        </m:sSupPr>
                        <m:e>
                          <m:r>
                            <a:rPr kumimoji="1" lang="en-US" altLang="zh-CN" i="1">
                              <a:latin typeface="Cambria Math" panose="02040503050406030204" pitchFamily="18" charset="0"/>
                              <a:cs typeface="Cambria Math" panose="02040503050406030204" pitchFamily="18" charset="0"/>
                            </a:rPr>
                            <m:t>)</m:t>
                          </m:r>
                        </m:e>
                        <m:sup>
                          <m:r>
                            <a:rPr kumimoji="1" lang="en-US" altLang="zh-CN" i="1">
                              <a:latin typeface="Cambria Math" panose="02040503050406030204" pitchFamily="18" charset="0"/>
                              <a:cs typeface="Cambria Math" panose="02040503050406030204" pitchFamily="18" charset="0"/>
                            </a:rPr>
                            <m:t>𝑇</m:t>
                          </m:r>
                        </m:sup>
                      </m:sSup>
                      <m:r>
                        <a:rPr kumimoji="1" lang="en-US" altLang="zh-CN" i="1">
                          <a:latin typeface="Cambria Math" panose="02040503050406030204" pitchFamily="18" charset="0"/>
                          <a:cs typeface="Cambria Math" panose="02040503050406030204" pitchFamily="18" charset="0"/>
                        </a:rPr>
                        <m:t>𝑑</m:t>
                      </m:r>
                      <m:r>
                        <m:rPr>
                          <m:nor/>
                        </m:rPr>
                        <a:rPr lang="zh-CN" altLang="en-US" dirty="0">
                          <a:latin typeface="+mn-ea"/>
                          <a:cs typeface="宋体" panose="02010600030101010101" pitchFamily="2" charset="-122"/>
                        </a:rPr>
                        <m:t>			</m:t>
                      </m:r>
                    </m:oMath>
                  </m:oMathPara>
                </a14:m>
                <a:endParaRPr lang="zh-CN" altLang="en-US" dirty="0">
                  <a:latin typeface="+mn-ea"/>
                  <a:cs typeface="宋体" panose="02010600030101010101" pitchFamily="2" charset="-122"/>
                </a:endParaRPr>
              </a:p>
              <a:p>
                <a:pPr>
                  <a:lnSpc>
                    <a:spcPct val="130000"/>
                  </a:lnSpc>
                </a:pPr>
                <a14:m>
                  <m:oMathPara xmlns:m="http://schemas.openxmlformats.org/officeDocument/2006/math">
                    <m:oMathParaPr>
                      <m:jc m:val="centerGroup"/>
                    </m:oMathParaPr>
                    <m:oMath xmlns:m="http://schemas.openxmlformats.org/officeDocument/2006/math">
                      <m:r>
                        <m:rPr>
                          <m:nor/>
                        </m:rPr>
                        <a:rPr lang="en-US" altLang="zh-CN" dirty="0">
                          <a:latin typeface="+mn-ea"/>
                          <a:cs typeface="宋体" panose="02010600030101010101" pitchFamily="2" charset="-122"/>
                          <a:sym typeface="+mn-ea"/>
                        </a:rPr>
                        <m:t>  </m:t>
                      </m:r>
                      <m:r>
                        <a:rPr kumimoji="1" lang="en-US" altLang="zh-CN" i="1">
                          <a:latin typeface="Cambria Math" panose="02040503050406030204" pitchFamily="18" charset="0"/>
                          <a:cs typeface="Cambria Math" panose="02040503050406030204" pitchFamily="18" charset="0"/>
                        </a:rPr>
                        <m:t>𝑠</m:t>
                      </m:r>
                      <m:r>
                        <a:rPr kumimoji="1" lang="en-US" altLang="zh-CN" i="1">
                          <a:latin typeface="Cambria Math" panose="02040503050406030204" pitchFamily="18" charset="0"/>
                          <a:cs typeface="Cambria Math" panose="02040503050406030204" pitchFamily="18" charset="0"/>
                        </a:rPr>
                        <m:t>.</m:t>
                      </m:r>
                      <m:r>
                        <a:rPr kumimoji="1" lang="en-US" altLang="zh-CN" i="1">
                          <a:latin typeface="Cambria Math" panose="02040503050406030204" pitchFamily="18" charset="0"/>
                          <a:cs typeface="Cambria Math" panose="02040503050406030204" pitchFamily="18" charset="0"/>
                        </a:rPr>
                        <m:t>𝑡</m:t>
                      </m:r>
                      <m:r>
                        <a:rPr kumimoji="1" lang="en-US" altLang="zh-CN" i="1">
                          <a:latin typeface="Cambria Math" panose="02040503050406030204" pitchFamily="18" charset="0"/>
                          <a:cs typeface="Cambria Math" panose="02040503050406030204" pitchFamily="18" charset="0"/>
                        </a:rPr>
                        <m:t>.   </m:t>
                      </m:r>
                      <m:sSubSup>
                        <m:sSubSupPr>
                          <m:ctrlPr>
                            <a:rPr kumimoji="1" lang="en-US" altLang="zh-CN" i="1">
                              <a:latin typeface="Cambria Math" panose="02040503050406030204" pitchFamily="18" charset="0"/>
                              <a:cs typeface="Cambria Math" panose="02040503050406030204" pitchFamily="18" charset="0"/>
                            </a:rPr>
                          </m:ctrlPr>
                        </m:sSubSupPr>
                        <m:e>
                          <m:r>
                            <a:rPr kumimoji="1" lang="en-US" altLang="zh-CN" i="1">
                              <a:latin typeface="Cambria Math" panose="02040503050406030204" pitchFamily="18" charset="0"/>
                              <a:cs typeface="Cambria Math" panose="02040503050406030204" pitchFamily="18" charset="0"/>
                            </a:rPr>
                            <m:t>𝐴</m:t>
                          </m:r>
                        </m:e>
                        <m:sub>
                          <m:r>
                            <a:rPr kumimoji="1" lang="en-US" altLang="zh-CN" i="1">
                              <a:latin typeface="Cambria Math" panose="02040503050406030204" pitchFamily="18" charset="0"/>
                              <a:cs typeface="Cambria Math" panose="02040503050406030204" pitchFamily="18" charset="0"/>
                            </a:rPr>
                            <m:t>𝑖</m:t>
                          </m:r>
                        </m:sub>
                        <m:sup>
                          <m:r>
                            <a:rPr kumimoji="1" lang="en-US" altLang="zh-CN" i="1">
                              <a:latin typeface="Cambria Math" panose="02040503050406030204" pitchFamily="18" charset="0"/>
                              <a:cs typeface="Cambria Math" panose="02040503050406030204" pitchFamily="18" charset="0"/>
                            </a:rPr>
                            <m:t>𝑇</m:t>
                          </m:r>
                        </m:sup>
                      </m:sSubSup>
                      <m:r>
                        <a:rPr kumimoji="1" lang="en-US" altLang="zh-CN" i="1">
                          <a:latin typeface="Cambria Math" panose="02040503050406030204" pitchFamily="18" charset="0"/>
                          <a:cs typeface="Cambria Math" panose="02040503050406030204" pitchFamily="18" charset="0"/>
                        </a:rPr>
                        <m:t>𝑑</m:t>
                      </m:r>
                      <m:r>
                        <a:rPr kumimoji="1" lang="en-US" altLang="zh-CN" i="1">
                          <a:latin typeface="Cambria Math" panose="02040503050406030204" pitchFamily="18" charset="0"/>
                          <a:cs typeface="Cambria Math" panose="02040503050406030204" pitchFamily="18" charset="0"/>
                        </a:rPr>
                        <m:t>=</m:t>
                      </m:r>
                      <m:r>
                        <a:rPr kumimoji="1" lang="en-US" altLang="zh-CN" i="1">
                          <a:latin typeface="Cambria Math" panose="02040503050406030204" pitchFamily="18" charset="0"/>
                          <a:cs typeface="Cambria Math" panose="02040503050406030204" pitchFamily="18" charset="0"/>
                        </a:rPr>
                        <m:t>0</m:t>
                      </m:r>
                      <m:r>
                        <a:rPr kumimoji="1" lang="en-US" altLang="zh-CN" i="1">
                          <a:latin typeface="Cambria Math" panose="02040503050406030204" pitchFamily="18" charset="0"/>
                          <a:cs typeface="Cambria Math" panose="02040503050406030204" pitchFamily="18" charset="0"/>
                        </a:rPr>
                        <m:t>,</m:t>
                      </m:r>
                      <m:r>
                        <a:rPr kumimoji="1"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𝑚</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𝐼</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r>
                        <m:rPr>
                          <m:nor/>
                        </m:rPr>
                        <a:rPr lang="zh-CN" altLang="en-US" dirty="0">
                          <a:latin typeface="+mn-ea"/>
                          <a:cs typeface="宋体" panose="02010600030101010101" pitchFamily="2" charset="-122"/>
                        </a:rPr>
                        <m:t>	</m:t>
                      </m:r>
                    </m:oMath>
                  </m:oMathPara>
                </a14:m>
                <a:endParaRPr lang="zh-CN" altLang="en-US" dirty="0">
                  <a:latin typeface="+mn-ea"/>
                  <a:cs typeface="宋体" panose="02010600030101010101" pitchFamily="2" charset="-122"/>
                </a:endParaRPr>
              </a:p>
              <a:p>
                <a:pPr latinLnBrk="0">
                  <a:lnSpc>
                    <a:spcPct val="150000"/>
                  </a:lnSpc>
                </a:pPr>
                <a:endParaRPr lang="zh-CN" altLang="en-US" dirty="0"/>
              </a:p>
            </p:txBody>
          </p:sp>
        </mc:Choice>
        <mc:Fallback>
          <p:sp>
            <p:nvSpPr>
              <p:cNvPr id="13" name="文本框 12"/>
              <p:cNvSpPr txBox="1">
                <a:spLocks noRot="1" noChangeAspect="1" noMove="1" noResize="1" noEditPoints="1" noAdjustHandles="1" noChangeArrowheads="1" noChangeShapeType="1" noTextEdit="1"/>
              </p:cNvSpPr>
              <p:nvPr/>
            </p:nvSpPr>
            <p:spPr>
              <a:xfrm>
                <a:off x="2087221" y="2617623"/>
                <a:ext cx="4849202" cy="1559401"/>
              </a:xfrm>
              <a:prstGeom prst="rect">
                <a:avLst/>
              </a:prstGeom>
              <a:blipFill rotWithShape="1">
                <a:blip r:embed="rId3"/>
                <a:stretch>
                  <a:fillRect l="-13" t="-10" r="7" b="40"/>
                </a:stretch>
              </a:blipFill>
            </p:spPr>
            <p:txBody>
              <a:bodyPr/>
              <a:lstStyle/>
              <a:p>
                <a:r>
                  <a:rPr lang="zh-CN" altLang="en-US">
                    <a:noFill/>
                  </a:rPr>
                  <a:t> </a:t>
                </a:r>
              </a:p>
            </p:txBody>
          </p:sp>
        </mc:Fallback>
      </mc:AlternateContent>
      <p:sp>
        <p:nvSpPr>
          <p:cNvPr id="14" name="Line 19"/>
          <p:cNvSpPr>
            <a:spLocks noChangeShapeType="1"/>
          </p:cNvSpPr>
          <p:nvPr/>
        </p:nvSpPr>
        <p:spPr bwMode="auto">
          <a:xfrm>
            <a:off x="4390711" y="4057485"/>
            <a:ext cx="2762" cy="212076"/>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15" name="AutoShape 8"/>
              <p:cNvSpPr>
                <a:spLocks noChangeArrowheads="1"/>
              </p:cNvSpPr>
              <p:nvPr/>
            </p:nvSpPr>
            <p:spPr bwMode="auto">
              <a:xfrm>
                <a:off x="3490250" y="4269561"/>
                <a:ext cx="1783071" cy="518593"/>
              </a:xfrm>
              <a:prstGeom prst="flowChartDecision">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14:m>
                  <m:oMath xmlns:m="http://schemas.openxmlformats.org/officeDocument/2006/math">
                    <m:sSup>
                      <m:sSupPr>
                        <m:ctrlPr>
                          <a:rPr lang="zh-CN" altLang="en-US" sz="1800" b="1" i="1">
                            <a:latin typeface="Cambria Math" panose="02040503050406030204" pitchFamily="18" charset="0"/>
                          </a:rPr>
                        </m:ctrlPr>
                      </m:sSupPr>
                      <m:e>
                        <m:r>
                          <a:rPr lang="zh-CN" altLang="en-US" sz="1800" b="1" i="1">
                            <a:latin typeface="Cambria Math" panose="02040503050406030204" pitchFamily="18" charset="0"/>
                          </a:rPr>
                          <m:t>𝒅</m:t>
                        </m:r>
                      </m:e>
                      <m:sup>
                        <m:d>
                          <m:dPr>
                            <m:ctrlPr>
                              <a:rPr lang="zh-CN" altLang="en-US" sz="1800" b="1" i="1">
                                <a:latin typeface="Cambria Math" panose="02040503050406030204" pitchFamily="18" charset="0"/>
                              </a:rPr>
                            </m:ctrlPr>
                          </m:dPr>
                          <m:e>
                            <m:r>
                              <a:rPr lang="zh-CN" altLang="en-US" sz="1800" b="1" i="1">
                                <a:latin typeface="Cambria Math" panose="02040503050406030204" pitchFamily="18" charset="0"/>
                              </a:rPr>
                              <m:t>𝒌</m:t>
                            </m:r>
                          </m:e>
                        </m:d>
                      </m:sup>
                    </m:sSup>
                  </m:oMath>
                </a14:m>
                <a:r>
                  <a:rPr lang="en-US" altLang="zh-CN" sz="1800" b="1" i="1" dirty="0">
                    <a:solidFill>
                      <a:srgbClr val="000000"/>
                    </a:solidFill>
                    <a:latin typeface="Times New Roman" panose="02020603050405020304" pitchFamily="18" charset="0"/>
                    <a:sym typeface="Symbol" panose="05050102010706020507" pitchFamily="18" charset="2"/>
                  </a:rPr>
                  <a:t>=0 ?</a:t>
                </a:r>
                <a:endParaRPr lang="zh-CN" altLang="en-US" sz="1800" b="1" i="1" dirty="0">
                  <a:solidFill>
                    <a:srgbClr val="000000"/>
                  </a:solidFill>
                  <a:latin typeface="Times New Roman" panose="02020603050405020304" pitchFamily="18" charset="0"/>
                  <a:sym typeface="Symbol" panose="05050102010706020507" pitchFamily="18" charset="2"/>
                </a:endParaRPr>
              </a:p>
            </p:txBody>
          </p:sp>
        </mc:Choice>
        <mc:Fallback>
          <p:sp>
            <p:nvSpPr>
              <p:cNvPr id="15" name="AutoShape 8"/>
              <p:cNvSpPr>
                <a:spLocks noRot="1" noChangeAspect="1" noMove="1" noResize="1" noEditPoints="1" noAdjustHandles="1" noChangeArrowheads="1" noChangeShapeType="1" noTextEdit="1"/>
              </p:cNvSpPr>
              <p:nvPr/>
            </p:nvSpPr>
            <p:spPr bwMode="auto">
              <a:xfrm>
                <a:off x="3490250" y="4269561"/>
                <a:ext cx="1783071" cy="518593"/>
              </a:xfrm>
              <a:prstGeom prst="flowChartDecision">
                <a:avLst/>
              </a:prstGeom>
              <a:blipFill rotWithShape="1">
                <a:blip r:embed="rId4"/>
                <a:stretch>
                  <a:fillRect l="-2901" t="-2904" r="-2869" b="-2767"/>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6" name="Text Box 25"/>
          <p:cNvSpPr txBox="1">
            <a:spLocks noChangeArrowheads="1"/>
          </p:cNvSpPr>
          <p:nvPr/>
        </p:nvSpPr>
        <p:spPr bwMode="auto">
          <a:xfrm>
            <a:off x="3934803" y="4757231"/>
            <a:ext cx="37189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8" rIns="92075" bIns="46038"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2000" b="1" dirty="0">
                <a:latin typeface="Times New Roman" panose="02020603050405020304" pitchFamily="18" charset="0"/>
              </a:rPr>
              <a:t>Y</a:t>
            </a:r>
            <a:endParaRPr lang="en-US" altLang="zh-CN" sz="2000" dirty="0">
              <a:latin typeface="Times New Roman" panose="02020603050405020304" pitchFamily="18" charset="0"/>
            </a:endParaRPr>
          </a:p>
        </p:txBody>
      </p:sp>
      <p:sp>
        <p:nvSpPr>
          <p:cNvPr id="17" name="Line 20"/>
          <p:cNvSpPr>
            <a:spLocks noChangeShapeType="1"/>
          </p:cNvSpPr>
          <p:nvPr/>
        </p:nvSpPr>
        <p:spPr bwMode="auto">
          <a:xfrm>
            <a:off x="4387494" y="4798187"/>
            <a:ext cx="6434" cy="357963"/>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20" name="AutoShape 13"/>
              <p:cNvSpPr>
                <a:spLocks noChangeArrowheads="1"/>
              </p:cNvSpPr>
              <p:nvPr/>
            </p:nvSpPr>
            <p:spPr bwMode="auto">
              <a:xfrm>
                <a:off x="3779424" y="5166183"/>
                <a:ext cx="1222573" cy="401637"/>
              </a:xfrm>
              <a:prstGeom prst="flowChartProcess">
                <a:avLst/>
              </a:prstGeom>
              <a:solidFill>
                <a:srgbClr val="CCFFCC"/>
              </a:solidFill>
              <a:ln w="28575" cap="sq">
                <a:solidFill>
                  <a:srgbClr val="00FF00"/>
                </a:solidFill>
                <a:miter lim="800000"/>
              </a:ln>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ea typeface="+mn-ea"/>
                              <a:cs typeface="Cambria Math" panose="02040503050406030204" pitchFamily="18" charset="0"/>
                            </a:rPr>
                          </m:ctrlPr>
                        </m:sSupPr>
                        <m:e>
                          <m:r>
                            <a:rPr lang="en-US" altLang="zh-CN" sz="2000" i="1">
                              <a:latin typeface="Cambria Math" panose="02040503050406030204" pitchFamily="18" charset="0"/>
                              <a:ea typeface="+mn-ea"/>
                              <a:cs typeface="Cambria Math" panose="02040503050406030204" pitchFamily="18" charset="0"/>
                            </a:rPr>
                            <m:t>𝜆</m:t>
                          </m:r>
                        </m:e>
                        <m:sup>
                          <m:r>
                            <a:rPr lang="en-US" altLang="zh-CN" sz="2000" i="1">
                              <a:latin typeface="Cambria Math" panose="02040503050406030204" pitchFamily="18" charset="0"/>
                              <a:ea typeface="+mn-ea"/>
                              <a:cs typeface="Cambria Math" panose="02040503050406030204" pitchFamily="18" charset="0"/>
                            </a:rPr>
                            <m:t>(</m:t>
                          </m:r>
                          <m:r>
                            <a:rPr lang="en-US" altLang="zh-CN" sz="2000" i="1">
                              <a:latin typeface="Cambria Math" panose="02040503050406030204" pitchFamily="18" charset="0"/>
                              <a:ea typeface="+mn-ea"/>
                              <a:cs typeface="Cambria Math" panose="02040503050406030204" pitchFamily="18" charset="0"/>
                            </a:rPr>
                            <m:t>𝑘</m:t>
                          </m:r>
                          <m:r>
                            <a:rPr lang="en-US" altLang="zh-CN" sz="2000" i="1">
                              <a:latin typeface="Cambria Math" panose="02040503050406030204" pitchFamily="18" charset="0"/>
                              <a:ea typeface="+mn-ea"/>
                              <a:cs typeface="Cambria Math" panose="02040503050406030204" pitchFamily="18" charset="0"/>
                            </a:rPr>
                            <m:t>)</m:t>
                          </m:r>
                        </m:sup>
                      </m:sSup>
                    </m:oMath>
                  </m:oMathPara>
                </a14:m>
                <a:endParaRPr lang="en-US" altLang="zh-CN" sz="2000" b="1" i="1" baseline="30000" dirty="0">
                  <a:solidFill>
                    <a:srgbClr val="000000"/>
                  </a:solidFill>
                  <a:latin typeface="Times New Roman" panose="02020603050405020304" pitchFamily="18" charset="0"/>
                </a:endParaRPr>
              </a:p>
            </p:txBody>
          </p:sp>
        </mc:Choice>
        <mc:Fallback>
          <p:sp>
            <p:nvSpPr>
              <p:cNvPr id="20" name="AutoShape 13"/>
              <p:cNvSpPr>
                <a:spLocks noRot="1" noChangeAspect="1" noMove="1" noResize="1" noEditPoints="1" noAdjustHandles="1" noChangeArrowheads="1" noChangeShapeType="1" noTextEdit="1"/>
              </p:cNvSpPr>
              <p:nvPr/>
            </p:nvSpPr>
            <p:spPr bwMode="auto">
              <a:xfrm>
                <a:off x="3779424" y="5166183"/>
                <a:ext cx="1222573" cy="401637"/>
              </a:xfrm>
              <a:prstGeom prst="flowChartProcess">
                <a:avLst/>
              </a:prstGeom>
              <a:blipFill rotWithShape="1">
                <a:blip r:embed="rId5"/>
                <a:stretch>
                  <a:fillRect l="-1187" t="-4699" r="-1134" b="-3443"/>
                </a:stretch>
              </a:blipFill>
              <a:ln w="28575" cap="sq">
                <a:solidFill>
                  <a:srgbClr val="00FF00"/>
                </a:solidFill>
                <a:miter lim="800000"/>
              </a:ln>
            </p:spPr>
            <p:txBody>
              <a:bodyPr/>
              <a:lstStyle/>
              <a:p>
                <a:r>
                  <a:rPr lang="zh-CN" altLang="en-US">
                    <a:noFill/>
                  </a:rPr>
                  <a:t> </a:t>
                </a:r>
              </a:p>
            </p:txBody>
          </p:sp>
        </mc:Fallback>
      </mc:AlternateContent>
      <p:sp>
        <p:nvSpPr>
          <p:cNvPr id="21" name="Line 19"/>
          <p:cNvSpPr>
            <a:spLocks noChangeShapeType="1"/>
          </p:cNvSpPr>
          <p:nvPr/>
        </p:nvSpPr>
        <p:spPr bwMode="auto">
          <a:xfrm>
            <a:off x="4390711" y="5550913"/>
            <a:ext cx="2762" cy="212076"/>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22" name="AutoShape 8"/>
              <p:cNvSpPr>
                <a:spLocks noChangeArrowheads="1"/>
              </p:cNvSpPr>
              <p:nvPr/>
            </p:nvSpPr>
            <p:spPr bwMode="auto">
              <a:xfrm>
                <a:off x="3490250" y="5762989"/>
                <a:ext cx="1783071" cy="518593"/>
              </a:xfrm>
              <a:prstGeom prst="flowChartDecision">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14:m>
                  <m:oMath xmlns:m="http://schemas.openxmlformats.org/officeDocument/2006/math">
                    <m:sSup>
                      <m:sSupPr>
                        <m:ctrlPr>
                          <a:rPr lang="zh-CN" altLang="en-US" sz="1800" b="1" i="1">
                            <a:latin typeface="Cambria Math" panose="02040503050406030204" pitchFamily="18" charset="0"/>
                          </a:rPr>
                        </m:ctrlPr>
                      </m:sSupPr>
                      <m:e>
                        <m:r>
                          <a:rPr lang="en-US" altLang="zh-CN" sz="1800" i="1">
                            <a:latin typeface="Cambria Math" panose="02040503050406030204" pitchFamily="18" charset="0"/>
                            <a:cs typeface="Cambria Math" panose="02040503050406030204" pitchFamily="18" charset="0"/>
                          </a:rPr>
                          <m:t>𝜆</m:t>
                        </m:r>
                      </m:e>
                      <m:sup>
                        <m:d>
                          <m:dPr>
                            <m:ctrlPr>
                              <a:rPr lang="zh-CN" altLang="en-US" sz="1800" b="1" i="1">
                                <a:latin typeface="Cambria Math" panose="02040503050406030204" pitchFamily="18" charset="0"/>
                              </a:rPr>
                            </m:ctrlPr>
                          </m:dPr>
                          <m:e>
                            <m:r>
                              <a:rPr lang="zh-CN" altLang="en-US" sz="1800" b="1" i="1">
                                <a:latin typeface="Cambria Math" panose="02040503050406030204" pitchFamily="18" charset="0"/>
                              </a:rPr>
                              <m:t>𝒌</m:t>
                            </m:r>
                          </m:e>
                        </m:d>
                      </m:sup>
                    </m:sSup>
                    <m:r>
                      <a:rPr lang="en-US" altLang="zh-CN" sz="1800" b="1" i="1" dirty="0">
                        <a:solidFill>
                          <a:srgbClr val="000000"/>
                        </a:solidFill>
                        <a:latin typeface="Cambria Math" panose="02040503050406030204" pitchFamily="18" charset="0"/>
                        <a:ea typeface="Cambria Math" panose="02040503050406030204" pitchFamily="18" charset="0"/>
                        <a:sym typeface="Symbol" panose="05050102010706020507" pitchFamily="18" charset="2"/>
                      </a:rPr>
                      <m:t>≥</m:t>
                    </m:r>
                  </m:oMath>
                </a14:m>
                <a:r>
                  <a:rPr lang="en-US" altLang="zh-CN" sz="1800" b="1" i="1" dirty="0">
                    <a:solidFill>
                      <a:srgbClr val="000000"/>
                    </a:solidFill>
                    <a:latin typeface="Times New Roman" panose="02020603050405020304" pitchFamily="18" charset="0"/>
                    <a:sym typeface="Symbol" panose="05050102010706020507" pitchFamily="18" charset="2"/>
                  </a:rPr>
                  <a:t>0 ?</a:t>
                </a:r>
                <a:endParaRPr lang="zh-CN" altLang="en-US" sz="1800" b="1" i="1" dirty="0">
                  <a:solidFill>
                    <a:srgbClr val="000000"/>
                  </a:solidFill>
                  <a:latin typeface="Times New Roman" panose="02020603050405020304" pitchFamily="18" charset="0"/>
                  <a:sym typeface="Symbol" panose="05050102010706020507" pitchFamily="18" charset="2"/>
                </a:endParaRPr>
              </a:p>
            </p:txBody>
          </p:sp>
        </mc:Choice>
        <mc:Fallback>
          <p:sp>
            <p:nvSpPr>
              <p:cNvPr id="22" name="AutoShape 8"/>
              <p:cNvSpPr>
                <a:spLocks noRot="1" noChangeAspect="1" noMove="1" noResize="1" noEditPoints="1" noAdjustHandles="1" noChangeArrowheads="1" noChangeShapeType="1" noTextEdit="1"/>
              </p:cNvSpPr>
              <p:nvPr/>
            </p:nvSpPr>
            <p:spPr bwMode="auto">
              <a:xfrm>
                <a:off x="3490250" y="5762989"/>
                <a:ext cx="1783071" cy="518593"/>
              </a:xfrm>
              <a:prstGeom prst="flowChartDecision">
                <a:avLst/>
              </a:prstGeom>
              <a:blipFill rotWithShape="1">
                <a:blip r:embed="rId6"/>
                <a:stretch>
                  <a:fillRect l="-2901" t="-2886" r="-2869" b="-2785"/>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3" name="Text Box 25"/>
          <p:cNvSpPr txBox="1">
            <a:spLocks noChangeArrowheads="1"/>
          </p:cNvSpPr>
          <p:nvPr/>
        </p:nvSpPr>
        <p:spPr bwMode="auto">
          <a:xfrm>
            <a:off x="5261011" y="5660241"/>
            <a:ext cx="37189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8" rIns="92075" bIns="46038"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2000" b="1" dirty="0">
                <a:latin typeface="Times New Roman" panose="02020603050405020304" pitchFamily="18" charset="0"/>
              </a:rPr>
              <a:t>Y</a:t>
            </a:r>
            <a:endParaRPr lang="en-US" altLang="zh-CN" sz="2000" dirty="0">
              <a:latin typeface="Times New Roman" panose="02020603050405020304" pitchFamily="18" charset="0"/>
            </a:endParaRPr>
          </a:p>
        </p:txBody>
      </p:sp>
      <p:sp>
        <p:nvSpPr>
          <p:cNvPr id="24" name="Line 20"/>
          <p:cNvSpPr>
            <a:spLocks noChangeShapeType="1"/>
          </p:cNvSpPr>
          <p:nvPr/>
        </p:nvSpPr>
        <p:spPr bwMode="auto">
          <a:xfrm flipH="1" flipV="1">
            <a:off x="3217953" y="6022284"/>
            <a:ext cx="289354" cy="0"/>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AutoShape 9"/>
          <p:cNvSpPr>
            <a:spLocks noChangeArrowheads="1"/>
          </p:cNvSpPr>
          <p:nvPr/>
        </p:nvSpPr>
        <p:spPr bwMode="auto">
          <a:xfrm>
            <a:off x="5591944" y="5660101"/>
            <a:ext cx="915479" cy="505935"/>
          </a:xfrm>
          <a:prstGeom prst="flowChartInputOutput">
            <a:avLst/>
          </a:prstGeom>
          <a:solidFill>
            <a:srgbClr val="CCFFCC"/>
          </a:solidFill>
          <a:ln w="28575" cap="sq">
            <a:solidFill>
              <a:srgbClr val="00FF00"/>
            </a:solidFill>
            <a:miter lim="800000"/>
          </a:ln>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2000" b="1" i="1" dirty="0">
                <a:solidFill>
                  <a:srgbClr val="000000"/>
                </a:solidFill>
                <a:latin typeface="Times New Roman" panose="02020603050405020304" pitchFamily="18" charset="0"/>
              </a:rPr>
              <a:t>x*=x</a:t>
            </a:r>
            <a:r>
              <a:rPr lang="en-US" altLang="en-US" sz="2000" b="1" i="1" baseline="30000" dirty="0">
                <a:solidFill>
                  <a:srgbClr val="000000"/>
                </a:solidFill>
                <a:latin typeface="Times New Roman" panose="02020603050405020304" pitchFamily="18" charset="0"/>
              </a:rPr>
              <a:t>(</a:t>
            </a:r>
            <a:r>
              <a:rPr lang="en-US" altLang="zh-CN" sz="2000" b="1" i="1" baseline="30000" dirty="0">
                <a:solidFill>
                  <a:srgbClr val="000000"/>
                </a:solidFill>
                <a:latin typeface="Times New Roman" panose="02020603050405020304" pitchFamily="18" charset="0"/>
              </a:rPr>
              <a:t>k</a:t>
            </a:r>
            <a:r>
              <a:rPr lang="en-US" altLang="en-US" sz="2000" b="1" i="1" baseline="30000" dirty="0">
                <a:solidFill>
                  <a:srgbClr val="000000"/>
                </a:solidFill>
                <a:latin typeface="Times New Roman" panose="02020603050405020304" pitchFamily="18" charset="0"/>
              </a:rPr>
              <a:t>)</a:t>
            </a:r>
            <a:endParaRPr lang="en-US" altLang="en-US" sz="2000" b="1" i="1" dirty="0">
              <a:solidFill>
                <a:srgbClr val="000000"/>
              </a:solidFill>
              <a:latin typeface="Times New Roman" panose="02020603050405020304" pitchFamily="18" charset="0"/>
            </a:endParaRPr>
          </a:p>
        </p:txBody>
      </p:sp>
      <p:sp>
        <p:nvSpPr>
          <p:cNvPr id="26" name="AutoShape 10"/>
          <p:cNvSpPr>
            <a:spLocks noChangeArrowheads="1"/>
          </p:cNvSpPr>
          <p:nvPr/>
        </p:nvSpPr>
        <p:spPr bwMode="auto">
          <a:xfrm>
            <a:off x="5325131" y="6373734"/>
            <a:ext cx="1270000" cy="344487"/>
          </a:xfrm>
          <a:prstGeom prst="flowChartTerminator">
            <a:avLst/>
          </a:prstGeom>
          <a:solidFill>
            <a:srgbClr val="CCFFCC"/>
          </a:solidFill>
          <a:ln w="28575" cap="sq">
            <a:solidFill>
              <a:srgbClr val="00FF00"/>
            </a:solidFill>
            <a:miter lim="800000"/>
          </a:ln>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2000" b="1" dirty="0">
                <a:solidFill>
                  <a:srgbClr val="000000"/>
                </a:solidFill>
                <a:latin typeface="Times New Roman" panose="02020603050405020304" pitchFamily="18" charset="0"/>
              </a:rPr>
              <a:t>出口</a:t>
            </a:r>
            <a:endParaRPr lang="zh-CN" altLang="en-US" sz="2000" dirty="0">
              <a:solidFill>
                <a:srgbClr val="000000"/>
              </a:solidFill>
              <a:latin typeface="Times New Roman" panose="02020603050405020304" pitchFamily="18" charset="0"/>
            </a:endParaRPr>
          </a:p>
        </p:txBody>
      </p:sp>
      <p:sp>
        <p:nvSpPr>
          <p:cNvPr id="27" name="Line 19"/>
          <p:cNvSpPr>
            <a:spLocks noChangeShapeType="1"/>
          </p:cNvSpPr>
          <p:nvPr/>
        </p:nvSpPr>
        <p:spPr bwMode="auto">
          <a:xfrm>
            <a:off x="5949534" y="6225119"/>
            <a:ext cx="0" cy="118674"/>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23"/>
          <p:cNvSpPr>
            <a:spLocks noChangeShapeType="1"/>
          </p:cNvSpPr>
          <p:nvPr/>
        </p:nvSpPr>
        <p:spPr bwMode="auto">
          <a:xfrm flipV="1">
            <a:off x="5273321" y="6022284"/>
            <a:ext cx="371897" cy="0"/>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0" name="组合 29"/>
          <p:cNvGrpSpPr/>
          <p:nvPr/>
        </p:nvGrpSpPr>
        <p:grpSpPr>
          <a:xfrm>
            <a:off x="-297715" y="5085297"/>
            <a:ext cx="4096370" cy="1632924"/>
            <a:chOff x="6520535" y="716694"/>
            <a:chExt cx="4262908" cy="1690589"/>
          </a:xfrm>
        </p:grpSpPr>
        <p:sp>
          <p:nvSpPr>
            <p:cNvPr id="31" name="AutoShape 20"/>
            <p:cNvSpPr>
              <a:spLocks noChangeArrowheads="1"/>
            </p:cNvSpPr>
            <p:nvPr/>
          </p:nvSpPr>
          <p:spPr bwMode="auto">
            <a:xfrm>
              <a:off x="6986948" y="716694"/>
              <a:ext cx="3165362" cy="1690589"/>
            </a:xfrm>
            <a:prstGeom prst="flowChartProcess">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a:p>
          </p:txBody>
        </p:sp>
        <mc:AlternateContent xmlns:mc="http://schemas.openxmlformats.org/markup-compatibility/2006">
          <mc:Choice xmlns:a14="http://schemas.microsoft.com/office/drawing/2010/main" Requires="a14">
            <p:sp>
              <p:nvSpPr>
                <p:cNvPr id="32" name="文本框 31"/>
                <p:cNvSpPr txBox="1"/>
                <p:nvPr/>
              </p:nvSpPr>
              <p:spPr>
                <a:xfrm>
                  <a:off x="6520535" y="804836"/>
                  <a:ext cx="4262908" cy="1519342"/>
                </a:xfrm>
                <a:prstGeom prst="rect">
                  <a:avLst/>
                </a:prstGeom>
                <a:noFill/>
              </p:spPr>
              <p:txBody>
                <a:bodyPr wrap="square" rtlCol="0">
                  <a:spAutoFit/>
                </a:bodyPr>
                <a:lstStyle/>
                <a:p>
                  <a:pPr latinLnBrk="0">
                    <a:lnSpc>
                      <a:spcPct val="110000"/>
                    </a:lnSpc>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𝜆</m:t>
                            </m:r>
                          </m:e>
                          <m:sub>
                            <m:r>
                              <a:rPr lang="en-US" altLang="zh-CN" i="1">
                                <a:latin typeface="Cambria Math" panose="02040503050406030204" pitchFamily="18" charset="0"/>
                                <a:cs typeface="Cambria Math" panose="02040503050406030204" pitchFamily="18" charset="0"/>
                              </a:rPr>
                              <m:t>𝑞</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sup>
                        </m:sSub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𝜆</m:t>
                            </m:r>
                          </m:e>
                          <m:sub>
                            <m:r>
                              <a:rPr lang="en-US" altLang="zh-CN" i="1">
                                <a:latin typeface="Cambria Math" panose="02040503050406030204" pitchFamily="18" charset="0"/>
                                <a:cs typeface="Cambria Math" panose="02040503050406030204" pitchFamily="18" charset="0"/>
                              </a:rPr>
                              <m:t>𝑖</m:t>
                            </m:r>
                          </m:sub>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sup>
                        </m:sSubSup>
                        <m:r>
                          <a:rPr lang="en-US" altLang="zh-CN" i="1">
                            <a:latin typeface="Cambria Math" panose="02040503050406030204" pitchFamily="18" charset="0"/>
                            <a:cs typeface="Cambria Math" panose="02040503050406030204" pitchFamily="18" charset="0"/>
                          </a:rPr>
                          <m:t>|</m:t>
                        </m:r>
                        <m:r>
                          <a:rPr kumimoji="1"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𝐼</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𝑥</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oMath>
                    </m:oMathPara>
                  </a14:m>
                  <a:endParaRPr lang="en-US" altLang="zh-CN" i="1" dirty="0">
                    <a:latin typeface="Cambria Math" panose="02040503050406030204" pitchFamily="18" charset="0"/>
                    <a:cs typeface="Cambria Math" panose="02040503050406030204" pitchFamily="18" charset="0"/>
                  </a:endParaRPr>
                </a:p>
                <a:p>
                  <a:pPr latinLnBrk="0">
                    <a:lnSpc>
                      <a:spcPct val="110000"/>
                    </a:lnSpc>
                  </a:pPr>
                  <a14:m>
                    <m:oMathPara xmlns:m="http://schemas.openxmlformats.org/officeDocument/2006/math">
                      <m:oMathParaPr>
                        <m:jc m:val="centerGroup"/>
                      </m:oMathParaPr>
                      <m:oMath xmlns:m="http://schemas.openxmlformats.org/officeDocument/2006/math">
                        <m:sSup>
                          <m:sSupPr>
                            <m:ctrlPr>
                              <a:rPr lang="en-US" altLang="zh-CN" sz="1800" i="1" smtClean="0">
                                <a:latin typeface="Cambria Math" panose="02040503050406030204" pitchFamily="18" charset="0"/>
                                <a:ea typeface="+mn-ea"/>
                                <a:cs typeface="Cambria Math" panose="02040503050406030204" pitchFamily="18" charset="0"/>
                              </a:rPr>
                            </m:ctrlPr>
                          </m:sSupPr>
                          <m:e>
                            <m:r>
                              <a:rPr lang="en-US" altLang="zh-CN" sz="1800" i="1">
                                <a:latin typeface="Cambria Math" panose="02040503050406030204" pitchFamily="18" charset="0"/>
                                <a:ea typeface="+mn-ea"/>
                                <a:cs typeface="Cambria Math" panose="02040503050406030204" pitchFamily="18" charset="0"/>
                              </a:rPr>
                              <m:t>𝑥</m:t>
                            </m:r>
                          </m:e>
                          <m:sup>
                            <m:r>
                              <a:rPr lang="en-US" altLang="zh-CN" sz="1800" i="1">
                                <a:latin typeface="Cambria Math" panose="02040503050406030204" pitchFamily="18" charset="0"/>
                                <a:ea typeface="+mn-ea"/>
                                <a:cs typeface="Cambria Math" panose="02040503050406030204" pitchFamily="18" charset="0"/>
                              </a:rPr>
                              <m:t>(</m:t>
                            </m:r>
                            <m:r>
                              <a:rPr lang="en-US" altLang="zh-CN" sz="1800" i="1">
                                <a:latin typeface="Cambria Math" panose="02040503050406030204" pitchFamily="18" charset="0"/>
                                <a:ea typeface="+mn-ea"/>
                                <a:cs typeface="Cambria Math" panose="02040503050406030204" pitchFamily="18" charset="0"/>
                              </a:rPr>
                              <m:t>𝑘</m:t>
                            </m:r>
                            <m:r>
                              <a:rPr lang="en-US" altLang="zh-CN" sz="1800" i="1">
                                <a:latin typeface="Cambria Math" panose="02040503050406030204" pitchFamily="18" charset="0"/>
                                <a:ea typeface="+mn-ea"/>
                                <a:cs typeface="Cambria Math" panose="02040503050406030204" pitchFamily="18" charset="0"/>
                              </a:rPr>
                              <m:t>+</m:t>
                            </m:r>
                            <m:r>
                              <a:rPr lang="en-US" altLang="zh-CN" sz="1800" i="1">
                                <a:latin typeface="Cambria Math" panose="02040503050406030204" pitchFamily="18" charset="0"/>
                                <a:ea typeface="+mn-ea"/>
                                <a:cs typeface="Cambria Math" panose="02040503050406030204" pitchFamily="18" charset="0"/>
                              </a:rPr>
                              <m:t>1</m:t>
                            </m:r>
                            <m:r>
                              <a:rPr lang="en-US" altLang="zh-CN" sz="1800" i="1">
                                <a:latin typeface="Cambria Math" panose="02040503050406030204" pitchFamily="18" charset="0"/>
                                <a:ea typeface="+mn-ea"/>
                                <a:cs typeface="Cambria Math" panose="02040503050406030204" pitchFamily="18" charset="0"/>
                              </a:rPr>
                              <m:t>)</m:t>
                            </m:r>
                          </m:sup>
                        </m:sSup>
                        <m:r>
                          <a:rPr lang="en-US" altLang="zh-CN" sz="1800" i="1">
                            <a:latin typeface="Cambria Math" panose="02040503050406030204" pitchFamily="18" charset="0"/>
                            <a:ea typeface="+mn-ea"/>
                            <a:cs typeface="Cambria Math" panose="02040503050406030204" pitchFamily="18" charset="0"/>
                          </a:rPr>
                          <m:t>=</m:t>
                        </m:r>
                        <m:sSup>
                          <m:sSupPr>
                            <m:ctrlPr>
                              <a:rPr lang="en-US" altLang="zh-CN" sz="1800" i="1">
                                <a:latin typeface="Cambria Math" panose="02040503050406030204" pitchFamily="18" charset="0"/>
                                <a:ea typeface="+mn-ea"/>
                                <a:cs typeface="Cambria Math" panose="02040503050406030204" pitchFamily="18" charset="0"/>
                              </a:rPr>
                            </m:ctrlPr>
                          </m:sSupPr>
                          <m:e>
                            <m:r>
                              <a:rPr lang="en-US" altLang="zh-CN" sz="1800" i="1">
                                <a:latin typeface="Cambria Math" panose="02040503050406030204" pitchFamily="18" charset="0"/>
                                <a:ea typeface="+mn-ea"/>
                                <a:cs typeface="Cambria Math" panose="02040503050406030204" pitchFamily="18" charset="0"/>
                              </a:rPr>
                              <m:t>𝑥</m:t>
                            </m:r>
                          </m:e>
                          <m:sup>
                            <m:r>
                              <a:rPr lang="en-US" altLang="zh-CN" sz="1800" i="1">
                                <a:latin typeface="Cambria Math" panose="02040503050406030204" pitchFamily="18" charset="0"/>
                                <a:ea typeface="+mn-ea"/>
                                <a:cs typeface="Cambria Math" panose="02040503050406030204" pitchFamily="18" charset="0"/>
                              </a:rPr>
                              <m:t>(</m:t>
                            </m:r>
                            <m:r>
                              <a:rPr lang="en-US" altLang="zh-CN" sz="1800" i="1">
                                <a:latin typeface="Cambria Math" panose="02040503050406030204" pitchFamily="18" charset="0"/>
                                <a:ea typeface="+mn-ea"/>
                                <a:cs typeface="Cambria Math" panose="02040503050406030204" pitchFamily="18" charset="0"/>
                              </a:rPr>
                              <m:t>𝑘</m:t>
                            </m:r>
                            <m:r>
                              <a:rPr lang="en-US" altLang="zh-CN" sz="1800" i="1">
                                <a:latin typeface="Cambria Math" panose="02040503050406030204" pitchFamily="18" charset="0"/>
                                <a:ea typeface="+mn-ea"/>
                                <a:cs typeface="Cambria Math" panose="02040503050406030204" pitchFamily="18" charset="0"/>
                              </a:rPr>
                              <m:t>)</m:t>
                            </m:r>
                          </m:sup>
                        </m:sSup>
                      </m:oMath>
                    </m:oMathPara>
                  </a14:m>
                  <a:endParaRPr lang="en-US" altLang="zh-CN" sz="1800" i="1" dirty="0">
                    <a:latin typeface="Cambria Math" panose="02040503050406030204" pitchFamily="18" charset="0"/>
                    <a:ea typeface="+mn-ea"/>
                    <a:cs typeface="Cambria Math" panose="02040503050406030204" pitchFamily="18" charset="0"/>
                  </a:endParaRPr>
                </a:p>
                <a:p>
                  <a:pPr latinLnBrk="0">
                    <a:lnSpc>
                      <a:spcPct val="110000"/>
                    </a:lnSpc>
                  </a:pPr>
                  <a14:m>
                    <m:oMathPara xmlns:m="http://schemas.openxmlformats.org/officeDocument/2006/math">
                      <m:oMathParaPr>
                        <m:jc m:val="centerGroup"/>
                      </m:oMathParaPr>
                      <m:oMath xmlns:m="http://schemas.openxmlformats.org/officeDocument/2006/math">
                        <m:r>
                          <a:rPr lang="en-US" altLang="zh-CN" sz="1800" i="1" smtClean="0">
                            <a:latin typeface="Cambria Math" panose="02040503050406030204" pitchFamily="18" charset="0"/>
                            <a:ea typeface="+mn-ea"/>
                            <a:cs typeface="Cambria Math" panose="02040503050406030204" pitchFamily="18" charset="0"/>
                          </a:rPr>
                          <m:t>𝐼</m:t>
                        </m:r>
                        <m:d>
                          <m:dPr>
                            <m:ctrlPr>
                              <a:rPr lang="en-US" altLang="zh-CN" sz="1800" i="1" smtClean="0">
                                <a:latin typeface="Cambria Math" panose="02040503050406030204" pitchFamily="18" charset="0"/>
                                <a:ea typeface="+mn-ea"/>
                                <a:cs typeface="Cambria Math" panose="02040503050406030204" pitchFamily="18" charset="0"/>
                              </a:rPr>
                            </m:ctrlPr>
                          </m:dPr>
                          <m:e>
                            <m:sSup>
                              <m:sSupPr>
                                <m:ctrlPr>
                                  <a:rPr lang="en-US" altLang="zh-CN" sz="1800" i="1">
                                    <a:latin typeface="Cambria Math" panose="02040503050406030204" pitchFamily="18" charset="0"/>
                                    <a:ea typeface="+mn-ea"/>
                                    <a:cs typeface="Cambria Math" panose="02040503050406030204" pitchFamily="18" charset="0"/>
                                  </a:rPr>
                                </m:ctrlPr>
                              </m:sSupPr>
                              <m:e>
                                <m:r>
                                  <a:rPr lang="en-US" altLang="zh-CN" sz="1800" i="1">
                                    <a:latin typeface="Cambria Math" panose="02040503050406030204" pitchFamily="18" charset="0"/>
                                    <a:ea typeface="+mn-ea"/>
                                    <a:cs typeface="Cambria Math" panose="02040503050406030204" pitchFamily="18" charset="0"/>
                                  </a:rPr>
                                  <m:t>𝑥</m:t>
                                </m:r>
                              </m:e>
                              <m:sup>
                                <m:d>
                                  <m:dPr>
                                    <m:ctrlPr>
                                      <a:rPr lang="en-US" altLang="zh-CN" sz="1800" i="1">
                                        <a:latin typeface="Cambria Math" panose="02040503050406030204" pitchFamily="18" charset="0"/>
                                        <a:ea typeface="+mn-ea"/>
                                        <a:cs typeface="Cambria Math" panose="02040503050406030204" pitchFamily="18" charset="0"/>
                                      </a:rPr>
                                    </m:ctrlPr>
                                  </m:dPr>
                                  <m:e>
                                    <m:r>
                                      <a:rPr lang="en-US" altLang="zh-CN" sz="1800" i="1">
                                        <a:latin typeface="Cambria Math" panose="02040503050406030204" pitchFamily="18" charset="0"/>
                                        <a:ea typeface="+mn-ea"/>
                                        <a:cs typeface="Cambria Math" panose="02040503050406030204" pitchFamily="18" charset="0"/>
                                      </a:rPr>
                                      <m:t>𝑘</m:t>
                                    </m:r>
                                    <m:r>
                                      <a:rPr lang="en-US" altLang="zh-CN" sz="1800" i="1">
                                        <a:latin typeface="Cambria Math" panose="02040503050406030204" pitchFamily="18" charset="0"/>
                                        <a:ea typeface="+mn-ea"/>
                                        <a:cs typeface="Cambria Math" panose="02040503050406030204" pitchFamily="18" charset="0"/>
                                      </a:rPr>
                                      <m:t>+</m:t>
                                    </m:r>
                                    <m:r>
                                      <a:rPr lang="en-US" altLang="zh-CN" sz="1800" i="1">
                                        <a:latin typeface="Cambria Math" panose="02040503050406030204" pitchFamily="18" charset="0"/>
                                        <a:ea typeface="+mn-ea"/>
                                        <a:cs typeface="Cambria Math" panose="02040503050406030204" pitchFamily="18" charset="0"/>
                                      </a:rPr>
                                      <m:t>1</m:t>
                                    </m:r>
                                  </m:e>
                                </m:d>
                              </m:sup>
                            </m:sSup>
                          </m:e>
                        </m:d>
                        <m:r>
                          <a:rPr lang="en-US" altLang="zh-CN" sz="1800" i="1" smtClean="0">
                            <a:latin typeface="Cambria Math" panose="02040503050406030204" pitchFamily="18" charset="0"/>
                            <a:ea typeface="+mn-ea"/>
                            <a:cs typeface="Cambria Math" panose="02040503050406030204" pitchFamily="18" charset="0"/>
                          </a:rPr>
                          <m:t>=</m:t>
                        </m:r>
                        <m:r>
                          <a:rPr lang="en-US" altLang="zh-CN" sz="1800" i="1" smtClean="0">
                            <a:latin typeface="Cambria Math" panose="02040503050406030204" pitchFamily="18" charset="0"/>
                            <a:ea typeface="+mn-ea"/>
                            <a:cs typeface="Cambria Math" panose="02040503050406030204" pitchFamily="18" charset="0"/>
                          </a:rPr>
                          <m:t>𝐼</m:t>
                        </m:r>
                        <m:d>
                          <m:dPr>
                            <m:ctrlPr>
                              <a:rPr lang="en-US" altLang="zh-CN" sz="1800" i="1" smtClean="0">
                                <a:latin typeface="Cambria Math" panose="02040503050406030204" pitchFamily="18" charset="0"/>
                                <a:ea typeface="+mn-ea"/>
                                <a:cs typeface="Cambria Math" panose="02040503050406030204" pitchFamily="18" charset="0"/>
                              </a:rPr>
                            </m:ctrlPr>
                          </m:dPr>
                          <m:e>
                            <m:sSup>
                              <m:sSupPr>
                                <m:ctrlPr>
                                  <a:rPr lang="en-US" altLang="zh-CN" sz="1800" i="1">
                                    <a:latin typeface="Cambria Math" panose="02040503050406030204" pitchFamily="18" charset="0"/>
                                    <a:ea typeface="+mn-ea"/>
                                    <a:cs typeface="Cambria Math" panose="02040503050406030204" pitchFamily="18" charset="0"/>
                                  </a:rPr>
                                </m:ctrlPr>
                              </m:sSupPr>
                              <m:e>
                                <m:r>
                                  <a:rPr lang="en-US" altLang="zh-CN" sz="1800" i="1">
                                    <a:latin typeface="Cambria Math" panose="02040503050406030204" pitchFamily="18" charset="0"/>
                                    <a:ea typeface="+mn-ea"/>
                                    <a:cs typeface="Cambria Math" panose="02040503050406030204" pitchFamily="18" charset="0"/>
                                  </a:rPr>
                                  <m:t>𝑥</m:t>
                                </m:r>
                              </m:e>
                              <m:sup>
                                <m:d>
                                  <m:dPr>
                                    <m:ctrlPr>
                                      <a:rPr lang="en-US" altLang="zh-CN" sz="1800" i="1">
                                        <a:latin typeface="Cambria Math" panose="02040503050406030204" pitchFamily="18" charset="0"/>
                                        <a:ea typeface="+mn-ea"/>
                                        <a:cs typeface="Cambria Math" panose="02040503050406030204" pitchFamily="18" charset="0"/>
                                      </a:rPr>
                                    </m:ctrlPr>
                                  </m:dPr>
                                  <m:e>
                                    <m:r>
                                      <a:rPr lang="en-US" altLang="zh-CN" sz="1800" i="1">
                                        <a:latin typeface="Cambria Math" panose="02040503050406030204" pitchFamily="18" charset="0"/>
                                        <a:ea typeface="+mn-ea"/>
                                        <a:cs typeface="Cambria Math" panose="02040503050406030204" pitchFamily="18" charset="0"/>
                                      </a:rPr>
                                      <m:t>𝑘</m:t>
                                    </m:r>
                                  </m:e>
                                </m:d>
                              </m:sup>
                            </m:sSup>
                          </m:e>
                        </m:d>
                        <m:r>
                          <a:rPr lang="en-US" altLang="zh-CN" sz="1800" i="1" smtClean="0">
                            <a:latin typeface="Cambria Math" panose="02040503050406030204" pitchFamily="18" charset="0"/>
                            <a:ea typeface="+mn-ea"/>
                            <a:cs typeface="Cambria Math" panose="02040503050406030204" pitchFamily="18" charset="0"/>
                          </a:rPr>
                          <m:t>−</m:t>
                        </m:r>
                        <m:d>
                          <m:dPr>
                            <m:begChr m:val="{"/>
                            <m:endChr m:val="}"/>
                            <m:ctrlPr>
                              <a:rPr lang="en-US" altLang="zh-CN" sz="1800" i="1" smtClean="0">
                                <a:latin typeface="Cambria Math" panose="02040503050406030204" pitchFamily="18" charset="0"/>
                                <a:ea typeface="+mn-ea"/>
                                <a:cs typeface="Cambria Math" panose="02040503050406030204" pitchFamily="18" charset="0"/>
                              </a:rPr>
                            </m:ctrlPr>
                          </m:dPr>
                          <m:e>
                            <m:r>
                              <a:rPr lang="en-US" altLang="zh-CN" sz="1800" i="1" smtClean="0">
                                <a:latin typeface="Cambria Math" panose="02040503050406030204" pitchFamily="18" charset="0"/>
                                <a:ea typeface="+mn-ea"/>
                                <a:cs typeface="Cambria Math" panose="02040503050406030204" pitchFamily="18" charset="0"/>
                              </a:rPr>
                              <m:t>𝑞</m:t>
                            </m:r>
                          </m:e>
                        </m:d>
                      </m:oMath>
                    </m:oMathPara>
                  </a14:m>
                  <a:endParaRPr lang="en-US" altLang="zh-CN" sz="1800" i="1" dirty="0">
                    <a:latin typeface="Cambria Math" panose="02040503050406030204" pitchFamily="18" charset="0"/>
                    <a:ea typeface="+mn-ea"/>
                    <a:cs typeface="Cambria Math" panose="02040503050406030204" pitchFamily="18" charset="0"/>
                  </a:endParaRPr>
                </a:p>
                <a:p>
                  <a:pPr latinLnBrk="0">
                    <a:lnSpc>
                      <a:spcPct val="110000"/>
                    </a:lnSpc>
                  </a:pPr>
                  <a14:m>
                    <m:oMathPara xmlns:m="http://schemas.openxmlformats.org/officeDocument/2006/math">
                      <m:oMathParaPr>
                        <m:jc m:val="centerGroup"/>
                      </m:oMathParaPr>
                      <m:oMath xmlns:m="http://schemas.openxmlformats.org/officeDocument/2006/math">
                        <m:r>
                          <a:rPr lang="en-US" altLang="zh-CN" sz="1800" i="1" smtClean="0">
                            <a:latin typeface="Cambria Math" panose="02040503050406030204" pitchFamily="18" charset="0"/>
                            <a:ea typeface="+mn-ea"/>
                            <a:cs typeface="Cambria Math" panose="02040503050406030204" pitchFamily="18" charset="0"/>
                          </a:rPr>
                          <m:t>𝑘</m:t>
                        </m:r>
                        <m:r>
                          <a:rPr lang="en-US" altLang="zh-CN" sz="1800" i="1" smtClean="0">
                            <a:latin typeface="Cambria Math" panose="02040503050406030204" pitchFamily="18" charset="0"/>
                            <a:ea typeface="+mn-ea"/>
                            <a:cs typeface="Cambria Math" panose="02040503050406030204" pitchFamily="18" charset="0"/>
                          </a:rPr>
                          <m:t>=</m:t>
                        </m:r>
                        <m:r>
                          <a:rPr lang="en-US" altLang="zh-CN" sz="1800" i="1" smtClean="0">
                            <a:latin typeface="Cambria Math" panose="02040503050406030204" pitchFamily="18" charset="0"/>
                            <a:ea typeface="+mn-ea"/>
                            <a:cs typeface="Cambria Math" panose="02040503050406030204" pitchFamily="18" charset="0"/>
                          </a:rPr>
                          <m:t>𝑘</m:t>
                        </m:r>
                        <m:r>
                          <a:rPr lang="en-US" altLang="zh-CN" sz="1800" i="1" smtClean="0">
                            <a:latin typeface="Cambria Math" panose="02040503050406030204" pitchFamily="18" charset="0"/>
                            <a:ea typeface="+mn-ea"/>
                            <a:cs typeface="Cambria Math" panose="02040503050406030204" pitchFamily="18" charset="0"/>
                          </a:rPr>
                          <m:t>+</m:t>
                        </m:r>
                        <m:r>
                          <a:rPr lang="en-US" altLang="zh-CN" sz="1800" i="1" smtClean="0">
                            <a:latin typeface="Cambria Math" panose="02040503050406030204" pitchFamily="18" charset="0"/>
                            <a:ea typeface="+mn-ea"/>
                            <a:cs typeface="Cambria Math" panose="02040503050406030204" pitchFamily="18" charset="0"/>
                          </a:rPr>
                          <m:t>1</m:t>
                        </m:r>
                      </m:oMath>
                    </m:oMathPara>
                  </a14:m>
                  <a:endParaRPr lang="en-US" altLang="zh-CN" i="1" dirty="0">
                    <a:latin typeface="Cambria Math" panose="02040503050406030204" pitchFamily="18" charset="0"/>
                    <a:cs typeface="Cambria Math" panose="02040503050406030204" pitchFamily="18" charset="0"/>
                  </a:endParaRPr>
                </a:p>
              </p:txBody>
            </p:sp>
          </mc:Choice>
          <mc:Fallback>
            <p:sp>
              <p:nvSpPr>
                <p:cNvPr id="32" name="文本框 31"/>
                <p:cNvSpPr txBox="1">
                  <a:spLocks noRot="1" noChangeAspect="1" noMove="1" noResize="1" noEditPoints="1" noAdjustHandles="1" noChangeArrowheads="1" noChangeShapeType="1" noTextEdit="1"/>
                </p:cNvSpPr>
                <p:nvPr/>
              </p:nvSpPr>
              <p:spPr>
                <a:xfrm>
                  <a:off x="6520535" y="804836"/>
                  <a:ext cx="4262908" cy="1519342"/>
                </a:xfrm>
                <a:prstGeom prst="rect">
                  <a:avLst/>
                </a:prstGeom>
                <a:blipFill rotWithShape="1">
                  <a:blip r:embed="rId7"/>
                </a:blipFill>
              </p:spPr>
              <p:txBody>
                <a:bodyPr/>
                <a:lstStyle/>
                <a:p>
                  <a:r>
                    <a:rPr lang="zh-CN" altLang="en-US">
                      <a:noFill/>
                    </a:rPr>
                    <a:t> </a:t>
                  </a:r>
                </a:p>
              </p:txBody>
            </p:sp>
          </mc:Fallback>
        </mc:AlternateContent>
      </p:grpSp>
      <p:sp>
        <p:nvSpPr>
          <p:cNvPr id="18" name="Line 60"/>
          <p:cNvSpPr>
            <a:spLocks noChangeShapeType="1"/>
          </p:cNvSpPr>
          <p:nvPr/>
        </p:nvSpPr>
        <p:spPr bwMode="auto">
          <a:xfrm>
            <a:off x="1625292" y="3489860"/>
            <a:ext cx="7799" cy="1559402"/>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61"/>
          <p:cNvSpPr>
            <a:spLocks noChangeShapeType="1"/>
          </p:cNvSpPr>
          <p:nvPr/>
        </p:nvSpPr>
        <p:spPr bwMode="auto">
          <a:xfrm flipV="1">
            <a:off x="1614985" y="3489859"/>
            <a:ext cx="721000" cy="17733"/>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 name="Line 23"/>
          <p:cNvSpPr>
            <a:spLocks noChangeShapeType="1"/>
          </p:cNvSpPr>
          <p:nvPr/>
        </p:nvSpPr>
        <p:spPr bwMode="auto">
          <a:xfrm flipV="1">
            <a:off x="5297984" y="4489764"/>
            <a:ext cx="3894240" cy="26721"/>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4" name="组合 33"/>
          <p:cNvGrpSpPr/>
          <p:nvPr/>
        </p:nvGrpSpPr>
        <p:grpSpPr>
          <a:xfrm>
            <a:off x="9192224" y="3840078"/>
            <a:ext cx="2678135" cy="1333805"/>
            <a:chOff x="7258482" y="172658"/>
            <a:chExt cx="2787015" cy="1380907"/>
          </a:xfrm>
        </p:grpSpPr>
        <p:sp>
          <p:nvSpPr>
            <p:cNvPr id="35" name="AutoShape 20"/>
            <p:cNvSpPr>
              <a:spLocks noChangeArrowheads="1"/>
            </p:cNvSpPr>
            <p:nvPr/>
          </p:nvSpPr>
          <p:spPr bwMode="auto">
            <a:xfrm>
              <a:off x="7284245" y="172658"/>
              <a:ext cx="2735490" cy="1211793"/>
            </a:xfrm>
            <a:prstGeom prst="flowChartProcess">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a:p>
          </p:txBody>
        </p:sp>
        <mc:AlternateContent xmlns:mc="http://schemas.openxmlformats.org/markup-compatibility/2006">
          <mc:Choice xmlns:a14="http://schemas.microsoft.com/office/drawing/2010/main" Requires="a14">
            <p:sp>
              <p:nvSpPr>
                <p:cNvPr id="36" name="文本框 35"/>
                <p:cNvSpPr txBox="1"/>
                <p:nvPr/>
              </p:nvSpPr>
              <p:spPr>
                <a:xfrm>
                  <a:off x="7258482" y="207554"/>
                  <a:ext cx="2787015" cy="1346011"/>
                </a:xfrm>
                <a:prstGeom prst="rect">
                  <a:avLst/>
                </a:prstGeom>
                <a:noFill/>
              </p:spPr>
              <p:txBody>
                <a:bodyPr wrap="square" rtlCol="0">
                  <a:spAutoFit/>
                </a:bodyPr>
                <a:lstStyle/>
                <a:p>
                  <a:pPr algn="ctr" latinLnBrk="0">
                    <a:lnSpc>
                      <a:spcPct val="110000"/>
                    </a:lnSpc>
                  </a:pPr>
                  <a14:m>
                    <m:oMathPara xmlns:m="http://schemas.openxmlformats.org/officeDocument/2006/math">
                      <m:oMathParaPr>
                        <m:jc m:val="centerGroup"/>
                      </m:oMathParaPr>
                      <m:oMath xmlns:m="http://schemas.openxmlformats.org/officeDocument/2006/math">
                        <m:sSub>
                          <m:sSubPr>
                            <m:ctrlPr>
                              <a:rPr kumimoji="1" lang="en-US" altLang="zh-CN" i="1">
                                <a:latin typeface="Cambria Math" panose="02040503050406030204" pitchFamily="18" charset="0"/>
                                <a:cs typeface="Cambria Math" panose="02040503050406030204" pitchFamily="18" charset="0"/>
                              </a:rPr>
                            </m:ctrlPr>
                          </m:sSubPr>
                          <m:e>
                            <m:acc>
                              <m:accPr>
                                <m:chr m:val="̅"/>
                                <m:ctrlPr>
                                  <a:rPr kumimoji="1" lang="en-US" altLang="zh-CN" i="1">
                                    <a:latin typeface="Cambria Math" panose="02040503050406030204" pitchFamily="18" charset="0"/>
                                    <a:cs typeface="Cambria Math" panose="02040503050406030204" pitchFamily="18" charset="0"/>
                                  </a:rPr>
                                </m:ctrlPr>
                              </m:accPr>
                              <m:e>
                                <m:r>
                                  <a:rPr kumimoji="1" lang="en-US" altLang="zh-CN" i="1">
                                    <a:latin typeface="Cambria Math" panose="02040503050406030204" pitchFamily="18" charset="0"/>
                                    <a:cs typeface="Cambria Math" panose="02040503050406030204" pitchFamily="18" charset="0"/>
                                  </a:rPr>
                                  <m:t>𝛼</m:t>
                                </m:r>
                              </m:e>
                            </m:acc>
                          </m:e>
                          <m:sub>
                            <m:r>
                              <a:rPr kumimoji="1" lang="en-US" altLang="zh-CN" i="1">
                                <a:latin typeface="Cambria Math" panose="02040503050406030204" pitchFamily="18" charset="0"/>
                                <a:cs typeface="Cambria Math" panose="02040503050406030204" pitchFamily="18" charset="0"/>
                              </a:rPr>
                              <m:t>𝑘</m:t>
                            </m:r>
                          </m:sub>
                        </m:sSub>
                      </m:oMath>
                    </m:oMathPara>
                  </a14:m>
                  <a:endParaRPr lang="en-US" altLang="zh-CN" i="1" dirty="0">
                    <a:latin typeface="Cambria Math" panose="02040503050406030204" pitchFamily="18" charset="0"/>
                    <a:cs typeface="Cambria Math" panose="02040503050406030204" pitchFamily="18" charset="0"/>
                  </a:endParaRPr>
                </a:p>
                <a:p>
                  <a:pPr algn="ctr" latinLnBrk="0">
                    <a:lnSpc>
                      <a:spcPct val="110000"/>
                    </a:lnSpc>
                  </a:pPr>
                  <a14:m>
                    <m:oMathPara xmlns:m="http://schemas.openxmlformats.org/officeDocument/2006/math">
                      <m:oMathParaPr>
                        <m:jc m:val="centerGroup"/>
                      </m:oMathParaPr>
                      <m:oMath xmlns:m="http://schemas.openxmlformats.org/officeDocument/2006/math">
                        <m:sSub>
                          <m:sSubPr>
                            <m:ctrlPr>
                              <a:rPr kumimoji="1" lang="en-US" altLang="zh-CN" sz="1800" i="1" smtClean="0">
                                <a:solidFill>
                                  <a:schemeClr val="tx1"/>
                                </a:solidFill>
                                <a:latin typeface="Cambria Math" panose="02040503050406030204" pitchFamily="18" charset="0"/>
                                <a:ea typeface="+mn-ea"/>
                                <a:cs typeface="Cambria Math" panose="02040503050406030204" pitchFamily="18" charset="0"/>
                              </a:rPr>
                            </m:ctrlPr>
                          </m:sSubPr>
                          <m:e>
                            <m:r>
                              <a:rPr kumimoji="1" lang="en-US" altLang="zh-CN" sz="1800" i="1">
                                <a:solidFill>
                                  <a:schemeClr val="tx1"/>
                                </a:solidFill>
                                <a:latin typeface="Cambria Math" panose="02040503050406030204" pitchFamily="18" charset="0"/>
                                <a:ea typeface="+mn-ea"/>
                                <a:cs typeface="Cambria Math" panose="02040503050406030204" pitchFamily="18" charset="0"/>
                              </a:rPr>
                              <m:t>𝛼</m:t>
                            </m:r>
                          </m:e>
                          <m:sub>
                            <m:r>
                              <a:rPr kumimoji="1" lang="en-US" altLang="zh-CN" sz="1800" i="1">
                                <a:solidFill>
                                  <a:schemeClr val="tx1"/>
                                </a:solidFill>
                                <a:latin typeface="Cambria Math" panose="02040503050406030204" pitchFamily="18" charset="0"/>
                                <a:ea typeface="+mn-ea"/>
                                <a:cs typeface="Cambria Math" panose="02040503050406030204" pitchFamily="18" charset="0"/>
                              </a:rPr>
                              <m:t>𝑘</m:t>
                            </m:r>
                          </m:sub>
                        </m:sSub>
                        <m:r>
                          <a:rPr kumimoji="1" lang="en-US" altLang="zh-CN" sz="1800" i="1">
                            <a:solidFill>
                              <a:schemeClr val="tx1"/>
                            </a:solidFill>
                            <a:latin typeface="Cambria Math" panose="02040503050406030204" pitchFamily="18" charset="0"/>
                            <a:ea typeface="+mn-ea"/>
                            <a:cs typeface="Cambria Math" panose="02040503050406030204" pitchFamily="18" charset="0"/>
                          </a:rPr>
                          <m:t>=</m:t>
                        </m:r>
                        <m:r>
                          <a:rPr kumimoji="1" lang="en-US" altLang="zh-CN" sz="1800" i="1">
                            <a:solidFill>
                              <a:schemeClr val="tx1"/>
                            </a:solidFill>
                            <a:latin typeface="Cambria Math" panose="02040503050406030204" pitchFamily="18" charset="0"/>
                            <a:ea typeface="+mn-ea"/>
                            <a:cs typeface="Cambria Math" panose="02040503050406030204" pitchFamily="18" charset="0"/>
                          </a:rPr>
                          <m:t>𝑚𝑖𝑛</m:t>
                        </m:r>
                        <m:r>
                          <a:rPr kumimoji="1" lang="en-US" altLang="zh-CN" sz="18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1800" i="1">
                                <a:solidFill>
                                  <a:schemeClr val="tx1"/>
                                </a:solidFill>
                                <a:latin typeface="Cambria Math" panose="02040503050406030204" pitchFamily="18" charset="0"/>
                                <a:ea typeface="+mn-ea"/>
                                <a:cs typeface="Cambria Math" panose="02040503050406030204" pitchFamily="18" charset="0"/>
                              </a:rPr>
                            </m:ctrlPr>
                          </m:sSubPr>
                          <m:e>
                            <m:acc>
                              <m:accPr>
                                <m:chr m:val="̅"/>
                                <m:ctrlPr>
                                  <a:rPr kumimoji="1" lang="en-US" altLang="zh-CN" sz="1800" i="1">
                                    <a:solidFill>
                                      <a:schemeClr val="tx1"/>
                                    </a:solidFill>
                                    <a:latin typeface="Cambria Math" panose="02040503050406030204" pitchFamily="18" charset="0"/>
                                    <a:ea typeface="+mn-ea"/>
                                    <a:cs typeface="Cambria Math" panose="02040503050406030204" pitchFamily="18" charset="0"/>
                                  </a:rPr>
                                </m:ctrlPr>
                              </m:accPr>
                              <m:e>
                                <m:r>
                                  <a:rPr kumimoji="1" lang="en-US" altLang="zh-CN" sz="1800" i="1">
                                    <a:solidFill>
                                      <a:schemeClr val="tx1"/>
                                    </a:solidFill>
                                    <a:latin typeface="Cambria Math" panose="02040503050406030204" pitchFamily="18" charset="0"/>
                                    <a:ea typeface="+mn-ea"/>
                                    <a:cs typeface="Cambria Math" panose="02040503050406030204" pitchFamily="18" charset="0"/>
                                  </a:rPr>
                                  <m:t>𝛼</m:t>
                                </m:r>
                              </m:e>
                            </m:acc>
                          </m:e>
                          <m:sub>
                            <m:r>
                              <a:rPr kumimoji="1" lang="en-US" altLang="zh-CN" sz="1800" i="1">
                                <a:solidFill>
                                  <a:schemeClr val="tx1"/>
                                </a:solidFill>
                                <a:latin typeface="Cambria Math" panose="02040503050406030204" pitchFamily="18" charset="0"/>
                                <a:ea typeface="+mn-ea"/>
                                <a:cs typeface="Cambria Math" panose="02040503050406030204" pitchFamily="18" charset="0"/>
                              </a:rPr>
                              <m:t>𝑘</m:t>
                            </m:r>
                          </m:sub>
                        </m:sSub>
                        <m:r>
                          <a:rPr kumimoji="1" lang="en-US" altLang="zh-CN" sz="1800" i="1">
                            <a:solidFill>
                              <a:schemeClr val="tx1"/>
                            </a:solidFill>
                            <a:latin typeface="Cambria Math" panose="02040503050406030204" pitchFamily="18" charset="0"/>
                            <a:ea typeface="+mn-ea"/>
                            <a:cs typeface="Cambria Math" panose="02040503050406030204" pitchFamily="18" charset="0"/>
                          </a:rPr>
                          <m:t>,</m:t>
                        </m:r>
                        <m:r>
                          <a:rPr kumimoji="1" lang="en-US" altLang="zh-CN" sz="1800" i="1">
                            <a:solidFill>
                              <a:schemeClr val="tx1"/>
                            </a:solidFill>
                            <a:latin typeface="Cambria Math" panose="02040503050406030204" pitchFamily="18" charset="0"/>
                            <a:ea typeface="+mn-ea"/>
                            <a:cs typeface="Cambria Math" panose="02040503050406030204" pitchFamily="18" charset="0"/>
                          </a:rPr>
                          <m:t>1</m:t>
                        </m:r>
                        <m:r>
                          <a:rPr kumimoji="1" lang="en-US" altLang="zh-CN" sz="1800" i="1">
                            <a:solidFill>
                              <a:schemeClr val="tx1"/>
                            </a:solidFill>
                            <a:latin typeface="Cambria Math" panose="02040503050406030204" pitchFamily="18" charset="0"/>
                            <a:ea typeface="+mn-ea"/>
                            <a:cs typeface="Cambria Math" panose="02040503050406030204" pitchFamily="18" charset="0"/>
                          </a:rPr>
                          <m:t>)</m:t>
                        </m:r>
                      </m:oMath>
                    </m:oMathPara>
                  </a14:m>
                  <a:endParaRPr lang="en-US" altLang="zh-CN" i="1" dirty="0">
                    <a:latin typeface="Cambria Math" panose="02040503050406030204" pitchFamily="18" charset="0"/>
                    <a:cs typeface="Cambria Math" panose="02040503050406030204" pitchFamily="18" charset="0"/>
                  </a:endParaRPr>
                </a:p>
                <a:p>
                  <a:pPr algn="ctr" latinLnBrk="0">
                    <a:lnSpc>
                      <a:spcPct val="110000"/>
                    </a:lnSpc>
                  </a:pPr>
                  <a14:m>
                    <m:oMath xmlns:m="http://schemas.openxmlformats.org/officeDocument/2006/math">
                      <m:sSup>
                        <m:sSupPr>
                          <m:ctrlPr>
                            <a:rPr lang="en-US" altLang="zh-CN" sz="1800" i="1" smtClean="0">
                              <a:latin typeface="Cambria Math" panose="02040503050406030204" pitchFamily="18" charset="0"/>
                              <a:ea typeface="+mn-ea"/>
                              <a:cs typeface="Cambria Math" panose="02040503050406030204" pitchFamily="18" charset="0"/>
                            </a:rPr>
                          </m:ctrlPr>
                        </m:sSupPr>
                        <m:e>
                          <m:r>
                            <a:rPr lang="en-US" altLang="zh-CN" sz="1800" i="1">
                              <a:latin typeface="Cambria Math" panose="02040503050406030204" pitchFamily="18" charset="0"/>
                              <a:ea typeface="+mn-ea"/>
                              <a:cs typeface="Cambria Math" panose="02040503050406030204" pitchFamily="18" charset="0"/>
                            </a:rPr>
                            <m:t>𝑥</m:t>
                          </m:r>
                        </m:e>
                        <m:sup>
                          <m:r>
                            <a:rPr lang="en-US" altLang="zh-CN" sz="1800" i="1">
                              <a:latin typeface="Cambria Math" panose="02040503050406030204" pitchFamily="18" charset="0"/>
                              <a:ea typeface="+mn-ea"/>
                              <a:cs typeface="Cambria Math" panose="02040503050406030204" pitchFamily="18" charset="0"/>
                            </a:rPr>
                            <m:t>(</m:t>
                          </m:r>
                          <m:r>
                            <a:rPr lang="en-US" altLang="zh-CN" sz="1800" i="1">
                              <a:latin typeface="Cambria Math" panose="02040503050406030204" pitchFamily="18" charset="0"/>
                              <a:ea typeface="+mn-ea"/>
                              <a:cs typeface="Cambria Math" panose="02040503050406030204" pitchFamily="18" charset="0"/>
                            </a:rPr>
                            <m:t>𝑘</m:t>
                          </m:r>
                          <m:r>
                            <a:rPr lang="en-US" altLang="zh-CN" sz="1800" i="1">
                              <a:latin typeface="Cambria Math" panose="02040503050406030204" pitchFamily="18" charset="0"/>
                              <a:ea typeface="+mn-ea"/>
                              <a:cs typeface="Cambria Math" panose="02040503050406030204" pitchFamily="18" charset="0"/>
                            </a:rPr>
                            <m:t>+</m:t>
                          </m:r>
                          <m:r>
                            <a:rPr lang="en-US" altLang="zh-CN" sz="1800" i="1">
                              <a:latin typeface="Cambria Math" panose="02040503050406030204" pitchFamily="18" charset="0"/>
                              <a:ea typeface="+mn-ea"/>
                              <a:cs typeface="Cambria Math" panose="02040503050406030204" pitchFamily="18" charset="0"/>
                            </a:rPr>
                            <m:t>1</m:t>
                          </m:r>
                          <m:r>
                            <a:rPr lang="en-US" altLang="zh-CN" sz="1800" i="1">
                              <a:latin typeface="Cambria Math" panose="02040503050406030204" pitchFamily="18" charset="0"/>
                              <a:ea typeface="+mn-ea"/>
                              <a:cs typeface="Cambria Math" panose="02040503050406030204" pitchFamily="18" charset="0"/>
                            </a:rPr>
                            <m:t>)</m:t>
                          </m:r>
                        </m:sup>
                      </m:sSup>
                    </m:oMath>
                  </a14:m>
                  <a:r>
                    <a:rPr lang="en-US" altLang="zh-CN" sz="1800" dirty="0">
                      <a:latin typeface="+mn-ea"/>
                      <a:ea typeface="+mn-ea"/>
                      <a:cs typeface="宋体" panose="02010600030101010101" pitchFamily="2" charset="-122"/>
                    </a:rPr>
                    <a:t>=</a:t>
                  </a:r>
                  <a14:m>
                    <m:oMath xmlns:m="http://schemas.openxmlformats.org/officeDocument/2006/math">
                      <m:sSup>
                        <m:sSupPr>
                          <m:ctrlPr>
                            <a:rPr lang="en-US" altLang="zh-CN" sz="1800" i="1">
                              <a:latin typeface="Cambria Math" panose="02040503050406030204" pitchFamily="18" charset="0"/>
                              <a:ea typeface="+mn-ea"/>
                              <a:cs typeface="Cambria Math" panose="02040503050406030204" pitchFamily="18" charset="0"/>
                            </a:rPr>
                          </m:ctrlPr>
                        </m:sSupPr>
                        <m:e>
                          <m:r>
                            <a:rPr lang="en-US" altLang="zh-CN" sz="1800" i="1">
                              <a:latin typeface="Cambria Math" panose="02040503050406030204" pitchFamily="18" charset="0"/>
                              <a:ea typeface="+mn-ea"/>
                              <a:cs typeface="Cambria Math" panose="02040503050406030204" pitchFamily="18" charset="0"/>
                            </a:rPr>
                            <m:t>𝑥</m:t>
                          </m:r>
                        </m:e>
                        <m:sup>
                          <m:r>
                            <a:rPr lang="en-US" altLang="zh-CN" sz="1800" i="1">
                              <a:latin typeface="Cambria Math" panose="02040503050406030204" pitchFamily="18" charset="0"/>
                              <a:ea typeface="+mn-ea"/>
                              <a:cs typeface="Cambria Math" panose="02040503050406030204" pitchFamily="18" charset="0"/>
                            </a:rPr>
                            <m:t>(</m:t>
                          </m:r>
                          <m:r>
                            <a:rPr lang="en-US" altLang="zh-CN" sz="1800" i="1">
                              <a:latin typeface="Cambria Math" panose="02040503050406030204" pitchFamily="18" charset="0"/>
                              <a:ea typeface="+mn-ea"/>
                              <a:cs typeface="Cambria Math" panose="02040503050406030204" pitchFamily="18" charset="0"/>
                            </a:rPr>
                            <m:t>𝑘</m:t>
                          </m:r>
                          <m:r>
                            <a:rPr lang="en-US" altLang="zh-CN" sz="1800" i="1">
                              <a:latin typeface="Cambria Math" panose="02040503050406030204" pitchFamily="18" charset="0"/>
                              <a:ea typeface="+mn-ea"/>
                              <a:cs typeface="Cambria Math" panose="02040503050406030204" pitchFamily="18" charset="0"/>
                            </a:rPr>
                            <m:t>)</m:t>
                          </m:r>
                        </m:sup>
                      </m:sSup>
                      <m:r>
                        <a:rPr lang="en-US" altLang="zh-CN" sz="1800" i="1">
                          <a:latin typeface="Cambria Math" panose="02040503050406030204" pitchFamily="18" charset="0"/>
                          <a:ea typeface="+mn-ea"/>
                          <a:cs typeface="Cambria Math" panose="02040503050406030204" pitchFamily="18" charset="0"/>
                        </a:rPr>
                        <m:t>+</m:t>
                      </m:r>
                      <m:sSub>
                        <m:sSubPr>
                          <m:ctrlPr>
                            <a:rPr kumimoji="1" lang="en-US" altLang="zh-CN" sz="18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1800" i="1">
                              <a:solidFill>
                                <a:schemeClr val="tx1"/>
                              </a:solidFill>
                              <a:latin typeface="Cambria Math" panose="02040503050406030204" pitchFamily="18" charset="0"/>
                              <a:ea typeface="+mn-ea"/>
                              <a:cs typeface="Cambria Math" panose="02040503050406030204" pitchFamily="18" charset="0"/>
                            </a:rPr>
                            <m:t>𝛼</m:t>
                          </m:r>
                        </m:e>
                        <m:sub>
                          <m:r>
                            <a:rPr kumimoji="1" lang="en-US" altLang="zh-CN" sz="1800" i="1">
                              <a:solidFill>
                                <a:schemeClr val="tx1"/>
                              </a:solidFill>
                              <a:latin typeface="Cambria Math" panose="02040503050406030204" pitchFamily="18" charset="0"/>
                              <a:ea typeface="+mn-ea"/>
                              <a:cs typeface="Cambria Math" panose="02040503050406030204" pitchFamily="18" charset="0"/>
                            </a:rPr>
                            <m:t>𝑘</m:t>
                          </m:r>
                        </m:sub>
                      </m:sSub>
                      <m:sSup>
                        <m:sSupPr>
                          <m:ctrlPr>
                            <a:rPr lang="en-US" altLang="zh-CN" sz="1800" i="1">
                              <a:latin typeface="Cambria Math" panose="02040503050406030204" pitchFamily="18" charset="0"/>
                              <a:ea typeface="+mn-ea"/>
                              <a:cs typeface="Cambria Math" panose="02040503050406030204" pitchFamily="18" charset="0"/>
                            </a:rPr>
                          </m:ctrlPr>
                        </m:sSupPr>
                        <m:e>
                          <m:r>
                            <a:rPr lang="en-US" altLang="zh-CN" sz="1800" i="1">
                              <a:latin typeface="Cambria Math" panose="02040503050406030204" pitchFamily="18" charset="0"/>
                              <a:ea typeface="+mn-ea"/>
                              <a:cs typeface="Cambria Math" panose="02040503050406030204" pitchFamily="18" charset="0"/>
                            </a:rPr>
                            <m:t>𝑑</m:t>
                          </m:r>
                        </m:e>
                        <m:sup>
                          <m:r>
                            <a:rPr lang="en-US" altLang="zh-CN" sz="1800" i="1">
                              <a:latin typeface="Cambria Math" panose="02040503050406030204" pitchFamily="18" charset="0"/>
                              <a:ea typeface="+mn-ea"/>
                              <a:cs typeface="Cambria Math" panose="02040503050406030204" pitchFamily="18" charset="0"/>
                            </a:rPr>
                            <m:t>(</m:t>
                          </m:r>
                          <m:r>
                            <a:rPr lang="en-US" altLang="zh-CN" sz="1800" i="1">
                              <a:latin typeface="Cambria Math" panose="02040503050406030204" pitchFamily="18" charset="0"/>
                              <a:ea typeface="+mn-ea"/>
                              <a:cs typeface="Cambria Math" panose="02040503050406030204" pitchFamily="18" charset="0"/>
                            </a:rPr>
                            <m:t>𝑘</m:t>
                          </m:r>
                          <m:r>
                            <a:rPr lang="en-US" altLang="zh-CN" sz="1800" i="1">
                              <a:latin typeface="Cambria Math" panose="02040503050406030204" pitchFamily="18" charset="0"/>
                              <a:ea typeface="+mn-ea"/>
                              <a:cs typeface="Cambria Math" panose="02040503050406030204" pitchFamily="18" charset="0"/>
                            </a:rPr>
                            <m:t>)</m:t>
                          </m:r>
                        </m:sup>
                      </m:sSup>
                    </m:oMath>
                  </a14:m>
                  <a:endParaRPr lang="en-US" altLang="zh-CN" i="1" dirty="0">
                    <a:latin typeface="Cambria Math" panose="02040503050406030204" pitchFamily="18" charset="0"/>
                    <a:cs typeface="Cambria Math" panose="02040503050406030204" pitchFamily="18" charset="0"/>
                  </a:endParaRPr>
                </a:p>
                <a:p>
                  <a:pPr algn="ctr" latinLnBrk="0">
                    <a:lnSpc>
                      <a:spcPct val="110000"/>
                    </a:lnSpc>
                  </a:pPr>
                  <a:endParaRPr lang="en-US" altLang="zh-CN" i="1" dirty="0">
                    <a:latin typeface="Cambria Math" panose="02040503050406030204" pitchFamily="18" charset="0"/>
                    <a:cs typeface="Cambria Math" panose="02040503050406030204" pitchFamily="18" charset="0"/>
                  </a:endParaRPr>
                </a:p>
              </p:txBody>
            </p:sp>
          </mc:Choice>
          <mc:Fallback>
            <p:sp>
              <p:nvSpPr>
                <p:cNvPr id="36" name="文本框 35"/>
                <p:cNvSpPr txBox="1">
                  <a:spLocks noRot="1" noChangeAspect="1" noMove="1" noResize="1" noEditPoints="1" noAdjustHandles="1" noChangeArrowheads="1" noChangeShapeType="1" noTextEdit="1"/>
                </p:cNvSpPr>
                <p:nvPr/>
              </p:nvSpPr>
              <p:spPr>
                <a:xfrm>
                  <a:off x="7258482" y="207554"/>
                  <a:ext cx="2787015" cy="1346011"/>
                </a:xfrm>
                <a:prstGeom prst="rect">
                  <a:avLst/>
                </a:prstGeom>
                <a:blipFill rotWithShape="1">
                  <a:blip r:embed="rId8"/>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37" name="AutoShape 8"/>
              <p:cNvSpPr>
                <a:spLocks noChangeArrowheads="1"/>
              </p:cNvSpPr>
              <p:nvPr/>
            </p:nvSpPr>
            <p:spPr bwMode="auto">
              <a:xfrm>
                <a:off x="9694043" y="2988999"/>
                <a:ext cx="1783071" cy="518593"/>
              </a:xfrm>
              <a:prstGeom prst="flowChartDecision">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14:m>
                  <m:oMath xmlns:m="http://schemas.openxmlformats.org/officeDocument/2006/math">
                    <m:sSub>
                      <m:sSubPr>
                        <m:ctrlPr>
                          <a:rPr kumimoji="1" lang="en-US" altLang="zh-CN" sz="1800" i="1">
                            <a:latin typeface="Cambria Math" panose="02040503050406030204" pitchFamily="18" charset="0"/>
                            <a:cs typeface="Cambria Math" panose="02040503050406030204" pitchFamily="18" charset="0"/>
                          </a:rPr>
                        </m:ctrlPr>
                      </m:sSubPr>
                      <m:e>
                        <m:r>
                          <a:rPr kumimoji="1" lang="en-US" altLang="zh-CN" sz="1800" i="1">
                            <a:latin typeface="Cambria Math" panose="02040503050406030204" pitchFamily="18" charset="0"/>
                            <a:cs typeface="Cambria Math" panose="02040503050406030204" pitchFamily="18" charset="0"/>
                          </a:rPr>
                          <m:t>𝛼</m:t>
                        </m:r>
                      </m:e>
                      <m:sub>
                        <m:r>
                          <a:rPr kumimoji="1" lang="en-US" altLang="zh-CN" sz="1800" i="1">
                            <a:latin typeface="Cambria Math" panose="02040503050406030204" pitchFamily="18" charset="0"/>
                            <a:cs typeface="Cambria Math" panose="02040503050406030204" pitchFamily="18" charset="0"/>
                          </a:rPr>
                          <m:t>𝑘</m:t>
                        </m:r>
                      </m:sub>
                    </m:sSub>
                    <m:r>
                      <a:rPr kumimoji="1" lang="en-US" altLang="zh-CN" sz="1800" i="1">
                        <a:latin typeface="Cambria Math" panose="02040503050406030204" pitchFamily="18" charset="0"/>
                        <a:cs typeface="Cambria Math" panose="02040503050406030204" pitchFamily="18" charset="0"/>
                      </a:rPr>
                      <m:t>=</m:t>
                    </m:r>
                    <m:sSub>
                      <m:sSubPr>
                        <m:ctrlPr>
                          <a:rPr kumimoji="1" lang="en-US" altLang="zh-CN" sz="1800" i="1">
                            <a:latin typeface="Cambria Math" panose="02040503050406030204" pitchFamily="18" charset="0"/>
                            <a:cs typeface="Cambria Math" panose="02040503050406030204" pitchFamily="18" charset="0"/>
                          </a:rPr>
                        </m:ctrlPr>
                      </m:sSubPr>
                      <m:e>
                        <m:acc>
                          <m:accPr>
                            <m:chr m:val="̅"/>
                            <m:ctrlPr>
                              <a:rPr kumimoji="1" lang="en-US" altLang="zh-CN" sz="1800" i="1">
                                <a:latin typeface="Cambria Math" panose="02040503050406030204" pitchFamily="18" charset="0"/>
                                <a:cs typeface="Cambria Math" panose="02040503050406030204" pitchFamily="18" charset="0"/>
                              </a:rPr>
                            </m:ctrlPr>
                          </m:accPr>
                          <m:e>
                            <m:r>
                              <a:rPr kumimoji="1" lang="en-US" altLang="zh-CN" sz="1800" i="1">
                                <a:latin typeface="Cambria Math" panose="02040503050406030204" pitchFamily="18" charset="0"/>
                                <a:cs typeface="Cambria Math" panose="02040503050406030204" pitchFamily="18" charset="0"/>
                              </a:rPr>
                              <m:t>𝛼</m:t>
                            </m:r>
                          </m:e>
                        </m:acc>
                      </m:e>
                      <m:sub>
                        <m:r>
                          <a:rPr kumimoji="1" lang="en-US" altLang="zh-CN" sz="1800" i="1">
                            <a:latin typeface="Cambria Math" panose="02040503050406030204" pitchFamily="18" charset="0"/>
                            <a:cs typeface="Cambria Math" panose="02040503050406030204" pitchFamily="18" charset="0"/>
                          </a:rPr>
                          <m:t>𝑘</m:t>
                        </m:r>
                      </m:sub>
                    </m:sSub>
                  </m:oMath>
                </a14:m>
                <a:r>
                  <a:rPr lang="en-US" altLang="zh-CN" sz="1800" b="1" i="1" dirty="0">
                    <a:solidFill>
                      <a:srgbClr val="000000"/>
                    </a:solidFill>
                    <a:latin typeface="Times New Roman" panose="02020603050405020304" pitchFamily="18" charset="0"/>
                    <a:sym typeface="Symbol" panose="05050102010706020507" pitchFamily="18" charset="2"/>
                  </a:rPr>
                  <a:t>?</a:t>
                </a:r>
                <a:endParaRPr lang="zh-CN" altLang="en-US" sz="1800" b="1" i="1" dirty="0">
                  <a:solidFill>
                    <a:srgbClr val="000000"/>
                  </a:solidFill>
                  <a:latin typeface="Times New Roman" panose="02020603050405020304" pitchFamily="18" charset="0"/>
                  <a:sym typeface="Symbol" panose="05050102010706020507" pitchFamily="18" charset="2"/>
                </a:endParaRPr>
              </a:p>
            </p:txBody>
          </p:sp>
        </mc:Choice>
        <mc:Fallback>
          <p:sp>
            <p:nvSpPr>
              <p:cNvPr id="37" name="AutoShape 8"/>
              <p:cNvSpPr>
                <a:spLocks noRot="1" noChangeAspect="1" noMove="1" noResize="1" noEditPoints="1" noAdjustHandles="1" noChangeArrowheads="1" noChangeShapeType="1" noTextEdit="1"/>
              </p:cNvSpPr>
              <p:nvPr/>
            </p:nvSpPr>
            <p:spPr bwMode="auto">
              <a:xfrm>
                <a:off x="9694043" y="2988999"/>
                <a:ext cx="1783071" cy="518593"/>
              </a:xfrm>
              <a:prstGeom prst="flowChartDecision">
                <a:avLst/>
              </a:prstGeom>
              <a:blipFill rotWithShape="1">
                <a:blip r:embed="rId9"/>
                <a:stretch>
                  <a:fillRect l="-2892" t="-2949" r="-2842" b="-2845"/>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8" name="Line 48"/>
          <p:cNvSpPr>
            <a:spLocks noChangeShapeType="1"/>
          </p:cNvSpPr>
          <p:nvPr/>
        </p:nvSpPr>
        <p:spPr bwMode="auto">
          <a:xfrm flipV="1">
            <a:off x="10558139" y="3434275"/>
            <a:ext cx="0" cy="405803"/>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9" name="Line 48"/>
          <p:cNvSpPr>
            <a:spLocks noChangeShapeType="1"/>
          </p:cNvSpPr>
          <p:nvPr/>
        </p:nvSpPr>
        <p:spPr bwMode="auto">
          <a:xfrm flipV="1">
            <a:off x="10565147" y="2583196"/>
            <a:ext cx="0" cy="405803"/>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0" name="Line 48"/>
          <p:cNvSpPr>
            <a:spLocks noChangeShapeType="1"/>
          </p:cNvSpPr>
          <p:nvPr/>
        </p:nvSpPr>
        <p:spPr bwMode="auto">
          <a:xfrm flipH="1">
            <a:off x="9218055" y="3230122"/>
            <a:ext cx="475987" cy="7945"/>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1" name="AutoShape 13"/>
          <p:cNvSpPr>
            <a:spLocks noChangeArrowheads="1"/>
          </p:cNvSpPr>
          <p:nvPr/>
        </p:nvSpPr>
        <p:spPr bwMode="auto">
          <a:xfrm>
            <a:off x="7785206" y="2192897"/>
            <a:ext cx="903345" cy="401637"/>
          </a:xfrm>
          <a:prstGeom prst="flowChartProcess">
            <a:avLst/>
          </a:prstGeom>
          <a:solidFill>
            <a:srgbClr val="CCFFCC"/>
          </a:solidFill>
          <a:ln w="28575" cap="sq">
            <a:solidFill>
              <a:srgbClr val="00FF00"/>
            </a:solidFill>
            <a:miter lim="800000"/>
          </a:ln>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zh-CN" sz="2000" b="1" i="1" dirty="0">
                <a:solidFill>
                  <a:srgbClr val="000000"/>
                </a:solidFill>
                <a:latin typeface="Times New Roman" panose="02020603050405020304" pitchFamily="18" charset="0"/>
              </a:rPr>
              <a:t>k=k+1</a:t>
            </a:r>
            <a:endParaRPr lang="en-US" altLang="zh-CN" sz="2000" b="1" i="1" baseline="30000" dirty="0">
              <a:solidFill>
                <a:srgbClr val="000000"/>
              </a:solidFill>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42" name="AutoShape 13"/>
              <p:cNvSpPr>
                <a:spLocks noChangeArrowheads="1"/>
              </p:cNvSpPr>
              <p:nvPr/>
            </p:nvSpPr>
            <p:spPr bwMode="auto">
              <a:xfrm>
                <a:off x="9452003" y="2183285"/>
                <a:ext cx="2267149" cy="401637"/>
              </a:xfrm>
              <a:prstGeom prst="flowChartProcess">
                <a:avLst/>
              </a:prstGeom>
              <a:solidFill>
                <a:srgbClr val="CCFFCC"/>
              </a:solidFill>
              <a:ln w="28575" cap="sq">
                <a:solidFill>
                  <a:srgbClr val="00FF00"/>
                </a:solidFill>
                <a:miter lim="800000"/>
              </a:ln>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14:m>
                  <m:oMathPara xmlns:m="http://schemas.openxmlformats.org/officeDocument/2006/math">
                    <m:oMathParaPr>
                      <m:jc m:val="centerGroup"/>
                    </m:oMathParaPr>
                    <m:oMath xmlns:m="http://schemas.openxmlformats.org/officeDocument/2006/math">
                      <m:sSup>
                        <m:sSupPr>
                          <m:ctrlPr>
                            <a:rPr lang="en-US" altLang="zh-CN" sz="1600" i="1" smtClean="0">
                              <a:latin typeface="Cambria Math" panose="02040503050406030204" pitchFamily="18" charset="0"/>
                              <a:ea typeface="+mn-ea"/>
                              <a:cs typeface="Cambria Math" panose="02040503050406030204" pitchFamily="18" charset="0"/>
                            </a:rPr>
                          </m:ctrlPr>
                        </m:sSupPr>
                        <m:e>
                          <m:r>
                            <a:rPr lang="en-US" altLang="zh-CN" sz="1600" b="0" i="1" smtClean="0">
                              <a:latin typeface="Cambria Math" panose="02040503050406030204" pitchFamily="18" charset="0"/>
                              <a:ea typeface="+mn-ea"/>
                              <a:cs typeface="Cambria Math" panose="02040503050406030204" pitchFamily="18" charset="0"/>
                            </a:rPr>
                            <m:t>𝐼</m:t>
                          </m:r>
                          <m:r>
                            <a:rPr lang="en-US" altLang="zh-CN" sz="1600" b="0" i="1" smtClean="0">
                              <a:latin typeface="Cambria Math" panose="02040503050406030204" pitchFamily="18" charset="0"/>
                              <a:ea typeface="+mn-ea"/>
                              <a:cs typeface="Cambria Math" panose="02040503050406030204" pitchFamily="18" charset="0"/>
                            </a:rPr>
                            <m:t>(</m:t>
                          </m:r>
                          <m:r>
                            <a:rPr lang="en-US" altLang="zh-CN" sz="1600" i="1">
                              <a:latin typeface="Cambria Math" panose="02040503050406030204" pitchFamily="18" charset="0"/>
                              <a:ea typeface="+mn-ea"/>
                              <a:cs typeface="Cambria Math" panose="02040503050406030204" pitchFamily="18" charset="0"/>
                            </a:rPr>
                            <m:t>𝑥</m:t>
                          </m:r>
                        </m:e>
                        <m:sup>
                          <m:r>
                            <a:rPr lang="en-US" altLang="zh-CN" sz="1600" i="1">
                              <a:latin typeface="Cambria Math" panose="02040503050406030204" pitchFamily="18" charset="0"/>
                              <a:ea typeface="+mn-ea"/>
                              <a:cs typeface="Cambria Math" panose="02040503050406030204" pitchFamily="18" charset="0"/>
                            </a:rPr>
                            <m:t>(</m:t>
                          </m:r>
                          <m:r>
                            <a:rPr lang="en-US" altLang="zh-CN" sz="1600" i="1">
                              <a:latin typeface="Cambria Math" panose="02040503050406030204" pitchFamily="18" charset="0"/>
                              <a:ea typeface="+mn-ea"/>
                              <a:cs typeface="Cambria Math" panose="02040503050406030204" pitchFamily="18" charset="0"/>
                            </a:rPr>
                            <m:t>𝑘</m:t>
                          </m:r>
                          <m:r>
                            <a:rPr lang="en-US" altLang="zh-CN" sz="1600" i="1">
                              <a:latin typeface="Cambria Math" panose="02040503050406030204" pitchFamily="18" charset="0"/>
                              <a:ea typeface="+mn-ea"/>
                              <a:cs typeface="Cambria Math" panose="02040503050406030204" pitchFamily="18" charset="0"/>
                            </a:rPr>
                            <m:t>+</m:t>
                          </m:r>
                          <m:r>
                            <a:rPr lang="en-US" altLang="zh-CN" sz="1600" i="1">
                              <a:latin typeface="Cambria Math" panose="02040503050406030204" pitchFamily="18" charset="0"/>
                              <a:ea typeface="+mn-ea"/>
                              <a:cs typeface="Cambria Math" panose="02040503050406030204" pitchFamily="18" charset="0"/>
                            </a:rPr>
                            <m:t>1</m:t>
                          </m:r>
                          <m:r>
                            <a:rPr lang="en-US" altLang="zh-CN" sz="1600" i="1">
                              <a:latin typeface="Cambria Math" panose="02040503050406030204" pitchFamily="18" charset="0"/>
                              <a:ea typeface="+mn-ea"/>
                              <a:cs typeface="Cambria Math" panose="02040503050406030204" pitchFamily="18" charset="0"/>
                            </a:rPr>
                            <m:t>)</m:t>
                          </m:r>
                        </m:sup>
                      </m:sSup>
                      <m:r>
                        <a:rPr lang="en-US" altLang="zh-CN" sz="1600" b="0" i="1" smtClean="0">
                          <a:latin typeface="Cambria Math" panose="02040503050406030204" pitchFamily="18" charset="0"/>
                          <a:ea typeface="+mn-ea"/>
                          <a:cs typeface="Cambria Math" panose="02040503050406030204" pitchFamily="18" charset="0"/>
                        </a:rPr>
                        <m:t>)=</m:t>
                      </m:r>
                      <m:sSup>
                        <m:sSupPr>
                          <m:ctrlPr>
                            <a:rPr lang="en-US" altLang="zh-CN" sz="1600" i="1">
                              <a:latin typeface="Cambria Math" panose="02040503050406030204" pitchFamily="18" charset="0"/>
                              <a:ea typeface="+mn-ea"/>
                              <a:cs typeface="Cambria Math" panose="02040503050406030204" pitchFamily="18" charset="0"/>
                            </a:rPr>
                          </m:ctrlPr>
                        </m:sSupPr>
                        <m:e>
                          <m:r>
                            <a:rPr lang="en-US" altLang="zh-CN" sz="1600" b="0" i="1" smtClean="0">
                              <a:latin typeface="Cambria Math" panose="02040503050406030204" pitchFamily="18" charset="0"/>
                              <a:ea typeface="+mn-ea"/>
                              <a:cs typeface="Cambria Math" panose="02040503050406030204" pitchFamily="18" charset="0"/>
                            </a:rPr>
                            <m:t>𝐼</m:t>
                          </m:r>
                          <m:r>
                            <a:rPr lang="en-US" altLang="zh-CN" sz="1600" b="0" i="1" smtClean="0">
                              <a:latin typeface="Cambria Math" panose="02040503050406030204" pitchFamily="18" charset="0"/>
                              <a:ea typeface="+mn-ea"/>
                              <a:cs typeface="Cambria Math" panose="02040503050406030204" pitchFamily="18" charset="0"/>
                            </a:rPr>
                            <m:t>(</m:t>
                          </m:r>
                          <m:r>
                            <a:rPr lang="en-US" altLang="zh-CN" sz="1600" i="1">
                              <a:latin typeface="Cambria Math" panose="02040503050406030204" pitchFamily="18" charset="0"/>
                              <a:ea typeface="+mn-ea"/>
                              <a:cs typeface="Cambria Math" panose="02040503050406030204" pitchFamily="18" charset="0"/>
                            </a:rPr>
                            <m:t>𝑥</m:t>
                          </m:r>
                        </m:e>
                        <m:sup>
                          <m:r>
                            <a:rPr lang="en-US" altLang="zh-CN" sz="1600" i="1">
                              <a:latin typeface="Cambria Math" panose="02040503050406030204" pitchFamily="18" charset="0"/>
                              <a:ea typeface="+mn-ea"/>
                              <a:cs typeface="Cambria Math" panose="02040503050406030204" pitchFamily="18" charset="0"/>
                            </a:rPr>
                            <m:t>(</m:t>
                          </m:r>
                          <m:r>
                            <a:rPr lang="en-US" altLang="zh-CN" sz="1600" i="1">
                              <a:latin typeface="Cambria Math" panose="02040503050406030204" pitchFamily="18" charset="0"/>
                              <a:ea typeface="+mn-ea"/>
                              <a:cs typeface="Cambria Math" panose="02040503050406030204" pitchFamily="18" charset="0"/>
                            </a:rPr>
                            <m:t>𝑘</m:t>
                          </m:r>
                          <m:r>
                            <a:rPr lang="en-US" altLang="zh-CN" sz="1600" i="1">
                              <a:latin typeface="Cambria Math" panose="02040503050406030204" pitchFamily="18" charset="0"/>
                              <a:ea typeface="+mn-ea"/>
                              <a:cs typeface="Cambria Math" panose="02040503050406030204" pitchFamily="18" charset="0"/>
                            </a:rPr>
                            <m:t>)</m:t>
                          </m:r>
                        </m:sup>
                      </m:sSup>
                      <m:r>
                        <a:rPr lang="en-US" altLang="zh-CN" sz="1600" b="0" i="1" smtClean="0">
                          <a:latin typeface="Cambria Math" panose="02040503050406030204" pitchFamily="18" charset="0"/>
                          <a:ea typeface="+mn-ea"/>
                          <a:cs typeface="Cambria Math" panose="02040503050406030204" pitchFamily="18" charset="0"/>
                        </a:rPr>
                        <m:t>)</m:t>
                      </m:r>
                      <m:r>
                        <a:rPr lang="en-US" altLang="zh-CN" sz="1600" i="1" smtClean="0">
                          <a:latin typeface="Cambria Math" panose="02040503050406030204" pitchFamily="18" charset="0"/>
                          <a:ea typeface="+mn-ea"/>
                          <a:cs typeface="Cambria Math" panose="02040503050406030204" pitchFamily="18" charset="0"/>
                        </a:rPr>
                        <m:t>∪{</m:t>
                      </m:r>
                      <m:r>
                        <a:rPr lang="en-US" altLang="zh-CN" sz="1600" i="1" smtClean="0">
                          <a:latin typeface="Cambria Math" panose="02040503050406030204" pitchFamily="18" charset="0"/>
                          <a:ea typeface="+mn-ea"/>
                          <a:cs typeface="Cambria Math" panose="02040503050406030204" pitchFamily="18" charset="0"/>
                        </a:rPr>
                        <m:t>𝑝</m:t>
                      </m:r>
                      <m:r>
                        <a:rPr lang="en-US" altLang="zh-CN" sz="1600" i="1" smtClean="0">
                          <a:latin typeface="Cambria Math" panose="02040503050406030204" pitchFamily="18" charset="0"/>
                          <a:ea typeface="+mn-ea"/>
                          <a:cs typeface="Cambria Math" panose="02040503050406030204" pitchFamily="18" charset="0"/>
                        </a:rPr>
                        <m:t>}</m:t>
                      </m:r>
                    </m:oMath>
                  </m:oMathPara>
                </a14:m>
                <a:endParaRPr lang="en-US" altLang="zh-CN" sz="1600" b="1" i="1" baseline="30000" dirty="0">
                  <a:solidFill>
                    <a:srgbClr val="000000"/>
                  </a:solidFill>
                  <a:latin typeface="Times New Roman" panose="02020603050405020304" pitchFamily="18" charset="0"/>
                </a:endParaRPr>
              </a:p>
            </p:txBody>
          </p:sp>
        </mc:Choice>
        <mc:Fallback>
          <p:sp>
            <p:nvSpPr>
              <p:cNvPr id="42" name="AutoShape 13"/>
              <p:cNvSpPr>
                <a:spLocks noRot="1" noChangeAspect="1" noMove="1" noResize="1" noEditPoints="1" noAdjustHandles="1" noChangeArrowheads="1" noChangeShapeType="1" noTextEdit="1"/>
              </p:cNvSpPr>
              <p:nvPr/>
            </p:nvSpPr>
            <p:spPr bwMode="auto">
              <a:xfrm>
                <a:off x="9452003" y="2183285"/>
                <a:ext cx="2267149" cy="401637"/>
              </a:xfrm>
              <a:prstGeom prst="flowChartProcess">
                <a:avLst/>
              </a:prstGeom>
              <a:blipFill rotWithShape="1">
                <a:blip r:embed="rId10"/>
                <a:stretch>
                  <a:fillRect l="-645" t="-3675" r="-606" b="-3519"/>
                </a:stretch>
              </a:blipFill>
              <a:ln w="28575" cap="sq">
                <a:solidFill>
                  <a:srgbClr val="00FF00"/>
                </a:solidFill>
                <a:miter lim="800000"/>
              </a:ln>
            </p:spPr>
            <p:txBody>
              <a:bodyPr/>
              <a:lstStyle/>
              <a:p>
                <a:r>
                  <a:rPr lang="zh-CN" altLang="en-US">
                    <a:noFill/>
                  </a:rPr>
                  <a:t> </a:t>
                </a:r>
              </a:p>
            </p:txBody>
          </p:sp>
        </mc:Fallback>
      </mc:AlternateContent>
      <p:sp>
        <p:nvSpPr>
          <p:cNvPr id="43" name="Text Box 25"/>
          <p:cNvSpPr txBox="1">
            <a:spLocks noChangeArrowheads="1"/>
          </p:cNvSpPr>
          <p:nvPr/>
        </p:nvSpPr>
        <p:spPr bwMode="auto">
          <a:xfrm>
            <a:off x="10593707" y="2600992"/>
            <a:ext cx="37189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8" rIns="92075" bIns="46038"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2000" b="1" dirty="0">
                <a:latin typeface="Times New Roman" panose="02020603050405020304" pitchFamily="18" charset="0"/>
              </a:rPr>
              <a:t>Y</a:t>
            </a:r>
            <a:endParaRPr lang="en-US" altLang="zh-CN" sz="2000"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44" name="AutoShape 13"/>
              <p:cNvSpPr>
                <a:spLocks noChangeArrowheads="1"/>
              </p:cNvSpPr>
              <p:nvPr/>
            </p:nvSpPr>
            <p:spPr bwMode="auto">
              <a:xfrm>
                <a:off x="7408363" y="3029304"/>
                <a:ext cx="1813740" cy="401637"/>
              </a:xfrm>
              <a:prstGeom prst="flowChartProcess">
                <a:avLst/>
              </a:prstGeom>
              <a:solidFill>
                <a:srgbClr val="CCFFCC"/>
              </a:solidFill>
              <a:ln w="28575" cap="sq">
                <a:solidFill>
                  <a:srgbClr val="00FF00"/>
                </a:solidFill>
                <a:miter lim="800000"/>
              </a:ln>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14:m>
                  <m:oMathPara xmlns:m="http://schemas.openxmlformats.org/officeDocument/2006/math">
                    <m:oMathParaPr>
                      <m:jc m:val="centerGroup"/>
                    </m:oMathParaPr>
                    <m:oMath xmlns:m="http://schemas.openxmlformats.org/officeDocument/2006/math">
                      <m:sSup>
                        <m:sSupPr>
                          <m:ctrlPr>
                            <a:rPr lang="en-US" altLang="zh-CN" sz="1600" i="1" smtClean="0">
                              <a:latin typeface="Cambria Math" panose="02040503050406030204" pitchFamily="18" charset="0"/>
                              <a:ea typeface="+mn-ea"/>
                              <a:cs typeface="Cambria Math" panose="02040503050406030204" pitchFamily="18" charset="0"/>
                            </a:rPr>
                          </m:ctrlPr>
                        </m:sSupPr>
                        <m:e>
                          <m:r>
                            <a:rPr lang="en-US" altLang="zh-CN" sz="1600" b="0" i="1" smtClean="0">
                              <a:latin typeface="Cambria Math" panose="02040503050406030204" pitchFamily="18" charset="0"/>
                              <a:ea typeface="+mn-ea"/>
                              <a:cs typeface="Cambria Math" panose="02040503050406030204" pitchFamily="18" charset="0"/>
                            </a:rPr>
                            <m:t>𝐼</m:t>
                          </m:r>
                          <m:r>
                            <a:rPr lang="en-US" altLang="zh-CN" sz="1600" b="0" i="1" smtClean="0">
                              <a:latin typeface="Cambria Math" panose="02040503050406030204" pitchFamily="18" charset="0"/>
                              <a:ea typeface="+mn-ea"/>
                              <a:cs typeface="Cambria Math" panose="02040503050406030204" pitchFamily="18" charset="0"/>
                            </a:rPr>
                            <m:t>(</m:t>
                          </m:r>
                          <m:r>
                            <a:rPr lang="en-US" altLang="zh-CN" sz="1600" i="1">
                              <a:latin typeface="Cambria Math" panose="02040503050406030204" pitchFamily="18" charset="0"/>
                              <a:ea typeface="+mn-ea"/>
                              <a:cs typeface="Cambria Math" panose="02040503050406030204" pitchFamily="18" charset="0"/>
                            </a:rPr>
                            <m:t>𝑥</m:t>
                          </m:r>
                        </m:e>
                        <m:sup>
                          <m:r>
                            <a:rPr lang="en-US" altLang="zh-CN" sz="1600" i="1">
                              <a:latin typeface="Cambria Math" panose="02040503050406030204" pitchFamily="18" charset="0"/>
                              <a:ea typeface="+mn-ea"/>
                              <a:cs typeface="Cambria Math" panose="02040503050406030204" pitchFamily="18" charset="0"/>
                            </a:rPr>
                            <m:t>(</m:t>
                          </m:r>
                          <m:r>
                            <a:rPr lang="en-US" altLang="zh-CN" sz="1600" i="1">
                              <a:latin typeface="Cambria Math" panose="02040503050406030204" pitchFamily="18" charset="0"/>
                              <a:ea typeface="+mn-ea"/>
                              <a:cs typeface="Cambria Math" panose="02040503050406030204" pitchFamily="18" charset="0"/>
                            </a:rPr>
                            <m:t>𝑘</m:t>
                          </m:r>
                          <m:r>
                            <a:rPr lang="en-US" altLang="zh-CN" sz="1600" i="1">
                              <a:latin typeface="Cambria Math" panose="02040503050406030204" pitchFamily="18" charset="0"/>
                              <a:ea typeface="+mn-ea"/>
                              <a:cs typeface="Cambria Math" panose="02040503050406030204" pitchFamily="18" charset="0"/>
                            </a:rPr>
                            <m:t>+</m:t>
                          </m:r>
                          <m:r>
                            <a:rPr lang="en-US" altLang="zh-CN" sz="1600" i="1">
                              <a:latin typeface="Cambria Math" panose="02040503050406030204" pitchFamily="18" charset="0"/>
                              <a:ea typeface="+mn-ea"/>
                              <a:cs typeface="Cambria Math" panose="02040503050406030204" pitchFamily="18" charset="0"/>
                            </a:rPr>
                            <m:t>1</m:t>
                          </m:r>
                          <m:r>
                            <a:rPr lang="en-US" altLang="zh-CN" sz="1600" i="1">
                              <a:latin typeface="Cambria Math" panose="02040503050406030204" pitchFamily="18" charset="0"/>
                              <a:ea typeface="+mn-ea"/>
                              <a:cs typeface="Cambria Math" panose="02040503050406030204" pitchFamily="18" charset="0"/>
                            </a:rPr>
                            <m:t>)</m:t>
                          </m:r>
                        </m:sup>
                      </m:sSup>
                      <m:r>
                        <a:rPr lang="en-US" altLang="zh-CN" sz="1600" b="0" i="1" smtClean="0">
                          <a:latin typeface="Cambria Math" panose="02040503050406030204" pitchFamily="18" charset="0"/>
                          <a:ea typeface="+mn-ea"/>
                          <a:cs typeface="Cambria Math" panose="02040503050406030204" pitchFamily="18" charset="0"/>
                        </a:rPr>
                        <m:t>)=</m:t>
                      </m:r>
                      <m:sSup>
                        <m:sSupPr>
                          <m:ctrlPr>
                            <a:rPr lang="en-US" altLang="zh-CN" sz="1600" i="1">
                              <a:latin typeface="Cambria Math" panose="02040503050406030204" pitchFamily="18" charset="0"/>
                              <a:ea typeface="+mn-ea"/>
                              <a:cs typeface="Cambria Math" panose="02040503050406030204" pitchFamily="18" charset="0"/>
                            </a:rPr>
                          </m:ctrlPr>
                        </m:sSupPr>
                        <m:e>
                          <m:r>
                            <a:rPr lang="en-US" altLang="zh-CN" sz="1600" b="0" i="1" smtClean="0">
                              <a:latin typeface="Cambria Math" panose="02040503050406030204" pitchFamily="18" charset="0"/>
                              <a:ea typeface="+mn-ea"/>
                              <a:cs typeface="Cambria Math" panose="02040503050406030204" pitchFamily="18" charset="0"/>
                            </a:rPr>
                            <m:t>𝐼</m:t>
                          </m:r>
                          <m:r>
                            <a:rPr lang="en-US" altLang="zh-CN" sz="1600" b="0" i="1" smtClean="0">
                              <a:latin typeface="Cambria Math" panose="02040503050406030204" pitchFamily="18" charset="0"/>
                              <a:ea typeface="+mn-ea"/>
                              <a:cs typeface="Cambria Math" panose="02040503050406030204" pitchFamily="18" charset="0"/>
                            </a:rPr>
                            <m:t>(</m:t>
                          </m:r>
                          <m:r>
                            <a:rPr lang="en-US" altLang="zh-CN" sz="1600" i="1">
                              <a:latin typeface="Cambria Math" panose="02040503050406030204" pitchFamily="18" charset="0"/>
                              <a:ea typeface="+mn-ea"/>
                              <a:cs typeface="Cambria Math" panose="02040503050406030204" pitchFamily="18" charset="0"/>
                            </a:rPr>
                            <m:t>𝑥</m:t>
                          </m:r>
                        </m:e>
                        <m:sup>
                          <m:r>
                            <a:rPr lang="en-US" altLang="zh-CN" sz="1600" i="1">
                              <a:latin typeface="Cambria Math" panose="02040503050406030204" pitchFamily="18" charset="0"/>
                              <a:ea typeface="+mn-ea"/>
                              <a:cs typeface="Cambria Math" panose="02040503050406030204" pitchFamily="18" charset="0"/>
                            </a:rPr>
                            <m:t>(</m:t>
                          </m:r>
                          <m:r>
                            <a:rPr lang="en-US" altLang="zh-CN" sz="1600" i="1">
                              <a:latin typeface="Cambria Math" panose="02040503050406030204" pitchFamily="18" charset="0"/>
                              <a:ea typeface="+mn-ea"/>
                              <a:cs typeface="Cambria Math" panose="02040503050406030204" pitchFamily="18" charset="0"/>
                            </a:rPr>
                            <m:t>𝑘</m:t>
                          </m:r>
                          <m:r>
                            <a:rPr lang="en-US" altLang="zh-CN" sz="1600" i="1">
                              <a:latin typeface="Cambria Math" panose="02040503050406030204" pitchFamily="18" charset="0"/>
                              <a:ea typeface="+mn-ea"/>
                              <a:cs typeface="Cambria Math" panose="02040503050406030204" pitchFamily="18" charset="0"/>
                            </a:rPr>
                            <m:t>)</m:t>
                          </m:r>
                        </m:sup>
                      </m:sSup>
                      <m:r>
                        <a:rPr lang="en-US" altLang="zh-CN" sz="1600" b="0" i="1" smtClean="0">
                          <a:latin typeface="Cambria Math" panose="02040503050406030204" pitchFamily="18" charset="0"/>
                          <a:ea typeface="+mn-ea"/>
                          <a:cs typeface="Cambria Math" panose="02040503050406030204" pitchFamily="18" charset="0"/>
                        </a:rPr>
                        <m:t>)</m:t>
                      </m:r>
                    </m:oMath>
                  </m:oMathPara>
                </a14:m>
                <a:endParaRPr lang="en-US" altLang="zh-CN" sz="1600" b="1" i="1" baseline="30000" dirty="0">
                  <a:solidFill>
                    <a:srgbClr val="000000"/>
                  </a:solidFill>
                  <a:latin typeface="Times New Roman" panose="02020603050405020304" pitchFamily="18" charset="0"/>
                </a:endParaRPr>
              </a:p>
            </p:txBody>
          </p:sp>
        </mc:Choice>
        <mc:Fallback>
          <p:sp>
            <p:nvSpPr>
              <p:cNvPr id="44" name="AutoShape 13"/>
              <p:cNvSpPr>
                <a:spLocks noRot="1" noChangeAspect="1" noMove="1" noResize="1" noEditPoints="1" noAdjustHandles="1" noChangeArrowheads="1" noChangeShapeType="1" noTextEdit="1"/>
              </p:cNvSpPr>
              <p:nvPr/>
            </p:nvSpPr>
            <p:spPr bwMode="auto">
              <a:xfrm>
                <a:off x="7408363" y="3029304"/>
                <a:ext cx="1813740" cy="401637"/>
              </a:xfrm>
              <a:prstGeom prst="flowChartProcess">
                <a:avLst/>
              </a:prstGeom>
              <a:blipFill rotWithShape="1">
                <a:blip r:embed="rId11"/>
                <a:stretch>
                  <a:fillRect l="-795" t="-3566" r="-770" b="-3469"/>
                </a:stretch>
              </a:blipFill>
              <a:ln w="28575" cap="sq">
                <a:solidFill>
                  <a:srgbClr val="00FF00"/>
                </a:solidFill>
                <a:miter lim="800000"/>
              </a:ln>
            </p:spPr>
            <p:txBody>
              <a:bodyPr/>
              <a:lstStyle/>
              <a:p>
                <a:r>
                  <a:rPr lang="zh-CN" altLang="en-US">
                    <a:noFill/>
                  </a:rPr>
                  <a:t> </a:t>
                </a:r>
              </a:p>
            </p:txBody>
          </p:sp>
        </mc:Fallback>
      </mc:AlternateContent>
      <p:sp>
        <p:nvSpPr>
          <p:cNvPr id="45" name="Line 48"/>
          <p:cNvSpPr>
            <a:spLocks noChangeShapeType="1"/>
          </p:cNvSpPr>
          <p:nvPr/>
        </p:nvSpPr>
        <p:spPr bwMode="auto">
          <a:xfrm flipH="1">
            <a:off x="8688551" y="2389742"/>
            <a:ext cx="741666" cy="7945"/>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6" name="Line 48"/>
          <p:cNvSpPr>
            <a:spLocks noChangeShapeType="1"/>
          </p:cNvSpPr>
          <p:nvPr/>
        </p:nvSpPr>
        <p:spPr bwMode="auto">
          <a:xfrm flipV="1">
            <a:off x="8256240" y="2617623"/>
            <a:ext cx="0" cy="405803"/>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7" name="Line 48"/>
          <p:cNvSpPr>
            <a:spLocks noChangeShapeType="1"/>
          </p:cNvSpPr>
          <p:nvPr/>
        </p:nvSpPr>
        <p:spPr bwMode="auto">
          <a:xfrm flipH="1">
            <a:off x="6640548" y="2734467"/>
            <a:ext cx="492928" cy="26721"/>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8" name="Line 60"/>
          <p:cNvSpPr>
            <a:spLocks noChangeShapeType="1"/>
          </p:cNvSpPr>
          <p:nvPr/>
        </p:nvSpPr>
        <p:spPr bwMode="auto">
          <a:xfrm flipH="1">
            <a:off x="7138870" y="1864584"/>
            <a:ext cx="2696" cy="857304"/>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59"/>
          <p:cNvSpPr>
            <a:spLocks noChangeShapeType="1"/>
          </p:cNvSpPr>
          <p:nvPr/>
        </p:nvSpPr>
        <p:spPr bwMode="auto">
          <a:xfrm flipV="1">
            <a:off x="7154282" y="1846652"/>
            <a:ext cx="1101958" cy="26720"/>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60"/>
          <p:cNvSpPr>
            <a:spLocks noChangeShapeType="1"/>
          </p:cNvSpPr>
          <p:nvPr/>
        </p:nvSpPr>
        <p:spPr bwMode="auto">
          <a:xfrm flipH="1">
            <a:off x="8271653" y="1846652"/>
            <a:ext cx="4228" cy="340367"/>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 name="Text Box 4"/>
          <p:cNvSpPr txBox="1">
            <a:spLocks noChangeArrowheads="1"/>
          </p:cNvSpPr>
          <p:nvPr/>
        </p:nvSpPr>
        <p:spPr bwMode="auto">
          <a:xfrm>
            <a:off x="407855" y="236521"/>
            <a:ext cx="553998" cy="2213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pPr>
              <a:buFontTx/>
              <a:buNone/>
              <a:defRPr/>
            </a:pPr>
            <a:r>
              <a:rPr lang="zh-CN" altLang="en-US" sz="2400" b="1" dirty="0">
                <a:solidFill>
                  <a:schemeClr val="tx1"/>
                </a:solidFill>
              </a:rPr>
              <a:t>有效集法流程图</a:t>
            </a:r>
            <a:endParaRPr lang="zh-CN" altLang="en-US" sz="2400" b="1" dirty="0">
              <a:solidFill>
                <a:schemeClr val="tx1"/>
              </a:solidFill>
            </a:endParaRPr>
          </a:p>
        </p:txBody>
      </p:sp>
      <p:sp>
        <p:nvSpPr>
          <p:cNvPr id="52" name="Text Box 25"/>
          <p:cNvSpPr txBox="1">
            <a:spLocks noChangeArrowheads="1"/>
          </p:cNvSpPr>
          <p:nvPr/>
        </p:nvSpPr>
        <p:spPr bwMode="auto">
          <a:xfrm>
            <a:off x="3176681" y="5983578"/>
            <a:ext cx="37189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8" rIns="92075" bIns="46038"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2000" b="1" dirty="0">
                <a:latin typeface="Times New Roman" panose="02020603050405020304" pitchFamily="18" charset="0"/>
              </a:rPr>
              <a:t>N</a:t>
            </a:r>
            <a:endParaRPr lang="en-US" altLang="zh-CN" sz="2000" dirty="0">
              <a:latin typeface="Times New Roman" panose="02020603050405020304" pitchFamily="18" charset="0"/>
            </a:endParaRPr>
          </a:p>
        </p:txBody>
      </p:sp>
      <p:sp>
        <p:nvSpPr>
          <p:cNvPr id="53" name="Text Box 25"/>
          <p:cNvSpPr txBox="1">
            <a:spLocks noChangeArrowheads="1"/>
          </p:cNvSpPr>
          <p:nvPr/>
        </p:nvSpPr>
        <p:spPr bwMode="auto">
          <a:xfrm>
            <a:off x="5446959" y="4146034"/>
            <a:ext cx="37189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8" rIns="92075" bIns="46038"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2000" b="1" dirty="0">
                <a:latin typeface="Times New Roman" panose="02020603050405020304" pitchFamily="18" charset="0"/>
              </a:rPr>
              <a:t>N</a:t>
            </a:r>
            <a:endParaRPr lang="en-US" altLang="zh-CN" sz="2000" dirty="0">
              <a:latin typeface="Times New Roman" panose="02020603050405020304" pitchFamily="18" charset="0"/>
            </a:endParaRPr>
          </a:p>
        </p:txBody>
      </p:sp>
      <p:sp>
        <p:nvSpPr>
          <p:cNvPr id="54" name="Text Box 25"/>
          <p:cNvSpPr txBox="1">
            <a:spLocks noChangeArrowheads="1"/>
          </p:cNvSpPr>
          <p:nvPr/>
        </p:nvSpPr>
        <p:spPr bwMode="auto">
          <a:xfrm>
            <a:off x="9339642" y="2853752"/>
            <a:ext cx="37189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8" rIns="92075" bIns="46038"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2000" b="1" dirty="0">
                <a:latin typeface="Times New Roman" panose="02020603050405020304" pitchFamily="18" charset="0"/>
              </a:rPr>
              <a:t>N</a:t>
            </a:r>
            <a:endParaRPr lang="en-US" altLang="zh-CN" sz="2000" dirty="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406717" y="332656"/>
                <a:ext cx="11378565" cy="6351226"/>
              </a:xfrm>
              <a:prstGeom prst="rect">
                <a:avLst/>
              </a:prstGeom>
              <a:noFill/>
            </p:spPr>
            <p:txBody>
              <a:bodyPr wrap="square" rtlCol="0">
                <a:spAutoFit/>
              </a:bodyPr>
              <a:lstStyle/>
              <a:p>
                <a:pPr algn="just">
                  <a:lnSpc>
                    <a:spcPct val="120000"/>
                  </a:lnSpc>
                </a:pPr>
                <a:r>
                  <a:rPr lang="zh-CN" altLang="en-US" sz="2400" b="1" dirty="0">
                    <a:solidFill>
                      <a:srgbClr val="0070C0"/>
                    </a:solidFill>
                    <a:latin typeface="+mn-ea"/>
                    <a:ea typeface="+mn-ea"/>
                  </a:rPr>
                  <a:t>例</a:t>
                </a:r>
                <a:r>
                  <a:rPr lang="zh-CN" altLang="en-US" sz="2400" dirty="0">
                    <a:latin typeface="+mn-ea"/>
                    <a:ea typeface="+mn-ea"/>
                  </a:rPr>
                  <a:t> 用有效集法求解二次规划问题</a:t>
                </a:r>
                <a:endParaRPr lang="zh-CN" altLang="en-US" sz="2400" dirty="0">
                  <a:latin typeface="+mn-ea"/>
                  <a:ea typeface="+mn-ea"/>
                </a:endParaRPr>
              </a:p>
              <a:p>
                <a:pPr algn="just">
                  <a:lnSpc>
                    <a:spcPct val="120000"/>
                  </a:lnSpc>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𝑚𝑖𝑛</m:t>
                      </m:r>
                      <m:r>
                        <a:rPr lang="en-US" altLang="zh-CN" sz="2400" i="1">
                          <a:latin typeface="Cambria Math" panose="02040503050406030204" pitchFamily="18" charset="0"/>
                          <a:ea typeface="+mn-ea"/>
                          <a:cs typeface="Cambria Math" panose="02040503050406030204" pitchFamily="18" charset="0"/>
                        </a:rPr>
                        <m:t>  </m:t>
                      </m:r>
                      <m:r>
                        <a:rPr lang="en-US" altLang="zh-CN" sz="2400" i="1">
                          <a:latin typeface="Cambria Math" panose="02040503050406030204" pitchFamily="18" charset="0"/>
                          <a:ea typeface="+mn-ea"/>
                          <a:cs typeface="Cambria Math" panose="02040503050406030204" pitchFamily="18" charset="0"/>
                        </a:rPr>
                        <m:t>𝑓</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r>
                        <a:rPr lang="en-US" altLang="zh-CN" sz="2400" i="1">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2</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2</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2</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4</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oMath>
                  </m:oMathPara>
                </a14:m>
                <a:endParaRPr kumimoji="1" lang="en-US" altLang="zh-CN" sz="2400" i="1" dirty="0">
                  <a:solidFill>
                    <a:schemeClr val="tx1"/>
                  </a:solidFill>
                  <a:latin typeface="+mn-ea"/>
                  <a:ea typeface="+mn-ea"/>
                  <a:cs typeface="宋体" panose="02010600030101010101" pitchFamily="2" charset="-122"/>
                </a:endParaRPr>
              </a:p>
              <a:p>
                <a:pPr algn="just">
                  <a:lnSpc>
                    <a:spcPct val="120000"/>
                  </a:lnSpc>
                </a:pPr>
                <a14:m>
                  <m:oMathPara xmlns:m="http://schemas.openxmlformats.org/officeDocument/2006/math">
                    <m:oMathParaPr>
                      <m:jc m:val="centerGroup"/>
                    </m:oMathParaPr>
                    <m:oMath xmlns:m="http://schemas.openxmlformats.org/officeDocument/2006/math">
                      <m:r>
                        <a:rPr kumimoji="1" lang="en-US" altLang="zh-CN" sz="2400" i="1">
                          <a:solidFill>
                            <a:schemeClr val="tx1"/>
                          </a:solidFill>
                          <a:latin typeface="Cambria Math" panose="02040503050406030204" pitchFamily="18" charset="0"/>
                          <a:ea typeface="+mn-ea"/>
                          <a:cs typeface="Cambria Math" panose="02040503050406030204" pitchFamily="18" charset="0"/>
                        </a:rPr>
                        <m:t>𝑠</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𝑡</m:t>
                      </m:r>
                      <m:r>
                        <a:rPr kumimoji="1" lang="en-US" altLang="zh-CN" sz="2400" i="1">
                          <a:solidFill>
                            <a:schemeClr val="tx1"/>
                          </a:solidFill>
                          <a:latin typeface="Cambria Math" panose="02040503050406030204" pitchFamily="18" charset="0"/>
                          <a:ea typeface="+mn-ea"/>
                          <a:cs typeface="Cambria Math" panose="02040503050406030204" pitchFamily="18" charset="0"/>
                        </a:rPr>
                        <m:t>.      </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𝑔</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d>
                        <m:d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d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d>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1</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oMath>
                  </m:oMathPara>
                </a14:m>
                <a:endParaRPr kumimoji="1" lang="en-US" altLang="zh-CN" sz="2400" i="1" dirty="0">
                  <a:solidFill>
                    <a:schemeClr val="tx1"/>
                  </a:solidFill>
                  <a:latin typeface="+mn-ea"/>
                  <a:ea typeface="+mn-ea"/>
                  <a:cs typeface="Cambria Math" panose="02040503050406030204" pitchFamily="18" charset="0"/>
                </a:endParaRPr>
              </a:p>
              <a:p>
                <a:pPr algn="just">
                  <a:lnSpc>
                    <a:spcPct val="120000"/>
                  </a:lnSpc>
                </a:pPr>
                <a:r>
                  <a:rPr kumimoji="1" lang="en-US" altLang="zh-CN" sz="2400" dirty="0">
                    <a:solidFill>
                      <a:schemeClr val="tx1"/>
                    </a:solidFill>
                    <a:ea typeface="+mn-ea"/>
                    <a:cs typeface="Cambria Math" panose="02040503050406030204" pitchFamily="18" charset="0"/>
                  </a:rPr>
                  <a:t>                                                    </a:t>
                </a:r>
                <a14:m>
                  <m:oMath xmlns:m="http://schemas.openxmlformats.org/officeDocument/2006/math">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𝑔</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oMath>
                </a14:m>
                <a:endParaRPr kumimoji="1" lang="en-US" altLang="zh-CN" sz="2400" i="1" dirty="0">
                  <a:solidFill>
                    <a:schemeClr val="tx1"/>
                  </a:solidFill>
                  <a:latin typeface="+mn-ea"/>
                  <a:ea typeface="+mn-ea"/>
                  <a:cs typeface="Cambria Math" panose="02040503050406030204" pitchFamily="18" charset="0"/>
                </a:endParaRPr>
              </a:p>
              <a:p>
                <a:pPr algn="just">
                  <a:lnSpc>
                    <a:spcPct val="120000"/>
                  </a:lnSpc>
                </a:pPr>
                <a:r>
                  <a:rPr lang="en-US" altLang="zh-CN" sz="2400" dirty="0">
                    <a:latin typeface="+mn-ea"/>
                    <a:ea typeface="+mn-ea"/>
                    <a:cs typeface="宋体" panose="02010600030101010101" pitchFamily="2" charset="-122"/>
                    <a:sym typeface="+mn-ea"/>
                  </a:rPr>
                  <a:t>                       </a:t>
                </a:r>
                <a:r>
                  <a:rPr kumimoji="1" lang="en-US" altLang="zh-CN" sz="2400" dirty="0">
                    <a:solidFill>
                      <a:schemeClr val="tx1"/>
                    </a:solidFill>
                    <a:latin typeface="+mn-ea"/>
                    <a:ea typeface="+mn-ea"/>
                    <a:cs typeface="Cambria Math" panose="02040503050406030204" pitchFamily="18" charset="0"/>
                  </a:rPr>
                  <a:t>      </a:t>
                </a:r>
                <a14:m>
                  <m:oMath xmlns:m="http://schemas.openxmlformats.org/officeDocument/2006/math">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𝑔</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𝑥</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oMath>
                </a14:m>
                <a:r>
                  <a:rPr lang="zh-CN" altLang="en-US" sz="2400" dirty="0">
                    <a:latin typeface="+mn-ea"/>
                    <a:ea typeface="+mn-ea"/>
                  </a:rPr>
                  <a:t>				</a:t>
                </a:r>
                <a:endParaRPr lang="zh-CN" altLang="en-US" sz="2400" dirty="0">
                  <a:latin typeface="+mn-ea"/>
                  <a:ea typeface="+mn-ea"/>
                </a:endParaRPr>
              </a:p>
              <a:p>
                <a:pPr algn="just">
                  <a:lnSpc>
                    <a:spcPct val="120000"/>
                  </a:lnSpc>
                </a:pPr>
                <a:r>
                  <a:rPr lang="zh-CN" altLang="en-US" sz="2400" dirty="0">
                    <a:latin typeface="+mn-ea"/>
                    <a:ea typeface="+mn-ea"/>
                  </a:rPr>
                  <a:t>   取初始点</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m:t>
                        </m:r>
                      </m:e>
                      <m:sup>
                        <m:r>
                          <a:rPr lang="en-US" altLang="zh-CN" sz="2400" i="1">
                            <a:latin typeface="Cambria Math" panose="02040503050406030204" pitchFamily="18" charset="0"/>
                            <a:ea typeface="+mn-ea"/>
                            <a:cs typeface="Cambria Math" panose="02040503050406030204" pitchFamily="18" charset="0"/>
                          </a:rPr>
                          <m:t>𝑇</m:t>
                        </m:r>
                      </m:sup>
                    </m:sSup>
                  </m:oMath>
                </a14:m>
                <a:r>
                  <a:rPr lang="zh-CN" altLang="en-US" sz="2400" dirty="0">
                    <a:latin typeface="+mn-ea"/>
                    <a:ea typeface="+mn-ea"/>
                  </a:rPr>
                  <a:t>。</a:t>
                </a:r>
                <a:endParaRPr lang="zh-CN" altLang="en-US" sz="2400" dirty="0">
                  <a:latin typeface="+mn-ea"/>
                  <a:ea typeface="+mn-ea"/>
                </a:endParaRPr>
              </a:p>
              <a:p>
                <a:pPr algn="just">
                  <a:lnSpc>
                    <a:spcPct val="120000"/>
                  </a:lnSpc>
                </a:pPr>
                <a:r>
                  <a:rPr lang="zh-CN" altLang="en-US" sz="2400" b="1" dirty="0">
                    <a:solidFill>
                      <a:srgbClr val="0070C0"/>
                    </a:solidFill>
                    <a:latin typeface="+mn-ea"/>
                    <a:ea typeface="+mn-ea"/>
                  </a:rPr>
                  <a:t>解</a:t>
                </a:r>
                <a:r>
                  <a:rPr lang="zh-CN" altLang="en-US" sz="2400" dirty="0">
                    <a:latin typeface="+mn-ea"/>
                    <a:ea typeface="+mn-ea"/>
                  </a:rPr>
                  <a:t> 计算</a:t>
                </a:r>
                <a14:m>
                  <m:oMath xmlns:m="http://schemas.openxmlformats.org/officeDocument/2006/math">
                    <m:r>
                      <m:rPr>
                        <m:sty m:val="p"/>
                      </m:rPr>
                      <a:rPr lang="en-US" altLang="zh-CN" sz="240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𝑓</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2</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4</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m:t>
                        </m:r>
                      </m:e>
                      <m:sup>
                        <m:r>
                          <a:rPr lang="en-US" altLang="zh-CN" sz="2400" i="1">
                            <a:latin typeface="Cambria Math" panose="02040503050406030204" pitchFamily="18" charset="0"/>
                            <a:ea typeface="+mn-ea"/>
                            <a:cs typeface="Cambria Math" panose="02040503050406030204" pitchFamily="18" charset="0"/>
                          </a:rPr>
                          <m:t>𝑇</m:t>
                        </m:r>
                      </m:sup>
                    </m:sSup>
                  </m:oMath>
                </a14:m>
                <a:r>
                  <a:rPr lang="zh-CN" altLang="en-US" sz="2400" dirty="0">
                    <a:latin typeface="+mn-ea"/>
                    <a:ea typeface="+mn-ea"/>
                  </a:rPr>
                  <a:t>，所以</a:t>
                </a:r>
                <a14:m>
                  <m:oMath xmlns:m="http://schemas.openxmlformats.org/officeDocument/2006/math">
                    <m:r>
                      <m:rPr>
                        <m:sty m:val="p"/>
                      </m:rPr>
                      <a:rPr lang="en-US" altLang="zh-CN" sz="240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𝑓</m:t>
                    </m:r>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4</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m:t>
                        </m:r>
                      </m:e>
                      <m:sup>
                        <m:r>
                          <a:rPr lang="en-US" altLang="zh-CN" sz="2400" i="1">
                            <a:latin typeface="Cambria Math" panose="02040503050406030204" pitchFamily="18" charset="0"/>
                            <a:ea typeface="+mn-ea"/>
                            <a:cs typeface="Cambria Math" panose="02040503050406030204" pitchFamily="18" charset="0"/>
                          </a:rPr>
                          <m:t>𝑇</m:t>
                        </m:r>
                      </m:sup>
                    </m:sSup>
                  </m:oMath>
                </a14:m>
                <a:r>
                  <a:rPr lang="zh-CN" altLang="en-US" sz="2400" dirty="0">
                    <a:latin typeface="+mn-ea"/>
                    <a:ea typeface="+mn-ea"/>
                  </a:rPr>
                  <a:t>，又</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𝐼</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𝑥</m:t>
                        </m:r>
                      </m:e>
                      <m: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m:t>
                        </m:r>
                      </m:sup>
                    </m:s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2</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3</m:t>
                    </m:r>
                    <m:r>
                      <a:rPr lang="en-US" altLang="zh-CN" sz="2400" i="1">
                        <a:latin typeface="Cambria Math" panose="02040503050406030204" pitchFamily="18" charset="0"/>
                        <a:cs typeface="Cambria Math" panose="02040503050406030204" pitchFamily="18" charset="0"/>
                      </a:rPr>
                      <m:t>},</m:t>
                    </m:r>
                  </m:oMath>
                </a14:m>
                <a:endParaRPr lang="zh-CN" altLang="en-US" sz="2400" dirty="0">
                  <a:latin typeface="+mn-ea"/>
                  <a:ea typeface="+mn-ea"/>
                </a:endParaRPr>
              </a:p>
              <a:p>
                <a:pPr algn="just">
                  <a:lnSpc>
                    <a:spcPct val="120000"/>
                  </a:lnSpc>
                </a:pPr>
                <a:r>
                  <a:rPr lang="zh-CN" altLang="en-US" sz="2400" dirty="0">
                    <a:latin typeface="+mn-ea"/>
                    <a:ea typeface="+mn-ea"/>
                  </a:rPr>
                  <a:t>   相应的等式约束问题为</a:t>
                </a:r>
                <a:endParaRPr lang="zh-CN" altLang="en-US" sz="2400" dirty="0">
                  <a:latin typeface="+mn-ea"/>
                  <a:ea typeface="+mn-ea"/>
                </a:endParaRPr>
              </a:p>
              <a:p>
                <a:pPr algn="just">
                  <a:lnSpc>
                    <a:spcPct val="120000"/>
                  </a:lnSpc>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𝑚𝑖𝑛</m:t>
                      </m:r>
                      <m:r>
                        <a:rPr lang="en-US" altLang="zh-CN" sz="2400" i="1">
                          <a:latin typeface="Cambria Math" panose="02040503050406030204" pitchFamily="18" charset="0"/>
                          <a:ea typeface="+mn-ea"/>
                          <a:cs typeface="Cambria Math" panose="02040503050406030204" pitchFamily="18" charset="0"/>
                        </a:rPr>
                        <m:t>  </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2</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2</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2</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4</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oMath>
                  </m:oMathPara>
                </a14:m>
                <a:endParaRPr kumimoji="1" lang="en-US" altLang="zh-CN" sz="2400" i="1" dirty="0">
                  <a:solidFill>
                    <a:schemeClr val="tx1"/>
                  </a:solidFill>
                  <a:latin typeface="+mn-ea"/>
                  <a:ea typeface="+mn-ea"/>
                  <a:cs typeface="宋体" panose="02010600030101010101" pitchFamily="2" charset="-122"/>
                </a:endParaRPr>
              </a:p>
              <a:p>
                <a:pPr algn="just">
                  <a:lnSpc>
                    <a:spcPct val="120000"/>
                  </a:lnSpc>
                </a:pPr>
                <a14:m>
                  <m:oMathPara xmlns:m="http://schemas.openxmlformats.org/officeDocument/2006/math">
                    <m:oMathParaPr>
                      <m:jc m:val="centerGroup"/>
                    </m:oMathParaPr>
                    <m:oMath xmlns:m="http://schemas.openxmlformats.org/officeDocument/2006/math">
                      <m:r>
                        <a:rPr kumimoji="1" lang="en-US" altLang="zh-CN" sz="2400" i="1">
                          <a:solidFill>
                            <a:schemeClr val="tx1"/>
                          </a:solidFill>
                          <a:latin typeface="Cambria Math" panose="02040503050406030204" pitchFamily="18" charset="0"/>
                          <a:ea typeface="+mn-ea"/>
                          <a:cs typeface="Cambria Math" panose="02040503050406030204" pitchFamily="18" charset="0"/>
                        </a:rPr>
                        <m:t>𝑠</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𝑡</m:t>
                      </m:r>
                      <m:r>
                        <a:rPr kumimoji="1" lang="en-US" altLang="zh-CN" sz="2400" i="1">
                          <a:solidFill>
                            <a:schemeClr val="tx1"/>
                          </a:solidFill>
                          <a:latin typeface="Cambria Math" panose="02040503050406030204" pitchFamily="18" charset="0"/>
                          <a:ea typeface="+mn-ea"/>
                          <a:cs typeface="Cambria Math" panose="02040503050406030204" pitchFamily="18" charset="0"/>
                        </a:rPr>
                        <m:t>.   </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oMath>
                  </m:oMathPara>
                </a14:m>
                <a:endParaRPr kumimoji="1" lang="en-US" altLang="zh-CN" sz="2400" i="1" dirty="0">
                  <a:solidFill>
                    <a:schemeClr val="tx1"/>
                  </a:solidFill>
                  <a:latin typeface="+mn-ea"/>
                  <a:ea typeface="+mn-ea"/>
                  <a:cs typeface="Cambria Math" panose="02040503050406030204" pitchFamily="18" charset="0"/>
                </a:endParaRPr>
              </a:p>
              <a:p>
                <a:pPr algn="just">
                  <a:lnSpc>
                    <a:spcPct val="120000"/>
                  </a:lnSpc>
                </a:pPr>
                <a:r>
                  <a:rPr kumimoji="1" lang="en-US" altLang="zh-CN" sz="2400" dirty="0">
                    <a:latin typeface="+mn-ea"/>
                    <a:ea typeface="+mn-ea"/>
                    <a:cs typeface="Cambria Math" panose="02040503050406030204" pitchFamily="18" charset="0"/>
                    <a:sym typeface="+mn-ea"/>
                  </a:rPr>
                  <a:t>                                    </a:t>
                </a:r>
                <a14:m>
                  <m:oMath xmlns:m="http://schemas.openxmlformats.org/officeDocument/2006/math">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oMath>
                </a14:m>
                <a:endParaRPr kumimoji="1" lang="en-US" altLang="zh-CN" sz="2400" i="1" dirty="0">
                  <a:solidFill>
                    <a:schemeClr val="tx1"/>
                  </a:solidFill>
                  <a:latin typeface="+mn-ea"/>
                  <a:ea typeface="+mn-ea"/>
                  <a:cs typeface="Cambria Math" panose="02040503050406030204" pitchFamily="18" charset="0"/>
                </a:endParaRPr>
              </a:p>
              <a:p>
                <a:pPr algn="just">
                  <a:lnSpc>
                    <a:spcPct val="120000"/>
                  </a:lnSpc>
                </a:pPr>
                <a:r>
                  <a:rPr kumimoji="1" lang="zh-CN" altLang="en-US" sz="2400" dirty="0">
                    <a:solidFill>
                      <a:schemeClr val="tx1"/>
                    </a:solidFill>
                    <a:ea typeface="+mn-ea"/>
                    <a:cs typeface="Cambria Math" panose="02040503050406030204" pitchFamily="18" charset="0"/>
                  </a:rPr>
                  <a:t>     解得    </a:t>
                </a:r>
                <a14:m>
                  <m:oMath xmlns:m="http://schemas.openxmlformats.org/officeDocument/2006/math">
                    <m:r>
                      <a:rPr kumimoji="1" lang="en-US" altLang="zh-CN" sz="2400" b="0" i="0" smtClean="0">
                        <a:solidFill>
                          <a:schemeClr val="tx1"/>
                        </a:solidFill>
                        <a:latin typeface="Cambria Math" panose="02040503050406030204" pitchFamily="18" charset="0"/>
                        <a:ea typeface="+mn-ea"/>
                        <a:cs typeface="Cambria Math" panose="02040503050406030204" pitchFamily="18" charset="0"/>
                      </a:rPr>
                      <m:t> </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oMath>
                </a14:m>
                <a:r>
                  <a:rPr lang="zh-CN" altLang="en-US" sz="2400" dirty="0">
                    <a:latin typeface="+mn-ea"/>
                    <a:ea typeface="+mn-ea"/>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𝜆</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2</m:t>
                    </m:r>
                    <m:r>
                      <a:rPr kumimoji="1" lang="en-US" altLang="zh-CN" sz="2400" i="1">
                        <a:solidFill>
                          <a:schemeClr val="tx1"/>
                        </a:solidFill>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𝜆</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4</m:t>
                    </m:r>
                    <m:r>
                      <a:rPr kumimoji="1" lang="zh-CN" altLang="en-US" sz="2400" i="1">
                        <a:latin typeface="Cambria Math" panose="02040503050406030204" pitchFamily="18" charset="0"/>
                        <a:ea typeface="+mn-ea"/>
                        <a:cs typeface="Cambria Math" panose="02040503050406030204" pitchFamily="18" charset="0"/>
                      </a:rPr>
                      <m:t>，</m:t>
                    </m:r>
                  </m:oMath>
                </a14:m>
                <a:r>
                  <a:rPr lang="zh-CN" altLang="en-US" sz="2400" dirty="0">
                    <a:latin typeface="+mn-ea"/>
                    <a:ea typeface="+mn-ea"/>
                  </a:rPr>
                  <a:t>由于乘子不满足非负，</a:t>
                </a:r>
                <a:endParaRPr lang="en-US" altLang="zh-CN" sz="2400" dirty="0">
                  <a:latin typeface="+mn-ea"/>
                  <a:ea typeface="+mn-ea"/>
                </a:endParaRPr>
              </a:p>
              <a:p>
                <a:pPr algn="just">
                  <a:lnSpc>
                    <a:spcPct val="120000"/>
                  </a:lnSpc>
                </a:pPr>
                <a:r>
                  <a:rPr lang="en-US" altLang="zh-CN" sz="2400" dirty="0">
                    <a:latin typeface="+mn-ea"/>
                    <a:ea typeface="+mn-ea"/>
                  </a:rPr>
                  <a:t>   </a:t>
                </a:r>
                <a:r>
                  <a:rPr lang="zh-CN" altLang="en-US" sz="2400" dirty="0">
                    <a:latin typeface="+mn-ea"/>
                    <a:ea typeface="+mn-ea"/>
                  </a:rPr>
                  <a:t>所以</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m:t>
                        </m:r>
                      </m:e>
                      <m:sup>
                        <m:r>
                          <a:rPr lang="en-US" altLang="zh-CN" sz="2400" i="1">
                            <a:latin typeface="Cambria Math" panose="02040503050406030204" pitchFamily="18" charset="0"/>
                            <a:ea typeface="+mn-ea"/>
                            <a:cs typeface="Cambria Math" panose="02040503050406030204" pitchFamily="18" charset="0"/>
                          </a:rPr>
                          <m:t>𝑇</m:t>
                        </m:r>
                      </m:sup>
                    </m:sSup>
                  </m:oMath>
                </a14:m>
                <a:r>
                  <a:rPr lang="zh-CN" altLang="en-US" sz="2400" dirty="0">
                    <a:latin typeface="+mn-ea"/>
                    <a:ea typeface="+mn-ea"/>
                  </a:rPr>
                  <a:t>不是最优解</a:t>
                </a:r>
                <a:r>
                  <a:rPr lang="zh-CN" altLang="en-US" sz="2400" dirty="0">
                    <a:latin typeface="+mn-ea"/>
                    <a:ea typeface="+mn-ea"/>
                    <a:sym typeface="+mn-ea"/>
                  </a:rPr>
                  <a:t>。</a:t>
                </a:r>
                <a:endParaRPr lang="zh-CN" altLang="en-US" sz="2400" dirty="0">
                  <a:latin typeface="+mn-ea"/>
                  <a:ea typeface="+mn-ea"/>
                </a:endParaRPr>
              </a:p>
              <a:p>
                <a:pPr algn="just">
                  <a:lnSpc>
                    <a:spcPct val="120000"/>
                  </a:lnSpc>
                </a:pPr>
                <a:endParaRPr lang="zh-CN" altLang="en-US" sz="2400" dirty="0">
                  <a:latin typeface="+mn-ea"/>
                  <a:ea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406717" y="332656"/>
                <a:ext cx="11378565" cy="6351226"/>
              </a:xfrm>
              <a:prstGeom prst="rect">
                <a:avLst/>
              </a:prstGeom>
              <a:blipFill rotWithShape="1">
                <a:blip r:embed="rId1"/>
                <a:stretch>
                  <a:fillRect l="-3" t="-9" r="3" b="8"/>
                </a:stretch>
              </a:blipFill>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767715" y="407670"/>
                <a:ext cx="9288145" cy="5481757"/>
              </a:xfrm>
              <a:prstGeom prst="rect">
                <a:avLst/>
              </a:prstGeom>
              <a:noFill/>
            </p:spPr>
            <p:txBody>
              <a:bodyPr wrap="square" rtlCol="0">
                <a:spAutoFit/>
              </a:bodyPr>
              <a:lstStyle/>
              <a:p>
                <a:pPr algn="just">
                  <a:lnSpc>
                    <a:spcPct val="110000"/>
                  </a:lnSpc>
                </a:pPr>
                <a:r>
                  <a:rPr lang="zh-CN" altLang="en-US" sz="2400" dirty="0">
                    <a:latin typeface="+mn-ea"/>
                    <a:ea typeface="+mn-ea"/>
                  </a:rPr>
                  <a:t>再进行第二轮计算。取</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b="0" i="1" smtClean="0">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m:t>
                        </m:r>
                      </m:e>
                      <m:sup>
                        <m:r>
                          <a:rPr lang="en-US" altLang="zh-CN" sz="2400" i="1">
                            <a:latin typeface="Cambria Math" panose="02040503050406030204" pitchFamily="18" charset="0"/>
                            <a:ea typeface="+mn-ea"/>
                            <a:cs typeface="Cambria Math" panose="02040503050406030204" pitchFamily="18" charset="0"/>
                          </a:rPr>
                          <m:t>𝑇</m:t>
                        </m:r>
                      </m:sup>
                    </m:sSup>
                    <m:r>
                      <a:rPr lang="en-US" altLang="zh-CN" sz="2400" i="1">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𝐼</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𝐼</m:t>
                    </m:r>
                    <m:r>
                      <a:rPr lang="en-US" altLang="zh-CN" sz="240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r>
                          <a:rPr lang="en-US" altLang="zh-CN" sz="2400" i="1">
                            <a:latin typeface="Cambria Math" panose="02040503050406030204" pitchFamily="18" charset="0"/>
                            <a:ea typeface="+mn-ea"/>
                            <a:cs typeface="Cambria Math" panose="02040503050406030204" pitchFamily="18" charset="0"/>
                          </a:rPr>
                          <m:t>)</m:t>
                        </m:r>
                      </m:sup>
                    </m:sSup>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3</m:t>
                    </m:r>
                    <m:r>
                      <a:rPr lang="en-US" altLang="zh-CN" sz="2400" i="1" smtClean="0">
                        <a:latin typeface="Cambria Math" panose="02040503050406030204" pitchFamily="18" charset="0"/>
                        <a:ea typeface="+mn-ea"/>
                        <a:cs typeface="Cambria Math" panose="02040503050406030204" pitchFamily="18" charset="0"/>
                      </a:rPr>
                      <m:t>}={</m:t>
                    </m:r>
                    <m:r>
                      <a:rPr lang="en-US" altLang="zh-CN" sz="2400" i="1" smtClean="0">
                        <a:latin typeface="Cambria Math" panose="02040503050406030204" pitchFamily="18" charset="0"/>
                        <a:ea typeface="+mn-ea"/>
                        <a:cs typeface="Cambria Math" panose="02040503050406030204" pitchFamily="18" charset="0"/>
                      </a:rPr>
                      <m:t>2</m:t>
                    </m:r>
                    <m:r>
                      <a:rPr lang="en-US" altLang="zh-CN" sz="2400" i="1" smtClean="0">
                        <a:latin typeface="Cambria Math" panose="02040503050406030204" pitchFamily="18" charset="0"/>
                        <a:ea typeface="+mn-ea"/>
                        <a:cs typeface="Cambria Math" panose="02040503050406030204" pitchFamily="18" charset="0"/>
                      </a:rPr>
                      <m:t>}</m:t>
                    </m:r>
                  </m:oMath>
                </a14:m>
                <a:r>
                  <a:rPr lang="en-US" altLang="zh-CN" sz="2400" dirty="0">
                    <a:latin typeface="+mn-ea"/>
                    <a:ea typeface="+mn-ea"/>
                  </a:rPr>
                  <a:t>,</a:t>
                </a:r>
                <a:r>
                  <a:rPr lang="zh-CN" altLang="en-US" sz="2400" dirty="0">
                    <a:latin typeface="+mn-ea"/>
                    <a:ea typeface="+mn-ea"/>
                  </a:rPr>
                  <a:t>相应的等式约束二次规划问题为</a:t>
                </a:r>
                <a:endParaRPr lang="zh-CN" altLang="en-US" sz="2400" dirty="0">
                  <a:latin typeface="+mn-ea"/>
                  <a:ea typeface="+mn-ea"/>
                </a:endParaRPr>
              </a:p>
              <a:p>
                <a:pPr algn="just">
                  <a:lnSpc>
                    <a:spcPct val="110000"/>
                  </a:lnSpc>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mn-ea"/>
                          <a:cs typeface="Cambria Math" panose="02040503050406030204" pitchFamily="18" charset="0"/>
                        </a:rPr>
                        <m:t>𝑚𝑖𝑛</m:t>
                      </m:r>
                      <m:r>
                        <a:rPr lang="en-US" altLang="zh-CN" sz="2400" i="1">
                          <a:latin typeface="Cambria Math" panose="02040503050406030204" pitchFamily="18" charset="0"/>
                          <a:ea typeface="+mn-ea"/>
                          <a:cs typeface="Cambria Math" panose="02040503050406030204" pitchFamily="18" charset="0"/>
                        </a:rPr>
                        <m:t>  </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2</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2</m:t>
                          </m:r>
                        </m:sup>
                      </m:sSubSup>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2</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4</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oMath>
                  </m:oMathPara>
                </a14:m>
                <a:endParaRPr kumimoji="1" lang="en-US" altLang="zh-CN" sz="2400" i="1" dirty="0">
                  <a:solidFill>
                    <a:schemeClr val="tx1"/>
                  </a:solidFill>
                  <a:latin typeface="+mn-ea"/>
                  <a:ea typeface="+mn-ea"/>
                  <a:cs typeface="宋体" panose="02010600030101010101" pitchFamily="2" charset="-122"/>
                </a:endParaRPr>
              </a:p>
              <a:p>
                <a:pPr algn="just">
                  <a:lnSpc>
                    <a:spcPct val="110000"/>
                  </a:lnSpc>
                </a:pPr>
                <a14:m>
                  <m:oMathPara xmlns:m="http://schemas.openxmlformats.org/officeDocument/2006/math">
                    <m:oMathParaPr>
                      <m:jc m:val="centerGroup"/>
                    </m:oMathParaPr>
                    <m:oMath xmlns:m="http://schemas.openxmlformats.org/officeDocument/2006/math">
                      <m:r>
                        <a:rPr kumimoji="1" lang="en-US" altLang="zh-CN" sz="2400" i="1">
                          <a:solidFill>
                            <a:schemeClr val="tx1"/>
                          </a:solidFill>
                          <a:latin typeface="Cambria Math" panose="02040503050406030204" pitchFamily="18" charset="0"/>
                          <a:ea typeface="+mn-ea"/>
                          <a:cs typeface="Cambria Math" panose="02040503050406030204" pitchFamily="18" charset="0"/>
                        </a:rPr>
                        <m:t>𝑠</m:t>
                      </m:r>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𝑡</m:t>
                      </m:r>
                      <m:r>
                        <a:rPr kumimoji="1" lang="en-US" altLang="zh-CN" sz="2400" i="1">
                          <a:solidFill>
                            <a:schemeClr val="tx1"/>
                          </a:solidFill>
                          <a:latin typeface="Cambria Math" panose="02040503050406030204" pitchFamily="18" charset="0"/>
                          <a:ea typeface="+mn-ea"/>
                          <a:cs typeface="Cambria Math" panose="02040503050406030204" pitchFamily="18" charset="0"/>
                        </a:rPr>
                        <m:t>.   </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𝑑</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0</m:t>
                      </m:r>
                    </m:oMath>
                  </m:oMathPara>
                </a14:m>
                <a:endParaRPr kumimoji="1" lang="en-US" altLang="zh-CN" sz="2400" i="1" dirty="0">
                  <a:solidFill>
                    <a:schemeClr val="tx1"/>
                  </a:solidFill>
                  <a:latin typeface="+mn-ea"/>
                  <a:ea typeface="+mn-ea"/>
                  <a:cs typeface="Cambria Math" panose="02040503050406030204" pitchFamily="18" charset="0"/>
                </a:endParaRPr>
              </a:p>
              <a:p>
                <a:pPr algn="just">
                  <a:lnSpc>
                    <a:spcPct val="110000"/>
                  </a:lnSpc>
                </a:pPr>
                <a:r>
                  <a:rPr lang="zh-CN" altLang="en-US" sz="2400" dirty="0">
                    <a:latin typeface="+mn-ea"/>
                    <a:ea typeface="+mn-ea"/>
                  </a:rPr>
                  <a:t>可得</a:t>
                </a:r>
                <a14:m>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m:t>
                        </m:r>
                      </m:e>
                      <m:sup>
                        <m:r>
                          <a:rPr lang="en-US" altLang="zh-CN" sz="2400" i="1">
                            <a:latin typeface="Cambria Math" panose="02040503050406030204" pitchFamily="18" charset="0"/>
                            <a:ea typeface="+mn-ea"/>
                            <a:cs typeface="Cambria Math" panose="02040503050406030204" pitchFamily="18" charset="0"/>
                          </a:rPr>
                          <m:t>𝑇</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oMath>
                </a14:m>
                <a:r>
                  <a:rPr lang="en-US" altLang="zh-CN" sz="2400" dirty="0">
                    <a:latin typeface="+mn-ea"/>
                    <a:ea typeface="+mn-ea"/>
                  </a:rPr>
                  <a:t>.</a:t>
                </a:r>
                <a:r>
                  <a:rPr lang="zh-CN" altLang="en-US" sz="2400" dirty="0">
                    <a:latin typeface="+mn-ea"/>
                    <a:ea typeface="+mn-ea"/>
                  </a:rPr>
                  <a:t>计算</a:t>
                </a:r>
                <a:endParaRPr lang="zh-CN" altLang="en-US" sz="2400" dirty="0">
                  <a:latin typeface="+mn-ea"/>
                  <a:ea typeface="+mn-ea"/>
                </a:endParaRPr>
              </a:p>
              <a:p>
                <a:pPr algn="just">
                  <a:lnSpc>
                    <a:spcPct val="110000"/>
                  </a:lnSpc>
                </a:pPr>
                <a14:m>
                  <m:oMathPara xmlns:m="http://schemas.openxmlformats.org/officeDocument/2006/math">
                    <m:oMathParaPr>
                      <m:jc m:val="centerGroup"/>
                    </m:oMathParaPr>
                    <m:oMath xmlns:m="http://schemas.openxmlformats.org/officeDocument/2006/math">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acc>
                            <m:accPr>
                              <m:chr m:val="̅"/>
                              <m:ctrlPr>
                                <a:rPr kumimoji="1" lang="en-US" altLang="zh-CN" sz="2400" i="1">
                                  <a:solidFill>
                                    <a:schemeClr val="tx1"/>
                                  </a:solidFill>
                                  <a:latin typeface="Cambria Math" panose="02040503050406030204" pitchFamily="18" charset="0"/>
                                  <a:ea typeface="+mn-ea"/>
                                  <a:cs typeface="Cambria Math" panose="02040503050406030204" pitchFamily="18" charset="0"/>
                                </a:rPr>
                              </m:ctrlPr>
                            </m:accPr>
                            <m:e>
                              <m:r>
                                <a:rPr kumimoji="1" lang="en-US" altLang="zh-CN" sz="2400" i="1">
                                  <a:solidFill>
                                    <a:schemeClr val="tx1"/>
                                  </a:solidFill>
                                  <a:latin typeface="Cambria Math" panose="02040503050406030204" pitchFamily="18" charset="0"/>
                                  <a:ea typeface="+mn-ea"/>
                                  <a:cs typeface="Cambria Math" panose="02040503050406030204" pitchFamily="18" charset="0"/>
                                </a:rPr>
                                <m:t>𝛼</m:t>
                              </m:r>
                            </m:e>
                          </m:acc>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r>
                        <a:rPr lang="en-US" altLang="zh-CN" sz="2400" i="1">
                          <a:latin typeface="Cambria Math" panose="02040503050406030204" pitchFamily="18" charset="0"/>
                          <a:ea typeface="+mn-ea"/>
                          <a:cs typeface="Cambria Math" panose="02040503050406030204" pitchFamily="18" charset="0"/>
                        </a:rPr>
                        <m:t>=</m:t>
                      </m:r>
                      <m:f>
                        <m:fPr>
                          <m:ctrlPr>
                            <a:rPr lang="en-US" altLang="zh-CN" sz="2400" i="1">
                              <a:latin typeface="Cambria Math" panose="02040503050406030204" pitchFamily="18" charset="0"/>
                              <a:ea typeface="+mn-ea"/>
                              <a:cs typeface="Cambria Math" panose="02040503050406030204" pitchFamily="18" charset="0"/>
                            </a:rPr>
                          </m:ctrlPr>
                        </m:fPr>
                        <m:num>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𝑏</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num>
                        <m:den>
                          <m:sSubSup>
                            <m:sSubSup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SupPr>
                            <m:e>
                              <m:r>
                                <a:rPr kumimoji="1" lang="en-US" altLang="zh-CN" sz="2400" i="1">
                                  <a:solidFill>
                                    <a:schemeClr val="tx1"/>
                                  </a:solidFill>
                                  <a:latin typeface="Cambria Math" panose="02040503050406030204" pitchFamily="18" charset="0"/>
                                  <a:ea typeface="+mn-ea"/>
                                  <a:cs typeface="Cambria Math" panose="02040503050406030204" pitchFamily="18" charset="0"/>
                                </a:rPr>
                                <m:t>𝐴</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1</m:t>
                              </m:r>
                            </m:sub>
                            <m:sup>
                              <m:r>
                                <a:rPr kumimoji="1" lang="en-US" altLang="zh-CN" sz="2400" i="1">
                                  <a:solidFill>
                                    <a:schemeClr val="tx1"/>
                                  </a:solidFill>
                                  <a:latin typeface="Cambria Math" panose="02040503050406030204" pitchFamily="18" charset="0"/>
                                  <a:ea typeface="+mn-ea"/>
                                  <a:cs typeface="Cambria Math" panose="02040503050406030204" pitchFamily="18" charset="0"/>
                                </a:rPr>
                                <m:t>𝑇</m:t>
                              </m:r>
                            </m:sup>
                          </m:sSubSup>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den>
                      </m:f>
                      <m:r>
                        <a:rPr lang="en-US" altLang="zh-CN" sz="2400" i="1">
                          <a:latin typeface="Cambria Math" panose="02040503050406030204" pitchFamily="18" charset="0"/>
                          <a:ea typeface="+mn-ea"/>
                          <a:cs typeface="Cambria Math" panose="02040503050406030204" pitchFamily="18" charset="0"/>
                        </a:rPr>
                        <m:t>=</m:t>
                      </m:r>
                      <m:f>
                        <m:fPr>
                          <m:ctrlPr>
                            <a:rPr lang="en-US" altLang="zh-CN" sz="2400" i="1">
                              <a:latin typeface="Cambria Math" panose="02040503050406030204" pitchFamily="18" charset="0"/>
                              <a:ea typeface="+mn-ea"/>
                              <a:cs typeface="Cambria Math" panose="02040503050406030204" pitchFamily="18" charset="0"/>
                            </a:rPr>
                          </m:ctrlPr>
                        </m:fPr>
                        <m:num>
                          <m:r>
                            <a:rPr lang="en-US" altLang="zh-CN" sz="2400" i="1">
                              <a:latin typeface="Cambria Math" panose="02040503050406030204" pitchFamily="18" charset="0"/>
                              <a:ea typeface="+mn-ea"/>
                              <a:cs typeface="Cambria Math" panose="02040503050406030204" pitchFamily="18" charset="0"/>
                            </a:rPr>
                            <m:t>1</m:t>
                          </m:r>
                        </m:num>
                        <m:den>
                          <m:r>
                            <a:rPr lang="en-US" altLang="zh-CN" sz="2400" i="1">
                              <a:latin typeface="Cambria Math" panose="02040503050406030204" pitchFamily="18" charset="0"/>
                              <a:ea typeface="+mn-ea"/>
                              <a:cs typeface="Cambria Math" panose="02040503050406030204" pitchFamily="18" charset="0"/>
                            </a:rPr>
                            <m:t>2</m:t>
                          </m:r>
                        </m:den>
                      </m:f>
                    </m:oMath>
                  </m:oMathPara>
                </a14:m>
                <a:endParaRPr lang="en-US" altLang="zh-CN" sz="2400" i="1" dirty="0">
                  <a:latin typeface="+mn-ea"/>
                  <a:ea typeface="+mn-ea"/>
                  <a:cs typeface="Cambria Math" panose="02040503050406030204" pitchFamily="18" charset="0"/>
                </a:endParaRPr>
              </a:p>
              <a:p>
                <a:pPr algn="just">
                  <a:lnSpc>
                    <a:spcPct val="110000"/>
                  </a:lnSpc>
                </a:pPr>
                <a14:m>
                  <m:oMathPara xmlns:m="http://schemas.openxmlformats.org/officeDocument/2006/math">
                    <m:oMathParaPr>
                      <m:jc m:val="centerGroup"/>
                    </m:oMathParaPr>
                    <m:oMath xmlns:m="http://schemas.openxmlformats.org/officeDocument/2006/math">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𝛼</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𝑚𝑖𝑛</m:t>
                      </m:r>
                      <m:r>
                        <a:rPr kumimoji="1" lang="en-US" altLang="zh-CN" sz="2400" i="1">
                          <a:solidFill>
                            <a:schemeClr val="tx1"/>
                          </a:solidFill>
                          <a:latin typeface="Cambria Math" panose="02040503050406030204" pitchFamily="18" charset="0"/>
                          <a:ea typeface="+mn-ea"/>
                          <a:cs typeface="Cambria Math" panose="02040503050406030204" pitchFamily="18" charset="0"/>
                        </a:rPr>
                        <m:t>{</m:t>
                      </m:r>
                      <m:f>
                        <m:fPr>
                          <m:ctrlPr>
                            <a:rPr lang="en-US" altLang="zh-CN" sz="2400" i="1">
                              <a:latin typeface="Cambria Math" panose="02040503050406030204" pitchFamily="18" charset="0"/>
                              <a:ea typeface="+mn-ea"/>
                              <a:cs typeface="Cambria Math" panose="02040503050406030204" pitchFamily="18" charset="0"/>
                            </a:rPr>
                          </m:ctrlPr>
                        </m:fPr>
                        <m:num>
                          <m:r>
                            <a:rPr lang="en-US" altLang="zh-CN" sz="2400" i="1">
                              <a:latin typeface="Cambria Math" panose="02040503050406030204" pitchFamily="18" charset="0"/>
                              <a:ea typeface="+mn-ea"/>
                              <a:cs typeface="Cambria Math" panose="02040503050406030204" pitchFamily="18" charset="0"/>
                            </a:rPr>
                            <m:t>1</m:t>
                          </m:r>
                        </m:num>
                        <m:den>
                          <m:r>
                            <a:rPr lang="en-US" altLang="zh-CN" sz="2400" i="1">
                              <a:latin typeface="Cambria Math" panose="02040503050406030204" pitchFamily="18" charset="0"/>
                              <a:ea typeface="+mn-ea"/>
                              <a:cs typeface="Cambria Math" panose="02040503050406030204" pitchFamily="18" charset="0"/>
                            </a:rPr>
                            <m:t>2</m:t>
                          </m:r>
                        </m:den>
                      </m:f>
                      <m:r>
                        <a:rPr kumimoji="1" lang="en-US" altLang="zh-CN" sz="2400" i="1">
                          <a:solidFill>
                            <a:schemeClr val="tx1"/>
                          </a:solidFill>
                          <a:latin typeface="Cambria Math" panose="02040503050406030204" pitchFamily="18" charset="0"/>
                          <a:ea typeface="+mn-ea"/>
                          <a:cs typeface="Cambria Math" panose="02040503050406030204" pitchFamily="18" charset="0"/>
                        </a:rPr>
                        <m:t>,</m:t>
                      </m:r>
                      <m:r>
                        <a:rPr kumimoji="1" lang="en-US" altLang="zh-CN" sz="2400" i="1">
                          <a:solidFill>
                            <a:schemeClr val="tx1"/>
                          </a:solidFill>
                          <a:latin typeface="Cambria Math" panose="02040503050406030204" pitchFamily="18" charset="0"/>
                          <a:ea typeface="+mn-ea"/>
                          <a:cs typeface="Cambria Math" panose="02040503050406030204" pitchFamily="18" charset="0"/>
                        </a:rPr>
                        <m:t>1</m:t>
                      </m:r>
                      <m:r>
                        <a:rPr kumimoji="1" lang="en-US" altLang="zh-CN" sz="2400" i="1">
                          <a:solidFill>
                            <a:schemeClr val="tx1"/>
                          </a:solidFill>
                          <a:latin typeface="Cambria Math" panose="02040503050406030204" pitchFamily="18" charset="0"/>
                          <a:ea typeface="+mn-ea"/>
                          <a:cs typeface="Cambria Math" panose="02040503050406030204" pitchFamily="18" charset="0"/>
                        </a:rPr>
                        <m:t>}=</m:t>
                      </m:r>
                      <m:f>
                        <m:fPr>
                          <m:ctrlPr>
                            <a:rPr lang="en-US" altLang="zh-CN" sz="2400" i="1">
                              <a:latin typeface="Cambria Math" panose="02040503050406030204" pitchFamily="18" charset="0"/>
                              <a:ea typeface="+mn-ea"/>
                              <a:cs typeface="Cambria Math" panose="02040503050406030204" pitchFamily="18" charset="0"/>
                            </a:rPr>
                          </m:ctrlPr>
                        </m:fPr>
                        <m:num>
                          <m:r>
                            <a:rPr lang="en-US" altLang="zh-CN" sz="2400" i="1">
                              <a:latin typeface="Cambria Math" panose="02040503050406030204" pitchFamily="18" charset="0"/>
                              <a:ea typeface="+mn-ea"/>
                              <a:cs typeface="Cambria Math" panose="02040503050406030204" pitchFamily="18" charset="0"/>
                            </a:rPr>
                            <m:t>1</m:t>
                          </m:r>
                        </m:num>
                        <m:den>
                          <m:r>
                            <a:rPr lang="en-US" altLang="zh-CN" sz="2400" i="1">
                              <a:latin typeface="Cambria Math" panose="02040503050406030204" pitchFamily="18" charset="0"/>
                              <a:ea typeface="+mn-ea"/>
                              <a:cs typeface="Cambria Math" panose="02040503050406030204" pitchFamily="18" charset="0"/>
                            </a:rPr>
                            <m:t>2</m:t>
                          </m:r>
                        </m:den>
                      </m:f>
                    </m:oMath>
                  </m:oMathPara>
                </a14:m>
                <a:endParaRPr lang="zh-CN" altLang="en-US" sz="2400" dirty="0">
                  <a:latin typeface="+mn-ea"/>
                  <a:ea typeface="+mn-ea"/>
                </a:endParaRPr>
              </a:p>
              <a:p>
                <a:pPr algn="just">
                  <a:lnSpc>
                    <a:spcPct val="110000"/>
                  </a:lnSpc>
                </a:pPr>
                <a:r>
                  <a:rPr lang="zh-CN" altLang="en-US" sz="2400" dirty="0">
                    <a:latin typeface="+mn-ea"/>
                    <a:ea typeface="+mn-ea"/>
                  </a:rPr>
                  <a:t>所以</a:t>
                </a:r>
                <a:endParaRPr lang="zh-CN" altLang="en-US" sz="2400" dirty="0">
                  <a:latin typeface="+mn-ea"/>
                  <a:ea typeface="+mn-ea"/>
                </a:endParaRPr>
              </a:p>
              <a:p>
                <a:pPr algn="just">
                  <a:lnSpc>
                    <a:spcPct val="110000"/>
                  </a:lnSpc>
                </a:pPr>
                <a14:m>
                  <m:oMathPara xmlns:m="http://schemas.openxmlformats.org/officeDocument/2006/math">
                    <m:oMathParaPr>
                      <m:jc m:val="centerGroup"/>
                    </m:oMathParaPr>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3</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mn-ea"/>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n-ea"/>
                              <a:cs typeface="Cambria Math" panose="02040503050406030204" pitchFamily="18" charset="0"/>
                            </a:rPr>
                            <m:t>𝛼</m:t>
                          </m:r>
                        </m:e>
                        <m:sub>
                          <m:r>
                            <a:rPr kumimoji="1" lang="en-US" altLang="zh-CN" sz="2400" i="1">
                              <a:solidFill>
                                <a:schemeClr val="tx1"/>
                              </a:solidFill>
                              <a:latin typeface="Cambria Math" panose="02040503050406030204" pitchFamily="18" charset="0"/>
                              <a:ea typeface="+mn-ea"/>
                              <a:cs typeface="Cambria Math" panose="02040503050406030204" pitchFamily="18" charset="0"/>
                            </a:rPr>
                            <m:t>2</m:t>
                          </m:r>
                        </m:sub>
                      </m:sSub>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𝑑</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m:t>
                          </m:r>
                        </m:e>
                        <m:sup>
                          <m:r>
                            <a:rPr lang="en-US" altLang="zh-CN" sz="2400" i="1">
                              <a:latin typeface="Cambria Math" panose="02040503050406030204" pitchFamily="18" charset="0"/>
                              <a:ea typeface="+mn-ea"/>
                              <a:cs typeface="Cambria Math" panose="02040503050406030204" pitchFamily="18" charset="0"/>
                            </a:rPr>
                            <m:t>𝑇</m:t>
                          </m:r>
                        </m:sup>
                      </m:sSup>
                      <m:r>
                        <a:rPr lang="en-US" altLang="zh-CN" sz="2400" i="1">
                          <a:latin typeface="Cambria Math" panose="02040503050406030204" pitchFamily="18" charset="0"/>
                          <a:ea typeface="+mn-ea"/>
                          <a:cs typeface="Cambria Math" panose="02040503050406030204" pitchFamily="18" charset="0"/>
                        </a:rPr>
                        <m:t>+</m:t>
                      </m:r>
                      <m:f>
                        <m:fPr>
                          <m:ctrlPr>
                            <a:rPr lang="en-US" altLang="zh-CN" sz="2400" i="1">
                              <a:latin typeface="Cambria Math" panose="02040503050406030204" pitchFamily="18" charset="0"/>
                              <a:ea typeface="+mn-ea"/>
                              <a:cs typeface="Cambria Math" panose="02040503050406030204" pitchFamily="18" charset="0"/>
                            </a:rPr>
                          </m:ctrlPr>
                        </m:fPr>
                        <m:num>
                          <m:r>
                            <a:rPr lang="en-US" altLang="zh-CN" sz="2400" i="1">
                              <a:latin typeface="Cambria Math" panose="02040503050406030204" pitchFamily="18" charset="0"/>
                              <a:ea typeface="+mn-ea"/>
                              <a:cs typeface="Cambria Math" panose="02040503050406030204" pitchFamily="18" charset="0"/>
                            </a:rPr>
                            <m:t>1</m:t>
                          </m:r>
                        </m:num>
                        <m:den>
                          <m:r>
                            <a:rPr lang="en-US" altLang="zh-CN" sz="2400" i="1">
                              <a:latin typeface="Cambria Math" panose="02040503050406030204" pitchFamily="18" charset="0"/>
                              <a:ea typeface="+mn-ea"/>
                              <a:cs typeface="Cambria Math" panose="02040503050406030204" pitchFamily="18" charset="0"/>
                            </a:rPr>
                            <m:t>2</m:t>
                          </m:r>
                        </m:den>
                      </m:f>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m:t>
                          </m:r>
                        </m:e>
                        <m:sup>
                          <m:r>
                            <a:rPr lang="en-US" altLang="zh-CN" sz="2400" i="1">
                              <a:latin typeface="Cambria Math" panose="02040503050406030204" pitchFamily="18" charset="0"/>
                              <a:ea typeface="+mn-ea"/>
                              <a:cs typeface="Cambria Math" panose="02040503050406030204" pitchFamily="18" charset="0"/>
                            </a:rPr>
                            <m:t>𝑇</m:t>
                          </m:r>
                        </m:sup>
                      </m:s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0</m:t>
                      </m:r>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1</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i="1">
                              <a:latin typeface="Cambria Math" panose="02040503050406030204" pitchFamily="18" charset="0"/>
                              <a:ea typeface="+mn-ea"/>
                              <a:cs typeface="Cambria Math" panose="02040503050406030204" pitchFamily="18" charset="0"/>
                            </a:rPr>
                            <m:t>)</m:t>
                          </m:r>
                        </m:e>
                        <m:sup>
                          <m:r>
                            <a:rPr lang="en-US" altLang="zh-CN" sz="2400" i="1">
                              <a:latin typeface="Cambria Math" panose="02040503050406030204" pitchFamily="18" charset="0"/>
                              <a:ea typeface="+mn-ea"/>
                              <a:cs typeface="Cambria Math" panose="02040503050406030204" pitchFamily="18" charset="0"/>
                            </a:rPr>
                            <m:t>𝑇</m:t>
                          </m:r>
                        </m:sup>
                      </m:sSup>
                    </m:oMath>
                  </m:oMathPara>
                </a14:m>
                <a:endParaRPr lang="zh-CN" altLang="en-US" sz="2400" dirty="0">
                  <a:latin typeface="+mn-ea"/>
                  <a:ea typeface="+mn-ea"/>
                </a:endParaRPr>
              </a:p>
              <a:p>
                <a:pPr algn="just">
                  <a:lnSpc>
                    <a:spcPct val="110000"/>
                  </a:lnSpc>
                </a:pPr>
                <a14:m>
                  <m:oMathPara xmlns:m="http://schemas.openxmlformats.org/officeDocument/2006/math">
                    <m:oMathParaPr>
                      <m:jc m:val="centerGroup"/>
                    </m:oMathParaPr>
                    <m:oMath xmlns:m="http://schemas.openxmlformats.org/officeDocument/2006/math">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3</m:t>
                          </m:r>
                          <m:r>
                            <a:rPr lang="en-US" altLang="zh-CN" sz="2400" i="1">
                              <a:latin typeface="Cambria Math" panose="02040503050406030204" pitchFamily="18" charset="0"/>
                              <a:ea typeface="+mn-ea"/>
                              <a:cs typeface="Cambria Math" panose="02040503050406030204" pitchFamily="18" charset="0"/>
                            </a:rPr>
                            <m:t>)</m:t>
                          </m:r>
                        </m:sup>
                      </m:sSup>
                      <m:r>
                        <a:rPr lang="en-US" altLang="zh-CN" sz="2400" b="0" i="1" smtClean="0">
                          <a:latin typeface="Cambria Math" panose="02040503050406030204" pitchFamily="18" charset="0"/>
                          <a:ea typeface="+mn-ea"/>
                          <a:cs typeface="Cambria Math" panose="02040503050406030204" pitchFamily="18" charset="0"/>
                        </a:rPr>
                        <m:t>)=</m:t>
                      </m:r>
                      <m:sSup>
                        <m:sSupPr>
                          <m:ctrlPr>
                            <a:rPr lang="en-US" altLang="zh-CN" sz="2400" i="1">
                              <a:latin typeface="Cambria Math" panose="02040503050406030204" pitchFamily="18" charset="0"/>
                              <a:ea typeface="+mn-ea"/>
                              <a:cs typeface="Cambria Math" panose="02040503050406030204" pitchFamily="18" charset="0"/>
                            </a:rPr>
                          </m:ctrlPr>
                        </m:sSupPr>
                        <m:e>
                          <m:r>
                            <a:rPr lang="en-US" altLang="zh-CN" sz="2400" b="0" i="1" smtClean="0">
                              <a:latin typeface="Cambria Math" panose="02040503050406030204" pitchFamily="18" charset="0"/>
                              <a:ea typeface="+mn-ea"/>
                              <a:cs typeface="Cambria Math" panose="02040503050406030204" pitchFamily="18" charset="0"/>
                            </a:rPr>
                            <m:t>𝐼</m:t>
                          </m:r>
                          <m:r>
                            <a:rPr lang="en-US" altLang="zh-CN" sz="2400" b="0" i="1" smtClean="0">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𝑥</m:t>
                          </m:r>
                        </m:e>
                        <m:sup>
                          <m:r>
                            <a:rPr lang="en-US" altLang="zh-CN" sz="2400" i="1">
                              <a:latin typeface="Cambria Math" panose="02040503050406030204" pitchFamily="18" charset="0"/>
                              <a:ea typeface="+mn-ea"/>
                              <a:cs typeface="Cambria Math" panose="02040503050406030204" pitchFamily="18" charset="0"/>
                            </a:rPr>
                            <m:t>(</m:t>
                          </m:r>
                          <m:r>
                            <a:rPr lang="en-US" altLang="zh-CN" sz="2400" i="1">
                              <a:latin typeface="Cambria Math" panose="02040503050406030204" pitchFamily="18" charset="0"/>
                              <a:ea typeface="+mn-ea"/>
                              <a:cs typeface="Cambria Math" panose="02040503050406030204" pitchFamily="18" charset="0"/>
                            </a:rPr>
                            <m:t>2</m:t>
                          </m:r>
                          <m:r>
                            <a:rPr lang="en-US" altLang="zh-CN" sz="2400" i="1">
                              <a:latin typeface="Cambria Math" panose="02040503050406030204" pitchFamily="18" charset="0"/>
                              <a:ea typeface="+mn-ea"/>
                              <a:cs typeface="Cambria Math" panose="02040503050406030204" pitchFamily="18" charset="0"/>
                            </a:rPr>
                            <m:t>)</m:t>
                          </m:r>
                        </m:sup>
                      </m:sSup>
                      <m:r>
                        <a:rPr lang="en-US" altLang="zh-CN" sz="2400" b="0" i="1" smtClean="0">
                          <a:latin typeface="Cambria Math" panose="02040503050406030204" pitchFamily="18" charset="0"/>
                          <a:ea typeface="+mn-ea"/>
                          <a:cs typeface="Cambria Math" panose="02040503050406030204" pitchFamily="18" charset="0"/>
                        </a:rPr>
                        <m:t>)+{</m:t>
                      </m:r>
                      <m:r>
                        <a:rPr lang="en-US" altLang="zh-CN" sz="2400" b="0" i="1" smtClean="0">
                          <a:latin typeface="Cambria Math" panose="02040503050406030204" pitchFamily="18" charset="0"/>
                          <a:ea typeface="+mn-ea"/>
                          <a:cs typeface="Cambria Math" panose="02040503050406030204" pitchFamily="18" charset="0"/>
                        </a:rPr>
                        <m:t>1</m:t>
                      </m:r>
                      <m:r>
                        <a:rPr lang="en-US" altLang="zh-CN" sz="2400" b="0" i="1" smtClean="0">
                          <a:latin typeface="Cambria Math" panose="02040503050406030204" pitchFamily="18" charset="0"/>
                          <a:ea typeface="+mn-ea"/>
                          <a:cs typeface="Cambria Math" panose="02040503050406030204" pitchFamily="18" charset="0"/>
                        </a:rPr>
                        <m:t>}={</m:t>
                      </m:r>
                      <m:r>
                        <a:rPr lang="en-US" altLang="zh-CN" sz="2400" b="0" i="1" smtClean="0">
                          <a:latin typeface="Cambria Math" panose="02040503050406030204" pitchFamily="18" charset="0"/>
                          <a:ea typeface="+mn-ea"/>
                          <a:cs typeface="Cambria Math" panose="02040503050406030204" pitchFamily="18" charset="0"/>
                        </a:rPr>
                        <m:t>1</m:t>
                      </m:r>
                      <m:r>
                        <a:rPr lang="en-US" altLang="zh-CN" sz="2400" b="0" i="1" smtClean="0">
                          <a:latin typeface="Cambria Math" panose="02040503050406030204" pitchFamily="18" charset="0"/>
                          <a:ea typeface="+mn-ea"/>
                          <a:cs typeface="Cambria Math" panose="02040503050406030204" pitchFamily="18" charset="0"/>
                        </a:rPr>
                        <m:t>,</m:t>
                      </m:r>
                      <m:r>
                        <a:rPr lang="en-US" altLang="zh-CN" sz="2400" b="0" i="1" smtClean="0">
                          <a:latin typeface="Cambria Math" panose="02040503050406030204" pitchFamily="18" charset="0"/>
                          <a:ea typeface="+mn-ea"/>
                          <a:cs typeface="Cambria Math" panose="02040503050406030204" pitchFamily="18" charset="0"/>
                        </a:rPr>
                        <m:t>2</m:t>
                      </m:r>
                      <m:r>
                        <a:rPr lang="en-US" altLang="zh-CN" sz="2400" b="0" i="1" smtClean="0">
                          <a:latin typeface="Cambria Math" panose="02040503050406030204" pitchFamily="18" charset="0"/>
                          <a:ea typeface="+mn-ea"/>
                          <a:cs typeface="Cambria Math" panose="02040503050406030204" pitchFamily="18" charset="0"/>
                        </a:rPr>
                        <m:t>}</m:t>
                      </m:r>
                    </m:oMath>
                  </m:oMathPara>
                </a14:m>
                <a:endParaRPr lang="zh-CN" altLang="en-US" sz="2400" dirty="0">
                  <a:latin typeface="+mn-ea"/>
                  <a:ea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767715" y="407670"/>
                <a:ext cx="9288145" cy="5481757"/>
              </a:xfrm>
              <a:prstGeom prst="rect">
                <a:avLst/>
              </a:prstGeom>
              <a:blipFill rotWithShape="1">
                <a:blip r:embed="rId1"/>
                <a:stretch>
                  <a:fillRect b="8"/>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1343472" y="1052736"/>
                <a:ext cx="9073008" cy="3422091"/>
              </a:xfrm>
              <a:prstGeom prst="rect">
                <a:avLst/>
              </a:prstGeom>
              <a:noFill/>
            </p:spPr>
            <p:txBody>
              <a:bodyPr wrap="square" rtlCol="0">
                <a:spAutoFit/>
              </a:bodyPr>
              <a:lstStyle>
                <a:defPPr>
                  <a:defRPr lang="zh-CN"/>
                </a:defPPr>
                <a:lvl1pPr algn="just">
                  <a:lnSpc>
                    <a:spcPct val="110000"/>
                  </a:lnSpc>
                  <a:defRPr sz="2400">
                    <a:latin typeface="+mn-ea"/>
                    <a:ea typeface="+mn-ea"/>
                  </a:defRPr>
                </a:lvl1pPr>
              </a:lstStyle>
              <a:p>
                <a:pPr>
                  <a:lnSpc>
                    <a:spcPct val="150000"/>
                  </a:lnSpc>
                </a:pPr>
                <a:r>
                  <a:rPr lang="zh-CN" altLang="en-US" dirty="0">
                    <a:cs typeface="Cambria Math" panose="02040503050406030204" pitchFamily="18" charset="0"/>
                  </a:rPr>
                  <a:t>    在</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𝑥</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sup>
                    </m:sSup>
                  </m:oMath>
                </a14:m>
                <a:r>
                  <a:rPr lang="zh-CN" altLang="en-US" dirty="0"/>
                  <a:t>处</a:t>
                </a:r>
                <a14:m>
                  <m:oMath xmlns:m="http://schemas.openxmlformats.org/officeDocument/2006/math">
                    <m:r>
                      <m:rPr>
                        <m:sty m:val="p"/>
                      </m:rPr>
                      <a:rPr lang="en-US" altLang="zh-CN">
                        <a:latin typeface="Cambria Math" panose="02040503050406030204" pitchFamily="18" charset="0"/>
                      </a:rPr>
                      <m:t>∇</m:t>
                    </m:r>
                    <m:r>
                      <a:rPr lang="en-US" altLang="zh-CN">
                        <a:latin typeface="Cambria Math" panose="02040503050406030204" pitchFamily="18" charset="0"/>
                      </a:rPr>
                      <m:t>𝑓</m:t>
                    </m:r>
                    <m:r>
                      <a:rPr lang="en-US" altLang="zh-CN">
                        <a:latin typeface="Cambria Math" panose="02040503050406030204" pitchFamily="18" charset="0"/>
                      </a:rPr>
                      <m:t>(</m:t>
                    </m:r>
                    <m:sSup>
                      <m:sSupPr>
                        <m:ctrlPr>
                          <a:rPr lang="en-US"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r>
                          <a:rPr lang="en-US" altLang="zh-CN" b="0" i="0" smtClean="0">
                            <a:latin typeface="Cambria Math" panose="02040503050406030204" pitchFamily="18" charset="0"/>
                          </a:rPr>
                          <m:t>3</m:t>
                        </m:r>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a:latin typeface="Cambria Math" panose="02040503050406030204" pitchFamily="18" charset="0"/>
                      </a:rPr>
                      <m:t>2</m:t>
                    </m:r>
                    <m:r>
                      <a:rPr lang="en-US" altLang="zh-CN">
                        <a:latin typeface="Cambria Math" panose="02040503050406030204" pitchFamily="18" charset="0"/>
                      </a:rPr>
                      <m:t>,−</m:t>
                    </m:r>
                    <m:r>
                      <a:rPr lang="en-US" altLang="zh-CN" b="0" i="0" smtClean="0">
                        <a:latin typeface="Cambria Math" panose="02040503050406030204" pitchFamily="18" charset="0"/>
                      </a:rPr>
                      <m:t>2</m:t>
                    </m:r>
                    <m:sSup>
                      <m:sSupPr>
                        <m:ctrlPr>
                          <a:rPr lang="en-US" altLang="zh-CN" i="1">
                            <a:latin typeface="Cambria Math" panose="02040503050406030204" pitchFamily="18" charset="0"/>
                          </a:rPr>
                        </m:ctrlPr>
                      </m:sSupPr>
                      <m:e>
                        <m:r>
                          <a:rPr lang="en-US" altLang="zh-CN">
                            <a:latin typeface="Cambria Math" panose="02040503050406030204" pitchFamily="18" charset="0"/>
                          </a:rPr>
                          <m:t>)</m:t>
                        </m:r>
                      </m:e>
                      <m:sup>
                        <m:r>
                          <a:rPr lang="en-US" altLang="zh-CN">
                            <a:latin typeface="Cambria Math" panose="02040503050406030204" pitchFamily="18" charset="0"/>
                          </a:rPr>
                          <m:t>𝑇</m:t>
                        </m:r>
                      </m:sup>
                    </m:sSup>
                  </m:oMath>
                </a14:m>
                <a:r>
                  <a:rPr lang="zh-CN" altLang="en-US" dirty="0"/>
                  <a:t>，相应的等式约束问题为</a:t>
                </a:r>
                <a:endParaRPr lang="zh-CN" altLang="en-US" dirty="0"/>
              </a:p>
              <a:p>
                <a:pPr>
                  <a:lnSpc>
                    <a:spcPct val="150000"/>
                  </a:lnSpc>
                </a:pPr>
                <a14:m>
                  <m:oMathPara xmlns:m="http://schemas.openxmlformats.org/officeDocument/2006/math">
                    <m:oMathParaPr>
                      <m:jc m:val="center"/>
                    </m:oMathParaPr>
                    <m:oMath xmlns:m="http://schemas.openxmlformats.org/officeDocument/2006/math">
                      <m:r>
                        <a:rPr lang="en-US" altLang="zh-CN">
                          <a:latin typeface="Cambria Math" panose="02040503050406030204" pitchFamily="18" charset="0"/>
                        </a:rPr>
                        <m:t>𝑚𝑖𝑛</m:t>
                      </m:r>
                      <m:r>
                        <a:rPr lang="en-US" altLang="zh-CN">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a:latin typeface="Cambria Math" panose="02040503050406030204" pitchFamily="18" charset="0"/>
                            </a:rPr>
                            <m:t>𝑑</m:t>
                          </m:r>
                        </m:e>
                        <m:sub>
                          <m:r>
                            <a:rPr lang="en-US" altLang="zh-CN">
                              <a:latin typeface="Cambria Math" panose="02040503050406030204" pitchFamily="18" charset="0"/>
                            </a:rPr>
                            <m:t>1</m:t>
                          </m:r>
                        </m:sub>
                        <m:sup>
                          <m:r>
                            <a:rPr lang="en-US" altLang="zh-CN">
                              <a:latin typeface="Cambria Math" panose="02040503050406030204" pitchFamily="18" charset="0"/>
                            </a:rPr>
                            <m:t>2</m:t>
                          </m:r>
                        </m:sup>
                      </m:sSubSup>
                      <m:r>
                        <a:rPr lang="en-US" altLang="zh-CN">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a:latin typeface="Cambria Math" panose="02040503050406030204" pitchFamily="18" charset="0"/>
                            </a:rPr>
                            <m:t>𝑑</m:t>
                          </m:r>
                        </m:e>
                        <m:sub>
                          <m:r>
                            <a:rPr lang="en-US" altLang="zh-CN">
                              <a:latin typeface="Cambria Math" panose="02040503050406030204" pitchFamily="18" charset="0"/>
                            </a:rPr>
                            <m:t>2</m:t>
                          </m:r>
                        </m:sub>
                        <m:sup>
                          <m:r>
                            <a:rPr lang="en-US" altLang="zh-CN">
                              <a:latin typeface="Cambria Math" panose="02040503050406030204" pitchFamily="18" charset="0"/>
                            </a:rPr>
                            <m:t>2</m:t>
                          </m:r>
                        </m:sup>
                      </m:sSubSup>
                      <m:r>
                        <a:rPr lang="en-US" altLang="zh-CN">
                          <a:latin typeface="Cambria Math" panose="02040503050406030204" pitchFamily="18" charset="0"/>
                        </a:rPr>
                        <m:t>−</m:t>
                      </m:r>
                      <m:r>
                        <a:rPr lang="en-US" altLang="zh-CN">
                          <a:latin typeface="Cambria Math" panose="02040503050406030204" pitchFamily="18" charset="0"/>
                        </a:rPr>
                        <m:t>2</m:t>
                      </m:r>
                      <m:sSub>
                        <m:sSubPr>
                          <m:ctrlPr>
                            <a:rPr lang="en-US" altLang="zh-CN" i="1">
                              <a:latin typeface="Cambria Math" panose="02040503050406030204" pitchFamily="18" charset="0"/>
                            </a:rPr>
                          </m:ctrlPr>
                        </m:sSubPr>
                        <m:e>
                          <m:r>
                            <a:rPr lang="en-US" altLang="zh-CN">
                              <a:latin typeface="Cambria Math" panose="02040503050406030204" pitchFamily="18" charset="0"/>
                            </a:rPr>
                            <m:t>𝑑</m:t>
                          </m:r>
                        </m:e>
                        <m:sub>
                          <m:r>
                            <a:rPr lang="en-US" altLang="zh-CN">
                              <a:latin typeface="Cambria Math" panose="02040503050406030204" pitchFamily="18" charset="0"/>
                            </a:rPr>
                            <m:t>1</m:t>
                          </m:r>
                        </m:sub>
                      </m:sSub>
                      <m:r>
                        <a:rPr lang="en-US" altLang="zh-CN">
                          <a:latin typeface="Cambria Math" panose="02040503050406030204" pitchFamily="18" charset="0"/>
                        </a:rPr>
                        <m:t>−</m:t>
                      </m:r>
                      <m:r>
                        <a:rPr lang="en-US" altLang="zh-CN" b="0" i="0" smtClean="0">
                          <a:latin typeface="Cambria Math" panose="02040503050406030204" pitchFamily="18" charset="0"/>
                        </a:rPr>
                        <m:t>2</m:t>
                      </m:r>
                      <m:sSub>
                        <m:sSubPr>
                          <m:ctrlPr>
                            <a:rPr lang="en-US" altLang="zh-CN" i="1">
                              <a:latin typeface="Cambria Math" panose="02040503050406030204" pitchFamily="18" charset="0"/>
                            </a:rPr>
                          </m:ctrlPr>
                        </m:sSubPr>
                        <m:e>
                          <m:r>
                            <a:rPr lang="en-US" altLang="zh-CN">
                              <a:latin typeface="Cambria Math" panose="02040503050406030204" pitchFamily="18" charset="0"/>
                            </a:rPr>
                            <m:t>𝑑</m:t>
                          </m:r>
                        </m:e>
                        <m:sub>
                          <m:r>
                            <a:rPr lang="en-US" altLang="zh-CN">
                              <a:latin typeface="Cambria Math" panose="02040503050406030204" pitchFamily="18" charset="0"/>
                            </a:rPr>
                            <m:t>2</m:t>
                          </m:r>
                        </m:sub>
                      </m:sSub>
                    </m:oMath>
                  </m:oMathPara>
                </a14:m>
                <a:endParaRPr lang="en-US" altLang="zh-CN" dirty="0"/>
              </a:p>
              <a:p>
                <a:pPr>
                  <a:lnSpc>
                    <a:spcPct val="150000"/>
                  </a:lnSpc>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𝑠</m:t>
                      </m:r>
                      <m:r>
                        <a:rPr lang="en-US" altLang="zh-CN">
                          <a:latin typeface="Cambria Math" panose="02040503050406030204" pitchFamily="18" charset="0"/>
                        </a:rPr>
                        <m:t>.</m:t>
                      </m:r>
                      <m:r>
                        <a:rPr lang="en-US" altLang="zh-CN">
                          <a:latin typeface="Cambria Math" panose="02040503050406030204" pitchFamily="18" charset="0"/>
                        </a:rPr>
                        <m:t>𝑡</m:t>
                      </m:r>
                      <m:r>
                        <a:rPr lang="en-US" altLang="zh-CN">
                          <a:latin typeface="Cambria Math" panose="02040503050406030204" pitchFamily="18" charset="0"/>
                        </a:rPr>
                        <m:t>.  − </m:t>
                      </m:r>
                      <m:sSub>
                        <m:sSubPr>
                          <m:ctrlPr>
                            <a:rPr lang="en-US" altLang="zh-CN" i="1">
                              <a:latin typeface="Cambria Math" panose="02040503050406030204" pitchFamily="18" charset="0"/>
                            </a:rPr>
                          </m:ctrlPr>
                        </m:sSubPr>
                        <m:e>
                          <m:r>
                            <a:rPr lang="en-US" altLang="zh-CN">
                              <a:latin typeface="Cambria Math" panose="02040503050406030204" pitchFamily="18" charset="0"/>
                            </a:rPr>
                            <m:t>𝑑</m:t>
                          </m:r>
                        </m:e>
                        <m:sub>
                          <m:r>
                            <a:rPr lang="en-US" altLang="zh-CN">
                              <a:latin typeface="Cambria Math" panose="02040503050406030204" pitchFamily="18" charset="0"/>
                            </a:rPr>
                            <m:t>1</m:t>
                          </m:r>
                        </m:sub>
                      </m:sSub>
                      <m:r>
                        <a:rPr lang="en-US" altLang="zh-CN" b="0" i="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𝑑</m:t>
                          </m:r>
                        </m:e>
                        <m:sub>
                          <m:r>
                            <a:rPr lang="en-US" altLang="zh-CN">
                              <a:latin typeface="Cambria Math" panose="02040503050406030204" pitchFamily="18" charset="0"/>
                            </a:rPr>
                            <m:t>2</m:t>
                          </m:r>
                        </m:sub>
                      </m:sSub>
                      <m:r>
                        <a:rPr lang="en-US" altLang="zh-CN">
                          <a:latin typeface="Cambria Math" panose="02040503050406030204" pitchFamily="18" charset="0"/>
                        </a:rPr>
                        <m:t>=</m:t>
                      </m:r>
                      <m:r>
                        <a:rPr lang="en-US" altLang="zh-CN">
                          <a:latin typeface="Cambria Math" panose="02040503050406030204" pitchFamily="18" charset="0"/>
                        </a:rPr>
                        <m:t>0</m:t>
                      </m:r>
                    </m:oMath>
                  </m:oMathPara>
                </a14:m>
                <a:endParaRPr lang="en-US" altLang="zh-CN" dirty="0"/>
              </a:p>
              <a:p>
                <a:pPr>
                  <a:lnSpc>
                    <a:spcPct val="150000"/>
                  </a:lnSpc>
                </a:pPr>
                <a:r>
                  <a:rPr lang="en-US" altLang="zh-CN" dirty="0">
                    <a:sym typeface="+mn-ea"/>
                  </a:rPr>
                  <a:t>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𝑑</m:t>
                        </m:r>
                      </m:e>
                      <m:sub>
                        <m:r>
                          <a:rPr lang="en-US" altLang="zh-CN" b="0" i="0" smtClean="0">
                            <a:latin typeface="Cambria Math" panose="02040503050406030204" pitchFamily="18" charset="0"/>
                          </a:rPr>
                          <m:t>1</m:t>
                        </m:r>
                      </m:sub>
                    </m:sSub>
                    <m:r>
                      <a:rPr lang="en-US" altLang="zh-CN">
                        <a:latin typeface="Cambria Math" panose="02040503050406030204" pitchFamily="18" charset="0"/>
                      </a:rPr>
                      <m:t>=</m:t>
                    </m:r>
                    <m:r>
                      <a:rPr lang="en-US" altLang="zh-CN">
                        <a:latin typeface="Cambria Math" panose="02040503050406030204" pitchFamily="18" charset="0"/>
                      </a:rPr>
                      <m:t>0</m:t>
                    </m:r>
                  </m:oMath>
                </a14:m>
                <a:endParaRPr lang="en-US" altLang="zh-CN" dirty="0"/>
              </a:p>
              <a:p>
                <a:pPr>
                  <a:lnSpc>
                    <a:spcPct val="150000"/>
                  </a:lnSpc>
                </a:pPr>
                <a:r>
                  <a:rPr lang="zh-CN" altLang="en-US" dirty="0"/>
                  <a:t>解得    </a:t>
                </a:r>
                <a14:m>
                  <m:oMath xmlns:m="http://schemas.openxmlformats.org/officeDocument/2006/math">
                    <m:r>
                      <a:rPr lang="en-US" altLang="zh-CN">
                        <a:latin typeface="Cambria Math" panose="02040503050406030204" pitchFamily="18" charset="0"/>
                      </a:rPr>
                      <m:t> </m:t>
                    </m:r>
                    <m:sSub>
                      <m:sSubPr>
                        <m:ctrlPr>
                          <a:rPr lang="en-US" altLang="zh-CN" i="1">
                            <a:latin typeface="Cambria Math" panose="02040503050406030204" pitchFamily="18" charset="0"/>
                          </a:rPr>
                        </m:ctrlPr>
                      </m:sSubPr>
                      <m:e>
                        <m:r>
                          <a:rPr lang="en-US" altLang="zh-CN">
                            <a:latin typeface="Cambria Math" panose="02040503050406030204" pitchFamily="18" charset="0"/>
                          </a:rPr>
                          <m:t>𝑑</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𝑑</m:t>
                        </m:r>
                      </m:e>
                      <m:sub>
                        <m:r>
                          <a:rPr lang="en-US" altLang="zh-CN">
                            <a:latin typeface="Cambria Math" panose="02040503050406030204" pitchFamily="18" charset="0"/>
                          </a:rPr>
                          <m:t>2</m:t>
                        </m:r>
                      </m:sub>
                    </m:sSub>
                    <m:r>
                      <a:rPr lang="en-US" altLang="zh-CN">
                        <a:latin typeface="Cambria Math" panose="02040503050406030204" pitchFamily="18" charset="0"/>
                      </a:rPr>
                      <m:t>=</m:t>
                    </m:r>
                    <m:r>
                      <a:rPr lang="en-US" altLang="zh-CN">
                        <a:latin typeface="Cambria Math" panose="02040503050406030204" pitchFamily="18" charset="0"/>
                      </a:rPr>
                      <m:t>0</m:t>
                    </m:r>
                  </m:oMath>
                </a14:m>
                <a:r>
                  <a:rPr lang="zh-CN" altLang="en-US" dirty="0"/>
                  <a:t>，</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𝜆</m:t>
                        </m:r>
                      </m:e>
                      <m:sub>
                        <m:r>
                          <a:rPr lang="en-US" altLang="zh-CN" b="0" i="1" smtClean="0">
                            <a:latin typeface="Cambria Math" panose="02040503050406030204" pitchFamily="18" charset="0"/>
                          </a:rPr>
                          <m:t>1</m:t>
                        </m:r>
                      </m:sub>
                    </m:sSub>
                    <m:r>
                      <a:rPr lang="en-US" altLang="zh-CN">
                        <a:latin typeface="Cambria Math" panose="02040503050406030204" pitchFamily="18" charset="0"/>
                      </a:rPr>
                      <m:t>=</m:t>
                    </m:r>
                    <m:r>
                      <a:rPr lang="en-US" altLang="zh-CN">
                        <a:latin typeface="Cambria Math" panose="02040503050406030204" pitchFamily="18" charset="0"/>
                      </a:rPr>
                      <m:t>2</m:t>
                    </m:r>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𝜆</m:t>
                        </m:r>
                      </m:e>
                      <m:sub>
                        <m:r>
                          <a:rPr lang="en-US" altLang="zh-CN" b="0" i="1" smtClean="0">
                            <a:latin typeface="Cambria Math" panose="02040503050406030204" pitchFamily="18" charset="0"/>
                          </a:rPr>
                          <m:t>2</m:t>
                        </m:r>
                      </m:sub>
                    </m:sSub>
                    <m:r>
                      <a:rPr lang="en-US" altLang="zh-CN">
                        <a:latin typeface="Cambria Math" panose="02040503050406030204" pitchFamily="18" charset="0"/>
                      </a:rPr>
                      <m:t>=</m:t>
                    </m:r>
                    <m:r>
                      <a:rPr lang="en-US" altLang="zh-CN" b="0" i="0" smtClean="0">
                        <a:latin typeface="Cambria Math" panose="02040503050406030204" pitchFamily="18" charset="0"/>
                      </a:rPr>
                      <m:t>0</m:t>
                    </m:r>
                    <m:r>
                      <a:rPr lang="zh-CN" altLang="en-US">
                        <a:latin typeface="Cambria Math" panose="02040503050406030204" pitchFamily="18" charset="0"/>
                      </a:rPr>
                      <m:t>，</m:t>
                    </m:r>
                  </m:oMath>
                </a14:m>
                <a:endParaRPr lang="en-US" altLang="zh-CN" dirty="0"/>
              </a:p>
              <a:p>
                <a:pPr>
                  <a:lnSpc>
                    <a:spcPct val="150000"/>
                  </a:lnSpc>
                </a:pPr>
                <a:r>
                  <a:rPr lang="zh-CN" altLang="en-US" dirty="0"/>
                  <a:t>由于</a:t>
                </a:r>
                <a14:m>
                  <m:oMath xmlns:m="http://schemas.openxmlformats.org/officeDocument/2006/math">
                    <m:sSup>
                      <m:sSupPr>
                        <m:ctrlPr>
                          <a:rPr lang="en-US" altLang="zh-CN" i="1" smtClean="0">
                            <a:latin typeface="Cambria Math" panose="02040503050406030204" pitchFamily="18" charset="0"/>
                          </a:rPr>
                        </m:ctrlPr>
                      </m:sSupPr>
                      <m:e>
                        <m:r>
                          <a:rPr lang="en-US" altLang="zh-CN">
                            <a:latin typeface="Cambria Math" panose="02040503050406030204" pitchFamily="18" charset="0"/>
                          </a:rPr>
                          <m:t>𝑑</m:t>
                        </m:r>
                      </m:e>
                      <m:sup>
                        <m:r>
                          <a:rPr lang="en-US" altLang="zh-CN">
                            <a:latin typeface="Cambria Math" panose="02040503050406030204" pitchFamily="18" charset="0"/>
                          </a:rPr>
                          <m:t>(</m:t>
                        </m:r>
                        <m:r>
                          <a:rPr lang="en-US" altLang="zh-CN" b="0" i="0" smtClean="0">
                            <a:latin typeface="Cambria Math" panose="02040503050406030204" pitchFamily="18" charset="0"/>
                          </a:rPr>
                          <m:t>3</m:t>
                        </m:r>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a:latin typeface="Cambria Math" panose="02040503050406030204" pitchFamily="18" charset="0"/>
                      </a:rPr>
                      <m:t>0</m:t>
                    </m:r>
                    <m:r>
                      <a:rPr lang="en-US" altLang="zh-CN">
                        <a:latin typeface="Cambria Math" panose="02040503050406030204" pitchFamily="18" charset="0"/>
                      </a:rPr>
                      <m:t>,</m:t>
                    </m:r>
                    <m:r>
                      <a:rPr lang="en-US" altLang="zh-CN">
                        <a:latin typeface="Cambria Math" panose="02040503050406030204" pitchFamily="18" charset="0"/>
                      </a:rPr>
                      <m:t>0</m:t>
                    </m:r>
                    <m:sSup>
                      <m:sSupPr>
                        <m:ctrlPr>
                          <a:rPr lang="en-US" altLang="zh-CN" i="1">
                            <a:latin typeface="Cambria Math" panose="02040503050406030204" pitchFamily="18" charset="0"/>
                          </a:rPr>
                        </m:ctrlPr>
                      </m:sSupPr>
                      <m:e>
                        <m:r>
                          <a:rPr lang="en-US" altLang="zh-CN">
                            <a:latin typeface="Cambria Math" panose="02040503050406030204" pitchFamily="18" charset="0"/>
                          </a:rPr>
                          <m:t>)</m:t>
                        </m:r>
                      </m:e>
                      <m:sup>
                        <m:r>
                          <a:rPr lang="en-US" altLang="zh-CN">
                            <a:latin typeface="Cambria Math" panose="02040503050406030204" pitchFamily="18" charset="0"/>
                          </a:rPr>
                          <m:t>𝑇</m:t>
                        </m:r>
                      </m:sup>
                    </m:sSup>
                  </m:oMath>
                </a14:m>
                <a:r>
                  <a:rPr lang="zh-CN" altLang="en-US" dirty="0"/>
                  <a:t>，且乘子非负，所以</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𝑥</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m:t>
                        </m:r>
                      </m:e>
                      <m:sup>
                        <m:r>
                          <a:rPr lang="en-US" altLang="zh-CN" i="1">
                            <a:latin typeface="Cambria Math" panose="02040503050406030204" pitchFamily="18" charset="0"/>
                            <a:cs typeface="Cambria Math" panose="02040503050406030204" pitchFamily="18" charset="0"/>
                          </a:rPr>
                          <m:t>𝑇</m:t>
                        </m:r>
                      </m:sup>
                    </m:sSup>
                  </m:oMath>
                </a14:m>
                <a:r>
                  <a:rPr lang="zh-CN" altLang="en-US" dirty="0"/>
                  <a:t>是最优解</a:t>
                </a:r>
                <a:r>
                  <a:rPr lang="zh-CN" altLang="en-US" dirty="0">
                    <a:sym typeface="+mn-ea"/>
                  </a:rPr>
                  <a:t>。</a:t>
                </a:r>
                <a:endParaRPr lang="zh-CN" altLang="en-US" dirty="0"/>
              </a:p>
            </p:txBody>
          </p:sp>
        </mc:Choice>
        <mc:Fallback>
          <p:sp>
            <p:nvSpPr>
              <p:cNvPr id="3" name="文本框 2"/>
              <p:cNvSpPr txBox="1">
                <a:spLocks noRot="1" noChangeAspect="1" noMove="1" noResize="1" noEditPoints="1" noAdjustHandles="1" noChangeArrowheads="1" noChangeShapeType="1" noTextEdit="1"/>
              </p:cNvSpPr>
              <p:nvPr/>
            </p:nvSpPr>
            <p:spPr>
              <a:xfrm>
                <a:off x="1343472" y="1052736"/>
                <a:ext cx="9073008" cy="3422091"/>
              </a:xfrm>
              <a:prstGeom prst="rect">
                <a:avLst/>
              </a:prstGeom>
              <a:blipFill rotWithShape="1">
                <a:blip r:embed="rId1"/>
                <a:stretch>
                  <a:fillRect l="-5" t="-16" r="6" b="18"/>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3392" y="548680"/>
            <a:ext cx="6872140" cy="584775"/>
          </a:xfrm>
          <a:prstGeom prst="rect">
            <a:avLst/>
          </a:prstGeom>
          <a:noFill/>
        </p:spPr>
        <p:txBody>
          <a:bodyPr wrap="square">
            <a:spAutoFit/>
          </a:bodyPr>
          <a:lstStyle/>
          <a:p>
            <a:pPr algn="just">
              <a:spcBef>
                <a:spcPts val="600"/>
              </a:spcBef>
              <a:spcAft>
                <a:spcPts val="600"/>
              </a:spcAft>
            </a:pPr>
            <a:r>
              <a:rPr lang="zh-CN" altLang="en-US" sz="3200" kern="100" dirty="0">
                <a:latin typeface="Times New Roman" panose="02020603050405020304" pitchFamily="18" charset="0"/>
                <a:ea typeface="黑体" panose="02010609060101010101" pitchFamily="49" charset="-122"/>
              </a:rPr>
              <a:t>三</a:t>
            </a:r>
            <a:r>
              <a:rPr lang="zh-CN" altLang="en-US" sz="3200" kern="100">
                <a:latin typeface="Times New Roman" panose="02020603050405020304" pitchFamily="18" charset="0"/>
                <a:ea typeface="黑体" panose="02010609060101010101" pitchFamily="49" charset="-122"/>
              </a:rPr>
              <a:t>、</a:t>
            </a:r>
            <a:r>
              <a:rPr lang="zh-CN" altLang="en-US" sz="3200" kern="100" dirty="0">
                <a:latin typeface="Times New Roman" panose="02020603050405020304" pitchFamily="18" charset="0"/>
                <a:ea typeface="黑体" panose="02010609060101010101" pitchFamily="49" charset="-122"/>
              </a:rPr>
              <a:t>小结</a:t>
            </a:r>
            <a:endParaRPr lang="zh-CN" altLang="zh-CN" sz="32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7" name="文本框 6"/>
              <p:cNvSpPr txBox="1"/>
              <p:nvPr/>
            </p:nvSpPr>
            <p:spPr>
              <a:xfrm>
                <a:off x="983432" y="1412776"/>
                <a:ext cx="10441160" cy="3883755"/>
              </a:xfrm>
              <a:prstGeom prst="rect">
                <a:avLst/>
              </a:prstGeom>
              <a:noFill/>
            </p:spPr>
            <p:txBody>
              <a:bodyPr wrap="square">
                <a:spAutoFit/>
              </a:bodyPr>
              <a:lstStyle/>
              <a:p>
                <a:pPr marL="457200" indent="-457200" algn="just">
                  <a:lnSpc>
                    <a:spcPct val="150000"/>
                  </a:lnSpc>
                  <a:buFont typeface="Wingdings" panose="05000000000000000000" pitchFamily="2" charset="2"/>
                  <a:buChar char="Ø"/>
                </a:pPr>
                <a:r>
                  <a:rPr lang="zh-CN" altLang="zh-CN" sz="2400" dirty="0">
                    <a:latin typeface="+mn-ea"/>
                    <a:ea typeface="+mn-ea"/>
                  </a:rPr>
                  <a:t>有效集法是一个可行点方法，即每个迭代点都要求是可行点</a:t>
                </a:r>
                <a:r>
                  <a:rPr lang="zh-CN" altLang="en-US" sz="2400" dirty="0">
                    <a:latin typeface="+mn-ea"/>
                    <a:ea typeface="+mn-ea"/>
                  </a:rPr>
                  <a:t>。</a:t>
                </a:r>
                <a:endParaRPr lang="en-US" altLang="zh-CN" sz="2400" dirty="0">
                  <a:latin typeface="+mn-ea"/>
                  <a:ea typeface="+mn-ea"/>
                </a:endParaRPr>
              </a:p>
              <a:p>
                <a:pPr marL="457200" indent="-457200" algn="just">
                  <a:lnSpc>
                    <a:spcPct val="150000"/>
                  </a:lnSpc>
                  <a:buFont typeface="Wingdings" panose="05000000000000000000" pitchFamily="2" charset="2"/>
                  <a:buChar char="Ø"/>
                </a:pPr>
                <a:r>
                  <a:rPr lang="zh-CN" altLang="zh-CN" sz="2400" kern="100" dirty="0">
                    <a:effectLst/>
                    <a:latin typeface="+mn-ea"/>
                    <a:ea typeface="+mn-ea"/>
                  </a:rPr>
                  <a:t>在实际计算中，初始点的选取并非易事，需要用类似于线性规划求初始基本可行点的方法构造辅助问题，得到初始可行点</a:t>
                </a:r>
                <a:r>
                  <a:rPr lang="zh-CN" altLang="en-US" sz="2400" kern="100" dirty="0">
                    <a:effectLst/>
                    <a:latin typeface="+mn-ea"/>
                    <a:ea typeface="+mn-ea"/>
                  </a:rPr>
                  <a:t>。</a:t>
                </a:r>
                <a:endParaRPr lang="en-US" altLang="zh-CN" sz="2400" kern="100" dirty="0">
                  <a:effectLst/>
                  <a:latin typeface="+mn-ea"/>
                  <a:ea typeface="+mn-ea"/>
                </a:endParaRPr>
              </a:p>
              <a:p>
                <a:pPr marL="457200" indent="-457200" algn="just">
                  <a:lnSpc>
                    <a:spcPct val="150000"/>
                  </a:lnSpc>
                  <a:buFont typeface="Wingdings" panose="05000000000000000000" pitchFamily="2" charset="2"/>
                  <a:buChar char="Ø"/>
                </a:pPr>
                <a:r>
                  <a:rPr lang="zh-CN" altLang="zh-CN" sz="2400" kern="100" dirty="0">
                    <a:effectLst/>
                    <a:latin typeface="+mn-ea"/>
                    <a:ea typeface="+mn-ea"/>
                  </a:rPr>
                  <a:t>若二次规划是严格凸的，且是非退化的，则有效集法经有限步运算，可求出二次规划的最优解</a:t>
                </a:r>
                <a:r>
                  <a:rPr lang="zh-CN" altLang="en-US" sz="2400" kern="100" dirty="0">
                    <a:effectLst/>
                    <a:latin typeface="+mn-ea"/>
                    <a:ea typeface="+mn-ea"/>
                  </a:rPr>
                  <a:t>。</a:t>
                </a:r>
                <a:endParaRPr lang="en-US" altLang="zh-CN" sz="2400" kern="100" dirty="0">
                  <a:effectLst/>
                  <a:latin typeface="+mn-ea"/>
                  <a:ea typeface="+mn-ea"/>
                </a:endParaRPr>
              </a:p>
              <a:p>
                <a:pPr marL="457200" indent="-457200" algn="just">
                  <a:lnSpc>
                    <a:spcPct val="150000"/>
                  </a:lnSpc>
                  <a:buFont typeface="Wingdings" panose="05000000000000000000" pitchFamily="2" charset="2"/>
                  <a:buChar char="Ø"/>
                </a:pPr>
                <a:r>
                  <a:rPr lang="zh-CN" altLang="en-US" sz="2400" kern="100" dirty="0">
                    <a:effectLst/>
                    <a:latin typeface="+mn-ea"/>
                    <a:ea typeface="+mn-ea"/>
                  </a:rPr>
                  <a:t>对于</a:t>
                </a:r>
                <a14:m>
                  <m:oMath xmlns:m="http://schemas.openxmlformats.org/officeDocument/2006/math">
                    <m:r>
                      <a:rPr kumimoji="1" lang="en-US" altLang="zh-CN" sz="2400" i="1" smtClean="0">
                        <a:solidFill>
                          <a:schemeClr val="tx1"/>
                        </a:solidFill>
                        <a:latin typeface="Cambria Math" panose="02040503050406030204" pitchFamily="18" charset="0"/>
                        <a:ea typeface="+mn-ea"/>
                        <a:cs typeface="Cambria Math" panose="02040503050406030204" pitchFamily="18" charset="0"/>
                      </a:rPr>
                      <m:t>𝐺</m:t>
                    </m:r>
                  </m:oMath>
                </a14:m>
                <a:r>
                  <a:rPr lang="zh-CN" altLang="zh-CN" sz="2400" kern="100" dirty="0">
                    <a:effectLst/>
                    <a:latin typeface="+mn-ea"/>
                    <a:ea typeface="+mn-ea"/>
                  </a:rPr>
                  <a:t>是非正定矩阵</a:t>
                </a:r>
                <a:r>
                  <a:rPr lang="zh-CN" altLang="en-US" sz="2400" kern="100" dirty="0">
                    <a:effectLst/>
                    <a:latin typeface="+mn-ea"/>
                    <a:ea typeface="+mn-ea"/>
                  </a:rPr>
                  <a:t>情形</a:t>
                </a:r>
                <a:r>
                  <a:rPr lang="zh-CN" altLang="zh-CN" sz="2400" kern="100" dirty="0">
                    <a:effectLst/>
                    <a:latin typeface="+mn-ea"/>
                    <a:ea typeface="+mn-ea"/>
                  </a:rPr>
                  <a:t>，按照上述方法计算，有可能得不到最优解</a:t>
                </a:r>
                <a:r>
                  <a:rPr lang="zh-CN" altLang="en-US" sz="2400" kern="100" dirty="0">
                    <a:effectLst/>
                    <a:latin typeface="+mn-ea"/>
                    <a:ea typeface="+mn-ea"/>
                  </a:rPr>
                  <a:t>。</a:t>
                </a:r>
                <a:r>
                  <a:rPr lang="zh-CN" altLang="zh-CN" sz="2400" kern="100" dirty="0">
                    <a:effectLst/>
                    <a:latin typeface="+mn-ea"/>
                    <a:ea typeface="+mn-ea"/>
                  </a:rPr>
                  <a:t>若想得到最优解，需对算法作必要的改动</a:t>
                </a:r>
                <a:r>
                  <a:rPr lang="zh-CN" altLang="en-US" sz="2400" kern="100" dirty="0">
                    <a:effectLst/>
                    <a:latin typeface="+mn-ea"/>
                    <a:ea typeface="+mn-ea"/>
                  </a:rPr>
                  <a:t>。</a:t>
                </a:r>
                <a:endParaRPr lang="zh-CN" altLang="zh-CN" sz="2400" kern="100" dirty="0">
                  <a:effectLst/>
                  <a:latin typeface="+mn-ea"/>
                  <a:ea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983432" y="1412776"/>
                <a:ext cx="10441160" cy="3883755"/>
              </a:xfrm>
              <a:prstGeom prst="rect">
                <a:avLst/>
              </a:prstGeom>
              <a:blipFill rotWithShape="1">
                <a:blip r:embed="rId1"/>
                <a:stretch>
                  <a:fillRect l="-4" t="-14" r="3" b="-49"/>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2495600" y="1412776"/>
                <a:ext cx="6094520" cy="2015424"/>
              </a:xfrm>
              <a:prstGeom prst="rect">
                <a:avLst/>
              </a:prstGeom>
              <a:noFill/>
            </p:spPr>
            <p:txBody>
              <a:bodyPr wrap="square">
                <a:spAutoFit/>
              </a:bodyPr>
              <a:lstStyle/>
              <a:p>
                <a:pPr algn="just"/>
                <a:r>
                  <a:rPr lang="en-US" altLang="zh-CN" sz="2400" kern="100" dirty="0">
                    <a:effectLst/>
                    <a:latin typeface="宋体" panose="02010600030101010101" pitchFamily="2" charset="-122"/>
                    <a:ea typeface="等线" panose="02010600030101010101" charset="-122"/>
                    <a:cs typeface="Times New Roman" panose="02020603050405020304" pitchFamily="18" charset="0"/>
                  </a:rPr>
                  <a:t>9-12 </a:t>
                </a:r>
                <a:r>
                  <a:rPr lang="zh-CN" altLang="zh-CN" sz="2400" kern="100" dirty="0">
                    <a:effectLst/>
                    <a:latin typeface="宋体" panose="02010600030101010101" pitchFamily="2" charset="-122"/>
                    <a:ea typeface="等线" panose="02010600030101010101" charset="-122"/>
                    <a:cs typeface="Times New Roman" panose="02020603050405020304" pitchFamily="18" charset="0"/>
                  </a:rPr>
                  <a:t>用有效集法求解下列凸二次规划问题</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algn="just"/>
                <a:r>
                  <a:rPr lang="en-US" altLang="zh-CN" sz="2400" kern="100" dirty="0">
                    <a:effectLst/>
                    <a:latin typeface="宋体" panose="02010600030101010101" pitchFamily="2" charset="-122"/>
                    <a:ea typeface="等线" panose="02010600030101010101" charset="-122"/>
                    <a:cs typeface="Times New Roman" panose="02020603050405020304" pitchFamily="18" charset="0"/>
                  </a:rPr>
                  <a:t>(1)</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func>
                        <m:func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2400" kern="100">
                                  <a:effectLst/>
                                  <a:latin typeface="Cambria Math" panose="02040503050406030204" pitchFamily="18" charset="0"/>
                                  <a:ea typeface="等线" panose="02010600030101010101" charset="-122"/>
                                  <a:cs typeface="Times New Roman" panose="02020603050405020304" pitchFamily="18" charset="0"/>
                                </a:rPr>
                                <m:t>min</m:t>
                              </m:r>
                            </m:e>
                            <m:lim/>
                          </m:limLow>
                        </m:fName>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𝑓</m:t>
                          </m:r>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d>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1</m:t>
                              </m:r>
                            </m:sub>
                            <m:sup>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up>
                          </m:sSubSup>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4</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ub>
                            <m:sup>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up>
                          </m:sSubSup>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ub>
                          </m:sSub>
                        </m:e>
                      </m:func>
                    </m:oMath>
                  </m:oMathPara>
                </a14:m>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𝑠</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𝑡</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   </m:t>
                      </m:r>
                      <m:m>
                        <m:mPr>
                          <m:mcs>
                            <m:mc>
                              <m:mcPr>
                                <m:count m:val="1"/>
                                <m:mcJc m:val="center"/>
                              </m:mcPr>
                            </m:mc>
                          </m:mcs>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1</m:t>
                            </m:r>
                          </m:e>
                        </m:mr>
                        <m:m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0</m:t>
                            </m:r>
                          </m:e>
                        </m:mr>
                      </m:m>
                    </m:oMath>
                  </m:oMathPara>
                </a14:m>
                <a:endParaRPr lang="zh-CN" altLang="zh-CN" sz="2400" kern="100" dirty="0">
                  <a:effectLst/>
                  <a:latin typeface="等线" panose="02010600030101010101" charset="-122"/>
                  <a:ea typeface="等线" panose="02010600030101010101" charset="-122"/>
                  <a:cs typeface="Times New Roman" panose="020206030504050203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495600" y="1412776"/>
                <a:ext cx="6094520" cy="2015424"/>
              </a:xfrm>
              <a:prstGeom prst="rect">
                <a:avLst/>
              </a:prstGeom>
              <a:blipFill rotWithShape="1">
                <a:blip r:embed="rId1"/>
                <a:stretch>
                  <a:fillRect l="-1" t="-27" r="8" b="23"/>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95800" y="2132856"/>
            <a:ext cx="2353528" cy="769441"/>
          </a:xfrm>
          <a:prstGeom prst="rect">
            <a:avLst/>
          </a:prstGeom>
        </p:spPr>
        <p:txBody>
          <a:bodyPr wrap="none">
            <a:spAutoFit/>
          </a:bodyPr>
          <a:lstStyle/>
          <a:p>
            <a:pPr algn="ctr"/>
            <a:r>
              <a:rPr lang="en-US" altLang="zh-CN" sz="4400" b="1" dirty="0"/>
              <a:t>   </a:t>
            </a:r>
            <a:r>
              <a:rPr lang="zh-CN" altLang="en-US" sz="4400" b="1" dirty="0"/>
              <a:t>消去法</a:t>
            </a:r>
            <a:endParaRPr lang="zh-CN" altLang="en-US" sz="44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51384" y="404664"/>
            <a:ext cx="5472608" cy="584775"/>
          </a:xfrm>
          <a:prstGeom prst="rect">
            <a:avLst/>
          </a:prstGeom>
          <a:noFill/>
        </p:spPr>
        <p:txBody>
          <a:bodyPr wrap="square">
            <a:spAutoFit/>
          </a:bodyPr>
          <a:lstStyle>
            <a:defPPr>
              <a:defRPr lang="zh-CN"/>
            </a:defPPr>
            <a:lvl1pPr algn="just">
              <a:spcBef>
                <a:spcPts val="600"/>
              </a:spcBef>
              <a:spcAft>
                <a:spcPts val="600"/>
              </a:spcAft>
              <a:defRPr sz="3200" kern="100">
                <a:latin typeface="Times New Roman" panose="02020603050405020304" pitchFamily="18" charset="0"/>
                <a:ea typeface="黑体" panose="02010609060101010101" pitchFamily="49" charset="-122"/>
              </a:defRPr>
            </a:lvl1pPr>
          </a:lstStyle>
          <a:p>
            <a:r>
              <a:rPr lang="zh-CN" altLang="en-US" dirty="0"/>
              <a:t>等式约束二次规划性质</a:t>
            </a:r>
            <a:endParaRPr lang="zh-CN" altLang="en-US" dirty="0"/>
          </a:p>
        </p:txBody>
      </p:sp>
      <mc:AlternateContent xmlns:mc="http://schemas.openxmlformats.org/markup-compatibility/2006">
        <mc:Choice xmlns:a14="http://schemas.microsoft.com/office/drawing/2010/main" Requires="a14">
          <p:sp>
            <p:nvSpPr>
              <p:cNvPr id="2" name="文本框 1"/>
              <p:cNvSpPr txBox="1"/>
              <p:nvPr/>
            </p:nvSpPr>
            <p:spPr>
              <a:xfrm>
                <a:off x="1055440" y="1495606"/>
                <a:ext cx="9145016" cy="3194685"/>
              </a:xfrm>
              <a:prstGeom prst="rect">
                <a:avLst/>
              </a:prstGeom>
              <a:noFill/>
            </p:spPr>
            <p:txBody>
              <a:bodyPr wrap="square" rtlCol="0">
                <a:spAutoFit/>
              </a:bodyPr>
              <a:lstStyle/>
              <a:p>
                <a:pPr indent="355600" algn="just">
                  <a:lnSpc>
                    <a:spcPct val="150000"/>
                  </a:lnSpc>
                </a:pPr>
                <a:r>
                  <a:rPr lang="en-US" altLang="zh-CN" sz="2400" kern="100" dirty="0">
                    <a:effectLst/>
                    <a:latin typeface="Times New Roman" panose="02020603050405020304" pitchFamily="18" charset="0"/>
                    <a:ea typeface="宋体" panose="02010600030101010101" pitchFamily="2" charset="-122"/>
                  </a:rPr>
                  <a:t>   </a:t>
                </a:r>
                <a:r>
                  <a:rPr lang="zh-CN" altLang="en-US" sz="2400" kern="100" dirty="0">
                    <a:effectLst/>
                    <a:latin typeface="Times New Roman" panose="02020603050405020304" pitchFamily="18" charset="0"/>
                    <a:ea typeface="宋体" panose="02010600030101010101" pitchFamily="2" charset="-122"/>
                  </a:rPr>
                  <a:t>考虑</a:t>
                </a:r>
                <a:r>
                  <a:rPr lang="zh-CN" altLang="zh-CN" sz="2400" kern="100" dirty="0">
                    <a:effectLst/>
                    <a:latin typeface="Times New Roman" panose="02020603050405020304" pitchFamily="18" charset="0"/>
                    <a:ea typeface="宋体" panose="02010600030101010101" pitchFamily="2" charset="-122"/>
                  </a:rPr>
                  <a:t>等式约束二次规划问题</a:t>
                </a:r>
                <a:endParaRPr lang="zh-CN" altLang="zh-CN" sz="2400" kern="100" dirty="0">
                  <a:effectLst/>
                  <a:latin typeface="Times New Roman" panose="02020603050405020304" pitchFamily="18" charset="0"/>
                  <a:ea typeface="宋体" panose="02010600030101010101" pitchFamily="2" charset="-122"/>
                </a:endParaRPr>
              </a:p>
              <a:p>
                <a:pPr algn="ctr"/>
                <a14:m>
                  <m:oMathPara xmlns:m="http://schemas.openxmlformats.org/officeDocument/2006/math">
                    <m:oMathParaPr>
                      <m:jc m:val="centerGroup"/>
                    </m:oMathParaPr>
                    <m:oMath xmlns:m="http://schemas.openxmlformats.org/officeDocument/2006/math">
                      <m:func>
                        <m:funcPr>
                          <m:ctrlPr>
                            <a:rPr lang="zh-CN" altLang="zh-CN" sz="2400" i="1" kern="100">
                              <a:effectLst/>
                              <a:latin typeface="Cambria Math" panose="02040503050406030204" pitchFamily="18" charset="0"/>
                              <a:ea typeface="Cambria Math" panose="02040503050406030204" pitchFamily="18" charset="0"/>
                            </a:rPr>
                          </m:ctrlPr>
                        </m:funcPr>
                        <m:fName>
                          <m:r>
                            <a:rPr lang="en-US" altLang="zh-CN" sz="2400" i="1" kern="100">
                              <a:effectLst/>
                              <a:latin typeface="Cambria Math" panose="02040503050406030204" pitchFamily="18" charset="0"/>
                              <a:ea typeface="宋体" panose="02010600030101010101" pitchFamily="2" charset="-122"/>
                            </a:rPr>
                            <m:t>𝑚𝑖𝑛</m:t>
                          </m:r>
                        </m:fName>
                        <m:e>
                          <m:r>
                            <a:rPr lang="en-US" altLang="zh-CN" sz="2400" i="1" kern="100">
                              <a:effectLst/>
                              <a:latin typeface="Cambria Math" panose="02040503050406030204" pitchFamily="18" charset="0"/>
                              <a:ea typeface="宋体" panose="02010600030101010101" pitchFamily="2" charset="-122"/>
                            </a:rPr>
                            <m:t> </m:t>
                          </m:r>
                        </m:e>
                      </m:func>
                      <m:r>
                        <a:rPr lang="en-US" altLang="zh-CN" sz="2400" i="1" kern="100">
                          <a:effectLst/>
                          <a:latin typeface="Cambria Math" panose="02040503050406030204" pitchFamily="18" charset="0"/>
                          <a:ea typeface="宋体" panose="02010600030101010101" pitchFamily="2" charset="-122"/>
                        </a:rPr>
                        <m:t>𝑓</m:t>
                      </m:r>
                      <m:d>
                        <m:dPr>
                          <m:ctrlPr>
                            <a:rPr lang="en-US" altLang="zh-CN" sz="2400" i="1" kern="100">
                              <a:effectLst/>
                              <a:latin typeface="Cambria Math" panose="02040503050406030204" pitchFamily="18" charset="0"/>
                              <a:ea typeface="宋体" panose="02010600030101010101" pitchFamily="2" charset="-122"/>
                            </a:rPr>
                          </m:ctrlPr>
                        </m:dPr>
                        <m:e>
                          <m:r>
                            <a:rPr lang="en-US" altLang="zh-CN" sz="2400" i="1" kern="100">
                              <a:effectLst/>
                              <a:latin typeface="Cambria Math" panose="02040503050406030204" pitchFamily="18" charset="0"/>
                              <a:ea typeface="宋体" panose="02010600030101010101" pitchFamily="2" charset="-122"/>
                            </a:rPr>
                            <m:t>𝑥</m:t>
                          </m:r>
                        </m:e>
                      </m:d>
                      <m:r>
                        <a:rPr lang="en-US"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ea typeface="宋体" panose="02010600030101010101" pitchFamily="2" charset="-122"/>
                            </a:rPr>
                            <m:t>1</m:t>
                          </m:r>
                        </m:num>
                        <m:den>
                          <m:r>
                            <a:rPr lang="en-US" altLang="zh-CN" sz="2400" i="1" kern="100">
                              <a:effectLst/>
                              <a:latin typeface="Cambria Math" panose="02040503050406030204" pitchFamily="18" charset="0"/>
                              <a:ea typeface="宋体" panose="02010600030101010101" pitchFamily="2" charset="-122"/>
                            </a:rPr>
                            <m:t>2</m:t>
                          </m:r>
                        </m:den>
                      </m:f>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𝑥</m:t>
                          </m:r>
                        </m:e>
                        <m:sup>
                          <m:r>
                            <a:rPr lang="en-US" altLang="zh-CN" sz="2400" i="1" kern="100">
                              <a:effectLst/>
                              <a:latin typeface="Cambria Math" panose="02040503050406030204" pitchFamily="18" charset="0"/>
                              <a:ea typeface="宋体" panose="02010600030101010101" pitchFamily="2" charset="-122"/>
                            </a:rPr>
                            <m:t>𝑇</m:t>
                          </m:r>
                        </m:sup>
                      </m:sSup>
                      <m:r>
                        <a:rPr lang="en-US" altLang="zh-CN" sz="2400" i="1" kern="100">
                          <a:effectLst/>
                          <a:latin typeface="Cambria Math" panose="02040503050406030204" pitchFamily="18" charset="0"/>
                          <a:ea typeface="宋体" panose="02010600030101010101" pitchFamily="2" charset="-122"/>
                        </a:rPr>
                        <m:t>𝐺𝑥</m:t>
                      </m:r>
                      <m:r>
                        <a:rPr lang="en-US" altLang="zh-CN" sz="2400" i="1" kern="100">
                          <a:effectLst/>
                          <a:latin typeface="Cambria Math" panose="02040503050406030204" pitchFamily="18" charset="0"/>
                          <a:ea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𝑟</m:t>
                          </m:r>
                        </m:e>
                        <m:sup>
                          <m:r>
                            <a:rPr lang="en-US" altLang="zh-CN" sz="2400" i="1" kern="100">
                              <a:effectLst/>
                              <a:latin typeface="Cambria Math" panose="02040503050406030204" pitchFamily="18" charset="0"/>
                              <a:ea typeface="宋体" panose="02010600030101010101" pitchFamily="2" charset="-122"/>
                            </a:rPr>
                            <m:t>𝑇</m:t>
                          </m:r>
                        </m:sup>
                      </m:sSup>
                      <m:r>
                        <a:rPr lang="en-US" altLang="zh-CN" sz="2400" i="1" kern="100">
                          <a:effectLst/>
                          <a:latin typeface="Cambria Math" panose="02040503050406030204" pitchFamily="18" charset="0"/>
                          <a:ea typeface="宋体" panose="02010600030101010101" pitchFamily="2" charset="-122"/>
                        </a:rPr>
                        <m:t>𝑥</m:t>
                      </m:r>
                      <m:r>
                        <a:rPr lang="en-US" altLang="zh-CN" sz="2400" i="1" kern="100">
                          <a:effectLst/>
                          <a:latin typeface="Cambria Math" panose="02040503050406030204" pitchFamily="18" charset="0"/>
                          <a:ea typeface="宋体" panose="02010600030101010101" pitchFamily="2" charset="-122"/>
                        </a:rPr>
                        <m:t>,</m:t>
                      </m:r>
                    </m:oMath>
                  </m:oMathPara>
                </a14:m>
                <a:endParaRPr lang="en-US" altLang="zh-CN" sz="2400" i="1" kern="100" dirty="0">
                  <a:effectLst/>
                  <a:latin typeface="Cambria Math" panose="02040503050406030204" pitchFamily="18" charset="0"/>
                  <a:ea typeface="宋体" panose="02010600030101010101" pitchFamily="2" charset="-122"/>
                </a:endParaRPr>
              </a:p>
              <a:p>
                <a:pPr algn="ct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𝑠</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𝑡</m:t>
                    </m:r>
                    <m:r>
                      <a:rPr lang="en-US" altLang="zh-CN" sz="2400" i="1" kern="100">
                        <a:effectLst/>
                        <a:latin typeface="Cambria Math" panose="02040503050406030204" pitchFamily="18" charset="0"/>
                        <a:ea typeface="宋体" panose="02010600030101010101" pitchFamily="2" charset="-122"/>
                      </a:rPr>
                      <m:t>. </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𝐴</m:t>
                        </m:r>
                      </m:e>
                      <m:sup>
                        <m:r>
                          <a:rPr lang="en-US" altLang="zh-CN" sz="2400" i="1" kern="100">
                            <a:effectLst/>
                            <a:latin typeface="Cambria Math" panose="02040503050406030204" pitchFamily="18" charset="0"/>
                            <a:ea typeface="宋体" panose="02010600030101010101" pitchFamily="2" charset="-122"/>
                          </a:rPr>
                          <m:t>𝑇</m:t>
                        </m:r>
                      </m:sup>
                    </m:sSup>
                    <m:r>
                      <a:rPr lang="en-US" altLang="zh-CN" sz="2400" i="1" kern="100">
                        <a:effectLst/>
                        <a:latin typeface="Cambria Math" panose="02040503050406030204" pitchFamily="18" charset="0"/>
                        <a:ea typeface="宋体" panose="02010600030101010101" pitchFamily="2" charset="-122"/>
                      </a:rPr>
                      <m:t>𝑥</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𝑏</m:t>
                    </m:r>
                  </m:oMath>
                </a14:m>
                <a:r>
                  <a:rPr lang="en-US" altLang="zh-CN" sz="2400" kern="100" dirty="0">
                    <a:effectLst/>
                    <a:latin typeface="宋体" panose="02010600030101010101" pitchFamily="2" charset="-122"/>
                    <a:ea typeface="宋体" panose="02010600030101010101" pitchFamily="2" charset="-122"/>
                  </a:rPr>
                  <a:t>		   </a:t>
                </a:r>
                <a:endParaRPr lang="zh-CN" altLang="zh-CN" sz="2400" kern="100" dirty="0">
                  <a:effectLst/>
                  <a:latin typeface="Times New Roman" panose="02020603050405020304" pitchFamily="18" charset="0"/>
                  <a:ea typeface="宋体" panose="02010600030101010101" pitchFamily="2" charset="-122"/>
                </a:endParaRPr>
              </a:p>
              <a:p>
                <a:pPr algn="just">
                  <a:lnSpc>
                    <a:spcPct val="150000"/>
                  </a:lnSpc>
                </a:pPr>
                <a:r>
                  <a:rPr lang="zh-CN" altLang="zh-CN" sz="2400" kern="100" dirty="0">
                    <a:effectLst/>
                    <a:latin typeface="Times New Roman" panose="02020603050405020304" pitchFamily="18" charset="0"/>
                    <a:ea typeface="宋体" panose="02010600030101010101" pitchFamily="2" charset="-122"/>
                  </a:rPr>
                  <a:t>其中，</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𝐺</m:t>
                    </m:r>
                  </m:oMath>
                </a14:m>
                <a:r>
                  <a:rPr lang="zh-CN" altLang="zh-CN" sz="2400" kern="100" dirty="0">
                    <a:effectLst/>
                    <a:latin typeface="Times New Roman" panose="02020603050405020304" pitchFamily="18" charset="0"/>
                    <a:ea typeface="宋体" panose="02010600030101010101" pitchFamily="2" charset="-122"/>
                  </a:rPr>
                  <a:t>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𝑛</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𝑛</m:t>
                    </m:r>
                  </m:oMath>
                </a14:m>
                <a:r>
                  <a:rPr lang="zh-CN" altLang="zh-CN" sz="2400" kern="100" dirty="0">
                    <a:effectLst/>
                    <a:latin typeface="Times New Roman" panose="02020603050405020304" pitchFamily="18" charset="0"/>
                    <a:ea typeface="宋体" panose="02010600030101010101" pitchFamily="2" charset="-122"/>
                  </a:rPr>
                  <a:t>阶对称矩阵，</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𝑟</m:t>
                    </m:r>
                  </m:oMath>
                </a14:m>
                <a:r>
                  <a:rPr lang="zh-CN" altLang="zh-CN" sz="2400" kern="100" dirty="0">
                    <a:effectLst/>
                    <a:latin typeface="Times New Roman" panose="02020603050405020304" pitchFamily="18" charset="0"/>
                    <a:ea typeface="宋体" panose="02010600030101010101" pitchFamily="2" charset="-122"/>
                  </a:rPr>
                  <a:t>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𝑛</m:t>
                    </m:r>
                  </m:oMath>
                </a14:m>
                <a:r>
                  <a:rPr lang="zh-CN" altLang="zh-CN" sz="2400" kern="100" dirty="0">
                    <a:effectLst/>
                    <a:latin typeface="Times New Roman" panose="02020603050405020304" pitchFamily="18" charset="0"/>
                    <a:ea typeface="宋体" panose="02010600030101010101" pitchFamily="2" charset="-122"/>
                  </a:rPr>
                  <a:t>维列向量，</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𝐴</m:t>
                    </m:r>
                  </m:oMath>
                </a14:m>
                <a:r>
                  <a:rPr lang="zh-CN" altLang="zh-CN" sz="2400" kern="100" dirty="0">
                    <a:effectLst/>
                    <a:latin typeface="Times New Roman" panose="02020603050405020304" pitchFamily="18" charset="0"/>
                    <a:ea typeface="宋体" panose="02010600030101010101" pitchFamily="2" charset="-122"/>
                  </a:rPr>
                  <a:t>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𝑛</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𝑚</m:t>
                    </m:r>
                  </m:oMath>
                </a14:m>
                <a:r>
                  <a:rPr lang="zh-CN" altLang="zh-CN" sz="2400" kern="100" dirty="0">
                    <a:effectLst/>
                    <a:latin typeface="Times New Roman" panose="02020603050405020304" pitchFamily="18" charset="0"/>
                    <a:ea typeface="宋体" panose="02010600030101010101" pitchFamily="2" charset="-122"/>
                  </a:rPr>
                  <a:t>阶矩阵，</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𝑛</m:t>
                    </m:r>
                    <m:r>
                      <a:rPr lang="en-US" altLang="zh-CN" sz="2400" b="0" i="1" kern="100" smtClean="0">
                        <a:effectLst/>
                        <a:latin typeface="Cambria Math" panose="02040503050406030204" pitchFamily="18" charset="0"/>
                        <a:ea typeface="宋体" panose="02010600030101010101" pitchFamily="2" charset="-122"/>
                      </a:rPr>
                      <m:t>&gt;</m:t>
                    </m:r>
                    <m:r>
                      <a:rPr lang="en-US" altLang="zh-CN" sz="2400" i="1" kern="100">
                        <a:effectLst/>
                        <a:latin typeface="Cambria Math" panose="02040503050406030204" pitchFamily="18" charset="0"/>
                        <a:ea typeface="宋体" panose="02010600030101010101" pitchFamily="2" charset="-122"/>
                      </a:rPr>
                      <m:t>𝑚</m:t>
                    </m:r>
                  </m:oMath>
                </a14:m>
                <a:r>
                  <a:rPr lang="zh-CN" altLang="zh-CN" sz="2400" kern="100" dirty="0">
                    <a:effectLst/>
                    <a:latin typeface="Times New Roman" panose="02020603050405020304" pitchFamily="18" charset="0"/>
                    <a:ea typeface="宋体" panose="02010600030101010101" pitchFamily="2" charset="-122"/>
                  </a:rPr>
                  <a:t>且</a:t>
                </a:r>
                <a14:m>
                  <m:oMath xmlns:m="http://schemas.openxmlformats.org/officeDocument/2006/math">
                    <m:r>
                      <m:rPr>
                        <m:sty m:val="p"/>
                      </m:rPr>
                      <a:rPr lang="en-US" altLang="zh-CN" sz="2400" b="0" i="0" kern="100" smtClean="0">
                        <a:latin typeface="Cambria Math" panose="02040503050406030204" pitchFamily="18" charset="0"/>
                      </a:rPr>
                      <m:t>rank</m:t>
                    </m:r>
                    <m:r>
                      <a:rPr lang="en-US" altLang="zh-CN" sz="2400" b="0" i="0" kern="100" smtClean="0">
                        <a:latin typeface="Cambria Math" panose="02040503050406030204" pitchFamily="18" charset="0"/>
                      </a:rPr>
                      <m:t>(</m:t>
                    </m:r>
                    <m:r>
                      <a:rPr lang="en-US" altLang="zh-CN" sz="2400" i="1" kern="100">
                        <a:latin typeface="Cambria Math" panose="02040503050406030204" pitchFamily="18" charset="0"/>
                      </a:rPr>
                      <m:t>𝐴</m:t>
                    </m:r>
                    <m:r>
                      <a:rPr lang="en-US" altLang="zh-CN" sz="2400" b="0" i="0" kern="100" smtClean="0">
                        <a:latin typeface="Cambria Math" panose="02040503050406030204" pitchFamily="18" charset="0"/>
                      </a:rPr>
                      <m:t>)</m:t>
                    </m:r>
                  </m:oMath>
                </a14:m>
                <a:r>
                  <a:rPr lang="en-US" altLang="zh-CN" sz="2400" kern="100" dirty="0">
                    <a:effectLst/>
                    <a:latin typeface="宋体" panose="02010600030101010101" pitchFamily="2" charset="-122"/>
                    <a:ea typeface="宋体" panose="02010600030101010101" pitchFamily="2" charset="-122"/>
                  </a:rPr>
                  <a:t>=</a:t>
                </a:r>
                <a:r>
                  <a:rPr lang="en-US" altLang="zh-CN" sz="2400" i="1" kern="100" dirty="0">
                    <a:effectLst/>
                    <a:latin typeface="Times New Roman" panose="02020603050405020304" pitchFamily="18" charset="0"/>
                    <a:ea typeface="宋体" panose="02010600030101010101" pitchFamily="2" charset="-122"/>
                  </a:rPr>
                  <a:t>m</a:t>
                </a:r>
                <a:r>
                  <a:rPr lang="zh-CN" altLang="zh-CN" sz="2400" kern="100" dirty="0">
                    <a:effectLst/>
                    <a:latin typeface="Times New Roman" panose="02020603050405020304" pitchFamily="18" charset="0"/>
                    <a:ea typeface="宋体" panose="02010600030101010101" pitchFamily="2" charset="-122"/>
                  </a:rPr>
                  <a:t>，即矩阵</a:t>
                </a:r>
                <a14:m>
                  <m:oMath xmlns:m="http://schemas.openxmlformats.org/officeDocument/2006/math">
                    <m:r>
                      <a:rPr lang="en-US" altLang="zh-CN" sz="2400" i="1" kern="100">
                        <a:latin typeface="Cambria Math" panose="02040503050406030204" pitchFamily="18" charset="0"/>
                      </a:rPr>
                      <m:t>𝐴</m:t>
                    </m:r>
                  </m:oMath>
                </a14:m>
                <a:r>
                  <a:rPr lang="zh-CN" altLang="zh-CN" sz="2400" kern="100" dirty="0">
                    <a:effectLst/>
                    <a:latin typeface="Times New Roman" panose="02020603050405020304" pitchFamily="18" charset="0"/>
                    <a:ea typeface="宋体" panose="02010600030101010101" pitchFamily="2" charset="-122"/>
                  </a:rPr>
                  <a:t>是列满秩的。</a:t>
                </a:r>
                <a:endParaRPr lang="zh-CN" altLang="zh-CN" sz="2400" kern="100" dirty="0">
                  <a:effectLst/>
                  <a:latin typeface="Times New Roman" panose="02020603050405020304" pitchFamily="18" charset="0"/>
                  <a:ea typeface="宋体" panose="02010600030101010101" pitchFamily="2" charset="-122"/>
                </a:endParaRPr>
              </a:p>
              <a:p>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1055440" y="1495606"/>
                <a:ext cx="9145016" cy="3194685"/>
              </a:xfrm>
              <a:prstGeom prst="rect">
                <a:avLst/>
              </a:prstGeom>
              <a:blipFill rotWithShape="1">
                <a:blip r:embed="rId1"/>
                <a:stretch>
                  <a:fillRect l="-1" t="-6" r="5" b="6"/>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335280" y="116840"/>
                <a:ext cx="11439525" cy="6734810"/>
              </a:xfrm>
              <a:prstGeom prst="rect">
                <a:avLst/>
              </a:prstGeom>
              <a:noFill/>
            </p:spPr>
            <p:txBody>
              <a:bodyPr wrap="square" rtlCol="0">
                <a:spAutoFit/>
              </a:bodyPr>
              <a:lstStyle/>
              <a:p>
                <a:pPr algn="just">
                  <a:lnSpc>
                    <a:spcPct val="150000"/>
                  </a:lnSpc>
                </a:pPr>
                <a:r>
                  <a:rPr lang="zh-CN" altLang="zh-CN" sz="2400" kern="100" dirty="0">
                    <a:effectLst/>
                    <a:latin typeface="黑体" panose="02010609060101010101" pitchFamily="49" charset="-122"/>
                    <a:ea typeface="黑体" panose="02010609060101010101" pitchFamily="49" charset="-122"/>
                  </a:rPr>
                  <a:t>定理</a:t>
                </a:r>
                <a:r>
                  <a:rPr lang="en-US" altLang="zh-CN" sz="2400" kern="100" dirty="0">
                    <a:effectLst/>
                    <a:latin typeface="黑体" panose="02010609060101010101" pitchFamily="49" charset="-122"/>
                    <a:ea typeface="黑体" panose="02010609060101010101" pitchFamily="49" charset="-122"/>
                  </a:rPr>
                  <a:t>3 </a:t>
                </a:r>
                <a:r>
                  <a:rPr lang="zh-CN" altLang="zh-CN" sz="2400" kern="100" dirty="0">
                    <a:effectLst/>
                    <a:latin typeface="Times New Roman" panose="02020603050405020304" pitchFamily="18" charset="0"/>
                  </a:rPr>
                  <a:t>设</a:t>
                </a:r>
                <a14:m>
                  <m:oMath xmlns:m="http://schemas.openxmlformats.org/officeDocument/2006/math">
                    <m:r>
                      <a:rPr lang="en-US" altLang="zh-CN" sz="2400" i="1" kern="100">
                        <a:effectLst/>
                        <a:latin typeface="Cambria Math" panose="02040503050406030204" pitchFamily="18" charset="0"/>
                      </a:rPr>
                      <m:t>𝐺</m:t>
                    </m:r>
                  </m:oMath>
                </a14:m>
                <a:r>
                  <a:rPr lang="zh-CN" altLang="zh-CN" sz="2400" kern="100" dirty="0">
                    <a:effectLst/>
                    <a:latin typeface="Times New Roman" panose="02020603050405020304" pitchFamily="18" charset="0"/>
                  </a:rPr>
                  <a:t>是半正定（正定）矩阵，则</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𝑥</m:t>
                        </m:r>
                      </m:e>
                      <m:sup>
                        <m:r>
                          <a:rPr lang="en-US" altLang="zh-CN" sz="2400" i="1" kern="100">
                            <a:effectLst/>
                            <a:latin typeface="Cambria Math" panose="02040503050406030204" pitchFamily="18" charset="0"/>
                          </a:rPr>
                          <m:t>∗</m:t>
                        </m:r>
                      </m:sup>
                    </m:sSup>
                  </m:oMath>
                </a14:m>
                <a:r>
                  <a:rPr lang="zh-CN" altLang="zh-CN" sz="2400" kern="100" dirty="0">
                    <a:effectLst/>
                    <a:latin typeface="Times New Roman" panose="02020603050405020304" pitchFamily="18" charset="0"/>
                  </a:rPr>
                  <a:t>是等式约束二次规划问题的全局最优解，</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𝜆</m:t>
                        </m:r>
                      </m:e>
                      <m:sup>
                        <m:r>
                          <a:rPr lang="en-US" altLang="zh-CN" sz="2400" i="1" kern="100">
                            <a:effectLst/>
                            <a:latin typeface="Cambria Math" panose="02040503050406030204" pitchFamily="18" charset="0"/>
                          </a:rPr>
                          <m:t>∗</m:t>
                        </m:r>
                      </m:sup>
                    </m:sSup>
                  </m:oMath>
                </a14:m>
                <a:r>
                  <a:rPr lang="zh-CN" altLang="zh-CN" sz="2400" kern="100" dirty="0">
                    <a:effectLst/>
                    <a:latin typeface="Times New Roman" panose="02020603050405020304" pitchFamily="18" charset="0"/>
                  </a:rPr>
                  <a:t>是相应乘子向量的充分必要条件是：</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𝑥</m:t>
                        </m:r>
                      </m:e>
                      <m:sup>
                        <m:r>
                          <a:rPr lang="en-US" altLang="zh-CN" sz="2400" i="1" kern="100">
                            <a:effectLst/>
                            <a:latin typeface="Cambria Math" panose="02040503050406030204" pitchFamily="18" charset="0"/>
                          </a:rPr>
                          <m:t>∗</m:t>
                        </m:r>
                      </m:sup>
                    </m:sSup>
                  </m:oMath>
                </a14:m>
                <a:r>
                  <a:rPr lang="zh-CN" altLang="zh-CN" sz="2400" kern="100" dirty="0">
                    <a:effectLst/>
                    <a:latin typeface="Times New Roman" panose="02020603050405020304" pitchFamily="18" charset="0"/>
                  </a:rPr>
                  <a:t>、</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𝜆</m:t>
                        </m:r>
                      </m:e>
                      <m:sup>
                        <m:r>
                          <a:rPr lang="en-US" altLang="zh-CN" sz="2400" i="1" kern="100">
                            <a:effectLst/>
                            <a:latin typeface="Cambria Math" panose="02040503050406030204" pitchFamily="18" charset="0"/>
                          </a:rPr>
                          <m:t>∗</m:t>
                        </m:r>
                      </m:sup>
                    </m:sSup>
                  </m:oMath>
                </a14:m>
                <a:r>
                  <a:rPr lang="zh-CN" altLang="zh-CN" sz="2400" kern="100" dirty="0">
                    <a:effectLst/>
                    <a:latin typeface="Times New Roman" panose="02020603050405020304" pitchFamily="18" charset="0"/>
                  </a:rPr>
                  <a:t>是线性方程组</a:t>
                </a:r>
                <a:endParaRPr lang="en-US" altLang="zh-CN" sz="2400" kern="100" dirty="0">
                  <a:effectLst/>
                  <a:latin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d>
                        <m:dPr>
                          <m:ctrlPr>
                            <a:rPr lang="en-US" altLang="zh-CN" sz="2400" i="1" kern="100" smtClean="0">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2400" i="1" kern="100">
                                  <a:latin typeface="Cambria Math" panose="02040503050406030204" pitchFamily="18" charset="0"/>
                                  <a:ea typeface="Cambria Math" panose="02040503050406030204" pitchFamily="18" charset="0"/>
                                </a:rPr>
                              </m:ctrlPr>
                            </m:mPr>
                            <m:mr>
                              <m:e>
                                <m:r>
                                  <a:rPr lang="en-US" altLang="zh-CN" sz="2400" i="1" kern="100">
                                    <a:latin typeface="Cambria Math" panose="02040503050406030204" pitchFamily="18" charset="0"/>
                                  </a:rPr>
                                  <m:t>𝐺</m:t>
                                </m:r>
                              </m:e>
                              <m:e>
                                <m:r>
                                  <a:rPr lang="en-US" altLang="zh-CN" sz="2400" i="1" kern="100">
                                    <a:latin typeface="Cambria Math" panose="02040503050406030204" pitchFamily="18" charset="0"/>
                                  </a:rPr>
                                  <m:t>−</m:t>
                                </m:r>
                                <m:r>
                                  <a:rPr lang="en-US" altLang="zh-CN" sz="2400" i="1" kern="100">
                                    <a:latin typeface="Cambria Math" panose="02040503050406030204" pitchFamily="18" charset="0"/>
                                  </a:rPr>
                                  <m:t>𝐴</m:t>
                                </m:r>
                              </m:e>
                            </m:mr>
                            <m:mr>
                              <m:e>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𝐴</m:t>
                                    </m:r>
                                  </m:e>
                                  <m:sup>
                                    <m:r>
                                      <a:rPr lang="en-US" altLang="zh-CN" sz="2400" i="1" kern="100">
                                        <a:latin typeface="Cambria Math" panose="02040503050406030204" pitchFamily="18" charset="0"/>
                                      </a:rPr>
                                      <m:t>𝑇</m:t>
                                    </m:r>
                                  </m:sup>
                                </m:sSup>
                              </m:e>
                              <m:e>
                                <m:r>
                                  <a:rPr lang="en-US" altLang="zh-CN" sz="2400" i="1" kern="100">
                                    <a:latin typeface="Cambria Math" panose="02040503050406030204" pitchFamily="18" charset="0"/>
                                  </a:rPr>
                                  <m:t>0</m:t>
                                </m:r>
                              </m:e>
                            </m:mr>
                          </m:m>
                        </m:e>
                      </m:d>
                      <m:d>
                        <m:dPr>
                          <m:ctrlPr>
                            <a:rPr lang="en-US" altLang="zh-CN" sz="2400" i="1" kern="100" smtClean="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kern="100">
                                  <a:latin typeface="Cambria Math" panose="02040503050406030204" pitchFamily="18" charset="0"/>
                                  <a:ea typeface="Cambria Math" panose="02040503050406030204" pitchFamily="18" charset="0"/>
                                </a:rPr>
                              </m:ctrlPr>
                            </m:mPr>
                            <m:mr>
                              <m:e>
                                <m:r>
                                  <a:rPr lang="en-US" altLang="zh-CN" sz="2400" i="1" kern="100">
                                    <a:latin typeface="Cambria Math" panose="02040503050406030204" pitchFamily="18" charset="0"/>
                                  </a:rPr>
                                  <m:t>𝑥</m:t>
                                </m:r>
                              </m:e>
                            </m:mr>
                            <m:mr>
                              <m:e>
                                <m:r>
                                  <a:rPr lang="en-US" altLang="zh-CN" sz="2400" i="1" kern="100">
                                    <a:latin typeface="Cambria Math" panose="02040503050406030204" pitchFamily="18" charset="0"/>
                                  </a:rPr>
                                  <m:t>𝜆</m:t>
                                </m:r>
                              </m:e>
                            </m:mr>
                          </m:m>
                        </m:e>
                      </m:d>
                      <m:r>
                        <a:rPr lang="en-US" altLang="zh-CN" sz="2400" i="1" kern="100">
                          <a:effectLst/>
                          <a:latin typeface="Cambria Math" panose="02040503050406030204" pitchFamily="18" charset="0"/>
                        </a:rPr>
                        <m:t>=</m:t>
                      </m:r>
                      <m:d>
                        <m:dPr>
                          <m:ctrlPr>
                            <a:rPr lang="en-US" altLang="zh-CN" sz="2400" i="1" kern="100" smtClean="0">
                              <a:effectLst/>
                              <a:latin typeface="Cambria Math" panose="02040503050406030204" pitchFamily="18" charset="0"/>
                            </a:rPr>
                          </m:ctrlPr>
                        </m:dPr>
                        <m:e>
                          <m:m>
                            <m:mPr>
                              <m:mcs>
                                <m:mc>
                                  <m:mcPr>
                                    <m:count m:val="1"/>
                                    <m:mcJc m:val="center"/>
                                  </m:mcPr>
                                </m:mc>
                              </m:mcs>
                              <m:ctrlPr>
                                <a:rPr lang="zh-CN" altLang="zh-CN" sz="2400" i="1" kern="100">
                                  <a:latin typeface="Cambria Math" panose="02040503050406030204" pitchFamily="18" charset="0"/>
                                  <a:ea typeface="Cambria Math" panose="02040503050406030204" pitchFamily="18" charset="0"/>
                                </a:rPr>
                              </m:ctrlPr>
                            </m:mPr>
                            <m:mr>
                              <m:e>
                                <m:r>
                                  <a:rPr lang="en-US" altLang="zh-CN" sz="2400" i="1" kern="100">
                                    <a:latin typeface="Cambria Math" panose="02040503050406030204" pitchFamily="18" charset="0"/>
                                  </a:rPr>
                                  <m:t>−</m:t>
                                </m:r>
                                <m:r>
                                  <a:rPr lang="en-US" altLang="zh-CN" sz="2400" i="1" kern="100">
                                    <a:latin typeface="Cambria Math" panose="02040503050406030204" pitchFamily="18" charset="0"/>
                                  </a:rPr>
                                  <m:t>𝑟</m:t>
                                </m:r>
                              </m:e>
                            </m:mr>
                            <m:mr>
                              <m:e>
                                <m:r>
                                  <a:rPr lang="en-US" altLang="zh-CN" sz="2400" i="1" kern="100">
                                    <a:latin typeface="Cambria Math" panose="02040503050406030204" pitchFamily="18" charset="0"/>
                                  </a:rPr>
                                  <m:t>𝑏</m:t>
                                </m:r>
                              </m:e>
                            </m:mr>
                          </m:m>
                        </m:e>
                      </m:d>
                    </m:oMath>
                  </m:oMathPara>
                </a14:m>
                <a:endParaRPr lang="zh-CN" altLang="zh-CN" sz="2400" kern="100" dirty="0">
                  <a:effectLst/>
                  <a:latin typeface="Times New Roman" panose="02020603050405020304" pitchFamily="18" charset="0"/>
                </a:endParaRPr>
              </a:p>
              <a:p>
                <a:pPr algn="just">
                  <a:lnSpc>
                    <a:spcPct val="150000"/>
                  </a:lnSpc>
                </a:pPr>
                <a:r>
                  <a:rPr lang="zh-CN" altLang="zh-CN" sz="2400" kern="100" dirty="0">
                    <a:effectLst/>
                    <a:latin typeface="Times New Roman" panose="02020603050405020304" pitchFamily="18" charset="0"/>
                  </a:rPr>
                  <a:t>的解。</a:t>
                </a:r>
                <a:endParaRPr lang="en-US" altLang="zh-CN" sz="2400" kern="100" dirty="0">
                  <a:effectLst/>
                  <a:latin typeface="Times New Roman" panose="02020603050405020304" pitchFamily="18" charset="0"/>
                </a:endParaRPr>
              </a:p>
              <a:p>
                <a:pPr algn="just">
                  <a:lnSpc>
                    <a:spcPct val="150000"/>
                  </a:lnSpc>
                </a:pPr>
                <a:r>
                  <a:rPr lang="zh-CN" altLang="zh-CN" sz="2400" b="1" kern="100" dirty="0">
                    <a:effectLst/>
                    <a:latin typeface="Times New Roman" panose="02020603050405020304" pitchFamily="18" charset="0"/>
                  </a:rPr>
                  <a:t>证</a:t>
                </a:r>
                <a:r>
                  <a:rPr lang="zh-CN" altLang="zh-CN" sz="2400" kern="100" dirty="0">
                    <a:effectLst/>
                    <a:latin typeface="Times New Roman" panose="02020603050405020304" pitchFamily="18" charset="0"/>
                  </a:rPr>
                  <a:t> </a:t>
                </a:r>
                <a:r>
                  <a:rPr lang="en-US" altLang="zh-CN" sz="2400" kern="100" dirty="0">
                    <a:effectLst/>
                    <a:latin typeface="Times New Roman" panose="02020603050405020304" pitchFamily="18" charset="0"/>
                  </a:rPr>
                  <a:t> </a:t>
                </a:r>
                <a:r>
                  <a:rPr lang="zh-CN" altLang="zh-CN" sz="2400" kern="100" dirty="0">
                    <a:effectLst/>
                    <a:latin typeface="Times New Roman" panose="02020603050405020304" pitchFamily="18" charset="0"/>
                  </a:rPr>
                  <a:t>等式约束二次规划问题的拉格朗日函数</a:t>
                </a:r>
                <a:r>
                  <a:rPr lang="zh-CN" altLang="zh-CN" sz="2400" kern="100" dirty="0">
                    <a:effectLst/>
                    <a:latin typeface="Times New Roman" panose="02020603050405020304" pitchFamily="18" charset="0"/>
                  </a:rPr>
                  <a:t>为</a:t>
                </a:r>
                <a:endParaRPr lang="zh-CN" altLang="zh-CN" sz="2400" kern="100" dirty="0">
                  <a:effectLst/>
                  <a:latin typeface="Times New Roman" panose="02020603050405020304" pitchFamily="18" charset="0"/>
                </a:endParaRPr>
              </a:p>
              <a:p>
                <a:pPr indent="266700" algn="just"/>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rPr>
                        <m:t>𝐿</m:t>
                      </m:r>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rPr>
                            <m:t>𝑥</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𝜆</m:t>
                          </m:r>
                        </m:e>
                      </m:d>
                      <m:r>
                        <a:rPr lang="en-US" altLang="zh-CN" sz="2400" i="1" kern="100">
                          <a:effectLst/>
                          <a:latin typeface="Cambria Math" panose="02040503050406030204" pitchFamily="18" charset="0"/>
                        </a:rPr>
                        <m:t>=</m:t>
                      </m:r>
                      <m:f>
                        <m:fPr>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rPr>
                            <m:t>1</m:t>
                          </m:r>
                        </m:num>
                        <m:den>
                          <m:r>
                            <a:rPr lang="en-US" altLang="zh-CN" sz="2400" i="1" kern="100">
                              <a:effectLst/>
                              <a:latin typeface="Cambria Math" panose="02040503050406030204" pitchFamily="18" charset="0"/>
                            </a:rPr>
                            <m:t>2</m:t>
                          </m:r>
                        </m:den>
                      </m:f>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𝑥</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𝐺𝑥</m:t>
                      </m:r>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𝑟</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𝑥</m:t>
                      </m:r>
                      <m:r>
                        <a:rPr lang="en-US" altLang="zh-CN" sz="2400" i="1" kern="100">
                          <a:effectLst/>
                          <a:latin typeface="Cambria Math" panose="02040503050406030204" pitchFamily="18" charset="0"/>
                        </a:rPr>
                        <m:t>−&lt;</m:t>
                      </m:r>
                      <m:r>
                        <a:rPr lang="en-US" altLang="zh-CN" sz="2400" i="1" kern="100">
                          <a:effectLst/>
                          <a:latin typeface="Cambria Math" panose="02040503050406030204" pitchFamily="18" charset="0"/>
                        </a:rPr>
                        <m:t>𝜆</m:t>
                      </m:r>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𝐴</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𝑥</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𝑏</m:t>
                      </m:r>
                      <m:r>
                        <a:rPr lang="en-US" altLang="zh-CN" sz="2400" i="1" kern="100">
                          <a:effectLst/>
                          <a:latin typeface="Cambria Math" panose="02040503050406030204" pitchFamily="18" charset="0"/>
                        </a:rPr>
                        <m:t>&gt;</m:t>
                      </m:r>
                    </m:oMath>
                  </m:oMathPara>
                </a14:m>
                <a:endParaRPr lang="zh-CN" altLang="zh-CN" sz="2400" kern="100" dirty="0">
                  <a:effectLst/>
                  <a:latin typeface="Times New Roman" panose="02020603050405020304" pitchFamily="18" charset="0"/>
                </a:endParaRPr>
              </a:p>
              <a:p>
                <a:pPr indent="266700" algn="just">
                  <a:lnSpc>
                    <a:spcPct val="150000"/>
                  </a:lnSpc>
                </a:pPr>
                <a:r>
                  <a:rPr lang="en-US" altLang="zh-CN" sz="2400" kern="100" dirty="0">
                    <a:effectLst/>
                    <a:latin typeface="宋体" panose="02010600030101010101" pitchFamily="2" charset="-122"/>
                  </a:rPr>
                  <a:t> KKT</a:t>
                </a:r>
                <a:r>
                  <a:rPr lang="zh-CN" altLang="zh-CN" sz="2400" kern="100" dirty="0">
                    <a:effectLst/>
                    <a:latin typeface="Times New Roman" panose="02020603050405020304" pitchFamily="18" charset="0"/>
                  </a:rPr>
                  <a:t>条件为</a:t>
                </a:r>
                <a:endParaRPr lang="zh-CN" altLang="zh-CN" sz="2400" kern="100" dirty="0">
                  <a:effectLst/>
                  <a:latin typeface="Times New Roman" panose="02020603050405020304" pitchFamily="18" charset="0"/>
                </a:endParaRPr>
              </a:p>
              <a:p>
                <a:pPr indent="266700" algn="just"/>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rPr>
                        <m:t>𝐺𝑥</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𝑟</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𝐴</m:t>
                      </m:r>
                      <m:r>
                        <a:rPr lang="en-US" altLang="zh-CN" sz="2400" i="1" kern="100">
                          <a:effectLst/>
                          <a:latin typeface="Cambria Math" panose="02040503050406030204" pitchFamily="18" charset="0"/>
                        </a:rPr>
                        <m:t>𝜆</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0</m:t>
                      </m:r>
                      <m:r>
                        <a:rPr lang="en-US" altLang="zh-CN" sz="2400" i="1" kern="100">
                          <a:effectLst/>
                          <a:latin typeface="Cambria Math" panose="02040503050406030204" pitchFamily="18" charset="0"/>
                        </a:rPr>
                        <m:t>,  </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𝐴</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𝑥</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𝑏</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0</m:t>
                      </m:r>
                    </m:oMath>
                  </m:oMathPara>
                </a14:m>
                <a:endParaRPr lang="zh-CN" altLang="zh-CN" sz="2400" kern="100" dirty="0">
                  <a:effectLst/>
                  <a:latin typeface="Times New Roman" panose="02020603050405020304" pitchFamily="18" charset="0"/>
                </a:endParaRPr>
              </a:p>
              <a:p>
                <a:pPr indent="266700" algn="just">
                  <a:lnSpc>
                    <a:spcPct val="150000"/>
                  </a:lnSpc>
                </a:pPr>
                <a:r>
                  <a:rPr lang="en-US" altLang="zh-CN" sz="2400" kern="100" dirty="0">
                    <a:effectLst/>
                    <a:latin typeface="Times New Roman" panose="02020603050405020304" pitchFamily="18" charset="0"/>
                  </a:rPr>
                  <a:t> </a:t>
                </a:r>
                <a:r>
                  <a:rPr lang="zh-CN" altLang="zh-CN" sz="2400" kern="100" dirty="0">
                    <a:effectLst/>
                    <a:latin typeface="Times New Roman" panose="02020603050405020304" pitchFamily="18" charset="0"/>
                  </a:rPr>
                  <a:t>整理即得结论成立。</a:t>
                </a:r>
                <a:endParaRPr lang="zh-CN" altLang="zh-CN" sz="2400" kern="100" dirty="0">
                  <a:effectLst/>
                  <a:latin typeface="Times New Roman" panose="02020603050405020304" pitchFamily="18" charset="0"/>
                </a:endParaRPr>
              </a:p>
              <a:p>
                <a:pPr indent="266700" algn="just">
                  <a:lnSpc>
                    <a:spcPct val="150000"/>
                  </a:lnSpc>
                </a:pPr>
                <a:r>
                  <a:rPr lang="zh-CN" altLang="en-US" sz="2400" kern="100" dirty="0">
                    <a:latin typeface="+mn-ea"/>
                    <a:ea typeface="+mn-ea"/>
                    <a:sym typeface="+mn-ea"/>
                  </a:rPr>
                  <a:t>二次规划</a:t>
                </a:r>
                <a:r>
                  <a:rPr lang="zh-CN" altLang="zh-CN" sz="2400" kern="100" dirty="0">
                    <a:effectLst/>
                    <a:latin typeface="+mn-ea"/>
                    <a:ea typeface="+mn-ea"/>
                    <a:sym typeface="+mn-ea"/>
                  </a:rPr>
                  <a:t>定理</a:t>
                </a:r>
                <a:r>
                  <a:rPr lang="en-US" altLang="zh-CN" sz="2400" kern="100" dirty="0">
                    <a:effectLst/>
                    <a:latin typeface="+mn-ea"/>
                    <a:ea typeface="+mn-ea"/>
                    <a:sym typeface="+mn-ea"/>
                  </a:rPr>
                  <a:t>3</a:t>
                </a:r>
                <a:r>
                  <a:rPr lang="zh-CN" altLang="zh-CN" sz="2400" kern="100" dirty="0">
                    <a:effectLst/>
                    <a:latin typeface="+mn-ea"/>
                    <a:ea typeface="+mn-ea"/>
                    <a:sym typeface="+mn-ea"/>
                  </a:rPr>
                  <a:t>表明，求解等式约束的二次规划问题，可转化为求解线性方程组的问题，但是问题的维数也扩大了，维数的增大会增加求解线性方程组的难度，一种克服上述缺点的方法是变量消去法。消去法包括直接消去法和广义消去法。</a:t>
                </a:r>
                <a:endParaRPr lang="zh-CN" altLang="zh-CN" sz="2400" kern="100" dirty="0">
                  <a:effectLst/>
                  <a:latin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335280" y="116840"/>
                <a:ext cx="11439525" cy="673481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1559496" y="908720"/>
                <a:ext cx="9073008" cy="5525680"/>
              </a:xfrm>
              <a:prstGeom prst="rect">
                <a:avLst/>
              </a:prstGeom>
              <a:noFill/>
            </p:spPr>
            <p:txBody>
              <a:bodyPr wrap="square">
                <a:spAutoFit/>
              </a:bodyPr>
              <a:lstStyle/>
              <a:p>
                <a:pPr indent="475615" algn="just">
                  <a:spcBef>
                    <a:spcPts val="600"/>
                  </a:spcBef>
                  <a:spcAft>
                    <a:spcPts val="600"/>
                  </a:spcAft>
                </a:pPr>
                <a:r>
                  <a:rPr lang="zh-CN" altLang="en-US" sz="2400" b="1" kern="100" dirty="0">
                    <a:solidFill>
                      <a:srgbClr val="0070C0"/>
                    </a:solidFill>
                    <a:effectLst/>
                    <a:latin typeface="+mn-ea"/>
                    <a:ea typeface="+mn-ea"/>
                  </a:rPr>
                  <a:t>例</a:t>
                </a:r>
                <a:r>
                  <a:rPr lang="zh-CN" altLang="en-US" sz="2400" kern="100" dirty="0">
                    <a:effectLst/>
                    <a:latin typeface="+mn-ea"/>
                    <a:ea typeface="+mn-ea"/>
                  </a:rPr>
                  <a:t> </a:t>
                </a:r>
                <a:r>
                  <a:rPr lang="zh-CN" altLang="zh-CN" sz="2400" kern="100" dirty="0">
                    <a:effectLst/>
                    <a:latin typeface="+mn-ea"/>
                    <a:ea typeface="+mn-ea"/>
                  </a:rPr>
                  <a:t>求解二次规划问题</a:t>
                </a:r>
                <a:endParaRPr lang="zh-CN" altLang="zh-CN" sz="2400" kern="100" dirty="0">
                  <a:effectLst/>
                  <a:latin typeface="+mn-ea"/>
                  <a:ea typeface="+mn-ea"/>
                </a:endParaRPr>
              </a:p>
              <a:p>
                <a:pPr indent="475615" algn="just">
                  <a:spcBef>
                    <a:spcPts val="600"/>
                  </a:spcBef>
                  <a:spcAft>
                    <a:spcPts val="600"/>
                  </a:spcAft>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400" i="1" kern="100">
                              <a:effectLst/>
                              <a:latin typeface="Cambria Math" panose="02040503050406030204" pitchFamily="18" charset="0"/>
                              <a:ea typeface="+mn-ea"/>
                            </a:rPr>
                          </m:ctrlPr>
                        </m:mPr>
                        <m:mr>
                          <m:e>
                            <m:func>
                              <m:funcPr>
                                <m:ctrlPr>
                                  <a:rPr lang="zh-CN" altLang="zh-CN" sz="2400" i="1" kern="100">
                                    <a:effectLst/>
                                    <a:latin typeface="Cambria Math" panose="02040503050406030204" pitchFamily="18" charset="0"/>
                                    <a:ea typeface="+mn-ea"/>
                                  </a:rPr>
                                </m:ctrlPr>
                              </m:funcPr>
                              <m:fName>
                                <m:r>
                                  <m:rPr>
                                    <m:sty m:val="p"/>
                                  </m:rPr>
                                  <a:rPr lang="en-US" altLang="zh-CN" sz="2400" kern="100">
                                    <a:effectLst/>
                                    <a:latin typeface="Cambria Math" panose="02040503050406030204" pitchFamily="18" charset="0"/>
                                    <a:ea typeface="+mn-ea"/>
                                  </a:rPr>
                                  <m:t>min</m:t>
                                </m:r>
                              </m:fName>
                              <m:e>
                                <m:r>
                                  <a:rPr lang="en-US" altLang="zh-CN" sz="2400" i="1" kern="100">
                                    <a:effectLst/>
                                    <a:latin typeface="Cambria Math" panose="02040503050406030204" pitchFamily="18" charset="0"/>
                                    <a:ea typeface="+mn-ea"/>
                                  </a:rPr>
                                  <m:t>𝑓</m:t>
                                </m:r>
                                <m:d>
                                  <m:dPr>
                                    <m:ctrlPr>
                                      <a:rPr lang="zh-CN" altLang="zh-CN" sz="2400" i="1" kern="100">
                                        <a:effectLst/>
                                        <a:latin typeface="Cambria Math" panose="02040503050406030204" pitchFamily="18" charset="0"/>
                                        <a:ea typeface="+mn-ea"/>
                                      </a:rPr>
                                    </m:ctrlPr>
                                  </m:dPr>
                                  <m:e>
                                    <m:r>
                                      <a:rPr lang="en-US" altLang="zh-CN" sz="2400" i="1" kern="100">
                                        <a:effectLst/>
                                        <a:latin typeface="Cambria Math" panose="02040503050406030204" pitchFamily="18" charset="0"/>
                                        <a:ea typeface="+mn-ea"/>
                                      </a:rPr>
                                      <m:t>𝑥</m:t>
                                    </m:r>
                                  </m:e>
                                </m:d>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1</m:t>
                                    </m:r>
                                  </m:sub>
                                  <m:sup>
                                    <m:r>
                                      <a:rPr lang="en-US" altLang="zh-CN" sz="2400" i="1" kern="100">
                                        <a:effectLst/>
                                        <a:latin typeface="Cambria Math" panose="02040503050406030204" pitchFamily="18" charset="0"/>
                                        <a:ea typeface="+mn-ea"/>
                                      </a:rPr>
                                      <m:t>2</m:t>
                                    </m:r>
                                  </m:sup>
                                </m:sSubSup>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2</m:t>
                                    </m:r>
                                  </m:sub>
                                  <m:sup>
                                    <m:r>
                                      <a:rPr lang="en-US" altLang="zh-CN" sz="2400" i="1" kern="100">
                                        <a:effectLst/>
                                        <a:latin typeface="Cambria Math" panose="02040503050406030204" pitchFamily="18" charset="0"/>
                                        <a:ea typeface="+mn-ea"/>
                                      </a:rPr>
                                      <m:t>2</m:t>
                                    </m:r>
                                  </m:sup>
                                </m:sSubSup>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up>
                                    <m:r>
                                      <a:rPr lang="en-US" altLang="zh-CN" sz="2400" i="1" kern="100">
                                        <a:effectLst/>
                                        <a:latin typeface="Cambria Math" panose="02040503050406030204" pitchFamily="18" charset="0"/>
                                        <a:ea typeface="+mn-ea"/>
                                      </a:rPr>
                                      <m:t>2</m:t>
                                    </m:r>
                                  </m:sup>
                                </m:sSubSup>
                              </m:e>
                            </m:func>
                          </m:e>
                        </m:mr>
                        <m:mr>
                          <m:e>
                            <m:r>
                              <a:rPr lang="en-US" altLang="zh-CN" sz="2400" i="1" kern="100">
                                <a:effectLst/>
                                <a:latin typeface="Cambria Math" panose="02040503050406030204" pitchFamily="18" charset="0"/>
                                <a:ea typeface="+mn-ea"/>
                              </a:rPr>
                              <m:t>𝑠</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𝑡</m:t>
                            </m:r>
                            <m:r>
                              <a:rPr lang="en-US" altLang="zh-CN" sz="2400" i="1" kern="100">
                                <a:effectLst/>
                                <a:latin typeface="Cambria Math" panose="02040503050406030204" pitchFamily="18" charset="0"/>
                                <a:ea typeface="+mn-ea"/>
                              </a:rPr>
                              <m:t>. </m:t>
                            </m:r>
                            <m:m>
                              <m:mPr>
                                <m:mcs>
                                  <m:mc>
                                    <m:mcPr>
                                      <m:count m:val="1"/>
                                      <m:mcJc m:val="center"/>
                                    </m:mcPr>
                                  </m:mc>
                                </m:mcs>
                                <m:ctrlPr>
                                  <a:rPr lang="zh-CN" altLang="zh-CN" sz="2400" i="1" kern="100">
                                    <a:effectLst/>
                                    <a:latin typeface="Cambria Math" panose="02040503050406030204" pitchFamily="18" charset="0"/>
                                    <a:ea typeface="+mn-ea"/>
                                  </a:rPr>
                                </m:ctrlPr>
                              </m:mPr>
                              <m:m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1</m:t>
                                      </m:r>
                                    </m:sub>
                                  </m:sSub>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2</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2</m:t>
                                      </m:r>
                                    </m:sub>
                                  </m:sSub>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Sub>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4</m:t>
                                  </m:r>
                                </m:e>
                              </m:mr>
                              <m:m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1</m:t>
                                      </m:r>
                                    </m:sub>
                                  </m:sSub>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2</m:t>
                                      </m:r>
                                    </m:sub>
                                  </m:sSub>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Sub>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2</m:t>
                                  </m:r>
                                </m:e>
                              </m:mr>
                            </m:m>
                          </m:e>
                        </m:mr>
                      </m:m>
                    </m:oMath>
                  </m:oMathPara>
                </a14:m>
                <a:endParaRPr lang="zh-CN" altLang="zh-CN" sz="2400" kern="100" dirty="0">
                  <a:effectLst/>
                  <a:latin typeface="+mn-ea"/>
                  <a:ea typeface="+mn-ea"/>
                </a:endParaRPr>
              </a:p>
              <a:p>
                <a:pPr indent="475615" algn="just">
                  <a:spcBef>
                    <a:spcPts val="600"/>
                  </a:spcBef>
                  <a:spcAft>
                    <a:spcPts val="600"/>
                  </a:spcAft>
                </a:pPr>
                <a:r>
                  <a:rPr lang="zh-CN" altLang="zh-CN" sz="2400" b="1" kern="100" dirty="0">
                    <a:solidFill>
                      <a:srgbClr val="0070C0"/>
                    </a:solidFill>
                    <a:effectLst/>
                    <a:latin typeface="+mn-ea"/>
                    <a:ea typeface="+mn-ea"/>
                  </a:rPr>
                  <a:t>解</a:t>
                </a:r>
                <a:r>
                  <a:rPr lang="zh-CN" altLang="zh-CN" sz="2400" kern="100" dirty="0">
                    <a:effectLst/>
                    <a:latin typeface="+mn-ea"/>
                    <a:ea typeface="+mn-ea"/>
                  </a:rPr>
                  <a:t>：首先将约束写成</a:t>
                </a:r>
                <a:endParaRPr lang="zh-CN" altLang="zh-CN" sz="2400" kern="100" dirty="0">
                  <a:effectLst/>
                  <a:latin typeface="+mn-ea"/>
                  <a:ea typeface="+mn-ea"/>
                </a:endParaRPr>
              </a:p>
              <a:p>
                <a:pPr indent="475615" algn="just">
                  <a:spcBef>
                    <a:spcPts val="600"/>
                  </a:spcBef>
                  <a:spcAft>
                    <a:spcPts val="600"/>
                  </a:spcAft>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400" i="1" kern="100">
                              <a:effectLst/>
                              <a:latin typeface="Cambria Math" panose="02040503050406030204" pitchFamily="18" charset="0"/>
                              <a:ea typeface="+mn-ea"/>
                            </a:rPr>
                          </m:ctrlPr>
                        </m:mPr>
                        <m:m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1</m:t>
                                </m:r>
                              </m:sub>
                            </m:sSub>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2</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2</m:t>
                                </m:r>
                              </m:sub>
                            </m:sSub>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4</m:t>
                            </m:r>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Sub>
                          </m:e>
                        </m:mr>
                        <m:m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1</m:t>
                                </m:r>
                              </m:sub>
                            </m:sSub>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2</m:t>
                                </m:r>
                              </m:sub>
                            </m:sSub>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2</m:t>
                            </m:r>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Sub>
                          </m:e>
                        </m:mr>
                      </m:m>
                    </m:oMath>
                  </m:oMathPara>
                </a14:m>
                <a:endParaRPr lang="zh-CN" altLang="zh-CN" sz="2400" kern="100" dirty="0">
                  <a:effectLst/>
                  <a:latin typeface="+mn-ea"/>
                  <a:ea typeface="+mn-ea"/>
                </a:endParaRPr>
              </a:p>
              <a:p>
                <a:pPr indent="475615" algn="just">
                  <a:spcBef>
                    <a:spcPts val="600"/>
                  </a:spcBef>
                  <a:spcAft>
                    <a:spcPts val="600"/>
                  </a:spcAft>
                </a:pPr>
                <a:r>
                  <a:rPr lang="zh-CN" altLang="zh-CN" sz="2400" kern="100" dirty="0">
                    <a:effectLst/>
                    <a:latin typeface="+mn-ea"/>
                    <a:ea typeface="+mn-ea"/>
                  </a:rPr>
                  <a:t>解出</a:t>
                </a:r>
                <a:endParaRPr lang="zh-CN" altLang="zh-CN" sz="2400" kern="100" dirty="0">
                  <a:effectLst/>
                  <a:latin typeface="+mn-ea"/>
                  <a:ea typeface="+mn-ea"/>
                </a:endParaRPr>
              </a:p>
              <a:p>
                <a:pPr indent="475615" algn="just">
                  <a:spcBef>
                    <a:spcPts val="600"/>
                  </a:spcBef>
                  <a:spcAft>
                    <a:spcPts val="600"/>
                  </a:spcAft>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400" i="1" kern="100">
                              <a:effectLst/>
                              <a:latin typeface="Cambria Math" panose="02040503050406030204" pitchFamily="18" charset="0"/>
                              <a:ea typeface="+mn-ea"/>
                            </a:rPr>
                          </m:ctrlPr>
                        </m:mPr>
                        <m:m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1</m:t>
                                </m:r>
                              </m:sub>
                            </m:sSub>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1</m:t>
                                </m:r>
                              </m:num>
                              <m:den>
                                <m:r>
                                  <a:rPr lang="en-US" altLang="zh-CN" sz="2400" i="1" kern="100">
                                    <a:effectLst/>
                                    <a:latin typeface="Cambria Math" panose="02040503050406030204" pitchFamily="18" charset="0"/>
                                    <a:ea typeface="+mn-ea"/>
                                  </a:rPr>
                                  <m:t>3</m:t>
                                </m:r>
                              </m:den>
                            </m:f>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Sub>
                          </m:e>
                        </m:mr>
                        <m:m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2</m:t>
                                </m:r>
                              </m:sub>
                            </m:sSub>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2</m:t>
                            </m:r>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2</m:t>
                                </m:r>
                              </m:num>
                              <m:den>
                                <m:r>
                                  <a:rPr lang="en-US" altLang="zh-CN" sz="2400" i="1" kern="100">
                                    <a:effectLst/>
                                    <a:latin typeface="Cambria Math" panose="02040503050406030204" pitchFamily="18" charset="0"/>
                                    <a:ea typeface="+mn-ea"/>
                                  </a:rPr>
                                  <m:t>3</m:t>
                                </m:r>
                              </m:den>
                            </m:f>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Sub>
                          </m:e>
                        </m:mr>
                      </m:m>
                    </m:oMath>
                  </m:oMathPara>
                </a14:m>
                <a:endParaRPr lang="zh-CN" altLang="zh-CN" sz="2400" kern="100" dirty="0">
                  <a:effectLst/>
                  <a:latin typeface="+mn-ea"/>
                  <a:ea typeface="+mn-ea"/>
                </a:endParaRPr>
              </a:p>
              <a:p>
                <a:pPr indent="475615" algn="just">
                  <a:spcBef>
                    <a:spcPts val="600"/>
                  </a:spcBef>
                  <a:spcAft>
                    <a:spcPts val="600"/>
                  </a:spcAft>
                </a:pPr>
                <a:r>
                  <a:rPr lang="zh-CN" altLang="zh-CN" sz="2400" kern="100" dirty="0">
                    <a:effectLst/>
                    <a:latin typeface="+mn-ea"/>
                    <a:ea typeface="+mn-ea"/>
                  </a:rPr>
                  <a:t>代入目标函数可得到等价的无约束优化问题</a:t>
                </a:r>
                <a:endParaRPr lang="zh-CN" altLang="zh-CN" sz="2400" kern="100" dirty="0">
                  <a:effectLst/>
                  <a:latin typeface="+mn-ea"/>
                  <a:ea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1559496" y="908720"/>
                <a:ext cx="9073008" cy="5525680"/>
              </a:xfrm>
              <a:prstGeom prst="rect">
                <a:avLst/>
              </a:prstGeom>
              <a:blipFill rotWithShape="1">
                <a:blip r:embed="rId1"/>
                <a:stretch>
                  <a:fillRect l="-6" t="-1" r="1" b="10"/>
                </a:stretch>
              </a:blipFill>
            </p:spPr>
            <p:txBody>
              <a:bodyPr/>
              <a:lstStyle/>
              <a:p>
                <a:r>
                  <a:rPr lang="zh-CN" altLang="en-US">
                    <a:noFill/>
                  </a:rPr>
                  <a:t> </a:t>
                </a:r>
              </a:p>
            </p:txBody>
          </p:sp>
        </mc:Fallback>
      </mc:AlternateContent>
      <p:sp>
        <p:nvSpPr>
          <p:cNvPr id="6" name="文本框 5"/>
          <p:cNvSpPr txBox="1"/>
          <p:nvPr/>
        </p:nvSpPr>
        <p:spPr>
          <a:xfrm>
            <a:off x="119336" y="149319"/>
            <a:ext cx="5472608" cy="523220"/>
          </a:xfrm>
          <a:prstGeom prst="rect">
            <a:avLst/>
          </a:prstGeom>
          <a:noFill/>
        </p:spPr>
        <p:txBody>
          <a:bodyPr wrap="square">
            <a:spAutoFit/>
          </a:bodyPr>
          <a:lstStyle>
            <a:defPPr>
              <a:defRPr lang="zh-CN"/>
            </a:defPPr>
            <a:lvl1pPr algn="just">
              <a:spcBef>
                <a:spcPts val="600"/>
              </a:spcBef>
              <a:spcAft>
                <a:spcPts val="600"/>
              </a:spcAft>
              <a:defRPr sz="3200" kern="100">
                <a:latin typeface="Times New Roman" panose="02020603050405020304" pitchFamily="18" charset="0"/>
                <a:ea typeface="黑体" panose="02010609060101010101" pitchFamily="49" charset="-122"/>
              </a:defRPr>
            </a:lvl1pPr>
          </a:lstStyle>
          <a:p>
            <a:r>
              <a:rPr lang="zh-CN" altLang="en-US" dirty="0"/>
              <a:t>一、直接消去法</a:t>
            </a:r>
            <a:endParaRPr lang="zh-CN" altLang="en-US"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1919536" y="999296"/>
                <a:ext cx="7992888" cy="4756150"/>
              </a:xfrm>
              <a:prstGeom prst="rect">
                <a:avLst/>
              </a:prstGeom>
              <a:noFill/>
            </p:spPr>
            <p:txBody>
              <a:bodyPr wrap="square">
                <a:spAutoFit/>
              </a:bodyPr>
              <a:lstStyle/>
              <a:p>
                <a:pPr indent="475615" algn="just">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unc>
                        <m:funcPr>
                          <m:ctrlPr>
                            <a:rPr lang="zh-CN" altLang="zh-CN" sz="2400" i="1" kern="100" smtClean="0">
                              <a:effectLst/>
                              <a:latin typeface="Cambria Math" panose="02040503050406030204" pitchFamily="18" charset="0"/>
                              <a:ea typeface="+mn-ea"/>
                            </a:rPr>
                          </m:ctrlPr>
                        </m:funcPr>
                        <m:fName>
                          <m:r>
                            <m:rPr>
                              <m:sty m:val="p"/>
                            </m:rPr>
                            <a:rPr lang="en-US" altLang="zh-CN" sz="2400" kern="100">
                              <a:effectLst/>
                              <a:latin typeface="Cambria Math" panose="02040503050406030204" pitchFamily="18" charset="0"/>
                              <a:ea typeface="+mn-ea"/>
                            </a:rPr>
                            <m:t>min</m:t>
                          </m:r>
                        </m:fName>
                        <m:e>
                          <m:r>
                            <a:rPr lang="en-US" altLang="zh-CN" sz="2400" i="1" kern="100">
                              <a:effectLst/>
                              <a:latin typeface="Cambria Math" panose="02040503050406030204" pitchFamily="18" charset="0"/>
                              <a:ea typeface="+mn-ea"/>
                            </a:rPr>
                            <m:t>𝜑</m:t>
                          </m:r>
                          <m:d>
                            <m:dPr>
                              <m:ctrlPr>
                                <a:rPr lang="zh-CN" altLang="zh-CN" sz="2400" i="1" kern="100">
                                  <a:effectLst/>
                                  <a:latin typeface="Cambria Math" panose="02040503050406030204" pitchFamily="18" charset="0"/>
                                  <a:ea typeface="+mn-ea"/>
                                </a:rPr>
                              </m:ctrlPr>
                            </m:dP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Sub>
                            </m:e>
                          </m:d>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14</m:t>
                              </m:r>
                            </m:num>
                            <m:den>
                              <m:r>
                                <a:rPr lang="en-US" altLang="zh-CN" sz="2400" i="1" kern="100">
                                  <a:effectLst/>
                                  <a:latin typeface="Cambria Math" panose="02040503050406030204" pitchFamily="18" charset="0"/>
                                  <a:ea typeface="+mn-ea"/>
                                </a:rPr>
                                <m:t>9</m:t>
                              </m:r>
                            </m:den>
                          </m:f>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up>
                              <m:r>
                                <a:rPr lang="en-US" altLang="zh-CN" sz="2400" i="1" kern="100">
                                  <a:effectLst/>
                                  <a:latin typeface="Cambria Math" panose="02040503050406030204" pitchFamily="18" charset="0"/>
                                  <a:ea typeface="+mn-ea"/>
                                </a:rPr>
                                <m:t>2</m:t>
                              </m:r>
                            </m:sup>
                          </m:sSubSup>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8</m:t>
                              </m:r>
                            </m:num>
                            <m:den>
                              <m:r>
                                <a:rPr lang="en-US" altLang="zh-CN" sz="2400" i="1" kern="100">
                                  <a:effectLst/>
                                  <a:latin typeface="Cambria Math" panose="02040503050406030204" pitchFamily="18" charset="0"/>
                                  <a:ea typeface="+mn-ea"/>
                                </a:rPr>
                                <m:t>3</m:t>
                              </m:r>
                            </m:den>
                          </m:f>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Sub>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4</m:t>
                          </m:r>
                        </m:e>
                      </m:func>
                    </m:oMath>
                  </m:oMathPara>
                </a14:m>
                <a:endParaRPr lang="zh-CN" altLang="zh-CN" sz="2400" kern="100" dirty="0">
                  <a:effectLst/>
                  <a:latin typeface="+mn-ea"/>
                  <a:ea typeface="+mn-ea"/>
                </a:endParaRPr>
              </a:p>
              <a:p>
                <a:pPr algn="just">
                  <a:lnSpc>
                    <a:spcPct val="150000"/>
                  </a:lnSpc>
                  <a:spcBef>
                    <a:spcPts val="600"/>
                  </a:spcBef>
                  <a:spcAft>
                    <a:spcPts val="600"/>
                  </a:spcAft>
                </a:pPr>
                <a:r>
                  <a:rPr lang="zh-CN" altLang="zh-CN" sz="2400" kern="100" dirty="0">
                    <a:effectLst/>
                    <a:latin typeface="+mn-ea"/>
                    <a:ea typeface="+mn-ea"/>
                  </a:rPr>
                  <a:t>求其极值只需令</a:t>
                </a:r>
                <a14:m>
                  <m:oMath xmlns:m="http://schemas.openxmlformats.org/officeDocument/2006/math">
                    <m:r>
                      <m:rPr>
                        <m:sty m:val="p"/>
                      </m:rPr>
                      <a:rPr lang="en-US" altLang="zh-CN" sz="2400"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𝜑</m:t>
                    </m:r>
                    <m:d>
                      <m:dPr>
                        <m:ctrlPr>
                          <a:rPr lang="zh-CN" altLang="zh-CN" sz="2400" i="1" kern="100">
                            <a:effectLst/>
                            <a:latin typeface="Cambria Math" panose="02040503050406030204" pitchFamily="18" charset="0"/>
                            <a:ea typeface="+mn-ea"/>
                          </a:rPr>
                        </m:ctrlPr>
                      </m:dP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Sub>
                      </m:e>
                    </m:d>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0</m:t>
                    </m:r>
                  </m:oMath>
                </a14:m>
                <a:r>
                  <a:rPr lang="zh-CN" altLang="zh-CN" sz="2400" kern="100" dirty="0">
                    <a:effectLst/>
                    <a:latin typeface="+mn-ea"/>
                    <a:ea typeface="+mn-ea"/>
                  </a:rPr>
                  <a:t>，即</a:t>
                </a:r>
                <a:endParaRPr lang="zh-CN" altLang="zh-CN" sz="2400" kern="100" dirty="0">
                  <a:effectLst/>
                  <a:latin typeface="+mn-ea"/>
                  <a:ea typeface="+mn-ea"/>
                </a:endParaRPr>
              </a:p>
              <a:p>
                <a:pPr algn="just">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28</m:t>
                          </m:r>
                        </m:num>
                        <m:den>
                          <m:r>
                            <a:rPr lang="en-US" altLang="zh-CN" sz="2400" i="1" kern="100">
                              <a:effectLst/>
                              <a:latin typeface="Cambria Math" panose="02040503050406030204" pitchFamily="18" charset="0"/>
                              <a:ea typeface="+mn-ea"/>
                            </a:rPr>
                            <m:t>9</m:t>
                          </m:r>
                        </m:den>
                      </m:f>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3</m:t>
                          </m:r>
                        </m:sub>
                      </m:sSub>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8</m:t>
                          </m:r>
                        </m:num>
                        <m:den>
                          <m:r>
                            <a:rPr lang="en-US" altLang="zh-CN" sz="2400" i="1" kern="100">
                              <a:effectLst/>
                              <a:latin typeface="Cambria Math" panose="02040503050406030204" pitchFamily="18" charset="0"/>
                              <a:ea typeface="+mn-ea"/>
                            </a:rPr>
                            <m:t>3</m:t>
                          </m:r>
                        </m:den>
                      </m:f>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0</m:t>
                      </m:r>
                    </m:oMath>
                  </m:oMathPara>
                </a14:m>
                <a:endParaRPr lang="zh-CN" altLang="zh-CN" sz="2400" kern="100" dirty="0">
                  <a:effectLst/>
                  <a:latin typeface="+mn-ea"/>
                  <a:ea typeface="+mn-ea"/>
                </a:endParaRPr>
              </a:p>
              <a:p>
                <a:pPr algn="just">
                  <a:lnSpc>
                    <a:spcPct val="150000"/>
                  </a:lnSpc>
                  <a:spcBef>
                    <a:spcPts val="600"/>
                  </a:spcBef>
                  <a:spcAft>
                    <a:spcPts val="600"/>
                  </a:spcAft>
                </a:pPr>
                <a:r>
                  <a:rPr lang="zh-CN" altLang="zh-CN" sz="2400" kern="100" dirty="0">
                    <a:effectLst/>
                    <a:latin typeface="+mn-ea"/>
                    <a:ea typeface="+mn-ea"/>
                  </a:rPr>
                  <a:t>从而</a:t>
                </a:r>
                <a:r>
                  <a:rPr lang="zh-CN" altLang="zh-CN" sz="2400" kern="100" dirty="0">
                    <a:effectLst/>
                    <a:latin typeface="+mn-ea"/>
                    <a:ea typeface="+mn-ea"/>
                  </a:rPr>
                  <a:t>得到原问题的最优解</a:t>
                </a:r>
                <a:endParaRPr lang="zh-CN" altLang="zh-CN" sz="2400" kern="100" dirty="0">
                  <a:effectLst/>
                  <a:latin typeface="+mn-ea"/>
                  <a:ea typeface="+mn-ea"/>
                </a:endParaRPr>
              </a:p>
              <a:p>
                <a:pPr algn="just">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𝑥</m:t>
                          </m:r>
                        </m:e>
                        <m:sup>
                          <m:r>
                            <a:rPr lang="en-US" altLang="zh-CN" sz="2400" i="1" kern="100">
                              <a:effectLst/>
                              <a:latin typeface="Cambria Math" panose="02040503050406030204" pitchFamily="18" charset="0"/>
                              <a:ea typeface="+mn-ea"/>
                            </a:rPr>
                            <m:t>∗</m:t>
                          </m:r>
                        </m:sup>
                      </m:sSup>
                      <m:r>
                        <a:rPr lang="en-US" altLang="zh-CN" sz="2400" i="1" kern="10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2</m:t>
                              </m:r>
                            </m:num>
                            <m:den>
                              <m:r>
                                <a:rPr lang="en-US" altLang="zh-CN" sz="2400" i="1" kern="100">
                                  <a:effectLst/>
                                  <a:latin typeface="Cambria Math" panose="02040503050406030204" pitchFamily="18" charset="0"/>
                                  <a:ea typeface="+mn-ea"/>
                                </a:rPr>
                                <m:t>7</m:t>
                              </m:r>
                            </m:den>
                          </m:f>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10</m:t>
                              </m:r>
                            </m:num>
                            <m:den>
                              <m:r>
                                <a:rPr lang="en-US" altLang="zh-CN" sz="2400" i="1" kern="100">
                                  <a:effectLst/>
                                  <a:latin typeface="Cambria Math" panose="02040503050406030204" pitchFamily="18" charset="0"/>
                                  <a:ea typeface="+mn-ea"/>
                                </a:rPr>
                                <m:t>7</m:t>
                              </m:r>
                            </m:den>
                          </m:f>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6</m:t>
                              </m:r>
                            </m:num>
                            <m:den>
                              <m:r>
                                <a:rPr lang="en-US" altLang="zh-CN" sz="2400" i="1" kern="100">
                                  <a:effectLst/>
                                  <a:latin typeface="Cambria Math" panose="02040503050406030204" pitchFamily="18" charset="0"/>
                                  <a:ea typeface="+mn-ea"/>
                                </a:rPr>
                                <m:t>7</m:t>
                              </m:r>
                            </m:den>
                          </m:f>
                          <m:r>
                            <a:rPr lang="en-US" altLang="zh-CN" sz="2400" i="1" kern="100">
                              <a:effectLst/>
                              <a:latin typeface="Cambria Math" panose="02040503050406030204" pitchFamily="18" charset="0"/>
                              <a:ea typeface="+mn-ea"/>
                            </a:rPr>
                            <m:t>)</m:t>
                          </m:r>
                        </m:e>
                        <m:sup>
                          <m:r>
                            <a:rPr lang="en-US" altLang="zh-CN" sz="2400" i="1" kern="100">
                              <a:effectLst/>
                              <a:latin typeface="Cambria Math" panose="02040503050406030204" pitchFamily="18" charset="0"/>
                              <a:ea typeface="+mn-ea"/>
                            </a:rPr>
                            <m:t>𝑇</m:t>
                          </m:r>
                        </m:sup>
                      </m:sSup>
                    </m:oMath>
                  </m:oMathPara>
                </a14:m>
                <a:endParaRPr lang="zh-CN" altLang="zh-CN" sz="2400" kern="100" dirty="0">
                  <a:effectLst/>
                  <a:latin typeface="+mn-ea"/>
                  <a:ea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1919536" y="999296"/>
                <a:ext cx="7992888" cy="4756150"/>
              </a:xfrm>
              <a:prstGeom prst="rect">
                <a:avLst/>
              </a:prstGeom>
              <a:blipFill rotWithShape="1">
                <a:blip r:embed="rId1"/>
                <a:stretch>
                  <a:fillRect l="-7" t="-9" r="1" b="9"/>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文本框 11"/>
              <p:cNvSpPr txBox="1"/>
              <p:nvPr/>
            </p:nvSpPr>
            <p:spPr>
              <a:xfrm>
                <a:off x="551384" y="260648"/>
                <a:ext cx="11089232" cy="6097760"/>
              </a:xfrm>
              <a:prstGeom prst="rect">
                <a:avLst/>
              </a:prstGeom>
              <a:noFill/>
            </p:spPr>
            <p:txBody>
              <a:bodyPr wrap="square" rtlCol="0">
                <a:spAutoFit/>
              </a:bodyPr>
              <a:lstStyle/>
              <a:p>
                <a:pPr indent="355600" algn="just"/>
                <a:r>
                  <a:rPr lang="zh-CN" altLang="en-US" sz="2400" kern="100" dirty="0">
                    <a:latin typeface="+mn-ea"/>
                  </a:rPr>
                  <a:t>考虑</a:t>
                </a:r>
                <a:r>
                  <a:rPr lang="zh-CN" altLang="zh-CN" sz="2400" kern="100" dirty="0">
                    <a:latin typeface="+mn-ea"/>
                  </a:rPr>
                  <a:t>等式约束二次规划问题</a:t>
                </a:r>
                <a:endParaRPr lang="zh-CN" altLang="zh-CN" sz="2400" kern="100" dirty="0">
                  <a:latin typeface="+mn-ea"/>
                </a:endParaRPr>
              </a:p>
              <a:p>
                <a:pPr algn="ctr"/>
                <a14:m>
                  <m:oMathPara xmlns:m="http://schemas.openxmlformats.org/officeDocument/2006/math">
                    <m:oMathParaPr>
                      <m:jc m:val="centerGroup"/>
                    </m:oMathParaPr>
                    <m:oMath xmlns:m="http://schemas.openxmlformats.org/officeDocument/2006/math">
                      <m:func>
                        <m:funcPr>
                          <m:ctrlPr>
                            <a:rPr lang="zh-CN" altLang="zh-CN" sz="2400" i="1" kern="100">
                              <a:latin typeface="Cambria Math" panose="02040503050406030204" pitchFamily="18" charset="0"/>
                            </a:rPr>
                          </m:ctrlPr>
                        </m:funcPr>
                        <m:fName>
                          <m:r>
                            <a:rPr lang="en-US" altLang="zh-CN" sz="2400" i="1" kern="100">
                              <a:latin typeface="Cambria Math" panose="02040503050406030204" pitchFamily="18" charset="0"/>
                            </a:rPr>
                            <m:t>𝑚𝑖𝑛</m:t>
                          </m:r>
                        </m:fName>
                        <m:e>
                          <m:r>
                            <a:rPr lang="en-US" altLang="zh-CN" sz="2400" i="1" kern="100">
                              <a:latin typeface="Cambria Math" panose="02040503050406030204" pitchFamily="18" charset="0"/>
                            </a:rPr>
                            <m:t> </m:t>
                          </m:r>
                        </m:e>
                      </m:func>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r>
                        <a:rPr lang="en-US" altLang="zh-CN" sz="2400" i="1" kern="100">
                          <a:latin typeface="Cambria Math" panose="02040503050406030204" pitchFamily="18" charset="0"/>
                        </a:rPr>
                        <m:t>𝑥</m:t>
                      </m:r>
                      <m:r>
                        <a:rPr lang="en-US" altLang="zh-CN" sz="2400" i="1" kern="100">
                          <a:latin typeface="Cambria Math" panose="02040503050406030204" pitchFamily="18" charset="0"/>
                        </a:rPr>
                        <m:t>)=</m:t>
                      </m:r>
                      <m:f>
                        <m:fPr>
                          <m:ctrlPr>
                            <a:rPr lang="zh-CN" altLang="zh-CN" sz="2400" i="1" kern="100">
                              <a:latin typeface="Cambria Math" panose="02040503050406030204" pitchFamily="18" charset="0"/>
                            </a:rPr>
                          </m:ctrlPr>
                        </m:fPr>
                        <m:num>
                          <m:r>
                            <a:rPr lang="en-US" altLang="zh-CN" sz="2400" i="1" kern="100">
                              <a:latin typeface="Cambria Math" panose="02040503050406030204" pitchFamily="18" charset="0"/>
                            </a:rPr>
                            <m:t>1</m:t>
                          </m:r>
                        </m:num>
                        <m:den>
                          <m:r>
                            <a:rPr lang="en-US" altLang="zh-CN" sz="2400" i="1" kern="100">
                              <a:latin typeface="Cambria Math" panose="02040503050406030204" pitchFamily="18" charset="0"/>
                            </a:rPr>
                            <m:t>2</m:t>
                          </m:r>
                        </m:den>
                      </m:f>
                      <m:sSup>
                        <m:sSupPr>
                          <m:ctrlPr>
                            <a:rPr lang="zh-CN" altLang="zh-CN" sz="2400" i="1" kern="100">
                              <a:latin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𝑇</m:t>
                          </m:r>
                        </m:sup>
                      </m:sSup>
                      <m:r>
                        <a:rPr lang="en-US" altLang="zh-CN" sz="2400" i="1" kern="100">
                          <a:latin typeface="Cambria Math" panose="02040503050406030204" pitchFamily="18" charset="0"/>
                        </a:rPr>
                        <m:t>𝐺𝑥</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rPr>
                          </m:ctrlPr>
                        </m:sSupPr>
                        <m:e>
                          <m:r>
                            <a:rPr lang="en-US" altLang="zh-CN" sz="2400" i="1" kern="100">
                              <a:latin typeface="Cambria Math" panose="02040503050406030204" pitchFamily="18" charset="0"/>
                            </a:rPr>
                            <m:t>𝑟</m:t>
                          </m:r>
                        </m:e>
                        <m:sup>
                          <m:r>
                            <a:rPr lang="en-US" altLang="zh-CN" sz="2400" i="1" kern="100">
                              <a:latin typeface="Cambria Math" panose="02040503050406030204" pitchFamily="18" charset="0"/>
                            </a:rPr>
                            <m:t>𝑇</m:t>
                          </m:r>
                        </m:sup>
                      </m:sSup>
                      <m:r>
                        <a:rPr lang="en-US" altLang="zh-CN" sz="2400" i="1" kern="100">
                          <a:latin typeface="Cambria Math" panose="02040503050406030204" pitchFamily="18" charset="0"/>
                        </a:rPr>
                        <m:t>𝑥</m:t>
                      </m:r>
                      <m:r>
                        <a:rPr lang="en-US" altLang="zh-CN" sz="2400" i="1" kern="100">
                          <a:latin typeface="Cambria Math" panose="02040503050406030204" pitchFamily="18" charset="0"/>
                        </a:rPr>
                        <m:t>,</m:t>
                      </m:r>
                    </m:oMath>
                  </m:oMathPara>
                </a14:m>
                <a:br>
                  <a:rPr lang="en-US" altLang="zh-CN" sz="2400" i="1" kern="100" dirty="0">
                    <a:latin typeface="+mn-ea"/>
                  </a:rPr>
                </a:br>
                <a:r>
                  <a:rPr lang="en-US" altLang="zh-CN" sz="2400" i="1" kern="100" dirty="0">
                    <a:latin typeface="+mn-ea"/>
                  </a:rPr>
                  <a:t> </a:t>
                </a:r>
                <a14:m>
                  <m:oMath xmlns:m="http://schemas.openxmlformats.org/officeDocument/2006/math">
                    <m:r>
                      <a:rPr lang="en-US" altLang="zh-CN" sz="2400" i="1" kern="100">
                        <a:latin typeface="Cambria Math" panose="02040503050406030204" pitchFamily="18" charset="0"/>
                      </a:rPr>
                      <m:t>𝑠</m:t>
                    </m:r>
                    <m:r>
                      <a:rPr lang="en-US" altLang="zh-CN" sz="2400" i="1" kern="100">
                        <a:latin typeface="Cambria Math" panose="02040503050406030204" pitchFamily="18" charset="0"/>
                      </a:rPr>
                      <m:t>.</m:t>
                    </m:r>
                    <m:r>
                      <a:rPr lang="en-US" altLang="zh-CN" sz="2400" i="1" kern="100">
                        <a:latin typeface="Cambria Math" panose="02040503050406030204" pitchFamily="18" charset="0"/>
                      </a:rPr>
                      <m:t>𝑡</m:t>
                    </m:r>
                    <m:r>
                      <a:rPr lang="en-US" altLang="zh-CN" sz="2400" i="1" kern="100">
                        <a:latin typeface="Cambria Math" panose="02040503050406030204" pitchFamily="18" charset="0"/>
                      </a:rPr>
                      <m:t>.          </m:t>
                    </m:r>
                    <m:sSup>
                      <m:sSupPr>
                        <m:ctrlPr>
                          <a:rPr lang="zh-CN" altLang="zh-CN" sz="2400" i="1" kern="100">
                            <a:latin typeface="Cambria Math" panose="02040503050406030204" pitchFamily="18" charset="0"/>
                          </a:rPr>
                        </m:ctrlPr>
                      </m:sSupPr>
                      <m:e>
                        <m:r>
                          <a:rPr lang="en-US" altLang="zh-CN" sz="2400" i="1" kern="100">
                            <a:latin typeface="Cambria Math" panose="02040503050406030204" pitchFamily="18" charset="0"/>
                          </a:rPr>
                          <m:t>𝐴</m:t>
                        </m:r>
                      </m:e>
                      <m:sup>
                        <m:r>
                          <a:rPr lang="en-US" altLang="zh-CN" sz="2400" i="1" kern="100">
                            <a:latin typeface="Cambria Math" panose="02040503050406030204" pitchFamily="18" charset="0"/>
                          </a:rPr>
                          <m:t>𝑇</m:t>
                        </m:r>
                      </m:sup>
                    </m:sSup>
                    <m:r>
                      <a:rPr lang="en-US" altLang="zh-CN" sz="2400" i="1" kern="100">
                        <a:latin typeface="Cambria Math" panose="02040503050406030204" pitchFamily="18" charset="0"/>
                      </a:rPr>
                      <m:t>𝑥</m:t>
                    </m:r>
                    <m:r>
                      <a:rPr lang="en-US" altLang="zh-CN" sz="2400" i="1" kern="100">
                        <a:latin typeface="Cambria Math" panose="02040503050406030204" pitchFamily="18" charset="0"/>
                      </a:rPr>
                      <m:t>=</m:t>
                    </m:r>
                  </m:oMath>
                </a14:m>
                <a:r>
                  <a:rPr lang="en-US" altLang="zh-CN" sz="2400" i="1" kern="100" dirty="0">
                    <a:latin typeface="+mn-ea"/>
                  </a:rPr>
                  <a:t>c</a:t>
                </a:r>
                <a:endParaRPr lang="en-US" altLang="zh-CN" sz="2400" i="1" kern="100" dirty="0">
                  <a:latin typeface="+mn-ea"/>
                </a:endParaRPr>
              </a:p>
              <a:p>
                <a:pPr algn="just"/>
                <a:r>
                  <a:rPr lang="zh-CN" altLang="zh-CN" sz="2400" kern="100" dirty="0">
                    <a:effectLst/>
                    <a:latin typeface="Times New Roman" panose="02020603050405020304" pitchFamily="18" charset="0"/>
                    <a:ea typeface="宋体" panose="02010600030101010101" pitchFamily="2" charset="-122"/>
                  </a:rPr>
                  <a:t>首先对矩阵</a:t>
                </a:r>
                <a14:m>
                  <m:oMath xmlns:m="http://schemas.openxmlformats.org/officeDocument/2006/math">
                    <m:r>
                      <a:rPr lang="en-US" altLang="zh-CN" sz="2400" i="1" kern="100" spc="-150" smtClean="0">
                        <a:effectLst/>
                        <a:latin typeface="Cambria Math" panose="02040503050406030204" pitchFamily="18" charset="0"/>
                        <a:ea typeface="宋体" panose="02010600030101010101" pitchFamily="2" charset="-122"/>
                      </a:rPr>
                      <m:t>𝐴</m:t>
                    </m:r>
                  </m:oMath>
                </a14:m>
                <a:r>
                  <a:rPr lang="zh-CN" altLang="zh-CN" sz="2400" kern="100" dirty="0">
                    <a:effectLst/>
                    <a:latin typeface="Times New Roman" panose="02020603050405020304" pitchFamily="18" charset="0"/>
                    <a:ea typeface="宋体" panose="02010600030101010101" pitchFamily="2" charset="-122"/>
                  </a:rPr>
                  <a:t>作分块，设</a:t>
                </a:r>
                <a:endParaRPr lang="zh-CN" altLang="zh-CN" sz="2400" kern="100" dirty="0">
                  <a:effectLst/>
                  <a:latin typeface="Times New Roman" panose="02020603050405020304" pitchFamily="18" charset="0"/>
                  <a:ea typeface="宋体" panose="02010600030101010101" pitchFamily="2" charset="-122"/>
                </a:endParaRPr>
              </a:p>
              <a:p>
                <a:pPr marL="266700" algn="just">
                  <a:lnSpc>
                    <a:spcPct val="150000"/>
                  </a:lnSpc>
                </a:pPr>
                <a:r>
                  <a:rPr lang="en-US" altLang="zh-CN" sz="2400" kern="100" dirty="0">
                    <a:effectLst/>
                    <a:latin typeface="Times New Roman" panose="02020603050405020304" pitchFamily="18" charset="0"/>
                    <a:ea typeface="宋体" panose="02010600030101010101" pitchFamily="2" charset="-122"/>
                  </a:rPr>
                  <a:t>				</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𝐴</m:t>
                    </m:r>
                    <m:r>
                      <a:rPr lang="en-US" altLang="zh-CN" sz="2400" i="1" kern="100">
                        <a:effectLst/>
                        <a:latin typeface="Cambria Math" panose="02040503050406030204" pitchFamily="18" charset="0"/>
                        <a:ea typeface="宋体" panose="02010600030101010101" pitchFamily="2" charset="-122"/>
                      </a:rPr>
                      <m:t>=</m:t>
                    </m:r>
                    <m:d>
                      <m:dPr>
                        <m:ctrlPr>
                          <a:rPr lang="en-US" altLang="zh-CN" sz="2400" i="1" kern="100" smtClean="0">
                            <a:effectLst/>
                            <a:latin typeface="Cambria Math" panose="02040503050406030204" pitchFamily="18" charset="0"/>
                            <a:ea typeface="宋体" panose="02010600030101010101" pitchFamily="2" charset="-122"/>
                          </a:rPr>
                        </m:ctrlPr>
                      </m:dPr>
                      <m:e>
                        <m:m>
                          <m:mPr>
                            <m:mcs>
                              <m:mc>
                                <m:mcPr>
                                  <m:count m:val="1"/>
                                  <m:mcJc m:val="center"/>
                                </m:mcPr>
                              </m:mc>
                            </m:mcs>
                            <m:ctrlPr>
                              <a:rPr lang="zh-CN" altLang="zh-CN" sz="2400" i="1" kern="100">
                                <a:latin typeface="Cambria Math" panose="02040503050406030204" pitchFamily="18" charset="0"/>
                                <a:ea typeface="Cambria Math" panose="02040503050406030204" pitchFamily="18" charset="0"/>
                              </a:rPr>
                            </m:ctrlPr>
                          </m:mPr>
                          <m:m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𝐴</m:t>
                                  </m:r>
                                </m:e>
                                <m:sub>
                                  <m:r>
                                    <a:rPr lang="en-US" altLang="zh-CN" sz="2400" i="1" kern="100">
                                      <a:latin typeface="Cambria Math" panose="02040503050406030204" pitchFamily="18" charset="0"/>
                                    </a:rPr>
                                    <m:t>𝐵</m:t>
                                  </m:r>
                                </m:sub>
                              </m:sSub>
                            </m:e>
                          </m:mr>
                          <m:m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𝐴</m:t>
                                  </m:r>
                                </m:e>
                                <m:sub>
                                  <m:r>
                                    <a:rPr lang="en-US" altLang="zh-CN" sz="2400" i="1" kern="100">
                                      <a:latin typeface="Cambria Math" panose="02040503050406030204" pitchFamily="18" charset="0"/>
                                    </a:rPr>
                                    <m:t>𝑁</m:t>
                                  </m:r>
                                </m:sub>
                              </m:sSub>
                            </m:e>
                          </m:mr>
                        </m:m>
                      </m:e>
                    </m:d>
                  </m:oMath>
                </a14:m>
                <a:r>
                  <a:rPr lang="zh-CN" altLang="zh-CN" sz="2400" kern="100" dirty="0">
                    <a:effectLst/>
                    <a:latin typeface="Times New Roman" panose="02020603050405020304" pitchFamily="18" charset="0"/>
                    <a:ea typeface="宋体" panose="02010600030101010101" pitchFamily="2" charset="-122"/>
                  </a:rPr>
                  <a:t>，且</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𝐴</m:t>
                        </m:r>
                      </m:e>
                      <m:sub>
                        <m:r>
                          <a:rPr lang="en-US" altLang="zh-CN" sz="2400" i="1" kern="100">
                            <a:effectLst/>
                            <a:latin typeface="Cambria Math" panose="02040503050406030204" pitchFamily="18" charset="0"/>
                            <a:ea typeface="宋体" panose="02010600030101010101" pitchFamily="2" charset="-122"/>
                          </a:rPr>
                          <m:t>𝐵</m:t>
                        </m:r>
                      </m:sub>
                    </m:sSub>
                    <m:r>
                      <a:rPr lang="zh-CN" altLang="zh-CN" sz="2400" i="1" kern="1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𝑅</m:t>
                        </m:r>
                      </m:e>
                      <m:sup>
                        <m:r>
                          <a:rPr lang="en-US" altLang="zh-CN" sz="2400" i="1" kern="100">
                            <a:effectLst/>
                            <a:latin typeface="Cambria Math" panose="02040503050406030204" pitchFamily="18" charset="0"/>
                            <a:ea typeface="宋体" panose="02010600030101010101" pitchFamily="2" charset="-122"/>
                          </a:rPr>
                          <m:t>𝑚</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𝑚</m:t>
                        </m:r>
                      </m:sup>
                    </m:sSup>
                  </m:oMath>
                </a14:m>
                <a:r>
                  <a:rPr lang="zh-CN" altLang="zh-CN" sz="2400" kern="100" dirty="0">
                    <a:effectLst/>
                    <a:latin typeface="Times New Roman" panose="02020603050405020304" pitchFamily="18" charset="0"/>
                    <a:ea typeface="宋体" panose="02010600030101010101" pitchFamily="2" charset="-122"/>
                  </a:rPr>
                  <a:t>非奇异</a:t>
                </a:r>
                <a:r>
                  <a:rPr lang="en-US" altLang="zh-CN" sz="2400" kern="100" dirty="0">
                    <a:effectLst/>
                    <a:latin typeface="Times New Roman" panose="02020603050405020304" pitchFamily="18" charset="0"/>
                    <a:ea typeface="宋体" panose="02010600030101010101" pitchFamily="2" charset="-122"/>
                  </a:rPr>
                  <a:t>		       </a:t>
                </a:r>
                <a:endParaRPr lang="zh-CN" altLang="zh-CN" sz="2400" kern="100" dirty="0">
                  <a:effectLst/>
                  <a:latin typeface="Times New Roman" panose="02020603050405020304" pitchFamily="18" charset="0"/>
                  <a:ea typeface="宋体" panose="02010600030101010101" pitchFamily="2" charset="-122"/>
                </a:endParaRPr>
              </a:p>
              <a:p>
                <a:pPr algn="just">
                  <a:lnSpc>
                    <a:spcPct val="150000"/>
                  </a:lnSpc>
                </a:pPr>
                <a:r>
                  <a:rPr lang="zh-CN" altLang="zh-CN" sz="2400" kern="100" dirty="0">
                    <a:effectLst/>
                    <a:latin typeface="Times New Roman" panose="02020603050405020304" pitchFamily="18" charset="0"/>
                    <a:ea typeface="宋体" panose="02010600030101010101" pitchFamily="2" charset="-122"/>
                  </a:rPr>
                  <a:t>相关的量做如下划分：</a:t>
                </a:r>
                <a:endParaRPr lang="zh-CN" altLang="zh-CN" sz="2400" kern="100" dirty="0">
                  <a:effectLst/>
                  <a:latin typeface="Times New Roman" panose="02020603050405020304" pitchFamily="18" charset="0"/>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𝑥</m:t>
                      </m:r>
                      <m:r>
                        <a:rPr lang="en-US" altLang="zh-CN" sz="2400" kern="100">
                          <a:effectLst/>
                          <a:latin typeface="Cambria Math" panose="02040503050406030204" pitchFamily="18" charset="0"/>
                          <a:ea typeface="宋体" panose="02010600030101010101" pitchFamily="2" charset="-122"/>
                        </a:rPr>
                        <m:t>=</m:t>
                      </m:r>
                      <m:d>
                        <m:dPr>
                          <m:ctrlPr>
                            <a:rPr lang="en-US" altLang="zh-CN" sz="2400" i="1" kern="100" smtClean="0">
                              <a:effectLst/>
                              <a:latin typeface="Cambria Math" panose="02040503050406030204" pitchFamily="18" charset="0"/>
                              <a:ea typeface="宋体" panose="02010600030101010101" pitchFamily="2" charset="-122"/>
                            </a:rPr>
                          </m:ctrlPr>
                        </m:dPr>
                        <m:e>
                          <m:m>
                            <m:mPr>
                              <m:mcs>
                                <m:mc>
                                  <m:mcPr>
                                    <m:count m:val="1"/>
                                    <m:mcJc m:val="center"/>
                                  </m:mcPr>
                                </m:mc>
                              </m:mcs>
                              <m:plcHide m:val="on"/>
                              <m:ctrlPr>
                                <a:rPr lang="zh-CN" altLang="zh-CN" sz="2400" i="1" kern="100">
                                  <a:latin typeface="Cambria Math" panose="02040503050406030204" pitchFamily="18" charset="0"/>
                                  <a:ea typeface="Cambria Math" panose="02040503050406030204" pitchFamily="18" charset="0"/>
                                </a:rPr>
                              </m:ctrlPr>
                            </m:mPr>
                            <m:m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𝑥</m:t>
                                    </m:r>
                                  </m:e>
                                  <m:sub>
                                    <m:r>
                                      <a:rPr lang="en-US" altLang="zh-CN" sz="2400" i="1" kern="100">
                                        <a:latin typeface="Cambria Math" panose="02040503050406030204" pitchFamily="18" charset="0"/>
                                      </a:rPr>
                                      <m:t>𝐵</m:t>
                                    </m:r>
                                  </m:sub>
                                </m:sSub>
                              </m:e>
                            </m:mr>
                            <m:m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𝑥</m:t>
                                    </m:r>
                                  </m:e>
                                  <m:sub>
                                    <m:r>
                                      <a:rPr lang="en-US" altLang="zh-CN" sz="2400" i="1" kern="100">
                                        <a:latin typeface="Cambria Math" panose="02040503050406030204" pitchFamily="18" charset="0"/>
                                      </a:rPr>
                                      <m:t>𝑁</m:t>
                                    </m:r>
                                  </m:sub>
                                </m:sSub>
                              </m:e>
                            </m:mr>
                          </m:m>
                        </m:e>
                      </m:d>
                      <m:r>
                        <a:rPr lang="en-US" altLang="zh-CN" sz="2400"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𝐺</m:t>
                      </m:r>
                      <m:r>
                        <a:rPr lang="en-US" altLang="zh-CN" sz="2400" kern="100">
                          <a:effectLst/>
                          <a:latin typeface="Cambria Math" panose="02040503050406030204" pitchFamily="18" charset="0"/>
                          <a:ea typeface="宋体" panose="02010600030101010101" pitchFamily="2" charset="-122"/>
                        </a:rPr>
                        <m:t>=</m:t>
                      </m:r>
                      <m:d>
                        <m:dPr>
                          <m:ctrlPr>
                            <a:rPr lang="en-US" altLang="zh-CN" sz="2400" i="1" kern="100" smtClean="0">
                              <a:effectLst/>
                              <a:latin typeface="Cambria Math" panose="02040503050406030204" pitchFamily="18" charset="0"/>
                              <a:ea typeface="宋体" panose="02010600030101010101" pitchFamily="2" charset="-122"/>
                            </a:rPr>
                          </m:ctrlPr>
                        </m:dPr>
                        <m:e>
                          <m:m>
                            <m:mPr>
                              <m:mcs>
                                <m:mc>
                                  <m:mcPr>
                                    <m:count m:val="2"/>
                                    <m:mcJc m:val="center"/>
                                  </m:mcPr>
                                </m:mc>
                              </m:mcs>
                              <m:plcHide m:val="on"/>
                              <m:ctrlPr>
                                <a:rPr lang="zh-CN" altLang="zh-CN" sz="2400" i="1" kern="100">
                                  <a:latin typeface="Cambria Math" panose="02040503050406030204" pitchFamily="18" charset="0"/>
                                  <a:ea typeface="Cambria Math" panose="02040503050406030204" pitchFamily="18" charset="0"/>
                                </a:rPr>
                              </m:ctrlPr>
                            </m:mPr>
                            <m:m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𝐺</m:t>
                                    </m:r>
                                  </m:e>
                                  <m:sub>
                                    <m:r>
                                      <a:rPr lang="en-US" altLang="zh-CN" sz="2400" i="1" kern="100">
                                        <a:latin typeface="Cambria Math" panose="02040503050406030204" pitchFamily="18" charset="0"/>
                                      </a:rPr>
                                      <m:t>𝐵𝐵</m:t>
                                    </m:r>
                                  </m:sub>
                                </m:sSub>
                              </m:e>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𝐺</m:t>
                                    </m:r>
                                  </m:e>
                                  <m:sub>
                                    <m:r>
                                      <a:rPr lang="en-US" altLang="zh-CN" sz="2400" i="1" kern="100">
                                        <a:latin typeface="Cambria Math" panose="02040503050406030204" pitchFamily="18" charset="0"/>
                                      </a:rPr>
                                      <m:t>𝐵𝑁</m:t>
                                    </m:r>
                                  </m:sub>
                                </m:sSub>
                              </m:e>
                            </m:mr>
                            <m:m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𝐺</m:t>
                                    </m:r>
                                  </m:e>
                                  <m:sub>
                                    <m:r>
                                      <a:rPr lang="en-US" altLang="zh-CN" sz="2400" i="1" kern="100">
                                        <a:latin typeface="Cambria Math" panose="02040503050406030204" pitchFamily="18" charset="0"/>
                                      </a:rPr>
                                      <m:t>𝑁𝐵</m:t>
                                    </m:r>
                                  </m:sub>
                                </m:sSub>
                              </m:e>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𝐺</m:t>
                                    </m:r>
                                  </m:e>
                                  <m:sub>
                                    <m:r>
                                      <a:rPr lang="en-US" altLang="zh-CN" sz="2400" i="1" kern="100">
                                        <a:latin typeface="Cambria Math" panose="02040503050406030204" pitchFamily="18" charset="0"/>
                                      </a:rPr>
                                      <m:t>𝑁𝑁</m:t>
                                    </m:r>
                                  </m:sub>
                                </m:sSub>
                              </m:e>
                            </m:mr>
                          </m:m>
                        </m:e>
                      </m:d>
                      <m:r>
                        <a:rPr lang="en-US" altLang="zh-CN" sz="2400"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𝑟</m:t>
                      </m:r>
                      <m:r>
                        <a:rPr lang="en-US" altLang="zh-CN" sz="2400" kern="100">
                          <a:effectLst/>
                          <a:latin typeface="Cambria Math" panose="02040503050406030204" pitchFamily="18" charset="0"/>
                          <a:ea typeface="宋体" panose="02010600030101010101" pitchFamily="2" charset="-122"/>
                        </a:rPr>
                        <m:t>=</m:t>
                      </m:r>
                      <m:d>
                        <m:dPr>
                          <m:ctrlPr>
                            <a:rPr lang="en-US" altLang="zh-CN" sz="2400" i="1" kern="100" smtClean="0">
                              <a:effectLst/>
                              <a:latin typeface="Cambria Math" panose="02040503050406030204" pitchFamily="18" charset="0"/>
                              <a:ea typeface="宋体" panose="02010600030101010101" pitchFamily="2" charset="-122"/>
                            </a:rPr>
                          </m:ctrlPr>
                        </m:dPr>
                        <m:e>
                          <m:m>
                            <m:mPr>
                              <m:mcs>
                                <m:mc>
                                  <m:mcPr>
                                    <m:count m:val="1"/>
                                    <m:mcJc m:val="center"/>
                                  </m:mcPr>
                                </m:mc>
                              </m:mcs>
                              <m:plcHide m:val="on"/>
                              <m:ctrlPr>
                                <a:rPr lang="zh-CN" altLang="zh-CN" sz="2400" i="1" kern="100">
                                  <a:latin typeface="Cambria Math" panose="02040503050406030204" pitchFamily="18" charset="0"/>
                                  <a:ea typeface="Cambria Math" panose="02040503050406030204" pitchFamily="18" charset="0"/>
                                </a:rPr>
                              </m:ctrlPr>
                            </m:mPr>
                            <m:m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𝑟</m:t>
                                    </m:r>
                                  </m:e>
                                  <m:sub>
                                    <m:r>
                                      <a:rPr lang="en-US" altLang="zh-CN" sz="2400" i="1" kern="100">
                                        <a:latin typeface="Cambria Math" panose="02040503050406030204" pitchFamily="18" charset="0"/>
                                      </a:rPr>
                                      <m:t>𝐵</m:t>
                                    </m:r>
                                  </m:sub>
                                </m:sSub>
                              </m:e>
                            </m:mr>
                            <m:m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𝑟</m:t>
                                    </m:r>
                                  </m:e>
                                  <m:sub>
                                    <m:r>
                                      <a:rPr lang="en-US" altLang="zh-CN" sz="2400" i="1" kern="100">
                                        <a:latin typeface="Cambria Math" panose="02040503050406030204" pitchFamily="18" charset="0"/>
                                      </a:rPr>
                                      <m:t>𝑁</m:t>
                                    </m:r>
                                  </m:sub>
                                </m:sSub>
                              </m:e>
                            </m:mr>
                          </m:m>
                        </m:e>
                      </m:d>
                    </m:oMath>
                  </m:oMathPara>
                </a14:m>
                <a:endParaRPr lang="en-US" altLang="zh-CN" sz="2400" kern="100" dirty="0">
                  <a:effectLst/>
                  <a:latin typeface="Times New Roman" panose="02020603050405020304" pitchFamily="18" charset="0"/>
                  <a:ea typeface="宋体" panose="02010600030101010101" pitchFamily="2" charset="-122"/>
                </a:endParaRPr>
              </a:p>
              <a:p>
                <a:pPr algn="just">
                  <a:lnSpc>
                    <a:spcPct val="150000"/>
                  </a:lnSpc>
                </a:pPr>
                <a:r>
                  <a:rPr lang="zh-CN" altLang="zh-CN" sz="2400" kern="100" dirty="0">
                    <a:effectLst/>
                    <a:latin typeface="Times New Roman" panose="02020603050405020304" pitchFamily="18" charset="0"/>
                    <a:ea typeface="宋体" panose="02010600030101010101" pitchFamily="2" charset="-122"/>
                  </a:rPr>
                  <a:t>此时等式约束可改写成：</a:t>
                </a:r>
                <a:endParaRPr lang="zh-CN" altLang="zh-CN" sz="2400" kern="100" dirty="0">
                  <a:effectLst/>
                  <a:latin typeface="Times New Roman" panose="02020603050405020304" pitchFamily="18" charset="0"/>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ea typeface="宋体" panose="02010600030101010101" pitchFamily="2" charset="-122"/>
                            </a:rPr>
                            <m:t>𝐴</m:t>
                          </m:r>
                        </m:e>
                        <m:sub>
                          <m:r>
                            <a:rPr lang="en-US" altLang="zh-CN" sz="2400" i="1" kern="100">
                              <a:effectLst/>
                              <a:latin typeface="Cambria Math" panose="02040503050406030204" pitchFamily="18" charset="0"/>
                              <a:ea typeface="宋体" panose="02010600030101010101" pitchFamily="2" charset="-122"/>
                            </a:rPr>
                            <m:t>𝐵</m:t>
                          </m:r>
                        </m:sub>
                        <m:sup>
                          <m:r>
                            <a:rPr lang="en-US" altLang="zh-CN" sz="2400" i="1" kern="100">
                              <a:effectLst/>
                              <a:latin typeface="Cambria Math" panose="02040503050406030204" pitchFamily="18" charset="0"/>
                              <a:ea typeface="宋体" panose="02010600030101010101" pitchFamily="2" charset="-122"/>
                            </a:rPr>
                            <m:t>𝑇</m:t>
                          </m:r>
                        </m:sup>
                      </m:sSubSup>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𝑥</m:t>
                          </m:r>
                        </m:e>
                        <m:sub>
                          <m:r>
                            <a:rPr lang="en-US" altLang="zh-CN" sz="2400" i="1" kern="100">
                              <a:effectLst/>
                              <a:latin typeface="Cambria Math" panose="02040503050406030204" pitchFamily="18" charset="0"/>
                              <a:ea typeface="宋体" panose="02010600030101010101" pitchFamily="2" charset="-122"/>
                            </a:rPr>
                            <m:t>𝐵</m:t>
                          </m:r>
                        </m:sub>
                      </m:sSub>
                      <m:r>
                        <a:rPr lang="en-US" altLang="zh-CN" sz="2400" kern="100">
                          <a:effectLst/>
                          <a:latin typeface="Cambria Math" panose="02040503050406030204" pitchFamily="18" charset="0"/>
                          <a:ea typeface="宋体" panose="02010600030101010101" pitchFamily="2" charset="-122"/>
                        </a:rPr>
                        <m:t>+</m:t>
                      </m:r>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ea typeface="宋体" panose="02010600030101010101" pitchFamily="2" charset="-122"/>
                            </a:rPr>
                            <m:t>𝐴</m:t>
                          </m:r>
                        </m:e>
                        <m:sub>
                          <m:r>
                            <a:rPr lang="en-US" altLang="zh-CN" sz="2400" i="1" kern="100">
                              <a:effectLst/>
                              <a:latin typeface="Cambria Math" panose="02040503050406030204" pitchFamily="18" charset="0"/>
                              <a:ea typeface="宋体" panose="02010600030101010101" pitchFamily="2" charset="-122"/>
                            </a:rPr>
                            <m:t>𝑁</m:t>
                          </m:r>
                        </m:sub>
                        <m:sup>
                          <m:r>
                            <a:rPr lang="en-US" altLang="zh-CN" sz="2400" i="1" kern="100">
                              <a:effectLst/>
                              <a:latin typeface="Cambria Math" panose="02040503050406030204" pitchFamily="18" charset="0"/>
                              <a:ea typeface="宋体" panose="02010600030101010101" pitchFamily="2" charset="-122"/>
                            </a:rPr>
                            <m:t>𝑇</m:t>
                          </m:r>
                        </m:sup>
                      </m:sSubSup>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𝑥</m:t>
                          </m:r>
                        </m:e>
                        <m:sub>
                          <m:r>
                            <a:rPr lang="en-US" altLang="zh-CN" sz="2400" i="1" kern="100">
                              <a:effectLst/>
                              <a:latin typeface="Cambria Math" panose="02040503050406030204" pitchFamily="18" charset="0"/>
                              <a:ea typeface="宋体" panose="02010600030101010101" pitchFamily="2" charset="-122"/>
                            </a:rPr>
                            <m:t>𝑁</m:t>
                          </m:r>
                        </m:sub>
                      </m:sSub>
                      <m:r>
                        <a:rPr lang="en-US" altLang="zh-CN" sz="2400" kern="100">
                          <a:effectLst/>
                          <a:latin typeface="Cambria Math" panose="02040503050406030204" pitchFamily="18" charset="0"/>
                          <a:ea typeface="宋体" panose="02010600030101010101" pitchFamily="2" charset="-122"/>
                        </a:rPr>
                        <m:t>=</m:t>
                      </m:r>
                      <m:r>
                        <m:rPr>
                          <m:sty m:val="p"/>
                        </m:rPr>
                        <a:rPr lang="en-US" altLang="zh-CN" sz="2400" b="0" i="0" kern="100" smtClean="0">
                          <a:effectLst/>
                          <a:latin typeface="Cambria Math" panose="02040503050406030204" pitchFamily="18" charset="0"/>
                          <a:ea typeface="宋体" panose="02010600030101010101" pitchFamily="2" charset="-122"/>
                        </a:rPr>
                        <m:t>c</m:t>
                      </m:r>
                    </m:oMath>
                  </m:oMathPara>
                </a14:m>
                <a:endParaRPr lang="zh-CN" altLang="zh-CN" sz="2400" kern="100" dirty="0">
                  <a:effectLst/>
                  <a:latin typeface="Times New Roman" panose="02020603050405020304" pitchFamily="18" charset="0"/>
                  <a:ea typeface="宋体" panose="02010600030101010101" pitchFamily="2" charset="-122"/>
                </a:endParaRPr>
              </a:p>
              <a:p>
                <a:pPr algn="just">
                  <a:lnSpc>
                    <a:spcPct val="150000"/>
                  </a:lnSpc>
                </a:pPr>
                <a:r>
                  <a:rPr lang="zh-CN" altLang="en-US" sz="2400" kern="100" dirty="0">
                    <a:latin typeface="Times New Roman" panose="02020603050405020304" pitchFamily="18" charset="0"/>
                  </a:rPr>
                  <a:t>因为</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𝐴</m:t>
                        </m:r>
                      </m:e>
                      <m:sub>
                        <m:r>
                          <a:rPr lang="en-US" altLang="zh-CN" sz="2400" i="1" kern="100">
                            <a:effectLst/>
                            <a:latin typeface="Cambria Math" panose="02040503050406030204" pitchFamily="18" charset="0"/>
                            <a:ea typeface="宋体" panose="02010600030101010101" pitchFamily="2" charset="-122"/>
                          </a:rPr>
                          <m:t>𝐵</m:t>
                        </m:r>
                      </m:sub>
                    </m:sSub>
                  </m:oMath>
                </a14:m>
                <a:r>
                  <a:rPr lang="zh-CN" altLang="zh-CN" sz="2400" kern="100" dirty="0">
                    <a:effectLst/>
                    <a:latin typeface="Times New Roman" panose="02020603050405020304" pitchFamily="18" charset="0"/>
                    <a:ea typeface="宋体" panose="02010600030101010101" pitchFamily="2" charset="-122"/>
                  </a:rPr>
                  <a:t>非奇异，</a:t>
                </a:r>
                <a:r>
                  <a:rPr lang="zh-CN" altLang="en-US" sz="2400" kern="100" dirty="0">
                    <a:effectLst/>
                    <a:latin typeface="Times New Roman" panose="02020603050405020304" pitchFamily="18" charset="0"/>
                    <a:ea typeface="宋体" panose="02010600030101010101" pitchFamily="2" charset="-122"/>
                  </a:rPr>
                  <a:t>可以</a:t>
                </a:r>
                <a:r>
                  <a:rPr lang="zh-CN" altLang="zh-CN" sz="2400" kern="100" dirty="0">
                    <a:effectLst/>
                    <a:latin typeface="Times New Roman" panose="02020603050405020304" pitchFamily="18" charset="0"/>
                    <a:ea typeface="宋体" panose="02010600030101010101" pitchFamily="2" charset="-122"/>
                  </a:rPr>
                  <a:t>从约束</a:t>
                </a:r>
                <a:r>
                  <a:rPr lang="zh-CN" altLang="en-US" sz="2400" kern="100" dirty="0">
                    <a:effectLst/>
                    <a:latin typeface="Times New Roman" panose="02020603050405020304" pitchFamily="18" charset="0"/>
                    <a:ea typeface="宋体" panose="02010600030101010101" pitchFamily="2" charset="-122"/>
                  </a:rPr>
                  <a:t>中</a:t>
                </a:r>
                <a:r>
                  <a:rPr lang="zh-CN" altLang="zh-CN" sz="2400" kern="100" dirty="0">
                    <a:effectLst/>
                    <a:latin typeface="Times New Roman" panose="02020603050405020304" pitchFamily="18" charset="0"/>
                    <a:ea typeface="宋体" panose="02010600030101010101" pitchFamily="2" charset="-122"/>
                  </a:rPr>
                  <a:t>解出</a:t>
                </a:r>
                <a:endParaRPr lang="zh-CN" altLang="zh-CN" sz="2400" kern="100" dirty="0">
                  <a:effectLst/>
                  <a:latin typeface="Times New Roman" panose="02020603050405020304" pitchFamily="18" charset="0"/>
                  <a:ea typeface="宋体" panose="02010600030101010101" pitchFamily="2"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551384" y="260648"/>
                <a:ext cx="11089232" cy="6097760"/>
              </a:xfrm>
              <a:prstGeom prst="rect">
                <a:avLst/>
              </a:prstGeom>
              <a:blipFill rotWithShape="1">
                <a:blip r:embed="rId1"/>
                <a:stretch>
                  <a:fillRect l="-2" t="-5" r="4" b="3"/>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695400" y="260648"/>
                <a:ext cx="10945216" cy="6214458"/>
              </a:xfrm>
              <a:prstGeom prst="rect">
                <a:avLst/>
              </a:prstGeom>
              <a:noFill/>
            </p:spPr>
            <p:txBody>
              <a:bodyPr wrap="square" rtlCol="0">
                <a:spAutoFit/>
              </a:bodyPr>
              <a:lstStyle/>
              <a:p>
                <a:pPr indent="266700" algn="ctr">
                  <a:lnSpc>
                    <a:spcPct val="150000"/>
                  </a:lnSpc>
                </a:pPr>
                <a:r>
                  <a:rPr lang="en-US" altLang="zh-CN" sz="2400" kern="100" dirty="0">
                    <a:effectLst/>
                    <a:latin typeface="+mn-ea"/>
                    <a:ea typeface="+mn-ea"/>
                  </a:rPr>
                  <a:t>  </a:t>
                </a:r>
                <a14:m>
                  <m:oMath xmlns:m="http://schemas.openxmlformats.org/officeDocument/2006/math">
                    <m:sSub>
                      <m:sSubPr>
                        <m:ctrlPr>
                          <a:rPr lang="zh-CN" altLang="zh-CN" sz="2400" i="1" kern="100" smtClean="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𝑥</m:t>
                        </m:r>
                      </m:e>
                      <m:sub>
                        <m:r>
                          <a:rPr lang="en-US" altLang="zh-CN" sz="2400" i="1" kern="100">
                            <a:effectLst/>
                            <a:latin typeface="Cambria Math" panose="02040503050406030204" pitchFamily="18" charset="0"/>
                            <a:ea typeface="宋体" panose="02010600030101010101" pitchFamily="2" charset="-122"/>
                          </a:rPr>
                          <m:t>𝐵</m:t>
                        </m:r>
                      </m:sub>
                    </m:sSub>
                    <m:r>
                      <a:rPr lang="en-US" altLang="zh-CN" sz="2400" kern="100">
                        <a:effectLst/>
                        <a:latin typeface="Cambria Math" panose="02040503050406030204" pitchFamily="18" charset="0"/>
                        <a:ea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m:t>
                        </m:r>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ea typeface="宋体" panose="02010600030101010101" pitchFamily="2" charset="-122"/>
                              </a:rPr>
                              <m:t>𝐴</m:t>
                            </m:r>
                          </m:e>
                          <m:sub>
                            <m:r>
                              <a:rPr lang="en-US" altLang="zh-CN" sz="2400" i="1" kern="100">
                                <a:effectLst/>
                                <a:latin typeface="Cambria Math" panose="02040503050406030204" pitchFamily="18" charset="0"/>
                                <a:ea typeface="宋体" panose="02010600030101010101" pitchFamily="2" charset="-122"/>
                              </a:rPr>
                              <m:t>𝐵</m:t>
                            </m:r>
                          </m:sub>
                          <m:sup>
                            <m:r>
                              <a:rPr lang="en-US" altLang="zh-CN" sz="2400" i="1" kern="100">
                                <a:effectLst/>
                                <a:latin typeface="Cambria Math" panose="02040503050406030204" pitchFamily="18" charset="0"/>
                                <a:ea typeface="宋体" panose="02010600030101010101" pitchFamily="2" charset="-122"/>
                              </a:rPr>
                              <m:t>𝑇</m:t>
                            </m:r>
                          </m:sup>
                        </m:sSubSup>
                        <m:r>
                          <a:rPr lang="en-US" altLang="zh-CN" sz="2400" i="1" kern="100">
                            <a:effectLst/>
                            <a:latin typeface="Cambria Math" panose="02040503050406030204" pitchFamily="18" charset="0"/>
                            <a:ea typeface="宋体" panose="02010600030101010101" pitchFamily="2" charset="-122"/>
                          </a:rPr>
                          <m:t>)</m:t>
                        </m:r>
                      </m:e>
                      <m:sup>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1</m:t>
                        </m:r>
                      </m:sup>
                    </m:sSup>
                    <m:r>
                      <a:rPr lang="en-US" altLang="zh-CN" sz="2400" i="1" kern="100">
                        <a:effectLst/>
                        <a:latin typeface="Cambria Math" panose="02040503050406030204" pitchFamily="18" charset="0"/>
                        <a:ea typeface="宋体" panose="02010600030101010101" pitchFamily="2" charset="-122"/>
                      </a:rPr>
                      <m:t>(</m:t>
                    </m:r>
                    <m:r>
                      <a:rPr lang="en-US" altLang="zh-CN" sz="2400" b="0" i="1" kern="100" smtClean="0">
                        <a:effectLst/>
                        <a:latin typeface="Cambria Math" panose="02040503050406030204" pitchFamily="18" charset="0"/>
                        <a:ea typeface="宋体" panose="02010600030101010101" pitchFamily="2" charset="-122"/>
                      </a:rPr>
                      <m:t>𝑐</m:t>
                    </m:r>
                    <m:r>
                      <a:rPr lang="en-US" altLang="zh-CN" sz="2400" i="1" kern="100">
                        <a:effectLst/>
                        <a:latin typeface="Cambria Math" panose="02040503050406030204" pitchFamily="18" charset="0"/>
                        <a:ea typeface="宋体" panose="02010600030101010101" pitchFamily="2" charset="-122"/>
                      </a:rPr>
                      <m:t>−</m:t>
                    </m:r>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ea typeface="宋体" panose="02010600030101010101" pitchFamily="2" charset="-122"/>
                          </a:rPr>
                          <m:t>𝐴</m:t>
                        </m:r>
                      </m:e>
                      <m:sub>
                        <m:r>
                          <a:rPr lang="en-US" altLang="zh-CN" sz="2400" i="1" kern="100">
                            <a:effectLst/>
                            <a:latin typeface="Cambria Math" panose="02040503050406030204" pitchFamily="18" charset="0"/>
                            <a:ea typeface="宋体" panose="02010600030101010101" pitchFamily="2" charset="-122"/>
                          </a:rPr>
                          <m:t>𝑁</m:t>
                        </m:r>
                      </m:sub>
                      <m:sup>
                        <m:r>
                          <a:rPr lang="en-US" altLang="zh-CN" sz="2400" i="1" kern="100">
                            <a:effectLst/>
                            <a:latin typeface="Cambria Math" panose="02040503050406030204" pitchFamily="18" charset="0"/>
                            <a:ea typeface="宋体" panose="02010600030101010101" pitchFamily="2" charset="-122"/>
                          </a:rPr>
                          <m:t>𝑇</m:t>
                        </m:r>
                      </m:sup>
                    </m:sSubSup>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𝑥</m:t>
                        </m:r>
                      </m:e>
                      <m:sub>
                        <m:r>
                          <a:rPr lang="en-US" altLang="zh-CN" sz="2400" i="1" kern="100">
                            <a:effectLst/>
                            <a:latin typeface="Cambria Math" panose="02040503050406030204" pitchFamily="18" charset="0"/>
                            <a:ea typeface="宋体" panose="02010600030101010101" pitchFamily="2" charset="-122"/>
                          </a:rPr>
                          <m:t>𝑁</m:t>
                        </m:r>
                      </m:sub>
                    </m:sSub>
                    <m:r>
                      <a:rPr lang="en-US" altLang="zh-CN" sz="2400" i="1" kern="100">
                        <a:effectLst/>
                        <a:latin typeface="Cambria Math" panose="02040503050406030204" pitchFamily="18" charset="0"/>
                        <a:ea typeface="宋体" panose="02010600030101010101" pitchFamily="2" charset="-122"/>
                      </a:rPr>
                      <m:t>)</m:t>
                    </m:r>
                  </m:oMath>
                </a14:m>
                <a:endParaRPr lang="en-US" altLang="zh-CN" sz="2400" kern="100" dirty="0">
                  <a:latin typeface="Times New Roman" panose="02020603050405020304" pitchFamily="18" charset="0"/>
                </a:endParaRPr>
              </a:p>
              <a:p>
                <a:pPr indent="266700" algn="just">
                  <a:lnSpc>
                    <a:spcPct val="150000"/>
                  </a:lnSpc>
                </a:pPr>
                <a:r>
                  <a:rPr lang="en-US" altLang="zh-CN" sz="2400" b="1" kern="100" dirty="0">
                    <a:effectLst/>
                    <a:latin typeface="Times New Roman" panose="02020603050405020304" pitchFamily="18" charset="0"/>
                    <a:ea typeface="+mn-ea"/>
                  </a:rPr>
                  <a:t>     </a:t>
                </a:r>
                <a:r>
                  <a:rPr lang="zh-CN" altLang="zh-CN" sz="2400" b="1" kern="100" dirty="0">
                    <a:effectLst/>
                    <a:latin typeface="+mn-ea"/>
                    <a:ea typeface="+mn-ea"/>
                  </a:rPr>
                  <a:t>代入</a:t>
                </a:r>
                <a:r>
                  <a:rPr lang="zh-CN" altLang="zh-CN" sz="2400" kern="100" dirty="0">
                    <a:effectLst/>
                    <a:latin typeface="+mn-ea"/>
                    <a:ea typeface="+mn-ea"/>
                  </a:rPr>
                  <a:t>等式约束二次规划问题的目标函数，得到等价的无约束优化问题</a:t>
                </a:r>
                <a:endParaRPr lang="zh-CN" altLang="zh-CN" sz="2400" kern="100" dirty="0">
                  <a:effectLst/>
                  <a:latin typeface="+mn-ea"/>
                  <a:ea typeface="+mn-ea"/>
                </a:endParaRPr>
              </a:p>
              <a:p>
                <a:pPr algn="just">
                  <a:lnSpc>
                    <a:spcPct val="150000"/>
                  </a:lnSpc>
                </a:pPr>
                <a14:m>
                  <m:oMathPara xmlns:m="http://schemas.openxmlformats.org/officeDocument/2006/math">
                    <m:oMathParaPr>
                      <m:jc m:val="centerGroup"/>
                    </m:oMathParaPr>
                    <m:oMath xmlns:m="http://schemas.openxmlformats.org/officeDocument/2006/math">
                      <m:func>
                        <m:funcPr>
                          <m:ctrlPr>
                            <a:rPr lang="zh-CN" altLang="zh-CN" sz="2400" i="1" kern="100">
                              <a:effectLst/>
                              <a:latin typeface="Cambria Math" panose="02040503050406030204" pitchFamily="18" charset="0"/>
                              <a:ea typeface="+mn-ea"/>
                            </a:rPr>
                          </m:ctrlPr>
                        </m:funcPr>
                        <m:fName>
                          <m:r>
                            <a:rPr lang="en-US" altLang="zh-CN" sz="2400" i="1" kern="100">
                              <a:effectLst/>
                              <a:latin typeface="Cambria Math" panose="02040503050406030204" pitchFamily="18" charset="0"/>
                              <a:ea typeface="+mn-ea"/>
                            </a:rPr>
                            <m:t>𝑚𝑖𝑛</m:t>
                          </m:r>
                        </m:fName>
                        <m:e>
                          <m:r>
                            <a:rPr lang="en-US" altLang="zh-CN" sz="2400" i="1" kern="100">
                              <a:effectLst/>
                              <a:latin typeface="Cambria Math" panose="02040503050406030204" pitchFamily="18" charset="0"/>
                              <a:ea typeface="+mn-ea"/>
                            </a:rPr>
                            <m:t> </m:t>
                          </m:r>
                        </m:e>
                      </m:func>
                      <m:bar>
                        <m:barPr>
                          <m:pos m:val="top"/>
                          <m:ctrlPr>
                            <a:rPr lang="zh-CN" altLang="zh-CN" sz="2400" i="1" kern="100">
                              <a:effectLst/>
                              <a:latin typeface="Cambria Math" panose="02040503050406030204" pitchFamily="18" charset="0"/>
                              <a:ea typeface="+mn-ea"/>
                            </a:rPr>
                          </m:ctrlPr>
                        </m:barPr>
                        <m:e>
                          <m:r>
                            <a:rPr lang="en-US" altLang="zh-CN" sz="2400" i="1" kern="100">
                              <a:effectLst/>
                              <a:latin typeface="Cambria Math" panose="02040503050406030204" pitchFamily="18" charset="0"/>
                              <a:ea typeface="+mn-ea"/>
                            </a:rPr>
                            <m:t>𝑓</m:t>
                          </m:r>
                        </m:e>
                      </m:bar>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𝑁</m:t>
                          </m:r>
                        </m:sub>
                      </m:sSub>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1</m:t>
                          </m:r>
                        </m:num>
                        <m:den>
                          <m:r>
                            <a:rPr lang="en-US" altLang="zh-CN" sz="2400" i="1" kern="100">
                              <a:effectLst/>
                              <a:latin typeface="Cambria Math" panose="02040503050406030204" pitchFamily="18" charset="0"/>
                              <a:ea typeface="+mn-ea"/>
                            </a:rPr>
                            <m:t>2</m:t>
                          </m:r>
                        </m:den>
                      </m:f>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𝑁</m:t>
                          </m:r>
                        </m:sub>
                        <m:sup>
                          <m:r>
                            <a:rPr lang="en-US" altLang="zh-CN" sz="2400" i="1" kern="100">
                              <a:effectLst/>
                              <a:latin typeface="Cambria Math" panose="02040503050406030204" pitchFamily="18" charset="0"/>
                              <a:ea typeface="+mn-ea"/>
                            </a:rPr>
                            <m:t>𝑇</m:t>
                          </m:r>
                        </m:sup>
                      </m:sSubSup>
                      <m:sSub>
                        <m:sSubPr>
                          <m:ctrlPr>
                            <a:rPr lang="zh-CN" altLang="zh-CN" sz="2400" i="1" kern="100">
                              <a:effectLst/>
                              <a:latin typeface="Cambria Math" panose="02040503050406030204" pitchFamily="18" charset="0"/>
                              <a:ea typeface="+mn-ea"/>
                            </a:rPr>
                          </m:ctrlPr>
                        </m:sSubPr>
                        <m:e>
                          <m:bar>
                            <m:barPr>
                              <m:pos m:val="top"/>
                              <m:ctrlPr>
                                <a:rPr lang="zh-CN" altLang="zh-CN" sz="2400" i="1" kern="100">
                                  <a:effectLst/>
                                  <a:latin typeface="Cambria Math" panose="02040503050406030204" pitchFamily="18" charset="0"/>
                                  <a:ea typeface="+mn-ea"/>
                                </a:rPr>
                              </m:ctrlPr>
                            </m:barPr>
                            <m:e>
                              <m:r>
                                <a:rPr lang="en-US" altLang="zh-CN" sz="2400" i="1" kern="100">
                                  <a:effectLst/>
                                  <a:latin typeface="Cambria Math" panose="02040503050406030204" pitchFamily="18" charset="0"/>
                                  <a:ea typeface="+mn-ea"/>
                                </a:rPr>
                                <m:t>𝐺</m:t>
                              </m:r>
                            </m:e>
                          </m:bar>
                        </m:e>
                        <m:sub>
                          <m:r>
                            <a:rPr lang="en-US" altLang="zh-CN" sz="2400" i="1" kern="100">
                              <a:effectLst/>
                              <a:latin typeface="Cambria Math" panose="02040503050406030204" pitchFamily="18" charset="0"/>
                              <a:ea typeface="+mn-ea"/>
                            </a:rPr>
                            <m:t>𝑁</m:t>
                          </m:r>
                        </m:sub>
                      </m:sSub>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𝑁</m:t>
                          </m:r>
                        </m:sub>
                      </m:sSub>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bar>
                            <m:barPr>
                              <m:pos m:val="top"/>
                              <m:ctrlPr>
                                <a:rPr lang="zh-CN" altLang="zh-CN" sz="2400" i="1" kern="100">
                                  <a:effectLst/>
                                  <a:latin typeface="Cambria Math" panose="02040503050406030204" pitchFamily="18" charset="0"/>
                                  <a:ea typeface="+mn-ea"/>
                                </a:rPr>
                              </m:ctrlPr>
                            </m:barPr>
                            <m:e>
                              <m:r>
                                <a:rPr lang="en-US" altLang="zh-CN" sz="2400" i="1" kern="100">
                                  <a:effectLst/>
                                  <a:latin typeface="Cambria Math" panose="02040503050406030204" pitchFamily="18" charset="0"/>
                                  <a:ea typeface="+mn-ea"/>
                                </a:rPr>
                                <m:t>𝑟</m:t>
                              </m:r>
                            </m:e>
                          </m:bar>
                        </m:e>
                        <m:sub>
                          <m:r>
                            <a:rPr lang="en-US" altLang="zh-CN" sz="2400" i="1" kern="100">
                              <a:effectLst/>
                              <a:latin typeface="Cambria Math" panose="02040503050406030204" pitchFamily="18" charset="0"/>
                              <a:ea typeface="+mn-ea"/>
                            </a:rPr>
                            <m:t>𝑁</m:t>
                          </m:r>
                        </m:sub>
                        <m:sup>
                          <m:r>
                            <a:rPr lang="en-US" altLang="zh-CN" sz="2400" i="1" kern="100">
                              <a:effectLst/>
                              <a:latin typeface="Cambria Math" panose="02040503050406030204" pitchFamily="18" charset="0"/>
                              <a:ea typeface="+mn-ea"/>
                            </a:rPr>
                            <m:t>𝑇</m:t>
                          </m:r>
                        </m:sup>
                      </m:sSubSup>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𝑁</m:t>
                          </m:r>
                        </m:sub>
                      </m:sSub>
                      <m:r>
                        <a:rPr lang="en-US" altLang="zh-CN" sz="2400" i="1" kern="100">
                          <a:effectLst/>
                          <a:latin typeface="Cambria Math" panose="02040503050406030204" pitchFamily="18" charset="0"/>
                          <a:ea typeface="+mn-ea"/>
                        </a:rPr>
                        <m:t>+</m:t>
                      </m:r>
                      <m:bar>
                        <m:barPr>
                          <m:pos m:val="top"/>
                          <m:ctrlPr>
                            <a:rPr lang="zh-CN" altLang="zh-CN" sz="2400" i="1" kern="100">
                              <a:effectLst/>
                              <a:latin typeface="Cambria Math" panose="02040503050406030204" pitchFamily="18" charset="0"/>
                              <a:ea typeface="+mn-ea"/>
                            </a:rPr>
                          </m:ctrlPr>
                        </m:barPr>
                        <m:e>
                          <m:r>
                            <a:rPr lang="en-US" altLang="zh-CN" sz="2400" i="1" kern="100">
                              <a:effectLst/>
                              <a:latin typeface="Cambria Math" panose="02040503050406030204" pitchFamily="18" charset="0"/>
                              <a:ea typeface="+mn-ea"/>
                            </a:rPr>
                            <m:t>𝛿</m:t>
                          </m:r>
                        </m:e>
                      </m:bar>
                    </m:oMath>
                  </m:oMathPara>
                </a14:m>
                <a:endParaRPr lang="zh-CN" altLang="zh-CN" sz="2400" kern="100" dirty="0">
                  <a:effectLst/>
                  <a:latin typeface="+mn-ea"/>
                  <a:ea typeface="+mn-ea"/>
                </a:endParaRPr>
              </a:p>
              <a:p>
                <a:pPr algn="just">
                  <a:lnSpc>
                    <a:spcPct val="150000"/>
                  </a:lnSpc>
                </a:pPr>
                <a:r>
                  <a:rPr lang="zh-CN" altLang="zh-CN" sz="2400" kern="100" dirty="0">
                    <a:effectLst/>
                    <a:latin typeface="+mn-ea"/>
                    <a:ea typeface="+mn-ea"/>
                  </a:rPr>
                  <a:t>这里</a:t>
                </a:r>
                <a:endParaRPr lang="zh-CN" altLang="zh-CN" sz="2400" kern="100" dirty="0">
                  <a:effectLst/>
                  <a:latin typeface="+mn-ea"/>
                  <a:ea typeface="+mn-ea"/>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400" i="1" kern="100">
                              <a:effectLst/>
                              <a:latin typeface="Cambria Math" panose="02040503050406030204" pitchFamily="18" charset="0"/>
                              <a:ea typeface="+mn-ea"/>
                            </a:rPr>
                          </m:ctrlPr>
                        </m:sSubPr>
                        <m:e>
                          <m:bar>
                            <m:barPr>
                              <m:pos m:val="top"/>
                              <m:ctrlPr>
                                <a:rPr lang="zh-CN" altLang="zh-CN" sz="2400" i="1" kern="100">
                                  <a:effectLst/>
                                  <a:latin typeface="Cambria Math" panose="02040503050406030204" pitchFamily="18" charset="0"/>
                                  <a:ea typeface="+mn-ea"/>
                                </a:rPr>
                              </m:ctrlPr>
                            </m:barPr>
                            <m:e>
                              <m:r>
                                <a:rPr lang="en-US" altLang="zh-CN" sz="2400" i="1" kern="100">
                                  <a:effectLst/>
                                  <a:latin typeface="Cambria Math" panose="02040503050406030204" pitchFamily="18" charset="0"/>
                                  <a:ea typeface="+mn-ea"/>
                                </a:rPr>
                                <m:t>𝐺</m:t>
                              </m:r>
                            </m:e>
                          </m:bar>
                        </m:e>
                        <m:sub>
                          <m:r>
                            <a:rPr lang="en-US" altLang="zh-CN" sz="2400" i="1" kern="100">
                              <a:effectLst/>
                              <a:latin typeface="Cambria Math" panose="02040503050406030204" pitchFamily="18" charset="0"/>
                              <a:ea typeface="+mn-ea"/>
                            </a:rPr>
                            <m:t>𝑁</m:t>
                          </m:r>
                        </m:sub>
                      </m:sSub>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𝐺</m:t>
                          </m:r>
                        </m:e>
                        <m:sub>
                          <m:r>
                            <a:rPr lang="en-US" altLang="zh-CN" sz="2400" i="1" kern="100">
                              <a:effectLst/>
                              <a:latin typeface="Cambria Math" panose="02040503050406030204" pitchFamily="18" charset="0"/>
                              <a:ea typeface="+mn-ea"/>
                            </a:rPr>
                            <m:t>𝑁𝑁</m:t>
                          </m:r>
                        </m:sub>
                      </m:sSub>
                      <m:r>
                        <a:rPr lang="zh-CN" altLang="en-US" sz="2400" i="1" kern="100">
                          <a:effectLst/>
                          <a:latin typeface="Cambria Math" panose="02040503050406030204" pitchFamily="18" charset="0"/>
                          <a:ea typeface="+mn-ea"/>
                          <a:cs typeface="微软雅黑" panose="020B0503020204020204" pitchFamily="34" charset="-122"/>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𝑁</m:t>
                          </m:r>
                        </m:sub>
                      </m:sSub>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bSup>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𝐺</m:t>
                          </m:r>
                        </m:e>
                        <m:sub>
                          <m:r>
                            <a:rPr lang="en-US" altLang="zh-CN" sz="2400" i="1" kern="100">
                              <a:effectLst/>
                              <a:latin typeface="Cambria Math" panose="02040503050406030204" pitchFamily="18" charset="0"/>
                              <a:ea typeface="+mn-ea"/>
                            </a:rPr>
                            <m:t>𝐵𝑁</m:t>
                          </m:r>
                        </m:sub>
                      </m:sSub>
                      <m:r>
                        <a:rPr lang="zh-CN" altLang="en-US" sz="2400" i="1" kern="100">
                          <a:effectLst/>
                          <a:latin typeface="Cambria Math" panose="02040503050406030204" pitchFamily="18" charset="0"/>
                          <a:ea typeface="+mn-ea"/>
                          <a:cs typeface="微软雅黑" panose="020B0503020204020204" pitchFamily="34" charset="-122"/>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𝐺</m:t>
                          </m:r>
                        </m:e>
                        <m:sub>
                          <m:r>
                            <a:rPr lang="en-US" altLang="zh-CN" sz="2400" i="1" kern="100">
                              <a:effectLst/>
                              <a:latin typeface="Cambria Math" panose="02040503050406030204" pitchFamily="18" charset="0"/>
                              <a:ea typeface="+mn-ea"/>
                            </a:rPr>
                            <m:t>𝑁𝐵</m:t>
                          </m:r>
                        </m:sub>
                      </m:sSub>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en-US" altLang="zh-CN" sz="2400" i="1" kern="100">
                              <a:effectLst/>
                              <a:latin typeface="Cambria Math" panose="02040503050406030204" pitchFamily="18" charset="0"/>
                              <a:ea typeface="+mn-ea"/>
                            </a:rPr>
                            <m:t>𝑇</m:t>
                          </m:r>
                        </m:sup>
                      </m:sSub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𝑁</m:t>
                          </m:r>
                        </m:sub>
                        <m:sup>
                          <m:r>
                            <a:rPr lang="en-US" altLang="zh-CN" sz="2400" i="1" kern="100">
                              <a:effectLst/>
                              <a:latin typeface="Cambria Math" panose="02040503050406030204" pitchFamily="18" charset="0"/>
                              <a:ea typeface="+mn-ea"/>
                            </a:rPr>
                            <m:t>𝑇</m:t>
                          </m:r>
                        </m:sup>
                      </m:sSubSup>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𝑁</m:t>
                          </m:r>
                        </m:sub>
                      </m:sSub>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bSup>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𝐺</m:t>
                          </m:r>
                        </m:e>
                        <m:sub>
                          <m:r>
                            <a:rPr lang="en-US" altLang="zh-CN" sz="2400" i="1" kern="100">
                              <a:effectLst/>
                              <a:latin typeface="Cambria Math" panose="02040503050406030204" pitchFamily="18" charset="0"/>
                              <a:ea typeface="+mn-ea"/>
                            </a:rPr>
                            <m:t>𝐵𝐵</m:t>
                          </m:r>
                        </m:sub>
                      </m:sSub>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en-US" altLang="zh-CN" sz="2400" i="1" kern="100">
                              <a:effectLst/>
                              <a:latin typeface="Cambria Math" panose="02040503050406030204" pitchFamily="18" charset="0"/>
                              <a:ea typeface="+mn-ea"/>
                            </a:rPr>
                            <m:t>𝑇</m:t>
                          </m:r>
                        </m:sup>
                      </m:sSub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𝑁</m:t>
                          </m:r>
                        </m:sub>
                        <m:sup>
                          <m:r>
                            <a:rPr lang="en-US" altLang="zh-CN" sz="2400" i="1" kern="100">
                              <a:effectLst/>
                              <a:latin typeface="Cambria Math" panose="02040503050406030204" pitchFamily="18" charset="0"/>
                              <a:ea typeface="+mn-ea"/>
                            </a:rPr>
                            <m:t>𝑇</m:t>
                          </m:r>
                        </m:sup>
                      </m:sSubSup>
                      <m:r>
                        <a:rPr lang="en-US" altLang="zh-CN" sz="2400" i="1" kern="100">
                          <a:effectLst/>
                          <a:latin typeface="Cambria Math" panose="02040503050406030204" pitchFamily="18" charset="0"/>
                          <a:ea typeface="+mn-ea"/>
                        </a:rPr>
                        <m:t>,</m:t>
                      </m:r>
                    </m:oMath>
                    <m:oMath xmlns:m="http://schemas.openxmlformats.org/officeDocument/2006/math">
                      <m:sSub>
                        <m:sSubPr>
                          <m:ctrlPr>
                            <a:rPr lang="zh-CN" altLang="zh-CN" sz="2400" i="1" kern="100">
                              <a:effectLst/>
                              <a:latin typeface="Cambria Math" panose="02040503050406030204" pitchFamily="18" charset="0"/>
                              <a:ea typeface="+mn-ea"/>
                            </a:rPr>
                          </m:ctrlPr>
                        </m:sSubPr>
                        <m:e>
                          <m:bar>
                            <m:barPr>
                              <m:pos m:val="top"/>
                              <m:ctrlPr>
                                <a:rPr lang="zh-CN" altLang="zh-CN" sz="2400" i="1" kern="100">
                                  <a:effectLst/>
                                  <a:latin typeface="Cambria Math" panose="02040503050406030204" pitchFamily="18" charset="0"/>
                                  <a:ea typeface="+mn-ea"/>
                                </a:rPr>
                              </m:ctrlPr>
                            </m:barPr>
                            <m:e>
                              <m:r>
                                <a:rPr lang="en-US" altLang="zh-CN" sz="2400" i="1" kern="100">
                                  <a:effectLst/>
                                  <a:latin typeface="Cambria Math" panose="02040503050406030204" pitchFamily="18" charset="0"/>
                                  <a:ea typeface="+mn-ea"/>
                                </a:rPr>
                                <m:t>𝑟</m:t>
                              </m:r>
                            </m:e>
                          </m:bar>
                        </m:e>
                        <m:sub>
                          <m:r>
                            <a:rPr lang="en-US" altLang="zh-CN" sz="2400" i="1" kern="100">
                              <a:effectLst/>
                              <a:latin typeface="Cambria Math" panose="02040503050406030204" pitchFamily="18" charset="0"/>
                              <a:ea typeface="+mn-ea"/>
                            </a:rPr>
                            <m:t>𝑁</m:t>
                          </m:r>
                        </m:sub>
                      </m:sSub>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𝑟</m:t>
                          </m:r>
                        </m:e>
                        <m:sub>
                          <m:r>
                            <a:rPr lang="en-US" altLang="zh-CN" sz="2400" i="1" kern="100">
                              <a:effectLst/>
                              <a:latin typeface="Cambria Math" panose="02040503050406030204" pitchFamily="18" charset="0"/>
                              <a:ea typeface="+mn-ea"/>
                            </a:rPr>
                            <m:t>𝑁</m:t>
                          </m:r>
                        </m:sub>
                      </m:sSub>
                      <m:r>
                        <a:rPr lang="zh-CN" altLang="en-US" sz="2400" i="1" kern="100">
                          <a:effectLst/>
                          <a:latin typeface="Cambria Math" panose="02040503050406030204" pitchFamily="18" charset="0"/>
                          <a:ea typeface="+mn-ea"/>
                          <a:cs typeface="微软雅黑" panose="020B0503020204020204" pitchFamily="34" charset="-122"/>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𝑁</m:t>
                          </m:r>
                        </m:sub>
                      </m:sSub>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en-US" altLang="zh-CN" sz="2400" i="1" kern="100">
                              <a:effectLst/>
                              <a:latin typeface="Cambria Math" panose="02040503050406030204" pitchFamily="18" charset="0"/>
                              <a:ea typeface="+mn-ea"/>
                            </a:rPr>
                            <m:t>𝑇</m:t>
                          </m:r>
                        </m:sup>
                      </m:sSub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𝑟</m:t>
                          </m:r>
                        </m:e>
                        <m:sub>
                          <m:r>
                            <a:rPr lang="en-US" altLang="zh-CN" sz="2400" i="1" kern="100">
                              <a:effectLst/>
                              <a:latin typeface="Cambria Math" panose="02040503050406030204" pitchFamily="18" charset="0"/>
                              <a:ea typeface="+mn-ea"/>
                            </a:rPr>
                            <m:t>𝐵</m:t>
                          </m:r>
                        </m:sub>
                      </m:sSub>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𝐺</m:t>
                          </m:r>
                        </m:e>
                        <m:sub>
                          <m:r>
                            <a:rPr lang="en-US" altLang="zh-CN" sz="2400" i="1" kern="100">
                              <a:effectLst/>
                              <a:latin typeface="Cambria Math" panose="02040503050406030204" pitchFamily="18" charset="0"/>
                              <a:ea typeface="+mn-ea"/>
                            </a:rPr>
                            <m:t>𝑁𝐵</m:t>
                          </m:r>
                        </m:sub>
                      </m:sSub>
                      <m:r>
                        <a:rPr lang="zh-CN" altLang="en-US" sz="2400" i="1" kern="100">
                          <a:effectLst/>
                          <a:latin typeface="Cambria Math" panose="02040503050406030204" pitchFamily="18" charset="0"/>
                          <a:ea typeface="+mn-ea"/>
                          <a:cs typeface="微软雅黑" panose="020B0503020204020204" pitchFamily="34" charset="-122"/>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𝑁</m:t>
                          </m:r>
                        </m:sub>
                      </m:sSub>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bSup>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𝐺</m:t>
                          </m:r>
                        </m:e>
                        <m:sub>
                          <m:r>
                            <a:rPr lang="en-US" altLang="zh-CN" sz="2400" i="1" kern="100">
                              <a:effectLst/>
                              <a:latin typeface="Cambria Math" panose="02040503050406030204" pitchFamily="18" charset="0"/>
                              <a:ea typeface="+mn-ea"/>
                            </a:rPr>
                            <m:t>𝐵𝐵</m:t>
                          </m:r>
                        </m:sub>
                      </m:sSub>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en-US" altLang="zh-CN" sz="2400" i="1" kern="100">
                              <a:effectLst/>
                              <a:latin typeface="Cambria Math" panose="02040503050406030204" pitchFamily="18" charset="0"/>
                              <a:ea typeface="+mn-ea"/>
                            </a:rPr>
                            <m:t>𝑇</m:t>
                          </m:r>
                        </m:sup>
                      </m:sSub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r>
                        <a:rPr lang="en-US" altLang="zh-CN" sz="2400" b="0" i="1" kern="100" smtClean="0">
                          <a:effectLst/>
                          <a:latin typeface="Cambria Math" panose="02040503050406030204" pitchFamily="18" charset="0"/>
                          <a:ea typeface="+mn-ea"/>
                        </a:rPr>
                        <m:t>𝑐</m:t>
                      </m:r>
                      <m:r>
                        <a:rPr lang="en-US" altLang="zh-CN" sz="2400" i="1" kern="100">
                          <a:effectLst/>
                          <a:latin typeface="Cambria Math" panose="02040503050406030204" pitchFamily="18" charset="0"/>
                          <a:ea typeface="+mn-ea"/>
                        </a:rPr>
                        <m:t>,</m:t>
                      </m:r>
                    </m:oMath>
                    <m:oMath xmlns:m="http://schemas.openxmlformats.org/officeDocument/2006/math">
                      <m:bar>
                        <m:barPr>
                          <m:pos m:val="top"/>
                          <m:ctrlPr>
                            <a:rPr lang="zh-CN" altLang="zh-CN" sz="2400" i="1" kern="100">
                              <a:effectLst/>
                              <a:latin typeface="Cambria Math" panose="02040503050406030204" pitchFamily="18" charset="0"/>
                              <a:ea typeface="+mn-ea"/>
                            </a:rPr>
                          </m:ctrlPr>
                        </m:barPr>
                        <m:e>
                          <m:r>
                            <a:rPr lang="en-US" altLang="zh-CN" sz="2400" i="1" kern="100">
                              <a:effectLst/>
                              <a:latin typeface="Cambria Math" panose="02040503050406030204" pitchFamily="18" charset="0"/>
                              <a:ea typeface="+mn-ea"/>
                            </a:rPr>
                            <m:t>𝛿</m:t>
                          </m:r>
                        </m:e>
                      </m:bar>
                      <m:r>
                        <a:rPr lang="en-US" altLang="zh-CN" sz="2400" i="1" kern="100">
                          <a:effectLst/>
                          <a:latin typeface="Cambria Math" panose="02040503050406030204" pitchFamily="18" charset="0"/>
                          <a:ea typeface="+mn-ea"/>
                        </a:rPr>
                        <m:t>=</m:t>
                      </m:r>
                      <m:f>
                        <m:fPr>
                          <m:ctrlPr>
                            <a:rPr lang="zh-CN" altLang="zh-CN" sz="2400" i="1" kern="100">
                              <a:effectLst/>
                              <a:latin typeface="Cambria Math" panose="02040503050406030204" pitchFamily="18" charset="0"/>
                              <a:ea typeface="+mn-ea"/>
                            </a:rPr>
                          </m:ctrlPr>
                        </m:fPr>
                        <m:num>
                          <m:r>
                            <a:rPr lang="en-US" altLang="zh-CN" sz="2400" i="1" kern="100">
                              <a:effectLst/>
                              <a:latin typeface="Cambria Math" panose="02040503050406030204" pitchFamily="18" charset="0"/>
                              <a:ea typeface="+mn-ea"/>
                            </a:rPr>
                            <m:t>1</m:t>
                          </m:r>
                        </m:num>
                        <m:den>
                          <m:r>
                            <a:rPr lang="en-US" altLang="zh-CN" sz="2400" i="1" kern="100">
                              <a:effectLst/>
                              <a:latin typeface="Cambria Math" panose="02040503050406030204" pitchFamily="18" charset="0"/>
                              <a:ea typeface="+mn-ea"/>
                            </a:rPr>
                            <m:t>2</m:t>
                          </m:r>
                        </m:den>
                      </m:f>
                      <m:sSup>
                        <m:sSupPr>
                          <m:ctrlPr>
                            <a:rPr lang="zh-CN" altLang="zh-CN" sz="2400" i="1" kern="100">
                              <a:effectLst/>
                              <a:latin typeface="Cambria Math" panose="02040503050406030204" pitchFamily="18" charset="0"/>
                              <a:ea typeface="+mn-ea"/>
                            </a:rPr>
                          </m:ctrlPr>
                        </m:sSupPr>
                        <m:e>
                          <m:r>
                            <a:rPr lang="en-US" altLang="zh-CN" sz="2400" b="0" i="1" kern="100" smtClean="0">
                              <a:effectLst/>
                              <a:latin typeface="Cambria Math" panose="02040503050406030204" pitchFamily="18" charset="0"/>
                              <a:ea typeface="+mn-ea"/>
                            </a:rPr>
                            <m:t>𝑐</m:t>
                          </m:r>
                        </m:e>
                        <m:sup>
                          <m:r>
                            <a:rPr lang="en-US" altLang="zh-CN" sz="2400" i="1" kern="100">
                              <a:effectLst/>
                              <a:latin typeface="Cambria Math" panose="02040503050406030204" pitchFamily="18" charset="0"/>
                              <a:ea typeface="+mn-ea"/>
                            </a:rPr>
                            <m:t>𝑇</m:t>
                          </m:r>
                        </m:sup>
                      </m:sSup>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bSup>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𝐺</m:t>
                          </m:r>
                        </m:e>
                        <m:sub>
                          <m:r>
                            <a:rPr lang="en-US" altLang="zh-CN" sz="2400" i="1" kern="100">
                              <a:effectLst/>
                              <a:latin typeface="Cambria Math" panose="02040503050406030204" pitchFamily="18" charset="0"/>
                              <a:ea typeface="+mn-ea"/>
                            </a:rPr>
                            <m:t>𝐵𝐵</m:t>
                          </m:r>
                        </m:sub>
                      </m:sSub>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en-US" altLang="zh-CN" sz="2400" i="1" kern="100">
                              <a:effectLst/>
                              <a:latin typeface="Cambria Math" panose="02040503050406030204" pitchFamily="18" charset="0"/>
                              <a:ea typeface="+mn-ea"/>
                            </a:rPr>
                            <m:t>𝑇</m:t>
                          </m:r>
                        </m:sup>
                      </m:sSub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r>
                        <a:rPr lang="en-US" altLang="zh-CN" sz="2400" b="0" i="1" kern="100" smtClean="0">
                          <a:effectLst/>
                          <a:latin typeface="Cambria Math" panose="02040503050406030204" pitchFamily="18" charset="0"/>
                          <a:ea typeface="+mn-ea"/>
                        </a:rPr>
                        <m:t>𝑐</m:t>
                      </m:r>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𝑟</m:t>
                          </m:r>
                        </m:e>
                        <m:sub>
                          <m:r>
                            <a:rPr lang="en-US" altLang="zh-CN" sz="2400" i="1" kern="100">
                              <a:effectLst/>
                              <a:latin typeface="Cambria Math" panose="02040503050406030204" pitchFamily="18" charset="0"/>
                              <a:ea typeface="+mn-ea"/>
                            </a:rPr>
                            <m:t>𝐵</m:t>
                          </m:r>
                        </m:sub>
                        <m:sup>
                          <m:r>
                            <a:rPr lang="en-US" altLang="zh-CN" sz="2400" i="1" kern="100">
                              <a:effectLst/>
                              <a:latin typeface="Cambria Math" panose="02040503050406030204" pitchFamily="18" charset="0"/>
                              <a:ea typeface="+mn-ea"/>
                            </a:rPr>
                            <m:t>𝑇</m:t>
                          </m:r>
                        </m:sup>
                      </m:sSubSup>
                      <m:r>
                        <a:rPr lang="en-US" altLang="zh-CN" sz="2400" i="1" kern="100">
                          <a:effectLst/>
                          <a:latin typeface="Cambria Math" panose="02040503050406030204" pitchFamily="18" charset="0"/>
                          <a:ea typeface="+mn-ea"/>
                        </a:rPr>
                        <m:t>(</m:t>
                      </m:r>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en-US" altLang="zh-CN" sz="2400" i="1" kern="100">
                              <a:effectLst/>
                              <a:latin typeface="Cambria Math" panose="02040503050406030204" pitchFamily="18" charset="0"/>
                              <a:ea typeface="+mn-ea"/>
                            </a:rPr>
                            <m:t>𝑇</m:t>
                          </m:r>
                        </m:sup>
                      </m:sSubSup>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r>
                        <a:rPr lang="en-US" altLang="zh-CN" sz="2400" b="0" i="1" kern="100" smtClean="0">
                          <a:effectLst/>
                          <a:latin typeface="Cambria Math" panose="02040503050406030204" pitchFamily="18" charset="0"/>
                          <a:ea typeface="+mn-ea"/>
                        </a:rPr>
                        <m:t>𝑐</m:t>
                      </m:r>
                    </m:oMath>
                  </m:oMathPara>
                </a14:m>
                <a:endParaRPr lang="zh-CN" altLang="zh-CN" sz="2400" kern="100" dirty="0">
                  <a:effectLst/>
                  <a:latin typeface="+mn-ea"/>
                  <a:ea typeface="+mn-ea"/>
                </a:endParaRPr>
              </a:p>
              <a:p>
                <a:pPr algn="just">
                  <a:lnSpc>
                    <a:spcPct val="150000"/>
                  </a:lnSpc>
                </a:pPr>
                <a:r>
                  <a:rPr lang="en-US" altLang="zh-CN" sz="2400" kern="100" dirty="0">
                    <a:effectLst/>
                    <a:latin typeface="+mn-ea"/>
                    <a:ea typeface="+mn-ea"/>
                  </a:rPr>
                  <a:t> </a:t>
                </a:r>
                <a:r>
                  <a:rPr lang="en-US" altLang="zh-CN" sz="2400" kern="100" dirty="0">
                    <a:latin typeface="+mn-ea"/>
                    <a:ea typeface="+mn-ea"/>
                  </a:rPr>
                  <a:t>    </a:t>
                </a:r>
                <a:r>
                  <a:rPr lang="zh-CN" altLang="zh-CN" sz="2400" kern="100" dirty="0">
                    <a:effectLst/>
                    <a:latin typeface="+mn-ea"/>
                    <a:ea typeface="+mn-ea"/>
                  </a:rPr>
                  <a:t>若</a:t>
                </a:r>
                <a14:m>
                  <m:oMath xmlns:m="http://schemas.openxmlformats.org/officeDocument/2006/math">
                    <m:sSub>
                      <m:sSubPr>
                        <m:ctrlPr>
                          <a:rPr lang="zh-CN" altLang="zh-CN" sz="2400" i="1" kern="100">
                            <a:effectLst/>
                            <a:latin typeface="Cambria Math" panose="02040503050406030204" pitchFamily="18" charset="0"/>
                            <a:ea typeface="+mn-ea"/>
                          </a:rPr>
                        </m:ctrlPr>
                      </m:sSubPr>
                      <m:e>
                        <m:bar>
                          <m:barPr>
                            <m:pos m:val="top"/>
                            <m:ctrlPr>
                              <a:rPr lang="zh-CN" altLang="zh-CN" sz="2400" i="1" kern="100">
                                <a:effectLst/>
                                <a:latin typeface="Cambria Math" panose="02040503050406030204" pitchFamily="18" charset="0"/>
                                <a:ea typeface="+mn-ea"/>
                              </a:rPr>
                            </m:ctrlPr>
                          </m:barPr>
                          <m:e>
                            <m:r>
                              <a:rPr lang="en-US" altLang="zh-CN" sz="2400" i="1" kern="100">
                                <a:effectLst/>
                                <a:latin typeface="Cambria Math" panose="02040503050406030204" pitchFamily="18" charset="0"/>
                                <a:ea typeface="+mn-ea"/>
                              </a:rPr>
                              <m:t>𝐺</m:t>
                            </m:r>
                          </m:e>
                        </m:bar>
                      </m:e>
                      <m:sub>
                        <m:r>
                          <a:rPr lang="en-US" altLang="zh-CN" sz="2400" i="1" kern="100">
                            <a:effectLst/>
                            <a:latin typeface="Cambria Math" panose="02040503050406030204" pitchFamily="18" charset="0"/>
                            <a:ea typeface="+mn-ea"/>
                          </a:rPr>
                          <m:t>𝑁</m:t>
                        </m:r>
                      </m:sub>
                    </m:sSub>
                  </m:oMath>
                </a14:m>
                <a:r>
                  <a:rPr lang="zh-CN" altLang="zh-CN" sz="2400" kern="100" dirty="0">
                    <a:effectLst/>
                    <a:latin typeface="+mn-ea"/>
                    <a:ea typeface="+mn-ea"/>
                  </a:rPr>
                  <a:t>是正定对称矩阵，</a:t>
                </a:r>
                <a:r>
                  <a:rPr lang="zh-CN" altLang="en-US" sz="2400" kern="100" dirty="0">
                    <a:effectLst/>
                    <a:latin typeface="+mn-ea"/>
                    <a:ea typeface="+mn-ea"/>
                  </a:rPr>
                  <a:t>上述问题</a:t>
                </a:r>
                <a:r>
                  <a:rPr lang="zh-CN" altLang="zh-CN" sz="2400" kern="100" dirty="0">
                    <a:effectLst/>
                    <a:latin typeface="+mn-ea"/>
                    <a:ea typeface="+mn-ea"/>
                  </a:rPr>
                  <a:t>则有唯一解</a:t>
                </a:r>
                <a14:m>
                  <m:oMath xmlns:m="http://schemas.openxmlformats.org/officeDocument/2006/math">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𝑥</m:t>
                        </m:r>
                      </m:e>
                      <m:sub>
                        <m:r>
                          <a:rPr lang="en-US" altLang="zh-CN" sz="2400" i="1" kern="100">
                            <a:effectLst/>
                            <a:latin typeface="Cambria Math" panose="02040503050406030204" pitchFamily="18" charset="0"/>
                            <a:ea typeface="+mn-ea"/>
                          </a:rPr>
                          <m:t>𝑁</m:t>
                        </m:r>
                      </m:sub>
                      <m:sup>
                        <m:r>
                          <a:rPr lang="en-US" altLang="zh-CN" sz="2400" i="1" kern="100">
                            <a:effectLst/>
                            <a:latin typeface="Cambria Math" panose="02040503050406030204" pitchFamily="18" charset="0"/>
                            <a:ea typeface="+mn-ea"/>
                          </a:rPr>
                          <m:t>∗</m:t>
                        </m:r>
                      </m:sup>
                    </m:sSubSup>
                    <m:r>
                      <a:rPr lang="en-US" altLang="zh-CN" sz="2400" i="1" kern="100">
                        <a:effectLst/>
                        <a:latin typeface="Cambria Math" panose="02040503050406030204" pitchFamily="18" charset="0"/>
                        <a:ea typeface="+mn-ea"/>
                      </a:rPr>
                      <m:t>=</m:t>
                    </m:r>
                    <m:r>
                      <a:rPr lang="zh-CN" altLang="en-US" sz="2400" i="1" kern="100">
                        <a:effectLst/>
                        <a:latin typeface="Cambria Math" panose="02040503050406030204" pitchFamily="18" charset="0"/>
                        <a:ea typeface="+mn-ea"/>
                        <a:cs typeface="微软雅黑" panose="020B0503020204020204" pitchFamily="34" charset="-122"/>
                      </a:rPr>
                      <m:t>−</m:t>
                    </m:r>
                    <m:sSubSup>
                      <m:sSubSupPr>
                        <m:ctrlPr>
                          <a:rPr lang="zh-CN" altLang="zh-CN" sz="2400" i="1" kern="100">
                            <a:effectLst/>
                            <a:latin typeface="Cambria Math" panose="02040503050406030204" pitchFamily="18" charset="0"/>
                            <a:ea typeface="+mn-ea"/>
                          </a:rPr>
                        </m:ctrlPr>
                      </m:sSubSupPr>
                      <m:e>
                        <m:bar>
                          <m:barPr>
                            <m:pos m:val="top"/>
                            <m:ctrlPr>
                              <a:rPr lang="zh-CN" altLang="zh-CN" sz="2400" i="1" kern="100">
                                <a:effectLst/>
                                <a:latin typeface="Cambria Math" panose="02040503050406030204" pitchFamily="18" charset="0"/>
                                <a:ea typeface="+mn-ea"/>
                              </a:rPr>
                            </m:ctrlPr>
                          </m:barPr>
                          <m:e>
                            <m:r>
                              <a:rPr lang="en-US" altLang="zh-CN" sz="2400" i="1" kern="100">
                                <a:effectLst/>
                                <a:latin typeface="Cambria Math" panose="02040503050406030204" pitchFamily="18" charset="0"/>
                                <a:ea typeface="+mn-ea"/>
                              </a:rPr>
                              <m:t>𝐺</m:t>
                            </m:r>
                          </m:e>
                        </m:bar>
                      </m:e>
                      <m:sub>
                        <m:r>
                          <a:rPr lang="en-US" altLang="zh-CN" sz="2400" i="1" kern="100">
                            <a:effectLst/>
                            <a:latin typeface="Cambria Math" panose="02040503050406030204" pitchFamily="18" charset="0"/>
                            <a:ea typeface="+mn-ea"/>
                          </a:rPr>
                          <m:t>𝑁</m:t>
                        </m:r>
                      </m:sub>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bSup>
                    <m:sSub>
                      <m:sSubPr>
                        <m:ctrlPr>
                          <a:rPr lang="zh-CN" altLang="zh-CN" sz="2400" i="1" kern="100">
                            <a:effectLst/>
                            <a:latin typeface="Cambria Math" panose="02040503050406030204" pitchFamily="18" charset="0"/>
                            <a:ea typeface="+mn-ea"/>
                          </a:rPr>
                        </m:ctrlPr>
                      </m:sSubPr>
                      <m:e>
                        <m:bar>
                          <m:barPr>
                            <m:pos m:val="top"/>
                            <m:ctrlPr>
                              <a:rPr lang="zh-CN" altLang="zh-CN" sz="2400" i="1" kern="100">
                                <a:effectLst/>
                                <a:latin typeface="Cambria Math" panose="02040503050406030204" pitchFamily="18" charset="0"/>
                                <a:ea typeface="+mn-ea"/>
                              </a:rPr>
                            </m:ctrlPr>
                          </m:barPr>
                          <m:e>
                            <m:r>
                              <a:rPr lang="en-US" altLang="zh-CN" sz="2400" i="1" kern="100">
                                <a:effectLst/>
                                <a:latin typeface="Cambria Math" panose="02040503050406030204" pitchFamily="18" charset="0"/>
                                <a:ea typeface="+mn-ea"/>
                              </a:rPr>
                              <m:t>𝑟</m:t>
                            </m:r>
                          </m:e>
                        </m:bar>
                      </m:e>
                      <m:sub>
                        <m:r>
                          <a:rPr lang="en-US" altLang="zh-CN" sz="2400" i="1" kern="100">
                            <a:effectLst/>
                            <a:latin typeface="Cambria Math" panose="02040503050406030204" pitchFamily="18" charset="0"/>
                            <a:ea typeface="+mn-ea"/>
                          </a:rPr>
                          <m:t>𝑁</m:t>
                        </m:r>
                      </m:sub>
                    </m:sSub>
                  </m:oMath>
                </a14:m>
                <a:r>
                  <a:rPr lang="en-US" altLang="zh-CN" sz="2400" kern="100" dirty="0">
                    <a:effectLst/>
                    <a:latin typeface="+mn-ea"/>
                    <a:ea typeface="+mn-ea"/>
                  </a:rPr>
                  <a:t>		  </a:t>
                </a:r>
                <a:endParaRPr lang="zh-CN" altLang="zh-CN" sz="2400" kern="100" dirty="0">
                  <a:effectLst/>
                  <a:latin typeface="+mn-ea"/>
                  <a:ea typeface="+mn-ea"/>
                </a:endParaRPr>
              </a:p>
              <a:p>
                <a:pPr algn="just">
                  <a:lnSpc>
                    <a:spcPct val="150000"/>
                  </a:lnSpc>
                </a:pPr>
                <a:endParaRPr lang="zh-CN" altLang="en-US" sz="2400" dirty="0">
                  <a:latin typeface="+mn-ea"/>
                  <a:ea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695400" y="260648"/>
                <a:ext cx="10945216" cy="6214458"/>
              </a:xfrm>
              <a:prstGeom prst="rect">
                <a:avLst/>
              </a:prstGeom>
              <a:blipFill rotWithShape="1">
                <a:blip r:embed="rId1"/>
                <a:stretch>
                  <a:fillRect l="-1" t="-5" r="4"/>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983432" y="1052736"/>
                <a:ext cx="9793088" cy="4368183"/>
              </a:xfrm>
              <a:prstGeom prst="rect">
                <a:avLst/>
              </a:prstGeom>
              <a:noFill/>
            </p:spPr>
            <p:txBody>
              <a:bodyPr wrap="square">
                <a:spAutoFit/>
              </a:bodyPr>
              <a:lstStyle/>
              <a:p>
                <a:pPr algn="just">
                  <a:lnSpc>
                    <a:spcPct val="150000"/>
                  </a:lnSpc>
                </a:pPr>
                <a:r>
                  <a:rPr lang="en-US" altLang="zh-CN" sz="2400" kern="100" dirty="0">
                    <a:latin typeface="+mn-ea"/>
                  </a:rPr>
                  <a:t>    </a:t>
                </a:r>
                <a:r>
                  <a:rPr lang="zh-CN" altLang="zh-CN" sz="2400" kern="100" dirty="0">
                    <a:latin typeface="+mn-ea"/>
                  </a:rPr>
                  <a:t>进而得到等式约束二次规划问题的最优解</a:t>
                </a:r>
                <a:endParaRPr lang="zh-CN" altLang="zh-CN" sz="2400" kern="100" dirty="0">
                  <a:latin typeface="+mn-ea"/>
                </a:endParaRPr>
              </a:p>
              <a:p>
                <a:pPr algn="just">
                  <a:lnSpc>
                    <a:spcPct val="150000"/>
                  </a:lnSpc>
                </a:pPr>
                <a:r>
                  <a:rPr lang="en-US" altLang="zh-CN" sz="2400" kern="100" dirty="0">
                    <a:latin typeface="+mn-ea"/>
                  </a:rPr>
                  <a:t>			</a:t>
                </a:r>
                <a14:m>
                  <m:oMath xmlns:m="http://schemas.openxmlformats.org/officeDocument/2006/math">
                    <m:sSup>
                      <m:sSupPr>
                        <m:ctrlPr>
                          <a:rPr lang="zh-CN" altLang="zh-CN" sz="2400" i="1" kern="100">
                            <a:latin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d>
                      <m:dPr>
                        <m:ctrlPr>
                          <a:rPr lang="en-US" altLang="zh-CN" sz="2400" i="1" kern="100" smtClean="0">
                            <a:latin typeface="Cambria Math" panose="02040503050406030204" pitchFamily="18" charset="0"/>
                          </a:rPr>
                        </m:ctrlPr>
                      </m:dPr>
                      <m:e>
                        <m:m>
                          <m:mPr>
                            <m:mcs>
                              <m:mc>
                                <m:mcPr>
                                  <m:count m:val="1"/>
                                  <m:mcJc m:val="center"/>
                                </m:mcPr>
                              </m:mc>
                            </m:mcs>
                            <m:ctrlPr>
                              <a:rPr lang="zh-CN" altLang="zh-CN" sz="2400" i="1" kern="100">
                                <a:latin typeface="Cambria Math" panose="02040503050406030204" pitchFamily="18" charset="0"/>
                              </a:rPr>
                            </m:ctrlPr>
                          </m:mPr>
                          <m:mr>
                            <m:e>
                              <m:sSubSup>
                                <m:sSubSupPr>
                                  <m:ctrlPr>
                                    <a:rPr lang="zh-CN" altLang="zh-CN" sz="2400" i="1" kern="100">
                                      <a:latin typeface="Cambria Math" panose="02040503050406030204" pitchFamily="18" charset="0"/>
                                    </a:rPr>
                                  </m:ctrlPr>
                                </m:sSubSupPr>
                                <m:e>
                                  <m:r>
                                    <a:rPr lang="en-US" altLang="zh-CN" sz="2400" i="1" kern="100">
                                      <a:latin typeface="Cambria Math" panose="02040503050406030204" pitchFamily="18" charset="0"/>
                                    </a:rPr>
                                    <m:t>𝑥</m:t>
                                  </m:r>
                                </m:e>
                                <m:sub>
                                  <m:r>
                                    <a:rPr lang="en-US" altLang="zh-CN" sz="2400" i="1" kern="100">
                                      <a:latin typeface="Cambria Math" panose="02040503050406030204" pitchFamily="18" charset="0"/>
                                    </a:rPr>
                                    <m:t>𝐵</m:t>
                                  </m:r>
                                </m:sub>
                                <m:sup>
                                  <m:r>
                                    <a:rPr lang="en-US" altLang="zh-CN" sz="2400" i="1" kern="100">
                                      <a:latin typeface="Cambria Math" panose="02040503050406030204" pitchFamily="18" charset="0"/>
                                    </a:rPr>
                                    <m:t>∗</m:t>
                                  </m:r>
                                </m:sup>
                              </m:sSubSup>
                            </m:e>
                          </m:mr>
                          <m:mr>
                            <m:e>
                              <m:sSubSup>
                                <m:sSubSupPr>
                                  <m:ctrlPr>
                                    <a:rPr lang="zh-CN" altLang="zh-CN" sz="2400" i="1" kern="100">
                                      <a:latin typeface="Cambria Math" panose="02040503050406030204" pitchFamily="18" charset="0"/>
                                    </a:rPr>
                                  </m:ctrlPr>
                                </m:sSubSupPr>
                                <m:e>
                                  <m:r>
                                    <a:rPr lang="en-US" altLang="zh-CN" sz="2400" i="1" kern="100">
                                      <a:latin typeface="Cambria Math" panose="02040503050406030204" pitchFamily="18" charset="0"/>
                                    </a:rPr>
                                    <m:t>𝑥</m:t>
                                  </m:r>
                                </m:e>
                                <m:sub>
                                  <m:r>
                                    <a:rPr lang="en-US" altLang="zh-CN" sz="2400" i="1" kern="100">
                                      <a:latin typeface="Cambria Math" panose="02040503050406030204" pitchFamily="18" charset="0"/>
                                    </a:rPr>
                                    <m:t>𝑁</m:t>
                                  </m:r>
                                </m:sub>
                                <m:sup>
                                  <m:r>
                                    <a:rPr lang="en-US" altLang="zh-CN" sz="2400" i="1" kern="100">
                                      <a:latin typeface="Cambria Math" panose="02040503050406030204" pitchFamily="18" charset="0"/>
                                    </a:rPr>
                                    <m:t>∗</m:t>
                                  </m:r>
                                </m:sup>
                              </m:sSubSup>
                            </m:e>
                          </m:mr>
                        </m:m>
                      </m:e>
                    </m:d>
                    <m:r>
                      <a:rPr lang="en-US" altLang="zh-CN" sz="2400" i="1" kern="100">
                        <a:latin typeface="Cambria Math" panose="02040503050406030204" pitchFamily="18" charset="0"/>
                      </a:rPr>
                      <m:t>=</m:t>
                    </m:r>
                    <m:d>
                      <m:dPr>
                        <m:ctrlPr>
                          <a:rPr lang="en-US" altLang="zh-CN" sz="2400" i="1" kern="100" smtClean="0">
                            <a:latin typeface="Cambria Math" panose="02040503050406030204" pitchFamily="18" charset="0"/>
                          </a:rPr>
                        </m:ctrlPr>
                      </m:dPr>
                      <m:e>
                        <m:m>
                          <m:mPr>
                            <m:mcs>
                              <m:mc>
                                <m:mcPr>
                                  <m:count m:val="1"/>
                                  <m:mcJc m:val="center"/>
                                </m:mcPr>
                              </m:mc>
                            </m:mcs>
                            <m:ctrlPr>
                              <a:rPr lang="zh-CN" altLang="zh-CN" sz="2400" i="1" kern="100">
                                <a:latin typeface="Cambria Math" panose="02040503050406030204" pitchFamily="18" charset="0"/>
                              </a:rPr>
                            </m:ctrlPr>
                          </m:mPr>
                          <m:mr>
                            <m:e>
                              <m:r>
                                <a:rPr lang="en-US" altLang="zh-CN" sz="2400" i="1" kern="100">
                                  <a:latin typeface="Cambria Math" panose="02040503050406030204" pitchFamily="18" charset="0"/>
                                </a:rPr>
                                <m:t>(</m:t>
                              </m:r>
                              <m:sSubSup>
                                <m:sSubSupPr>
                                  <m:ctrlPr>
                                    <a:rPr lang="zh-CN" altLang="zh-CN" sz="2400" i="1" kern="100">
                                      <a:latin typeface="Cambria Math" panose="02040503050406030204" pitchFamily="18" charset="0"/>
                                    </a:rPr>
                                  </m:ctrlPr>
                                </m:sSubSupPr>
                                <m:e>
                                  <m:r>
                                    <a:rPr lang="en-US" altLang="zh-CN" sz="2400" i="1" kern="100">
                                      <a:latin typeface="Cambria Math" panose="02040503050406030204" pitchFamily="18" charset="0"/>
                                    </a:rPr>
                                    <m:t>𝐴</m:t>
                                  </m:r>
                                </m:e>
                                <m:sub>
                                  <m:r>
                                    <a:rPr lang="en-US" altLang="zh-CN" sz="2400" i="1" kern="100">
                                      <a:latin typeface="Cambria Math" panose="02040503050406030204" pitchFamily="18" charset="0"/>
                                    </a:rPr>
                                    <m:t>𝐵</m:t>
                                  </m:r>
                                </m:sub>
                                <m:sup>
                                  <m:r>
                                    <a:rPr lang="en-US" altLang="zh-CN" sz="2400" i="1" kern="100">
                                      <a:latin typeface="Cambria Math" panose="02040503050406030204" pitchFamily="18" charset="0"/>
                                    </a:rPr>
                                    <m:t>𝑇</m:t>
                                  </m:r>
                                </m:sup>
                              </m:sSubSup>
                              <m:sSup>
                                <m:sSupPr>
                                  <m:ctrlPr>
                                    <a:rPr lang="zh-CN" altLang="zh-CN" sz="2400" i="1" kern="100">
                                      <a:latin typeface="Cambria Math" panose="02040503050406030204" pitchFamily="18" charset="0"/>
                                    </a:rPr>
                                  </m:ctrlPr>
                                </m:sSupPr>
                                <m:e>
                                  <m:r>
                                    <a:rPr lang="en-US" altLang="zh-CN" sz="2400" i="1" kern="100">
                                      <a:latin typeface="Cambria Math" panose="02040503050406030204" pitchFamily="18" charset="0"/>
                                    </a:rPr>
                                    <m:t>)</m:t>
                                  </m:r>
                                </m:e>
                                <m:sup>
                                  <m:r>
                                    <a:rPr lang="zh-CN" altLang="en-US" sz="2400" i="1" kern="100">
                                      <a:latin typeface="Cambria Math" panose="02040503050406030204" pitchFamily="18" charset="0"/>
                                      <a:cs typeface="微软雅黑" panose="020B0503020204020204" pitchFamily="34" charset="-122"/>
                                    </a:rPr>
                                    <m:t>−</m:t>
                                  </m:r>
                                  <m:r>
                                    <a:rPr lang="en-US" altLang="zh-CN" sz="2400" i="1" kern="100">
                                      <a:latin typeface="Cambria Math" panose="02040503050406030204" pitchFamily="18" charset="0"/>
                                    </a:rPr>
                                    <m:t>1</m:t>
                                  </m:r>
                                </m:sup>
                              </m:sSup>
                              <m:r>
                                <a:rPr lang="en-US" altLang="zh-CN" sz="2400" i="1" kern="100">
                                  <a:latin typeface="Cambria Math" panose="02040503050406030204" pitchFamily="18" charset="0"/>
                                </a:rPr>
                                <m:t>𝑐</m:t>
                              </m:r>
                              <m:r>
                                <a:rPr lang="en-US" altLang="zh-CN" sz="2400" i="1" kern="100">
                                  <a:latin typeface="Cambria Math" panose="02040503050406030204" pitchFamily="18" charset="0"/>
                                </a:rPr>
                                <m:t>+(</m:t>
                              </m:r>
                              <m:sSubSup>
                                <m:sSubSupPr>
                                  <m:ctrlPr>
                                    <a:rPr lang="zh-CN" altLang="zh-CN" sz="2400" i="1" kern="100">
                                      <a:latin typeface="Cambria Math" panose="02040503050406030204" pitchFamily="18" charset="0"/>
                                    </a:rPr>
                                  </m:ctrlPr>
                                </m:sSubSupPr>
                                <m:e>
                                  <m:r>
                                    <a:rPr lang="en-US" altLang="zh-CN" sz="2400" i="1" kern="100">
                                      <a:latin typeface="Cambria Math" panose="02040503050406030204" pitchFamily="18" charset="0"/>
                                    </a:rPr>
                                    <m:t>𝐴</m:t>
                                  </m:r>
                                </m:e>
                                <m:sub>
                                  <m:r>
                                    <a:rPr lang="en-US" altLang="zh-CN" sz="2400" i="1" kern="100">
                                      <a:latin typeface="Cambria Math" panose="02040503050406030204" pitchFamily="18" charset="0"/>
                                    </a:rPr>
                                    <m:t>𝐵</m:t>
                                  </m:r>
                                </m:sub>
                                <m:sup>
                                  <m:r>
                                    <a:rPr lang="en-US" altLang="zh-CN" sz="2400" i="1" kern="100">
                                      <a:latin typeface="Cambria Math" panose="02040503050406030204" pitchFamily="18" charset="0"/>
                                    </a:rPr>
                                    <m:t>𝑇</m:t>
                                  </m:r>
                                </m:sup>
                              </m:sSubSup>
                              <m:sSup>
                                <m:sSupPr>
                                  <m:ctrlPr>
                                    <a:rPr lang="zh-CN" altLang="zh-CN" sz="2400" i="1" kern="100">
                                      <a:latin typeface="Cambria Math" panose="02040503050406030204" pitchFamily="18" charset="0"/>
                                    </a:rPr>
                                  </m:ctrlPr>
                                </m:sSupPr>
                                <m:e>
                                  <m:r>
                                    <a:rPr lang="en-US" altLang="zh-CN" sz="2400" i="1" kern="100">
                                      <a:latin typeface="Cambria Math" panose="02040503050406030204" pitchFamily="18" charset="0"/>
                                    </a:rPr>
                                    <m:t>)</m:t>
                                  </m:r>
                                </m:e>
                                <m:sup>
                                  <m:r>
                                    <a:rPr lang="zh-CN" altLang="en-US" sz="2400" i="1" kern="100">
                                      <a:latin typeface="Cambria Math" panose="02040503050406030204" pitchFamily="18" charset="0"/>
                                      <a:cs typeface="微软雅黑" panose="020B0503020204020204" pitchFamily="34" charset="-122"/>
                                    </a:rPr>
                                    <m:t>−</m:t>
                                  </m:r>
                                  <m:r>
                                    <a:rPr lang="en-US" altLang="zh-CN" sz="2400" i="1" kern="100">
                                      <a:latin typeface="Cambria Math" panose="02040503050406030204" pitchFamily="18" charset="0"/>
                                    </a:rPr>
                                    <m:t>1</m:t>
                                  </m:r>
                                </m:sup>
                              </m:sSup>
                              <m:sSubSup>
                                <m:sSubSupPr>
                                  <m:ctrlPr>
                                    <a:rPr lang="zh-CN" altLang="zh-CN" sz="2400" i="1" kern="100">
                                      <a:latin typeface="Cambria Math" panose="02040503050406030204" pitchFamily="18" charset="0"/>
                                    </a:rPr>
                                  </m:ctrlPr>
                                </m:sSubSupPr>
                                <m:e>
                                  <m:r>
                                    <a:rPr lang="en-US" altLang="zh-CN" sz="2400" i="1" kern="100">
                                      <a:latin typeface="Cambria Math" panose="02040503050406030204" pitchFamily="18" charset="0"/>
                                    </a:rPr>
                                    <m:t>𝐴</m:t>
                                  </m:r>
                                </m:e>
                                <m:sub>
                                  <m:r>
                                    <a:rPr lang="en-US" altLang="zh-CN" sz="2400" i="1" kern="100">
                                      <a:latin typeface="Cambria Math" panose="02040503050406030204" pitchFamily="18" charset="0"/>
                                    </a:rPr>
                                    <m:t>𝑁</m:t>
                                  </m:r>
                                </m:sub>
                                <m:sup>
                                  <m:r>
                                    <a:rPr lang="en-US" altLang="zh-CN" sz="2400" i="1" kern="100">
                                      <a:latin typeface="Cambria Math" panose="02040503050406030204" pitchFamily="18" charset="0"/>
                                    </a:rPr>
                                    <m:t>𝑇</m:t>
                                  </m:r>
                                </m:sup>
                              </m:sSubSup>
                              <m:sSubSup>
                                <m:sSubSupPr>
                                  <m:ctrlPr>
                                    <a:rPr lang="zh-CN" altLang="zh-CN" sz="2400" i="1" kern="100">
                                      <a:latin typeface="Cambria Math" panose="02040503050406030204" pitchFamily="18" charset="0"/>
                                    </a:rPr>
                                  </m:ctrlPr>
                                </m:sSubSupPr>
                                <m:e>
                                  <m:bar>
                                    <m:barPr>
                                      <m:pos m:val="top"/>
                                      <m:ctrlPr>
                                        <a:rPr lang="zh-CN" altLang="zh-CN" sz="2400" i="1" kern="100">
                                          <a:latin typeface="Cambria Math" panose="02040503050406030204" pitchFamily="18" charset="0"/>
                                        </a:rPr>
                                      </m:ctrlPr>
                                    </m:barPr>
                                    <m:e>
                                      <m:r>
                                        <a:rPr lang="en-US" altLang="zh-CN" sz="2400" i="1" kern="100">
                                          <a:latin typeface="Cambria Math" panose="02040503050406030204" pitchFamily="18" charset="0"/>
                                        </a:rPr>
                                        <m:t>𝐺</m:t>
                                      </m:r>
                                    </m:e>
                                  </m:bar>
                                </m:e>
                                <m:sub>
                                  <m:r>
                                    <a:rPr lang="en-US" altLang="zh-CN" sz="2400" i="1" kern="100">
                                      <a:latin typeface="Cambria Math" panose="02040503050406030204" pitchFamily="18" charset="0"/>
                                    </a:rPr>
                                    <m:t>𝑁</m:t>
                                  </m:r>
                                </m:sub>
                                <m:sup>
                                  <m:r>
                                    <a:rPr lang="zh-CN" altLang="en-US" sz="2400" i="1" kern="100">
                                      <a:latin typeface="Cambria Math" panose="02040503050406030204" pitchFamily="18" charset="0"/>
                                      <a:cs typeface="微软雅黑" panose="020B0503020204020204" pitchFamily="34" charset="-122"/>
                                    </a:rPr>
                                    <m:t>−</m:t>
                                  </m:r>
                                  <m:r>
                                    <a:rPr lang="en-US" altLang="zh-CN" sz="2400" i="1" kern="100">
                                      <a:latin typeface="Cambria Math" panose="02040503050406030204" pitchFamily="18" charset="0"/>
                                    </a:rPr>
                                    <m:t>1</m:t>
                                  </m:r>
                                </m:sup>
                              </m:sSubSup>
                              <m:sSub>
                                <m:sSubPr>
                                  <m:ctrlPr>
                                    <a:rPr lang="zh-CN" altLang="zh-CN" sz="2400" i="1" kern="100">
                                      <a:latin typeface="Cambria Math" panose="02040503050406030204" pitchFamily="18" charset="0"/>
                                    </a:rPr>
                                  </m:ctrlPr>
                                </m:sSubPr>
                                <m:e>
                                  <m:bar>
                                    <m:barPr>
                                      <m:pos m:val="top"/>
                                      <m:ctrlPr>
                                        <a:rPr lang="zh-CN" altLang="zh-CN" sz="2400" i="1" kern="100">
                                          <a:latin typeface="Cambria Math" panose="02040503050406030204" pitchFamily="18" charset="0"/>
                                        </a:rPr>
                                      </m:ctrlPr>
                                    </m:barPr>
                                    <m:e>
                                      <m:r>
                                        <a:rPr lang="en-US" altLang="zh-CN" sz="2400" i="1" kern="100">
                                          <a:latin typeface="Cambria Math" panose="02040503050406030204" pitchFamily="18" charset="0"/>
                                        </a:rPr>
                                        <m:t>𝑟</m:t>
                                      </m:r>
                                    </m:e>
                                  </m:bar>
                                </m:e>
                                <m:sub>
                                  <m:r>
                                    <a:rPr lang="en-US" altLang="zh-CN" sz="2400" i="1" kern="100">
                                      <a:latin typeface="Cambria Math" panose="02040503050406030204" pitchFamily="18" charset="0"/>
                                    </a:rPr>
                                    <m:t>𝑁</m:t>
                                  </m:r>
                                </m:sub>
                              </m:sSub>
                            </m:e>
                          </m:mr>
                          <m:mr>
                            <m:e>
                              <m:r>
                                <a:rPr lang="zh-CN" altLang="en-US" sz="2400" i="1" kern="100">
                                  <a:latin typeface="Cambria Math" panose="02040503050406030204" pitchFamily="18" charset="0"/>
                                  <a:cs typeface="微软雅黑" panose="020B0503020204020204" pitchFamily="34" charset="-122"/>
                                </a:rPr>
                                <m:t>−</m:t>
                              </m:r>
                              <m:sSubSup>
                                <m:sSubSupPr>
                                  <m:ctrlPr>
                                    <a:rPr lang="zh-CN" altLang="zh-CN" sz="2400" i="1" kern="100">
                                      <a:latin typeface="Cambria Math" panose="02040503050406030204" pitchFamily="18" charset="0"/>
                                    </a:rPr>
                                  </m:ctrlPr>
                                </m:sSubSupPr>
                                <m:e>
                                  <m:bar>
                                    <m:barPr>
                                      <m:pos m:val="top"/>
                                      <m:ctrlPr>
                                        <a:rPr lang="zh-CN" altLang="zh-CN" sz="2400" i="1" kern="100">
                                          <a:latin typeface="Cambria Math" panose="02040503050406030204" pitchFamily="18" charset="0"/>
                                        </a:rPr>
                                      </m:ctrlPr>
                                    </m:barPr>
                                    <m:e>
                                      <m:r>
                                        <a:rPr lang="en-US" altLang="zh-CN" sz="2400" i="1" kern="100">
                                          <a:latin typeface="Cambria Math" panose="02040503050406030204" pitchFamily="18" charset="0"/>
                                        </a:rPr>
                                        <m:t>𝐺</m:t>
                                      </m:r>
                                    </m:e>
                                  </m:bar>
                                </m:e>
                                <m:sub>
                                  <m:r>
                                    <a:rPr lang="en-US" altLang="zh-CN" sz="2400" i="1" kern="100">
                                      <a:latin typeface="Cambria Math" panose="02040503050406030204" pitchFamily="18" charset="0"/>
                                    </a:rPr>
                                    <m:t>𝑁</m:t>
                                  </m:r>
                                </m:sub>
                                <m:sup>
                                  <m:r>
                                    <a:rPr lang="zh-CN" altLang="en-US" sz="2400" i="1" kern="100">
                                      <a:latin typeface="Cambria Math" panose="02040503050406030204" pitchFamily="18" charset="0"/>
                                      <a:cs typeface="微软雅黑" panose="020B0503020204020204" pitchFamily="34" charset="-122"/>
                                    </a:rPr>
                                    <m:t>−</m:t>
                                  </m:r>
                                  <m:r>
                                    <a:rPr lang="en-US" altLang="zh-CN" sz="2400" i="1" kern="100">
                                      <a:latin typeface="Cambria Math" panose="02040503050406030204" pitchFamily="18" charset="0"/>
                                    </a:rPr>
                                    <m:t>1</m:t>
                                  </m:r>
                                </m:sup>
                              </m:sSubSup>
                              <m:sSub>
                                <m:sSubPr>
                                  <m:ctrlPr>
                                    <a:rPr lang="zh-CN" altLang="zh-CN" sz="2400" i="1" kern="100">
                                      <a:latin typeface="Cambria Math" panose="02040503050406030204" pitchFamily="18" charset="0"/>
                                    </a:rPr>
                                  </m:ctrlPr>
                                </m:sSubPr>
                                <m:e>
                                  <m:bar>
                                    <m:barPr>
                                      <m:pos m:val="top"/>
                                      <m:ctrlPr>
                                        <a:rPr lang="zh-CN" altLang="zh-CN" sz="2400" i="1" kern="100">
                                          <a:latin typeface="Cambria Math" panose="02040503050406030204" pitchFamily="18" charset="0"/>
                                        </a:rPr>
                                      </m:ctrlPr>
                                    </m:barPr>
                                    <m:e>
                                      <m:r>
                                        <a:rPr lang="en-US" altLang="zh-CN" sz="2400" i="1" kern="100">
                                          <a:latin typeface="Cambria Math" panose="02040503050406030204" pitchFamily="18" charset="0"/>
                                        </a:rPr>
                                        <m:t>𝑟</m:t>
                                      </m:r>
                                    </m:e>
                                  </m:bar>
                                </m:e>
                                <m:sub>
                                  <m:r>
                                    <a:rPr lang="en-US" altLang="zh-CN" sz="2400" i="1" kern="100">
                                      <a:latin typeface="Cambria Math" panose="02040503050406030204" pitchFamily="18" charset="0"/>
                                    </a:rPr>
                                    <m:t>𝑁</m:t>
                                  </m:r>
                                </m:sub>
                              </m:sSub>
                            </m:e>
                          </m:mr>
                        </m:m>
                      </m:e>
                    </m:d>
                  </m:oMath>
                </a14:m>
                <a:endParaRPr lang="en-US" altLang="zh-CN" sz="2400" b="1" dirty="0">
                  <a:solidFill>
                    <a:srgbClr val="FF0000"/>
                  </a:solidFill>
                  <a:latin typeface="+mn-ea"/>
                  <a:ea typeface="+mn-ea"/>
                </a:endParaRPr>
              </a:p>
              <a:p>
                <a:pPr algn="just">
                  <a:lnSpc>
                    <a:spcPct val="150000"/>
                  </a:lnSpc>
                </a:pPr>
                <a:endParaRPr lang="en-US" altLang="zh-CN" sz="2400" b="1" dirty="0">
                  <a:solidFill>
                    <a:srgbClr val="FF0000"/>
                  </a:solidFill>
                  <a:latin typeface="+mn-ea"/>
                  <a:ea typeface="+mn-ea"/>
                </a:endParaRPr>
              </a:p>
              <a:p>
                <a:pPr algn="just">
                  <a:lnSpc>
                    <a:spcPct val="150000"/>
                  </a:lnSpc>
                </a:pPr>
                <a:r>
                  <a:rPr lang="zh-CN" altLang="en-US" sz="2400" b="1" dirty="0">
                    <a:solidFill>
                      <a:srgbClr val="FF0000"/>
                    </a:solidFill>
                    <a:latin typeface="+mn-ea"/>
                    <a:ea typeface="+mn-ea"/>
                  </a:rPr>
                  <a:t>注</a:t>
                </a:r>
                <a:r>
                  <a:rPr lang="zh-CN" altLang="en-US" sz="2400" dirty="0">
                    <a:latin typeface="+mn-ea"/>
                    <a:ea typeface="+mn-ea"/>
                  </a:rPr>
                  <a:t>：若等式约束二次规划问题中的矩阵</a:t>
                </a:r>
                <a14:m>
                  <m:oMath xmlns:m="http://schemas.openxmlformats.org/officeDocument/2006/math">
                    <m:r>
                      <a:rPr lang="en-US" altLang="zh-CN" sz="2400" i="1" kern="100">
                        <a:latin typeface="Cambria Math" panose="02040503050406030204" pitchFamily="18" charset="0"/>
                      </a:rPr>
                      <m:t>𝐺</m:t>
                    </m:r>
                  </m:oMath>
                </a14:m>
                <a:r>
                  <a:rPr lang="zh-CN" altLang="en-US" sz="2400" dirty="0">
                    <a:latin typeface="+mn-ea"/>
                    <a:ea typeface="+mn-ea"/>
                  </a:rPr>
                  <a:t>是正定对称矩阵，则相应的</a:t>
                </a:r>
                <a14:m>
                  <m:oMath xmlns:m="http://schemas.openxmlformats.org/officeDocument/2006/math">
                    <m:sSub>
                      <m:sSubPr>
                        <m:ctrlPr>
                          <a:rPr lang="zh-CN" altLang="zh-CN" sz="2400" i="1" kern="100">
                            <a:latin typeface="Cambria Math" panose="02040503050406030204" pitchFamily="18" charset="0"/>
                          </a:rPr>
                        </m:ctrlPr>
                      </m:sSubPr>
                      <m:e>
                        <m:bar>
                          <m:barPr>
                            <m:pos m:val="top"/>
                            <m:ctrlPr>
                              <a:rPr lang="zh-CN" altLang="zh-CN" sz="2400" i="1" kern="100">
                                <a:latin typeface="Cambria Math" panose="02040503050406030204" pitchFamily="18" charset="0"/>
                              </a:rPr>
                            </m:ctrlPr>
                          </m:barPr>
                          <m:e>
                            <m:r>
                              <a:rPr lang="en-US" altLang="zh-CN" sz="2400" i="1" kern="100">
                                <a:latin typeface="Cambria Math" panose="02040503050406030204" pitchFamily="18" charset="0"/>
                              </a:rPr>
                              <m:t>𝐺</m:t>
                            </m:r>
                          </m:e>
                        </m:bar>
                      </m:e>
                      <m:sub>
                        <m:r>
                          <a:rPr lang="en-US" altLang="zh-CN" sz="2400" i="1" kern="100">
                            <a:latin typeface="Cambria Math" panose="02040503050406030204" pitchFamily="18" charset="0"/>
                          </a:rPr>
                          <m:t>𝑁</m:t>
                        </m:r>
                      </m:sub>
                    </m:sSub>
                  </m:oMath>
                </a14:m>
                <a:r>
                  <a:rPr lang="zh-CN" altLang="en-US" sz="2400" dirty="0">
                    <a:latin typeface="+mn-ea"/>
                    <a:ea typeface="+mn-ea"/>
                  </a:rPr>
                  <a:t>也是正定对称矩阵。该结论表明，对于等式约束严格凸二次规划问题，可以用直接消去法得到原问题的最优解。</a:t>
                </a:r>
                <a:endParaRPr lang="zh-CN" altLang="en-US" sz="2400" dirty="0">
                  <a:latin typeface="+mn-ea"/>
                  <a:ea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983432" y="1052736"/>
                <a:ext cx="9793088" cy="4368183"/>
              </a:xfrm>
              <a:prstGeom prst="rect">
                <a:avLst/>
              </a:prstGeom>
              <a:blipFill rotWithShape="1">
                <a:blip r:embed="rId1"/>
                <a:stretch>
                  <a:fillRect l="-5" t="-12" r="6" b="13"/>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9336" y="149319"/>
            <a:ext cx="5472608" cy="523220"/>
          </a:xfrm>
          <a:prstGeom prst="rect">
            <a:avLst/>
          </a:prstGeom>
          <a:noFill/>
        </p:spPr>
        <p:txBody>
          <a:bodyPr wrap="square">
            <a:spAutoFit/>
          </a:bodyPr>
          <a:lstStyle>
            <a:defPPr>
              <a:defRPr lang="zh-CN"/>
            </a:defPPr>
            <a:lvl1pPr algn="just">
              <a:spcBef>
                <a:spcPts val="600"/>
              </a:spcBef>
              <a:spcAft>
                <a:spcPts val="600"/>
              </a:spcAft>
              <a:defRPr sz="3200" kern="100">
                <a:latin typeface="Times New Roman" panose="02020603050405020304" pitchFamily="18" charset="0"/>
                <a:ea typeface="黑体" panose="02010609060101010101" pitchFamily="49" charset="-122"/>
              </a:defRPr>
            </a:lvl1pPr>
          </a:lstStyle>
          <a:p>
            <a:r>
              <a:rPr lang="zh-CN" altLang="en-US" dirty="0"/>
              <a:t>二、广义消去法</a:t>
            </a:r>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551384" y="692696"/>
                <a:ext cx="10657184" cy="5560561"/>
              </a:xfrm>
              <a:prstGeom prst="rect">
                <a:avLst/>
              </a:prstGeom>
              <a:noFill/>
            </p:spPr>
            <p:txBody>
              <a:bodyPr wrap="square" rtlCol="0">
                <a:spAutoFit/>
              </a:bodyPr>
              <a:lstStyle/>
              <a:p>
                <a:pPr algn="just">
                  <a:lnSpc>
                    <a:spcPct val="150000"/>
                  </a:lnSpc>
                </a:pPr>
                <a:r>
                  <a:rPr lang="en-US" altLang="zh-CN" sz="2400" kern="100" dirty="0">
                    <a:effectLst/>
                    <a:latin typeface="Times New Roman" panose="02020603050405020304" pitchFamily="18" charset="0"/>
                  </a:rPr>
                  <a:t>        </a:t>
                </a:r>
                <a:r>
                  <a:rPr lang="zh-CN" altLang="zh-CN" sz="2400" kern="100" dirty="0">
                    <a:effectLst/>
                    <a:latin typeface="Times New Roman" panose="02020603050405020304" pitchFamily="18" charset="0"/>
                  </a:rPr>
                  <a:t>直接消去法简单、直观，但它的不足之处是</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𝐴</m:t>
                        </m:r>
                      </m:e>
                      <m:sub>
                        <m:r>
                          <a:rPr lang="en-US" altLang="zh-CN" sz="2400" i="1" kern="100">
                            <a:effectLst/>
                            <a:latin typeface="Cambria Math" panose="02040503050406030204" pitchFamily="18" charset="0"/>
                          </a:rPr>
                          <m:t>𝐵</m:t>
                        </m:r>
                      </m:sub>
                    </m:sSub>
                  </m:oMath>
                </a14:m>
                <a:r>
                  <a:rPr lang="zh-CN" altLang="zh-CN" sz="2400" kern="100" dirty="0">
                    <a:effectLst/>
                    <a:latin typeface="Times New Roman" panose="02020603050405020304" pitchFamily="18" charset="0"/>
                  </a:rPr>
                  <a:t>可能接近奇异，从而导致求解</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𝑥</m:t>
                        </m:r>
                      </m:e>
                      <m:sup>
                        <m:r>
                          <a:rPr lang="en-US" altLang="zh-CN" sz="2400" i="1" kern="100">
                            <a:effectLst/>
                            <a:latin typeface="Cambria Math" panose="02040503050406030204" pitchFamily="18" charset="0"/>
                          </a:rPr>
                          <m:t>∗</m:t>
                        </m:r>
                      </m:sup>
                    </m:sSup>
                  </m:oMath>
                </a14:m>
                <a:r>
                  <a:rPr lang="zh-CN" altLang="zh-CN" sz="2400" kern="100" dirty="0">
                    <a:effectLst/>
                    <a:latin typeface="Times New Roman" panose="02020603050405020304" pitchFamily="18" charset="0"/>
                  </a:rPr>
                  <a:t>数值不稳定。消去法的一个直接推广就是广义消去法。</a:t>
                </a:r>
                <a:endParaRPr lang="zh-CN" altLang="zh-CN" sz="2400" kern="100" dirty="0">
                  <a:effectLst/>
                  <a:latin typeface="Times New Roman" panose="02020603050405020304" pitchFamily="18" charset="0"/>
                </a:endParaRPr>
              </a:p>
              <a:p>
                <a:pPr algn="just">
                  <a:lnSpc>
                    <a:spcPct val="150000"/>
                  </a:lnSpc>
                </a:pPr>
                <a:r>
                  <a:rPr lang="en-US" altLang="zh-CN" sz="2400" kern="100" dirty="0">
                    <a:effectLst/>
                    <a:latin typeface="Times New Roman" panose="02020603050405020304" pitchFamily="18" charset="0"/>
                  </a:rPr>
                  <a:t>        </a:t>
                </a:r>
                <a:r>
                  <a:rPr lang="zh-CN" altLang="zh-CN" sz="2400" kern="100" dirty="0">
                    <a:effectLst/>
                    <a:latin typeface="Times New Roman" panose="02020603050405020304" pitchFamily="18" charset="0"/>
                  </a:rPr>
                  <a:t>设</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𝑠</m:t>
                        </m:r>
                      </m:e>
                      <m:sub>
                        <m:r>
                          <a:rPr lang="en-US" altLang="zh-CN" sz="2400" i="1" kern="100">
                            <a:effectLst/>
                            <a:latin typeface="Cambria Math" panose="02040503050406030204" pitchFamily="18" charset="0"/>
                          </a:rPr>
                          <m:t>1</m:t>
                        </m:r>
                      </m:sub>
                    </m:sSub>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𝑠</m:t>
                        </m:r>
                      </m:e>
                      <m:sub>
                        <m:r>
                          <a:rPr lang="en-US" altLang="zh-CN" sz="2400" i="1" kern="100">
                            <a:effectLst/>
                            <a:latin typeface="Cambria Math" panose="02040503050406030204" pitchFamily="18" charset="0"/>
                          </a:rPr>
                          <m:t>2</m:t>
                        </m:r>
                      </m:sub>
                    </m:sSub>
                    <m:r>
                      <a:rPr lang="en-US" altLang="zh-CN" sz="2400" i="1" kern="100">
                        <a:effectLst/>
                        <a:latin typeface="Cambria Math" panose="02040503050406030204" pitchFamily="18" charset="0"/>
                      </a:rPr>
                      <m:t>,</m:t>
                    </m:r>
                    <m:r>
                      <a:rPr lang="zh-CN" altLang="zh-CN" sz="2400" i="1" kern="10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𝑠</m:t>
                        </m:r>
                      </m:e>
                      <m:sub>
                        <m:r>
                          <a:rPr lang="en-US" altLang="zh-CN" sz="2400" i="1" kern="100">
                            <a:effectLst/>
                            <a:latin typeface="Cambria Math" panose="02040503050406030204" pitchFamily="18" charset="0"/>
                          </a:rPr>
                          <m:t>𝑚</m:t>
                        </m:r>
                      </m:sub>
                    </m:sSub>
                  </m:oMath>
                </a14:m>
                <a:r>
                  <a:rPr lang="zh-CN" altLang="zh-CN" sz="2400" kern="100" dirty="0">
                    <a:effectLst/>
                    <a:latin typeface="Times New Roman" panose="02020603050405020304" pitchFamily="18" charset="0"/>
                  </a:rPr>
                  <a:t>是域空间</a:t>
                </a:r>
                <a:r>
                  <a:rPr lang="en-US" altLang="zh-CN" sz="2400" kern="100" dirty="0">
                    <a:effectLst/>
                    <a:latin typeface="Times New Roman" panose="02020603050405020304" pitchFamily="18" charset="0"/>
                  </a:rPr>
                  <a:t>Range(</a:t>
                </a:r>
                <a14:m>
                  <m:oMath xmlns:m="http://schemas.openxmlformats.org/officeDocument/2006/math">
                    <m:r>
                      <a:rPr lang="en-US" altLang="zh-CN" sz="2400" i="1" kern="100">
                        <a:latin typeface="Cambria Math" panose="02040503050406030204" pitchFamily="18" charset="0"/>
                      </a:rPr>
                      <m:t>𝐴</m:t>
                    </m:r>
                  </m:oMath>
                </a14:m>
                <a:r>
                  <a:rPr lang="en-US" altLang="zh-CN" sz="2400" kern="100" dirty="0">
                    <a:effectLst/>
                    <a:latin typeface="Times New Roman" panose="02020603050405020304" pitchFamily="18" charset="0"/>
                  </a:rPr>
                  <a:t>)</a:t>
                </a:r>
                <a:r>
                  <a:rPr lang="zh-CN" altLang="zh-CN" sz="2400" kern="100" dirty="0">
                    <a:effectLst/>
                    <a:latin typeface="Times New Roman" panose="02020603050405020304" pitchFamily="18" charset="0"/>
                  </a:rPr>
                  <a:t>中的一组线性无关的列向量，</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𝑧</m:t>
                        </m:r>
                      </m:e>
                      <m:sub>
                        <m:r>
                          <a:rPr lang="en-US" altLang="zh-CN" sz="2400" i="1" kern="100">
                            <a:effectLst/>
                            <a:latin typeface="Cambria Math" panose="02040503050406030204" pitchFamily="18" charset="0"/>
                          </a:rPr>
                          <m:t>1</m:t>
                        </m:r>
                      </m:sub>
                    </m:sSub>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𝑧</m:t>
                        </m:r>
                      </m:e>
                      <m:sub>
                        <m:r>
                          <a:rPr lang="en-US" altLang="zh-CN" sz="2400" i="1" kern="100">
                            <a:effectLst/>
                            <a:latin typeface="Cambria Math" panose="02040503050406030204" pitchFamily="18" charset="0"/>
                          </a:rPr>
                          <m:t>2</m:t>
                        </m:r>
                      </m:sub>
                    </m:sSub>
                    <m:r>
                      <a:rPr lang="en-US" altLang="zh-CN" sz="2400" i="1" kern="100">
                        <a:effectLst/>
                        <a:latin typeface="Cambria Math" panose="02040503050406030204" pitchFamily="18" charset="0"/>
                      </a:rPr>
                      <m:t>,</m:t>
                    </m:r>
                    <m:r>
                      <a:rPr lang="zh-CN" altLang="zh-CN" sz="2400" i="1" kern="10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𝑧</m:t>
                        </m:r>
                      </m:e>
                      <m:sub>
                        <m:r>
                          <a:rPr lang="en-US" altLang="zh-CN" sz="2400" i="1" kern="100">
                            <a:effectLst/>
                            <a:latin typeface="Cambria Math" panose="02040503050406030204" pitchFamily="18" charset="0"/>
                          </a:rPr>
                          <m:t>𝑛</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rPr>
                          <m:t>𝑚</m:t>
                        </m:r>
                      </m:sub>
                    </m:sSub>
                  </m:oMath>
                </a14:m>
                <a:r>
                  <a:rPr lang="zh-CN" altLang="zh-CN" sz="2400" kern="100" dirty="0">
                    <a:effectLst/>
                    <a:latin typeface="Times New Roman" panose="02020603050405020304" pitchFamily="18" charset="0"/>
                  </a:rPr>
                  <a:t>是零空间</a:t>
                </a:r>
                <a:r>
                  <a:rPr lang="en-US" altLang="zh-CN" sz="2400" kern="100" dirty="0">
                    <a:effectLst/>
                    <a:latin typeface="Times New Roman" panose="02020603050405020304" pitchFamily="18" charset="0"/>
                  </a:rPr>
                  <a:t>Null(</a:t>
                </a:r>
                <a14:m>
                  <m:oMath xmlns:m="http://schemas.openxmlformats.org/officeDocument/2006/math">
                    <m:r>
                      <a:rPr lang="en-US" altLang="zh-CN" sz="2400" i="1" kern="100">
                        <a:latin typeface="Cambria Math" panose="02040503050406030204" pitchFamily="18" charset="0"/>
                      </a:rPr>
                      <m:t>𝐴</m:t>
                    </m:r>
                    <m:r>
                      <a:rPr lang="en-US" altLang="zh-CN" sz="2400" i="1" kern="100">
                        <a:latin typeface="Cambria Math" panose="02040503050406030204" pitchFamily="18" charset="0"/>
                      </a:rPr>
                      <m:t> </m:t>
                    </m:r>
                  </m:oMath>
                </a14:m>
                <a:r>
                  <a:rPr lang="en-US" altLang="zh-CN" sz="2400" kern="100" baseline="30000" dirty="0">
                    <a:effectLst/>
                    <a:latin typeface="Times New Roman" panose="02020603050405020304" pitchFamily="18" charset="0"/>
                  </a:rPr>
                  <a:t>T</a:t>
                </a:r>
                <a:r>
                  <a:rPr lang="en-US" altLang="zh-CN" sz="2400" kern="100" dirty="0">
                    <a:effectLst/>
                    <a:latin typeface="Times New Roman" panose="02020603050405020304" pitchFamily="18" charset="0"/>
                  </a:rPr>
                  <a:t>)</a:t>
                </a:r>
                <a:r>
                  <a:rPr lang="zh-CN" altLang="zh-CN" sz="2400" kern="100" dirty="0">
                    <a:effectLst/>
                    <a:latin typeface="Times New Roman" panose="02020603050405020304" pitchFamily="18" charset="0"/>
                  </a:rPr>
                  <a:t>中的一组线性无关的列向量。记</a:t>
                </a:r>
                <a:endParaRPr lang="en-US" altLang="zh-CN" sz="2400" kern="100" dirty="0">
                  <a:effectLst/>
                  <a:latin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rPr>
                        <m:t>𝑆</m:t>
                      </m:r>
                      <m:r>
                        <a:rPr lang="en-US" altLang="zh-CN" sz="2400" i="1" kern="100">
                          <a:effectLst/>
                          <a:latin typeface="Cambria Math" panose="02040503050406030204" pitchFamily="18" charset="0"/>
                        </a:rPr>
                        <m:t>=</m:t>
                      </m:r>
                      <m:d>
                        <m:dPr>
                          <m:begChr m:val="["/>
                          <m:endChr m:val="]"/>
                          <m:ctrlPr>
                            <a:rPr lang="en-US" altLang="zh-CN" sz="2400" i="1" kern="100">
                              <a:effectLst/>
                              <a:latin typeface="Cambria Math" panose="02040503050406030204" pitchFamily="18" charset="0"/>
                              <a:ea typeface="Cambria Math" panose="02040503050406030204" pitchFamily="18" charset="0"/>
                            </a:rPr>
                          </m:ctrlPr>
                        </m:dPr>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𝑠</m:t>
                              </m:r>
                            </m:e>
                            <m:sub>
                              <m:r>
                                <a:rPr lang="en-US" altLang="zh-CN" sz="2400" i="1" kern="100">
                                  <a:effectLst/>
                                  <a:latin typeface="Cambria Math" panose="02040503050406030204" pitchFamily="18" charset="0"/>
                                </a:rPr>
                                <m:t>1</m:t>
                              </m:r>
                            </m:sub>
                          </m:sSub>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𝑠</m:t>
                              </m:r>
                            </m:e>
                            <m:sub>
                              <m:r>
                                <a:rPr lang="en-US" altLang="zh-CN" sz="2400" i="1" kern="100">
                                  <a:effectLst/>
                                  <a:latin typeface="Cambria Math" panose="02040503050406030204" pitchFamily="18" charset="0"/>
                                </a:rPr>
                                <m:t>2</m:t>
                              </m:r>
                            </m:sub>
                          </m:sSub>
                          <m:r>
                            <a:rPr lang="en-US" altLang="zh-CN" sz="2400" i="1" kern="100">
                              <a:effectLst/>
                              <a:latin typeface="Cambria Math" panose="02040503050406030204" pitchFamily="18" charset="0"/>
                            </a:rPr>
                            <m:t>,</m:t>
                          </m:r>
                          <m:r>
                            <a:rPr lang="zh-CN" altLang="zh-CN" sz="2400" i="1" kern="10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𝑠</m:t>
                              </m:r>
                            </m:e>
                            <m:sub>
                              <m:r>
                                <a:rPr lang="en-US" altLang="zh-CN" sz="2400" i="1" kern="100">
                                  <a:effectLst/>
                                  <a:latin typeface="Cambria Math" panose="02040503050406030204" pitchFamily="18" charset="0"/>
                                </a:rPr>
                                <m:t>𝑚</m:t>
                              </m:r>
                            </m:sub>
                          </m:sSub>
                        </m:e>
                      </m:d>
                    </m:oMath>
                  </m:oMathPara>
                </a14:m>
                <a:endParaRPr lang="en-US" altLang="zh-CN" sz="2400" i="1" kern="100" dirty="0">
                  <a:effectLst/>
                  <a:latin typeface="Cambria Math" panose="02040503050406030204" pitchFamily="18" charset="0"/>
                </a:endParaRPr>
              </a:p>
              <a:p>
                <a:pPr indent="266700" algn="just">
                  <a:lnSpc>
                    <a:spcPct val="150000"/>
                  </a:lnSpc>
                </a:pPr>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rPr>
                        <m:t>𝑍</m:t>
                      </m:r>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𝑧</m:t>
                          </m:r>
                        </m:e>
                        <m:sub>
                          <m:r>
                            <a:rPr lang="en-US" altLang="zh-CN" sz="2400" i="1" kern="100">
                              <a:effectLst/>
                              <a:latin typeface="Cambria Math" panose="02040503050406030204" pitchFamily="18" charset="0"/>
                            </a:rPr>
                            <m:t>1</m:t>
                          </m:r>
                        </m:sub>
                      </m:sSub>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𝑧</m:t>
                          </m:r>
                        </m:e>
                        <m:sub>
                          <m:r>
                            <a:rPr lang="en-US" altLang="zh-CN" sz="2400" i="1" kern="100">
                              <a:effectLst/>
                              <a:latin typeface="Cambria Math" panose="02040503050406030204" pitchFamily="18" charset="0"/>
                            </a:rPr>
                            <m:t>2</m:t>
                          </m:r>
                        </m:sub>
                      </m:sSub>
                      <m:r>
                        <a:rPr lang="en-US" altLang="zh-CN" sz="2400" i="1" kern="100">
                          <a:effectLst/>
                          <a:latin typeface="Cambria Math" panose="02040503050406030204" pitchFamily="18" charset="0"/>
                        </a:rPr>
                        <m:t>,</m:t>
                      </m:r>
                      <m:r>
                        <a:rPr lang="zh-CN" altLang="zh-CN" sz="2400" i="1" kern="10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𝑧</m:t>
                          </m:r>
                        </m:e>
                        <m:sub>
                          <m:r>
                            <a:rPr lang="en-US" altLang="zh-CN" sz="2400" i="1" kern="100">
                              <a:effectLst/>
                              <a:latin typeface="Cambria Math" panose="02040503050406030204" pitchFamily="18" charset="0"/>
                            </a:rPr>
                            <m:t>𝑛</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rPr>
                            <m:t>𝑚</m:t>
                          </m:r>
                        </m:sub>
                      </m:sSub>
                      <m:r>
                        <a:rPr lang="en-US" altLang="zh-CN" sz="2400" i="1" kern="100">
                          <a:effectLst/>
                          <a:latin typeface="Cambria Math" panose="02040503050406030204" pitchFamily="18" charset="0"/>
                        </a:rPr>
                        <m:t>].</m:t>
                      </m:r>
                    </m:oMath>
                  </m:oMathPara>
                </a14:m>
                <a:endParaRPr lang="zh-CN" altLang="zh-CN" sz="2400" kern="100" dirty="0">
                  <a:effectLst/>
                  <a:latin typeface="Times New Roman" panose="02020603050405020304" pitchFamily="18" charset="0"/>
                </a:endParaRPr>
              </a:p>
              <a:p>
                <a:pPr algn="just">
                  <a:lnSpc>
                    <a:spcPct val="150000"/>
                  </a:lnSpc>
                </a:pPr>
                <a:r>
                  <a:rPr lang="zh-CN" altLang="zh-CN" sz="2400" kern="100" dirty="0">
                    <a:effectLst/>
                    <a:latin typeface="Times New Roman" panose="02020603050405020304" pitchFamily="18" charset="0"/>
                  </a:rPr>
                  <a:t>注意到</a:t>
                </a:r>
                <a14:m>
                  <m:oMath xmlns:m="http://schemas.openxmlformats.org/officeDocument/2006/math">
                    <m:r>
                      <a:rPr lang="en-US" altLang="zh-CN" sz="2400" i="1" kern="100">
                        <a:latin typeface="Cambria Math" panose="02040503050406030204" pitchFamily="18" charset="0"/>
                      </a:rPr>
                      <m:t>𝐴</m:t>
                    </m:r>
                  </m:oMath>
                </a14:m>
                <a:r>
                  <a:rPr lang="zh-CN" altLang="zh-CN" sz="2400" kern="100" dirty="0">
                    <a:effectLst/>
                    <a:latin typeface="Times New Roman" panose="02020603050405020304" pitchFamily="18" charset="0"/>
                  </a:rPr>
                  <a:t>是</a:t>
                </a:r>
                <a:r>
                  <a:rPr lang="zh-CN" altLang="en-US" sz="2400" kern="100" dirty="0">
                    <a:effectLst/>
                    <a:latin typeface="Times New Roman" panose="02020603050405020304" pitchFamily="18" charset="0"/>
                  </a:rPr>
                  <a:t>列</a:t>
                </a:r>
                <a:r>
                  <a:rPr lang="zh-CN" altLang="zh-CN" sz="2400" kern="100" dirty="0">
                    <a:effectLst/>
                    <a:latin typeface="Times New Roman" panose="02020603050405020304" pitchFamily="18" charset="0"/>
                  </a:rPr>
                  <a:t>满秩，则不难看出</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𝐴</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𝑆</m:t>
                    </m:r>
                  </m:oMath>
                </a14:m>
                <a:r>
                  <a:rPr lang="zh-CN" altLang="zh-CN" sz="2400" kern="100" dirty="0">
                    <a:effectLst/>
                    <a:latin typeface="Times New Roman" panose="02020603050405020304" pitchFamily="18" charset="0"/>
                  </a:rPr>
                  <a:t>非奇异，</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𝐴</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𝑍</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0</m:t>
                    </m:r>
                  </m:oMath>
                </a14:m>
                <a:r>
                  <a:rPr lang="zh-CN" altLang="zh-CN" sz="2400" kern="100" dirty="0">
                    <a:effectLst/>
                    <a:latin typeface="Times New Roman" panose="02020603050405020304" pitchFamily="18" charset="0"/>
                  </a:rPr>
                  <a:t>，且</a:t>
                </a:r>
                <a14:m>
                  <m:oMath xmlns:m="http://schemas.openxmlformats.org/officeDocument/2006/math">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𝑆</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𝑍</m:t>
                    </m:r>
                    <m:r>
                      <a:rPr lang="en-US" altLang="zh-CN" sz="2400" i="1" kern="100">
                        <a:effectLst/>
                        <a:latin typeface="Cambria Math" panose="02040503050406030204" pitchFamily="18" charset="0"/>
                      </a:rPr>
                      <m:t>]</m:t>
                    </m:r>
                  </m:oMath>
                </a14:m>
                <a:r>
                  <a:rPr lang="zh-CN" altLang="zh-CN" sz="2400" kern="100" dirty="0">
                    <a:effectLst/>
                    <a:latin typeface="Times New Roman" panose="02020603050405020304" pitchFamily="18" charset="0"/>
                  </a:rPr>
                  <a:t>为非奇异矩阵，并且对矩阵</a:t>
                </a:r>
                <a:r>
                  <a:rPr lang="en-US" altLang="zh-CN" sz="2400" i="1" kern="100" dirty="0">
                    <a:effectLst/>
                    <a:latin typeface="Times New Roman" panose="02020603050405020304" pitchFamily="18" charset="0"/>
                  </a:rPr>
                  <a:t>S</a:t>
                </a:r>
                <a:r>
                  <a:rPr lang="zh-CN" altLang="zh-CN" sz="2400" kern="100" dirty="0">
                    <a:effectLst/>
                    <a:latin typeface="Times New Roman" panose="02020603050405020304" pitchFamily="18" charset="0"/>
                  </a:rPr>
                  <a:t>进行一些变换还可以使得</a:t>
                </a:r>
                <a:endParaRPr lang="zh-CN" altLang="zh-CN" sz="2400" kern="100" dirty="0">
                  <a:effectLst/>
                  <a:latin typeface="Times New Roman" panose="02020603050405020304" pitchFamily="18" charset="0"/>
                </a:endParaRPr>
              </a:p>
              <a:p>
                <a:pPr algn="just">
                  <a:lnSpc>
                    <a:spcPct val="150000"/>
                  </a:lnSpc>
                </a:pPr>
                <a:r>
                  <a:rPr lang="en-US" altLang="zh-CN" sz="2400" kern="100" dirty="0">
                    <a:effectLst/>
                    <a:latin typeface="Times New Roman" panose="02020603050405020304" pitchFamily="18" charset="0"/>
                  </a:rPr>
                  <a:t>			              </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𝐴</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𝑆</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𝐼</m:t>
                    </m:r>
                  </m:oMath>
                </a14:m>
                <a:r>
                  <a:rPr lang="zh-CN" altLang="zh-CN" sz="2400" kern="100" dirty="0">
                    <a:effectLst/>
                    <a:latin typeface="Times New Roman" panose="02020603050405020304" pitchFamily="18" charset="0"/>
                  </a:rPr>
                  <a:t>，</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𝐴</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𝑍</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0</m:t>
                    </m:r>
                  </m:oMath>
                </a14:m>
                <a:r>
                  <a:rPr lang="en-US" altLang="zh-CN" sz="2400" kern="100" dirty="0">
                    <a:effectLst/>
                    <a:latin typeface="宋体" panose="02010600030101010101" pitchFamily="2" charset="-122"/>
                  </a:rPr>
                  <a:t>				  </a:t>
                </a:r>
                <a:endParaRPr lang="en-US" altLang="zh-CN" sz="2400" kern="100" dirty="0">
                  <a:effectLst/>
                  <a:latin typeface="宋体" panose="02010600030101010101" pitchFamily="2" charset="-122"/>
                </a:endParaRPr>
              </a:p>
              <a:p>
                <a:pPr algn="just">
                  <a:lnSpc>
                    <a:spcPct val="150000"/>
                  </a:lnSpc>
                </a:pPr>
                <a:r>
                  <a:rPr lang="zh-CN" altLang="zh-CN" sz="2400" dirty="0">
                    <a:effectLst/>
                    <a:cs typeface="Times New Roman" panose="02020603050405020304" pitchFamily="18" charset="0"/>
                  </a:rPr>
                  <a:t>推</a:t>
                </a:r>
                <a:r>
                  <a:rPr lang="zh-CN" altLang="en-US" sz="2400" dirty="0">
                    <a:effectLst/>
                    <a:cs typeface="Times New Roman" panose="02020603050405020304" pitchFamily="18" charset="0"/>
                  </a:rPr>
                  <a:t>导</a:t>
                </a:r>
                <a:r>
                  <a:rPr lang="zh-CN" altLang="zh-CN" sz="2400" dirty="0">
                    <a:effectLst/>
                    <a:cs typeface="Times New Roman" panose="02020603050405020304" pitchFamily="18" charset="0"/>
                  </a:rPr>
                  <a:t>出</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𝑥</m:t>
                    </m:r>
                    <m:r>
                      <a:rPr lang="en-US" altLang="zh-CN" sz="2400" i="1">
                        <a:effectLst/>
                        <a:latin typeface="Cambria Math" panose="02040503050406030204" pitchFamily="18" charset="0"/>
                        <a:cs typeface="Times New Roman" panose="02020603050405020304" pitchFamily="18" charset="0"/>
                      </a:rPr>
                      <m:t>=</m:t>
                    </m:r>
                    <m:r>
                      <a:rPr lang="en-US" altLang="zh-CN" sz="2400" i="1">
                        <a:effectLst/>
                        <a:latin typeface="Cambria Math" panose="02040503050406030204" pitchFamily="18" charset="0"/>
                        <a:cs typeface="Times New Roman" panose="02020603050405020304" pitchFamily="18" charset="0"/>
                      </a:rPr>
                      <m:t>𝑆𝑐</m:t>
                    </m:r>
                  </m:oMath>
                </a14:m>
                <a:r>
                  <a:rPr lang="zh-CN" altLang="zh-CN" sz="2400" dirty="0">
                    <a:effectLst/>
                    <a:cs typeface="Times New Roman" panose="02020603050405020304" pitchFamily="18" charset="0"/>
                  </a:rPr>
                  <a:t>是方程</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cs typeface="Times New Roman" panose="02020603050405020304" pitchFamily="18" charset="0"/>
                          </a:rPr>
                          <m:t>𝐴</m:t>
                        </m:r>
                      </m:e>
                      <m:sup>
                        <m:r>
                          <a:rPr lang="en-US" altLang="zh-CN" sz="2400" i="1">
                            <a:effectLst/>
                            <a:latin typeface="Cambria Math" panose="02040503050406030204" pitchFamily="18" charset="0"/>
                            <a:cs typeface="Times New Roman" panose="02020603050405020304" pitchFamily="18" charset="0"/>
                          </a:rPr>
                          <m:t>𝑇</m:t>
                        </m:r>
                      </m:sup>
                    </m:sSup>
                    <m:r>
                      <a:rPr lang="en-US" altLang="zh-CN" sz="2400" i="1">
                        <a:effectLst/>
                        <a:latin typeface="Cambria Math" panose="02040503050406030204" pitchFamily="18" charset="0"/>
                        <a:cs typeface="Times New Roman" panose="02020603050405020304" pitchFamily="18" charset="0"/>
                      </a:rPr>
                      <m:t>𝑥</m:t>
                    </m:r>
                    <m:r>
                      <a:rPr lang="en-US" altLang="zh-CN" sz="2400" i="1">
                        <a:effectLst/>
                        <a:latin typeface="Cambria Math" panose="02040503050406030204" pitchFamily="18" charset="0"/>
                        <a:cs typeface="Times New Roman" panose="02020603050405020304" pitchFamily="18" charset="0"/>
                      </a:rPr>
                      <m:t>=</m:t>
                    </m:r>
                    <m:r>
                      <a:rPr lang="en-US" altLang="zh-CN" sz="2400" b="0" i="1" smtClean="0">
                        <a:effectLst/>
                        <a:latin typeface="Cambria Math" panose="02040503050406030204" pitchFamily="18" charset="0"/>
                        <a:cs typeface="Times New Roman" panose="02020603050405020304" pitchFamily="18" charset="0"/>
                      </a:rPr>
                      <m:t>𝑐</m:t>
                    </m:r>
                  </m:oMath>
                </a14:m>
                <a:r>
                  <a:rPr lang="zh-CN" altLang="zh-CN" sz="2400" dirty="0">
                    <a:effectLst/>
                    <a:cs typeface="Times New Roman" panose="02020603050405020304" pitchFamily="18" charset="0"/>
                  </a:rPr>
                  <a:t>的一个可行解。</a:t>
                </a:r>
                <a:endParaRPr lang="zh-CN" altLang="en-US" sz="2400" dirty="0"/>
              </a:p>
            </p:txBody>
          </p:sp>
        </mc:Choice>
        <mc:Fallback>
          <p:sp>
            <p:nvSpPr>
              <p:cNvPr id="4" name="文本框 3"/>
              <p:cNvSpPr txBox="1">
                <a:spLocks noRot="1" noChangeAspect="1" noMove="1" noResize="1" noEditPoints="1" noAdjustHandles="1" noChangeArrowheads="1" noChangeShapeType="1" noTextEdit="1"/>
              </p:cNvSpPr>
              <p:nvPr/>
            </p:nvSpPr>
            <p:spPr>
              <a:xfrm>
                <a:off x="551384" y="692696"/>
                <a:ext cx="10657184" cy="5560561"/>
              </a:xfrm>
              <a:prstGeom prst="rect">
                <a:avLst/>
              </a:prstGeom>
              <a:blipFill rotWithShape="1">
                <a:blip r:embed="rId1"/>
                <a:stretch>
                  <a:fillRect l="-2" t="-10" r="2" b="-883"/>
                </a:stretch>
              </a:blipFill>
            </p:spPr>
            <p:txBody>
              <a:bodyPr/>
              <a:lstStyle/>
              <a:p>
                <a:r>
                  <a:rPr lang="zh-CN" altLang="en-US">
                    <a:noFill/>
                  </a:rPr>
                  <a:t> </a:t>
                </a:r>
              </a:p>
            </p:txBody>
          </p:sp>
        </mc:Fallback>
      </mc:AlternateContent>
      <p:pic>
        <p:nvPicPr>
          <p:cNvPr id="5" name="图片 4"/>
          <p:cNvPicPr>
            <a:picLocks noChangeAspect="1"/>
          </p:cNvPicPr>
          <p:nvPr/>
        </p:nvPicPr>
        <p:blipFill>
          <a:blip r:embed="rId2"/>
          <a:stretch>
            <a:fillRect/>
          </a:stretch>
        </p:blipFill>
        <p:spPr>
          <a:xfrm>
            <a:off x="4871864" y="149319"/>
            <a:ext cx="5605066" cy="629446"/>
          </a:xfrm>
          <a:prstGeom prst="rect">
            <a:avLst/>
          </a:prstGeom>
        </p:spPr>
      </p:pic>
      <p:pic>
        <p:nvPicPr>
          <p:cNvPr id="7" name="图片 6"/>
          <p:cNvPicPr>
            <a:picLocks noChangeAspect="1"/>
          </p:cNvPicPr>
          <p:nvPr/>
        </p:nvPicPr>
        <p:blipFill>
          <a:blip r:embed="rId3"/>
          <a:stretch>
            <a:fillRect/>
          </a:stretch>
        </p:blipFill>
        <p:spPr>
          <a:xfrm>
            <a:off x="7392144" y="5955775"/>
            <a:ext cx="4485680" cy="635278"/>
          </a:xfrm>
          <a:prstGeom prst="rect">
            <a:avLst/>
          </a:prstGeom>
        </p:spPr>
      </p:pic>
      <p:pic>
        <p:nvPicPr>
          <p:cNvPr id="9" name="图片 8"/>
          <p:cNvPicPr>
            <a:picLocks noChangeAspect="1"/>
          </p:cNvPicPr>
          <p:nvPr/>
        </p:nvPicPr>
        <p:blipFill>
          <a:blip r:embed="rId4"/>
          <a:stretch>
            <a:fillRect/>
          </a:stretch>
        </p:blipFill>
        <p:spPr>
          <a:xfrm>
            <a:off x="4737720" y="778765"/>
            <a:ext cx="7140104" cy="11387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767408" y="836712"/>
                <a:ext cx="10657184" cy="5451044"/>
              </a:xfrm>
              <a:prstGeom prst="rect">
                <a:avLst/>
              </a:prstGeom>
              <a:noFill/>
            </p:spPr>
            <p:txBody>
              <a:bodyPr wrap="square" rtlCol="0">
                <a:spAutoFit/>
              </a:bodyPr>
              <a:lstStyle/>
              <a:p>
                <a:pPr algn="just">
                  <a:lnSpc>
                    <a:spcPct val="150000"/>
                  </a:lnSpc>
                </a:pPr>
                <a:r>
                  <a:rPr lang="en-US" altLang="zh-CN" sz="2400" kern="100" dirty="0">
                    <a:latin typeface="Times New Roman" panose="02020603050405020304" pitchFamily="18" charset="0"/>
                  </a:rPr>
                  <a:t>       </a:t>
                </a:r>
                <a:r>
                  <a:rPr lang="zh-CN" altLang="zh-CN" sz="2400" kern="100" dirty="0">
                    <a:effectLst/>
                    <a:latin typeface="Times New Roman" panose="02020603050405020304" pitchFamily="18" charset="0"/>
                  </a:rPr>
                  <a:t>设</a:t>
                </a:r>
                <a14:m>
                  <m:oMath xmlns:m="http://schemas.openxmlformats.org/officeDocument/2006/math">
                    <m:r>
                      <a:rPr lang="en-US" altLang="zh-CN" sz="2400" i="1" kern="100">
                        <a:latin typeface="Cambria Math" panose="02040503050406030204" pitchFamily="18" charset="0"/>
                      </a:rPr>
                      <m:t>𝑑</m:t>
                    </m:r>
                  </m:oMath>
                </a14:m>
                <a:r>
                  <a:rPr lang="zh-CN" altLang="zh-CN" sz="2400" kern="100" dirty="0">
                    <a:effectLst/>
                    <a:latin typeface="Times New Roman" panose="02020603050405020304" pitchFamily="18" charset="0"/>
                  </a:rPr>
                  <a:t>是齐次方程</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𝐴</m:t>
                        </m:r>
                      </m:e>
                      <m:sup>
                        <m:r>
                          <a:rPr lang="en-US" altLang="zh-CN" sz="2400" i="1" kern="100">
                            <a:effectLst/>
                            <a:latin typeface="Cambria Math" panose="02040503050406030204" pitchFamily="18" charset="0"/>
                          </a:rPr>
                          <m:t>𝑇</m:t>
                        </m:r>
                      </m:sup>
                    </m:sSup>
                    <m:r>
                      <a:rPr lang="en-US" altLang="zh-CN" sz="2400" b="0" i="1" kern="100" smtClean="0">
                        <a:effectLst/>
                        <a:latin typeface="Cambria Math" panose="02040503050406030204" pitchFamily="18" charset="0"/>
                      </a:rPr>
                      <m:t>𝑥</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0</m:t>
                    </m:r>
                  </m:oMath>
                </a14:m>
                <a:r>
                  <a:rPr lang="zh-CN" altLang="zh-CN" sz="2400" kern="100" dirty="0">
                    <a:effectLst/>
                    <a:latin typeface="Times New Roman" panose="02020603050405020304" pitchFamily="18" charset="0"/>
                  </a:rPr>
                  <a:t>的通解，则方程</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𝐴</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𝑥</m:t>
                    </m:r>
                    <m:r>
                      <a:rPr lang="en-US" altLang="zh-CN" sz="2400" i="1" kern="100">
                        <a:effectLst/>
                        <a:latin typeface="Cambria Math" panose="02040503050406030204" pitchFamily="18" charset="0"/>
                      </a:rPr>
                      <m:t>=</m:t>
                    </m:r>
                  </m:oMath>
                </a14:m>
                <a:r>
                  <a:rPr lang="en-US" altLang="zh-CN" sz="2400" kern="100" dirty="0">
                    <a:effectLst/>
                    <a:latin typeface="Times New Roman" panose="02020603050405020304" pitchFamily="18" charset="0"/>
                  </a:rPr>
                  <a:t>c</a:t>
                </a:r>
                <a:r>
                  <a:rPr lang="zh-CN" altLang="zh-CN" sz="2400" kern="100" dirty="0">
                    <a:effectLst/>
                    <a:latin typeface="Times New Roman" panose="02020603050405020304" pitchFamily="18" charset="0"/>
                  </a:rPr>
                  <a:t>的通解为</a:t>
                </a:r>
                <a14:m>
                  <m:oMath xmlns:m="http://schemas.openxmlformats.org/officeDocument/2006/math">
                    <m:r>
                      <a:rPr lang="en-US" altLang="zh-CN" sz="2400" i="1" kern="100">
                        <a:effectLst/>
                        <a:latin typeface="Cambria Math" panose="02040503050406030204" pitchFamily="18" charset="0"/>
                      </a:rPr>
                      <m:t>𝑥</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𝑆𝑐</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𝑑</m:t>
                    </m:r>
                  </m:oMath>
                </a14:m>
                <a:r>
                  <a:rPr lang="zh-CN" altLang="en-US" sz="2400" kern="100" dirty="0">
                    <a:effectLst/>
                    <a:latin typeface="Times New Roman" panose="02020603050405020304" pitchFamily="18" charset="0"/>
                  </a:rPr>
                  <a:t>。</a:t>
                </a:r>
                <a:endParaRPr lang="zh-CN" altLang="zh-CN" sz="2400" kern="100" dirty="0">
                  <a:effectLst/>
                  <a:latin typeface="Times New Roman" panose="02020603050405020304" pitchFamily="18" charset="0"/>
                </a:endParaRPr>
              </a:p>
              <a:p>
                <a:pPr indent="355600" algn="just">
                  <a:lnSpc>
                    <a:spcPct val="150000"/>
                  </a:lnSpc>
                </a:pPr>
                <a:r>
                  <a:rPr lang="en-US" altLang="zh-CN" sz="2400" kern="100" dirty="0">
                    <a:effectLst/>
                    <a:latin typeface="Times New Roman" panose="02020603050405020304" pitchFamily="18" charset="0"/>
                  </a:rPr>
                  <a:t>  </a:t>
                </a:r>
                <a:r>
                  <a:rPr lang="zh-CN" altLang="zh-CN" sz="2400" kern="100" dirty="0">
                    <a:effectLst/>
                    <a:latin typeface="Times New Roman" panose="02020603050405020304" pitchFamily="18" charset="0"/>
                  </a:rPr>
                  <a:t>由于</a:t>
                </a:r>
                <a:r>
                  <a:rPr lang="en-US" altLang="zh-CN" sz="2400" i="1" kern="100" dirty="0">
                    <a:effectLst/>
                    <a:latin typeface="Times New Roman" panose="02020603050405020304" pitchFamily="18" charset="0"/>
                  </a:rPr>
                  <a:t>Z</a:t>
                </a:r>
                <a:r>
                  <a:rPr lang="zh-CN" altLang="zh-CN" sz="2400" kern="100" dirty="0">
                    <a:effectLst/>
                    <a:latin typeface="Times New Roman" panose="02020603050405020304" pitchFamily="18" charset="0"/>
                  </a:rPr>
                  <a:t>的列是零空间</a:t>
                </a:r>
                <a:r>
                  <a:rPr lang="en-US" altLang="zh-CN" sz="2400" kern="100" dirty="0">
                    <a:effectLst/>
                    <a:latin typeface="Times New Roman" panose="02020603050405020304" pitchFamily="18" charset="0"/>
                  </a:rPr>
                  <a:t>Null(</a:t>
                </a:r>
                <a:r>
                  <a:rPr lang="en-US" altLang="zh-CN" sz="2400" i="1" kern="100" dirty="0">
                    <a:effectLst/>
                    <a:latin typeface="Times New Roman" panose="02020603050405020304" pitchFamily="18" charset="0"/>
                  </a:rPr>
                  <a:t>A</a:t>
                </a:r>
                <a:r>
                  <a:rPr lang="en-US" altLang="zh-CN" sz="2400" kern="100" baseline="30000" dirty="0">
                    <a:effectLst/>
                    <a:latin typeface="Times New Roman" panose="02020603050405020304" pitchFamily="18" charset="0"/>
                  </a:rPr>
                  <a:t>T</a:t>
                </a:r>
                <a:r>
                  <a:rPr lang="en-US" altLang="zh-CN" sz="2400" kern="100" dirty="0">
                    <a:effectLst/>
                    <a:latin typeface="Times New Roman" panose="02020603050405020304" pitchFamily="18" charset="0"/>
                  </a:rPr>
                  <a:t>)</a:t>
                </a:r>
                <a:r>
                  <a:rPr lang="zh-CN" altLang="zh-CN" sz="2400" kern="100" dirty="0">
                    <a:effectLst/>
                    <a:latin typeface="Times New Roman" panose="02020603050405020304" pitchFamily="18" charset="0"/>
                  </a:rPr>
                  <a:t>中的一组基，因此</a:t>
                </a:r>
                <a14:m>
                  <m:oMath xmlns:m="http://schemas.openxmlformats.org/officeDocument/2006/math">
                    <m:r>
                      <a:rPr lang="en-US" altLang="zh-CN" sz="2400" i="1" kern="100" smtClean="0">
                        <a:effectLst/>
                        <a:latin typeface="Cambria Math" panose="02040503050406030204" pitchFamily="18" charset="0"/>
                      </a:rPr>
                      <m:t>𝑑</m:t>
                    </m:r>
                  </m:oMath>
                </a14:m>
                <a:r>
                  <a:rPr lang="zh-CN" altLang="zh-CN" sz="2400" kern="100" dirty="0">
                    <a:effectLst/>
                    <a:latin typeface="Times New Roman" panose="02020603050405020304" pitchFamily="18" charset="0"/>
                  </a:rPr>
                  <a:t>可以表示成</a:t>
                </a:r>
                <a:endParaRPr lang="zh-CN" altLang="zh-CN" sz="2400" kern="100" dirty="0">
                  <a:effectLst/>
                  <a:latin typeface="Times New Roman" panose="02020603050405020304" pitchFamily="18" charset="0"/>
                </a:endParaRPr>
              </a:p>
              <a:p>
                <a:pPr indent="133350" algn="just">
                  <a:lnSpc>
                    <a:spcPct val="150000"/>
                  </a:lnSpc>
                </a:pPr>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rPr>
                        <m:t>𝑑</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𝑍𝑦</m:t>
                      </m:r>
                      <m:r>
                        <a:rPr lang="en-US" altLang="zh-CN" sz="2400" i="1" kern="100">
                          <a:effectLst/>
                          <a:latin typeface="Cambria Math" panose="02040503050406030204" pitchFamily="18" charset="0"/>
                        </a:rPr>
                        <m:t>=</m:t>
                      </m:r>
                      <m:nary>
                        <m:naryPr>
                          <m:chr m:val="∑"/>
                          <m:ctrlPr>
                            <a:rPr lang="zh-CN" altLang="zh-CN" sz="2400" i="1" kern="100">
                              <a:effectLst/>
                              <a:latin typeface="Cambria Math" panose="02040503050406030204" pitchFamily="18" charset="0"/>
                              <a:ea typeface="Cambria Math" panose="02040503050406030204" pitchFamily="18" charset="0"/>
                            </a:rPr>
                          </m:ctrlPr>
                        </m:naryPr>
                        <m:sub>
                          <m:r>
                            <a:rPr lang="en-US" altLang="zh-CN" sz="2400" i="1" kern="100">
                              <a:effectLst/>
                              <a:latin typeface="Cambria Math" panose="02040503050406030204" pitchFamily="18" charset="0"/>
                            </a:rPr>
                            <m:t>𝑖</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1</m:t>
                          </m:r>
                        </m:sub>
                        <m:sup>
                          <m:r>
                            <a:rPr lang="en-US" altLang="zh-CN" sz="2400" i="1" kern="100">
                              <a:effectLst/>
                              <a:latin typeface="Cambria Math" panose="02040503050406030204" pitchFamily="18" charset="0"/>
                            </a:rPr>
                            <m:t>𝑛</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rPr>
                            <m:t>𝑚</m:t>
                          </m:r>
                        </m:sup>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𝑦</m:t>
                              </m:r>
                            </m:e>
                            <m:sub>
                              <m:r>
                                <a:rPr lang="en-US" altLang="zh-CN" sz="2400" i="1" kern="100">
                                  <a:effectLst/>
                                  <a:latin typeface="Cambria Math" panose="02040503050406030204" pitchFamily="18" charset="0"/>
                                </a:rPr>
                                <m:t>𝑖</m:t>
                              </m:r>
                            </m:sub>
                          </m:sSub>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𝑧</m:t>
                              </m:r>
                            </m:e>
                            <m:sub>
                              <m:r>
                                <a:rPr lang="en-US" altLang="zh-CN" sz="2400" i="1" kern="100">
                                  <a:effectLst/>
                                  <a:latin typeface="Cambria Math" panose="02040503050406030204" pitchFamily="18" charset="0"/>
                                </a:rPr>
                                <m:t>𝑖</m:t>
                              </m:r>
                            </m:sub>
                          </m:sSub>
                        </m:e>
                      </m:nary>
                    </m:oMath>
                  </m:oMathPara>
                </a14:m>
                <a:endParaRPr lang="zh-CN" altLang="zh-CN" sz="2400" kern="100" dirty="0">
                  <a:effectLst/>
                  <a:latin typeface="Times New Roman" panose="02020603050405020304" pitchFamily="18" charset="0"/>
                </a:endParaRPr>
              </a:p>
              <a:p>
                <a:pPr algn="just">
                  <a:lnSpc>
                    <a:spcPct val="150000"/>
                  </a:lnSpc>
                </a:pPr>
                <a:r>
                  <a:rPr lang="zh-CN" altLang="zh-CN" sz="2400" kern="100" dirty="0">
                    <a:effectLst/>
                    <a:latin typeface="Times New Roman" panose="02020603050405020304" pitchFamily="18" charset="0"/>
                  </a:rPr>
                  <a:t>所以，约束方程</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𝐴</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𝑥</m:t>
                    </m:r>
                    <m:r>
                      <a:rPr lang="en-US" altLang="zh-CN" sz="2400" i="1" kern="100">
                        <a:effectLst/>
                        <a:latin typeface="Cambria Math" panose="02040503050406030204" pitchFamily="18" charset="0"/>
                      </a:rPr>
                      <m:t>=</m:t>
                    </m:r>
                    <m:r>
                      <a:rPr lang="en-US" altLang="zh-CN" sz="2400" i="1" kern="100">
                        <a:latin typeface="Cambria Math" panose="02040503050406030204" pitchFamily="18" charset="0"/>
                      </a:rPr>
                      <m:t>𝑐</m:t>
                    </m:r>
                  </m:oMath>
                </a14:m>
                <a:r>
                  <a:rPr lang="zh-CN" altLang="zh-CN" sz="2400" kern="100" dirty="0">
                    <a:effectLst/>
                    <a:latin typeface="Times New Roman" panose="02020603050405020304" pitchFamily="18" charset="0"/>
                  </a:rPr>
                  <a:t>的通解</a:t>
                </a:r>
                <a:endParaRPr lang="zh-CN" altLang="zh-CN" sz="2400" kern="100" dirty="0">
                  <a:effectLst/>
                  <a:latin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rPr>
                        <m:t>𝑥</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𝑆𝑐</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𝑍𝑦</m:t>
                      </m:r>
                    </m:oMath>
                  </m:oMathPara>
                </a14:m>
                <a:endParaRPr lang="zh-CN" altLang="zh-CN" sz="2400" kern="100" dirty="0">
                  <a:effectLst/>
                  <a:latin typeface="Times New Roman" panose="02020603050405020304" pitchFamily="18" charset="0"/>
                </a:endParaRPr>
              </a:p>
              <a:p>
                <a:pPr algn="just">
                  <a:lnSpc>
                    <a:spcPct val="150000"/>
                  </a:lnSpc>
                </a:pPr>
                <a:r>
                  <a:rPr lang="zh-CN" altLang="zh-CN" sz="2400" kern="100" dirty="0">
                    <a:effectLst/>
                    <a:latin typeface="Times New Roman" panose="02020603050405020304" pitchFamily="18" charset="0"/>
                  </a:rPr>
                  <a:t>带入目标函数化为无约束问题，即</a:t>
                </a:r>
                <a:endParaRPr lang="zh-CN" altLang="zh-CN" sz="2400" kern="100" dirty="0">
                  <a:effectLst/>
                  <a:latin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limLow>
                        <m:limLowPr>
                          <m:ctrlPr>
                            <a:rPr lang="zh-CN" altLang="zh-CN" sz="2400" i="1" kern="100">
                              <a:effectLst/>
                              <a:latin typeface="Cambria Math" panose="02040503050406030204" pitchFamily="18" charset="0"/>
                              <a:ea typeface="Cambria Math" panose="02040503050406030204" pitchFamily="18" charset="0"/>
                            </a:rPr>
                          </m:ctrlPr>
                        </m:limLowPr>
                        <m:e>
                          <m:r>
                            <a:rPr lang="en-US" altLang="zh-CN" sz="2400" i="1" kern="100">
                              <a:effectLst/>
                              <a:latin typeface="Cambria Math" panose="02040503050406030204" pitchFamily="18" charset="0"/>
                            </a:rPr>
                            <m:t>𝑚𝑖𝑛</m:t>
                          </m:r>
                        </m:e>
                        <m:lim>
                          <m:r>
                            <a:rPr lang="en-US" altLang="zh-CN" sz="2400" i="1" kern="100">
                              <a:effectLst/>
                              <a:latin typeface="Cambria Math" panose="02040503050406030204" pitchFamily="18" charset="0"/>
                            </a:rPr>
                            <m:t>𝑦</m:t>
                          </m:r>
                        </m:lim>
                      </m:limLow>
                      <m:bar>
                        <m:barPr>
                          <m:pos m:val="top"/>
                          <m:ctrlPr>
                            <a:rPr lang="zh-CN" altLang="zh-CN" sz="2400" i="1" kern="100">
                              <a:effectLst/>
                              <a:latin typeface="Cambria Math" panose="02040503050406030204" pitchFamily="18" charset="0"/>
                              <a:ea typeface="Cambria Math" panose="02040503050406030204" pitchFamily="18" charset="0"/>
                            </a:rPr>
                          </m:ctrlPr>
                        </m:barPr>
                        <m:e>
                          <m:r>
                            <a:rPr lang="en-US" altLang="zh-CN" sz="2400" i="1" kern="100">
                              <a:effectLst/>
                              <a:latin typeface="Cambria Math" panose="02040503050406030204" pitchFamily="18" charset="0"/>
                            </a:rPr>
                            <m:t>𝑓</m:t>
                          </m:r>
                        </m:e>
                      </m:ba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𝑦</m:t>
                      </m:r>
                      <m:r>
                        <a:rPr lang="en-US" altLang="zh-CN" sz="2400" i="1" kern="100">
                          <a:effectLst/>
                          <a:latin typeface="Cambria Math" panose="02040503050406030204" pitchFamily="18" charset="0"/>
                        </a:rPr>
                        <m:t>)=</m:t>
                      </m:r>
                      <m:f>
                        <m:fPr>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rPr>
                            <m:t>1</m:t>
                          </m:r>
                        </m:num>
                        <m:den>
                          <m:r>
                            <a:rPr lang="en-US" altLang="zh-CN" sz="2400" i="1" kern="100">
                              <a:effectLst/>
                              <a:latin typeface="Cambria Math" panose="02040503050406030204" pitchFamily="18" charset="0"/>
                            </a:rPr>
                            <m:t>2</m:t>
                          </m:r>
                        </m:den>
                      </m:f>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𝑦</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𝑍</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𝐺𝑍</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𝑦</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𝑟</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𝐺𝑆𝑐</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𝑍𝑦</m:t>
                      </m:r>
                      <m:r>
                        <a:rPr lang="en-US" altLang="zh-CN" sz="2400" i="1" kern="100">
                          <a:effectLst/>
                          <a:latin typeface="Cambria Math" panose="02040503050406030204" pitchFamily="18" charset="0"/>
                        </a:rPr>
                        <m:t>+</m:t>
                      </m:r>
                      <m:f>
                        <m:fPr>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rPr>
                            <m:t>1</m:t>
                          </m:r>
                        </m:num>
                        <m:den>
                          <m:r>
                            <a:rPr lang="en-US" altLang="zh-CN" sz="2400" i="1" kern="100">
                              <a:effectLst/>
                              <a:latin typeface="Cambria Math" panose="02040503050406030204" pitchFamily="18" charset="0"/>
                            </a:rPr>
                            <m:t>2</m:t>
                          </m:r>
                        </m:den>
                      </m:f>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2</m:t>
                      </m:r>
                      <m:r>
                        <a:rPr lang="en-US" altLang="zh-CN" sz="2400" i="1" kern="100">
                          <a:effectLst/>
                          <a:latin typeface="Cambria Math" panose="02040503050406030204" pitchFamily="18" charset="0"/>
                        </a:rPr>
                        <m:t>𝑟</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𝐺𝑆𝑐</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𝑆</m:t>
                      </m:r>
                      <m:r>
                        <a:rPr lang="en-US" altLang="zh-CN" sz="2400" i="1" kern="100">
                          <a:latin typeface="Cambria Math" panose="02040503050406030204" pitchFamily="18" charset="0"/>
                        </a:rPr>
                        <m:t>𝑐</m:t>
                      </m:r>
                    </m:oMath>
                  </m:oMathPara>
                </a14:m>
                <a:endParaRPr lang="zh-CN" altLang="zh-CN" sz="2400" kern="100" dirty="0">
                  <a:effectLst/>
                  <a:latin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767408" y="836712"/>
                <a:ext cx="10657184" cy="5451044"/>
              </a:xfrm>
              <a:prstGeom prst="rect">
                <a:avLst/>
              </a:prstGeom>
              <a:blipFill rotWithShape="1">
                <a:blip r:embed="rId1"/>
                <a:stretch>
                  <a:fillRect l="-3" t="-8" r="3" b="11"/>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623392" y="1052736"/>
                <a:ext cx="10801200" cy="4361130"/>
              </a:xfrm>
              <a:prstGeom prst="rect">
                <a:avLst/>
              </a:prstGeom>
              <a:noFill/>
            </p:spPr>
            <p:txBody>
              <a:bodyPr wrap="square" rtlCol="0">
                <a:spAutoFit/>
              </a:bodyPr>
              <a:lstStyle/>
              <a:p>
                <a:pPr algn="just">
                  <a:lnSpc>
                    <a:spcPct val="150000"/>
                  </a:lnSpc>
                </a:pPr>
                <a:r>
                  <a:rPr lang="en-US" altLang="zh-CN" sz="2400" kern="100" dirty="0">
                    <a:effectLst/>
                    <a:latin typeface="Times New Roman" panose="02020603050405020304" pitchFamily="18" charset="0"/>
                  </a:rPr>
                  <a:t>       </a:t>
                </a:r>
                <a:r>
                  <a:rPr lang="zh-CN" altLang="zh-CN" sz="2400" kern="100" dirty="0">
                    <a:effectLst/>
                    <a:latin typeface="Times New Roman" panose="02020603050405020304" pitchFamily="18" charset="0"/>
                  </a:rPr>
                  <a:t>若</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𝑍</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𝐺𝑍</m:t>
                    </m:r>
                  </m:oMath>
                </a14:m>
                <a:r>
                  <a:rPr lang="zh-CN" altLang="zh-CN" sz="2400" kern="100" dirty="0">
                    <a:effectLst/>
                    <a:latin typeface="Times New Roman" panose="02020603050405020304" pitchFamily="18" charset="0"/>
                  </a:rPr>
                  <a:t>是正定的，则</a:t>
                </a:r>
                <a14:m>
                  <m:oMath xmlns:m="http://schemas.openxmlformats.org/officeDocument/2006/math">
                    <m:limLow>
                      <m:limLowPr>
                        <m:ctrlPr>
                          <a:rPr lang="zh-CN" altLang="zh-CN" sz="2400" i="1" kern="100">
                            <a:effectLst/>
                            <a:latin typeface="Cambria Math" panose="02040503050406030204" pitchFamily="18" charset="0"/>
                            <a:ea typeface="Cambria Math" panose="02040503050406030204" pitchFamily="18" charset="0"/>
                          </a:rPr>
                        </m:ctrlPr>
                      </m:limLowPr>
                      <m:e>
                        <m:r>
                          <a:rPr lang="en-US" altLang="zh-CN" sz="2400" i="1" kern="100">
                            <a:effectLst/>
                            <a:latin typeface="Cambria Math" panose="02040503050406030204" pitchFamily="18" charset="0"/>
                          </a:rPr>
                          <m:t>𝑚𝑖𝑛</m:t>
                        </m:r>
                      </m:e>
                      <m:lim>
                        <m:r>
                          <a:rPr lang="en-US" altLang="zh-CN" sz="2400" i="1" kern="100">
                            <a:effectLst/>
                            <a:latin typeface="Cambria Math" panose="02040503050406030204" pitchFamily="18" charset="0"/>
                          </a:rPr>
                          <m:t>𝑦</m:t>
                        </m:r>
                      </m:lim>
                    </m:limLow>
                    <m:bar>
                      <m:barPr>
                        <m:pos m:val="top"/>
                        <m:ctrlPr>
                          <a:rPr lang="zh-CN" altLang="zh-CN" sz="2400" i="1" kern="100">
                            <a:effectLst/>
                            <a:latin typeface="Cambria Math" panose="02040503050406030204" pitchFamily="18" charset="0"/>
                            <a:ea typeface="Cambria Math" panose="02040503050406030204" pitchFamily="18" charset="0"/>
                          </a:rPr>
                        </m:ctrlPr>
                      </m:barPr>
                      <m:e>
                        <m:r>
                          <a:rPr lang="en-US" altLang="zh-CN" sz="2400" i="1" kern="100">
                            <a:effectLst/>
                            <a:latin typeface="Cambria Math" panose="02040503050406030204" pitchFamily="18" charset="0"/>
                          </a:rPr>
                          <m:t>𝑓</m:t>
                        </m:r>
                      </m:e>
                    </m:ba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𝑦</m:t>
                    </m:r>
                    <m:r>
                      <a:rPr lang="en-US" altLang="zh-CN" sz="2400" i="1" kern="100">
                        <a:effectLst/>
                        <a:latin typeface="Cambria Math" panose="02040503050406030204" pitchFamily="18" charset="0"/>
                      </a:rPr>
                      <m:t>)</m:t>
                    </m:r>
                  </m:oMath>
                </a14:m>
                <a:r>
                  <a:rPr lang="zh-CN" altLang="zh-CN" sz="2400" kern="100" dirty="0">
                    <a:effectLst/>
                    <a:latin typeface="Times New Roman" panose="02020603050405020304" pitchFamily="18" charset="0"/>
                  </a:rPr>
                  <a:t>有唯一解，可通过求解线性方程组</a:t>
                </a:r>
                <a:endParaRPr lang="zh-CN" altLang="zh-CN" sz="2400" kern="100" dirty="0">
                  <a:effectLst/>
                  <a:latin typeface="Times New Roman" panose="02020603050405020304" pitchFamily="18" charset="0"/>
                </a:endParaRPr>
              </a:p>
              <a:p>
                <a:pPr algn="just">
                  <a:lnSpc>
                    <a:spcPct val="150000"/>
                  </a:lnSpc>
                </a:pPr>
                <a:r>
                  <a:rPr lang="en-US" altLang="zh-CN" sz="2400" kern="100" dirty="0">
                    <a:effectLst/>
                    <a:latin typeface="宋体" panose="02010600030101010101" pitchFamily="2" charset="-122"/>
                  </a:rPr>
                  <a:t>				</a:t>
                </a:r>
                <a14:m>
                  <m:oMath xmlns:m="http://schemas.openxmlformats.org/officeDocument/2006/math">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𝑍</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𝐺𝑍</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𝑦</m:t>
                    </m:r>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𝑍</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𝐺𝑆𝑐</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𝑟</m:t>
                    </m:r>
                    <m:r>
                      <a:rPr lang="en-US" altLang="zh-CN" sz="2400" i="1" kern="100">
                        <a:effectLst/>
                        <a:latin typeface="Cambria Math" panose="02040503050406030204" pitchFamily="18" charset="0"/>
                      </a:rPr>
                      <m:t>)</m:t>
                    </m:r>
                  </m:oMath>
                </a14:m>
                <a:r>
                  <a:rPr lang="en-US" altLang="zh-CN" sz="2400" kern="100" dirty="0">
                    <a:effectLst/>
                    <a:latin typeface="宋体" panose="02010600030101010101" pitchFamily="2" charset="-122"/>
                  </a:rPr>
                  <a:t>		  	   </a:t>
                </a:r>
                <a:endParaRPr lang="zh-CN" altLang="zh-CN" sz="2400" kern="100" dirty="0">
                  <a:effectLst/>
                  <a:latin typeface="Times New Roman" panose="02020603050405020304" pitchFamily="18" charset="0"/>
                </a:endParaRPr>
              </a:p>
              <a:p>
                <a:pPr algn="just">
                  <a:lnSpc>
                    <a:spcPct val="150000"/>
                  </a:lnSpc>
                </a:pPr>
                <a:r>
                  <a:rPr lang="zh-CN" altLang="zh-CN" sz="2400" kern="100" dirty="0">
                    <a:effectLst/>
                    <a:latin typeface="Times New Roman" panose="02020603050405020304" pitchFamily="18" charset="0"/>
                  </a:rPr>
                  <a:t>得到其解</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𝑦</m:t>
                        </m:r>
                      </m:e>
                      <m:sup>
                        <m:r>
                          <a:rPr lang="en-US" altLang="zh-CN" sz="2400" i="1" kern="100">
                            <a:effectLst/>
                            <a:latin typeface="Cambria Math" panose="02040503050406030204" pitchFamily="18" charset="0"/>
                          </a:rPr>
                          <m:t>∗</m:t>
                        </m:r>
                      </m:sup>
                    </m:sSup>
                  </m:oMath>
                </a14:m>
                <a:r>
                  <a:rPr lang="zh-CN" altLang="zh-CN" sz="2400" kern="100" dirty="0">
                    <a:effectLst/>
                    <a:latin typeface="Times New Roman" panose="02020603050405020304" pitchFamily="18" charset="0"/>
                  </a:rPr>
                  <a:t>，进而得到等式约束二次规划问题的最优解</a:t>
                </a:r>
                <a:endParaRPr lang="zh-CN" altLang="zh-CN" sz="2400" kern="100" dirty="0">
                  <a:effectLst/>
                  <a:latin typeface="Times New Roman" panose="02020603050405020304" pitchFamily="18" charset="0"/>
                </a:endParaRPr>
              </a:p>
              <a:p>
                <a:pPr algn="just">
                  <a:lnSpc>
                    <a:spcPct val="150000"/>
                  </a:lnSpc>
                </a:pPr>
                <a:r>
                  <a:rPr lang="en-US" altLang="zh-CN" sz="2400" kern="100" dirty="0">
                    <a:effectLst/>
                    <a:latin typeface="宋体" panose="02010600030101010101" pitchFamily="2" charset="-122"/>
                  </a:rPr>
                  <a:t>			</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𝑥</m:t>
                        </m:r>
                      </m:e>
                      <m:sup>
                        <m:r>
                          <a:rPr lang="en-US" altLang="zh-CN" sz="2400" i="1" kern="100">
                            <a:effectLst/>
                            <a:latin typeface="Cambria Math" panose="02040503050406030204" pitchFamily="18" charset="0"/>
                          </a:rPr>
                          <m:t>∗</m:t>
                        </m:r>
                      </m:sup>
                    </m:s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𝑆𝑐</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𝑍</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𝑦</m:t>
                        </m:r>
                      </m:e>
                      <m:sup>
                        <m:r>
                          <a:rPr lang="en-US" altLang="zh-CN" sz="2400" i="1" kern="100">
                            <a:effectLst/>
                            <a:latin typeface="Cambria Math" panose="02040503050406030204" pitchFamily="18" charset="0"/>
                          </a:rPr>
                          <m:t>∗</m:t>
                        </m:r>
                      </m:sup>
                    </m:s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𝑆𝑐</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rPr>
                      <m:t>𝑍</m:t>
                    </m:r>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𝑍</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𝐺𝑍</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m:t>
                        </m:r>
                      </m:e>
                      <m:sup>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rPr>
                          <m:t>1</m:t>
                        </m:r>
                      </m:sup>
                    </m:sSup>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𝑍</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𝐺𝑆𝑐</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𝑟</m:t>
                    </m:r>
                    <m:r>
                      <a:rPr lang="en-US" altLang="zh-CN" sz="2400" i="1" kern="100">
                        <a:effectLst/>
                        <a:latin typeface="Cambria Math" panose="02040503050406030204" pitchFamily="18" charset="0"/>
                      </a:rPr>
                      <m:t>)</m:t>
                    </m:r>
                  </m:oMath>
                </a14:m>
                <a:r>
                  <a:rPr lang="en-US" altLang="zh-CN" sz="2400" kern="100" dirty="0">
                    <a:effectLst/>
                    <a:latin typeface="宋体" panose="02010600030101010101" pitchFamily="2" charset="-122"/>
                  </a:rPr>
                  <a:t>       </a:t>
                </a:r>
                <a:endParaRPr lang="zh-CN" altLang="zh-CN" sz="2400" kern="100" dirty="0">
                  <a:effectLst/>
                  <a:latin typeface="Times New Roman" panose="02020603050405020304" pitchFamily="18" charset="0"/>
                </a:endParaRPr>
              </a:p>
              <a:p>
                <a:pPr algn="just">
                  <a:lnSpc>
                    <a:spcPct val="150000"/>
                  </a:lnSpc>
                </a:pPr>
                <a:r>
                  <a:rPr lang="zh-CN" altLang="zh-CN" sz="2400" kern="100" dirty="0">
                    <a:effectLst/>
                    <a:latin typeface="Times New Roman" panose="02020603050405020304" pitchFamily="18" charset="0"/>
                  </a:rPr>
                  <a:t>及乘子</a:t>
                </a:r>
                <a:endParaRPr lang="zh-CN" altLang="zh-CN" sz="2400" kern="100" dirty="0">
                  <a:effectLst/>
                  <a:latin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𝜆</m:t>
                          </m:r>
                        </m:e>
                        <m:sup>
                          <m:r>
                            <a:rPr lang="en-US" altLang="zh-CN" sz="2400" i="1" kern="100">
                              <a:effectLst/>
                              <a:latin typeface="Cambria Math" panose="02040503050406030204" pitchFamily="18" charset="0"/>
                            </a:rPr>
                            <m:t>∗</m:t>
                          </m:r>
                        </m:sup>
                      </m:sSup>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𝑆</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𝐺</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𝑥</m:t>
                          </m:r>
                        </m:e>
                        <m:sup>
                          <m:r>
                            <a:rPr lang="en-US" altLang="zh-CN" sz="2400" i="1" kern="100">
                              <a:effectLst/>
                              <a:latin typeface="Cambria Math" panose="02040503050406030204" pitchFamily="18" charset="0"/>
                            </a:rPr>
                            <m:t>∗</m:t>
                          </m:r>
                        </m:sup>
                      </m:s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𝑟</m:t>
                      </m:r>
                      <m:r>
                        <a:rPr lang="en-US" altLang="zh-CN" sz="2400" i="1" kern="100">
                          <a:effectLst/>
                          <a:latin typeface="Cambria Math" panose="02040503050406030204" pitchFamily="18" charset="0"/>
                        </a:rPr>
                        <m:t>)</m:t>
                      </m:r>
                    </m:oMath>
                    <m:oMath xmlns:m="http://schemas.openxmlformats.org/officeDocument/2006/math">
                      <m:r>
                        <a:rPr lang="en-US" altLang="zh-CN" sz="2400" i="1" kern="100">
                          <a:effectLst/>
                          <a:latin typeface="Cambria Math" panose="02040503050406030204" pitchFamily="18" charset="0"/>
                        </a:rPr>
                        <m:t> =</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𝑆</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𝐺</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𝐺𝑍</m:t>
                      </m:r>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𝑍</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𝐺𝑍</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m:t>
                          </m:r>
                        </m:e>
                        <m: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1</m:t>
                          </m:r>
                        </m:sup>
                      </m:sSup>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𝑍</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𝐺</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𝑆𝑐</m:t>
                      </m:r>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𝑆</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𝑆</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𝐺𝑍</m:t>
                      </m:r>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𝑍</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𝐺𝑍</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m:t>
                          </m:r>
                        </m:e>
                        <m: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1</m:t>
                          </m:r>
                        </m:sup>
                      </m:sSup>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𝑍</m:t>
                          </m:r>
                        </m:e>
                        <m:sup>
                          <m:r>
                            <a:rPr lang="en-US" altLang="zh-CN" sz="2400" i="1" kern="100">
                              <a:effectLst/>
                              <a:latin typeface="Cambria Math" panose="02040503050406030204" pitchFamily="18" charset="0"/>
                            </a:rPr>
                            <m:t>𝑇</m:t>
                          </m:r>
                        </m:sup>
                      </m:s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𝑟</m:t>
                      </m:r>
                    </m:oMath>
                  </m:oMathPara>
                </a14:m>
                <a:endParaRPr lang="zh-CN" altLang="zh-CN" sz="2400" kern="100" dirty="0">
                  <a:effectLst/>
                  <a:latin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623392" y="1052736"/>
                <a:ext cx="10801200" cy="4361130"/>
              </a:xfrm>
              <a:prstGeom prst="rect">
                <a:avLst/>
              </a:prstGeom>
              <a:blipFill rotWithShape="1">
                <a:blip r:embed="rId1"/>
                <a:stretch>
                  <a:fillRect l="-4" t="-12" r="3" b="11"/>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623392" y="527218"/>
                <a:ext cx="10729192" cy="5363845"/>
              </a:xfrm>
              <a:prstGeom prst="rect">
                <a:avLst/>
              </a:prstGeom>
              <a:noFill/>
            </p:spPr>
            <p:txBody>
              <a:bodyPr wrap="square" rtlCol="0">
                <a:spAutoFit/>
              </a:bodyPr>
              <a:lstStyle/>
              <a:p>
                <a:pPr algn="just">
                  <a:lnSpc>
                    <a:spcPct val="150000"/>
                  </a:lnSpc>
                </a:pPr>
                <a:r>
                  <a:rPr lang="en-US" altLang="zh-CN" sz="2400" kern="100" dirty="0">
                    <a:effectLst/>
                    <a:latin typeface="Times New Roman" panose="02020603050405020304" pitchFamily="18" charset="0"/>
                  </a:rPr>
                  <a:t>        </a:t>
                </a:r>
                <a:r>
                  <a:rPr lang="zh-CN" altLang="zh-CN" sz="2400" kern="100" dirty="0">
                    <a:effectLst/>
                    <a:latin typeface="Times New Roman" panose="02020603050405020304" pitchFamily="18" charset="0"/>
                  </a:rPr>
                  <a:t>因此，一旦确定了</a:t>
                </a:r>
                <a:r>
                  <a:rPr lang="en-US" altLang="zh-CN" sz="2400" i="1" kern="100" dirty="0">
                    <a:effectLst/>
                    <a:latin typeface="Times New Roman" panose="02020603050405020304" pitchFamily="18" charset="0"/>
                  </a:rPr>
                  <a:t>S</a:t>
                </a:r>
                <a:r>
                  <a:rPr lang="zh-CN" altLang="zh-CN" sz="2400" kern="100" dirty="0">
                    <a:effectLst/>
                    <a:latin typeface="Times New Roman" panose="02020603050405020304" pitchFamily="18" charset="0"/>
                  </a:rPr>
                  <a:t>和</a:t>
                </a:r>
                <a:r>
                  <a:rPr lang="en-US" altLang="zh-CN" sz="2400" i="1" kern="100" dirty="0">
                    <a:effectLst/>
                    <a:latin typeface="Times New Roman" panose="02020603050405020304" pitchFamily="18" charset="0"/>
                  </a:rPr>
                  <a:t>Z</a:t>
                </a:r>
                <a:r>
                  <a:rPr lang="zh-CN" altLang="zh-CN" sz="2400" kern="100" dirty="0">
                    <a:effectLst/>
                    <a:latin typeface="Times New Roman" panose="02020603050405020304" pitchFamily="18" charset="0"/>
                  </a:rPr>
                  <a:t>，就可计算出</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𝑥</m:t>
                        </m:r>
                      </m:e>
                      <m:sup>
                        <m:r>
                          <a:rPr lang="en-US" altLang="zh-CN" sz="2400" i="1" kern="100">
                            <a:effectLst/>
                            <a:latin typeface="Cambria Math" panose="02040503050406030204" pitchFamily="18" charset="0"/>
                          </a:rPr>
                          <m:t>∗</m:t>
                        </m:r>
                      </m:sup>
                    </m:sSup>
                  </m:oMath>
                </a14:m>
                <a:r>
                  <a:rPr lang="zh-CN" altLang="zh-CN" sz="2400" kern="100" dirty="0">
                    <a:effectLst/>
                    <a:latin typeface="Times New Roman" panose="02020603050405020304" pitchFamily="18" charset="0"/>
                  </a:rPr>
                  <a:t>和</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𝜆</m:t>
                        </m:r>
                      </m:e>
                      <m:sup>
                        <m:r>
                          <a:rPr lang="en-US" altLang="zh-CN" sz="2400" i="1" kern="100">
                            <a:effectLst/>
                            <a:latin typeface="Cambria Math" panose="02040503050406030204" pitchFamily="18" charset="0"/>
                          </a:rPr>
                          <m:t>∗</m:t>
                        </m:r>
                      </m:sup>
                    </m:sSup>
                  </m:oMath>
                </a14:m>
                <a:r>
                  <a:rPr lang="zh-CN" altLang="en-US" sz="2400" kern="100" dirty="0">
                    <a:effectLst/>
                    <a:latin typeface="Times New Roman" panose="02020603050405020304" pitchFamily="18" charset="0"/>
                  </a:rPr>
                  <a:t>。</a:t>
                </a:r>
                <a:r>
                  <a:rPr lang="zh-CN" altLang="zh-CN" sz="2400" kern="100" dirty="0">
                    <a:effectLst/>
                    <a:latin typeface="Times New Roman" panose="02020603050405020304" pitchFamily="18" charset="0"/>
                  </a:rPr>
                  <a:t>特别地，若取</a:t>
                </a:r>
                <a:endParaRPr lang="zh-CN" altLang="zh-CN" sz="2400" kern="100" dirty="0">
                  <a:effectLst/>
                  <a:latin typeface="Times New Roman" panose="02020603050405020304" pitchFamily="18" charset="0"/>
                </a:endParaRPr>
              </a:p>
              <a:p>
                <a:pPr algn="just">
                  <a:lnSpc>
                    <a:spcPct val="150000"/>
                  </a:lnSpc>
                </a:pPr>
                <a:r>
                  <a:rPr lang="en-US" altLang="zh-CN" sz="2400" kern="100" dirty="0">
                    <a:effectLst/>
                    <a:latin typeface="宋体" panose="02010600030101010101" pitchFamily="2" charset="-122"/>
                  </a:rPr>
                  <a:t>			</a:t>
                </a:r>
                <a14:m>
                  <m:oMath xmlns:m="http://schemas.openxmlformats.org/officeDocument/2006/math">
                    <m:r>
                      <a:rPr lang="en-US" altLang="zh-CN" sz="2400" i="1" kern="100">
                        <a:effectLst/>
                        <a:latin typeface="Cambria Math" panose="02040503050406030204" pitchFamily="18" charset="0"/>
                      </a:rPr>
                      <m:t>𝑍</m:t>
                    </m:r>
                    <m:r>
                      <a:rPr lang="en-US" altLang="zh-CN" sz="2400" i="1" kern="100">
                        <a:effectLst/>
                        <a:latin typeface="Cambria Math" panose="02040503050406030204" pitchFamily="18" charset="0"/>
                      </a:rPr>
                      <m:t>=</m:t>
                    </m:r>
                    <m:d>
                      <m:dPr>
                        <m:ctrlPr>
                          <a:rPr lang="zh-CN" altLang="zh-CN" sz="2400" i="1" kern="10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kern="100">
                                <a:effectLst/>
                                <a:latin typeface="Cambria Math" panose="02040503050406030204" pitchFamily="18" charset="0"/>
                                <a:ea typeface="Cambria Math" panose="02040503050406030204" pitchFamily="18" charset="0"/>
                              </a:rPr>
                            </m:ctrlPr>
                          </m:mPr>
                          <m:mr>
                            <m:e>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rPr>
                                <m:t>(</m:t>
                              </m:r>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rPr>
                                    <m:t>𝐴</m:t>
                                  </m:r>
                                </m:e>
                                <m:sub>
                                  <m:r>
                                    <a:rPr lang="en-US" altLang="zh-CN" sz="2400" i="1" kern="100">
                                      <a:effectLst/>
                                      <a:latin typeface="Cambria Math" panose="02040503050406030204" pitchFamily="18" charset="0"/>
                                    </a:rPr>
                                    <m:t>𝐵</m:t>
                                  </m:r>
                                </m:sub>
                                <m:sup>
                                  <m:r>
                                    <a:rPr lang="en-US" altLang="zh-CN" sz="2400" i="1" kern="100">
                                      <a:effectLst/>
                                      <a:latin typeface="Cambria Math" panose="02040503050406030204" pitchFamily="18" charset="0"/>
                                    </a:rPr>
                                    <m:t>𝑇</m:t>
                                  </m:r>
                                </m:sup>
                              </m:sSubSup>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m:t>
                                  </m:r>
                                </m:e>
                                <m:sup>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rPr>
                                    <m:t>1</m:t>
                                  </m:r>
                                </m:sup>
                              </m:sSup>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rPr>
                                    <m:t>𝐴</m:t>
                                  </m:r>
                                </m:e>
                                <m:sub>
                                  <m:r>
                                    <a:rPr lang="en-US" altLang="zh-CN" sz="2400" i="1" kern="100">
                                      <a:effectLst/>
                                      <a:latin typeface="Cambria Math" panose="02040503050406030204" pitchFamily="18" charset="0"/>
                                    </a:rPr>
                                    <m:t>𝑁</m:t>
                                  </m:r>
                                </m:sub>
                                <m:sup>
                                  <m:r>
                                    <a:rPr lang="en-US" altLang="zh-CN" sz="2400" i="1" kern="100">
                                      <a:effectLst/>
                                      <a:latin typeface="Cambria Math" panose="02040503050406030204" pitchFamily="18" charset="0"/>
                                    </a:rPr>
                                    <m:t>𝑇</m:t>
                                  </m:r>
                                </m:sup>
                              </m:sSubSup>
                            </m:e>
                          </m:mr>
                          <m:mr>
                            <m:e>
                              <m:r>
                                <a:rPr lang="en-US" altLang="zh-CN" sz="2400" i="1" kern="100">
                                  <a:effectLst/>
                                  <a:latin typeface="Cambria Math" panose="02040503050406030204" pitchFamily="18" charset="0"/>
                                </a:rPr>
                                <m:t>𝐼</m:t>
                              </m:r>
                            </m:e>
                          </m:mr>
                        </m:m>
                      </m:e>
                    </m:d>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𝑆</m:t>
                    </m:r>
                    <m:r>
                      <a:rPr lang="en-US" altLang="zh-CN" sz="2400" i="1" kern="100">
                        <a:effectLst/>
                        <a:latin typeface="Cambria Math" panose="02040503050406030204" pitchFamily="18" charset="0"/>
                      </a:rPr>
                      <m:t>=</m:t>
                    </m:r>
                    <m:d>
                      <m:dPr>
                        <m:ctrlPr>
                          <a:rPr lang="zh-CN" altLang="zh-CN" sz="2400" i="1" kern="10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kern="100">
                                <a:effectLst/>
                                <a:latin typeface="Cambria Math" panose="02040503050406030204" pitchFamily="18" charset="0"/>
                                <a:ea typeface="Cambria Math" panose="02040503050406030204" pitchFamily="18" charset="0"/>
                              </a:rPr>
                            </m:ctrlPr>
                          </m:mPr>
                          <m:mr>
                            <m:e>
                              <m:r>
                                <a:rPr lang="en-US" altLang="zh-CN" sz="2400" i="1" kern="100">
                                  <a:effectLst/>
                                  <a:latin typeface="Cambria Math" panose="02040503050406030204" pitchFamily="18" charset="0"/>
                                </a:rPr>
                                <m:t>(</m:t>
                              </m:r>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rPr>
                                    <m:t>𝐴</m:t>
                                  </m:r>
                                </m:e>
                                <m:sub>
                                  <m:r>
                                    <a:rPr lang="en-US" altLang="zh-CN" sz="2400" i="1" kern="100">
                                      <a:effectLst/>
                                      <a:latin typeface="Cambria Math" panose="02040503050406030204" pitchFamily="18" charset="0"/>
                                    </a:rPr>
                                    <m:t>𝐵</m:t>
                                  </m:r>
                                </m:sub>
                                <m:sup>
                                  <m:r>
                                    <a:rPr lang="en-US" altLang="zh-CN" sz="2400" i="1" kern="100">
                                      <a:effectLst/>
                                      <a:latin typeface="Cambria Math" panose="02040503050406030204" pitchFamily="18" charset="0"/>
                                    </a:rPr>
                                    <m:t>𝑇</m:t>
                                  </m:r>
                                </m:sup>
                              </m:sSubSup>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m:t>
                                  </m:r>
                                </m:e>
                                <m:sup>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rPr>
                                    <m:t>1</m:t>
                                  </m:r>
                                </m:sup>
                              </m:sSup>
                            </m:e>
                          </m:mr>
                          <m:mr>
                            <m:e>
                              <m:r>
                                <a:rPr lang="en-US" altLang="zh-CN" sz="2400" i="1" kern="100">
                                  <a:effectLst/>
                                  <a:latin typeface="Cambria Math" panose="02040503050406030204" pitchFamily="18" charset="0"/>
                                </a:rPr>
                                <m:t>0</m:t>
                              </m:r>
                            </m:e>
                          </m:mr>
                        </m:m>
                      </m:e>
                    </m:d>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𝑦</m:t>
                    </m:r>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𝑥</m:t>
                        </m:r>
                      </m:e>
                      <m:sub>
                        <m:r>
                          <a:rPr lang="en-US" altLang="zh-CN" sz="2400" i="1" kern="100">
                            <a:effectLst/>
                            <a:latin typeface="Cambria Math" panose="02040503050406030204" pitchFamily="18" charset="0"/>
                          </a:rPr>
                          <m:t>𝑁</m:t>
                        </m:r>
                      </m:sub>
                    </m:sSub>
                  </m:oMath>
                </a14:m>
                <a:r>
                  <a:rPr lang="en-US" altLang="zh-CN" sz="2400" kern="100" dirty="0">
                    <a:effectLst/>
                    <a:latin typeface="宋体" panose="02010600030101010101" pitchFamily="2" charset="-122"/>
                  </a:rPr>
                  <a:t>	</a:t>
                </a:r>
                <a:endParaRPr lang="zh-CN" altLang="zh-CN" sz="2400" kern="100" dirty="0">
                  <a:effectLst/>
                  <a:latin typeface="Times New Roman" panose="02020603050405020304" pitchFamily="18" charset="0"/>
                </a:endParaRPr>
              </a:p>
              <a:p>
                <a:pPr algn="just">
                  <a:lnSpc>
                    <a:spcPct val="150000"/>
                  </a:lnSpc>
                </a:pPr>
                <a:r>
                  <a:rPr lang="zh-CN" altLang="zh-CN" sz="2400" kern="100" dirty="0">
                    <a:effectLst/>
                    <a:latin typeface="Times New Roman" panose="02020603050405020304" pitchFamily="18" charset="0"/>
                  </a:rPr>
                  <a:t>则广义消去法就是前面讲过的直接消去法。</a:t>
                </a:r>
                <a:endParaRPr lang="zh-CN" altLang="zh-CN" sz="2400" kern="100" dirty="0">
                  <a:effectLst/>
                  <a:latin typeface="Times New Roman" panose="02020603050405020304" pitchFamily="18" charset="0"/>
                </a:endParaRPr>
              </a:p>
              <a:p>
                <a:pPr indent="355600" algn="just">
                  <a:lnSpc>
                    <a:spcPct val="150000"/>
                  </a:lnSpc>
                </a:pPr>
                <a:r>
                  <a:rPr lang="en-US" altLang="zh-CN" sz="2400" kern="100" dirty="0">
                    <a:effectLst/>
                    <a:latin typeface="Times New Roman" panose="02020603050405020304" pitchFamily="18" charset="0"/>
                  </a:rPr>
                  <a:t>   </a:t>
                </a:r>
                <a:r>
                  <a:rPr lang="zh-CN" altLang="en-US" sz="2400" kern="100" dirty="0">
                    <a:effectLst/>
                    <a:latin typeface="Times New Roman" panose="02020603050405020304" pitchFamily="18" charset="0"/>
                  </a:rPr>
                  <a:t>还有</a:t>
                </a:r>
                <a:r>
                  <a:rPr lang="zh-CN" altLang="zh-CN" sz="2400" kern="100" dirty="0">
                    <a:effectLst/>
                    <a:latin typeface="Times New Roman" panose="02020603050405020304" pitchFamily="18" charset="0"/>
                  </a:rPr>
                  <a:t>一种重要的取法基于</a:t>
                </a:r>
                <a14:m>
                  <m:oMath xmlns:m="http://schemas.openxmlformats.org/officeDocument/2006/math">
                    <m:r>
                      <a:rPr lang="en-US" altLang="zh-CN" sz="2400" i="1" kern="100" smtClean="0">
                        <a:effectLst/>
                        <a:latin typeface="Cambria Math" panose="02040503050406030204" pitchFamily="18" charset="0"/>
                      </a:rPr>
                      <m:t>𝐴</m:t>
                    </m:r>
                  </m:oMath>
                </a14:m>
                <a:r>
                  <a:rPr lang="zh-CN" altLang="zh-CN" sz="2400" kern="100" dirty="0">
                    <a:effectLst/>
                    <a:latin typeface="Times New Roman" panose="02020603050405020304" pitchFamily="18" charset="0"/>
                  </a:rPr>
                  <a:t>的</a:t>
                </a:r>
                <a:r>
                  <a:rPr lang="en-US" altLang="zh-CN" sz="2400" i="1" kern="100" dirty="0">
                    <a:effectLst/>
                    <a:latin typeface="Times New Roman" panose="02020603050405020304" pitchFamily="18" charset="0"/>
                  </a:rPr>
                  <a:t>QR</a:t>
                </a:r>
                <a:r>
                  <a:rPr lang="zh-CN" altLang="zh-CN" sz="2400" kern="100" dirty="0">
                    <a:effectLst/>
                    <a:latin typeface="Times New Roman" panose="02020603050405020304" pitchFamily="18" charset="0"/>
                  </a:rPr>
                  <a:t>分解，将矩阵</a:t>
                </a:r>
                <a14:m>
                  <m:oMath xmlns:m="http://schemas.openxmlformats.org/officeDocument/2006/math">
                    <m:r>
                      <a:rPr lang="en-US" altLang="zh-CN" sz="2400" i="1" kern="100">
                        <a:latin typeface="Cambria Math" panose="02040503050406030204" pitchFamily="18" charset="0"/>
                      </a:rPr>
                      <m:t>𝐴</m:t>
                    </m:r>
                  </m:oMath>
                </a14:m>
                <a:r>
                  <a:rPr lang="zh-CN" altLang="zh-CN" sz="2400" kern="100" dirty="0">
                    <a:effectLst/>
                    <a:latin typeface="Times New Roman" panose="02020603050405020304" pitchFamily="18" charset="0"/>
                  </a:rPr>
                  <a:t>分解为</a:t>
                </a:r>
                <a:endParaRPr lang="zh-CN" altLang="zh-CN" sz="2400" kern="100" dirty="0">
                  <a:effectLst/>
                  <a:latin typeface="Times New Roman" panose="02020603050405020304" pitchFamily="18" charset="0"/>
                </a:endParaRPr>
              </a:p>
              <a:p>
                <a:pPr algn="just">
                  <a:lnSpc>
                    <a:spcPct val="150000"/>
                  </a:lnSpc>
                </a:pPr>
                <a:r>
                  <a:rPr lang="en-US" altLang="zh-CN" sz="2400" kern="100" dirty="0">
                    <a:effectLst/>
                    <a:latin typeface="宋体" panose="02010600030101010101" pitchFamily="2" charset="-122"/>
                  </a:rPr>
                  <a:t>			</a:t>
                </a:r>
                <a14:m>
                  <m:oMath xmlns:m="http://schemas.openxmlformats.org/officeDocument/2006/math">
                    <m:r>
                      <a:rPr lang="en-US" altLang="zh-CN" sz="2400" i="1" kern="100">
                        <a:effectLst/>
                        <a:latin typeface="Cambria Math" panose="02040503050406030204" pitchFamily="18" charset="0"/>
                      </a:rPr>
                      <m:t>𝐴</m:t>
                    </m:r>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𝑄</m:t>
                    </m:r>
                    <m:d>
                      <m:dPr>
                        <m:ctrlPr>
                          <a:rPr lang="zh-CN" altLang="zh-CN" sz="2400" i="1" kern="10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kern="100">
                                <a:effectLst/>
                                <a:latin typeface="Cambria Math" panose="02040503050406030204" pitchFamily="18" charset="0"/>
                                <a:ea typeface="Cambria Math" panose="02040503050406030204" pitchFamily="18" charset="0"/>
                              </a:rPr>
                            </m:ctrlPr>
                          </m:mPr>
                          <m:mr>
                            <m:e>
                              <m:r>
                                <a:rPr lang="en-US" altLang="zh-CN" sz="2400" i="1" kern="100">
                                  <a:effectLst/>
                                  <a:latin typeface="Cambria Math" panose="02040503050406030204" pitchFamily="18" charset="0"/>
                                </a:rPr>
                                <m:t>𝑅</m:t>
                              </m:r>
                            </m:e>
                          </m:mr>
                          <m:mr>
                            <m:e>
                              <m:r>
                                <a:rPr lang="en-US" altLang="zh-CN" sz="2400" i="1" kern="100">
                                  <a:effectLst/>
                                  <a:latin typeface="Cambria Math" panose="02040503050406030204" pitchFamily="18" charset="0"/>
                                </a:rPr>
                                <m:t>0</m:t>
                              </m:r>
                            </m:e>
                          </m:mr>
                        </m:m>
                      </m:e>
                    </m:d>
                    <m:r>
                      <a:rPr lang="en-US" altLang="zh-CN" sz="2400" i="1" kern="100">
                        <a:effectLst/>
                        <a:latin typeface="Cambria Math" panose="02040503050406030204" pitchFamily="18" charset="0"/>
                      </a:rPr>
                      <m:t>=(</m:t>
                    </m:r>
                    <m:m>
                      <m:mPr>
                        <m:mcs>
                          <m:mc>
                            <m:mcPr>
                              <m:count m:val="2"/>
                              <m:mcJc m:val="center"/>
                            </m:mcPr>
                          </m:mc>
                        </m:mcs>
                        <m:ctrlPr>
                          <a:rPr lang="zh-CN" altLang="zh-CN" sz="2400" i="1" kern="100">
                            <a:effectLst/>
                            <a:latin typeface="Cambria Math" panose="02040503050406030204" pitchFamily="18" charset="0"/>
                            <a:ea typeface="Cambria Math" panose="02040503050406030204" pitchFamily="18" charset="0"/>
                          </a:rPr>
                        </m:ctrlPr>
                      </m:mPr>
                      <m:mr>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𝑄</m:t>
                              </m:r>
                            </m:e>
                            <m:sub>
                              <m:r>
                                <a:rPr lang="en-US" altLang="zh-CN" sz="2400" i="1" kern="100">
                                  <a:effectLst/>
                                  <a:latin typeface="Cambria Math" panose="02040503050406030204" pitchFamily="18" charset="0"/>
                                </a:rPr>
                                <m:t>1</m:t>
                              </m:r>
                            </m:sub>
                          </m:sSub>
                        </m:e>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𝑄</m:t>
                              </m:r>
                            </m:e>
                            <m:sub>
                              <m:r>
                                <a:rPr lang="en-US" altLang="zh-CN" sz="2400" i="1" kern="100">
                                  <a:effectLst/>
                                  <a:latin typeface="Cambria Math" panose="02040503050406030204" pitchFamily="18" charset="0"/>
                                </a:rPr>
                                <m:t>2</m:t>
                              </m:r>
                            </m:sub>
                          </m:sSub>
                        </m:e>
                      </m:mr>
                    </m:m>
                    <m:r>
                      <a:rPr lang="en-US" altLang="zh-CN" sz="2400" i="1" kern="100">
                        <a:effectLst/>
                        <a:latin typeface="Cambria Math" panose="02040503050406030204" pitchFamily="18" charset="0"/>
                      </a:rPr>
                      <m:t>)</m:t>
                    </m:r>
                    <m:d>
                      <m:dPr>
                        <m:ctrlPr>
                          <a:rPr lang="zh-CN" altLang="zh-CN" sz="2400" i="1" kern="10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kern="100">
                                <a:effectLst/>
                                <a:latin typeface="Cambria Math" panose="02040503050406030204" pitchFamily="18" charset="0"/>
                                <a:ea typeface="Cambria Math" panose="02040503050406030204" pitchFamily="18" charset="0"/>
                              </a:rPr>
                            </m:ctrlPr>
                          </m:mPr>
                          <m:mr>
                            <m:e>
                              <m:r>
                                <a:rPr lang="en-US" altLang="zh-CN" sz="2400" i="1" kern="100">
                                  <a:effectLst/>
                                  <a:latin typeface="Cambria Math" panose="02040503050406030204" pitchFamily="18" charset="0"/>
                                </a:rPr>
                                <m:t>𝑅</m:t>
                              </m:r>
                            </m:e>
                          </m:mr>
                          <m:mr>
                            <m:e>
                              <m:r>
                                <a:rPr lang="en-US" altLang="zh-CN" sz="2400" i="1" kern="100">
                                  <a:effectLst/>
                                  <a:latin typeface="Cambria Math" panose="02040503050406030204" pitchFamily="18" charset="0"/>
                                </a:rPr>
                                <m:t>0</m:t>
                              </m:r>
                            </m:e>
                          </m:mr>
                        </m:m>
                      </m:e>
                    </m:d>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𝑄</m:t>
                        </m:r>
                      </m:e>
                      <m:sub>
                        <m:r>
                          <a:rPr lang="en-US" altLang="zh-CN" sz="2400" i="1" kern="100">
                            <a:effectLst/>
                            <a:latin typeface="Cambria Math" panose="02040503050406030204" pitchFamily="18" charset="0"/>
                          </a:rPr>
                          <m:t>1</m:t>
                        </m:r>
                      </m:sub>
                    </m:sSub>
                    <m:r>
                      <a:rPr lang="en-US" altLang="zh-CN" sz="2400" i="1" kern="100">
                        <a:effectLst/>
                        <a:latin typeface="Cambria Math" panose="02040503050406030204" pitchFamily="18" charset="0"/>
                      </a:rPr>
                      <m:t>𝑅</m:t>
                    </m:r>
                  </m:oMath>
                </a14:m>
                <a:r>
                  <a:rPr lang="en-US" altLang="zh-CN" sz="2400" kern="100" dirty="0">
                    <a:effectLst/>
                    <a:latin typeface="宋体" panose="02010600030101010101" pitchFamily="2" charset="-122"/>
                  </a:rPr>
                  <a:t>				   </a:t>
                </a:r>
                <a:endParaRPr lang="zh-CN" altLang="zh-CN" sz="2400" kern="100" dirty="0">
                  <a:effectLst/>
                  <a:latin typeface="Times New Roman" panose="02020603050405020304" pitchFamily="18" charset="0"/>
                </a:endParaRPr>
              </a:p>
              <a:p>
                <a:pPr algn="just">
                  <a:lnSpc>
                    <a:spcPct val="150000"/>
                  </a:lnSpc>
                </a:pPr>
                <a:r>
                  <a:rPr lang="zh-CN" altLang="zh-CN" sz="2400" kern="100" spc="-150" dirty="0">
                    <a:effectLst/>
                    <a:latin typeface="Times New Roman" panose="02020603050405020304" pitchFamily="18" charset="0"/>
                  </a:rPr>
                  <a:t>其中</a:t>
                </a:r>
                <a:r>
                  <a:rPr lang="en-US" altLang="zh-CN" sz="2400" i="1" kern="100" spc="-150" dirty="0">
                    <a:effectLst/>
                    <a:latin typeface="Times New Roman" panose="02020603050405020304" pitchFamily="18" charset="0"/>
                  </a:rPr>
                  <a:t>Q</a:t>
                </a:r>
                <a:r>
                  <a:rPr lang="zh-CN" altLang="zh-CN" sz="2400" kern="100" spc="-150" dirty="0">
                    <a:effectLst/>
                    <a:latin typeface="Times New Roman" panose="02020603050405020304" pitchFamily="18" charset="0"/>
                  </a:rPr>
                  <a:t>为</a:t>
                </a:r>
                <a14:m>
                  <m:oMath xmlns:m="http://schemas.openxmlformats.org/officeDocument/2006/math">
                    <m:r>
                      <a:rPr lang="en-US" altLang="zh-CN" sz="2400" i="1" kern="100" spc="-150">
                        <a:effectLst/>
                        <a:latin typeface="Cambria Math" panose="02040503050406030204" pitchFamily="18" charset="0"/>
                      </a:rPr>
                      <m:t>𝑛</m:t>
                    </m:r>
                    <m:r>
                      <a:rPr lang="en-US" altLang="zh-CN" sz="2400" i="1" kern="100" spc="-150">
                        <a:effectLst/>
                        <a:latin typeface="Cambria Math" panose="02040503050406030204" pitchFamily="18" charset="0"/>
                      </a:rPr>
                      <m:t>×</m:t>
                    </m:r>
                    <m:r>
                      <a:rPr lang="en-US" altLang="zh-CN" sz="2400" i="1" kern="100" spc="-150">
                        <a:effectLst/>
                        <a:latin typeface="Cambria Math" panose="02040503050406030204" pitchFamily="18" charset="0"/>
                      </a:rPr>
                      <m:t>𝑛</m:t>
                    </m:r>
                  </m:oMath>
                </a14:m>
                <a:r>
                  <a:rPr lang="zh-CN" altLang="zh-CN" sz="2400" kern="100" spc="-150" dirty="0">
                    <a:effectLst/>
                    <a:latin typeface="Times New Roman" panose="02020603050405020304" pitchFamily="18" charset="0"/>
                  </a:rPr>
                  <a:t>阶正交阵，</a:t>
                </a:r>
                <a:r>
                  <a:rPr lang="en-US" altLang="zh-CN" sz="2400" i="1" kern="100" spc="-150" dirty="0">
                    <a:effectLst/>
                    <a:latin typeface="Times New Roman" panose="02020603050405020304" pitchFamily="18" charset="0"/>
                  </a:rPr>
                  <a:t>R</a:t>
                </a:r>
                <a:r>
                  <a:rPr lang="zh-CN" altLang="zh-CN" sz="2400" kern="100" spc="-150" dirty="0">
                    <a:effectLst/>
                    <a:latin typeface="Times New Roman" panose="02020603050405020304" pitchFamily="18" charset="0"/>
                  </a:rPr>
                  <a:t>为</a:t>
                </a:r>
                <a14:m>
                  <m:oMath xmlns:m="http://schemas.openxmlformats.org/officeDocument/2006/math">
                    <m:r>
                      <a:rPr lang="en-US" altLang="zh-CN" sz="2400" i="1" kern="100" spc="-150">
                        <a:effectLst/>
                        <a:latin typeface="Cambria Math" panose="02040503050406030204" pitchFamily="18" charset="0"/>
                      </a:rPr>
                      <m:t>𝑚</m:t>
                    </m:r>
                    <m:r>
                      <a:rPr lang="en-US" altLang="zh-CN" sz="2400" i="1" kern="100" spc="-150">
                        <a:effectLst/>
                        <a:latin typeface="Cambria Math" panose="02040503050406030204" pitchFamily="18" charset="0"/>
                      </a:rPr>
                      <m:t>×</m:t>
                    </m:r>
                    <m:r>
                      <a:rPr lang="en-US" altLang="zh-CN" sz="2400" i="1" kern="100" spc="-150">
                        <a:effectLst/>
                        <a:latin typeface="Cambria Math" panose="02040503050406030204" pitchFamily="18" charset="0"/>
                      </a:rPr>
                      <m:t>𝑚</m:t>
                    </m:r>
                  </m:oMath>
                </a14:m>
                <a:r>
                  <a:rPr lang="zh-CN" altLang="zh-CN" sz="2400" kern="100" spc="-150" dirty="0">
                    <a:effectLst/>
                    <a:latin typeface="Times New Roman" panose="02020603050405020304" pitchFamily="18" charset="0"/>
                  </a:rPr>
                  <a:t>阶上三角阵，</a:t>
                </a:r>
                <a:r>
                  <a:rPr lang="en-US" altLang="zh-CN" sz="2400" i="1" kern="100" spc="-150" dirty="0">
                    <a:effectLst/>
                    <a:latin typeface="Times New Roman" panose="02020603050405020304" pitchFamily="18" charset="0"/>
                  </a:rPr>
                  <a:t>Q</a:t>
                </a:r>
                <a:r>
                  <a:rPr lang="en-US" altLang="zh-CN" sz="2400" kern="100" spc="-150" baseline="-25000" dirty="0">
                    <a:effectLst/>
                    <a:latin typeface="Times New Roman" panose="02020603050405020304" pitchFamily="18" charset="0"/>
                  </a:rPr>
                  <a:t>1</a:t>
                </a:r>
                <a:r>
                  <a:rPr lang="zh-CN" altLang="zh-CN" sz="2400" kern="100" spc="-150" dirty="0">
                    <a:effectLst/>
                    <a:latin typeface="Times New Roman" panose="02020603050405020304" pitchFamily="18" charset="0"/>
                  </a:rPr>
                  <a:t>和</a:t>
                </a:r>
                <a:r>
                  <a:rPr lang="en-US" altLang="zh-CN" sz="2400" i="1" kern="100" spc="-150" dirty="0">
                    <a:effectLst/>
                    <a:latin typeface="Times New Roman" panose="02020603050405020304" pitchFamily="18" charset="0"/>
                  </a:rPr>
                  <a:t>Q</a:t>
                </a:r>
                <a:r>
                  <a:rPr lang="en-US" altLang="zh-CN" sz="2400" kern="100" spc="-150" baseline="-25000" dirty="0">
                    <a:effectLst/>
                    <a:latin typeface="Times New Roman" panose="02020603050405020304" pitchFamily="18" charset="0"/>
                  </a:rPr>
                  <a:t>2</a:t>
                </a:r>
                <a:r>
                  <a:rPr lang="zh-CN" altLang="zh-CN" sz="2400" kern="100" spc="-150" dirty="0">
                    <a:effectLst/>
                    <a:latin typeface="Times New Roman" panose="02020603050405020304" pitchFamily="18" charset="0"/>
                  </a:rPr>
                  <a:t>分别为</a:t>
                </a:r>
                <a14:m>
                  <m:oMath xmlns:m="http://schemas.openxmlformats.org/officeDocument/2006/math">
                    <m:r>
                      <a:rPr lang="en-US" altLang="zh-CN" sz="2400" i="1" kern="100" spc="-150">
                        <a:effectLst/>
                        <a:latin typeface="Cambria Math" panose="02040503050406030204" pitchFamily="18" charset="0"/>
                      </a:rPr>
                      <m:t>𝑛</m:t>
                    </m:r>
                    <m:r>
                      <a:rPr lang="en-US" altLang="zh-CN" sz="2400" i="1" kern="100" spc="-150">
                        <a:effectLst/>
                        <a:latin typeface="Cambria Math" panose="02040503050406030204" pitchFamily="18" charset="0"/>
                      </a:rPr>
                      <m:t>×</m:t>
                    </m:r>
                    <m:r>
                      <a:rPr lang="en-US" altLang="zh-CN" sz="2400" i="1" kern="100" spc="-150">
                        <a:effectLst/>
                        <a:latin typeface="Cambria Math" panose="02040503050406030204" pitchFamily="18" charset="0"/>
                      </a:rPr>
                      <m:t>𝑚</m:t>
                    </m:r>
                  </m:oMath>
                </a14:m>
                <a:r>
                  <a:rPr lang="zh-CN" altLang="zh-CN" sz="2400" kern="100" spc="-150" dirty="0">
                    <a:effectLst/>
                    <a:latin typeface="Times New Roman" panose="02020603050405020304" pitchFamily="18" charset="0"/>
                  </a:rPr>
                  <a:t>和</a:t>
                </a:r>
                <a14:m>
                  <m:oMath xmlns:m="http://schemas.openxmlformats.org/officeDocument/2006/math">
                    <m:r>
                      <a:rPr lang="en-US" altLang="zh-CN" sz="2400" i="1" kern="100" spc="-150">
                        <a:effectLst/>
                        <a:latin typeface="Cambria Math" panose="02040503050406030204" pitchFamily="18" charset="0"/>
                      </a:rPr>
                      <m:t>𝑛</m:t>
                    </m:r>
                    <m:r>
                      <a:rPr lang="en-US" altLang="zh-CN" sz="2400" i="1" kern="100" spc="-150">
                        <a:effectLst/>
                        <a:latin typeface="Cambria Math" panose="02040503050406030204" pitchFamily="18" charset="0"/>
                      </a:rPr>
                      <m:t>×(</m:t>
                    </m:r>
                    <m:r>
                      <a:rPr lang="en-US" altLang="zh-CN" sz="2400" i="1" kern="100" spc="-150">
                        <a:effectLst/>
                        <a:latin typeface="Cambria Math" panose="02040503050406030204" pitchFamily="18" charset="0"/>
                      </a:rPr>
                      <m:t>𝑛</m:t>
                    </m:r>
                    <m:r>
                      <a:rPr lang="zh-CN" altLang="en-US" sz="2400" i="1" kern="100" spc="-15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spc="-150">
                        <a:effectLst/>
                        <a:latin typeface="Cambria Math" panose="02040503050406030204" pitchFamily="18" charset="0"/>
                      </a:rPr>
                      <m:t>𝑚</m:t>
                    </m:r>
                    <m:r>
                      <a:rPr lang="en-US" altLang="zh-CN" sz="2400" i="1" kern="100" spc="-150">
                        <a:effectLst/>
                        <a:latin typeface="Cambria Math" panose="02040503050406030204" pitchFamily="18" charset="0"/>
                      </a:rPr>
                      <m:t>)</m:t>
                    </m:r>
                  </m:oMath>
                </a14:m>
                <a:r>
                  <a:rPr lang="zh-CN" altLang="zh-CN" sz="2400" kern="100" spc="-150" dirty="0">
                    <a:effectLst/>
                    <a:latin typeface="Times New Roman" panose="02020603050405020304" pitchFamily="18" charset="0"/>
                  </a:rPr>
                  <a:t>阶矩阵。此时取</a:t>
                </a:r>
                <a:endParaRPr lang="zh-CN" altLang="zh-CN" sz="2400" kern="100" spc="-150" dirty="0">
                  <a:effectLst/>
                  <a:latin typeface="Times New Roman" panose="02020603050405020304" pitchFamily="18" charset="0"/>
                </a:endParaRPr>
              </a:p>
              <a:p>
                <a:pPr indent="355600" algn="just">
                  <a:lnSpc>
                    <a:spcPct val="150000"/>
                  </a:lnSpc>
                </a:pPr>
                <a:r>
                  <a:rPr lang="en-US" altLang="zh-CN" sz="2400" kern="100" dirty="0">
                    <a:effectLst/>
                    <a:latin typeface="宋体" panose="02010600030101010101" pitchFamily="2" charset="-122"/>
                  </a:rPr>
                  <a:t>				 </a:t>
                </a:r>
                <a14:m>
                  <m:oMath xmlns:m="http://schemas.openxmlformats.org/officeDocument/2006/math">
                    <m:r>
                      <a:rPr lang="en-US" altLang="zh-CN" sz="2400" i="1" kern="100">
                        <a:effectLst/>
                        <a:latin typeface="Cambria Math" panose="02040503050406030204" pitchFamily="18" charset="0"/>
                      </a:rPr>
                      <m:t>𝑆</m:t>
                    </m:r>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𝑄</m:t>
                        </m:r>
                      </m:e>
                      <m:sub>
                        <m:r>
                          <a:rPr lang="en-US" altLang="zh-CN" sz="2400" i="1" kern="100">
                            <a:effectLst/>
                            <a:latin typeface="Cambria Math" panose="02040503050406030204" pitchFamily="18" charset="0"/>
                          </a:rPr>
                          <m:t>1</m:t>
                        </m:r>
                      </m:sub>
                    </m:sSub>
                    <m:r>
                      <a:rPr lang="en-US" altLang="zh-CN" sz="2400" i="1" kern="100">
                        <a:effectLst/>
                        <a:latin typeface="Cambria Math" panose="02040503050406030204" pitchFamily="18" charset="0"/>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𝑅</m:t>
                        </m:r>
                      </m:e>
                      <m:sup>
                        <m:r>
                          <a:rPr lang="en-US" altLang="zh-CN" sz="2400" i="1" kern="100">
                            <a:effectLst/>
                            <a:latin typeface="Cambria Math" panose="02040503050406030204" pitchFamily="18" charset="0"/>
                          </a:rPr>
                          <m:t>𝑇</m:t>
                        </m:r>
                      </m:sup>
                    </m:sSup>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rPr>
                          <m:t>)</m:t>
                        </m:r>
                      </m:e>
                      <m:sup>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rPr>
                          <m:t>1</m:t>
                        </m:r>
                      </m:sup>
                    </m:sSup>
                    <m:r>
                      <a:rPr lang="en-US" altLang="zh-CN" sz="2400" i="1" kern="100">
                        <a:effectLst/>
                        <a:latin typeface="Cambria Math" panose="02040503050406030204" pitchFamily="18" charset="0"/>
                      </a:rPr>
                      <m:t>,</m:t>
                    </m:r>
                    <m:r>
                      <a:rPr lang="en-US" altLang="zh-CN" sz="2400" i="1" kern="100">
                        <a:effectLst/>
                        <a:latin typeface="Cambria Math" panose="02040503050406030204" pitchFamily="18" charset="0"/>
                      </a:rPr>
                      <m:t>𝑍</m:t>
                    </m:r>
                    <m:r>
                      <a:rPr lang="en-US" altLang="zh-CN" sz="2400" i="1" kern="100">
                        <a:effectLst/>
                        <a:latin typeface="Cambria Math" panose="02040503050406030204" pitchFamily="18" charset="0"/>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rPr>
                          <m:t>𝑄</m:t>
                        </m:r>
                      </m:e>
                      <m:sub>
                        <m:r>
                          <a:rPr lang="en-US" altLang="zh-CN" sz="2400" i="1" kern="100">
                            <a:effectLst/>
                            <a:latin typeface="Cambria Math" panose="02040503050406030204" pitchFamily="18" charset="0"/>
                          </a:rPr>
                          <m:t>2</m:t>
                        </m:r>
                      </m:sub>
                    </m:sSub>
                  </m:oMath>
                </a14:m>
                <a:r>
                  <a:rPr lang="en-US" altLang="zh-CN" sz="2400" kern="100" dirty="0">
                    <a:effectLst/>
                    <a:latin typeface="宋体" panose="02010600030101010101" pitchFamily="2" charset="-122"/>
                  </a:rPr>
                  <a:t> 			   </a:t>
                </a:r>
                <a:endParaRPr lang="zh-CN" altLang="zh-CN" sz="2400" kern="100" dirty="0">
                  <a:effectLst/>
                  <a:latin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623392" y="527218"/>
                <a:ext cx="10729192" cy="5363845"/>
              </a:xfrm>
              <a:prstGeom prst="rect">
                <a:avLst/>
              </a:prstGeom>
              <a:blipFill rotWithShape="1">
                <a:blip r:embed="rId1"/>
                <a:stretch>
                  <a:fillRect l="-4" t="-3" r="1" b="3"/>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文本框 6"/>
              <p:cNvSpPr txBox="1"/>
              <p:nvPr/>
            </p:nvSpPr>
            <p:spPr>
              <a:xfrm>
                <a:off x="551384" y="476672"/>
                <a:ext cx="11089232" cy="5386026"/>
              </a:xfrm>
              <a:prstGeom prst="rect">
                <a:avLst/>
              </a:prstGeom>
              <a:noFill/>
            </p:spPr>
            <p:txBody>
              <a:bodyPr wrap="square" rtlCol="0">
                <a:spAutoFit/>
              </a:bodyPr>
              <a:lstStyle/>
              <a:p>
                <a:pPr indent="355600" algn="just">
                  <a:lnSpc>
                    <a:spcPct val="150000"/>
                  </a:lnSpc>
                </a:pPr>
                <a:r>
                  <a:rPr lang="en-US" altLang="zh-CN" sz="2400" kern="100" dirty="0">
                    <a:effectLst/>
                    <a:latin typeface="+mn-ea"/>
                    <a:ea typeface="+mn-ea"/>
                  </a:rPr>
                  <a:t> </a:t>
                </a:r>
                <a:r>
                  <a:rPr lang="zh-CN" altLang="zh-CN" sz="2400" kern="100" dirty="0">
                    <a:effectLst/>
                    <a:latin typeface="+mn-ea"/>
                    <a:ea typeface="+mn-ea"/>
                  </a:rPr>
                  <a:t>下面给出矩阵</a:t>
                </a:r>
                <a:r>
                  <a:rPr lang="en-US" altLang="zh-CN" sz="2400" i="1" kern="100" dirty="0">
                    <a:latin typeface="Times New Roman" panose="02020603050405020304" pitchFamily="18" charset="0"/>
                  </a:rPr>
                  <a:t>S</a:t>
                </a:r>
                <a:r>
                  <a:rPr lang="zh-CN" altLang="zh-CN" sz="2400" kern="100" dirty="0">
                    <a:latin typeface="Times New Roman" panose="02020603050405020304" pitchFamily="18" charset="0"/>
                  </a:rPr>
                  <a:t>和</a:t>
                </a:r>
                <a:r>
                  <a:rPr lang="en-US" altLang="zh-CN" sz="2400" i="1" kern="100" dirty="0">
                    <a:latin typeface="Times New Roman" panose="02020603050405020304" pitchFamily="18" charset="0"/>
                  </a:rPr>
                  <a:t>Z</a:t>
                </a:r>
                <a:r>
                  <a:rPr lang="zh-CN" altLang="zh-CN" sz="2400" kern="100" dirty="0">
                    <a:effectLst/>
                    <a:latin typeface="+mn-ea"/>
                    <a:ea typeface="+mn-ea"/>
                  </a:rPr>
                  <a:t>的一般格式</a:t>
                </a:r>
                <a:r>
                  <a:rPr lang="zh-CN" altLang="en-US" sz="2400" kern="100" dirty="0">
                    <a:effectLst/>
                    <a:latin typeface="+mn-ea"/>
                    <a:ea typeface="+mn-ea"/>
                  </a:rPr>
                  <a:t>。</a:t>
                </a:r>
                <a:r>
                  <a:rPr lang="zh-CN" altLang="zh-CN" sz="2400" kern="100" dirty="0">
                    <a:effectLst/>
                    <a:latin typeface="+mn-ea"/>
                    <a:ea typeface="+mn-ea"/>
                  </a:rPr>
                  <a:t>任取</a:t>
                </a:r>
                <a14:m>
                  <m:oMath xmlns:m="http://schemas.openxmlformats.org/officeDocument/2006/math">
                    <m:r>
                      <a:rPr lang="en-US" altLang="zh-CN" sz="2400" i="1" kern="100">
                        <a:effectLst/>
                        <a:latin typeface="Cambria Math" panose="02040503050406030204" pitchFamily="18" charset="0"/>
                        <a:ea typeface="+mn-ea"/>
                      </a:rPr>
                      <m:t>𝑛</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𝑛</m:t>
                    </m:r>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𝑚</m:t>
                    </m:r>
                    <m:r>
                      <a:rPr lang="en-US" altLang="zh-CN" sz="2400" i="1" kern="100">
                        <a:effectLst/>
                        <a:latin typeface="Cambria Math" panose="02040503050406030204" pitchFamily="18" charset="0"/>
                        <a:ea typeface="+mn-ea"/>
                      </a:rPr>
                      <m:t>)</m:t>
                    </m:r>
                  </m:oMath>
                </a14:m>
                <a:r>
                  <a:rPr lang="zh-CN" altLang="zh-CN" sz="2400" kern="100" dirty="0">
                    <a:effectLst/>
                    <a:latin typeface="+mn-ea"/>
                    <a:ea typeface="+mn-ea"/>
                  </a:rPr>
                  <a:t>阶矩阵</a:t>
                </a:r>
                <a14:m>
                  <m:oMath xmlns:m="http://schemas.openxmlformats.org/officeDocument/2006/math">
                    <m:r>
                      <a:rPr lang="en-US" altLang="zh-CN" sz="2400" i="1" kern="100">
                        <a:latin typeface="Cambria Math" panose="02040503050406030204" pitchFamily="18" charset="0"/>
                        <a:ea typeface="+mn-ea"/>
                      </a:rPr>
                      <m:t>𝑉</m:t>
                    </m:r>
                    <m:r>
                      <a:rPr lang="en-US" altLang="zh-CN" sz="2400" i="1" kern="100">
                        <a:latin typeface="Cambria Math" panose="02040503050406030204" pitchFamily="18" charset="0"/>
                        <a:ea typeface="+mn-ea"/>
                      </a:rPr>
                      <m:t> </m:t>
                    </m:r>
                  </m:oMath>
                </a14:m>
                <a:r>
                  <a:rPr lang="zh-CN" altLang="zh-CN" sz="2400" kern="100" dirty="0">
                    <a:effectLst/>
                    <a:latin typeface="+mn-ea"/>
                    <a:ea typeface="+mn-ea"/>
                  </a:rPr>
                  <a:t>，使得矩阵</a:t>
                </a:r>
                <a:r>
                  <a:rPr lang="en-US" altLang="zh-CN" sz="2400" kern="100" dirty="0">
                    <a:latin typeface="+mn-ea"/>
                    <a:ea typeface="+mn-ea"/>
                  </a:rPr>
                  <a:t>(</a:t>
                </a:r>
                <a14:m>
                  <m:oMath xmlns:m="http://schemas.openxmlformats.org/officeDocument/2006/math">
                    <m:r>
                      <a:rPr lang="en-US" altLang="zh-CN" sz="2400" i="1" kern="100">
                        <a:latin typeface="Cambria Math" panose="02040503050406030204" pitchFamily="18" charset="0"/>
                        <a:ea typeface="+mn-ea"/>
                      </a:rPr>
                      <m:t>𝐴</m:t>
                    </m:r>
                  </m:oMath>
                </a14:m>
                <a:r>
                  <a:rPr lang="en-US" altLang="zh-CN" sz="2400" kern="100" dirty="0">
                    <a:effectLst/>
                    <a:latin typeface="+mn-ea"/>
                    <a:ea typeface="+mn-ea"/>
                  </a:rPr>
                  <a:t>,</a:t>
                </a:r>
                <a:r>
                  <a:rPr lang="en-US" altLang="zh-CN" sz="2400" kern="100" dirty="0">
                    <a:latin typeface="+mn-ea"/>
                    <a:ea typeface="+mn-ea"/>
                  </a:rPr>
                  <a:t> </a:t>
                </a:r>
                <a14:m>
                  <m:oMath xmlns:m="http://schemas.openxmlformats.org/officeDocument/2006/math">
                    <m:r>
                      <a:rPr lang="en-US" altLang="zh-CN" sz="2400" i="1" kern="100">
                        <a:latin typeface="Cambria Math" panose="02040503050406030204" pitchFamily="18" charset="0"/>
                        <a:ea typeface="+mn-ea"/>
                      </a:rPr>
                      <m:t>𝑉</m:t>
                    </m:r>
                  </m:oMath>
                </a14:m>
                <a:r>
                  <a:rPr lang="en-US" altLang="zh-CN" sz="2400" kern="100" dirty="0">
                    <a:effectLst/>
                    <a:latin typeface="+mn-ea"/>
                    <a:ea typeface="+mn-ea"/>
                  </a:rPr>
                  <a:t>)</a:t>
                </a:r>
                <a:r>
                  <a:rPr lang="zh-CN" altLang="zh-CN" sz="2400" kern="100" dirty="0">
                    <a:effectLst/>
                    <a:latin typeface="+mn-ea"/>
                    <a:ea typeface="+mn-ea"/>
                  </a:rPr>
                  <a:t>是非奇异的，令其逆分解形式为</a:t>
                </a:r>
                <a:endParaRPr lang="zh-CN" altLang="zh-CN" sz="2400" kern="100" dirty="0">
                  <a:effectLst/>
                  <a:latin typeface="+mn-ea"/>
                  <a:ea typeface="+mn-ea"/>
                </a:endParaRPr>
              </a:p>
              <a:p>
                <a:pPr algn="ctr"/>
                <a:r>
                  <a:rPr lang="en-US" altLang="zh-CN" sz="2400" kern="100" dirty="0">
                    <a:effectLst/>
                    <a:latin typeface="+mn-ea"/>
                    <a:ea typeface="+mn-ea"/>
                  </a:rPr>
                  <a:t>			</a:t>
                </a:r>
                <a14:m>
                  <m:oMath xmlns:m="http://schemas.openxmlformats.org/officeDocument/2006/math">
                    <m:r>
                      <a:rPr lang="en-US" altLang="zh-CN" sz="2400" i="1" kern="100">
                        <a:effectLst/>
                        <a:latin typeface="Cambria Math" panose="02040503050406030204" pitchFamily="18" charset="0"/>
                        <a:ea typeface="+mn-ea"/>
                      </a:rPr>
                      <m:t>(</m:t>
                    </m:r>
                    <m:m>
                      <m:mPr>
                        <m:mcs>
                          <m:mc>
                            <m:mcPr>
                              <m:count m:val="2"/>
                              <m:mcJc m:val="center"/>
                            </m:mcPr>
                          </m:mc>
                        </m:mcs>
                        <m:ctrlPr>
                          <a:rPr lang="zh-CN" altLang="zh-CN" sz="2400" i="1" kern="100">
                            <a:effectLst/>
                            <a:latin typeface="Cambria Math" panose="02040503050406030204" pitchFamily="18" charset="0"/>
                            <a:ea typeface="+mn-ea"/>
                          </a:rPr>
                        </m:ctrlPr>
                      </m:mPr>
                      <m:mr>
                        <m:e>
                          <m:r>
                            <a:rPr lang="en-US" altLang="zh-CN" sz="2400" i="1" kern="100">
                              <a:effectLst/>
                              <a:latin typeface="Cambria Math" panose="02040503050406030204" pitchFamily="18" charset="0"/>
                              <a:ea typeface="+mn-ea"/>
                            </a:rPr>
                            <m:t>𝐴</m:t>
                          </m:r>
                        </m:e>
                        <m:e>
                          <m:r>
                            <a:rPr lang="en-US" altLang="zh-CN" sz="2400" i="1" kern="100">
                              <a:effectLst/>
                              <a:latin typeface="Cambria Math" panose="02040503050406030204" pitchFamily="18" charset="0"/>
                              <a:ea typeface="+mn-ea"/>
                            </a:rPr>
                            <m:t>𝑉</m:t>
                          </m:r>
                        </m:e>
                      </m:mr>
                    </m:m>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r>
                      <a:rPr lang="en-US" altLang="zh-CN" sz="2400" i="1" kern="100">
                        <a:effectLst/>
                        <a:latin typeface="Cambria Math" panose="02040503050406030204" pitchFamily="18" charset="0"/>
                        <a:ea typeface="+mn-ea"/>
                      </a:rPr>
                      <m:t>=</m:t>
                    </m:r>
                    <m:d>
                      <m:dPr>
                        <m:ctrlPr>
                          <a:rPr lang="zh-CN" altLang="zh-CN" sz="2400" i="1" kern="100">
                            <a:effectLst/>
                            <a:latin typeface="Cambria Math" panose="02040503050406030204" pitchFamily="18" charset="0"/>
                            <a:ea typeface="+mn-ea"/>
                          </a:rPr>
                        </m:ctrlPr>
                      </m:dPr>
                      <m:e>
                        <m:m>
                          <m:mPr>
                            <m:mcs>
                              <m:mc>
                                <m:mcPr>
                                  <m:count m:val="1"/>
                                  <m:mcJc m:val="center"/>
                                </m:mcPr>
                              </m:mc>
                            </m:mcs>
                            <m:ctrlPr>
                              <a:rPr lang="zh-CN" altLang="zh-CN" sz="2400" i="1" kern="100">
                                <a:effectLst/>
                                <a:latin typeface="Cambria Math" panose="02040503050406030204" pitchFamily="18" charset="0"/>
                                <a:ea typeface="+mn-ea"/>
                              </a:rPr>
                            </m:ctrlPr>
                          </m:mPr>
                          <m:mr>
                            <m:e>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𝑆</m:t>
                                  </m:r>
                                </m:e>
                                <m:sup>
                                  <m:r>
                                    <a:rPr lang="en-US" altLang="zh-CN" sz="2400" i="1" kern="100">
                                      <a:effectLst/>
                                      <a:latin typeface="Cambria Math" panose="02040503050406030204" pitchFamily="18" charset="0"/>
                                      <a:ea typeface="+mn-ea"/>
                                    </a:rPr>
                                    <m:t>𝑇</m:t>
                                  </m:r>
                                </m:sup>
                              </m:sSup>
                            </m:e>
                          </m:mr>
                          <m:mr>
                            <m:e>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𝑍</m:t>
                                  </m:r>
                                </m:e>
                                <m:sup>
                                  <m:r>
                                    <a:rPr lang="en-US" altLang="zh-CN" sz="2400" i="1" kern="100">
                                      <a:effectLst/>
                                      <a:latin typeface="Cambria Math" panose="02040503050406030204" pitchFamily="18" charset="0"/>
                                      <a:ea typeface="+mn-ea"/>
                                    </a:rPr>
                                    <m:t>𝑇</m:t>
                                  </m:r>
                                </m:sup>
                              </m:sSup>
                            </m:e>
                          </m:mr>
                        </m:m>
                      </m:e>
                    </m:d>
                  </m:oMath>
                </a14:m>
                <a:r>
                  <a:rPr lang="en-US" altLang="zh-CN" sz="2400" kern="100" dirty="0">
                    <a:effectLst/>
                    <a:latin typeface="+mn-ea"/>
                    <a:ea typeface="+mn-ea"/>
                  </a:rPr>
                  <a:t>				   </a:t>
                </a:r>
                <a:endParaRPr lang="zh-CN" altLang="zh-CN" sz="2400" kern="100" dirty="0">
                  <a:effectLst/>
                  <a:latin typeface="+mn-ea"/>
                  <a:ea typeface="+mn-ea"/>
                </a:endParaRPr>
              </a:p>
              <a:p>
                <a:pPr algn="just"/>
                <a:r>
                  <a:rPr lang="zh-CN" altLang="zh-CN" sz="2400" kern="100" dirty="0">
                    <a:effectLst/>
                    <a:latin typeface="+mn-ea"/>
                    <a:ea typeface="+mn-ea"/>
                  </a:rPr>
                  <a:t>其中</a:t>
                </a:r>
                <a:r>
                  <a:rPr lang="en-US" altLang="zh-CN" sz="2400" i="1" kern="100" dirty="0">
                    <a:latin typeface="Times New Roman" panose="02020603050405020304" pitchFamily="18" charset="0"/>
                  </a:rPr>
                  <a:t>S</a:t>
                </a:r>
                <a:r>
                  <a:rPr lang="zh-CN" altLang="zh-CN" sz="2400" kern="100" dirty="0">
                    <a:latin typeface="Times New Roman" panose="02020603050405020304" pitchFamily="18" charset="0"/>
                  </a:rPr>
                  <a:t>和</a:t>
                </a:r>
                <a:r>
                  <a:rPr lang="en-US" altLang="zh-CN" sz="2400" i="1" kern="100" dirty="0">
                    <a:latin typeface="Times New Roman" panose="02020603050405020304" pitchFamily="18" charset="0"/>
                  </a:rPr>
                  <a:t>Z</a:t>
                </a:r>
                <a:r>
                  <a:rPr lang="zh-CN" altLang="zh-CN" sz="2400" kern="100" dirty="0">
                    <a:effectLst/>
                    <a:latin typeface="+mn-ea"/>
                    <a:ea typeface="+mn-ea"/>
                  </a:rPr>
                  <a:t>分别为</a:t>
                </a:r>
                <a14:m>
                  <m:oMath xmlns:m="http://schemas.openxmlformats.org/officeDocument/2006/math">
                    <m:r>
                      <a:rPr lang="en-US" altLang="zh-CN" sz="2400" i="1" kern="100">
                        <a:effectLst/>
                        <a:latin typeface="Cambria Math" panose="02040503050406030204" pitchFamily="18" charset="0"/>
                        <a:ea typeface="+mn-ea"/>
                      </a:rPr>
                      <m:t>𝑛</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𝑚</m:t>
                    </m:r>
                  </m:oMath>
                </a14:m>
                <a:r>
                  <a:rPr lang="zh-CN" altLang="zh-CN" sz="2400" kern="100" dirty="0">
                    <a:effectLst/>
                    <a:latin typeface="+mn-ea"/>
                    <a:ea typeface="+mn-ea"/>
                  </a:rPr>
                  <a:t>和</a:t>
                </a:r>
                <a14:m>
                  <m:oMath xmlns:m="http://schemas.openxmlformats.org/officeDocument/2006/math">
                    <m:r>
                      <a:rPr lang="en-US" altLang="zh-CN" sz="2400" i="1" kern="100">
                        <a:effectLst/>
                        <a:latin typeface="Cambria Math" panose="02040503050406030204" pitchFamily="18" charset="0"/>
                        <a:ea typeface="+mn-ea"/>
                      </a:rPr>
                      <m:t>𝑛</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𝑛</m:t>
                    </m:r>
                    <m:r>
                      <a:rPr lang="en-US" altLang="zh-CN" sz="2400" i="1" kern="100">
                        <a:effectLst/>
                        <a:latin typeface="Cambria Math" panose="02040503050406030204" pitchFamily="18" charset="0"/>
                        <a:ea typeface="+mn-ea"/>
                      </a:rPr>
                      <m:t>−</m:t>
                    </m:r>
                    <m:r>
                      <a:rPr lang="en-US" altLang="zh-CN" sz="2400" i="1" kern="100">
                        <a:effectLst/>
                        <a:latin typeface="Cambria Math" panose="02040503050406030204" pitchFamily="18" charset="0"/>
                        <a:ea typeface="+mn-ea"/>
                      </a:rPr>
                      <m:t>𝑚</m:t>
                    </m:r>
                    <m:r>
                      <a:rPr lang="en-US" altLang="zh-CN" sz="2400" i="1" kern="100">
                        <a:effectLst/>
                        <a:latin typeface="Cambria Math" panose="02040503050406030204" pitchFamily="18" charset="0"/>
                        <a:ea typeface="+mn-ea"/>
                      </a:rPr>
                      <m:t>)</m:t>
                    </m:r>
                  </m:oMath>
                </a14:m>
                <a:r>
                  <a:rPr lang="zh-CN" altLang="zh-CN" sz="2400" kern="100" dirty="0">
                    <a:effectLst/>
                    <a:latin typeface="+mn-ea"/>
                    <a:ea typeface="+mn-ea"/>
                  </a:rPr>
                  <a:t>阶矩阵</a:t>
                </a:r>
                <a:r>
                  <a:rPr lang="zh-CN" altLang="en-US" sz="2400" kern="100" dirty="0">
                    <a:effectLst/>
                    <a:latin typeface="+mn-ea"/>
                    <a:ea typeface="+mn-ea"/>
                  </a:rPr>
                  <a:t>。</a:t>
                </a:r>
                <a:r>
                  <a:rPr lang="zh-CN" altLang="zh-CN" sz="2400" kern="100" dirty="0">
                    <a:effectLst/>
                    <a:latin typeface="+mn-ea"/>
                    <a:ea typeface="+mn-ea"/>
                  </a:rPr>
                  <a:t>若取</a:t>
                </a:r>
                <a14:m>
                  <m:oMath xmlns:m="http://schemas.openxmlformats.org/officeDocument/2006/math">
                    <m:r>
                      <a:rPr lang="en-US" altLang="zh-CN" sz="2400" i="1" kern="100">
                        <a:effectLst/>
                        <a:latin typeface="Cambria Math" panose="02040503050406030204" pitchFamily="18" charset="0"/>
                        <a:ea typeface="+mn-ea"/>
                      </a:rPr>
                      <m:t>𝑉</m:t>
                    </m:r>
                    <m:r>
                      <a:rPr lang="en-US" altLang="zh-CN" sz="2400" i="1" kern="100">
                        <a:effectLst/>
                        <a:latin typeface="Cambria Math" panose="02040503050406030204" pitchFamily="18" charset="0"/>
                        <a:ea typeface="+mn-ea"/>
                      </a:rPr>
                      <m:t>=</m:t>
                    </m:r>
                    <m:d>
                      <m:dPr>
                        <m:ctrlPr>
                          <a:rPr lang="zh-CN" altLang="zh-CN" sz="2400" i="1" kern="100">
                            <a:effectLst/>
                            <a:latin typeface="Cambria Math" panose="02040503050406030204" pitchFamily="18" charset="0"/>
                            <a:ea typeface="+mn-ea"/>
                          </a:rPr>
                        </m:ctrlPr>
                      </m:dPr>
                      <m:e>
                        <m:m>
                          <m:mPr>
                            <m:mcs>
                              <m:mc>
                                <m:mcPr>
                                  <m:count m:val="1"/>
                                  <m:mcJc m:val="center"/>
                                </m:mcPr>
                              </m:mc>
                            </m:mcs>
                            <m:ctrlPr>
                              <a:rPr lang="zh-CN" altLang="zh-CN" sz="2400" i="1" kern="100">
                                <a:effectLst/>
                                <a:latin typeface="Cambria Math" panose="02040503050406030204" pitchFamily="18" charset="0"/>
                                <a:ea typeface="+mn-ea"/>
                              </a:rPr>
                            </m:ctrlPr>
                          </m:mPr>
                          <m:mr>
                            <m:e>
                              <m:r>
                                <a:rPr lang="en-US" altLang="zh-CN" sz="2400" i="1" kern="100">
                                  <a:effectLst/>
                                  <a:latin typeface="Cambria Math" panose="02040503050406030204" pitchFamily="18" charset="0"/>
                                  <a:ea typeface="+mn-ea"/>
                                </a:rPr>
                                <m:t>0</m:t>
                              </m:r>
                            </m:e>
                          </m:mr>
                          <m:mr>
                            <m:e>
                              <m:r>
                                <a:rPr lang="en-US" altLang="zh-CN" sz="2400" i="1" kern="100">
                                  <a:effectLst/>
                                  <a:latin typeface="Cambria Math" panose="02040503050406030204" pitchFamily="18" charset="0"/>
                                  <a:ea typeface="+mn-ea"/>
                                </a:rPr>
                                <m:t>𝐼</m:t>
                              </m:r>
                            </m:e>
                          </m:mr>
                        </m:m>
                      </m:e>
                    </m:d>
                  </m:oMath>
                </a14:m>
                <a:r>
                  <a:rPr lang="zh-CN" altLang="zh-CN" sz="2400" kern="100" dirty="0">
                    <a:effectLst/>
                    <a:latin typeface="+mn-ea"/>
                    <a:ea typeface="+mn-ea"/>
                  </a:rPr>
                  <a:t>，则有</a:t>
                </a:r>
                <a:endParaRPr lang="zh-CN" altLang="zh-CN" sz="2400" kern="100" dirty="0">
                  <a:effectLst/>
                  <a:latin typeface="+mn-ea"/>
                  <a:ea typeface="+mn-ea"/>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ea typeface="+mn-ea"/>
                        </a:rPr>
                        <m:t>(</m:t>
                      </m:r>
                      <m:m>
                        <m:mPr>
                          <m:mcs>
                            <m:mc>
                              <m:mcPr>
                                <m:count m:val="2"/>
                                <m:mcJc m:val="center"/>
                              </m:mcPr>
                            </m:mc>
                          </m:mcs>
                          <m:ctrlPr>
                            <a:rPr lang="zh-CN" altLang="zh-CN" sz="2400" i="1" kern="100">
                              <a:effectLst/>
                              <a:latin typeface="Cambria Math" panose="02040503050406030204" pitchFamily="18" charset="0"/>
                              <a:ea typeface="+mn-ea"/>
                            </a:rPr>
                          </m:ctrlPr>
                        </m:mPr>
                        <m:mr>
                          <m:e>
                            <m:r>
                              <a:rPr lang="en-US" altLang="zh-CN" sz="2400" i="1" kern="100">
                                <a:effectLst/>
                                <a:latin typeface="Cambria Math" panose="02040503050406030204" pitchFamily="18" charset="0"/>
                                <a:ea typeface="+mn-ea"/>
                              </a:rPr>
                              <m:t>𝐴</m:t>
                            </m:r>
                          </m:e>
                          <m:e>
                            <m:r>
                              <a:rPr lang="en-US" altLang="zh-CN" sz="2400" i="1" kern="100">
                                <a:effectLst/>
                                <a:latin typeface="Cambria Math" panose="02040503050406030204" pitchFamily="18" charset="0"/>
                                <a:ea typeface="+mn-ea"/>
                              </a:rPr>
                              <m:t>𝑉</m:t>
                            </m:r>
                          </m:e>
                        </m:mr>
                      </m:m>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r>
                        <a:rPr lang="en-US" altLang="zh-CN" sz="2400" i="1" kern="100">
                          <a:effectLst/>
                          <a:latin typeface="Cambria Math" panose="02040503050406030204" pitchFamily="18" charset="0"/>
                          <a:ea typeface="+mn-ea"/>
                        </a:rPr>
                        <m:t>=</m:t>
                      </m:r>
                      <m:sSup>
                        <m:sSupPr>
                          <m:ctrlPr>
                            <a:rPr lang="zh-CN" altLang="zh-CN" sz="2400" i="1" kern="100">
                              <a:effectLst/>
                              <a:latin typeface="Cambria Math" panose="02040503050406030204" pitchFamily="18" charset="0"/>
                              <a:ea typeface="+mn-ea"/>
                            </a:rPr>
                          </m:ctrlPr>
                        </m:sSupPr>
                        <m:e>
                          <m:d>
                            <m:dPr>
                              <m:ctrlPr>
                                <a:rPr lang="zh-CN" altLang="zh-CN" sz="2400" i="1" kern="100">
                                  <a:effectLst/>
                                  <a:latin typeface="Cambria Math" panose="02040503050406030204" pitchFamily="18" charset="0"/>
                                  <a:ea typeface="+mn-ea"/>
                                </a:rPr>
                              </m:ctrlPr>
                            </m:dPr>
                            <m:e>
                              <m:m>
                                <m:mPr>
                                  <m:mcs>
                                    <m:mc>
                                      <m:mcPr>
                                        <m:count m:val="2"/>
                                        <m:mcJc m:val="center"/>
                                      </m:mcPr>
                                    </m:mc>
                                  </m:mcs>
                                  <m:ctrlPr>
                                    <a:rPr lang="zh-CN" altLang="zh-CN" sz="2400" i="1" kern="100">
                                      <a:effectLst/>
                                      <a:latin typeface="Cambria Math" panose="02040503050406030204" pitchFamily="18" charset="0"/>
                                      <a:ea typeface="+mn-ea"/>
                                    </a:rPr>
                                  </m:ctrlPr>
                                </m:mPr>
                                <m:m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Sub>
                                  </m:e>
                                  <m:e>
                                    <m:r>
                                      <a:rPr lang="en-US" altLang="zh-CN" sz="2400" i="1" kern="100">
                                        <a:effectLst/>
                                        <a:latin typeface="Cambria Math" panose="02040503050406030204" pitchFamily="18" charset="0"/>
                                        <a:ea typeface="+mn-ea"/>
                                      </a:rPr>
                                      <m:t>0</m:t>
                                    </m:r>
                                  </m:e>
                                </m:mr>
                                <m:m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𝑁</m:t>
                                        </m:r>
                                      </m:sub>
                                    </m:sSub>
                                  </m:e>
                                  <m:e>
                                    <m:r>
                                      <a:rPr lang="en-US" altLang="zh-CN" sz="2400" i="1" kern="100">
                                        <a:effectLst/>
                                        <a:latin typeface="Cambria Math" panose="02040503050406030204" pitchFamily="18" charset="0"/>
                                        <a:ea typeface="+mn-ea"/>
                                      </a:rPr>
                                      <m:t>𝐼</m:t>
                                    </m:r>
                                  </m:e>
                                </m:mr>
                              </m:m>
                            </m:e>
                          </m:d>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r>
                        <a:rPr lang="en-US" altLang="zh-CN" sz="2400" i="1" kern="100">
                          <a:effectLst/>
                          <a:latin typeface="Cambria Math" panose="02040503050406030204" pitchFamily="18" charset="0"/>
                          <a:ea typeface="+mn-ea"/>
                        </a:rPr>
                        <m:t>=</m:t>
                      </m:r>
                      <m:d>
                        <m:dPr>
                          <m:ctrlPr>
                            <a:rPr lang="zh-CN" altLang="zh-CN" sz="2400" i="1" kern="100">
                              <a:effectLst/>
                              <a:latin typeface="Cambria Math" panose="02040503050406030204" pitchFamily="18" charset="0"/>
                              <a:ea typeface="+mn-ea"/>
                            </a:rPr>
                          </m:ctrlPr>
                        </m:dPr>
                        <m:e>
                          <m:m>
                            <m:mPr>
                              <m:mcs>
                                <m:mc>
                                  <m:mcPr>
                                    <m:count m:val="2"/>
                                    <m:mcJc m:val="center"/>
                                  </m:mcPr>
                                </m:mc>
                              </m:mcs>
                              <m:ctrlPr>
                                <a:rPr lang="zh-CN" altLang="zh-CN" sz="2400" i="1" kern="100">
                                  <a:effectLst/>
                                  <a:latin typeface="Cambria Math" panose="02040503050406030204" pitchFamily="18" charset="0"/>
                                  <a:ea typeface="+mn-ea"/>
                                </a:rPr>
                              </m:ctrlPr>
                            </m:mPr>
                            <m:mr>
                              <m:e>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bSup>
                              </m:e>
                              <m:e>
                                <m:r>
                                  <a:rPr lang="en-US" altLang="zh-CN" sz="2400" i="1" kern="100">
                                    <a:effectLst/>
                                    <a:latin typeface="Cambria Math" panose="02040503050406030204" pitchFamily="18" charset="0"/>
                                    <a:ea typeface="+mn-ea"/>
                                  </a:rPr>
                                  <m:t>0</m:t>
                                </m:r>
                              </m:e>
                            </m:mr>
                            <m:mr>
                              <m:e>
                                <m:r>
                                  <a:rPr lang="zh-CN" altLang="en-US" sz="2400" i="1" kern="100">
                                    <a:effectLst/>
                                    <a:latin typeface="Cambria Math" panose="02040503050406030204" pitchFamily="18" charset="0"/>
                                    <a:ea typeface="+mn-ea"/>
                                    <a:cs typeface="微软雅黑" panose="020B0503020204020204" pitchFamily="34" charset="-122"/>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𝑁</m:t>
                                    </m:r>
                                  </m:sub>
                                </m:sSub>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𝐴</m:t>
                                    </m:r>
                                  </m:e>
                                  <m:sub>
                                    <m:r>
                                      <a:rPr lang="en-US" altLang="zh-CN" sz="2400" i="1" kern="100">
                                        <a:effectLst/>
                                        <a:latin typeface="Cambria Math" panose="02040503050406030204" pitchFamily="18" charset="0"/>
                                        <a:ea typeface="+mn-ea"/>
                                      </a:rPr>
                                      <m:t>𝐵</m:t>
                                    </m:r>
                                  </m:sub>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bSup>
                              </m:e>
                              <m:e>
                                <m:r>
                                  <a:rPr lang="en-US" altLang="zh-CN" sz="2400" i="1" kern="100">
                                    <a:effectLst/>
                                    <a:latin typeface="Cambria Math" panose="02040503050406030204" pitchFamily="18" charset="0"/>
                                    <a:ea typeface="+mn-ea"/>
                                  </a:rPr>
                                  <m:t>𝐼</m:t>
                                </m:r>
                              </m:e>
                            </m:mr>
                          </m:m>
                        </m:e>
                      </m:d>
                      <m:r>
                        <a:rPr lang="en-US" altLang="zh-CN" sz="2400" i="1" kern="100">
                          <a:effectLst/>
                          <a:latin typeface="Cambria Math" panose="02040503050406030204" pitchFamily="18" charset="0"/>
                          <a:ea typeface="+mn-ea"/>
                        </a:rPr>
                        <m:t>=</m:t>
                      </m:r>
                      <m:d>
                        <m:dPr>
                          <m:ctrlPr>
                            <a:rPr lang="zh-CN" altLang="zh-CN" sz="2400" i="1" kern="100">
                              <a:effectLst/>
                              <a:latin typeface="Cambria Math" panose="02040503050406030204" pitchFamily="18" charset="0"/>
                              <a:ea typeface="+mn-ea"/>
                            </a:rPr>
                          </m:ctrlPr>
                        </m:dPr>
                        <m:e>
                          <m:m>
                            <m:mPr>
                              <m:mcs>
                                <m:mc>
                                  <m:mcPr>
                                    <m:count m:val="1"/>
                                    <m:mcJc m:val="center"/>
                                  </m:mcPr>
                                </m:mc>
                              </m:mcs>
                              <m:ctrlPr>
                                <a:rPr lang="zh-CN" altLang="zh-CN" sz="2400" i="1" kern="100">
                                  <a:effectLst/>
                                  <a:latin typeface="Cambria Math" panose="02040503050406030204" pitchFamily="18" charset="0"/>
                                  <a:ea typeface="+mn-ea"/>
                                </a:rPr>
                              </m:ctrlPr>
                            </m:mPr>
                            <m:mr>
                              <m:e>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𝑆</m:t>
                                    </m:r>
                                  </m:e>
                                  <m:sup>
                                    <m:r>
                                      <a:rPr lang="en-US" altLang="zh-CN" sz="2400" i="1" kern="100">
                                        <a:effectLst/>
                                        <a:latin typeface="Cambria Math" panose="02040503050406030204" pitchFamily="18" charset="0"/>
                                        <a:ea typeface="+mn-ea"/>
                                      </a:rPr>
                                      <m:t>𝑇</m:t>
                                    </m:r>
                                  </m:sup>
                                </m:sSup>
                              </m:e>
                            </m:mr>
                            <m:mr>
                              <m:e>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𝑍</m:t>
                                    </m:r>
                                  </m:e>
                                  <m:sup>
                                    <m:r>
                                      <a:rPr lang="en-US" altLang="zh-CN" sz="2400" i="1" kern="100">
                                        <a:effectLst/>
                                        <a:latin typeface="Cambria Math" panose="02040503050406030204" pitchFamily="18" charset="0"/>
                                        <a:ea typeface="+mn-ea"/>
                                      </a:rPr>
                                      <m:t>𝑇</m:t>
                                    </m:r>
                                  </m:sup>
                                </m:sSup>
                              </m:e>
                            </m:mr>
                          </m:m>
                        </m:e>
                      </m:d>
                    </m:oMath>
                  </m:oMathPara>
                </a14:m>
                <a:endParaRPr lang="en-US" altLang="zh-CN" sz="2400" kern="100" dirty="0">
                  <a:effectLst/>
                  <a:latin typeface="+mn-ea"/>
                  <a:ea typeface="+mn-ea"/>
                </a:endParaRPr>
              </a:p>
              <a:p>
                <a:pPr algn="just"/>
                <a:r>
                  <a:rPr lang="zh-CN" altLang="zh-CN" sz="2400" kern="100" dirty="0">
                    <a:effectLst/>
                    <a:latin typeface="+mn-ea"/>
                    <a:ea typeface="+mn-ea"/>
                  </a:rPr>
                  <a:t>此时，该方法是直接消去法。另外，如果取</a:t>
                </a:r>
                <a14:m>
                  <m:oMath xmlns:m="http://schemas.openxmlformats.org/officeDocument/2006/math">
                    <m:r>
                      <a:rPr lang="en-US" altLang="zh-CN" sz="2400" i="1" kern="100">
                        <a:effectLst/>
                        <a:latin typeface="Cambria Math" panose="02040503050406030204" pitchFamily="18" charset="0"/>
                        <a:ea typeface="+mn-ea"/>
                      </a:rPr>
                      <m:t>𝑉</m:t>
                    </m:r>
                    <m:r>
                      <a:rPr lang="en-US" altLang="zh-CN" sz="2400" i="1" kern="100">
                        <a:effectLst/>
                        <a:latin typeface="Cambria Math" panose="02040503050406030204" pitchFamily="18" charset="0"/>
                        <a:ea typeface="+mn-ea"/>
                      </a:rPr>
                      <m:t>=</m:t>
                    </m:r>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𝑄</m:t>
                        </m:r>
                      </m:e>
                      <m:sub>
                        <m:r>
                          <a:rPr lang="en-US" altLang="zh-CN" sz="2400" i="1" kern="100">
                            <a:effectLst/>
                            <a:latin typeface="Cambria Math" panose="02040503050406030204" pitchFamily="18" charset="0"/>
                            <a:ea typeface="+mn-ea"/>
                          </a:rPr>
                          <m:t>2</m:t>
                        </m:r>
                      </m:sub>
                    </m:sSub>
                  </m:oMath>
                </a14:m>
                <a:r>
                  <a:rPr lang="zh-CN" altLang="zh-CN" sz="2400" kern="100" dirty="0">
                    <a:effectLst/>
                    <a:latin typeface="+mn-ea"/>
                    <a:ea typeface="+mn-ea"/>
                  </a:rPr>
                  <a:t>，这时，</a:t>
                </a:r>
                <a:r>
                  <a:rPr lang="en-US" altLang="zh-CN" sz="2400" kern="100" dirty="0">
                    <a:effectLst/>
                    <a:latin typeface="+mn-ea"/>
                    <a:ea typeface="+mn-ea"/>
                  </a:rPr>
                  <a:t>						 </a:t>
                </a:r>
                <a14:m>
                  <m:oMath xmlns:m="http://schemas.openxmlformats.org/officeDocument/2006/math">
                    <m:r>
                      <a:rPr lang="en-US" altLang="zh-CN" sz="2400" i="1" kern="100">
                        <a:effectLst/>
                        <a:latin typeface="Cambria Math" panose="02040503050406030204" pitchFamily="18" charset="0"/>
                        <a:ea typeface="+mn-ea"/>
                      </a:rPr>
                      <m:t>(</m:t>
                    </m:r>
                    <m:m>
                      <m:mPr>
                        <m:mcs>
                          <m:mc>
                            <m:mcPr>
                              <m:count m:val="2"/>
                              <m:mcJc m:val="center"/>
                            </m:mcPr>
                          </m:mc>
                        </m:mcs>
                        <m:ctrlPr>
                          <a:rPr lang="zh-CN" altLang="zh-CN" sz="2400" i="1" kern="100">
                            <a:effectLst/>
                            <a:latin typeface="Cambria Math" panose="02040503050406030204" pitchFamily="18" charset="0"/>
                            <a:ea typeface="+mn-ea"/>
                          </a:rPr>
                        </m:ctrlPr>
                      </m:mPr>
                      <m:mr>
                        <m:e>
                          <m:r>
                            <a:rPr lang="en-US" altLang="zh-CN" sz="2400" i="1" kern="100">
                              <a:effectLst/>
                              <a:latin typeface="Cambria Math" panose="02040503050406030204" pitchFamily="18" charset="0"/>
                              <a:ea typeface="+mn-ea"/>
                            </a:rPr>
                            <m:t>𝐴</m:t>
                          </m:r>
                          <m:r>
                            <a:rPr lang="en-US" altLang="zh-CN" sz="2400" i="1" kern="100">
                              <a:effectLst/>
                              <a:latin typeface="Cambria Math" panose="02040503050406030204" pitchFamily="18" charset="0"/>
                              <a:ea typeface="+mn-ea"/>
                            </a:rPr>
                            <m:t>,</m:t>
                          </m:r>
                        </m:e>
                        <m:e>
                          <m:r>
                            <a:rPr lang="en-US" altLang="zh-CN" sz="2400" i="1" kern="100">
                              <a:effectLst/>
                              <a:latin typeface="Cambria Math" panose="02040503050406030204" pitchFamily="18" charset="0"/>
                              <a:ea typeface="+mn-ea"/>
                            </a:rPr>
                            <m:t>𝑉</m:t>
                          </m:r>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r>
                            <a:rPr lang="en-US" altLang="zh-CN" sz="2400" i="1" kern="100">
                              <a:effectLst/>
                              <a:latin typeface="Cambria Math" panose="02040503050406030204" pitchFamily="18" charset="0"/>
                              <a:ea typeface="+mn-ea"/>
                            </a:rPr>
                            <m:t>=(</m:t>
                          </m:r>
                          <m:m>
                            <m:mPr>
                              <m:mcs>
                                <m:mc>
                                  <m:mcPr>
                                    <m:count m:val="2"/>
                                    <m:mcJc m:val="center"/>
                                  </m:mcPr>
                                </m:mc>
                              </m:mcs>
                              <m:ctrlPr>
                                <a:rPr lang="zh-CN" altLang="zh-CN" sz="2400" i="1" kern="100">
                                  <a:effectLst/>
                                  <a:latin typeface="Cambria Math" panose="02040503050406030204" pitchFamily="18" charset="0"/>
                                  <a:ea typeface="+mn-ea"/>
                                </a:rPr>
                              </m:ctrlPr>
                            </m:mPr>
                            <m:mr>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𝑄</m:t>
                                    </m:r>
                                  </m:e>
                                  <m:sub>
                                    <m:r>
                                      <a:rPr lang="en-US" altLang="zh-CN" sz="2400" i="1" kern="100">
                                        <a:effectLst/>
                                        <a:latin typeface="Cambria Math" panose="02040503050406030204" pitchFamily="18" charset="0"/>
                                        <a:ea typeface="+mn-ea"/>
                                      </a:rPr>
                                      <m:t>1</m:t>
                                    </m:r>
                                  </m:sub>
                                </m:sSub>
                                <m:r>
                                  <a:rPr lang="en-US" altLang="zh-CN" sz="2400" i="1" kern="100">
                                    <a:effectLst/>
                                    <a:latin typeface="Cambria Math" panose="02040503050406030204" pitchFamily="18" charset="0"/>
                                    <a:ea typeface="+mn-ea"/>
                                  </a:rPr>
                                  <m:t>𝑅</m:t>
                                </m:r>
                              </m:e>
                              <m:e>
                                <m:sSub>
                                  <m:sSubPr>
                                    <m:ctrlPr>
                                      <a:rPr lang="zh-CN" altLang="zh-CN" sz="2400" i="1" kern="100">
                                        <a:effectLst/>
                                        <a:latin typeface="Cambria Math" panose="02040503050406030204" pitchFamily="18" charset="0"/>
                                        <a:ea typeface="+mn-ea"/>
                                      </a:rPr>
                                    </m:ctrlPr>
                                  </m:sSubPr>
                                  <m:e>
                                    <m:r>
                                      <a:rPr lang="en-US" altLang="zh-CN" sz="2400" i="1" kern="100">
                                        <a:effectLst/>
                                        <a:latin typeface="Cambria Math" panose="02040503050406030204" pitchFamily="18" charset="0"/>
                                        <a:ea typeface="+mn-ea"/>
                                      </a:rPr>
                                      <m:t>𝑄</m:t>
                                    </m:r>
                                  </m:e>
                                  <m:sub>
                                    <m:r>
                                      <a:rPr lang="en-US" altLang="zh-CN" sz="2400" i="1" kern="100">
                                        <a:effectLst/>
                                        <a:latin typeface="Cambria Math" panose="02040503050406030204" pitchFamily="18" charset="0"/>
                                        <a:ea typeface="+mn-ea"/>
                                      </a:rPr>
                                      <m:t>2</m:t>
                                    </m:r>
                                  </m:sub>
                                </m:sSub>
                              </m:e>
                            </m:mr>
                          </m:m>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r>
                            <a:rPr lang="en-US" altLang="zh-CN" sz="2400" i="1" kern="100">
                              <a:effectLst/>
                              <a:latin typeface="Cambria Math" panose="02040503050406030204" pitchFamily="18" charset="0"/>
                              <a:ea typeface="+mn-ea"/>
                            </a:rPr>
                            <m:t>=</m:t>
                          </m:r>
                          <m:d>
                            <m:dPr>
                              <m:ctrlPr>
                                <a:rPr lang="zh-CN" altLang="zh-CN" sz="2400" i="1" kern="100">
                                  <a:effectLst/>
                                  <a:latin typeface="Cambria Math" panose="02040503050406030204" pitchFamily="18" charset="0"/>
                                  <a:ea typeface="+mn-ea"/>
                                </a:rPr>
                              </m:ctrlPr>
                            </m:dPr>
                            <m:e>
                              <m:m>
                                <m:mPr>
                                  <m:mcs>
                                    <m:mc>
                                      <m:mcPr>
                                        <m:count m:val="1"/>
                                        <m:mcJc m:val="center"/>
                                      </m:mcPr>
                                    </m:mc>
                                  </m:mcs>
                                  <m:ctrlPr>
                                    <a:rPr lang="zh-CN" altLang="zh-CN" sz="2400" i="1" kern="100">
                                      <a:effectLst/>
                                      <a:latin typeface="Cambria Math" panose="02040503050406030204" pitchFamily="18" charset="0"/>
                                      <a:ea typeface="+mn-ea"/>
                                    </a:rPr>
                                  </m:ctrlPr>
                                </m:mPr>
                                <m:mr>
                                  <m:e>
                                    <m:sSup>
                                      <m:sSupPr>
                                        <m:ctrlPr>
                                          <a:rPr lang="zh-CN" altLang="zh-CN" sz="2400" i="1" kern="100">
                                            <a:effectLst/>
                                            <a:latin typeface="Cambria Math" panose="02040503050406030204" pitchFamily="18" charset="0"/>
                                            <a:ea typeface="+mn-ea"/>
                                          </a:rPr>
                                        </m:ctrlPr>
                                      </m:sSupPr>
                                      <m:e>
                                        <m:r>
                                          <a:rPr lang="en-US" altLang="zh-CN" sz="2400" i="1" kern="100">
                                            <a:effectLst/>
                                            <a:latin typeface="Cambria Math" panose="02040503050406030204" pitchFamily="18" charset="0"/>
                                            <a:ea typeface="+mn-ea"/>
                                          </a:rPr>
                                          <m:t>𝑅</m:t>
                                        </m:r>
                                      </m:e>
                                      <m:sup>
                                        <m:r>
                                          <a:rPr lang="zh-CN" altLang="en-US" sz="2400" i="1" kern="100">
                                            <a:effectLst/>
                                            <a:latin typeface="Cambria Math" panose="02040503050406030204" pitchFamily="18" charset="0"/>
                                            <a:ea typeface="+mn-ea"/>
                                            <a:cs typeface="微软雅黑" panose="020B0503020204020204" pitchFamily="34" charset="-122"/>
                                          </a:rPr>
                                          <m:t>−</m:t>
                                        </m:r>
                                        <m:r>
                                          <a:rPr lang="en-US" altLang="zh-CN" sz="2400" i="1" kern="100">
                                            <a:effectLst/>
                                            <a:latin typeface="Cambria Math" panose="02040503050406030204" pitchFamily="18" charset="0"/>
                                            <a:ea typeface="+mn-ea"/>
                                          </a:rPr>
                                          <m:t>1</m:t>
                                        </m:r>
                                      </m:sup>
                                    </m:sSup>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𝑄</m:t>
                                        </m:r>
                                      </m:e>
                                      <m:sub>
                                        <m:r>
                                          <a:rPr lang="en-US" altLang="zh-CN" sz="2400" i="1" kern="100">
                                            <a:effectLst/>
                                            <a:latin typeface="Cambria Math" panose="02040503050406030204" pitchFamily="18" charset="0"/>
                                            <a:ea typeface="+mn-ea"/>
                                          </a:rPr>
                                          <m:t>1</m:t>
                                        </m:r>
                                      </m:sub>
                                      <m:sup>
                                        <m:r>
                                          <a:rPr lang="en-US" altLang="zh-CN" sz="2400" i="1" kern="100">
                                            <a:effectLst/>
                                            <a:latin typeface="Cambria Math" panose="02040503050406030204" pitchFamily="18" charset="0"/>
                                            <a:ea typeface="+mn-ea"/>
                                          </a:rPr>
                                          <m:t>𝑇</m:t>
                                        </m:r>
                                      </m:sup>
                                    </m:sSubSup>
                                  </m:e>
                                </m:mr>
                                <m:mr>
                                  <m:e>
                                    <m:sSubSup>
                                      <m:sSubSupPr>
                                        <m:ctrlPr>
                                          <a:rPr lang="zh-CN" altLang="zh-CN" sz="2400" i="1" kern="100">
                                            <a:effectLst/>
                                            <a:latin typeface="Cambria Math" panose="02040503050406030204" pitchFamily="18" charset="0"/>
                                            <a:ea typeface="+mn-ea"/>
                                          </a:rPr>
                                        </m:ctrlPr>
                                      </m:sSubSupPr>
                                      <m:e>
                                        <m:r>
                                          <a:rPr lang="en-US" altLang="zh-CN" sz="2400" i="1" kern="100">
                                            <a:effectLst/>
                                            <a:latin typeface="Cambria Math" panose="02040503050406030204" pitchFamily="18" charset="0"/>
                                            <a:ea typeface="+mn-ea"/>
                                          </a:rPr>
                                          <m:t>𝑄</m:t>
                                        </m:r>
                                      </m:e>
                                      <m:sub>
                                        <m:r>
                                          <a:rPr lang="en-US" altLang="zh-CN" sz="2400" i="1" kern="100">
                                            <a:effectLst/>
                                            <a:latin typeface="Cambria Math" panose="02040503050406030204" pitchFamily="18" charset="0"/>
                                            <a:ea typeface="+mn-ea"/>
                                          </a:rPr>
                                          <m:t>2</m:t>
                                        </m:r>
                                      </m:sub>
                                      <m:sup>
                                        <m:r>
                                          <a:rPr lang="en-US" altLang="zh-CN" sz="2400" i="1" kern="100">
                                            <a:effectLst/>
                                            <a:latin typeface="Cambria Math" panose="02040503050406030204" pitchFamily="18" charset="0"/>
                                            <a:ea typeface="+mn-ea"/>
                                          </a:rPr>
                                          <m:t>𝑇</m:t>
                                        </m:r>
                                      </m:sup>
                                    </m:sSubSup>
                                  </m:e>
                                </m:mr>
                              </m:m>
                            </m:e>
                          </m:d>
                        </m:e>
                      </m:mr>
                    </m:m>
                  </m:oMath>
                </a14:m>
                <a:endParaRPr lang="zh-CN" altLang="zh-CN" sz="2400" kern="100" dirty="0">
                  <a:effectLst/>
                  <a:latin typeface="+mn-ea"/>
                  <a:ea typeface="+mn-ea"/>
                </a:endParaRPr>
              </a:p>
              <a:p>
                <a:pPr algn="just">
                  <a:lnSpc>
                    <a:spcPct val="150000"/>
                  </a:lnSpc>
                </a:pPr>
                <a:r>
                  <a:rPr lang="zh-CN" altLang="zh-CN" sz="2400" kern="100" dirty="0">
                    <a:effectLst/>
                    <a:latin typeface="+mn-ea"/>
                    <a:ea typeface="+mn-ea"/>
                  </a:rPr>
                  <a:t>得到的方法就是由</a:t>
                </a:r>
                <a:r>
                  <a:rPr lang="en-US" altLang="zh-CN" sz="2400" i="1" kern="100" dirty="0">
                    <a:effectLst/>
                    <a:latin typeface="+mn-ea"/>
                    <a:ea typeface="+mn-ea"/>
                  </a:rPr>
                  <a:t>QR</a:t>
                </a:r>
                <a:r>
                  <a:rPr lang="zh-CN" altLang="zh-CN" sz="2400" kern="100" dirty="0">
                    <a:effectLst/>
                    <a:latin typeface="+mn-ea"/>
                    <a:ea typeface="+mn-ea"/>
                  </a:rPr>
                  <a:t>分解得到的。</a:t>
                </a:r>
                <a:endParaRPr lang="zh-CN" altLang="en-US" sz="2400" dirty="0">
                  <a:latin typeface="+mn-ea"/>
                  <a:ea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551384" y="476672"/>
                <a:ext cx="11089232" cy="5386026"/>
              </a:xfrm>
              <a:prstGeom prst="rect">
                <a:avLst/>
              </a:prstGeom>
              <a:blipFill rotWithShape="1">
                <a:blip r:embed="rId1"/>
                <a:stretch>
                  <a:fillRect l="-2" t="-8" r="4" b="7"/>
                </a:stretch>
              </a:blipFill>
            </p:spPr>
            <p:txBody>
              <a:bodyPr/>
              <a:lstStyle/>
              <a:p>
                <a:r>
                  <a:rPr lang="zh-CN" altLang="en-US">
                    <a:noFill/>
                  </a:rPr>
                  <a:t> </a:t>
                </a:r>
              </a:p>
            </p:txBody>
          </p:sp>
        </mc:Fallback>
      </mc:AlternateContent>
    </p:spTree>
  </p:cSld>
  <p:clrMapOvr>
    <a:masterClrMapping/>
  </p:clrMapOvr>
</p:sld>
</file>

<file path=ppt/tags/tag1.xml><?xml version="1.0" encoding="utf-8"?>
<p:tagLst xmlns:p="http://schemas.openxmlformats.org/presentationml/2006/main">
  <p:tag name="commondata" val="eyJoZGlkIjoiMzYxNzc3ZjU2YzdhODA3MjQ3YjYyZjJmNTJkZDRhND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otalTime>0</TotalTime>
  <Words>12592</Words>
  <Application>WPS 演示</Application>
  <PresentationFormat>宽屏</PresentationFormat>
  <Paragraphs>345</Paragraphs>
  <Slides>36</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52" baseType="lpstr">
      <vt:lpstr>Arial</vt:lpstr>
      <vt:lpstr>宋体</vt:lpstr>
      <vt:lpstr>Wingdings</vt:lpstr>
      <vt:lpstr>Times New Roman</vt:lpstr>
      <vt:lpstr>黑体</vt:lpstr>
      <vt:lpstr>Cambria Math</vt:lpstr>
      <vt:lpstr>MS Gothic</vt:lpstr>
      <vt:lpstr>微软雅黑</vt:lpstr>
      <vt:lpstr>MS Mincho</vt:lpstr>
      <vt:lpstr>等线</vt:lpstr>
      <vt:lpstr>Arial Unicode MS</vt:lpstr>
      <vt:lpstr>Calibri</vt:lpstr>
      <vt:lpstr>Yu Gothic UI</vt:lpstr>
      <vt:lpstr>Symbol</vt:lpstr>
      <vt:lpstr>默认设计模板</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scut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9.6  二次规划</dc:title>
  <dc:creator>scut</dc:creator>
  <cp:lastModifiedBy>小威</cp:lastModifiedBy>
  <cp:revision>84</cp:revision>
  <dcterms:created xsi:type="dcterms:W3CDTF">2008-05-13T00:15:00Z</dcterms:created>
  <dcterms:modified xsi:type="dcterms:W3CDTF">2025-12-11T07:39:54Z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E851CCDBFF5E4C9D9028B770419FEADB_12</vt:lpwstr>
  </property>
  <property fmtid="{D5CDD505-2E9C-101B-9397-08002B2CF9AE}" pid="3" name="KSOProductBuildVer">
    <vt:lpwstr>2052-12.1.0.16120</vt:lpwstr>
  </property>
</Properties>
</file>