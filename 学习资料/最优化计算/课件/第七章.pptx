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4" r:id="rId1"/>
  </p:sldMasterIdLst>
  <p:notesMasterIdLst>
    <p:notesMasterId r:id="rId43"/>
  </p:notesMasterIdLst>
  <p:handoutMasterIdLst>
    <p:handoutMasterId r:id="rId44"/>
  </p:handoutMasterIdLst>
  <p:sldIdLst>
    <p:sldId id="466" r:id="rId2"/>
    <p:sldId id="484" r:id="rId3"/>
    <p:sldId id="257" r:id="rId4"/>
    <p:sldId id="258" r:id="rId5"/>
    <p:sldId id="469" r:id="rId6"/>
    <p:sldId id="259" r:id="rId7"/>
    <p:sldId id="260" r:id="rId8"/>
    <p:sldId id="412" r:id="rId9"/>
    <p:sldId id="470" r:id="rId10"/>
    <p:sldId id="471" r:id="rId11"/>
    <p:sldId id="267" r:id="rId12"/>
    <p:sldId id="472" r:id="rId13"/>
    <p:sldId id="473" r:id="rId14"/>
    <p:sldId id="474" r:id="rId15"/>
    <p:sldId id="460" r:id="rId16"/>
    <p:sldId id="268" r:id="rId17"/>
    <p:sldId id="273" r:id="rId18"/>
    <p:sldId id="475" r:id="rId19"/>
    <p:sldId id="416" r:id="rId20"/>
    <p:sldId id="279" r:id="rId21"/>
    <p:sldId id="476" r:id="rId22"/>
    <p:sldId id="468" r:id="rId23"/>
    <p:sldId id="418" r:id="rId24"/>
    <p:sldId id="281" r:id="rId25"/>
    <p:sldId id="282" r:id="rId26"/>
    <p:sldId id="419" r:id="rId27"/>
    <p:sldId id="461" r:id="rId28"/>
    <p:sldId id="477" r:id="rId29"/>
    <p:sldId id="443" r:id="rId30"/>
    <p:sldId id="444" r:id="rId31"/>
    <p:sldId id="478" r:id="rId32"/>
    <p:sldId id="479" r:id="rId33"/>
    <p:sldId id="283" r:id="rId34"/>
    <p:sldId id="410" r:id="rId35"/>
    <p:sldId id="480" r:id="rId36"/>
    <p:sldId id="286" r:id="rId37"/>
    <p:sldId id="457" r:id="rId38"/>
    <p:sldId id="464" r:id="rId39"/>
    <p:sldId id="481" r:id="rId40"/>
    <p:sldId id="482" r:id="rId41"/>
    <p:sldId id="483"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66FF33"/>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12" autoAdjust="0"/>
    <p:restoredTop sz="94685" autoAdjust="0"/>
  </p:normalViewPr>
  <p:slideViewPr>
    <p:cSldViewPr>
      <p:cViewPr varScale="1">
        <p:scale>
          <a:sx n="81" d="100"/>
          <a:sy n="81" d="100"/>
        </p:scale>
        <p:origin x="475"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9442" name="Rectangle 2">
            <a:extLst>
              <a:ext uri="{FF2B5EF4-FFF2-40B4-BE49-F238E27FC236}">
                <a16:creationId xmlns:a16="http://schemas.microsoft.com/office/drawing/2014/main" id="{D5F9EB26-729A-416F-A1D1-31186F9F135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defRPr kumimoji="1" sz="1200" b="0">
                <a:ea typeface="宋体" pitchFamily="2" charset="-122"/>
              </a:defRPr>
            </a:lvl1pPr>
          </a:lstStyle>
          <a:p>
            <a:pPr>
              <a:defRPr/>
            </a:pPr>
            <a:endParaRPr lang="en-US" altLang="zh-CN"/>
          </a:p>
        </p:txBody>
      </p:sp>
      <p:sp>
        <p:nvSpPr>
          <p:cNvPr id="189443" name="Rectangle 3">
            <a:extLst>
              <a:ext uri="{FF2B5EF4-FFF2-40B4-BE49-F238E27FC236}">
                <a16:creationId xmlns:a16="http://schemas.microsoft.com/office/drawing/2014/main" id="{DA7259DD-1237-4020-8D5E-D7222556604A}"/>
              </a:ext>
            </a:extLst>
          </p:cNvPr>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defRPr kumimoji="1" sz="1200" b="0">
                <a:ea typeface="宋体" pitchFamily="2" charset="-122"/>
              </a:defRPr>
            </a:lvl1pPr>
          </a:lstStyle>
          <a:p>
            <a:pPr>
              <a:defRPr/>
            </a:pPr>
            <a:endParaRPr lang="en-US" altLang="zh-CN"/>
          </a:p>
        </p:txBody>
      </p:sp>
      <p:sp>
        <p:nvSpPr>
          <p:cNvPr id="189444" name="Rectangle 4">
            <a:extLst>
              <a:ext uri="{FF2B5EF4-FFF2-40B4-BE49-F238E27FC236}">
                <a16:creationId xmlns:a16="http://schemas.microsoft.com/office/drawing/2014/main" id="{EE14C0C7-2E66-4395-97C7-EF6A6EC6A46D}"/>
              </a:ext>
            </a:extLst>
          </p:cNvPr>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defRPr kumimoji="1" sz="1200" b="0">
                <a:ea typeface="宋体" pitchFamily="2" charset="-122"/>
              </a:defRPr>
            </a:lvl1pPr>
          </a:lstStyle>
          <a:p>
            <a:pPr>
              <a:defRPr/>
            </a:pPr>
            <a:endParaRPr lang="en-US" altLang="zh-CN"/>
          </a:p>
        </p:txBody>
      </p:sp>
      <p:sp>
        <p:nvSpPr>
          <p:cNvPr id="189445" name="Rectangle 5">
            <a:extLst>
              <a:ext uri="{FF2B5EF4-FFF2-40B4-BE49-F238E27FC236}">
                <a16:creationId xmlns:a16="http://schemas.microsoft.com/office/drawing/2014/main" id="{9E665AF5-509E-40B7-9AD4-6B3BB1F6D059}"/>
              </a:ext>
            </a:extLst>
          </p:cNvPr>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lvl1pPr>
          </a:lstStyle>
          <a:p>
            <a:fld id="{66D95784-E4C4-4937-932D-BD4D115224D5}" type="slidenum">
              <a:rPr lang="en-US" altLang="zh-CN"/>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16C1335-6063-45C4-A3FA-5C56C35675E6}"/>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lnSpc>
                <a:spcPct val="100000"/>
              </a:lnSpc>
              <a:spcBef>
                <a:spcPct val="0"/>
              </a:spcBef>
              <a:defRPr kumimoji="1" sz="1200" b="0">
                <a:ea typeface="宋体" pitchFamily="2" charset="-122"/>
              </a:defRPr>
            </a:lvl1pPr>
          </a:lstStyle>
          <a:p>
            <a:pPr>
              <a:defRPr/>
            </a:pPr>
            <a:endParaRPr lang="en-US" altLang="zh-CN"/>
          </a:p>
        </p:txBody>
      </p:sp>
      <p:sp>
        <p:nvSpPr>
          <p:cNvPr id="18435" name="Rectangle 3">
            <a:extLst>
              <a:ext uri="{FF2B5EF4-FFF2-40B4-BE49-F238E27FC236}">
                <a16:creationId xmlns:a16="http://schemas.microsoft.com/office/drawing/2014/main" id="{374B2149-C6E4-4413-852F-D9654B3B3B4B}"/>
              </a:ext>
            </a:extLst>
          </p:cNvPr>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lnSpc>
                <a:spcPct val="100000"/>
              </a:lnSpc>
              <a:spcBef>
                <a:spcPct val="0"/>
              </a:spcBef>
              <a:defRPr kumimoji="1" sz="1200" b="0">
                <a:ea typeface="宋体"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2515E9EE-4DB8-4318-B1CA-D2F670D59C32}"/>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8437" name="Rectangle 5">
            <a:extLst>
              <a:ext uri="{FF2B5EF4-FFF2-40B4-BE49-F238E27FC236}">
                <a16:creationId xmlns:a16="http://schemas.microsoft.com/office/drawing/2014/main" id="{DC0848B2-CB4B-4080-9849-834DD8062CBC}"/>
              </a:ext>
            </a:extLst>
          </p:cNvPr>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8438" name="Rectangle 6">
            <a:extLst>
              <a:ext uri="{FF2B5EF4-FFF2-40B4-BE49-F238E27FC236}">
                <a16:creationId xmlns:a16="http://schemas.microsoft.com/office/drawing/2014/main" id="{2FEADF2A-A95B-42FF-B12B-13DDEA8A7C0A}"/>
              </a:ext>
            </a:extLst>
          </p:cNvPr>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lnSpc>
                <a:spcPct val="100000"/>
              </a:lnSpc>
              <a:spcBef>
                <a:spcPct val="0"/>
              </a:spcBef>
              <a:defRPr kumimoji="1" sz="1200" b="0">
                <a:ea typeface="宋体" pitchFamily="2" charset="-122"/>
              </a:defRPr>
            </a:lvl1pPr>
          </a:lstStyle>
          <a:p>
            <a:pPr>
              <a:defRPr/>
            </a:pPr>
            <a:endParaRPr lang="en-US" altLang="zh-CN"/>
          </a:p>
        </p:txBody>
      </p:sp>
      <p:sp>
        <p:nvSpPr>
          <p:cNvPr id="18439" name="Rectangle 7">
            <a:extLst>
              <a:ext uri="{FF2B5EF4-FFF2-40B4-BE49-F238E27FC236}">
                <a16:creationId xmlns:a16="http://schemas.microsoft.com/office/drawing/2014/main" id="{DC1957E4-300F-4274-95A3-748A5EA22356}"/>
              </a:ext>
            </a:extLst>
          </p:cNvPr>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lvl1pPr>
          </a:lstStyle>
          <a:p>
            <a:fld id="{7FD04178-4544-4300-8252-62E52417C353}"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104DA9-B97B-F81E-3E00-611BE1B5803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069D7FB-88E4-39E9-A0DB-AABD888818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F10B63BD-AFA0-9BBE-3FD6-63D29024799D}"/>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23715771-6F86-5530-AAA4-CC180136AB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8A08125-2AB6-0FF4-D9C8-DD0F4DDD599A}"/>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363300377"/>
      </p:ext>
    </p:extLst>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109F39-AD08-E0C2-4E25-82B39715DA9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4C67635-7895-1FEB-3DDC-482B34E697C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708D7B4-1D68-9167-3739-04A092E3C40E}"/>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8214F1BD-D523-6793-14F6-B75BCEC104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9F867EA-1671-CD33-0467-6E7E3AA205BE}"/>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222528049"/>
      </p:ext>
    </p:extLst>
  </p:cSld>
  <p:clrMapOvr>
    <a:masterClrMapping/>
  </p:clrMapOvr>
  <p:transition>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07BF7C-60D5-42D2-3F9C-20D2977A80D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49DCD624-4E61-CF52-609F-357FCA108D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7B629D9-9B26-754E-7DCB-2BDB383F1E0A}"/>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1503BC4F-F697-092D-DEDB-49C39B42F1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71F6C42-7789-8EC9-99B0-18F835D91D0B}"/>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1078857059"/>
      </p:ext>
    </p:extLst>
  </p:cSld>
  <p:clrMapOvr>
    <a:masterClrMapping/>
  </p:clrMapOvr>
  <p:transition>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BEFD6B-F36C-C66D-1D91-BBD206A0CE0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49CC7E5-72A4-A771-738B-5AE93E1966F7}"/>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181E390-DCD0-45E8-4303-47362B95156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F095DED-AA61-7477-DAD1-464504730778}"/>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6" name="页脚占位符 5">
            <a:extLst>
              <a:ext uri="{FF2B5EF4-FFF2-40B4-BE49-F238E27FC236}">
                <a16:creationId xmlns:a16="http://schemas.microsoft.com/office/drawing/2014/main" id="{1A07975D-4CC2-5F7C-065D-5D7A384D300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CBC879B-470A-DE54-0F6E-687CCF2C2996}"/>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3228750732"/>
      </p:ext>
    </p:extLst>
  </p:cSld>
  <p:clrMapOvr>
    <a:masterClrMapping/>
  </p:clrMapOvr>
  <p:transition>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3F53CC-B759-9FD4-3455-D40D37C81814}"/>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A1EC7A8-A9B4-E214-A23C-CFBD9111F8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775BAFF1-FC76-492F-0A5A-A4B5E2C6EFD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4DC5496E-334C-840C-D5AF-6562E0A854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F9AA0C1-29E1-CB87-1051-C7B6442831B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0E95869-D485-8F04-A7A9-FD3DB7DFBA71}"/>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8" name="页脚占位符 7">
            <a:extLst>
              <a:ext uri="{FF2B5EF4-FFF2-40B4-BE49-F238E27FC236}">
                <a16:creationId xmlns:a16="http://schemas.microsoft.com/office/drawing/2014/main" id="{6F50A9B1-D3A1-EABE-E24C-A164F9949E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6BD0977-9265-9F93-9B94-24175C7C794D}"/>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3437471721"/>
      </p:ext>
    </p:extLst>
  </p:cSld>
  <p:clrMapOvr>
    <a:masterClrMapping/>
  </p:clrMapOvr>
  <p:transition>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2B1084-0536-BAEA-3253-C8CE6BB319D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74E5D47-85AB-B978-5385-377CEBBD602E}"/>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4" name="页脚占位符 3">
            <a:extLst>
              <a:ext uri="{FF2B5EF4-FFF2-40B4-BE49-F238E27FC236}">
                <a16:creationId xmlns:a16="http://schemas.microsoft.com/office/drawing/2014/main" id="{F0769F40-081C-B548-7FEE-1F07EC2B2B6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8784064E-F598-3895-9469-2E70441FDB58}"/>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2949462321"/>
      </p:ext>
    </p:extLst>
  </p:cSld>
  <p:clrMapOvr>
    <a:masterClrMapping/>
  </p:clrMapOvr>
  <p:transition>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D843775-34CE-B3CE-903F-2953F722E552}"/>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3" name="页脚占位符 2">
            <a:extLst>
              <a:ext uri="{FF2B5EF4-FFF2-40B4-BE49-F238E27FC236}">
                <a16:creationId xmlns:a16="http://schemas.microsoft.com/office/drawing/2014/main" id="{4BE3CA33-E2FD-07BB-3663-A69EF58AE74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B5ADC68-92FF-4006-7829-CD5847F6CADD}"/>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4290884169"/>
      </p:ext>
    </p:extLst>
  </p:cSld>
  <p:clrMapOvr>
    <a:masterClrMapping/>
  </p:clrMapOvr>
  <p:transition>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4F020E-CDBA-6176-79FD-949C7DB4391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547CDED-8799-7A98-5DF7-2586D4A642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EE5237E-5EA9-E2FA-0739-4E3970106A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522CA58-14E9-B75E-1EC8-04BE6C37CCF1}"/>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6" name="页脚占位符 5">
            <a:extLst>
              <a:ext uri="{FF2B5EF4-FFF2-40B4-BE49-F238E27FC236}">
                <a16:creationId xmlns:a16="http://schemas.microsoft.com/office/drawing/2014/main" id="{3F929B60-0EC9-B2B1-2D50-00B8A7D203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5D93361-32A3-647C-97B0-24FDB116ACBE}"/>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111486009"/>
      </p:ext>
    </p:extLst>
  </p:cSld>
  <p:clrMapOvr>
    <a:masterClrMapping/>
  </p:clrMapOvr>
  <p:transition>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65EE21-4793-DADE-35D4-835B1B274F5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F82E04C-1167-AD5A-1FB5-1EE81EFD808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FA99531-3AA0-97EA-B26A-45076C2CDF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97AEB9-5778-3471-24E8-7D3041E25018}"/>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6" name="页脚占位符 5">
            <a:extLst>
              <a:ext uri="{FF2B5EF4-FFF2-40B4-BE49-F238E27FC236}">
                <a16:creationId xmlns:a16="http://schemas.microsoft.com/office/drawing/2014/main" id="{64494070-58D6-C9EC-FD0E-CE5F455E1ED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97FC2B7-15C7-D9F9-97D0-7B5E03AB7BAF}"/>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2807083488"/>
      </p:ext>
    </p:extLst>
  </p:cSld>
  <p:clrMapOvr>
    <a:masterClrMapping/>
  </p:clrMapOvr>
  <p:transition>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188A24-5B34-34A9-9AE9-0F7E4357A776}"/>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CF09033-CFE3-0E52-355B-65C683016DB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540BF1A-506A-6280-9613-9D6BF29939EE}"/>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D96AA543-976A-82E2-CAB5-6F978946EE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2FBD6C-7DD6-3770-E3EC-61E32FD4F90A}"/>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3672764034"/>
      </p:ext>
    </p:extLst>
  </p:cSld>
  <p:clrMapOvr>
    <a:masterClrMapping/>
  </p:clrMapOvr>
  <p:transition>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2F57764-7F58-E794-CE9F-14C84676518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32B38BE-4FF4-25A8-1F2F-DED3ECD9092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5F75E8-39FA-9563-523D-65C32EA87509}"/>
              </a:ext>
            </a:extLst>
          </p:cNvPr>
          <p:cNvSpPr>
            <a:spLocks noGrp="1"/>
          </p:cNvSpPr>
          <p:nvPr>
            <p:ph type="dt" sz="half" idx="10"/>
          </p:nvPr>
        </p:nvSpPr>
        <p:spPr/>
        <p:txBody>
          <a:bodyPr/>
          <a:lstStyle/>
          <a:p>
            <a:fld id="{7E63CD96-7739-4FBC-AF7E-9719B4DA3556}"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E8E91E27-59FC-E214-7206-5A179115253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1B5DFD-7114-518D-9CF4-8BC78D0558B2}"/>
              </a:ext>
            </a:extLst>
          </p:cNvPr>
          <p:cNvSpPr>
            <a:spLocks noGrp="1"/>
          </p:cNvSpPr>
          <p:nvPr>
            <p:ph type="sldNum" sz="quarter" idx="12"/>
          </p:nvPr>
        </p:nvSpPr>
        <p:spPr/>
        <p:txBody>
          <a:body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1154769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71368930"/>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72D4CA6-D1B9-2AD1-E6CC-C149E7A332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5609AA2-9A3A-91B0-A86E-1991BC358E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C46B39-5411-9584-C5AC-9B5F0FD12C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E63CD96-7739-4FBC-AF7E-9719B4DA3556}" type="datetimeFigureOut">
              <a:rPr lang="zh-CN" altLang="en-US" smtClean="0"/>
              <a:t>2025/11/3</a:t>
            </a:fld>
            <a:endParaRPr lang="zh-CN" altLang="en-US"/>
          </a:p>
        </p:txBody>
      </p:sp>
      <p:sp>
        <p:nvSpPr>
          <p:cNvPr id="5" name="页脚占位符 4">
            <a:extLst>
              <a:ext uri="{FF2B5EF4-FFF2-40B4-BE49-F238E27FC236}">
                <a16:creationId xmlns:a16="http://schemas.microsoft.com/office/drawing/2014/main" id="{4D800AEB-50B7-3048-8213-08671BC9F1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B47CC5A-A0AA-AC4C-62EC-EE7417C3C2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D08FE1-0269-4DF7-963E-4D966F11742D}" type="slidenum">
              <a:rPr lang="zh-CN" altLang="en-US" smtClean="0"/>
              <a:t>‹#›</a:t>
            </a:fld>
            <a:endParaRPr lang="zh-CN" altLang="en-US"/>
          </a:p>
        </p:txBody>
      </p:sp>
    </p:spTree>
    <p:extLst>
      <p:ext uri="{BB962C8B-B14F-4D97-AF65-F5344CB8AC3E}">
        <p14:creationId xmlns:p14="http://schemas.microsoft.com/office/powerpoint/2010/main" val="157637355"/>
      </p:ext>
    </p:extLst>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 id="2147484176" r:id="rId12"/>
  </p:sldLayoutIdLst>
  <p:transition>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oleObject" Target="../embeddings/oleObject1.bin"/><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3" Type="http://schemas.openxmlformats.org/officeDocument/2006/relationships/image" Target="../media/image7.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 Type="http://schemas.openxmlformats.org/officeDocument/2006/relationships/image" Target="../media/image62.png"/><Relationship Id="rId16"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5" Type="http://schemas.openxmlformats.org/officeDocument/2006/relationships/image" Target="../media/image1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11.png"/><Relationship Id="rId2" Type="http://schemas.openxmlformats.org/officeDocument/2006/relationships/image" Target="../media/image112.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1.png"/><Relationship Id="rId4" Type="http://schemas.openxmlformats.org/officeDocument/2006/relationships/image" Target="../media/image310.png"/></Relationships>
</file>

<file path=ppt/slides/_rels/slide2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80.png"/><Relationship Id="rId7" Type="http://schemas.openxmlformats.org/officeDocument/2006/relationships/image" Target="../media/image120.png"/><Relationship Id="rId2" Type="http://schemas.openxmlformats.org/officeDocument/2006/relationships/image" Target="../media/image70.png"/><Relationship Id="rId1" Type="http://schemas.openxmlformats.org/officeDocument/2006/relationships/slideLayout" Target="../slideLayouts/slideLayout12.xml"/><Relationship Id="rId6" Type="http://schemas.openxmlformats.org/officeDocument/2006/relationships/image" Target="../media/image110.png"/><Relationship Id="rId5" Type="http://schemas.openxmlformats.org/officeDocument/2006/relationships/image" Target="../media/image100.png"/><Relationship Id="rId4" Type="http://schemas.openxmlformats.org/officeDocument/2006/relationships/image" Target="../media/image90.png"/></Relationships>
</file>

<file path=ppt/slides/_rels/slide22.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14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image" Target="../media/image160.png"/><Relationship Id="rId1" Type="http://schemas.openxmlformats.org/officeDocument/2006/relationships/slideLayout" Target="../slideLayouts/slideLayout7.xml"/><Relationship Id="rId5" Type="http://schemas.openxmlformats.org/officeDocument/2006/relationships/image" Target="../media/image191.png"/><Relationship Id="rId4" Type="http://schemas.openxmlformats.org/officeDocument/2006/relationships/image" Target="../media/image180.png"/></Relationships>
</file>

<file path=ppt/slides/_rels/slide24.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20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0.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oleObject" Target="../embeddings/oleObject2.bin"/><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11.png"/><Relationship Id="rId2" Type="http://schemas.openxmlformats.org/officeDocument/2006/relationships/image" Target="../media/image213.png"/><Relationship Id="rId1" Type="http://schemas.openxmlformats.org/officeDocument/2006/relationships/slideLayout" Target="../slideLayouts/slideLayout12.xml"/><Relationship Id="rId4" Type="http://schemas.openxmlformats.org/officeDocument/2006/relationships/image" Target="../media/image42.png"/></Relationships>
</file>

<file path=ppt/slides/_rels/slide3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BD2B4CB-2184-069E-A677-28938C2BB3D9}"/>
                  </a:ext>
                </a:extLst>
              </p:cNvPr>
              <p:cNvSpPr/>
              <p:nvPr/>
            </p:nvSpPr>
            <p:spPr>
              <a:xfrm>
                <a:off x="2423592" y="1556792"/>
                <a:ext cx="6751460" cy="2573782"/>
              </a:xfrm>
              <a:prstGeom prst="rect">
                <a:avLst/>
              </a:prstGeom>
            </p:spPr>
            <p:txBody>
              <a:bodyPr wrap="square">
                <a:spAutoFit/>
              </a:bodyPr>
              <a:lstStyle/>
              <a:p>
                <a:pPr algn="ctr"/>
                <a:r>
                  <a:rPr lang="zh-CN" altLang="en-US" sz="6000" b="1" dirty="0"/>
                  <a:t>第</a:t>
                </a:r>
                <a:r>
                  <a:rPr lang="en-US" altLang="zh-CN" sz="6000" b="1" dirty="0"/>
                  <a:t>7</a:t>
                </a:r>
                <a:r>
                  <a:rPr lang="zh-CN" altLang="en-US" sz="6000" b="1" dirty="0"/>
                  <a:t>章  一维搜索</a:t>
                </a:r>
                <a:endParaRPr lang="en-US" altLang="zh-CN" sz="6000" b="1" dirty="0"/>
              </a:p>
              <a:p>
                <a:pPr algn="ctr"/>
                <a:r>
                  <a:rPr lang="en-US" altLang="zh-CN" sz="4400" b="1" dirty="0"/>
                  <a:t>   </a:t>
                </a:r>
              </a:p>
              <a:p>
                <a:pPr algn="ctr"/>
                <a14:m>
                  <m:oMathPara xmlns:m="http://schemas.openxmlformats.org/officeDocument/2006/math">
                    <m:oMathParaPr>
                      <m:jc m:val="centerGroup"/>
                    </m:oMathParaPr>
                    <m:oMath xmlns:m="http://schemas.openxmlformats.org/officeDocument/2006/math">
                      <m:func>
                        <m:funcPr>
                          <m:ctrlPr>
                            <a:rPr lang="en-US" altLang="zh-CN" sz="4400" b="1" i="1" smtClean="0">
                              <a:latin typeface="Cambria Math" panose="02040503050406030204" pitchFamily="18" charset="0"/>
                            </a:rPr>
                          </m:ctrlPr>
                        </m:funcPr>
                        <m:fName>
                          <m:limLow>
                            <m:limLowPr>
                              <m:ctrlPr>
                                <a:rPr lang="en-US" altLang="zh-CN" sz="4400" b="1" i="1" smtClean="0">
                                  <a:latin typeface="Cambria Math" panose="02040503050406030204" pitchFamily="18" charset="0"/>
                                </a:rPr>
                              </m:ctrlPr>
                            </m:limLowPr>
                            <m:e>
                              <m:r>
                                <m:rPr>
                                  <m:sty m:val="p"/>
                                </m:rPr>
                                <a:rPr lang="en-US" altLang="zh-CN" sz="4400" b="0" i="0" smtClean="0">
                                  <a:latin typeface="Cambria Math" panose="02040503050406030204" pitchFamily="18" charset="0"/>
                                </a:rPr>
                                <m:t>min</m:t>
                              </m:r>
                            </m:e>
                            <m:lim>
                              <m:r>
                                <a:rPr lang="en-US" altLang="zh-CN" sz="4400" b="1" i="1" smtClean="0">
                                  <a:latin typeface="Cambria Math" panose="02040503050406030204" pitchFamily="18" charset="0"/>
                                </a:rPr>
                                <m:t>𝒙</m:t>
                              </m:r>
                              <m:r>
                                <a:rPr lang="en-US" altLang="zh-CN" sz="4400" b="1" i="1" smtClean="0">
                                  <a:latin typeface="Cambria Math" panose="02040503050406030204" pitchFamily="18" charset="0"/>
                                  <a:ea typeface="Cambria Math" panose="02040503050406030204" pitchFamily="18" charset="0"/>
                                </a:rPr>
                                <m:t>∈</m:t>
                              </m:r>
                              <m:r>
                                <a:rPr lang="en-US" altLang="zh-CN" sz="4400" b="1" i="1" smtClean="0">
                                  <a:latin typeface="Cambria Math" panose="02040503050406030204" pitchFamily="18" charset="0"/>
                                  <a:ea typeface="Cambria Math" panose="02040503050406030204" pitchFamily="18" charset="0"/>
                                </a:rPr>
                                <m:t>𝑹</m:t>
                              </m:r>
                            </m:lim>
                          </m:limLow>
                        </m:fName>
                        <m:e>
                          <m:r>
                            <a:rPr lang="en-US" altLang="zh-CN" sz="4400" b="1" i="1" smtClean="0">
                              <a:latin typeface="Cambria Math" panose="02040503050406030204" pitchFamily="18" charset="0"/>
                            </a:rPr>
                            <m:t>𝒇</m:t>
                          </m:r>
                          <m:r>
                            <a:rPr lang="en-US" altLang="zh-CN" sz="4400" b="1" i="1" smtClean="0">
                              <a:latin typeface="Cambria Math" panose="02040503050406030204" pitchFamily="18" charset="0"/>
                            </a:rPr>
                            <m:t>(</m:t>
                          </m:r>
                          <m:r>
                            <a:rPr lang="en-US" altLang="zh-CN" sz="4400" b="1" i="1" smtClean="0">
                              <a:latin typeface="Cambria Math" panose="02040503050406030204" pitchFamily="18" charset="0"/>
                            </a:rPr>
                            <m:t>𝒙</m:t>
                          </m:r>
                          <m:r>
                            <a:rPr lang="en-US" altLang="zh-CN" sz="4400" b="1" i="1" smtClean="0">
                              <a:latin typeface="Cambria Math" panose="02040503050406030204" pitchFamily="18" charset="0"/>
                            </a:rPr>
                            <m:t>)</m:t>
                          </m:r>
                        </m:e>
                      </m:func>
                    </m:oMath>
                  </m:oMathPara>
                </a14:m>
                <a:endParaRPr lang="zh-CN" altLang="en-US" sz="4400" b="1" dirty="0"/>
              </a:p>
            </p:txBody>
          </p:sp>
        </mc:Choice>
        <mc:Fallback xmlns="">
          <p:sp>
            <p:nvSpPr>
              <p:cNvPr id="2" name="矩形 1">
                <a:extLst>
                  <a:ext uri="{FF2B5EF4-FFF2-40B4-BE49-F238E27FC236}">
                    <a16:creationId xmlns:a16="http://schemas.microsoft.com/office/drawing/2014/main" id="{8BD2B4CB-2184-069E-A677-28938C2BB3D9}"/>
                  </a:ext>
                </a:extLst>
              </p:cNvPr>
              <p:cNvSpPr>
                <a:spLocks noRot="1" noChangeAspect="1" noMove="1" noResize="1" noEditPoints="1" noAdjustHandles="1" noChangeArrowheads="1" noChangeShapeType="1" noTextEdit="1"/>
              </p:cNvSpPr>
              <p:nvPr/>
            </p:nvSpPr>
            <p:spPr>
              <a:xfrm>
                <a:off x="2423592" y="1556792"/>
                <a:ext cx="6751460" cy="2573782"/>
              </a:xfrm>
              <a:prstGeom prst="rect">
                <a:avLst/>
              </a:prstGeom>
              <a:blipFill>
                <a:blip r:embed="rId2"/>
                <a:stretch>
                  <a:fillRect t="-709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78403056"/>
      </p:ext>
    </p:extLst>
  </p:cSld>
  <p:clrMapOvr>
    <a:masterClrMapping/>
  </p:clrMapOvr>
  <p:transition>
    <p:random/>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8BD2B4CB-2184-069E-A677-28938C2BB3D9}"/>
              </a:ext>
            </a:extLst>
          </p:cNvPr>
          <p:cNvSpPr/>
          <p:nvPr/>
        </p:nvSpPr>
        <p:spPr>
          <a:xfrm>
            <a:off x="2423592" y="1556792"/>
            <a:ext cx="6751460" cy="1446550"/>
          </a:xfrm>
          <a:prstGeom prst="rect">
            <a:avLst/>
          </a:prstGeom>
        </p:spPr>
        <p:txBody>
          <a:bodyPr wrap="square">
            <a:spAutoFit/>
          </a:bodyPr>
          <a:lstStyle/>
          <a:p>
            <a:pPr algn="ctr"/>
            <a:r>
              <a:rPr lang="en-US" altLang="zh-CN" sz="4400" b="1" dirty="0"/>
              <a:t>   </a:t>
            </a:r>
          </a:p>
          <a:p>
            <a:pPr algn="ctr"/>
            <a:r>
              <a:rPr lang="en-US" altLang="zh-CN" sz="4400" b="1" dirty="0"/>
              <a:t>7.1 </a:t>
            </a:r>
            <a:r>
              <a:rPr lang="zh-CN" altLang="en-US" sz="4400" b="1" dirty="0"/>
              <a:t>黄金分割法</a:t>
            </a:r>
          </a:p>
        </p:txBody>
      </p:sp>
    </p:spTree>
    <p:extLst>
      <p:ext uri="{BB962C8B-B14F-4D97-AF65-F5344CB8AC3E}">
        <p14:creationId xmlns:p14="http://schemas.microsoft.com/office/powerpoint/2010/main" val="154295892"/>
      </p:ext>
    </p:extLst>
  </p:cSld>
  <p:clrMapOvr>
    <a:masterClrMapping/>
  </p:clrMapOvr>
  <p:transition>
    <p:random/>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a:extLst>
              <a:ext uri="{FF2B5EF4-FFF2-40B4-BE49-F238E27FC236}">
                <a16:creationId xmlns:a16="http://schemas.microsoft.com/office/drawing/2014/main" id="{0A6953CF-4C87-F1E3-9CDB-245D5C30F1D6}"/>
              </a:ext>
            </a:extLst>
          </p:cNvPr>
          <p:cNvSpPr txBox="1"/>
          <p:nvPr/>
        </p:nvSpPr>
        <p:spPr>
          <a:xfrm>
            <a:off x="1127448" y="1196752"/>
            <a:ext cx="10153128" cy="3869329"/>
          </a:xfrm>
          <a:prstGeom prst="rect">
            <a:avLst/>
          </a:prstGeom>
          <a:noFill/>
        </p:spPr>
        <p:txBody>
          <a:bodyPr wrap="square">
            <a:spAutoFit/>
          </a:bodyPr>
          <a:lstStyle/>
          <a:p>
            <a:pPr indent="266700" algn="just">
              <a:lnSpc>
                <a:spcPct val="150000"/>
              </a:lnSpc>
            </a:pPr>
            <a:r>
              <a:rPr lang="en-US" altLang="zh-CN" sz="2800" b="1" kern="100" dirty="0">
                <a:effectLst/>
                <a:latin typeface="宋体" panose="02010600030101010101" pitchFamily="2" charset="-122"/>
                <a:ea typeface="宋体" panose="02010600030101010101" pitchFamily="2" charset="-122"/>
              </a:rPr>
              <a:t>   </a:t>
            </a:r>
            <a:r>
              <a:rPr lang="zh-CN" altLang="zh-CN" sz="2800" b="1" kern="100" dirty="0">
                <a:effectLst/>
                <a:latin typeface="宋体" panose="02010600030101010101" pitchFamily="2" charset="-122"/>
                <a:ea typeface="宋体" panose="02010600030101010101" pitchFamily="2" charset="-122"/>
              </a:rPr>
              <a:t>黄金分割法也叫</a:t>
            </a:r>
            <a:r>
              <a:rPr lang="en-US" altLang="zh-CN" sz="2800" b="1" kern="100" dirty="0">
                <a:effectLst/>
                <a:latin typeface="宋体" panose="02010600030101010101" pitchFamily="2" charset="-122"/>
                <a:ea typeface="宋体" panose="02010600030101010101" pitchFamily="2" charset="-122"/>
              </a:rPr>
              <a:t>0.618</a:t>
            </a:r>
            <a:r>
              <a:rPr lang="zh-CN" altLang="zh-CN" sz="2800" b="1" kern="100" dirty="0">
                <a:effectLst/>
                <a:latin typeface="宋体" panose="02010600030101010101" pitchFamily="2" charset="-122"/>
                <a:ea typeface="宋体" panose="02010600030101010101" pitchFamily="2" charset="-122"/>
              </a:rPr>
              <a:t>法，属于区间收缩</a:t>
            </a:r>
            <a:r>
              <a:rPr lang="zh-CN" altLang="en-US" sz="2800" b="1" kern="100" dirty="0">
                <a:effectLst/>
                <a:latin typeface="宋体" panose="02010600030101010101" pitchFamily="2" charset="-122"/>
                <a:ea typeface="宋体" panose="02010600030101010101" pitchFamily="2" charset="-122"/>
              </a:rPr>
              <a:t>方</a:t>
            </a:r>
            <a:r>
              <a:rPr lang="zh-CN" altLang="zh-CN" sz="2800" b="1" kern="100" dirty="0">
                <a:effectLst/>
                <a:latin typeface="宋体" panose="02010600030101010101" pitchFamily="2" charset="-122"/>
                <a:ea typeface="宋体" panose="02010600030101010101" pitchFamily="2" charset="-122"/>
              </a:rPr>
              <a:t>法</a:t>
            </a:r>
            <a:r>
              <a:rPr lang="zh-CN" altLang="en-US" sz="2800" b="1" kern="100" dirty="0">
                <a:effectLst/>
                <a:latin typeface="宋体" panose="02010600030101010101" pitchFamily="2" charset="-122"/>
                <a:ea typeface="宋体" panose="02010600030101010101" pitchFamily="2" charset="-122"/>
              </a:rPr>
              <a:t>。</a:t>
            </a:r>
            <a:r>
              <a:rPr lang="zh-CN" altLang="zh-CN" sz="2800" b="1" kern="100" dirty="0">
                <a:effectLst/>
                <a:latin typeface="宋体" panose="02010600030101010101" pitchFamily="2" charset="-122"/>
                <a:ea typeface="宋体" panose="02010600030101010101" pitchFamily="2" charset="-122"/>
              </a:rPr>
              <a:t>首先找出包含极小点的初始搜索区间，然后按黄金分割点通过对函数值的比较不断缩小搜索区间</a:t>
            </a:r>
            <a:r>
              <a:rPr lang="zh-CN" altLang="en-US" sz="2800" b="1" kern="100" dirty="0">
                <a:effectLst/>
                <a:latin typeface="宋体" panose="02010600030101010101" pitchFamily="2" charset="-122"/>
                <a:ea typeface="宋体" panose="02010600030101010101" pitchFamily="2" charset="-122"/>
              </a:rPr>
              <a:t>。</a:t>
            </a:r>
            <a:r>
              <a:rPr lang="zh-CN" altLang="zh-CN" sz="2800" b="1" kern="100" dirty="0">
                <a:effectLst/>
                <a:latin typeface="宋体" panose="02010600030101010101" pitchFamily="2" charset="-122"/>
                <a:ea typeface="宋体" panose="02010600030101010101" pitchFamily="2" charset="-122"/>
              </a:rPr>
              <a:t>当然</a:t>
            </a:r>
            <a:r>
              <a:rPr lang="zh-CN" altLang="en-US" sz="2800" b="1" kern="100" dirty="0">
                <a:effectLst/>
                <a:latin typeface="宋体" panose="02010600030101010101" pitchFamily="2" charset="-122"/>
                <a:ea typeface="宋体" panose="02010600030101010101" pitchFamily="2" charset="-122"/>
              </a:rPr>
              <a:t>，</a:t>
            </a:r>
            <a:r>
              <a:rPr lang="zh-CN" altLang="zh-CN" sz="2800" b="1" kern="100" dirty="0">
                <a:effectLst/>
                <a:latin typeface="宋体" panose="02010600030101010101" pitchFamily="2" charset="-122"/>
                <a:ea typeface="宋体" panose="02010600030101010101" pitchFamily="2" charset="-122"/>
              </a:rPr>
              <a:t>要保证极小点始终在搜索区间内，当区间长度小到精度范围之内时，可以粗略地认为区间中点为极小点的近似值</a:t>
            </a:r>
            <a:r>
              <a:rPr lang="zh-CN" altLang="en-US" sz="2800" b="1" kern="100" dirty="0">
                <a:effectLst/>
                <a:latin typeface="宋体" panose="02010600030101010101" pitchFamily="2" charset="-122"/>
                <a:ea typeface="宋体" panose="02010600030101010101" pitchFamily="2" charset="-122"/>
              </a:rPr>
              <a:t>。</a:t>
            </a:r>
            <a:r>
              <a:rPr lang="zh-CN" altLang="zh-CN" sz="2800" b="1" kern="100" dirty="0">
                <a:solidFill>
                  <a:srgbClr val="FF0000"/>
                </a:solidFill>
                <a:effectLst/>
                <a:latin typeface="宋体" panose="02010600030101010101" pitchFamily="2" charset="-122"/>
                <a:ea typeface="宋体" panose="02010600030101010101" pitchFamily="2" charset="-122"/>
              </a:rPr>
              <a:t>黄金分割法适用于单谷函数，即在某一区间中存在唯一极小点的函数</a:t>
            </a:r>
            <a:r>
              <a:rPr lang="zh-CN" altLang="en-US" sz="2800" b="1" kern="100" dirty="0">
                <a:solidFill>
                  <a:srgbClr val="FF0000"/>
                </a:solidFill>
                <a:effectLst/>
                <a:latin typeface="宋体" panose="02010600030101010101" pitchFamily="2" charset="-122"/>
                <a:ea typeface="宋体" panose="02010600030101010101" pitchFamily="2" charset="-122"/>
              </a:rPr>
              <a:t>。</a:t>
            </a:r>
            <a:endParaRPr lang="zh-CN" altLang="zh-CN" sz="2800" kern="100" dirty="0">
              <a:solidFill>
                <a:srgbClr val="FF0000"/>
              </a:solidFill>
              <a:effectLst/>
              <a:latin typeface="宋体" panose="02010600030101010101" pitchFamily="2" charset="-122"/>
              <a:ea typeface="宋体" panose="02010600030101010101" pitchFamily="2" charset="-122"/>
            </a:endParaRPr>
          </a:p>
        </p:txBody>
      </p:sp>
    </p:spTree>
  </p:cSld>
  <p:clrMapOvr>
    <a:masterClrMapping/>
  </p:clrMapOvr>
  <p:transition>
    <p:random/>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3">
            <a:extLst>
              <a:ext uri="{FF2B5EF4-FFF2-40B4-BE49-F238E27FC236}">
                <a16:creationId xmlns:a16="http://schemas.microsoft.com/office/drawing/2014/main" id="{00DE10CD-6B5E-A06C-1C08-CA7A4812CB0C}"/>
              </a:ext>
            </a:extLst>
          </p:cNvPr>
          <p:cNvGraphicFramePr>
            <a:graphicFrameLocks noGrp="1" noChangeAspect="1"/>
          </p:cNvGraphicFramePr>
          <p:nvPr>
            <p:ph/>
            <p:extLst>
              <p:ext uri="{D42A27DB-BD31-4B8C-83A1-F6EECF244321}">
                <p14:modId xmlns:p14="http://schemas.microsoft.com/office/powerpoint/2010/main" val="3726845259"/>
              </p:ext>
            </p:extLst>
          </p:nvPr>
        </p:nvGraphicFramePr>
        <p:xfrm>
          <a:off x="5447928" y="33209"/>
          <a:ext cx="8367712" cy="8134350"/>
        </p:xfrm>
        <a:graphic>
          <a:graphicData uri="http://schemas.openxmlformats.org/presentationml/2006/ole">
            <mc:AlternateContent xmlns:mc="http://schemas.openxmlformats.org/markup-compatibility/2006">
              <mc:Choice xmlns:v="urn:schemas-microsoft-com:vml" Requires="v">
                <p:oleObj name="Document" r:id="rId2" imgW="5259632" imgH="5115064" progId="Word.Document.8">
                  <p:embed/>
                </p:oleObj>
              </mc:Choice>
              <mc:Fallback>
                <p:oleObj name="Document" r:id="rId2" imgW="5259632" imgH="5115064" progId="Word.Document.8">
                  <p:embed/>
                  <p:pic>
                    <p:nvPicPr>
                      <p:cNvPr id="3074" name="Object 3">
                        <a:extLst>
                          <a:ext uri="{FF2B5EF4-FFF2-40B4-BE49-F238E27FC236}">
                            <a16:creationId xmlns:a16="http://schemas.microsoft.com/office/drawing/2014/main" id="{00DE10CD-6B5E-A06C-1C08-CA7A4812CB0C}"/>
                          </a:ext>
                        </a:extLst>
                      </p:cNvPr>
                      <p:cNvPicPr>
                        <a:picLocks noChangeAspect="1" noChangeArrowheads="1"/>
                      </p:cNvPicPr>
                      <p:nvPr/>
                    </p:nvPicPr>
                    <p:blipFill>
                      <a:blip r:embed="rId3"/>
                      <a:srcRect/>
                      <a:stretch>
                        <a:fillRect/>
                      </a:stretch>
                    </p:blipFill>
                    <p:spPr bwMode="auto">
                      <a:xfrm>
                        <a:off x="5447928" y="33209"/>
                        <a:ext cx="8367712" cy="813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文本框 4">
            <a:extLst>
              <a:ext uri="{FF2B5EF4-FFF2-40B4-BE49-F238E27FC236}">
                <a16:creationId xmlns:a16="http://schemas.microsoft.com/office/drawing/2014/main" id="{D0E3AF4D-A86D-41EB-56E7-4FF6BFB9C211}"/>
              </a:ext>
            </a:extLst>
          </p:cNvPr>
          <p:cNvSpPr txBox="1"/>
          <p:nvPr/>
        </p:nvSpPr>
        <p:spPr>
          <a:xfrm>
            <a:off x="623392" y="548680"/>
            <a:ext cx="6872140" cy="584775"/>
          </a:xfrm>
          <a:prstGeom prst="rect">
            <a:avLst/>
          </a:prstGeom>
          <a:noFill/>
        </p:spPr>
        <p:txBody>
          <a:bodyPr wrap="square">
            <a:spAutoFit/>
          </a:bodyPr>
          <a:lstStyle/>
          <a:p>
            <a:pPr algn="just">
              <a:spcBef>
                <a:spcPts val="600"/>
              </a:spcBef>
              <a:spcAft>
                <a:spcPts val="600"/>
              </a:spcAft>
            </a:pPr>
            <a:r>
              <a:rPr lang="zh-CN" altLang="zh-CN" sz="3200" kern="100" dirty="0">
                <a:effectLst/>
                <a:latin typeface="Times New Roman" panose="02020603050405020304" pitchFamily="18" charset="0"/>
                <a:ea typeface="黑体" panose="02010609060101010101" pitchFamily="49" charset="-122"/>
              </a:rPr>
              <a:t>一、单谷函数及其性质</a:t>
            </a:r>
            <a:endParaRPr lang="zh-CN" altLang="zh-CN" sz="32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F80B1DF-DB3E-3BF5-B666-8EB65510AB6C}"/>
                  </a:ext>
                </a:extLst>
              </p:cNvPr>
              <p:cNvSpPr txBox="1"/>
              <p:nvPr/>
            </p:nvSpPr>
            <p:spPr>
              <a:xfrm>
                <a:off x="479376" y="1484784"/>
                <a:ext cx="5904656" cy="4515660"/>
              </a:xfrm>
              <a:prstGeom prst="rect">
                <a:avLst/>
              </a:prstGeom>
              <a:noFill/>
            </p:spPr>
            <p:txBody>
              <a:bodyPr wrap="square">
                <a:spAutoFit/>
              </a:bodyPr>
              <a:lstStyle/>
              <a:p>
                <a:pPr indent="266700" algn="just">
                  <a:lnSpc>
                    <a:spcPct val="150000"/>
                  </a:lnSpc>
                </a:pPr>
                <a:r>
                  <a:rPr lang="zh-CN" altLang="zh-CN" sz="2800" kern="100" dirty="0">
                    <a:effectLst/>
                    <a:latin typeface="宋体" panose="02010600030101010101" pitchFamily="2" charset="-122"/>
                    <a:ea typeface="宋体" panose="02010600030101010101" pitchFamily="2" charset="-122"/>
                  </a:rPr>
                  <a:t>定义</a:t>
                </a:r>
                <a:r>
                  <a:rPr lang="en-US" altLang="zh-CN" sz="2800" kern="100" dirty="0">
                    <a:effectLst/>
                    <a:latin typeface="宋体" panose="02010600030101010101" pitchFamily="2" charset="-122"/>
                    <a:ea typeface="宋体" panose="02010600030101010101" pitchFamily="2" charset="-122"/>
                  </a:rPr>
                  <a:t>1  </a:t>
                </a:r>
                <a:r>
                  <a:rPr lang="zh-CN" altLang="zh-CN" sz="2800" kern="100" dirty="0">
                    <a:effectLst/>
                    <a:latin typeface="宋体" panose="02010600030101010101" pitchFamily="2" charset="-122"/>
                    <a:ea typeface="宋体" panose="02010600030101010101" pitchFamily="2" charset="-122"/>
                  </a:rPr>
                  <a:t>设单变量函数</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𝑥</m:t>
                    </m:r>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在区间</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宋体" panose="02010600030101010101" pitchFamily="2" charset="-122"/>
                    <a:ea typeface="宋体" panose="02010600030101010101" pitchFamily="2" charset="-122"/>
                  </a:rPr>
                  <a:t>内存在唯一的极小点</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rPr>
                          <m:t>∗</m:t>
                        </m:r>
                      </m:sup>
                    </m:sSup>
                  </m:oMath>
                </a14:m>
                <a:r>
                  <a:rPr lang="en-US" altLang="zh-CN" sz="2800" kern="100" dirty="0">
                    <a:effectLst/>
                    <a:latin typeface="宋体" panose="02010600030101010101" pitchFamily="2" charset="-122"/>
                    <a:ea typeface="宋体" panose="02010600030101010101" pitchFamily="2" charset="-122"/>
                  </a:rPr>
                  <a:t>, </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rPr>
                          <m:t>∗</m:t>
                        </m:r>
                      </m:sup>
                    </m:sSup>
                    <m:r>
                      <a:rPr lang="en-US" altLang="zh-CN" sz="2800" i="1" kern="100">
                        <a:effectLst/>
                        <a:latin typeface="Cambria Math" panose="02040503050406030204" pitchFamily="18" charset="0"/>
                        <a:ea typeface="宋体" panose="02010600030101010101" pitchFamily="2" charset="-122"/>
                      </a:rPr>
                      <m:t>∈</m:t>
                    </m:r>
                    <m:d>
                      <m:dPr>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en-US" altLang="zh-CN" sz="2800" kern="100" dirty="0">
                    <a:effectLst/>
                    <a:latin typeface="宋体" panose="02010600030101010101" pitchFamily="2" charset="-122"/>
                    <a:ea typeface="宋体" panose="02010600030101010101" pitchFamily="2" charset="-122"/>
                  </a:rPr>
                  <a:t>,</a:t>
                </a:r>
                <a:r>
                  <a:rPr lang="zh-CN" altLang="zh-CN" sz="2800" kern="100" dirty="0">
                    <a:effectLst/>
                    <a:latin typeface="宋体" panose="02010600030101010101" pitchFamily="2" charset="-122"/>
                    <a:ea typeface="宋体" panose="02010600030101010101" pitchFamily="2" charset="-122"/>
                  </a:rPr>
                  <a:t>且</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𝑥</m:t>
                    </m:r>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在</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rPr>
                          <m:t>∗</m:t>
                        </m:r>
                      </m:sup>
                    </m:sSup>
                  </m:oMath>
                </a14:m>
                <a:r>
                  <a:rPr lang="zh-CN" altLang="zh-CN" sz="2800" kern="100" dirty="0">
                    <a:effectLst/>
                    <a:latin typeface="宋体" panose="02010600030101010101" pitchFamily="2" charset="-122"/>
                    <a:ea typeface="宋体" panose="02010600030101010101" pitchFamily="2" charset="-122"/>
                  </a:rPr>
                  <a:t>点的左侧严格下降，在</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rPr>
                          <m:t>∗</m:t>
                        </m:r>
                      </m:sup>
                    </m:sSup>
                  </m:oMath>
                </a14:m>
                <a:r>
                  <a:rPr lang="zh-CN" altLang="zh-CN" sz="2800" kern="100" dirty="0">
                    <a:effectLst/>
                    <a:latin typeface="宋体" panose="02010600030101010101" pitchFamily="2" charset="-122"/>
                    <a:ea typeface="宋体" panose="02010600030101010101" pitchFamily="2" charset="-122"/>
                  </a:rPr>
                  <a:t>点的右侧严格上升，则称</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𝑥</m:t>
                    </m:r>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在区间</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宋体" panose="02010600030101010101" pitchFamily="2" charset="-122"/>
                    <a:ea typeface="宋体" panose="02010600030101010101" pitchFamily="2" charset="-122"/>
                  </a:rPr>
                  <a:t>上是单谷函数或者下单峰函数，</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宋体" panose="02010600030101010101" pitchFamily="2" charset="-122"/>
                    <a:ea typeface="宋体" panose="02010600030101010101" pitchFamily="2" charset="-122"/>
                  </a:rPr>
                  <a:t>为</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𝑥</m:t>
                    </m:r>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的单谷区间，见图</a:t>
                </a:r>
                <a:r>
                  <a:rPr lang="en-US" altLang="zh-CN" sz="2800" kern="100" dirty="0">
                    <a:effectLst/>
                    <a:latin typeface="宋体" panose="02010600030101010101" pitchFamily="2" charset="-122"/>
                    <a:ea typeface="宋体" panose="02010600030101010101" pitchFamily="2" charset="-122"/>
                  </a:rPr>
                  <a:t>1</a:t>
                </a:r>
                <a:r>
                  <a:rPr lang="zh-CN" altLang="zh-CN" sz="2800" kern="100" dirty="0">
                    <a:effectLst/>
                    <a:latin typeface="宋体" panose="02010600030101010101" pitchFamily="2" charset="-122"/>
                    <a:ea typeface="宋体" panose="02010600030101010101" pitchFamily="2" charset="-122"/>
                  </a:rPr>
                  <a:t>。</a:t>
                </a:r>
              </a:p>
            </p:txBody>
          </p:sp>
        </mc:Choice>
        <mc:Fallback xmlns="">
          <p:sp>
            <p:nvSpPr>
              <p:cNvPr id="7" name="文本框 6">
                <a:extLst>
                  <a:ext uri="{FF2B5EF4-FFF2-40B4-BE49-F238E27FC236}">
                    <a16:creationId xmlns:a16="http://schemas.microsoft.com/office/drawing/2014/main" id="{2F80B1DF-DB3E-3BF5-B666-8EB65510AB6C}"/>
                  </a:ext>
                </a:extLst>
              </p:cNvPr>
              <p:cNvSpPr txBox="1">
                <a:spLocks noRot="1" noChangeAspect="1" noMove="1" noResize="1" noEditPoints="1" noAdjustHandles="1" noChangeArrowheads="1" noChangeShapeType="1" noTextEdit="1"/>
              </p:cNvSpPr>
              <p:nvPr/>
            </p:nvSpPr>
            <p:spPr>
              <a:xfrm>
                <a:off x="479376" y="1484784"/>
                <a:ext cx="5904656" cy="4515660"/>
              </a:xfrm>
              <a:prstGeom prst="rect">
                <a:avLst/>
              </a:prstGeom>
              <a:blipFill>
                <a:blip r:embed="rId4"/>
                <a:stretch>
                  <a:fillRect l="-2169" r="-2169" b="-2973"/>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BDB6998D-1633-87A2-0133-A947EF5BE162}"/>
              </a:ext>
            </a:extLst>
          </p:cNvPr>
          <p:cNvSpPr txBox="1"/>
          <p:nvPr/>
        </p:nvSpPr>
        <p:spPr>
          <a:xfrm>
            <a:off x="7896200" y="4221088"/>
            <a:ext cx="3600400" cy="461665"/>
          </a:xfrm>
          <a:prstGeom prst="rect">
            <a:avLst/>
          </a:prstGeom>
          <a:noFill/>
        </p:spPr>
        <p:txBody>
          <a:bodyPr wrap="square" rtlCol="0">
            <a:spAutoFit/>
          </a:bodyPr>
          <a:lstStyle/>
          <a:p>
            <a:r>
              <a:rPr lang="zh-CN" altLang="en-US" sz="2400" dirty="0"/>
              <a:t>图</a:t>
            </a:r>
            <a:r>
              <a:rPr lang="en-US" altLang="zh-CN" sz="2400" dirty="0"/>
              <a:t>1 </a:t>
            </a:r>
            <a:r>
              <a:rPr lang="zh-CN" altLang="en-US" sz="2400" dirty="0"/>
              <a:t>单谷区间与单谷函数</a:t>
            </a:r>
          </a:p>
        </p:txBody>
      </p:sp>
      <p:sp>
        <p:nvSpPr>
          <p:cNvPr id="2" name="文本框 1">
            <a:extLst>
              <a:ext uri="{FF2B5EF4-FFF2-40B4-BE49-F238E27FC236}">
                <a16:creationId xmlns:a16="http://schemas.microsoft.com/office/drawing/2014/main" id="{1C50C7A8-5C4A-9896-A28F-547D79BF8712}"/>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2">
            <a:extLst>
              <a:ext uri="{FF2B5EF4-FFF2-40B4-BE49-F238E27FC236}">
                <a16:creationId xmlns:a16="http://schemas.microsoft.com/office/drawing/2014/main" id="{DA646A74-B1AE-B68F-9913-117167C4F2E2}"/>
              </a:ext>
            </a:extLst>
          </p:cNvPr>
          <p:cNvSpPr txBox="1">
            <a:spLocks noChangeArrowheads="1"/>
          </p:cNvSpPr>
          <p:nvPr/>
        </p:nvSpPr>
        <p:spPr bwMode="auto">
          <a:xfrm>
            <a:off x="753854" y="432616"/>
            <a:ext cx="6134234" cy="523220"/>
          </a:xfrm>
          <a:prstGeom prst="rect">
            <a:avLst/>
          </a:prstGeom>
          <a:noFill/>
          <a:ln>
            <a:noFill/>
          </a:ln>
          <a:effec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kumimoji="1" lang="zh-CN" altLang="en-US" sz="2800" dirty="0">
                <a:solidFill>
                  <a:srgbClr val="FF0000"/>
                </a:solidFill>
              </a:rPr>
              <a:t>单</a:t>
            </a:r>
            <a:r>
              <a:rPr kumimoji="1" lang="zh-CN" altLang="en-US" sz="2800" dirty="0">
                <a:solidFill>
                  <a:srgbClr val="FF0000"/>
                </a:solidFill>
                <a:latin typeface="宋体" panose="02010600030101010101" pitchFamily="2" charset="-122"/>
              </a:rPr>
              <a:t>谷</a:t>
            </a:r>
            <a:r>
              <a:rPr kumimoji="1" lang="zh-CN" altLang="en-US" sz="2800" dirty="0">
                <a:solidFill>
                  <a:srgbClr val="FF0000"/>
                </a:solidFill>
              </a:rPr>
              <a:t>函数具有一个重要的消去性质</a:t>
            </a:r>
          </a:p>
        </p:txBody>
      </p:sp>
      <p:sp>
        <p:nvSpPr>
          <p:cNvPr id="4" name="Rectangle 72">
            <a:extLst>
              <a:ext uri="{FF2B5EF4-FFF2-40B4-BE49-F238E27FC236}">
                <a16:creationId xmlns:a16="http://schemas.microsoft.com/office/drawing/2014/main" id="{7BA47EE2-AE8A-A97E-603D-1443C200032A}"/>
              </a:ext>
            </a:extLst>
          </p:cNvPr>
          <p:cNvSpPr>
            <a:spLocks noChangeArrowheads="1"/>
          </p:cNvSpPr>
          <p:nvPr/>
        </p:nvSpPr>
        <p:spPr bwMode="auto">
          <a:xfrm>
            <a:off x="800085" y="1530277"/>
            <a:ext cx="3969356"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en-US" altLang="zh-CN" dirty="0">
                <a:solidFill>
                  <a:srgbClr val="0000FF"/>
                </a:solidFill>
                <a:latin typeface="宋体" panose="02010600030101010101" pitchFamily="2" charset="-122"/>
              </a:rPr>
              <a:t>(I) </a:t>
            </a:r>
            <a:r>
              <a:rPr kumimoji="1" lang="zh-CN" altLang="en-US" dirty="0">
                <a:solidFill>
                  <a:srgbClr val="0000FF"/>
                </a:solidFill>
                <a:latin typeface="宋体" panose="02010600030101010101" pitchFamily="2" charset="-122"/>
              </a:rPr>
              <a:t>若</a:t>
            </a:r>
            <a:r>
              <a:rPr kumimoji="1" lang="en-US" altLang="zh-CN" dirty="0">
                <a:solidFill>
                  <a:srgbClr val="0000FF"/>
                </a:solidFill>
              </a:rPr>
              <a:t>f(a) &lt; f(b),   x</a:t>
            </a:r>
            <a:r>
              <a:rPr kumimoji="1" lang="en-US" altLang="zh-CN" baseline="30000" dirty="0">
                <a:solidFill>
                  <a:srgbClr val="0000FF"/>
                </a:solidFill>
              </a:rPr>
              <a:t>*</a:t>
            </a:r>
            <a:r>
              <a:rPr kumimoji="1" lang="en-US" altLang="zh-CN" dirty="0">
                <a:solidFill>
                  <a:srgbClr val="0000FF"/>
                </a:solidFill>
                <a:latin typeface="宋体" panose="02010600030101010101" pitchFamily="2" charset="-122"/>
              </a:rPr>
              <a:t>∈</a:t>
            </a:r>
            <a:r>
              <a:rPr kumimoji="1" lang="en-US" altLang="zh-CN" dirty="0">
                <a:solidFill>
                  <a:srgbClr val="0000FF"/>
                </a:solidFill>
              </a:rPr>
              <a:t>[a</a:t>
            </a:r>
            <a:r>
              <a:rPr kumimoji="1" lang="en-US" altLang="zh-CN" baseline="-30000" dirty="0">
                <a:solidFill>
                  <a:srgbClr val="0000FF"/>
                </a:solidFill>
              </a:rPr>
              <a:t>1</a:t>
            </a:r>
            <a:r>
              <a:rPr kumimoji="1" lang="en-US" altLang="zh-CN" dirty="0">
                <a:solidFill>
                  <a:srgbClr val="0000FF"/>
                </a:solidFill>
              </a:rPr>
              <a:t>,b]</a:t>
            </a:r>
          </a:p>
        </p:txBody>
      </p:sp>
      <p:sp>
        <p:nvSpPr>
          <p:cNvPr id="5" name="Rectangle 39">
            <a:extLst>
              <a:ext uri="{FF2B5EF4-FFF2-40B4-BE49-F238E27FC236}">
                <a16:creationId xmlns:a16="http://schemas.microsoft.com/office/drawing/2014/main" id="{C1FA8270-FBCE-3E66-4524-D9840F6D5497}"/>
              </a:ext>
            </a:extLst>
          </p:cNvPr>
          <p:cNvSpPr>
            <a:spLocks noChangeArrowheads="1"/>
          </p:cNvSpPr>
          <p:nvPr/>
        </p:nvSpPr>
        <p:spPr bwMode="auto">
          <a:xfrm>
            <a:off x="1857663" y="3339729"/>
            <a:ext cx="1752600" cy="1524000"/>
          </a:xfrm>
          <a:prstGeom prst="rect">
            <a:avLst/>
          </a:prstGeom>
          <a:solidFill>
            <a:srgbClr val="FFFF99"/>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p:nvGrpSpPr>
          <p:cNvPr id="68" name="组合 67">
            <a:extLst>
              <a:ext uri="{FF2B5EF4-FFF2-40B4-BE49-F238E27FC236}">
                <a16:creationId xmlns:a16="http://schemas.microsoft.com/office/drawing/2014/main" id="{1C8E4420-065E-3D30-B17C-9070951185BB}"/>
              </a:ext>
            </a:extLst>
          </p:cNvPr>
          <p:cNvGrpSpPr/>
          <p:nvPr/>
        </p:nvGrpSpPr>
        <p:grpSpPr>
          <a:xfrm>
            <a:off x="886113" y="2703936"/>
            <a:ext cx="3270250" cy="2434432"/>
            <a:chOff x="886113" y="2703936"/>
            <a:chExt cx="3270250" cy="2434432"/>
          </a:xfrm>
        </p:grpSpPr>
        <p:sp>
          <p:nvSpPr>
            <p:cNvPr id="6" name="Arc 40">
              <a:extLst>
                <a:ext uri="{FF2B5EF4-FFF2-40B4-BE49-F238E27FC236}">
                  <a16:creationId xmlns:a16="http://schemas.microsoft.com/office/drawing/2014/main" id="{7D3BEF24-C1EF-08C2-C6B9-E9082589E50A}"/>
                </a:ext>
              </a:extLst>
            </p:cNvPr>
            <p:cNvSpPr>
              <a:spLocks/>
            </p:cNvSpPr>
            <p:nvPr/>
          </p:nvSpPr>
          <p:spPr bwMode="auto">
            <a:xfrm rot="7208220">
              <a:off x="2526001" y="2936504"/>
              <a:ext cx="1447800" cy="982663"/>
            </a:xfrm>
            <a:custGeom>
              <a:avLst/>
              <a:gdLst>
                <a:gd name="T0" fmla="*/ 0 w 21600"/>
                <a:gd name="T1" fmla="*/ 0 h 22361"/>
                <a:gd name="T2" fmla="*/ 0 w 21600"/>
                <a:gd name="T3" fmla="*/ 0 h 22361"/>
                <a:gd name="T4" fmla="*/ 0 w 21600"/>
                <a:gd name="T5" fmla="*/ 0 h 22361"/>
                <a:gd name="T6" fmla="*/ 0 60000 65536"/>
                <a:gd name="T7" fmla="*/ 0 60000 65536"/>
                <a:gd name="T8" fmla="*/ 0 60000 65536"/>
              </a:gdLst>
              <a:ahLst/>
              <a:cxnLst>
                <a:cxn ang="T6">
                  <a:pos x="T0" y="T1"/>
                </a:cxn>
                <a:cxn ang="T7">
                  <a:pos x="T2" y="T3"/>
                </a:cxn>
                <a:cxn ang="T8">
                  <a:pos x="T4" y="T5"/>
                </a:cxn>
              </a:cxnLst>
              <a:rect l="0" t="0" r="r" b="b"/>
              <a:pathLst>
                <a:path w="21600" h="22361" fill="none" extrusionOk="0">
                  <a:moveTo>
                    <a:pt x="549" y="0"/>
                  </a:moveTo>
                  <a:cubicBezTo>
                    <a:pt x="12261" y="298"/>
                    <a:pt x="21600" y="9877"/>
                    <a:pt x="21600" y="21593"/>
                  </a:cubicBezTo>
                  <a:cubicBezTo>
                    <a:pt x="21600" y="21849"/>
                    <a:pt x="21595" y="22105"/>
                    <a:pt x="21586" y="22361"/>
                  </a:cubicBezTo>
                </a:path>
                <a:path w="21600" h="22361" stroke="0" extrusionOk="0">
                  <a:moveTo>
                    <a:pt x="549" y="0"/>
                  </a:moveTo>
                  <a:cubicBezTo>
                    <a:pt x="12261" y="298"/>
                    <a:pt x="21600" y="9877"/>
                    <a:pt x="21600" y="21593"/>
                  </a:cubicBezTo>
                  <a:cubicBezTo>
                    <a:pt x="21600" y="21849"/>
                    <a:pt x="21595" y="22105"/>
                    <a:pt x="21586" y="22361"/>
                  </a:cubicBezTo>
                  <a:lnTo>
                    <a:pt x="0" y="21593"/>
                  </a:lnTo>
                  <a:lnTo>
                    <a:pt x="549" y="0"/>
                  </a:lnTo>
                  <a:close/>
                </a:path>
              </a:pathLst>
            </a:custGeom>
            <a:solidFill>
              <a:schemeClr val="bg1"/>
            </a:solidFill>
            <a:ln w="19050">
              <a:solidFill>
                <a:srgbClr val="FF0000"/>
              </a:solidFill>
              <a:round/>
              <a:headEnd/>
              <a:tailEnd/>
            </a:ln>
            <a:effectLst/>
          </p:spPr>
          <p:txBody>
            <a:bodyPr wrap="none" anchor="ctr"/>
            <a:lstStyle/>
            <a:p>
              <a:endParaRPr lang="zh-CN" altLang="en-US"/>
            </a:p>
          </p:txBody>
        </p:sp>
        <p:sp>
          <p:nvSpPr>
            <p:cNvPr id="7" name="Arc 41">
              <a:extLst>
                <a:ext uri="{FF2B5EF4-FFF2-40B4-BE49-F238E27FC236}">
                  <a16:creationId xmlns:a16="http://schemas.microsoft.com/office/drawing/2014/main" id="{CE3B8F2D-68F3-EEAF-5200-C285B532F362}"/>
                </a:ext>
              </a:extLst>
            </p:cNvPr>
            <p:cNvSpPr>
              <a:spLocks/>
            </p:cNvSpPr>
            <p:nvPr/>
          </p:nvSpPr>
          <p:spPr bwMode="auto">
            <a:xfrm rot="14385203" flipH="1">
              <a:off x="1632238" y="3036517"/>
              <a:ext cx="1447800" cy="833438"/>
            </a:xfrm>
            <a:custGeom>
              <a:avLst/>
              <a:gdLst>
                <a:gd name="T0" fmla="*/ 0 w 21600"/>
                <a:gd name="T1" fmla="*/ 0 h 22361"/>
                <a:gd name="T2" fmla="*/ 0 w 21600"/>
                <a:gd name="T3" fmla="*/ 0 h 22361"/>
                <a:gd name="T4" fmla="*/ 0 w 21600"/>
                <a:gd name="T5" fmla="*/ 0 h 22361"/>
                <a:gd name="T6" fmla="*/ 0 60000 65536"/>
                <a:gd name="T7" fmla="*/ 0 60000 65536"/>
                <a:gd name="T8" fmla="*/ 0 60000 65536"/>
              </a:gdLst>
              <a:ahLst/>
              <a:cxnLst>
                <a:cxn ang="T6">
                  <a:pos x="T0" y="T1"/>
                </a:cxn>
                <a:cxn ang="T7">
                  <a:pos x="T2" y="T3"/>
                </a:cxn>
                <a:cxn ang="T8">
                  <a:pos x="T4" y="T5"/>
                </a:cxn>
              </a:cxnLst>
              <a:rect l="0" t="0" r="r" b="b"/>
              <a:pathLst>
                <a:path w="21600" h="22361" fill="none" extrusionOk="0">
                  <a:moveTo>
                    <a:pt x="549" y="0"/>
                  </a:moveTo>
                  <a:cubicBezTo>
                    <a:pt x="12261" y="298"/>
                    <a:pt x="21600" y="9877"/>
                    <a:pt x="21600" y="21593"/>
                  </a:cubicBezTo>
                  <a:cubicBezTo>
                    <a:pt x="21600" y="21849"/>
                    <a:pt x="21595" y="22105"/>
                    <a:pt x="21586" y="22361"/>
                  </a:cubicBezTo>
                </a:path>
                <a:path w="21600" h="22361" stroke="0" extrusionOk="0">
                  <a:moveTo>
                    <a:pt x="549" y="0"/>
                  </a:moveTo>
                  <a:cubicBezTo>
                    <a:pt x="12261" y="298"/>
                    <a:pt x="21600" y="9877"/>
                    <a:pt x="21600" y="21593"/>
                  </a:cubicBezTo>
                  <a:cubicBezTo>
                    <a:pt x="21600" y="21849"/>
                    <a:pt x="21595" y="22105"/>
                    <a:pt x="21586" y="22361"/>
                  </a:cubicBezTo>
                  <a:lnTo>
                    <a:pt x="0" y="21593"/>
                  </a:lnTo>
                  <a:lnTo>
                    <a:pt x="549" y="0"/>
                  </a:lnTo>
                  <a:close/>
                </a:path>
              </a:pathLst>
            </a:custGeom>
            <a:solidFill>
              <a:schemeClr val="bg1"/>
            </a:solidFill>
            <a:ln w="19050">
              <a:solidFill>
                <a:srgbClr val="FF0000"/>
              </a:solidFill>
              <a:round/>
              <a:headEnd/>
              <a:tailEnd/>
            </a:ln>
            <a:effectLst/>
          </p:spPr>
          <p:txBody>
            <a:bodyPr wrap="none" anchor="ctr"/>
            <a:lstStyle/>
            <a:p>
              <a:endParaRPr lang="zh-CN" altLang="en-US"/>
            </a:p>
          </p:txBody>
        </p:sp>
        <p:grpSp>
          <p:nvGrpSpPr>
            <p:cNvPr id="8" name="Group 44">
              <a:extLst>
                <a:ext uri="{FF2B5EF4-FFF2-40B4-BE49-F238E27FC236}">
                  <a16:creationId xmlns:a16="http://schemas.microsoft.com/office/drawing/2014/main" id="{B8DE9D57-857F-B578-A891-5233213EA95A}"/>
                </a:ext>
              </a:extLst>
            </p:cNvPr>
            <p:cNvGrpSpPr>
              <a:grpSpLocks/>
            </p:cNvGrpSpPr>
            <p:nvPr/>
          </p:nvGrpSpPr>
          <p:grpSpPr bwMode="auto">
            <a:xfrm>
              <a:off x="886113" y="2933330"/>
              <a:ext cx="3270250" cy="2205038"/>
              <a:chOff x="340" y="2240"/>
              <a:chExt cx="2060" cy="1389"/>
            </a:xfrm>
          </p:grpSpPr>
          <p:grpSp>
            <p:nvGrpSpPr>
              <p:cNvPr id="9" name="Group 45">
                <a:extLst>
                  <a:ext uri="{FF2B5EF4-FFF2-40B4-BE49-F238E27FC236}">
                    <a16:creationId xmlns:a16="http://schemas.microsoft.com/office/drawing/2014/main" id="{02F251ED-9169-7FF9-EFEB-27777D23CA34}"/>
                  </a:ext>
                </a:extLst>
              </p:cNvPr>
              <p:cNvGrpSpPr>
                <a:grpSpLocks/>
              </p:cNvGrpSpPr>
              <p:nvPr/>
            </p:nvGrpSpPr>
            <p:grpSpPr bwMode="auto">
              <a:xfrm>
                <a:off x="340" y="2240"/>
                <a:ext cx="2060" cy="1360"/>
                <a:chOff x="240" y="2400"/>
                <a:chExt cx="2060" cy="1360"/>
              </a:xfrm>
            </p:grpSpPr>
            <p:sp>
              <p:nvSpPr>
                <p:cNvPr id="12" name="Line 46">
                  <a:extLst>
                    <a:ext uri="{FF2B5EF4-FFF2-40B4-BE49-F238E27FC236}">
                      <a16:creationId xmlns:a16="http://schemas.microsoft.com/office/drawing/2014/main" id="{980DC25F-CA88-F24D-8C7F-A627FD1F905D}"/>
                    </a:ext>
                  </a:extLst>
                </p:cNvPr>
                <p:cNvSpPr>
                  <a:spLocks noChangeShapeType="1"/>
                </p:cNvSpPr>
                <p:nvPr/>
              </p:nvSpPr>
              <p:spPr bwMode="auto">
                <a:xfrm flipV="1">
                  <a:off x="589" y="2460"/>
                  <a:ext cx="0" cy="1157"/>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Line 47">
                  <a:extLst>
                    <a:ext uri="{FF2B5EF4-FFF2-40B4-BE49-F238E27FC236}">
                      <a16:creationId xmlns:a16="http://schemas.microsoft.com/office/drawing/2014/main" id="{17ED61A8-3523-0308-FD9B-162EE6206395}"/>
                    </a:ext>
                  </a:extLst>
                </p:cNvPr>
                <p:cNvSpPr>
                  <a:spLocks noChangeShapeType="1"/>
                </p:cNvSpPr>
                <p:nvPr/>
              </p:nvSpPr>
              <p:spPr bwMode="auto">
                <a:xfrm>
                  <a:off x="597" y="3617"/>
                  <a:ext cx="1551"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Rectangle 48">
                  <a:extLst>
                    <a:ext uri="{FF2B5EF4-FFF2-40B4-BE49-F238E27FC236}">
                      <a16:creationId xmlns:a16="http://schemas.microsoft.com/office/drawing/2014/main" id="{41F44EBF-86C3-93C1-A550-8C20CA1EB900}"/>
                    </a:ext>
                  </a:extLst>
                </p:cNvPr>
                <p:cNvSpPr>
                  <a:spLocks noChangeArrowheads="1"/>
                </p:cNvSpPr>
                <p:nvPr/>
              </p:nvSpPr>
              <p:spPr bwMode="auto">
                <a:xfrm>
                  <a:off x="240" y="2400"/>
                  <a:ext cx="3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a:solidFill>
                        <a:srgbClr val="0000FF"/>
                      </a:solidFill>
                    </a:rPr>
                    <a:t>f(x)</a:t>
                  </a:r>
                  <a:endParaRPr kumimoji="1" lang="en-US" altLang="zh-CN" sz="2000" baseline="-30000">
                    <a:solidFill>
                      <a:srgbClr val="0000FF"/>
                    </a:solidFill>
                  </a:endParaRPr>
                </a:p>
              </p:txBody>
            </p:sp>
            <p:sp>
              <p:nvSpPr>
                <p:cNvPr id="15" name="Rectangle 49">
                  <a:extLst>
                    <a:ext uri="{FF2B5EF4-FFF2-40B4-BE49-F238E27FC236}">
                      <a16:creationId xmlns:a16="http://schemas.microsoft.com/office/drawing/2014/main" id="{DB3A6973-5901-69EF-49F4-7CE8766EFD46}"/>
                    </a:ext>
                  </a:extLst>
                </p:cNvPr>
                <p:cNvSpPr>
                  <a:spLocks noChangeArrowheads="1"/>
                </p:cNvSpPr>
                <p:nvPr/>
              </p:nvSpPr>
              <p:spPr bwMode="auto">
                <a:xfrm>
                  <a:off x="2104" y="3510"/>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a:solidFill>
                        <a:srgbClr val="0000FF"/>
                      </a:solidFill>
                    </a:rPr>
                    <a:t>x</a:t>
                  </a:r>
                  <a:endParaRPr kumimoji="1" lang="en-US" altLang="zh-CN" sz="2000" baseline="-30000">
                    <a:solidFill>
                      <a:srgbClr val="0000FF"/>
                    </a:solidFill>
                  </a:endParaRPr>
                </a:p>
              </p:txBody>
            </p:sp>
          </p:grpSp>
          <p:sp>
            <p:nvSpPr>
              <p:cNvPr id="10" name="Text Box 50">
                <a:extLst>
                  <a:ext uri="{FF2B5EF4-FFF2-40B4-BE49-F238E27FC236}">
                    <a16:creationId xmlns:a16="http://schemas.microsoft.com/office/drawing/2014/main" id="{F6DED43F-575B-3084-00BB-CC87C78B59C1}"/>
                  </a:ext>
                </a:extLst>
              </p:cNvPr>
              <p:cNvSpPr txBox="1">
                <a:spLocks noChangeArrowheads="1"/>
              </p:cNvSpPr>
              <p:nvPr/>
            </p:nvSpPr>
            <p:spPr bwMode="auto">
              <a:xfrm>
                <a:off x="876" y="3376"/>
                <a:ext cx="288"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1800" dirty="0">
                    <a:solidFill>
                      <a:srgbClr val="0000FF"/>
                    </a:solidFill>
                  </a:rPr>
                  <a:t>a</a:t>
                </a:r>
                <a:r>
                  <a:rPr kumimoji="1" lang="en-US" altLang="zh-CN" sz="1800" baseline="-30000" dirty="0">
                    <a:solidFill>
                      <a:srgbClr val="0000FF"/>
                    </a:solidFill>
                  </a:rPr>
                  <a:t>1</a:t>
                </a:r>
                <a:endParaRPr kumimoji="1" lang="en-US" altLang="zh-CN" sz="1800" dirty="0">
                  <a:solidFill>
                    <a:srgbClr val="0000FF"/>
                  </a:solidFill>
                </a:endParaRPr>
              </a:p>
            </p:txBody>
          </p:sp>
          <p:sp>
            <p:nvSpPr>
              <p:cNvPr id="11" name="Text Box 51">
                <a:extLst>
                  <a:ext uri="{FF2B5EF4-FFF2-40B4-BE49-F238E27FC236}">
                    <a16:creationId xmlns:a16="http://schemas.microsoft.com/office/drawing/2014/main" id="{104C3DA8-8F37-9B95-B216-8D9593DC907C}"/>
                  </a:ext>
                </a:extLst>
              </p:cNvPr>
              <p:cNvSpPr txBox="1">
                <a:spLocks noChangeArrowheads="1"/>
              </p:cNvSpPr>
              <p:nvPr/>
            </p:nvSpPr>
            <p:spPr bwMode="auto">
              <a:xfrm>
                <a:off x="1992" y="3416"/>
                <a:ext cx="243"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1600" dirty="0">
                    <a:solidFill>
                      <a:srgbClr val="0000FF"/>
                    </a:solidFill>
                  </a:rPr>
                  <a:t>b</a:t>
                </a:r>
                <a:r>
                  <a:rPr kumimoji="1" lang="en-US" altLang="zh-CN" sz="1600" baseline="-30000" dirty="0">
                    <a:solidFill>
                      <a:srgbClr val="0000FF"/>
                    </a:solidFill>
                  </a:rPr>
                  <a:t>1</a:t>
                </a:r>
                <a:endParaRPr kumimoji="1" lang="en-US" altLang="zh-CN" sz="1600" dirty="0">
                  <a:solidFill>
                    <a:srgbClr val="0000FF"/>
                  </a:solidFill>
                </a:endParaRPr>
              </a:p>
            </p:txBody>
          </p:sp>
        </p:grpSp>
      </p:grpSp>
      <p:sp>
        <p:nvSpPr>
          <p:cNvPr id="16" name="Text Box 52">
            <a:extLst>
              <a:ext uri="{FF2B5EF4-FFF2-40B4-BE49-F238E27FC236}">
                <a16:creationId xmlns:a16="http://schemas.microsoft.com/office/drawing/2014/main" id="{60E7394F-13F2-AB05-10A2-AA04E57F8D22}"/>
              </a:ext>
            </a:extLst>
          </p:cNvPr>
          <p:cNvSpPr txBox="1">
            <a:spLocks noChangeArrowheads="1"/>
          </p:cNvSpPr>
          <p:nvPr/>
        </p:nvSpPr>
        <p:spPr bwMode="auto">
          <a:xfrm>
            <a:off x="1724313" y="5289180"/>
            <a:ext cx="1828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1800" dirty="0">
                <a:solidFill>
                  <a:srgbClr val="0000FF"/>
                </a:solidFill>
              </a:rPr>
              <a:t>(I) </a:t>
            </a:r>
            <a:r>
              <a:rPr kumimoji="1" lang="zh-CN" altLang="en-US" sz="1800" dirty="0">
                <a:solidFill>
                  <a:srgbClr val="0000FF"/>
                </a:solidFill>
              </a:rPr>
              <a:t>消去</a:t>
            </a:r>
            <a:r>
              <a:rPr kumimoji="1" lang="en-US" altLang="zh-CN" sz="1800" dirty="0">
                <a:solidFill>
                  <a:srgbClr val="0000FF"/>
                </a:solidFill>
              </a:rPr>
              <a:t>[b, b</a:t>
            </a:r>
            <a:r>
              <a:rPr kumimoji="1" lang="en-US" altLang="zh-CN" sz="1800" baseline="-30000" dirty="0">
                <a:solidFill>
                  <a:srgbClr val="0000FF"/>
                </a:solidFill>
              </a:rPr>
              <a:t>1</a:t>
            </a:r>
            <a:r>
              <a:rPr kumimoji="1" lang="en-US" altLang="zh-CN" sz="1800" dirty="0">
                <a:solidFill>
                  <a:srgbClr val="0000FF"/>
                </a:solidFill>
              </a:rPr>
              <a:t>]</a:t>
            </a:r>
            <a:endParaRPr kumimoji="1" lang="en-US" altLang="zh-CN" sz="1800" baseline="-30000" dirty="0">
              <a:solidFill>
                <a:srgbClr val="0000FF"/>
              </a:solidFill>
            </a:endParaRPr>
          </a:p>
        </p:txBody>
      </p:sp>
      <p:grpSp>
        <p:nvGrpSpPr>
          <p:cNvPr id="17" name="Group 53">
            <a:extLst>
              <a:ext uri="{FF2B5EF4-FFF2-40B4-BE49-F238E27FC236}">
                <a16:creationId xmlns:a16="http://schemas.microsoft.com/office/drawing/2014/main" id="{4025B189-A592-7E8F-5BF5-771394430334}"/>
              </a:ext>
            </a:extLst>
          </p:cNvPr>
          <p:cNvGrpSpPr>
            <a:grpSpLocks/>
          </p:cNvGrpSpPr>
          <p:nvPr/>
        </p:nvGrpSpPr>
        <p:grpSpPr bwMode="auto">
          <a:xfrm>
            <a:off x="2632363" y="3949330"/>
            <a:ext cx="374650" cy="1217613"/>
            <a:chOff x="1440" y="2880"/>
            <a:chExt cx="236" cy="767"/>
          </a:xfrm>
        </p:grpSpPr>
        <p:sp>
          <p:nvSpPr>
            <p:cNvPr id="18" name="Line 54">
              <a:extLst>
                <a:ext uri="{FF2B5EF4-FFF2-40B4-BE49-F238E27FC236}">
                  <a16:creationId xmlns:a16="http://schemas.microsoft.com/office/drawing/2014/main" id="{19CFA303-E87E-7EE6-E789-D1A41D78868E}"/>
                </a:ext>
              </a:extLst>
            </p:cNvPr>
            <p:cNvSpPr>
              <a:spLocks noChangeShapeType="1"/>
            </p:cNvSpPr>
            <p:nvPr/>
          </p:nvSpPr>
          <p:spPr bwMode="auto">
            <a:xfrm>
              <a:off x="1536" y="2880"/>
              <a:ext cx="0" cy="57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Rectangle 55">
              <a:extLst>
                <a:ext uri="{FF2B5EF4-FFF2-40B4-BE49-F238E27FC236}">
                  <a16:creationId xmlns:a16="http://schemas.microsoft.com/office/drawing/2014/main" id="{12020B2F-5847-1E42-44CA-39A95D53452D}"/>
                </a:ext>
              </a:extLst>
            </p:cNvPr>
            <p:cNvSpPr>
              <a:spLocks noChangeArrowheads="1"/>
            </p:cNvSpPr>
            <p:nvPr/>
          </p:nvSpPr>
          <p:spPr bwMode="auto">
            <a:xfrm>
              <a:off x="1440" y="3416"/>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a:solidFill>
                    <a:srgbClr val="FF0000"/>
                  </a:solidFill>
                </a:rPr>
                <a:t>x</a:t>
              </a:r>
              <a:r>
                <a:rPr kumimoji="1" lang="en-US" altLang="zh-CN" sz="1800" baseline="30000">
                  <a:solidFill>
                    <a:srgbClr val="FF0000"/>
                  </a:solidFill>
                </a:rPr>
                <a:t>*</a:t>
              </a:r>
            </a:p>
          </p:txBody>
        </p:sp>
      </p:grpSp>
      <p:grpSp>
        <p:nvGrpSpPr>
          <p:cNvPr id="20" name="Group 56">
            <a:extLst>
              <a:ext uri="{FF2B5EF4-FFF2-40B4-BE49-F238E27FC236}">
                <a16:creationId xmlns:a16="http://schemas.microsoft.com/office/drawing/2014/main" id="{4CD85D57-B5A9-6A8F-CDBE-92F29AECE754}"/>
              </a:ext>
            </a:extLst>
          </p:cNvPr>
          <p:cNvGrpSpPr>
            <a:grpSpLocks/>
          </p:cNvGrpSpPr>
          <p:nvPr/>
        </p:nvGrpSpPr>
        <p:grpSpPr bwMode="auto">
          <a:xfrm>
            <a:off x="3248324" y="3750892"/>
            <a:ext cx="312738" cy="1368425"/>
            <a:chOff x="4228" y="2755"/>
            <a:chExt cx="197" cy="862"/>
          </a:xfrm>
        </p:grpSpPr>
        <p:sp>
          <p:nvSpPr>
            <p:cNvPr id="21" name="Line 57">
              <a:extLst>
                <a:ext uri="{FF2B5EF4-FFF2-40B4-BE49-F238E27FC236}">
                  <a16:creationId xmlns:a16="http://schemas.microsoft.com/office/drawing/2014/main" id="{DAB08B29-669D-B449-72AF-8B23CA540B40}"/>
                </a:ext>
              </a:extLst>
            </p:cNvPr>
            <p:cNvSpPr>
              <a:spLocks noChangeShapeType="1"/>
            </p:cNvSpPr>
            <p:nvPr/>
          </p:nvSpPr>
          <p:spPr bwMode="auto">
            <a:xfrm>
              <a:off x="4324" y="2755"/>
              <a:ext cx="0" cy="701"/>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Rectangle 58">
              <a:extLst>
                <a:ext uri="{FF2B5EF4-FFF2-40B4-BE49-F238E27FC236}">
                  <a16:creationId xmlns:a16="http://schemas.microsoft.com/office/drawing/2014/main" id="{D2835E3F-E0F7-FA55-8A96-164333214324}"/>
                </a:ext>
              </a:extLst>
            </p:cNvPr>
            <p:cNvSpPr>
              <a:spLocks noChangeArrowheads="1"/>
            </p:cNvSpPr>
            <p:nvPr/>
          </p:nvSpPr>
          <p:spPr bwMode="auto">
            <a:xfrm>
              <a:off x="4228" y="3384"/>
              <a:ext cx="1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dirty="0">
                  <a:solidFill>
                    <a:srgbClr val="0000FF"/>
                  </a:solidFill>
                </a:rPr>
                <a:t>b</a:t>
              </a:r>
              <a:endParaRPr kumimoji="1" lang="en-US" altLang="zh-CN" sz="1800" baseline="-30000" dirty="0">
                <a:solidFill>
                  <a:srgbClr val="0000FF"/>
                </a:solidFill>
              </a:endParaRPr>
            </a:p>
          </p:txBody>
        </p:sp>
      </p:grpSp>
      <p:grpSp>
        <p:nvGrpSpPr>
          <p:cNvPr id="23" name="Group 59">
            <a:extLst>
              <a:ext uri="{FF2B5EF4-FFF2-40B4-BE49-F238E27FC236}">
                <a16:creationId xmlns:a16="http://schemas.microsoft.com/office/drawing/2014/main" id="{8ACA7A27-AE3D-11A2-73EB-7262602E304E}"/>
              </a:ext>
            </a:extLst>
          </p:cNvPr>
          <p:cNvGrpSpPr>
            <a:grpSpLocks/>
          </p:cNvGrpSpPr>
          <p:nvPr/>
        </p:nvGrpSpPr>
        <p:grpSpPr bwMode="auto">
          <a:xfrm>
            <a:off x="2943516" y="3873130"/>
            <a:ext cx="300038" cy="1258888"/>
            <a:chOff x="1220" y="2832"/>
            <a:chExt cx="189" cy="793"/>
          </a:xfrm>
        </p:grpSpPr>
        <p:sp>
          <p:nvSpPr>
            <p:cNvPr id="24" name="Line 60">
              <a:extLst>
                <a:ext uri="{FF2B5EF4-FFF2-40B4-BE49-F238E27FC236}">
                  <a16:creationId xmlns:a16="http://schemas.microsoft.com/office/drawing/2014/main" id="{C369ACE8-18F4-0F07-C2D2-E1536C8BC819}"/>
                </a:ext>
              </a:extLst>
            </p:cNvPr>
            <p:cNvSpPr>
              <a:spLocks noChangeShapeType="1"/>
            </p:cNvSpPr>
            <p:nvPr/>
          </p:nvSpPr>
          <p:spPr bwMode="auto">
            <a:xfrm>
              <a:off x="1328" y="2832"/>
              <a:ext cx="0" cy="624"/>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Rectangle 61">
              <a:extLst>
                <a:ext uri="{FF2B5EF4-FFF2-40B4-BE49-F238E27FC236}">
                  <a16:creationId xmlns:a16="http://schemas.microsoft.com/office/drawing/2014/main" id="{AA9257C7-D06E-9DC3-00C4-58220C4E575F}"/>
                </a:ext>
              </a:extLst>
            </p:cNvPr>
            <p:cNvSpPr>
              <a:spLocks noChangeArrowheads="1"/>
            </p:cNvSpPr>
            <p:nvPr/>
          </p:nvSpPr>
          <p:spPr bwMode="auto">
            <a:xfrm>
              <a:off x="1220" y="3392"/>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dirty="0">
                  <a:solidFill>
                    <a:srgbClr val="0000FF"/>
                  </a:solidFill>
                </a:rPr>
                <a:t>a</a:t>
              </a:r>
              <a:endParaRPr kumimoji="1" lang="en-US" altLang="zh-CN" sz="1800" baseline="-30000" dirty="0">
                <a:solidFill>
                  <a:srgbClr val="0000FF"/>
                </a:solidFill>
              </a:endParaRPr>
            </a:p>
          </p:txBody>
        </p:sp>
      </p:grpSp>
      <p:grpSp>
        <p:nvGrpSpPr>
          <p:cNvPr id="26" name="Group 62">
            <a:extLst>
              <a:ext uri="{FF2B5EF4-FFF2-40B4-BE49-F238E27FC236}">
                <a16:creationId xmlns:a16="http://schemas.microsoft.com/office/drawing/2014/main" id="{909151C2-F1D7-C310-4E6E-F6217BCE51F5}"/>
              </a:ext>
            </a:extLst>
          </p:cNvPr>
          <p:cNvGrpSpPr>
            <a:grpSpLocks/>
          </p:cNvGrpSpPr>
          <p:nvPr/>
        </p:nvGrpSpPr>
        <p:grpSpPr bwMode="auto">
          <a:xfrm flipH="1">
            <a:off x="3419763" y="3639767"/>
            <a:ext cx="173038" cy="1223962"/>
            <a:chOff x="960" y="2592"/>
            <a:chExt cx="144" cy="857"/>
          </a:xfrm>
        </p:grpSpPr>
        <p:sp>
          <p:nvSpPr>
            <p:cNvPr id="27" name="Line 63">
              <a:extLst>
                <a:ext uri="{FF2B5EF4-FFF2-40B4-BE49-F238E27FC236}">
                  <a16:creationId xmlns:a16="http://schemas.microsoft.com/office/drawing/2014/main" id="{45966266-F0D9-EA96-9CE3-11F06973BAA1}"/>
                </a:ext>
              </a:extLst>
            </p:cNvPr>
            <p:cNvSpPr>
              <a:spLocks noChangeShapeType="1"/>
            </p:cNvSpPr>
            <p:nvPr/>
          </p:nvSpPr>
          <p:spPr bwMode="auto">
            <a:xfrm>
              <a:off x="960" y="2592"/>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64">
              <a:extLst>
                <a:ext uri="{FF2B5EF4-FFF2-40B4-BE49-F238E27FC236}">
                  <a16:creationId xmlns:a16="http://schemas.microsoft.com/office/drawing/2014/main" id="{D0090E0A-069D-3954-9569-87AE522C4D21}"/>
                </a:ext>
              </a:extLst>
            </p:cNvPr>
            <p:cNvSpPr>
              <a:spLocks noChangeShapeType="1"/>
            </p:cNvSpPr>
            <p:nvPr/>
          </p:nvSpPr>
          <p:spPr bwMode="auto">
            <a:xfrm>
              <a:off x="960" y="2688"/>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65">
              <a:extLst>
                <a:ext uri="{FF2B5EF4-FFF2-40B4-BE49-F238E27FC236}">
                  <a16:creationId xmlns:a16="http://schemas.microsoft.com/office/drawing/2014/main" id="{12FE53B4-A507-7289-A864-3A6C93C35498}"/>
                </a:ext>
              </a:extLst>
            </p:cNvPr>
            <p:cNvSpPr>
              <a:spLocks noChangeShapeType="1"/>
            </p:cNvSpPr>
            <p:nvPr/>
          </p:nvSpPr>
          <p:spPr bwMode="auto">
            <a:xfrm>
              <a:off x="960" y="2784"/>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66">
              <a:extLst>
                <a:ext uri="{FF2B5EF4-FFF2-40B4-BE49-F238E27FC236}">
                  <a16:creationId xmlns:a16="http://schemas.microsoft.com/office/drawing/2014/main" id="{F579D80D-C3C5-6E06-8214-EA25DB32A21C}"/>
                </a:ext>
              </a:extLst>
            </p:cNvPr>
            <p:cNvSpPr>
              <a:spLocks noChangeShapeType="1"/>
            </p:cNvSpPr>
            <p:nvPr/>
          </p:nvSpPr>
          <p:spPr bwMode="auto">
            <a:xfrm>
              <a:off x="960" y="2880"/>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67">
              <a:extLst>
                <a:ext uri="{FF2B5EF4-FFF2-40B4-BE49-F238E27FC236}">
                  <a16:creationId xmlns:a16="http://schemas.microsoft.com/office/drawing/2014/main" id="{CC74CA78-9F58-9266-6F79-51E4B473A59D}"/>
                </a:ext>
              </a:extLst>
            </p:cNvPr>
            <p:cNvSpPr>
              <a:spLocks noChangeShapeType="1"/>
            </p:cNvSpPr>
            <p:nvPr/>
          </p:nvSpPr>
          <p:spPr bwMode="auto">
            <a:xfrm>
              <a:off x="960" y="2976"/>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68">
              <a:extLst>
                <a:ext uri="{FF2B5EF4-FFF2-40B4-BE49-F238E27FC236}">
                  <a16:creationId xmlns:a16="http://schemas.microsoft.com/office/drawing/2014/main" id="{73509820-9B45-EC28-84D2-464057854E20}"/>
                </a:ext>
              </a:extLst>
            </p:cNvPr>
            <p:cNvSpPr>
              <a:spLocks noChangeShapeType="1"/>
            </p:cNvSpPr>
            <p:nvPr/>
          </p:nvSpPr>
          <p:spPr bwMode="auto">
            <a:xfrm>
              <a:off x="960" y="3072"/>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69">
              <a:extLst>
                <a:ext uri="{FF2B5EF4-FFF2-40B4-BE49-F238E27FC236}">
                  <a16:creationId xmlns:a16="http://schemas.microsoft.com/office/drawing/2014/main" id="{5D76B3E6-1C17-BBE4-BB77-2DDCA6F35A48}"/>
                </a:ext>
              </a:extLst>
            </p:cNvPr>
            <p:cNvSpPr>
              <a:spLocks noChangeShapeType="1"/>
            </p:cNvSpPr>
            <p:nvPr/>
          </p:nvSpPr>
          <p:spPr bwMode="auto">
            <a:xfrm>
              <a:off x="960" y="3168"/>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70">
              <a:extLst>
                <a:ext uri="{FF2B5EF4-FFF2-40B4-BE49-F238E27FC236}">
                  <a16:creationId xmlns:a16="http://schemas.microsoft.com/office/drawing/2014/main" id="{EDDBD1F4-5944-7696-B4F4-0F15EB4DCA51}"/>
                </a:ext>
              </a:extLst>
            </p:cNvPr>
            <p:cNvSpPr>
              <a:spLocks noChangeShapeType="1"/>
            </p:cNvSpPr>
            <p:nvPr/>
          </p:nvSpPr>
          <p:spPr bwMode="auto">
            <a:xfrm>
              <a:off x="960" y="3264"/>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71">
              <a:extLst>
                <a:ext uri="{FF2B5EF4-FFF2-40B4-BE49-F238E27FC236}">
                  <a16:creationId xmlns:a16="http://schemas.microsoft.com/office/drawing/2014/main" id="{7F407EE4-E7D3-4478-AF97-02EBCDD52551}"/>
                </a:ext>
              </a:extLst>
            </p:cNvPr>
            <p:cNvSpPr>
              <a:spLocks noChangeShapeType="1"/>
            </p:cNvSpPr>
            <p:nvPr/>
          </p:nvSpPr>
          <p:spPr bwMode="auto">
            <a:xfrm>
              <a:off x="968" y="3376"/>
              <a:ext cx="73" cy="73"/>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6" name="Rectangle 74">
            <a:extLst>
              <a:ext uri="{FF2B5EF4-FFF2-40B4-BE49-F238E27FC236}">
                <a16:creationId xmlns:a16="http://schemas.microsoft.com/office/drawing/2014/main" id="{BB0DCD74-3535-AF3A-96A4-E7305EF98B00}"/>
              </a:ext>
            </a:extLst>
          </p:cNvPr>
          <p:cNvSpPr>
            <a:spLocks noChangeArrowheads="1"/>
          </p:cNvSpPr>
          <p:nvPr/>
        </p:nvSpPr>
        <p:spPr bwMode="auto">
          <a:xfrm>
            <a:off x="6600056" y="1412776"/>
            <a:ext cx="420179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dirty="0">
                <a:solidFill>
                  <a:srgbClr val="0000FF"/>
                </a:solidFill>
              </a:rPr>
              <a:t>（</a:t>
            </a:r>
            <a:r>
              <a:rPr kumimoji="1" lang="en-US" altLang="zh-CN" dirty="0">
                <a:solidFill>
                  <a:srgbClr val="0000FF"/>
                </a:solidFill>
              </a:rPr>
              <a:t>II</a:t>
            </a:r>
            <a:r>
              <a:rPr kumimoji="1" lang="zh-CN" altLang="en-US" dirty="0">
                <a:solidFill>
                  <a:srgbClr val="0000FF"/>
                </a:solidFill>
              </a:rPr>
              <a:t>）  若</a:t>
            </a:r>
            <a:r>
              <a:rPr kumimoji="1" lang="en-US" altLang="zh-CN" dirty="0">
                <a:solidFill>
                  <a:srgbClr val="0000FF"/>
                </a:solidFill>
              </a:rPr>
              <a:t>f(a)≥f(b)</a:t>
            </a:r>
            <a:r>
              <a:rPr kumimoji="1" lang="zh-CN" altLang="en-US" dirty="0">
                <a:solidFill>
                  <a:srgbClr val="0000FF"/>
                </a:solidFill>
              </a:rPr>
              <a:t>，</a:t>
            </a:r>
            <a:r>
              <a:rPr kumimoji="1" lang="en-US" altLang="zh-CN" dirty="0">
                <a:solidFill>
                  <a:srgbClr val="0000FF"/>
                </a:solidFill>
              </a:rPr>
              <a:t>x</a:t>
            </a:r>
            <a:r>
              <a:rPr kumimoji="1" lang="en-US" altLang="zh-CN" baseline="30000" dirty="0">
                <a:solidFill>
                  <a:srgbClr val="0000FF"/>
                </a:solidFill>
              </a:rPr>
              <a:t>*</a:t>
            </a:r>
            <a:r>
              <a:rPr kumimoji="1" lang="en-US" altLang="zh-CN" dirty="0">
                <a:solidFill>
                  <a:srgbClr val="0000FF"/>
                </a:solidFill>
              </a:rPr>
              <a:t>∈[a,b</a:t>
            </a:r>
            <a:r>
              <a:rPr kumimoji="1" lang="en-US" altLang="zh-CN" baseline="-30000" dirty="0">
                <a:solidFill>
                  <a:srgbClr val="0000FF"/>
                </a:solidFill>
              </a:rPr>
              <a:t>1</a:t>
            </a:r>
            <a:r>
              <a:rPr kumimoji="1" lang="en-US" altLang="zh-CN" dirty="0">
                <a:solidFill>
                  <a:srgbClr val="0000FF"/>
                </a:solidFill>
              </a:rPr>
              <a:t>]</a:t>
            </a:r>
          </a:p>
        </p:txBody>
      </p:sp>
      <p:grpSp>
        <p:nvGrpSpPr>
          <p:cNvPr id="70" name="组合 69">
            <a:extLst>
              <a:ext uri="{FF2B5EF4-FFF2-40B4-BE49-F238E27FC236}">
                <a16:creationId xmlns:a16="http://schemas.microsoft.com/office/drawing/2014/main" id="{808AF148-B9B5-C748-9A92-7D48D739E1BC}"/>
              </a:ext>
            </a:extLst>
          </p:cNvPr>
          <p:cNvGrpSpPr/>
          <p:nvPr/>
        </p:nvGrpSpPr>
        <p:grpSpPr>
          <a:xfrm>
            <a:off x="7160683" y="2591563"/>
            <a:ext cx="3270250" cy="2432843"/>
            <a:chOff x="7160683" y="2591563"/>
            <a:chExt cx="3270250" cy="2432843"/>
          </a:xfrm>
        </p:grpSpPr>
        <p:sp>
          <p:nvSpPr>
            <p:cNvPr id="37" name="Rectangle 5">
              <a:extLst>
                <a:ext uri="{FF2B5EF4-FFF2-40B4-BE49-F238E27FC236}">
                  <a16:creationId xmlns:a16="http://schemas.microsoft.com/office/drawing/2014/main" id="{F5D10ACC-44FF-9A60-20CB-AC6B65B9869F}"/>
                </a:ext>
              </a:extLst>
            </p:cNvPr>
            <p:cNvSpPr>
              <a:spLocks noChangeArrowheads="1"/>
            </p:cNvSpPr>
            <p:nvPr/>
          </p:nvSpPr>
          <p:spPr bwMode="auto">
            <a:xfrm>
              <a:off x="8132233" y="3227356"/>
              <a:ext cx="1752600" cy="1524000"/>
            </a:xfrm>
            <a:prstGeom prst="rect">
              <a:avLst/>
            </a:prstGeom>
            <a:solidFill>
              <a:srgbClr val="FFFF99"/>
            </a:solidFill>
            <a:ln w="9525">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38" name="Arc 6">
              <a:extLst>
                <a:ext uri="{FF2B5EF4-FFF2-40B4-BE49-F238E27FC236}">
                  <a16:creationId xmlns:a16="http://schemas.microsoft.com/office/drawing/2014/main" id="{EC7FE382-1201-F0EC-FA75-D476E43B3147}"/>
                </a:ext>
              </a:extLst>
            </p:cNvPr>
            <p:cNvSpPr>
              <a:spLocks/>
            </p:cNvSpPr>
            <p:nvPr/>
          </p:nvSpPr>
          <p:spPr bwMode="auto">
            <a:xfrm rot="7208220">
              <a:off x="8800571" y="2824131"/>
              <a:ext cx="1447800" cy="982663"/>
            </a:xfrm>
            <a:custGeom>
              <a:avLst/>
              <a:gdLst>
                <a:gd name="T0" fmla="*/ 0 w 21600"/>
                <a:gd name="T1" fmla="*/ 0 h 22361"/>
                <a:gd name="T2" fmla="*/ 0 w 21600"/>
                <a:gd name="T3" fmla="*/ 0 h 22361"/>
                <a:gd name="T4" fmla="*/ 0 w 21600"/>
                <a:gd name="T5" fmla="*/ 0 h 22361"/>
                <a:gd name="T6" fmla="*/ 0 60000 65536"/>
                <a:gd name="T7" fmla="*/ 0 60000 65536"/>
                <a:gd name="T8" fmla="*/ 0 60000 65536"/>
              </a:gdLst>
              <a:ahLst/>
              <a:cxnLst>
                <a:cxn ang="T6">
                  <a:pos x="T0" y="T1"/>
                </a:cxn>
                <a:cxn ang="T7">
                  <a:pos x="T2" y="T3"/>
                </a:cxn>
                <a:cxn ang="T8">
                  <a:pos x="T4" y="T5"/>
                </a:cxn>
              </a:cxnLst>
              <a:rect l="0" t="0" r="r" b="b"/>
              <a:pathLst>
                <a:path w="21600" h="22361" fill="none" extrusionOk="0">
                  <a:moveTo>
                    <a:pt x="549" y="0"/>
                  </a:moveTo>
                  <a:cubicBezTo>
                    <a:pt x="12261" y="298"/>
                    <a:pt x="21600" y="9877"/>
                    <a:pt x="21600" y="21593"/>
                  </a:cubicBezTo>
                  <a:cubicBezTo>
                    <a:pt x="21600" y="21849"/>
                    <a:pt x="21595" y="22105"/>
                    <a:pt x="21586" y="22361"/>
                  </a:cubicBezTo>
                </a:path>
                <a:path w="21600" h="22361" stroke="0" extrusionOk="0">
                  <a:moveTo>
                    <a:pt x="549" y="0"/>
                  </a:moveTo>
                  <a:cubicBezTo>
                    <a:pt x="12261" y="298"/>
                    <a:pt x="21600" y="9877"/>
                    <a:pt x="21600" y="21593"/>
                  </a:cubicBezTo>
                  <a:cubicBezTo>
                    <a:pt x="21600" y="21849"/>
                    <a:pt x="21595" y="22105"/>
                    <a:pt x="21586" y="22361"/>
                  </a:cubicBezTo>
                  <a:lnTo>
                    <a:pt x="0" y="21593"/>
                  </a:lnTo>
                  <a:lnTo>
                    <a:pt x="549" y="0"/>
                  </a:lnTo>
                  <a:close/>
                </a:path>
              </a:pathLst>
            </a:custGeom>
            <a:solidFill>
              <a:schemeClr val="bg1"/>
            </a:solidFill>
            <a:ln w="19050">
              <a:solidFill>
                <a:srgbClr val="FF0000"/>
              </a:solidFill>
              <a:round/>
              <a:headEnd/>
              <a:tailEnd/>
            </a:ln>
            <a:effectLst/>
          </p:spPr>
          <p:txBody>
            <a:bodyPr wrap="none" anchor="ctr"/>
            <a:lstStyle/>
            <a:p>
              <a:endParaRPr lang="zh-CN" altLang="en-US"/>
            </a:p>
          </p:txBody>
        </p:sp>
        <p:sp>
          <p:nvSpPr>
            <p:cNvPr id="39" name="Arc 7">
              <a:extLst>
                <a:ext uri="{FF2B5EF4-FFF2-40B4-BE49-F238E27FC236}">
                  <a16:creationId xmlns:a16="http://schemas.microsoft.com/office/drawing/2014/main" id="{849A9E42-C2CF-E5EF-3B3D-3F985CDB771D}"/>
                </a:ext>
              </a:extLst>
            </p:cNvPr>
            <p:cNvSpPr>
              <a:spLocks/>
            </p:cNvSpPr>
            <p:nvPr/>
          </p:nvSpPr>
          <p:spPr bwMode="auto">
            <a:xfrm rot="14385203" flipH="1">
              <a:off x="7906808" y="2924144"/>
              <a:ext cx="1447800" cy="833438"/>
            </a:xfrm>
            <a:custGeom>
              <a:avLst/>
              <a:gdLst>
                <a:gd name="T0" fmla="*/ 0 w 21600"/>
                <a:gd name="T1" fmla="*/ 0 h 22361"/>
                <a:gd name="T2" fmla="*/ 0 w 21600"/>
                <a:gd name="T3" fmla="*/ 0 h 22361"/>
                <a:gd name="T4" fmla="*/ 0 w 21600"/>
                <a:gd name="T5" fmla="*/ 0 h 22361"/>
                <a:gd name="T6" fmla="*/ 0 60000 65536"/>
                <a:gd name="T7" fmla="*/ 0 60000 65536"/>
                <a:gd name="T8" fmla="*/ 0 60000 65536"/>
              </a:gdLst>
              <a:ahLst/>
              <a:cxnLst>
                <a:cxn ang="T6">
                  <a:pos x="T0" y="T1"/>
                </a:cxn>
                <a:cxn ang="T7">
                  <a:pos x="T2" y="T3"/>
                </a:cxn>
                <a:cxn ang="T8">
                  <a:pos x="T4" y="T5"/>
                </a:cxn>
              </a:cxnLst>
              <a:rect l="0" t="0" r="r" b="b"/>
              <a:pathLst>
                <a:path w="21600" h="22361" fill="none" extrusionOk="0">
                  <a:moveTo>
                    <a:pt x="549" y="0"/>
                  </a:moveTo>
                  <a:cubicBezTo>
                    <a:pt x="12261" y="298"/>
                    <a:pt x="21600" y="9877"/>
                    <a:pt x="21600" y="21593"/>
                  </a:cubicBezTo>
                  <a:cubicBezTo>
                    <a:pt x="21600" y="21849"/>
                    <a:pt x="21595" y="22105"/>
                    <a:pt x="21586" y="22361"/>
                  </a:cubicBezTo>
                </a:path>
                <a:path w="21600" h="22361" stroke="0" extrusionOk="0">
                  <a:moveTo>
                    <a:pt x="549" y="0"/>
                  </a:moveTo>
                  <a:cubicBezTo>
                    <a:pt x="12261" y="298"/>
                    <a:pt x="21600" y="9877"/>
                    <a:pt x="21600" y="21593"/>
                  </a:cubicBezTo>
                  <a:cubicBezTo>
                    <a:pt x="21600" y="21849"/>
                    <a:pt x="21595" y="22105"/>
                    <a:pt x="21586" y="22361"/>
                  </a:cubicBezTo>
                  <a:lnTo>
                    <a:pt x="0" y="21593"/>
                  </a:lnTo>
                  <a:lnTo>
                    <a:pt x="549" y="0"/>
                  </a:lnTo>
                  <a:close/>
                </a:path>
              </a:pathLst>
            </a:custGeom>
            <a:solidFill>
              <a:schemeClr val="bg1"/>
            </a:solidFill>
            <a:ln w="19050">
              <a:solidFill>
                <a:srgbClr val="FF0000"/>
              </a:solidFill>
              <a:round/>
              <a:headEnd/>
              <a:tailEnd/>
            </a:ln>
            <a:effectLst/>
          </p:spPr>
          <p:txBody>
            <a:bodyPr wrap="none" anchor="ctr"/>
            <a:lstStyle/>
            <a:p>
              <a:endParaRPr lang="zh-CN" altLang="en-US"/>
            </a:p>
          </p:txBody>
        </p:sp>
        <p:grpSp>
          <p:nvGrpSpPr>
            <p:cNvPr id="40" name="Group 10">
              <a:extLst>
                <a:ext uri="{FF2B5EF4-FFF2-40B4-BE49-F238E27FC236}">
                  <a16:creationId xmlns:a16="http://schemas.microsoft.com/office/drawing/2014/main" id="{5B0D9F2C-E56A-728B-C870-4556B08D0CF1}"/>
                </a:ext>
              </a:extLst>
            </p:cNvPr>
            <p:cNvGrpSpPr>
              <a:grpSpLocks/>
            </p:cNvGrpSpPr>
            <p:nvPr/>
          </p:nvGrpSpPr>
          <p:grpSpPr bwMode="auto">
            <a:xfrm>
              <a:off x="7160683" y="2820956"/>
              <a:ext cx="3270250" cy="2203450"/>
              <a:chOff x="340" y="2240"/>
              <a:chExt cx="2060" cy="1388"/>
            </a:xfrm>
          </p:grpSpPr>
          <p:grpSp>
            <p:nvGrpSpPr>
              <p:cNvPr id="41" name="Group 11">
                <a:extLst>
                  <a:ext uri="{FF2B5EF4-FFF2-40B4-BE49-F238E27FC236}">
                    <a16:creationId xmlns:a16="http://schemas.microsoft.com/office/drawing/2014/main" id="{41CC867D-567D-9DC7-805E-2E8D4F56EF83}"/>
                  </a:ext>
                </a:extLst>
              </p:cNvPr>
              <p:cNvGrpSpPr>
                <a:grpSpLocks/>
              </p:cNvGrpSpPr>
              <p:nvPr/>
            </p:nvGrpSpPr>
            <p:grpSpPr bwMode="auto">
              <a:xfrm>
                <a:off x="340" y="2240"/>
                <a:ext cx="2060" cy="1360"/>
                <a:chOff x="240" y="2400"/>
                <a:chExt cx="2060" cy="1360"/>
              </a:xfrm>
            </p:grpSpPr>
            <p:sp>
              <p:nvSpPr>
                <p:cNvPr id="44" name="Line 12">
                  <a:extLst>
                    <a:ext uri="{FF2B5EF4-FFF2-40B4-BE49-F238E27FC236}">
                      <a16:creationId xmlns:a16="http://schemas.microsoft.com/office/drawing/2014/main" id="{BBD7A5A5-E318-02C6-23D5-847544F5F146}"/>
                    </a:ext>
                  </a:extLst>
                </p:cNvPr>
                <p:cNvSpPr>
                  <a:spLocks noChangeShapeType="1"/>
                </p:cNvSpPr>
                <p:nvPr/>
              </p:nvSpPr>
              <p:spPr bwMode="auto">
                <a:xfrm flipV="1">
                  <a:off x="589" y="2460"/>
                  <a:ext cx="0" cy="1157"/>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5" name="Line 13">
                  <a:extLst>
                    <a:ext uri="{FF2B5EF4-FFF2-40B4-BE49-F238E27FC236}">
                      <a16:creationId xmlns:a16="http://schemas.microsoft.com/office/drawing/2014/main" id="{A147E61E-A88E-C716-5919-29E0FA72F4D5}"/>
                    </a:ext>
                  </a:extLst>
                </p:cNvPr>
                <p:cNvSpPr>
                  <a:spLocks noChangeShapeType="1"/>
                </p:cNvSpPr>
                <p:nvPr/>
              </p:nvSpPr>
              <p:spPr bwMode="auto">
                <a:xfrm>
                  <a:off x="597" y="3617"/>
                  <a:ext cx="1551" cy="0"/>
                </a:xfrm>
                <a:prstGeom prst="line">
                  <a:avLst/>
                </a:prstGeom>
                <a:noFill/>
                <a:ln w="127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Rectangle 14">
                  <a:extLst>
                    <a:ext uri="{FF2B5EF4-FFF2-40B4-BE49-F238E27FC236}">
                      <a16:creationId xmlns:a16="http://schemas.microsoft.com/office/drawing/2014/main" id="{4C57F4FA-DB86-8850-9DC0-0FE785A84B6C}"/>
                    </a:ext>
                  </a:extLst>
                </p:cNvPr>
                <p:cNvSpPr>
                  <a:spLocks noChangeArrowheads="1"/>
                </p:cNvSpPr>
                <p:nvPr/>
              </p:nvSpPr>
              <p:spPr bwMode="auto">
                <a:xfrm>
                  <a:off x="240" y="2400"/>
                  <a:ext cx="3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a:solidFill>
                        <a:srgbClr val="0000FF"/>
                      </a:solidFill>
                    </a:rPr>
                    <a:t>f(x)</a:t>
                  </a:r>
                  <a:endParaRPr kumimoji="1" lang="en-US" altLang="zh-CN" sz="2000" baseline="-30000">
                    <a:solidFill>
                      <a:srgbClr val="0000FF"/>
                    </a:solidFill>
                  </a:endParaRPr>
                </a:p>
              </p:txBody>
            </p:sp>
            <p:sp>
              <p:nvSpPr>
                <p:cNvPr id="47" name="Rectangle 15">
                  <a:extLst>
                    <a:ext uri="{FF2B5EF4-FFF2-40B4-BE49-F238E27FC236}">
                      <a16:creationId xmlns:a16="http://schemas.microsoft.com/office/drawing/2014/main" id="{AC50F21D-37FF-ED48-C57B-C3FC6405C501}"/>
                    </a:ext>
                  </a:extLst>
                </p:cNvPr>
                <p:cNvSpPr>
                  <a:spLocks noChangeArrowheads="1"/>
                </p:cNvSpPr>
                <p:nvPr/>
              </p:nvSpPr>
              <p:spPr bwMode="auto">
                <a:xfrm>
                  <a:off x="2104" y="3510"/>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a:solidFill>
                        <a:srgbClr val="0000FF"/>
                      </a:solidFill>
                    </a:rPr>
                    <a:t>x</a:t>
                  </a:r>
                  <a:endParaRPr kumimoji="1" lang="en-US" altLang="zh-CN" sz="2000" baseline="-30000">
                    <a:solidFill>
                      <a:srgbClr val="0000FF"/>
                    </a:solidFill>
                  </a:endParaRPr>
                </a:p>
              </p:txBody>
            </p:sp>
          </p:grpSp>
          <p:sp>
            <p:nvSpPr>
              <p:cNvPr id="42" name="Text Box 16">
                <a:extLst>
                  <a:ext uri="{FF2B5EF4-FFF2-40B4-BE49-F238E27FC236}">
                    <a16:creationId xmlns:a16="http://schemas.microsoft.com/office/drawing/2014/main" id="{1940672D-27BA-A1C1-CABC-BB471440FBE6}"/>
                  </a:ext>
                </a:extLst>
              </p:cNvPr>
              <p:cNvSpPr txBox="1">
                <a:spLocks noChangeArrowheads="1"/>
              </p:cNvSpPr>
              <p:nvPr/>
            </p:nvSpPr>
            <p:spPr bwMode="auto">
              <a:xfrm>
                <a:off x="876" y="3376"/>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1800" dirty="0">
                    <a:solidFill>
                      <a:srgbClr val="0000FF"/>
                    </a:solidFill>
                  </a:rPr>
                  <a:t>a</a:t>
                </a:r>
                <a:r>
                  <a:rPr kumimoji="1" lang="en-US" altLang="zh-CN" sz="1800" baseline="-30000" dirty="0">
                    <a:solidFill>
                      <a:srgbClr val="0000FF"/>
                    </a:solidFill>
                  </a:rPr>
                  <a:t>1</a:t>
                </a:r>
                <a:endParaRPr kumimoji="1" lang="en-US" altLang="zh-CN" sz="1800" dirty="0">
                  <a:solidFill>
                    <a:srgbClr val="0000FF"/>
                  </a:solidFill>
                </a:endParaRPr>
              </a:p>
            </p:txBody>
          </p:sp>
          <p:sp>
            <p:nvSpPr>
              <p:cNvPr id="43" name="Text Box 17">
                <a:extLst>
                  <a:ext uri="{FF2B5EF4-FFF2-40B4-BE49-F238E27FC236}">
                    <a16:creationId xmlns:a16="http://schemas.microsoft.com/office/drawing/2014/main" id="{D7A60792-9024-A297-F754-383CD89BAB29}"/>
                  </a:ext>
                </a:extLst>
              </p:cNvPr>
              <p:cNvSpPr txBox="1">
                <a:spLocks noChangeArrowheads="1"/>
              </p:cNvSpPr>
              <p:nvPr/>
            </p:nvSpPr>
            <p:spPr bwMode="auto">
              <a:xfrm>
                <a:off x="1960" y="3415"/>
                <a:ext cx="292"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1600" dirty="0">
                    <a:solidFill>
                      <a:srgbClr val="0000FF"/>
                    </a:solidFill>
                  </a:rPr>
                  <a:t>b</a:t>
                </a:r>
                <a:r>
                  <a:rPr kumimoji="1" lang="en-US" altLang="zh-CN" sz="1600" baseline="-30000" dirty="0">
                    <a:solidFill>
                      <a:srgbClr val="0000FF"/>
                    </a:solidFill>
                  </a:rPr>
                  <a:t>1</a:t>
                </a:r>
                <a:endParaRPr kumimoji="1" lang="en-US" altLang="zh-CN" sz="1600" dirty="0">
                  <a:solidFill>
                    <a:srgbClr val="0000FF"/>
                  </a:solidFill>
                </a:endParaRPr>
              </a:p>
            </p:txBody>
          </p:sp>
        </p:grpSp>
      </p:grpSp>
      <p:sp>
        <p:nvSpPr>
          <p:cNvPr id="48" name="Text Box 18">
            <a:extLst>
              <a:ext uri="{FF2B5EF4-FFF2-40B4-BE49-F238E27FC236}">
                <a16:creationId xmlns:a16="http://schemas.microsoft.com/office/drawing/2014/main" id="{2FEECA05-FFC1-E9D7-2330-5CA336350090}"/>
              </a:ext>
            </a:extLst>
          </p:cNvPr>
          <p:cNvSpPr txBox="1">
            <a:spLocks noChangeArrowheads="1"/>
          </p:cNvSpPr>
          <p:nvPr/>
        </p:nvSpPr>
        <p:spPr bwMode="auto">
          <a:xfrm>
            <a:off x="7998883" y="5176807"/>
            <a:ext cx="18288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1800" dirty="0">
                <a:solidFill>
                  <a:srgbClr val="0000FF"/>
                </a:solidFill>
              </a:rPr>
              <a:t>(II) </a:t>
            </a:r>
            <a:r>
              <a:rPr kumimoji="1" lang="zh-CN" altLang="en-US" sz="1800" dirty="0">
                <a:solidFill>
                  <a:srgbClr val="0000FF"/>
                </a:solidFill>
              </a:rPr>
              <a:t>消去</a:t>
            </a:r>
            <a:r>
              <a:rPr kumimoji="1" lang="en-US" altLang="zh-CN" sz="1800" dirty="0">
                <a:solidFill>
                  <a:srgbClr val="0000FF"/>
                </a:solidFill>
              </a:rPr>
              <a:t>[a</a:t>
            </a:r>
            <a:r>
              <a:rPr kumimoji="1" lang="en-US" altLang="zh-CN" sz="1800" baseline="-30000" dirty="0">
                <a:solidFill>
                  <a:srgbClr val="0000FF"/>
                </a:solidFill>
              </a:rPr>
              <a:t>1</a:t>
            </a:r>
            <a:r>
              <a:rPr kumimoji="1" lang="en-US" altLang="zh-CN" sz="1800" dirty="0">
                <a:solidFill>
                  <a:srgbClr val="0000FF"/>
                </a:solidFill>
              </a:rPr>
              <a:t>, a</a:t>
            </a:r>
            <a:r>
              <a:rPr kumimoji="1" lang="en-US" altLang="zh-CN" sz="1800" baseline="-30000" dirty="0">
                <a:solidFill>
                  <a:srgbClr val="0000FF"/>
                </a:solidFill>
              </a:rPr>
              <a:t> </a:t>
            </a:r>
            <a:r>
              <a:rPr kumimoji="1" lang="en-US" altLang="zh-CN" sz="1800" dirty="0">
                <a:solidFill>
                  <a:srgbClr val="0000FF"/>
                </a:solidFill>
              </a:rPr>
              <a:t>]</a:t>
            </a:r>
            <a:endParaRPr kumimoji="1" lang="en-US" altLang="zh-CN" sz="1800" baseline="-30000" dirty="0">
              <a:solidFill>
                <a:srgbClr val="0000FF"/>
              </a:solidFill>
            </a:endParaRPr>
          </a:p>
        </p:txBody>
      </p:sp>
      <p:grpSp>
        <p:nvGrpSpPr>
          <p:cNvPr id="49" name="Group 19">
            <a:extLst>
              <a:ext uri="{FF2B5EF4-FFF2-40B4-BE49-F238E27FC236}">
                <a16:creationId xmlns:a16="http://schemas.microsoft.com/office/drawing/2014/main" id="{85422ABA-0574-A365-FA33-B9001CB463A6}"/>
              </a:ext>
            </a:extLst>
          </p:cNvPr>
          <p:cNvGrpSpPr>
            <a:grpSpLocks/>
          </p:cNvGrpSpPr>
          <p:nvPr/>
        </p:nvGrpSpPr>
        <p:grpSpPr bwMode="auto">
          <a:xfrm>
            <a:off x="8906933" y="3836957"/>
            <a:ext cx="374650" cy="1217613"/>
            <a:chOff x="1440" y="2880"/>
            <a:chExt cx="236" cy="767"/>
          </a:xfrm>
        </p:grpSpPr>
        <p:sp>
          <p:nvSpPr>
            <p:cNvPr id="50" name="Line 20">
              <a:extLst>
                <a:ext uri="{FF2B5EF4-FFF2-40B4-BE49-F238E27FC236}">
                  <a16:creationId xmlns:a16="http://schemas.microsoft.com/office/drawing/2014/main" id="{B1CA20EE-A46C-CEAD-2F24-1411957011D1}"/>
                </a:ext>
              </a:extLst>
            </p:cNvPr>
            <p:cNvSpPr>
              <a:spLocks noChangeShapeType="1"/>
            </p:cNvSpPr>
            <p:nvPr/>
          </p:nvSpPr>
          <p:spPr bwMode="auto">
            <a:xfrm>
              <a:off x="1536" y="2880"/>
              <a:ext cx="0" cy="576"/>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 name="Rectangle 21">
              <a:extLst>
                <a:ext uri="{FF2B5EF4-FFF2-40B4-BE49-F238E27FC236}">
                  <a16:creationId xmlns:a16="http://schemas.microsoft.com/office/drawing/2014/main" id="{4D286161-77E1-B065-5DEB-DF9BBBD8A24D}"/>
                </a:ext>
              </a:extLst>
            </p:cNvPr>
            <p:cNvSpPr>
              <a:spLocks noChangeArrowheads="1"/>
            </p:cNvSpPr>
            <p:nvPr/>
          </p:nvSpPr>
          <p:spPr bwMode="auto">
            <a:xfrm>
              <a:off x="1440" y="3416"/>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a:solidFill>
                    <a:srgbClr val="FF0000"/>
                  </a:solidFill>
                </a:rPr>
                <a:t>x</a:t>
              </a:r>
              <a:r>
                <a:rPr kumimoji="1" lang="en-US" altLang="zh-CN" sz="1800" baseline="30000">
                  <a:solidFill>
                    <a:srgbClr val="FF0000"/>
                  </a:solidFill>
                </a:rPr>
                <a:t>*</a:t>
              </a:r>
            </a:p>
          </p:txBody>
        </p:sp>
      </p:grpSp>
      <p:grpSp>
        <p:nvGrpSpPr>
          <p:cNvPr id="52" name="Group 22">
            <a:extLst>
              <a:ext uri="{FF2B5EF4-FFF2-40B4-BE49-F238E27FC236}">
                <a16:creationId xmlns:a16="http://schemas.microsoft.com/office/drawing/2014/main" id="{B84B390F-2D51-E1A7-274C-D935FEDAD2B7}"/>
              </a:ext>
            </a:extLst>
          </p:cNvPr>
          <p:cNvGrpSpPr>
            <a:grpSpLocks/>
          </p:cNvGrpSpPr>
          <p:nvPr/>
        </p:nvGrpSpPr>
        <p:grpSpPr bwMode="auto">
          <a:xfrm>
            <a:off x="8246535" y="3532157"/>
            <a:ext cx="300038" cy="1474788"/>
            <a:chOff x="1024" y="2688"/>
            <a:chExt cx="189" cy="929"/>
          </a:xfrm>
        </p:grpSpPr>
        <p:sp>
          <p:nvSpPr>
            <p:cNvPr id="53" name="Line 23">
              <a:extLst>
                <a:ext uri="{FF2B5EF4-FFF2-40B4-BE49-F238E27FC236}">
                  <a16:creationId xmlns:a16="http://schemas.microsoft.com/office/drawing/2014/main" id="{69ECAF0E-5701-9563-1FEC-0F0DD1D71BB0}"/>
                </a:ext>
              </a:extLst>
            </p:cNvPr>
            <p:cNvSpPr>
              <a:spLocks noChangeShapeType="1"/>
            </p:cNvSpPr>
            <p:nvPr/>
          </p:nvSpPr>
          <p:spPr bwMode="auto">
            <a:xfrm>
              <a:off x="1120" y="2688"/>
              <a:ext cx="0" cy="768"/>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 name="Rectangle 24">
              <a:extLst>
                <a:ext uri="{FF2B5EF4-FFF2-40B4-BE49-F238E27FC236}">
                  <a16:creationId xmlns:a16="http://schemas.microsoft.com/office/drawing/2014/main" id="{5D10891C-2534-C03A-9F24-8CA8364119FE}"/>
                </a:ext>
              </a:extLst>
            </p:cNvPr>
            <p:cNvSpPr>
              <a:spLocks noChangeArrowheads="1"/>
            </p:cNvSpPr>
            <p:nvPr/>
          </p:nvSpPr>
          <p:spPr bwMode="auto">
            <a:xfrm>
              <a:off x="1024" y="3384"/>
              <a:ext cx="1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dirty="0">
                  <a:solidFill>
                    <a:srgbClr val="0000FF"/>
                  </a:solidFill>
                </a:rPr>
                <a:t>a</a:t>
              </a:r>
              <a:endParaRPr kumimoji="1" lang="en-US" altLang="zh-CN" sz="1800" baseline="-30000" dirty="0">
                <a:solidFill>
                  <a:srgbClr val="0000FF"/>
                </a:solidFill>
              </a:endParaRPr>
            </a:p>
          </p:txBody>
        </p:sp>
      </p:grpSp>
      <p:grpSp>
        <p:nvGrpSpPr>
          <p:cNvPr id="55" name="Group 25">
            <a:extLst>
              <a:ext uri="{FF2B5EF4-FFF2-40B4-BE49-F238E27FC236}">
                <a16:creationId xmlns:a16="http://schemas.microsoft.com/office/drawing/2014/main" id="{4871AEEE-1ED0-600C-12B1-A2ED55EB83C7}"/>
              </a:ext>
            </a:extLst>
          </p:cNvPr>
          <p:cNvGrpSpPr>
            <a:grpSpLocks/>
          </p:cNvGrpSpPr>
          <p:nvPr/>
        </p:nvGrpSpPr>
        <p:grpSpPr bwMode="auto">
          <a:xfrm>
            <a:off x="8557686" y="3760757"/>
            <a:ext cx="312738" cy="1258888"/>
            <a:chOff x="1220" y="2832"/>
            <a:chExt cx="197" cy="793"/>
          </a:xfrm>
        </p:grpSpPr>
        <p:sp>
          <p:nvSpPr>
            <p:cNvPr id="56" name="Line 26">
              <a:extLst>
                <a:ext uri="{FF2B5EF4-FFF2-40B4-BE49-F238E27FC236}">
                  <a16:creationId xmlns:a16="http://schemas.microsoft.com/office/drawing/2014/main" id="{ABC020F7-D667-24FA-CDED-A5B56B5F031D}"/>
                </a:ext>
              </a:extLst>
            </p:cNvPr>
            <p:cNvSpPr>
              <a:spLocks noChangeShapeType="1"/>
            </p:cNvSpPr>
            <p:nvPr/>
          </p:nvSpPr>
          <p:spPr bwMode="auto">
            <a:xfrm>
              <a:off x="1328" y="2832"/>
              <a:ext cx="0" cy="624"/>
            </a:xfrm>
            <a:prstGeom prst="line">
              <a:avLst/>
            </a:prstGeom>
            <a:noFill/>
            <a:ln w="9525">
              <a:solidFill>
                <a:srgbClr val="0000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dirty="0"/>
            </a:p>
          </p:txBody>
        </p:sp>
        <p:sp>
          <p:nvSpPr>
            <p:cNvPr id="57" name="Rectangle 27">
              <a:extLst>
                <a:ext uri="{FF2B5EF4-FFF2-40B4-BE49-F238E27FC236}">
                  <a16:creationId xmlns:a16="http://schemas.microsoft.com/office/drawing/2014/main" id="{92966758-2BDB-5004-E75C-3B82D85DA2AA}"/>
                </a:ext>
              </a:extLst>
            </p:cNvPr>
            <p:cNvSpPr>
              <a:spLocks noChangeArrowheads="1"/>
            </p:cNvSpPr>
            <p:nvPr/>
          </p:nvSpPr>
          <p:spPr bwMode="auto">
            <a:xfrm>
              <a:off x="1220" y="3392"/>
              <a:ext cx="19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dirty="0">
                  <a:solidFill>
                    <a:srgbClr val="0000FF"/>
                  </a:solidFill>
                </a:rPr>
                <a:t>b</a:t>
              </a:r>
              <a:endParaRPr kumimoji="1" lang="en-US" altLang="zh-CN" sz="1800" baseline="-30000" dirty="0">
                <a:solidFill>
                  <a:srgbClr val="0000FF"/>
                </a:solidFill>
              </a:endParaRPr>
            </a:p>
          </p:txBody>
        </p:sp>
      </p:grpSp>
      <p:grpSp>
        <p:nvGrpSpPr>
          <p:cNvPr id="58" name="Group 28">
            <a:extLst>
              <a:ext uri="{FF2B5EF4-FFF2-40B4-BE49-F238E27FC236}">
                <a16:creationId xmlns:a16="http://schemas.microsoft.com/office/drawing/2014/main" id="{2873F185-C641-8E86-D383-6D14D4C67D4B}"/>
              </a:ext>
            </a:extLst>
          </p:cNvPr>
          <p:cNvGrpSpPr>
            <a:grpSpLocks/>
          </p:cNvGrpSpPr>
          <p:nvPr/>
        </p:nvGrpSpPr>
        <p:grpSpPr bwMode="auto">
          <a:xfrm>
            <a:off x="8144933" y="3379756"/>
            <a:ext cx="228600" cy="1360488"/>
            <a:chOff x="960" y="2592"/>
            <a:chExt cx="144" cy="857"/>
          </a:xfrm>
        </p:grpSpPr>
        <p:sp>
          <p:nvSpPr>
            <p:cNvPr id="59" name="Line 29">
              <a:extLst>
                <a:ext uri="{FF2B5EF4-FFF2-40B4-BE49-F238E27FC236}">
                  <a16:creationId xmlns:a16="http://schemas.microsoft.com/office/drawing/2014/main" id="{E7137029-A9F3-8F96-A9B2-3715006C94F4}"/>
                </a:ext>
              </a:extLst>
            </p:cNvPr>
            <p:cNvSpPr>
              <a:spLocks noChangeShapeType="1"/>
            </p:cNvSpPr>
            <p:nvPr/>
          </p:nvSpPr>
          <p:spPr bwMode="auto">
            <a:xfrm>
              <a:off x="960" y="2592"/>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 name="Line 30">
              <a:extLst>
                <a:ext uri="{FF2B5EF4-FFF2-40B4-BE49-F238E27FC236}">
                  <a16:creationId xmlns:a16="http://schemas.microsoft.com/office/drawing/2014/main" id="{1325E6ED-05C6-639B-83EF-5AB036D18038}"/>
                </a:ext>
              </a:extLst>
            </p:cNvPr>
            <p:cNvSpPr>
              <a:spLocks noChangeShapeType="1"/>
            </p:cNvSpPr>
            <p:nvPr/>
          </p:nvSpPr>
          <p:spPr bwMode="auto">
            <a:xfrm>
              <a:off x="960" y="2688"/>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 name="Line 31">
              <a:extLst>
                <a:ext uri="{FF2B5EF4-FFF2-40B4-BE49-F238E27FC236}">
                  <a16:creationId xmlns:a16="http://schemas.microsoft.com/office/drawing/2014/main" id="{59E0BAB2-2036-C0B5-E468-A6C168AE6DFE}"/>
                </a:ext>
              </a:extLst>
            </p:cNvPr>
            <p:cNvSpPr>
              <a:spLocks noChangeShapeType="1"/>
            </p:cNvSpPr>
            <p:nvPr/>
          </p:nvSpPr>
          <p:spPr bwMode="auto">
            <a:xfrm>
              <a:off x="960" y="2784"/>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 name="Line 32">
              <a:extLst>
                <a:ext uri="{FF2B5EF4-FFF2-40B4-BE49-F238E27FC236}">
                  <a16:creationId xmlns:a16="http://schemas.microsoft.com/office/drawing/2014/main" id="{AF3337CA-A21A-7552-ADF4-EDF0A30AE7B0}"/>
                </a:ext>
              </a:extLst>
            </p:cNvPr>
            <p:cNvSpPr>
              <a:spLocks noChangeShapeType="1"/>
            </p:cNvSpPr>
            <p:nvPr/>
          </p:nvSpPr>
          <p:spPr bwMode="auto">
            <a:xfrm>
              <a:off x="960" y="2880"/>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 name="Line 33">
              <a:extLst>
                <a:ext uri="{FF2B5EF4-FFF2-40B4-BE49-F238E27FC236}">
                  <a16:creationId xmlns:a16="http://schemas.microsoft.com/office/drawing/2014/main" id="{08D39AAF-699D-CA26-2A35-161644E7D7A6}"/>
                </a:ext>
              </a:extLst>
            </p:cNvPr>
            <p:cNvSpPr>
              <a:spLocks noChangeShapeType="1"/>
            </p:cNvSpPr>
            <p:nvPr/>
          </p:nvSpPr>
          <p:spPr bwMode="auto">
            <a:xfrm>
              <a:off x="960" y="2976"/>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 name="Line 34">
              <a:extLst>
                <a:ext uri="{FF2B5EF4-FFF2-40B4-BE49-F238E27FC236}">
                  <a16:creationId xmlns:a16="http://schemas.microsoft.com/office/drawing/2014/main" id="{B136A4CD-B7B0-66E8-86DA-3A088572A13B}"/>
                </a:ext>
              </a:extLst>
            </p:cNvPr>
            <p:cNvSpPr>
              <a:spLocks noChangeShapeType="1"/>
            </p:cNvSpPr>
            <p:nvPr/>
          </p:nvSpPr>
          <p:spPr bwMode="auto">
            <a:xfrm>
              <a:off x="960" y="3072"/>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5" name="Line 35">
              <a:extLst>
                <a:ext uri="{FF2B5EF4-FFF2-40B4-BE49-F238E27FC236}">
                  <a16:creationId xmlns:a16="http://schemas.microsoft.com/office/drawing/2014/main" id="{89664CFE-9158-B642-142F-CBFD438881B7}"/>
                </a:ext>
              </a:extLst>
            </p:cNvPr>
            <p:cNvSpPr>
              <a:spLocks noChangeShapeType="1"/>
            </p:cNvSpPr>
            <p:nvPr/>
          </p:nvSpPr>
          <p:spPr bwMode="auto">
            <a:xfrm>
              <a:off x="960" y="3168"/>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 name="Line 36">
              <a:extLst>
                <a:ext uri="{FF2B5EF4-FFF2-40B4-BE49-F238E27FC236}">
                  <a16:creationId xmlns:a16="http://schemas.microsoft.com/office/drawing/2014/main" id="{6E7EB265-860D-E2BC-DEFE-77A1F8309639}"/>
                </a:ext>
              </a:extLst>
            </p:cNvPr>
            <p:cNvSpPr>
              <a:spLocks noChangeShapeType="1"/>
            </p:cNvSpPr>
            <p:nvPr/>
          </p:nvSpPr>
          <p:spPr bwMode="auto">
            <a:xfrm>
              <a:off x="960" y="3264"/>
              <a:ext cx="144" cy="144"/>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7" name="Line 37">
              <a:extLst>
                <a:ext uri="{FF2B5EF4-FFF2-40B4-BE49-F238E27FC236}">
                  <a16:creationId xmlns:a16="http://schemas.microsoft.com/office/drawing/2014/main" id="{9D171958-4E9B-3208-CCCB-CC0FB9CE9F66}"/>
                </a:ext>
              </a:extLst>
            </p:cNvPr>
            <p:cNvSpPr>
              <a:spLocks noChangeShapeType="1"/>
            </p:cNvSpPr>
            <p:nvPr/>
          </p:nvSpPr>
          <p:spPr bwMode="auto">
            <a:xfrm>
              <a:off x="968" y="3376"/>
              <a:ext cx="73" cy="73"/>
            </a:xfrm>
            <a:prstGeom prst="line">
              <a:avLst/>
            </a:prstGeom>
            <a:noFill/>
            <a:ln w="952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2596919203"/>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49"/>
                                        </p:tgtEl>
                                        <p:attrNameLst>
                                          <p:attrName>style.visibility</p:attrName>
                                        </p:attrNameLst>
                                      </p:cBhvr>
                                      <p:to>
                                        <p:strVal val="visible"/>
                                      </p:to>
                                    </p:set>
                                    <p:anim calcmode="lin" valueType="num">
                                      <p:cBhvr>
                                        <p:cTn id="13" dur="500" fill="hold"/>
                                        <p:tgtEl>
                                          <p:spTgt spid="49"/>
                                        </p:tgtEl>
                                        <p:attrNameLst>
                                          <p:attrName>ppt_w</p:attrName>
                                        </p:attrNameLst>
                                      </p:cBhvr>
                                      <p:tavLst>
                                        <p:tav tm="0">
                                          <p:val>
                                            <p:fltVal val="0"/>
                                          </p:val>
                                        </p:tav>
                                        <p:tav tm="100000">
                                          <p:val>
                                            <p:strVal val="#ppt_w"/>
                                          </p:val>
                                        </p:tav>
                                      </p:tavLst>
                                    </p:anim>
                                    <p:anim calcmode="lin" valueType="num">
                                      <p:cBhvr>
                                        <p:cTn id="14" dur="500" fill="hold"/>
                                        <p:tgtEl>
                                          <p:spTgt spid="49"/>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anim calcmode="lin" valueType="num">
                                      <p:cBhvr>
                                        <p:cTn id="19" dur="500" fill="hold"/>
                                        <p:tgtEl>
                                          <p:spTgt spid="23"/>
                                        </p:tgtEl>
                                        <p:attrNameLst>
                                          <p:attrName>ppt_w</p:attrName>
                                        </p:attrNameLst>
                                      </p:cBhvr>
                                      <p:tavLst>
                                        <p:tav tm="0">
                                          <p:val>
                                            <p:fltVal val="0"/>
                                          </p:val>
                                        </p:tav>
                                        <p:tav tm="100000">
                                          <p:val>
                                            <p:strVal val="#ppt_w"/>
                                          </p:val>
                                        </p:tav>
                                      </p:tavLst>
                                    </p:anim>
                                    <p:anim calcmode="lin" valueType="num">
                                      <p:cBhvr>
                                        <p:cTn id="20"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p:cTn id="25" dur="500" fill="hold"/>
                                        <p:tgtEl>
                                          <p:spTgt spid="20"/>
                                        </p:tgtEl>
                                        <p:attrNameLst>
                                          <p:attrName>ppt_w</p:attrName>
                                        </p:attrNameLst>
                                      </p:cBhvr>
                                      <p:tavLst>
                                        <p:tav tm="0">
                                          <p:val>
                                            <p:fltVal val="0"/>
                                          </p:val>
                                        </p:tav>
                                        <p:tav tm="100000">
                                          <p:val>
                                            <p:strVal val="#ppt_w"/>
                                          </p:val>
                                        </p:tav>
                                      </p:tavLst>
                                    </p:anim>
                                    <p:anim calcmode="lin" valueType="num">
                                      <p:cBhvr>
                                        <p:cTn id="26" dur="5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42"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arn(outHorizontal)">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19" presetClass="entr" presetSubtype="10" fill="hold" nodeType="clickEffect">
                                  <p:stCondLst>
                                    <p:cond delay="0"/>
                                  </p:stCondLst>
                                  <p:childTnLst>
                                    <p:set>
                                      <p:cBhvr>
                                        <p:cTn id="35" dur="1" fill="hold">
                                          <p:stCondLst>
                                            <p:cond delay="0"/>
                                          </p:stCondLst>
                                        </p:cTn>
                                        <p:tgtEl>
                                          <p:spTgt spid="26"/>
                                        </p:tgtEl>
                                        <p:attrNameLst>
                                          <p:attrName>style.visibility</p:attrName>
                                        </p:attrNameLst>
                                      </p:cBhvr>
                                      <p:to>
                                        <p:strVal val="visible"/>
                                      </p:to>
                                    </p:set>
                                    <p:anim calcmode="lin" valueType="num">
                                      <p:cBhvr>
                                        <p:cTn id="36" dur="5000" fill="hold"/>
                                        <p:tgtEl>
                                          <p:spTgt spid="26"/>
                                        </p:tgtEl>
                                        <p:attrNameLst>
                                          <p:attrName>ppt_w</p:attrName>
                                        </p:attrNameLst>
                                      </p:cBhvr>
                                      <p:tavLst>
                                        <p:tav tm="0" fmla="#ppt_w*sin(2.5*pi*$)">
                                          <p:val>
                                            <p:fltVal val="0"/>
                                          </p:val>
                                        </p:tav>
                                        <p:tav tm="100000">
                                          <p:val>
                                            <p:fltVal val="1"/>
                                          </p:val>
                                        </p:tav>
                                      </p:tavLst>
                                    </p:anim>
                                    <p:anim calcmode="lin" valueType="num">
                                      <p:cBhvr>
                                        <p:cTn id="37" dur="5000" fill="hold"/>
                                        <p:tgtEl>
                                          <p:spTgt spid="26"/>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6" presetClass="entr" presetSubtype="42"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barn(outHorizontal)">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6" presetClass="entr" presetSubtype="42"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barn(outHorizontal)">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17" presetClass="entr" presetSubtype="10" fill="hold" nodeType="clickEffect">
                                  <p:stCondLst>
                                    <p:cond delay="0"/>
                                  </p:stCondLst>
                                  <p:childTnLst>
                                    <p:set>
                                      <p:cBhvr>
                                        <p:cTn id="51" dur="1" fill="hold">
                                          <p:stCondLst>
                                            <p:cond delay="0"/>
                                          </p:stCondLst>
                                        </p:cTn>
                                        <p:tgtEl>
                                          <p:spTgt spid="52"/>
                                        </p:tgtEl>
                                        <p:attrNameLst>
                                          <p:attrName>style.visibility</p:attrName>
                                        </p:attrNameLst>
                                      </p:cBhvr>
                                      <p:to>
                                        <p:strVal val="visible"/>
                                      </p:to>
                                    </p:set>
                                    <p:anim calcmode="lin" valueType="num">
                                      <p:cBhvr>
                                        <p:cTn id="52" dur="500" fill="hold"/>
                                        <p:tgtEl>
                                          <p:spTgt spid="52"/>
                                        </p:tgtEl>
                                        <p:attrNameLst>
                                          <p:attrName>ppt_w</p:attrName>
                                        </p:attrNameLst>
                                      </p:cBhvr>
                                      <p:tavLst>
                                        <p:tav tm="0">
                                          <p:val>
                                            <p:fltVal val="0"/>
                                          </p:val>
                                        </p:tav>
                                        <p:tav tm="100000">
                                          <p:val>
                                            <p:strVal val="#ppt_w"/>
                                          </p:val>
                                        </p:tav>
                                      </p:tavLst>
                                    </p:anim>
                                    <p:anim calcmode="lin" valueType="num">
                                      <p:cBhvr>
                                        <p:cTn id="53" dur="500" fill="hold"/>
                                        <p:tgtEl>
                                          <p:spTgt spid="52"/>
                                        </p:tgtEl>
                                        <p:attrNameLst>
                                          <p:attrName>ppt_h</p:attrName>
                                        </p:attrNameLst>
                                      </p:cBhvr>
                                      <p:tavLst>
                                        <p:tav tm="0">
                                          <p:val>
                                            <p:strVal val="#ppt_h"/>
                                          </p:val>
                                        </p:tav>
                                        <p:tav tm="100000">
                                          <p:val>
                                            <p:strVal val="#ppt_h"/>
                                          </p:val>
                                        </p:tav>
                                      </p:tavLst>
                                    </p:anim>
                                  </p:childTnLst>
                                </p:cTn>
                              </p:par>
                            </p:childTnLst>
                          </p:cTn>
                        </p:par>
                      </p:childTnLst>
                    </p:cTn>
                  </p:par>
                  <p:par>
                    <p:cTn id="54" fill="hold">
                      <p:stCondLst>
                        <p:cond delay="indefinite"/>
                      </p:stCondLst>
                      <p:childTnLst>
                        <p:par>
                          <p:cTn id="55" fill="hold">
                            <p:stCondLst>
                              <p:cond delay="0"/>
                            </p:stCondLst>
                            <p:childTnLst>
                              <p:par>
                                <p:cTn id="56" presetID="17" presetClass="entr" presetSubtype="10" fill="hold" nodeType="clickEffect">
                                  <p:stCondLst>
                                    <p:cond delay="0"/>
                                  </p:stCondLst>
                                  <p:childTnLst>
                                    <p:set>
                                      <p:cBhvr>
                                        <p:cTn id="57" dur="1" fill="hold">
                                          <p:stCondLst>
                                            <p:cond delay="0"/>
                                          </p:stCondLst>
                                        </p:cTn>
                                        <p:tgtEl>
                                          <p:spTgt spid="55"/>
                                        </p:tgtEl>
                                        <p:attrNameLst>
                                          <p:attrName>style.visibility</p:attrName>
                                        </p:attrNameLst>
                                      </p:cBhvr>
                                      <p:to>
                                        <p:strVal val="visible"/>
                                      </p:to>
                                    </p:set>
                                    <p:anim calcmode="lin" valueType="num">
                                      <p:cBhvr>
                                        <p:cTn id="58" dur="500" fill="hold"/>
                                        <p:tgtEl>
                                          <p:spTgt spid="55"/>
                                        </p:tgtEl>
                                        <p:attrNameLst>
                                          <p:attrName>ppt_w</p:attrName>
                                        </p:attrNameLst>
                                      </p:cBhvr>
                                      <p:tavLst>
                                        <p:tav tm="0">
                                          <p:val>
                                            <p:fltVal val="0"/>
                                          </p:val>
                                        </p:tav>
                                        <p:tav tm="100000">
                                          <p:val>
                                            <p:strVal val="#ppt_w"/>
                                          </p:val>
                                        </p:tav>
                                      </p:tavLst>
                                    </p:anim>
                                    <p:anim calcmode="lin" valueType="num">
                                      <p:cBhvr>
                                        <p:cTn id="59"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60" fill="hold">
                      <p:stCondLst>
                        <p:cond delay="indefinite"/>
                      </p:stCondLst>
                      <p:childTnLst>
                        <p:par>
                          <p:cTn id="61" fill="hold">
                            <p:stCondLst>
                              <p:cond delay="0"/>
                            </p:stCondLst>
                            <p:childTnLst>
                              <p:par>
                                <p:cTn id="62" presetID="19" presetClass="entr" presetSubtype="10" fill="hold" nodeType="clickEffect">
                                  <p:stCondLst>
                                    <p:cond delay="0"/>
                                  </p:stCondLst>
                                  <p:childTnLst>
                                    <p:set>
                                      <p:cBhvr>
                                        <p:cTn id="63" dur="1" fill="hold">
                                          <p:stCondLst>
                                            <p:cond delay="0"/>
                                          </p:stCondLst>
                                        </p:cTn>
                                        <p:tgtEl>
                                          <p:spTgt spid="58"/>
                                        </p:tgtEl>
                                        <p:attrNameLst>
                                          <p:attrName>style.visibility</p:attrName>
                                        </p:attrNameLst>
                                      </p:cBhvr>
                                      <p:to>
                                        <p:strVal val="visible"/>
                                      </p:to>
                                    </p:set>
                                    <p:anim calcmode="lin" valueType="num">
                                      <p:cBhvr>
                                        <p:cTn id="64" dur="5000" fill="hold"/>
                                        <p:tgtEl>
                                          <p:spTgt spid="58"/>
                                        </p:tgtEl>
                                        <p:attrNameLst>
                                          <p:attrName>ppt_w</p:attrName>
                                        </p:attrNameLst>
                                      </p:cBhvr>
                                      <p:tavLst>
                                        <p:tav tm="0" fmla="#ppt_w*sin(2.5*pi*$)">
                                          <p:val>
                                            <p:fltVal val="0"/>
                                          </p:val>
                                        </p:tav>
                                        <p:tav tm="100000">
                                          <p:val>
                                            <p:fltVal val="1"/>
                                          </p:val>
                                        </p:tav>
                                      </p:tavLst>
                                    </p:anim>
                                    <p:anim calcmode="lin" valueType="num">
                                      <p:cBhvr>
                                        <p:cTn id="65" dur="5000" fill="hold"/>
                                        <p:tgtEl>
                                          <p:spTgt spid="58"/>
                                        </p:tgtEl>
                                        <p:attrNameLst>
                                          <p:attrName>ppt_h</p:attrName>
                                        </p:attrNameLst>
                                      </p:cBhvr>
                                      <p:tavLst>
                                        <p:tav tm="0">
                                          <p:val>
                                            <p:strVal val="#ppt_h"/>
                                          </p:val>
                                        </p:tav>
                                        <p:tav tm="100000">
                                          <p:val>
                                            <p:strVal val="#ppt_h"/>
                                          </p:val>
                                        </p:tav>
                                      </p:tavLst>
                                    </p:anim>
                                  </p:childTnLst>
                                </p:cTn>
                              </p:par>
                            </p:childTnLst>
                          </p:cTn>
                        </p:par>
                      </p:childTnLst>
                    </p:cTn>
                  </p:par>
                  <p:par>
                    <p:cTn id="66" fill="hold">
                      <p:stCondLst>
                        <p:cond delay="indefinite"/>
                      </p:stCondLst>
                      <p:childTnLst>
                        <p:par>
                          <p:cTn id="67" fill="hold">
                            <p:stCondLst>
                              <p:cond delay="0"/>
                            </p:stCondLst>
                            <p:childTnLst>
                              <p:par>
                                <p:cTn id="68" presetID="16" presetClass="entr" presetSubtype="42" fill="hold" grpId="0" nodeType="clickEffect">
                                  <p:stCondLst>
                                    <p:cond delay="0"/>
                                  </p:stCondLst>
                                  <p:childTnLst>
                                    <p:set>
                                      <p:cBhvr>
                                        <p:cTn id="69" dur="1" fill="hold">
                                          <p:stCondLst>
                                            <p:cond delay="0"/>
                                          </p:stCondLst>
                                        </p:cTn>
                                        <p:tgtEl>
                                          <p:spTgt spid="48"/>
                                        </p:tgtEl>
                                        <p:attrNameLst>
                                          <p:attrName>style.visibility</p:attrName>
                                        </p:attrNameLst>
                                      </p:cBhvr>
                                      <p:to>
                                        <p:strVal val="visible"/>
                                      </p:to>
                                    </p:set>
                                    <p:animEffect transition="in" filter="barn(outHorizontal)">
                                      <p:cBhvr>
                                        <p:cTn id="7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16" grpId="0" autoUpdateAnimBg="0"/>
      <p:bldP spid="36" grpId="0" autoUpdateAnimBg="0"/>
      <p:bldP spid="48"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97EB617E-9B95-2FD2-555B-9616735CBE0E}"/>
                  </a:ext>
                </a:extLst>
              </p:cNvPr>
              <p:cNvSpPr txBox="1"/>
              <p:nvPr/>
            </p:nvSpPr>
            <p:spPr>
              <a:xfrm>
                <a:off x="191344" y="476672"/>
                <a:ext cx="8318617" cy="5161991"/>
              </a:xfrm>
              <a:prstGeom prst="rect">
                <a:avLst/>
              </a:prstGeom>
              <a:noFill/>
            </p:spPr>
            <p:txBody>
              <a:bodyPr wrap="square">
                <a:spAutoFit/>
              </a:bodyPr>
              <a:lstStyle/>
              <a:p>
                <a:pPr algn="just">
                  <a:lnSpc>
                    <a:spcPct val="150000"/>
                  </a:lnSpc>
                </a:pPr>
                <a:r>
                  <a:rPr lang="zh-CN" altLang="zh-CN" sz="2800" b="1" kern="100" dirty="0">
                    <a:effectLst/>
                    <a:latin typeface="宋体" panose="02010600030101010101" pitchFamily="2" charset="-122"/>
                    <a:ea typeface="宋体" panose="02010600030101010101" pitchFamily="2" charset="-122"/>
                  </a:rPr>
                  <a:t>单谷区间与单谷函数有如下性质</a:t>
                </a:r>
                <a:r>
                  <a:rPr lang="zh-CN" altLang="zh-CN" sz="2800" kern="100" dirty="0">
                    <a:effectLst/>
                    <a:latin typeface="宋体" panose="02010600030101010101" pitchFamily="2" charset="-122"/>
                    <a:ea typeface="宋体" panose="02010600030101010101" pitchFamily="2" charset="-122"/>
                  </a:rPr>
                  <a:t>：</a:t>
                </a:r>
              </a:p>
              <a:p>
                <a:pPr algn="just">
                  <a:lnSpc>
                    <a:spcPct val="150000"/>
                  </a:lnSpc>
                </a:pPr>
                <a:r>
                  <a:rPr lang="en-US" altLang="zh-CN" sz="2800" kern="100" dirty="0">
                    <a:latin typeface="宋体" panose="02010600030101010101" pitchFamily="2" charset="-122"/>
                    <a:ea typeface="宋体" panose="02010600030101010101" pitchFamily="2" charset="-122"/>
                  </a:rPr>
                  <a:t>    </a:t>
                </a:r>
              </a:p>
              <a:p>
                <a:pPr algn="just">
                  <a:lnSpc>
                    <a:spcPct val="150000"/>
                  </a:lnSpc>
                </a:pPr>
                <a:r>
                  <a:rPr lang="en-US" altLang="zh-CN" sz="2800" kern="100" dirty="0">
                    <a:effectLst/>
                    <a:latin typeface="宋体" panose="02010600030101010101" pitchFamily="2" charset="-122"/>
                    <a:ea typeface="宋体" panose="02010600030101010101" pitchFamily="2" charset="-122"/>
                  </a:rPr>
                  <a:t>	</a:t>
                </a:r>
                <a:r>
                  <a:rPr lang="zh-CN" altLang="zh-CN" sz="2800" kern="100" dirty="0">
                    <a:effectLst/>
                    <a:latin typeface="宋体" panose="02010600030101010101" pitchFamily="2" charset="-122"/>
                    <a:ea typeface="宋体" panose="02010600030101010101" pitchFamily="2" charset="-122"/>
                  </a:rPr>
                  <a:t>若</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𝑥</m:t>
                    </m:r>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是单谷区间</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宋体" panose="02010600030101010101" pitchFamily="2" charset="-122"/>
                    <a:ea typeface="宋体" panose="02010600030101010101" pitchFamily="2" charset="-122"/>
                  </a:rPr>
                  <a:t>上的单谷函数，极小点为</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rPr>
                          <m:t>∗</m:t>
                        </m:r>
                      </m:sup>
                    </m:sSup>
                  </m:oMath>
                </a14:m>
                <a:r>
                  <a:rPr lang="zh-CN" altLang="zh-CN" sz="2800" kern="100" dirty="0">
                    <a:effectLst/>
                    <a:latin typeface="宋体" panose="02010600030101010101" pitchFamily="2" charset="-122"/>
                    <a:ea typeface="宋体" panose="02010600030101010101" pitchFamily="2" charset="-122"/>
                  </a:rPr>
                  <a:t>，在</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宋体" panose="02010600030101010101" pitchFamily="2" charset="-122"/>
                    <a:ea typeface="宋体" panose="02010600030101010101" pitchFamily="2" charset="-122"/>
                  </a:rPr>
                  <a:t>任取两点</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𝑎</m:t>
                    </m:r>
                  </m:oMath>
                </a14:m>
                <a:r>
                  <a:rPr lang="zh-CN" altLang="zh-CN" sz="2800" kern="100" dirty="0">
                    <a:effectLst/>
                    <a:latin typeface="宋体" panose="02010600030101010101" pitchFamily="2" charset="-122"/>
                    <a:ea typeface="宋体" panose="02010600030101010101" pitchFamily="2" charset="-122"/>
                  </a:rPr>
                  <a:t>和</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𝑏</m:t>
                    </m:r>
                  </m:oMath>
                </a14:m>
                <a:r>
                  <a:rPr lang="zh-CN" altLang="zh-CN" sz="2800" kern="100" dirty="0">
                    <a:effectLst/>
                    <a:latin typeface="宋体" panose="02010600030101010101" pitchFamily="2" charset="-122"/>
                    <a:ea typeface="宋体" panose="02010600030101010101" pitchFamily="2" charset="-122"/>
                  </a:rPr>
                  <a:t>，且</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𝑎</m:t>
                    </m:r>
                    <m:r>
                      <a:rPr lang="en-US" altLang="zh-CN" sz="2800" i="1" kern="100">
                        <a:effectLst/>
                        <a:latin typeface="Cambria Math" panose="02040503050406030204" pitchFamily="18" charset="0"/>
                        <a:ea typeface="宋体" panose="02010600030101010101" pitchFamily="2" charset="-122"/>
                      </a:rPr>
                      <m:t>&lt;</m:t>
                    </m:r>
                    <m:r>
                      <a:rPr lang="en-US" altLang="zh-CN" sz="2800" i="1" kern="100">
                        <a:effectLst/>
                        <a:latin typeface="Cambria Math" panose="02040503050406030204" pitchFamily="18" charset="0"/>
                        <a:ea typeface="宋体" panose="02010600030101010101" pitchFamily="2" charset="-122"/>
                      </a:rPr>
                      <m:t>𝑏</m:t>
                    </m:r>
                  </m:oMath>
                </a14:m>
                <a:r>
                  <a:rPr lang="zh-CN" altLang="zh-CN" sz="2800" kern="100" dirty="0">
                    <a:effectLst/>
                    <a:latin typeface="宋体" panose="02010600030101010101" pitchFamily="2" charset="-122"/>
                    <a:ea typeface="宋体" panose="02010600030101010101" pitchFamily="2" charset="-122"/>
                  </a:rPr>
                  <a:t>，计算这两点的函数值</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𝑎</m:t>
                    </m:r>
                    <m:r>
                      <a:rPr lang="en-US" altLang="zh-CN" sz="2800" i="1" kern="100">
                        <a:effectLst/>
                        <a:latin typeface="Cambria Math" panose="02040503050406030204" pitchFamily="18" charset="0"/>
                        <a:ea typeface="宋体" panose="02010600030101010101" pitchFamily="2" charset="-122"/>
                      </a:rPr>
                      <m:t>)</m:t>
                    </m:r>
                  </m:oMath>
                </a14:m>
                <a:r>
                  <a:rPr lang="en-US" altLang="zh-CN" sz="2800" i="1" kern="100" dirty="0">
                    <a:effectLst/>
                    <a:latin typeface="宋体" panose="02010600030101010101" pitchFamily="2" charset="-122"/>
                    <a:ea typeface="宋体" panose="02010600030101010101" pitchFamily="2" charset="-122"/>
                  </a:rPr>
                  <a:t> </a:t>
                </a:r>
                <a:r>
                  <a:rPr lang="zh-CN" altLang="zh-CN" sz="2800" kern="100" dirty="0">
                    <a:effectLst/>
                    <a:latin typeface="宋体" panose="02010600030101010101" pitchFamily="2" charset="-122"/>
                    <a:ea typeface="宋体" panose="02010600030101010101" pitchFamily="2" charset="-122"/>
                  </a:rPr>
                  <a:t>和</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𝑏</m:t>
                    </m:r>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，则：</a:t>
                </a:r>
              </a:p>
              <a:p>
                <a:pPr algn="just">
                  <a:lnSpc>
                    <a:spcPct val="150000"/>
                  </a:lnSpc>
                </a:pPr>
                <a:r>
                  <a:rPr lang="en-US" altLang="zh-CN" sz="2800" kern="100" dirty="0">
                    <a:latin typeface="宋体" panose="02010600030101010101" pitchFamily="2" charset="-122"/>
                    <a:ea typeface="宋体" panose="02010600030101010101" pitchFamily="2" charset="-122"/>
                  </a:rPr>
                  <a:t>    </a:t>
                </a:r>
                <a:r>
                  <a:rPr lang="en-US" altLang="zh-CN" sz="2800" kern="100" dirty="0">
                    <a:effectLst/>
                    <a:latin typeface="宋体" panose="02010600030101010101" pitchFamily="2" charset="-122"/>
                    <a:ea typeface="宋体" panose="02010600030101010101" pitchFamily="2" charset="-122"/>
                  </a:rPr>
                  <a:t>(1) </a:t>
                </a:r>
                <a:r>
                  <a:rPr lang="zh-CN" altLang="zh-CN" sz="2800" kern="100" dirty="0">
                    <a:effectLst/>
                    <a:latin typeface="宋体" panose="02010600030101010101" pitchFamily="2" charset="-122"/>
                    <a:ea typeface="宋体" panose="02010600030101010101" pitchFamily="2" charset="-122"/>
                  </a:rPr>
                  <a:t>当</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d>
                      <m:dPr>
                        <m:ctrlPr>
                          <a:rPr lang="zh-CN" altLang="zh-CN" sz="2800" i="1" kern="100">
                            <a:effectLst/>
                            <a:latin typeface="Cambria Math" panose="02040503050406030204" pitchFamily="18" charset="0"/>
                            <a:ea typeface="Cambria Math" panose="02040503050406030204" pitchFamily="18" charset="0"/>
                          </a:rPr>
                        </m:ctrlPr>
                      </m:dPr>
                      <m:e>
                        <m:r>
                          <a:rPr lang="en-US" altLang="zh-CN" sz="2800" i="1" kern="100">
                            <a:effectLst/>
                            <a:latin typeface="Cambria Math" panose="02040503050406030204" pitchFamily="18" charset="0"/>
                            <a:ea typeface="宋体" panose="02010600030101010101" pitchFamily="2" charset="-122"/>
                          </a:rPr>
                          <m:t>𝑎</m:t>
                        </m:r>
                      </m:e>
                    </m:d>
                    <m:r>
                      <a:rPr lang="en-US" altLang="zh-CN" sz="2800" i="1" kern="100">
                        <a:effectLst/>
                        <a:latin typeface="Cambria Math" panose="02040503050406030204" pitchFamily="18" charset="0"/>
                        <a:ea typeface="宋体" panose="02010600030101010101" pitchFamily="2" charset="-122"/>
                      </a:rPr>
                      <m:t>&lt;</m:t>
                    </m:r>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𝑏</m:t>
                    </m:r>
                    <m:r>
                      <a:rPr lang="en-US" altLang="zh-CN" sz="2800" i="1" kern="100">
                        <a:effectLst/>
                        <a:latin typeface="Cambria Math" panose="02040503050406030204" pitchFamily="18" charset="0"/>
                        <a:ea typeface="宋体" panose="02010600030101010101" pitchFamily="2" charset="-122"/>
                      </a:rPr>
                      <m:t>)</m:t>
                    </m:r>
                  </m:oMath>
                </a14:m>
                <a:r>
                  <a:rPr lang="en-US" altLang="zh-CN" sz="2800" kern="100" dirty="0">
                    <a:effectLst/>
                    <a:latin typeface="宋体" panose="02010600030101010101" pitchFamily="2" charset="-122"/>
                    <a:ea typeface="宋体" panose="02010600030101010101" pitchFamily="2" charset="-122"/>
                  </a:rPr>
                  <a:t>	</a:t>
                </a:r>
                <a:r>
                  <a:rPr lang="zh-CN" altLang="zh-CN" sz="2800" kern="100" dirty="0">
                    <a:effectLst/>
                    <a:latin typeface="宋体" panose="02010600030101010101" pitchFamily="2" charset="-122"/>
                    <a:ea typeface="宋体" panose="02010600030101010101" pitchFamily="2" charset="-122"/>
                  </a:rPr>
                  <a:t>时，</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rPr>
                          <m:t>∗</m:t>
                        </m:r>
                      </m:sup>
                    </m:sSup>
                    <m:r>
                      <a:rPr lang="en-US" altLang="zh-CN" sz="2800" i="1" kern="100">
                        <a:effectLst/>
                        <a:latin typeface="Cambria Math" panose="02040503050406030204" pitchFamily="18" charset="0"/>
                        <a:ea typeface="宋体" panose="02010600030101010101" pitchFamily="2" charset="-122"/>
                      </a:rPr>
                      <m:t>∈</m:t>
                    </m:r>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𝑏</m:t>
                        </m:r>
                      </m:e>
                    </m:d>
                  </m:oMath>
                </a14:m>
                <a:r>
                  <a:rPr lang="zh-CN" altLang="zh-CN" sz="2800" kern="100" dirty="0">
                    <a:effectLst/>
                    <a:latin typeface="宋体" panose="02010600030101010101" pitchFamily="2" charset="-122"/>
                    <a:ea typeface="宋体" panose="02010600030101010101" pitchFamily="2" charset="-122"/>
                  </a:rPr>
                  <a:t>。</a:t>
                </a:r>
                <a:endParaRPr lang="en-US" altLang="zh-CN" sz="2800" kern="100" dirty="0">
                  <a:effectLst/>
                  <a:latin typeface="宋体" panose="02010600030101010101" pitchFamily="2" charset="-122"/>
                  <a:ea typeface="宋体" panose="02010600030101010101" pitchFamily="2" charset="-122"/>
                </a:endParaRPr>
              </a:p>
              <a:p>
                <a:pPr algn="just">
                  <a:lnSpc>
                    <a:spcPct val="150000"/>
                  </a:lnSpc>
                </a:pPr>
                <a:r>
                  <a:rPr lang="en-US" altLang="zh-CN" sz="2800" kern="100" dirty="0">
                    <a:latin typeface="宋体" panose="02010600030101010101" pitchFamily="2" charset="-122"/>
                    <a:ea typeface="宋体" panose="02010600030101010101" pitchFamily="2" charset="-122"/>
                  </a:rPr>
                  <a:t>    </a:t>
                </a:r>
                <a:r>
                  <a:rPr lang="en-US" altLang="zh-CN" sz="2800" kern="100" dirty="0">
                    <a:effectLst/>
                    <a:latin typeface="宋体" panose="02010600030101010101" pitchFamily="2" charset="-122"/>
                    <a:ea typeface="宋体" panose="02010600030101010101" pitchFamily="2" charset="-122"/>
                  </a:rPr>
                  <a:t>(2) </a:t>
                </a:r>
                <a:r>
                  <a:rPr lang="zh-CN" altLang="zh-CN" sz="2800" kern="100" dirty="0">
                    <a:effectLst/>
                    <a:latin typeface="宋体" panose="02010600030101010101" pitchFamily="2" charset="-122"/>
                    <a:ea typeface="宋体" panose="02010600030101010101" pitchFamily="2" charset="-122"/>
                  </a:rPr>
                  <a:t>当</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d>
                      <m:dPr>
                        <m:ctrlPr>
                          <a:rPr lang="zh-CN" altLang="zh-CN" sz="2800" i="1" kern="100">
                            <a:effectLst/>
                            <a:latin typeface="Cambria Math" panose="02040503050406030204" pitchFamily="18" charset="0"/>
                            <a:ea typeface="Cambria Math" panose="02040503050406030204" pitchFamily="18" charset="0"/>
                          </a:rPr>
                        </m:ctrlPr>
                      </m:dPr>
                      <m:e>
                        <m:r>
                          <a:rPr lang="en-US" altLang="zh-CN" sz="2800" i="1" kern="100">
                            <a:effectLst/>
                            <a:latin typeface="Cambria Math" panose="02040503050406030204" pitchFamily="18" charset="0"/>
                            <a:ea typeface="宋体" panose="02010600030101010101" pitchFamily="2" charset="-122"/>
                          </a:rPr>
                          <m:t>𝑎</m:t>
                        </m:r>
                      </m:e>
                    </m:d>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𝑏</m:t>
                    </m:r>
                    <m:r>
                      <a:rPr lang="en-US" altLang="zh-CN" sz="2800" i="1" kern="100">
                        <a:effectLst/>
                        <a:latin typeface="Cambria Math" panose="02040503050406030204" pitchFamily="18" charset="0"/>
                        <a:ea typeface="宋体" panose="02010600030101010101" pitchFamily="2" charset="-122"/>
                      </a:rPr>
                      <m:t>)</m:t>
                    </m:r>
                  </m:oMath>
                </a14:m>
                <a:r>
                  <a:rPr lang="en-US" altLang="zh-CN" sz="2800" kern="100" dirty="0">
                    <a:effectLst/>
                    <a:latin typeface="宋体" panose="02010600030101010101" pitchFamily="2" charset="-122"/>
                    <a:ea typeface="宋体" panose="02010600030101010101" pitchFamily="2" charset="-122"/>
                  </a:rPr>
                  <a:t>	</a:t>
                </a:r>
                <a:r>
                  <a:rPr lang="zh-CN" altLang="zh-CN" sz="2800" kern="100" dirty="0">
                    <a:effectLst/>
                    <a:latin typeface="宋体" panose="02010600030101010101" pitchFamily="2" charset="-122"/>
                    <a:ea typeface="宋体" panose="02010600030101010101" pitchFamily="2" charset="-122"/>
                  </a:rPr>
                  <a:t>时，</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rPr>
                          <m:t>∗</m:t>
                        </m:r>
                      </m:sup>
                    </m:sSup>
                    <m:r>
                      <a:rPr lang="en-US" altLang="zh-CN" sz="2800" i="1" kern="100">
                        <a:effectLst/>
                        <a:latin typeface="Cambria Math" panose="02040503050406030204" pitchFamily="18" charset="0"/>
                        <a:ea typeface="宋体" panose="02010600030101010101" pitchFamily="2" charset="-122"/>
                      </a:rPr>
                      <m:t>∈</m:t>
                    </m:r>
                    <m:d>
                      <m:dPr>
                        <m:begChr m:val="["/>
                        <m:endChr m:val="]"/>
                        <m:ctrlPr>
                          <a:rPr lang="zh-CN" altLang="zh-CN" sz="2800" i="1" kern="100">
                            <a:effectLst/>
                            <a:latin typeface="Cambria Math" panose="02040503050406030204" pitchFamily="18" charset="0"/>
                            <a:ea typeface="Cambria Math" panose="02040503050406030204" pitchFamily="18" charset="0"/>
                          </a:rPr>
                        </m:ctrlPr>
                      </m:dPr>
                      <m:e>
                        <m:r>
                          <a:rPr lang="en-US" altLang="zh-CN" sz="2800" i="1" kern="100">
                            <a:effectLst/>
                            <a:latin typeface="Cambria Math" panose="02040503050406030204" pitchFamily="18" charset="0"/>
                            <a:ea typeface="宋体" panose="02010600030101010101" pitchFamily="2" charset="-122"/>
                          </a:rPr>
                          <m:t>𝑎</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宋体" panose="02010600030101010101" pitchFamily="2" charset="-122"/>
                    <a:ea typeface="宋体" panose="02010600030101010101" pitchFamily="2" charset="-122"/>
                  </a:rPr>
                  <a:t>。</a:t>
                </a:r>
              </a:p>
              <a:p>
                <a:pPr algn="just">
                  <a:lnSpc>
                    <a:spcPct val="150000"/>
                  </a:lnSpc>
                </a:pPr>
                <a:r>
                  <a:rPr lang="en-US" altLang="zh-CN" sz="2800" kern="100" dirty="0">
                    <a:effectLst/>
                    <a:latin typeface="宋体" panose="02010600030101010101" pitchFamily="2" charset="-122"/>
                    <a:ea typeface="宋体" panose="02010600030101010101" pitchFamily="2" charset="-122"/>
                  </a:rPr>
                  <a:t>	</a:t>
                </a:r>
                <a:endParaRPr lang="zh-CN" altLang="zh-CN" sz="2800" kern="100" dirty="0">
                  <a:effectLst/>
                  <a:latin typeface="宋体" panose="02010600030101010101" pitchFamily="2" charset="-122"/>
                  <a:ea typeface="宋体" panose="02010600030101010101" pitchFamily="2" charset="-122"/>
                </a:endParaRPr>
              </a:p>
            </p:txBody>
          </p:sp>
        </mc:Choice>
        <mc:Fallback xmlns="">
          <p:sp>
            <p:nvSpPr>
              <p:cNvPr id="8" name="文本框 7">
                <a:extLst>
                  <a:ext uri="{FF2B5EF4-FFF2-40B4-BE49-F238E27FC236}">
                    <a16:creationId xmlns:a16="http://schemas.microsoft.com/office/drawing/2014/main" id="{97EB617E-9B95-2FD2-555B-9616735CBE0E}"/>
                  </a:ext>
                </a:extLst>
              </p:cNvPr>
              <p:cNvSpPr txBox="1">
                <a:spLocks noRot="1" noChangeAspect="1" noMove="1" noResize="1" noEditPoints="1" noAdjustHandles="1" noChangeArrowheads="1" noChangeShapeType="1" noTextEdit="1"/>
              </p:cNvSpPr>
              <p:nvPr/>
            </p:nvSpPr>
            <p:spPr>
              <a:xfrm>
                <a:off x="191344" y="476672"/>
                <a:ext cx="8318617" cy="5161991"/>
              </a:xfrm>
              <a:prstGeom prst="rect">
                <a:avLst/>
              </a:prstGeom>
              <a:blipFill>
                <a:blip r:embed="rId2"/>
                <a:stretch>
                  <a:fillRect l="-1465" r="-146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D1402824-5764-F3E8-8693-CABF362B3855}"/>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pic>
        <p:nvPicPr>
          <p:cNvPr id="4" name="图片 3">
            <a:extLst>
              <a:ext uri="{FF2B5EF4-FFF2-40B4-BE49-F238E27FC236}">
                <a16:creationId xmlns:a16="http://schemas.microsoft.com/office/drawing/2014/main" id="{37060339-DA91-5E4A-25F1-C3CDC7843B86}"/>
              </a:ext>
            </a:extLst>
          </p:cNvPr>
          <p:cNvPicPr>
            <a:picLocks noChangeAspect="1"/>
          </p:cNvPicPr>
          <p:nvPr/>
        </p:nvPicPr>
        <p:blipFill>
          <a:blip r:embed="rId3"/>
          <a:stretch>
            <a:fillRect/>
          </a:stretch>
        </p:blipFill>
        <p:spPr>
          <a:xfrm>
            <a:off x="8402012" y="0"/>
            <a:ext cx="3699277" cy="2708920"/>
          </a:xfrm>
          <a:prstGeom prst="rect">
            <a:avLst/>
          </a:prstGeom>
        </p:spPr>
      </p:pic>
      <p:pic>
        <p:nvPicPr>
          <p:cNvPr id="5" name="图片 4">
            <a:extLst>
              <a:ext uri="{FF2B5EF4-FFF2-40B4-BE49-F238E27FC236}">
                <a16:creationId xmlns:a16="http://schemas.microsoft.com/office/drawing/2014/main" id="{F7EB27FB-1F04-9229-AD63-1610E2CF31A1}"/>
              </a:ext>
            </a:extLst>
          </p:cNvPr>
          <p:cNvPicPr>
            <a:picLocks noChangeAspect="1"/>
          </p:cNvPicPr>
          <p:nvPr/>
        </p:nvPicPr>
        <p:blipFill>
          <a:blip r:embed="rId4"/>
          <a:stretch>
            <a:fillRect/>
          </a:stretch>
        </p:blipFill>
        <p:spPr>
          <a:xfrm>
            <a:off x="8624664" y="4149081"/>
            <a:ext cx="3476625" cy="2457450"/>
          </a:xfrm>
          <a:prstGeom prst="rect">
            <a:avLst/>
          </a:prstGeom>
        </p:spPr>
      </p:pic>
    </p:spTree>
  </p:cSld>
  <p:clrMapOvr>
    <a:masterClrMapping/>
  </p:clrMapOvr>
  <p:transition>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9EAC593F-BDA6-7A52-DE2F-5A8185C4621F}"/>
                  </a:ext>
                </a:extLst>
              </p:cNvPr>
              <p:cNvSpPr txBox="1"/>
              <p:nvPr/>
            </p:nvSpPr>
            <p:spPr>
              <a:xfrm>
                <a:off x="1487488" y="692696"/>
                <a:ext cx="9001000" cy="4515660"/>
              </a:xfrm>
              <a:prstGeom prst="rect">
                <a:avLst/>
              </a:prstGeom>
              <a:noFill/>
            </p:spPr>
            <p:txBody>
              <a:bodyPr wrap="square">
                <a:spAutoFit/>
              </a:bodyPr>
              <a:lstStyle/>
              <a:p>
                <a:pPr algn="just">
                  <a:lnSpc>
                    <a:spcPct val="150000"/>
                  </a:lnSpc>
                </a:pPr>
                <a:r>
                  <a:rPr lang="zh-CN" altLang="zh-CN" sz="2800" kern="100" dirty="0">
                    <a:effectLst/>
                    <a:latin typeface="宋体" panose="02010600030101010101" pitchFamily="2" charset="-122"/>
                    <a:ea typeface="宋体" panose="02010600030101010101" pitchFamily="2" charset="-122"/>
                  </a:rPr>
                  <a:t>由单谷函数的性质可知</a:t>
                </a:r>
                <a:r>
                  <a:rPr lang="en-US" altLang="zh-CN" sz="2800" kern="100" dirty="0">
                    <a:effectLst/>
                    <a:latin typeface="宋体" panose="02010600030101010101" pitchFamily="2" charset="-122"/>
                    <a:ea typeface="宋体" panose="02010600030101010101" pitchFamily="2" charset="-122"/>
                  </a:rPr>
                  <a:t>:</a:t>
                </a:r>
              </a:p>
              <a:p>
                <a:pPr algn="just">
                  <a:lnSpc>
                    <a:spcPct val="150000"/>
                  </a:lnSpc>
                </a:pPr>
                <a:endParaRPr lang="en-US" altLang="zh-CN" sz="2800" kern="100" dirty="0">
                  <a:effectLst/>
                  <a:latin typeface="宋体" panose="02010600030101010101" pitchFamily="2" charset="-122"/>
                  <a:ea typeface="宋体" panose="02010600030101010101" pitchFamily="2" charset="-122"/>
                </a:endParaRPr>
              </a:p>
              <a:p>
                <a:pPr marL="285750" indent="-285750" algn="just">
                  <a:lnSpc>
                    <a:spcPct val="150000"/>
                  </a:lnSpc>
                  <a:buFont typeface="Wingdings" panose="05000000000000000000" pitchFamily="2" charset="2"/>
                  <a:buChar char="Ø"/>
                </a:pPr>
                <a:r>
                  <a:rPr lang="zh-CN" altLang="zh-CN" sz="2800" kern="100" dirty="0">
                    <a:effectLst/>
                    <a:latin typeface="宋体" panose="02010600030101010101" pitchFamily="2" charset="-122"/>
                    <a:ea typeface="宋体" panose="02010600030101010101" pitchFamily="2" charset="-122"/>
                  </a:rPr>
                  <a:t>在单谷区间</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zh-CN" altLang="en-US" sz="2800" kern="100" dirty="0">
                    <a:effectLst/>
                    <a:latin typeface="宋体" panose="02010600030101010101" pitchFamily="2" charset="-122"/>
                    <a:ea typeface="宋体" panose="02010600030101010101" pitchFamily="2" charset="-122"/>
                  </a:rPr>
                  <a:t>内</a:t>
                </a:r>
                <a:r>
                  <a:rPr lang="zh-CN" altLang="zh-CN" sz="2800" kern="100" dirty="0">
                    <a:effectLst/>
                    <a:latin typeface="宋体" panose="02010600030101010101" pitchFamily="2" charset="-122"/>
                    <a:ea typeface="宋体" panose="02010600030101010101" pitchFamily="2" charset="-122"/>
                  </a:rPr>
                  <a:t>任取两点</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𝑎</m:t>
                    </m:r>
                  </m:oMath>
                </a14:m>
                <a:r>
                  <a:rPr lang="zh-CN" altLang="zh-CN" sz="2800" kern="100" dirty="0">
                    <a:effectLst/>
                    <a:latin typeface="宋体" panose="02010600030101010101" pitchFamily="2" charset="-122"/>
                    <a:ea typeface="宋体" panose="02010600030101010101" pitchFamily="2" charset="-122"/>
                  </a:rPr>
                  <a:t>和</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𝑏</m:t>
                    </m:r>
                  </m:oMath>
                </a14:m>
                <a:r>
                  <a:rPr lang="zh-CN" altLang="zh-CN" sz="2800" kern="100" dirty="0">
                    <a:effectLst/>
                    <a:latin typeface="宋体" panose="02010600030101010101" pitchFamily="2" charset="-122"/>
                    <a:ea typeface="宋体" panose="02010600030101010101" pitchFamily="2" charset="-122"/>
                  </a:rPr>
                  <a:t>都可以求得一个相对更小的单谷区间。</a:t>
                </a:r>
                <a:endParaRPr lang="en-US" altLang="zh-CN" sz="2800" kern="100" dirty="0">
                  <a:effectLst/>
                  <a:latin typeface="宋体" panose="02010600030101010101" pitchFamily="2" charset="-122"/>
                  <a:ea typeface="宋体" panose="02010600030101010101" pitchFamily="2" charset="-122"/>
                </a:endParaRPr>
              </a:p>
              <a:p>
                <a:pPr marL="285750" indent="-285750" algn="just">
                  <a:lnSpc>
                    <a:spcPct val="150000"/>
                  </a:lnSpc>
                  <a:buFont typeface="Wingdings" panose="05000000000000000000" pitchFamily="2" charset="2"/>
                  <a:buChar char="Ø"/>
                </a:pPr>
                <a:r>
                  <a:rPr lang="zh-CN" altLang="zh-CN" sz="2800" kern="100" dirty="0">
                    <a:effectLst/>
                    <a:latin typeface="宋体" panose="02010600030101010101" pitchFamily="2" charset="-122"/>
                    <a:ea typeface="宋体" panose="02010600030101010101" pitchFamily="2" charset="-122"/>
                  </a:rPr>
                  <a:t>这个过程可以一直重复下去，如果某个单谷区间的长度足够小，该区间的中点就可以作为极小点的近似。</a:t>
                </a:r>
                <a:endParaRPr lang="en-US" altLang="zh-CN" sz="2800" kern="100" dirty="0">
                  <a:effectLst/>
                  <a:latin typeface="宋体" panose="02010600030101010101" pitchFamily="2" charset="-122"/>
                  <a:ea typeface="宋体" panose="02010600030101010101" pitchFamily="2" charset="-122"/>
                </a:endParaRPr>
              </a:p>
              <a:p>
                <a:pPr algn="just">
                  <a:lnSpc>
                    <a:spcPct val="150000"/>
                  </a:lnSpc>
                </a:pPr>
                <a:r>
                  <a:rPr lang="en-US" altLang="zh-CN" sz="2800" kern="100" dirty="0">
                    <a:effectLst/>
                    <a:latin typeface="宋体" panose="02010600030101010101" pitchFamily="2" charset="-122"/>
                    <a:ea typeface="宋体" panose="02010600030101010101" pitchFamily="2" charset="-122"/>
                  </a:rPr>
                  <a:t> </a:t>
                </a:r>
                <a:endParaRPr lang="zh-CN" altLang="zh-CN" sz="2800" kern="100" dirty="0">
                  <a:effectLst/>
                  <a:latin typeface="宋体" panose="02010600030101010101" pitchFamily="2" charset="-122"/>
                  <a:ea typeface="宋体" panose="02010600030101010101" pitchFamily="2" charset="-122"/>
                </a:endParaRPr>
              </a:p>
            </p:txBody>
          </p:sp>
        </mc:Choice>
        <mc:Fallback xmlns="">
          <p:sp>
            <p:nvSpPr>
              <p:cNvPr id="6" name="文本框 5">
                <a:extLst>
                  <a:ext uri="{FF2B5EF4-FFF2-40B4-BE49-F238E27FC236}">
                    <a16:creationId xmlns:a16="http://schemas.microsoft.com/office/drawing/2014/main" id="{9EAC593F-BDA6-7A52-DE2F-5A8185C4621F}"/>
                  </a:ext>
                </a:extLst>
              </p:cNvPr>
              <p:cNvSpPr txBox="1">
                <a:spLocks noRot="1" noChangeAspect="1" noMove="1" noResize="1" noEditPoints="1" noAdjustHandles="1" noChangeArrowheads="1" noChangeShapeType="1" noTextEdit="1"/>
              </p:cNvSpPr>
              <p:nvPr/>
            </p:nvSpPr>
            <p:spPr>
              <a:xfrm>
                <a:off x="1487488" y="692696"/>
                <a:ext cx="9001000" cy="4515660"/>
              </a:xfrm>
              <a:prstGeom prst="rect">
                <a:avLst/>
              </a:prstGeom>
              <a:blipFill>
                <a:blip r:embed="rId2"/>
                <a:stretch>
                  <a:fillRect l="-1354" r="-1354"/>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92382320-CC4F-7D82-2F68-4FAB8A43E0FC}"/>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7" name="Text Box 3">
            <a:extLst>
              <a:ext uri="{FF2B5EF4-FFF2-40B4-BE49-F238E27FC236}">
                <a16:creationId xmlns:a16="http://schemas.microsoft.com/office/drawing/2014/main" id="{6D612406-F67C-4228-847C-55669CCFE367}"/>
              </a:ext>
            </a:extLst>
          </p:cNvPr>
          <p:cNvSpPr txBox="1">
            <a:spLocks noChangeArrowheads="1"/>
          </p:cNvSpPr>
          <p:nvPr/>
        </p:nvSpPr>
        <p:spPr bwMode="auto">
          <a:xfrm>
            <a:off x="1127448" y="1356389"/>
            <a:ext cx="10153128" cy="12840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800" dirty="0">
                <a:solidFill>
                  <a:srgbClr val="0070C0"/>
                </a:solidFill>
                <a:latin typeface="宋体" panose="02010600030101010101" pitchFamily="2" charset="-122"/>
              </a:rPr>
              <a:t>设计思路</a:t>
            </a:r>
            <a:r>
              <a:rPr kumimoji="1" lang="zh-CN" altLang="en-US" sz="2800" dirty="0">
                <a:latin typeface="宋体" panose="02010600030101010101" pitchFamily="2" charset="-122"/>
              </a:rPr>
              <a:t>：反复使用单谷函数的消去性质，不断缩小包含极小点的搜索区间，直到满足精度为止。 </a:t>
            </a:r>
          </a:p>
        </p:txBody>
      </p:sp>
      <mc:AlternateContent xmlns:mc="http://schemas.openxmlformats.org/markup-compatibility/2006" xmlns:a14="http://schemas.microsoft.com/office/drawing/2010/main">
        <mc:Choice Requires="a14">
          <p:sp>
            <p:nvSpPr>
              <p:cNvPr id="216069" name="Text Box 5">
                <a:extLst>
                  <a:ext uri="{FF2B5EF4-FFF2-40B4-BE49-F238E27FC236}">
                    <a16:creationId xmlns:a16="http://schemas.microsoft.com/office/drawing/2014/main" id="{E358F592-905A-4B49-A7EE-A60FF3BA59A6}"/>
                  </a:ext>
                </a:extLst>
              </p:cNvPr>
              <p:cNvSpPr txBox="1">
                <a:spLocks noChangeArrowheads="1"/>
              </p:cNvSpPr>
              <p:nvPr/>
            </p:nvSpPr>
            <p:spPr bwMode="auto">
              <a:xfrm>
                <a:off x="1126766" y="2929272"/>
                <a:ext cx="10657866" cy="3438442"/>
              </a:xfrm>
              <a:prstGeom prst="rect">
                <a:avLst/>
              </a:prstGeom>
              <a:solidFill>
                <a:schemeClr val="bg1"/>
              </a:solidFill>
              <a:ln>
                <a:noFill/>
              </a:ln>
              <a:effec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kumimoji="1" lang="zh-CN" altLang="en-US" sz="2800" dirty="0">
                    <a:solidFill>
                      <a:srgbClr val="0070C0"/>
                    </a:solidFill>
                    <a:latin typeface="宋体" panose="02010600030101010101" pitchFamily="2" charset="-122"/>
                  </a:rPr>
                  <a:t>设计原则</a:t>
                </a:r>
                <a:r>
                  <a:rPr kumimoji="1" lang="zh-CN" altLang="en-US" sz="2800" dirty="0">
                    <a:latin typeface="宋体" panose="02010600030101010101" pitchFamily="2" charset="-122"/>
                  </a:rPr>
                  <a:t>：</a:t>
                </a:r>
                <a:endParaRPr kumimoji="1" lang="en-US" altLang="zh-CN" sz="2800" dirty="0">
                  <a:latin typeface="宋体" panose="02010600030101010101" pitchFamily="2" charset="-122"/>
                </a:endParaRPr>
              </a:p>
              <a:p>
                <a:pPr eaLnBrk="1" hangingPunct="1">
                  <a:lnSpc>
                    <a:spcPct val="150000"/>
                  </a:lnSpc>
                  <a:spcBef>
                    <a:spcPct val="50000"/>
                  </a:spcBef>
                </a:pPr>
                <a:r>
                  <a:rPr kumimoji="1" lang="zh-CN" altLang="en-US" sz="2800" dirty="0">
                    <a:latin typeface="宋体" panose="02010600030101010101" pitchFamily="2" charset="-122"/>
                  </a:rPr>
                  <a:t>（</a:t>
                </a:r>
                <a:r>
                  <a:rPr kumimoji="1" lang="en-US" altLang="zh-CN" sz="2800" dirty="0">
                    <a:latin typeface="宋体" panose="02010600030101010101" pitchFamily="2" charset="-122"/>
                  </a:rPr>
                  <a:t>1</a:t>
                </a:r>
                <a:r>
                  <a:rPr kumimoji="1" lang="zh-CN" altLang="en-US" sz="2800" dirty="0">
                    <a:latin typeface="宋体" panose="02010600030101010101" pitchFamily="2" charset="-122"/>
                  </a:rPr>
                  <a:t>）迭代公式简单；</a:t>
                </a:r>
                <a:endParaRPr kumimoji="1" lang="en-US" altLang="zh-CN" sz="2800" dirty="0">
                  <a:latin typeface="宋体" panose="02010600030101010101" pitchFamily="2" charset="-122"/>
                </a:endParaRPr>
              </a:p>
              <a:p>
                <a:pPr eaLnBrk="1" hangingPunct="1">
                  <a:lnSpc>
                    <a:spcPct val="150000"/>
                  </a:lnSpc>
                </a:pPr>
                <a:r>
                  <a:rPr kumimoji="1" lang="zh-CN" altLang="en-US" sz="2800" dirty="0">
                    <a:latin typeface="宋体" panose="02010600030101010101" pitchFamily="2" charset="-122"/>
                  </a:rPr>
                  <a:t>（</a:t>
                </a:r>
                <a:r>
                  <a:rPr kumimoji="1" lang="en-US" altLang="zh-CN" sz="2800" dirty="0">
                    <a:latin typeface="宋体" panose="02010600030101010101" pitchFamily="2" charset="-122"/>
                  </a:rPr>
                  <a:t>2</a:t>
                </a:r>
                <a:r>
                  <a:rPr kumimoji="1" lang="zh-CN" altLang="en-US" sz="2800" dirty="0">
                    <a:latin typeface="宋体" panose="02010600030101010101" pitchFamily="2" charset="-122"/>
                  </a:rPr>
                  <a:t>）消去效率高；</a:t>
                </a:r>
              </a:p>
              <a:p>
                <a:pPr>
                  <a:lnSpc>
                    <a:spcPct val="150000"/>
                  </a:lnSpc>
                </a:pPr>
                <a:r>
                  <a:rPr kumimoji="1" lang="zh-CN" altLang="en-US" sz="2800" dirty="0">
                    <a:latin typeface="宋体" panose="02010600030101010101" pitchFamily="2" charset="-122"/>
                  </a:rPr>
                  <a:t>（</a:t>
                </a:r>
                <a:r>
                  <a:rPr kumimoji="1" lang="en-US" altLang="zh-CN" sz="2800" dirty="0">
                    <a:latin typeface="宋体" panose="02010600030101010101" pitchFamily="2" charset="-122"/>
                  </a:rPr>
                  <a:t>3</a:t>
                </a:r>
                <a:r>
                  <a:rPr kumimoji="1" lang="zh-CN" altLang="en-US" sz="2800" dirty="0">
                    <a:latin typeface="宋体" panose="02010600030101010101" pitchFamily="2" charset="-122"/>
                  </a:rPr>
                  <a:t>）对称性：</a:t>
                </a:r>
                <a14:m>
                  <m:oMath xmlns:m="http://schemas.openxmlformats.org/officeDocument/2006/math">
                    <m:r>
                      <a:rPr lang="en-US" altLang="zh-CN" sz="2800" i="1">
                        <a:latin typeface="Cambria Math" panose="02040503050406030204" pitchFamily="18" charset="0"/>
                      </a:rPr>
                      <m:t>𝑎</m:t>
                    </m:r>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𝑎</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𝑏</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r>
                      <a:rPr lang="en-US" altLang="zh-CN" sz="2800" i="1">
                        <a:latin typeface="Cambria Math" panose="02040503050406030204" pitchFamily="18" charset="0"/>
                      </a:rPr>
                      <m:t>𝑏</m:t>
                    </m:r>
                  </m:oMath>
                </a14:m>
                <a:r>
                  <a:rPr lang="zh-CN" altLang="en-US" sz="2800" dirty="0">
                    <a:latin typeface="宋体" panose="02010600030101010101" pitchFamily="2" charset="-122"/>
                  </a:rPr>
                  <a:t>；</a:t>
                </a:r>
                <a:endParaRPr lang="en-US" altLang="zh-CN" sz="2800" dirty="0">
                  <a:latin typeface="宋体" panose="02010600030101010101" pitchFamily="2" charset="-122"/>
                </a:endParaRPr>
              </a:p>
              <a:p>
                <a:pPr>
                  <a:lnSpc>
                    <a:spcPct val="150000"/>
                  </a:lnSpc>
                </a:pPr>
                <a:r>
                  <a:rPr lang="zh-CN" altLang="zh-CN" sz="2800" dirty="0">
                    <a:latin typeface="宋体" panose="02010600030101010101" pitchFamily="2" charset="-122"/>
                  </a:rPr>
                  <a:t>（</a:t>
                </a:r>
                <a:r>
                  <a:rPr lang="en-US" altLang="zh-CN" sz="2800" dirty="0">
                    <a:latin typeface="宋体" panose="02010600030101010101" pitchFamily="2" charset="-122"/>
                  </a:rPr>
                  <a:t>4</a:t>
                </a:r>
                <a:r>
                  <a:rPr lang="zh-CN" altLang="zh-CN" sz="2800" dirty="0">
                    <a:latin typeface="宋体" panose="02010600030101010101" pitchFamily="2" charset="-122"/>
                  </a:rPr>
                  <a:t>）保持缩减比，即保留的区间长度与原区间长度之比保持不变。</a:t>
                </a:r>
                <a:endParaRPr kumimoji="1" lang="zh-CN" altLang="en-US" sz="2800" dirty="0">
                  <a:latin typeface="宋体" panose="02010600030101010101" pitchFamily="2" charset="-122"/>
                </a:endParaRPr>
              </a:p>
            </p:txBody>
          </p:sp>
        </mc:Choice>
        <mc:Fallback xmlns="">
          <p:sp>
            <p:nvSpPr>
              <p:cNvPr id="216069" name="Text Box 5">
                <a:extLst>
                  <a:ext uri="{FF2B5EF4-FFF2-40B4-BE49-F238E27FC236}">
                    <a16:creationId xmlns:a16="http://schemas.microsoft.com/office/drawing/2014/main" id="{E358F592-905A-4B49-A7EE-A60FF3BA59A6}"/>
                  </a:ext>
                </a:extLst>
              </p:cNvPr>
              <p:cNvSpPr txBox="1">
                <a:spLocks noRot="1" noChangeAspect="1" noMove="1" noResize="1" noEditPoints="1" noAdjustHandles="1" noChangeArrowheads="1" noChangeShapeType="1" noTextEdit="1"/>
              </p:cNvSpPr>
              <p:nvPr/>
            </p:nvSpPr>
            <p:spPr bwMode="auto">
              <a:xfrm>
                <a:off x="1126766" y="2929272"/>
                <a:ext cx="10657866" cy="3438442"/>
              </a:xfrm>
              <a:prstGeom prst="rect">
                <a:avLst/>
              </a:prstGeom>
              <a:blipFill>
                <a:blip r:embed="rId2"/>
                <a:stretch>
                  <a:fillRect l="-1201" r="-1773" b="-4078"/>
                </a:stretch>
              </a:blipFill>
              <a:ln>
                <a:noFill/>
              </a:ln>
              <a:effectLst/>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B9282806-D14D-1A6D-C792-D12205FD03BF}"/>
              </a:ext>
            </a:extLst>
          </p:cNvPr>
          <p:cNvSpPr txBox="1"/>
          <p:nvPr/>
        </p:nvSpPr>
        <p:spPr>
          <a:xfrm>
            <a:off x="623392" y="548680"/>
            <a:ext cx="6872140" cy="584775"/>
          </a:xfrm>
          <a:prstGeom prst="rect">
            <a:avLst/>
          </a:prstGeom>
          <a:noFill/>
        </p:spPr>
        <p:txBody>
          <a:bodyPr wrap="square">
            <a:spAutoFit/>
          </a:bodyPr>
          <a:lstStyle/>
          <a:p>
            <a:pPr algn="just">
              <a:spcBef>
                <a:spcPts val="600"/>
              </a:spcBef>
              <a:spcAft>
                <a:spcPts val="600"/>
              </a:spcAft>
            </a:pPr>
            <a:r>
              <a:rPr lang="zh-CN" altLang="en-US" sz="3200" kern="100" dirty="0">
                <a:latin typeface="Times New Roman" panose="02020603050405020304" pitchFamily="18" charset="0"/>
                <a:ea typeface="黑体" panose="02010609060101010101" pitchFamily="49" charset="-122"/>
              </a:rPr>
              <a:t>二</a:t>
            </a:r>
            <a:r>
              <a:rPr lang="zh-CN" altLang="zh-CN" sz="3200" kern="100" dirty="0">
                <a:effectLst/>
                <a:latin typeface="Times New Roman" panose="02020603050405020304" pitchFamily="18" charset="0"/>
                <a:ea typeface="黑体" panose="02010609060101010101" pitchFamily="49" charset="-122"/>
              </a:rPr>
              <a:t>、</a:t>
            </a:r>
            <a:r>
              <a:rPr lang="zh-CN" altLang="en-US" sz="3200" kern="100" dirty="0">
                <a:effectLst/>
                <a:latin typeface="Times New Roman" panose="02020603050405020304" pitchFamily="18" charset="0"/>
                <a:ea typeface="黑体" panose="02010609060101010101" pitchFamily="49" charset="-122"/>
              </a:rPr>
              <a:t>黄金分割法的基本原理</a:t>
            </a:r>
            <a:endParaRPr lang="zh-CN" altLang="zh-CN" sz="3200" kern="100" dirty="0">
              <a:effectLst/>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1836349190"/>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16067"/>
                                        </p:tgtEl>
                                        <p:attrNameLst>
                                          <p:attrName>style.visibility</p:attrName>
                                        </p:attrNameLst>
                                      </p:cBhvr>
                                      <p:to>
                                        <p:strVal val="visible"/>
                                      </p:to>
                                    </p:set>
                                    <p:anim calcmode="lin" valueType="num">
                                      <p:cBhvr>
                                        <p:cTn id="7" dur="500" fill="hold"/>
                                        <p:tgtEl>
                                          <p:spTgt spid="216067"/>
                                        </p:tgtEl>
                                        <p:attrNameLst>
                                          <p:attrName>ppt_w</p:attrName>
                                        </p:attrNameLst>
                                      </p:cBhvr>
                                      <p:tavLst>
                                        <p:tav tm="0">
                                          <p:val>
                                            <p:fltVal val="0"/>
                                          </p:val>
                                        </p:tav>
                                        <p:tav tm="100000">
                                          <p:val>
                                            <p:strVal val="#ppt_w"/>
                                          </p:val>
                                        </p:tav>
                                      </p:tavLst>
                                    </p:anim>
                                    <p:anim calcmode="lin" valueType="num">
                                      <p:cBhvr>
                                        <p:cTn id="8" dur="500" fill="hold"/>
                                        <p:tgtEl>
                                          <p:spTgt spid="216067"/>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16069"/>
                                        </p:tgtEl>
                                        <p:attrNameLst>
                                          <p:attrName>style.visibility</p:attrName>
                                        </p:attrNameLst>
                                      </p:cBhvr>
                                      <p:to>
                                        <p:strVal val="visible"/>
                                      </p:to>
                                    </p:set>
                                    <p:anim calcmode="lin" valueType="num">
                                      <p:cBhvr>
                                        <p:cTn id="13" dur="500" fill="hold"/>
                                        <p:tgtEl>
                                          <p:spTgt spid="216069"/>
                                        </p:tgtEl>
                                        <p:attrNameLst>
                                          <p:attrName>ppt_w</p:attrName>
                                        </p:attrNameLst>
                                      </p:cBhvr>
                                      <p:tavLst>
                                        <p:tav tm="0">
                                          <p:val>
                                            <p:fltVal val="0"/>
                                          </p:val>
                                        </p:tav>
                                        <p:tav tm="100000">
                                          <p:val>
                                            <p:strVal val="#ppt_w"/>
                                          </p:val>
                                        </p:tav>
                                      </p:tavLst>
                                    </p:anim>
                                    <p:anim calcmode="lin" valueType="num">
                                      <p:cBhvr>
                                        <p:cTn id="14" dur="500" fill="hold"/>
                                        <p:tgtEl>
                                          <p:spTgt spid="216069"/>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067" grpId="0" autoUpdateAnimBg="0"/>
      <p:bldP spid="216069"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05A77904-4DE5-DCBF-098A-9E95BA9A2C54}"/>
                  </a:ext>
                </a:extLst>
              </p:cNvPr>
              <p:cNvSpPr txBox="1"/>
              <p:nvPr/>
            </p:nvSpPr>
            <p:spPr>
              <a:xfrm>
                <a:off x="1079720" y="2953427"/>
                <a:ext cx="4572000" cy="3207353"/>
              </a:xfrm>
              <a:prstGeom prst="rect">
                <a:avLst/>
              </a:prstGeom>
              <a:noFill/>
            </p:spPr>
            <p:txBody>
              <a:bodyPr wrap="square">
                <a:spAutoFit/>
              </a:bodyPr>
              <a:lstStyle/>
              <a:p>
                <a:pPr algn="ctr">
                  <a:lnSpc>
                    <a:spcPct val="150000"/>
                  </a:lnSpc>
                </a:pPr>
                <a14:m>
                  <m:oMath xmlns:m="http://schemas.openxmlformats.org/officeDocument/2006/math">
                    <m:sSup>
                      <m:sSup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𝑧</m:t>
                        </m:r>
                      </m:e>
                      <m:sup>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𝑧𝑙</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sSup>
                      <m:sSup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𝑙</m:t>
                        </m:r>
                      </m:e>
                      <m:sup>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2</m:t>
                        </m:r>
                      </m:sup>
                    </m:sSup>
                  </m:oMath>
                </a14:m>
                <a:r>
                  <a:rPr lang="en-US" altLang="zh-CN" sz="2800" kern="100" dirty="0">
                    <a:latin typeface="等线" panose="02010600030101010101" pitchFamily="2" charset="-122"/>
                    <a:ea typeface="等线" panose="02010600030101010101" pitchFamily="2" charset="-122"/>
                    <a:cs typeface="Times New Roman" panose="02020603050405020304" pitchFamily="18" charset="0"/>
                  </a:rPr>
                  <a:t>=0</a:t>
                </a:r>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p>
                        <m:sSup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𝑧</m:t>
                              </m:r>
                            </m:num>
                            <m:den>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𝑙</m:t>
                              </m:r>
                            </m:den>
                          </m:f>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e>
                        <m:sup>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2</m:t>
                          </m:r>
                        </m:sup>
                      </m:sSup>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𝑧</m:t>
                          </m:r>
                        </m:num>
                        <m:den>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𝑙</m:t>
                          </m:r>
                        </m:den>
                      </m:f>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−1=0</m:t>
                      </m:r>
                    </m:oMath>
                  </m:oMathPara>
                </a14:m>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f>
                        <m:f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𝑧</m:t>
                          </m:r>
                        </m:num>
                        <m:den>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𝑙</m:t>
                          </m:r>
                        </m:den>
                      </m:f>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fPr>
                        <m:num>
                          <m:rad>
                            <m:radPr>
                              <m:degHide m:val="on"/>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5</m:t>
                              </m:r>
                            </m:e>
                          </m:rad>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−1</m:t>
                          </m:r>
                        </m:num>
                        <m:den>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2</m:t>
                          </m:r>
                        </m:den>
                      </m:f>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≈0</m:t>
                      </m:r>
                      <m:r>
                        <a:rPr lang="en-US" altLang="zh-CN" sz="2800" b="0" i="1"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618</m:t>
                      </m:r>
                    </m:oMath>
                  </m:oMathPara>
                </a14:m>
                <a:endParaRPr lang="zh-CN" altLang="zh-CN" sz="28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7" name="文本框 16">
                <a:extLst>
                  <a:ext uri="{FF2B5EF4-FFF2-40B4-BE49-F238E27FC236}">
                    <a16:creationId xmlns:a16="http://schemas.microsoft.com/office/drawing/2014/main" id="{05A77904-4DE5-DCBF-098A-9E95BA9A2C54}"/>
                  </a:ext>
                </a:extLst>
              </p:cNvPr>
              <p:cNvSpPr txBox="1">
                <a:spLocks noRot="1" noChangeAspect="1" noMove="1" noResize="1" noEditPoints="1" noAdjustHandles="1" noChangeArrowheads="1" noChangeShapeType="1" noTextEdit="1"/>
              </p:cNvSpPr>
              <p:nvPr/>
            </p:nvSpPr>
            <p:spPr>
              <a:xfrm>
                <a:off x="1079720" y="2953427"/>
                <a:ext cx="4572000" cy="3207353"/>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8CCB28F-94DE-E934-5EA3-28AE2D0AF188}"/>
                  </a:ext>
                </a:extLst>
              </p:cNvPr>
              <p:cNvSpPr txBox="1"/>
              <p:nvPr/>
            </p:nvSpPr>
            <p:spPr>
              <a:xfrm>
                <a:off x="6682265" y="3068011"/>
                <a:ext cx="4830618" cy="1599412"/>
              </a:xfrm>
              <a:prstGeom prst="rect">
                <a:avLst/>
              </a:prstGeom>
              <a:noFill/>
            </p:spPr>
            <p:txBody>
              <a:bodyPr wrap="square">
                <a:spAutoFit/>
              </a:bodyPr>
              <a:lstStyle/>
              <a:p>
                <a:pPr algn="just">
                  <a:lnSpc>
                    <a:spcPct val="150000"/>
                  </a:lnSpc>
                </a:pPr>
                <a:r>
                  <a:rPr lang="zh-CN" altLang="zh-CN" sz="2800" kern="100" dirty="0">
                    <a:latin typeface="等线" panose="02010600030101010101" pitchFamily="2" charset="-122"/>
                    <a:ea typeface="等线" panose="02010600030101010101" pitchFamily="2" charset="-122"/>
                    <a:cs typeface="Times New Roman" panose="02020603050405020304" pitchFamily="18" charset="0"/>
                  </a:rPr>
                  <a:t>记</a:t>
                </a:r>
                <a14:m>
                  <m:oMath xmlns:m="http://schemas.openxmlformats.org/officeDocument/2006/math">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𝜇</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f>
                      <m:f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𝑧</m:t>
                        </m:r>
                      </m:num>
                      <m:den>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𝑙</m:t>
                        </m:r>
                      </m:den>
                    </m:f>
                  </m:oMath>
                </a14:m>
                <a:r>
                  <a:rPr lang="zh-CN" altLang="zh-CN" sz="2800" kern="100" dirty="0">
                    <a:latin typeface="等线" panose="02010600030101010101" pitchFamily="2" charset="-122"/>
                    <a:ea typeface="等线" panose="02010600030101010101" pitchFamily="2" charset="-122"/>
                    <a:cs typeface="Times New Roman" panose="02020603050405020304" pitchFamily="18" charset="0"/>
                  </a:rPr>
                  <a:t>，则</a:t>
                </a:r>
                <a:endParaRPr lang="en-US" altLang="zh-CN" sz="2800" i="1" kern="100" dirty="0">
                  <a:latin typeface="Cambria Math" panose="02040503050406030204" pitchFamily="18" charset="0"/>
                  <a:ea typeface="Cambria Math" panose="02040503050406030204" pitchFamily="18" charset="0"/>
                  <a:cs typeface="Times New Roman" panose="02020603050405020304" pitchFamily="18" charset="0"/>
                </a:endParaRPr>
              </a:p>
              <a:p>
                <a:pPr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0" i="1" kern="100" smtClean="0">
                              <a:latin typeface="Cambria Math" panose="02040503050406030204" pitchFamily="18" charset="0"/>
                              <a:ea typeface="Cambria Math" panose="02040503050406030204" pitchFamily="18" charset="0"/>
                              <a:cs typeface="Times New Roman" panose="02020603050405020304" pitchFamily="18" charset="0"/>
                            </a:rPr>
                            <m:t>𝑎</m:t>
                          </m:r>
                        </m:e>
                        <m:sub>
                          <m:r>
                            <a:rPr lang="en-US" altLang="zh-CN" sz="2800" i="1" kern="100">
                              <a:latin typeface="Cambria Math" panose="02040503050406030204" pitchFamily="18" charset="0"/>
                              <a:cs typeface="Times New Roman" panose="02020603050405020304" pitchFamily="18" charset="0"/>
                            </a:rPr>
                            <m:t>1</m:t>
                          </m:r>
                        </m:sub>
                      </m:s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1−</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𝜇</m:t>
                          </m:r>
                        </m:e>
                      </m:d>
                      <m:d>
                        <m:d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b="0" i="1" kern="100" smtClean="0">
                                  <a:latin typeface="Cambria Math" panose="02040503050406030204" pitchFamily="18" charset="0"/>
                                  <a:ea typeface="Cambria Math" panose="02040503050406030204" pitchFamily="18" charset="0"/>
                                  <a:cs typeface="Times New Roman" panose="02020603050405020304" pitchFamily="18" charset="0"/>
                                </a:rPr>
                                <m:t>𝑏</m:t>
                              </m:r>
                            </m:e>
                            <m:sub>
                              <m:r>
                                <a:rPr lang="en-US" altLang="zh-CN" sz="2800" i="1" kern="100">
                                  <a:latin typeface="Cambria Math" panose="02040503050406030204" pitchFamily="18" charset="0"/>
                                  <a:cs typeface="Times New Roman" panose="02020603050405020304" pitchFamily="18" charset="0"/>
                                </a:rPr>
                                <m:t>1</m:t>
                              </m:r>
                            </m:sub>
                          </m:s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Cambria Math" panose="02040503050406030204" pitchFamily="18" charset="0"/>
                                  <a:cs typeface="Times New Roman" panose="02020603050405020304" pitchFamily="18" charset="0"/>
                                </a:rPr>
                                <m:t>𝑎</m:t>
                              </m:r>
                            </m:e>
                            <m:sub>
                              <m:r>
                                <a:rPr lang="en-US" altLang="zh-CN" sz="2800" i="1" kern="100">
                                  <a:latin typeface="Cambria Math" panose="02040503050406030204" pitchFamily="18" charset="0"/>
                                  <a:cs typeface="Times New Roman" panose="02020603050405020304" pitchFamily="18" charset="0"/>
                                </a:rPr>
                                <m:t>1</m:t>
                              </m:r>
                            </m:sub>
                          </m:sSub>
                        </m:e>
                      </m:d>
                    </m:oMath>
                  </m:oMathPara>
                </a14:m>
                <a:endParaRPr lang="en-US" altLang="zh-CN" sz="2800" i="1" kern="100" dirty="0">
                  <a:latin typeface="Cambria Math" panose="02040503050406030204" pitchFamily="18" charset="0"/>
                  <a:ea typeface="等线" panose="02010600030101010101" pitchFamily="2" charset="-122"/>
                  <a:cs typeface="Times New Roman" panose="02020603050405020304" pitchFamily="18" charset="0"/>
                </a:endParaRPr>
              </a:p>
            </p:txBody>
          </p:sp>
        </mc:Choice>
        <mc:Fallback xmlns="">
          <p:sp>
            <p:nvSpPr>
              <p:cNvPr id="18" name="文本框 17">
                <a:extLst>
                  <a:ext uri="{FF2B5EF4-FFF2-40B4-BE49-F238E27FC236}">
                    <a16:creationId xmlns:a16="http://schemas.microsoft.com/office/drawing/2014/main" id="{18CCB28F-94DE-E934-5EA3-28AE2D0AF188}"/>
                  </a:ext>
                </a:extLst>
              </p:cNvPr>
              <p:cNvSpPr txBox="1">
                <a:spLocks noRot="1" noChangeAspect="1" noMove="1" noResize="1" noEditPoints="1" noAdjustHandles="1" noChangeArrowheads="1" noChangeShapeType="1" noTextEdit="1"/>
              </p:cNvSpPr>
              <p:nvPr/>
            </p:nvSpPr>
            <p:spPr>
              <a:xfrm>
                <a:off x="6682265" y="3068011"/>
                <a:ext cx="4830618" cy="1599412"/>
              </a:xfrm>
              <a:prstGeom prst="rect">
                <a:avLst/>
              </a:prstGeom>
              <a:blipFill>
                <a:blip r:embed="rId3"/>
                <a:stretch>
                  <a:fillRect l="-25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9F5570A-DD1F-8916-833B-8E52A3CCCFEF}"/>
                  </a:ext>
                </a:extLst>
              </p:cNvPr>
              <p:cNvSpPr txBox="1"/>
              <p:nvPr/>
            </p:nvSpPr>
            <p:spPr>
              <a:xfrm>
                <a:off x="6151845" y="4806335"/>
                <a:ext cx="486294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Cambria Math" panose="02040503050406030204" pitchFamily="18" charset="0"/>
                              <a:cs typeface="Times New Roman" panose="02020603050405020304" pitchFamily="18" charset="0"/>
                            </a:rPr>
                            <m:t>𝑎</m:t>
                          </m:r>
                        </m:e>
                        <m:sub>
                          <m:r>
                            <a:rPr lang="en-US" altLang="zh-CN" sz="2800" i="1" kern="100">
                              <a:latin typeface="Cambria Math" panose="02040503050406030204" pitchFamily="18" charset="0"/>
                              <a:cs typeface="Times New Roman" panose="02020603050405020304" pitchFamily="18" charset="0"/>
                            </a:rPr>
                            <m:t>1</m:t>
                          </m:r>
                        </m:sub>
                      </m:s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𝜇</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Cambria Math" panose="02040503050406030204" pitchFamily="18" charset="0"/>
                              <a:cs typeface="Times New Roman" panose="02020603050405020304" pitchFamily="18" charset="0"/>
                            </a:rPr>
                            <m:t>𝑏</m:t>
                          </m:r>
                        </m:e>
                        <m:sub>
                          <m:r>
                            <a:rPr lang="en-US" altLang="zh-CN" sz="2800" i="1" kern="100">
                              <a:latin typeface="Cambria Math" panose="02040503050406030204" pitchFamily="18" charset="0"/>
                              <a:cs typeface="Times New Roman" panose="02020603050405020304" pitchFamily="18" charset="0"/>
                            </a:rPr>
                            <m:t>1</m:t>
                          </m:r>
                        </m:sub>
                      </m:sSub>
                      <m:r>
                        <a:rPr lang="en-US" altLang="zh-CN" sz="2800" i="1" kern="100">
                          <a:latin typeface="Cambria Math" panose="02040503050406030204" pitchFamily="18" charset="0"/>
                          <a:cs typeface="Times New Roman" panose="02020603050405020304" pitchFamily="18" charset="0"/>
                        </a:rPr>
                        <m:t>−</m:t>
                      </m:r>
                      <m:sSub>
                        <m:sSubPr>
                          <m:ctrlPr>
                            <a:rPr lang="zh-CN" altLang="zh-CN" sz="28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800" i="1" kern="100">
                              <a:latin typeface="Cambria Math" panose="02040503050406030204" pitchFamily="18" charset="0"/>
                              <a:ea typeface="Cambria Math" panose="02040503050406030204" pitchFamily="18" charset="0"/>
                              <a:cs typeface="Times New Roman" panose="02020603050405020304" pitchFamily="18" charset="0"/>
                            </a:rPr>
                            <m:t>𝑎</m:t>
                          </m:r>
                        </m:e>
                        <m:sub>
                          <m:r>
                            <a:rPr lang="en-US" altLang="zh-CN" sz="2800" i="1" kern="100">
                              <a:latin typeface="Cambria Math" panose="02040503050406030204" pitchFamily="18" charset="0"/>
                              <a:cs typeface="Times New Roman" panose="02020603050405020304" pitchFamily="18" charset="0"/>
                            </a:rPr>
                            <m:t>1</m:t>
                          </m:r>
                        </m:sub>
                      </m:sSub>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en-US" sz="2800" dirty="0"/>
              </a:p>
            </p:txBody>
          </p:sp>
        </mc:Choice>
        <mc:Fallback xmlns="">
          <p:sp>
            <p:nvSpPr>
              <p:cNvPr id="19" name="文本框 18">
                <a:extLst>
                  <a:ext uri="{FF2B5EF4-FFF2-40B4-BE49-F238E27FC236}">
                    <a16:creationId xmlns:a16="http://schemas.microsoft.com/office/drawing/2014/main" id="{E9F5570A-DD1F-8916-833B-8E52A3CCCFEF}"/>
                  </a:ext>
                </a:extLst>
              </p:cNvPr>
              <p:cNvSpPr txBox="1">
                <a:spLocks noRot="1" noChangeAspect="1" noMove="1" noResize="1" noEditPoints="1" noAdjustHandles="1" noChangeArrowheads="1" noChangeShapeType="1" noTextEdit="1"/>
              </p:cNvSpPr>
              <p:nvPr/>
            </p:nvSpPr>
            <p:spPr>
              <a:xfrm>
                <a:off x="6151845" y="4806335"/>
                <a:ext cx="4862944" cy="523220"/>
              </a:xfrm>
              <a:prstGeom prst="rect">
                <a:avLst/>
              </a:prstGeom>
              <a:blipFill>
                <a:blip r:embed="rId4"/>
                <a:stretch>
                  <a:fillRect/>
                </a:stretch>
              </a:blipFill>
            </p:spPr>
            <p:txBody>
              <a:bodyPr/>
              <a:lstStyle/>
              <a:p>
                <a:r>
                  <a:rPr lang="zh-CN" altLang="en-US">
                    <a:noFill/>
                  </a:rPr>
                  <a:t> </a:t>
                </a:r>
              </a:p>
            </p:txBody>
          </p:sp>
        </mc:Fallback>
      </mc:AlternateContent>
      <p:grpSp>
        <p:nvGrpSpPr>
          <p:cNvPr id="28" name="组合 27">
            <a:extLst>
              <a:ext uri="{FF2B5EF4-FFF2-40B4-BE49-F238E27FC236}">
                <a16:creationId xmlns:a16="http://schemas.microsoft.com/office/drawing/2014/main" id="{12F28C37-C95A-B20A-B535-860EA41F4E93}"/>
              </a:ext>
            </a:extLst>
          </p:cNvPr>
          <p:cNvGrpSpPr/>
          <p:nvPr/>
        </p:nvGrpSpPr>
        <p:grpSpPr>
          <a:xfrm>
            <a:off x="3902797" y="142732"/>
            <a:ext cx="9630180" cy="1149045"/>
            <a:chOff x="1199456" y="476672"/>
            <a:chExt cx="9630180" cy="1149045"/>
          </a:xfrm>
        </p:grpSpPr>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79459C85-9B2D-9937-1F2F-C93572D552F6}"/>
                    </a:ext>
                  </a:extLst>
                </p:cNvPr>
                <p:cNvSpPr txBox="1"/>
                <p:nvPr/>
              </p:nvSpPr>
              <p:spPr>
                <a:xfrm>
                  <a:off x="1199456" y="1181946"/>
                  <a:ext cx="46805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29" name="文本框 28">
                  <a:extLst>
                    <a:ext uri="{FF2B5EF4-FFF2-40B4-BE49-F238E27FC236}">
                      <a16:creationId xmlns:a16="http://schemas.microsoft.com/office/drawing/2014/main" id="{79459C85-9B2D-9937-1F2F-C93572D552F6}"/>
                    </a:ext>
                  </a:extLst>
                </p:cNvPr>
                <p:cNvSpPr txBox="1">
                  <a:spLocks noRot="1" noChangeAspect="1" noMove="1" noResize="1" noEditPoints="1" noAdjustHandles="1" noChangeArrowheads="1" noChangeShapeType="1" noTextEdit="1"/>
                </p:cNvSpPr>
                <p:nvPr/>
              </p:nvSpPr>
              <p:spPr>
                <a:xfrm>
                  <a:off x="1199456" y="1181946"/>
                  <a:ext cx="4680520" cy="369332"/>
                </a:xfrm>
                <a:prstGeom prst="rect">
                  <a:avLst/>
                </a:prstGeom>
                <a:blipFill>
                  <a:blip r:embed="rId5"/>
                  <a:stretch>
                    <a:fillRect/>
                  </a:stretch>
                </a:blipFill>
              </p:spPr>
              <p:txBody>
                <a:bodyPr/>
                <a:lstStyle/>
                <a:p>
                  <a:r>
                    <a:rPr lang="zh-CN" altLang="en-US">
                      <a:noFill/>
                    </a:rPr>
                    <a:t> </a:t>
                  </a:r>
                </a:p>
              </p:txBody>
            </p:sp>
          </mc:Fallback>
        </mc:AlternateContent>
        <p:pic>
          <p:nvPicPr>
            <p:cNvPr id="30" name="图片 29">
              <a:extLst>
                <a:ext uri="{FF2B5EF4-FFF2-40B4-BE49-F238E27FC236}">
                  <a16:creationId xmlns:a16="http://schemas.microsoft.com/office/drawing/2014/main" id="{324110E8-E27F-7CFB-C7EE-9EEC614A020B}"/>
                </a:ext>
              </a:extLst>
            </p:cNvPr>
            <p:cNvPicPr/>
            <p:nvPr/>
          </p:nvPicPr>
          <p:blipFill>
            <a:blip r:embed="rId6"/>
            <a:stretch>
              <a:fillRect/>
            </a:stretch>
          </p:blipFill>
          <p:spPr>
            <a:xfrm>
              <a:off x="3344760" y="476672"/>
              <a:ext cx="5271521" cy="720080"/>
            </a:xfrm>
            <a:prstGeom prst="rect">
              <a:avLst/>
            </a:prstGeom>
          </p:spPr>
        </p:pic>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0955611-3B0A-130A-1C1A-D7029644BBED}"/>
                    </a:ext>
                  </a:extLst>
                </p:cNvPr>
                <p:cNvSpPr txBox="1"/>
                <p:nvPr/>
              </p:nvSpPr>
              <p:spPr>
                <a:xfrm>
                  <a:off x="6096000" y="1163134"/>
                  <a:ext cx="473363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31" name="文本框 30">
                  <a:extLst>
                    <a:ext uri="{FF2B5EF4-FFF2-40B4-BE49-F238E27FC236}">
                      <a16:creationId xmlns:a16="http://schemas.microsoft.com/office/drawing/2014/main" id="{A0955611-3B0A-130A-1C1A-D7029644BBED}"/>
                    </a:ext>
                  </a:extLst>
                </p:cNvPr>
                <p:cNvSpPr txBox="1">
                  <a:spLocks noRot="1" noChangeAspect="1" noMove="1" noResize="1" noEditPoints="1" noAdjustHandles="1" noChangeArrowheads="1" noChangeShapeType="1" noTextEdit="1"/>
                </p:cNvSpPr>
                <p:nvPr/>
              </p:nvSpPr>
              <p:spPr>
                <a:xfrm>
                  <a:off x="6096000" y="1163134"/>
                  <a:ext cx="4733636"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03D9E34D-CE3A-E2DC-EFE2-8E087A503ABF}"/>
                    </a:ext>
                  </a:extLst>
                </p:cNvPr>
                <p:cNvSpPr txBox="1"/>
                <p:nvPr/>
              </p:nvSpPr>
              <p:spPr>
                <a:xfrm>
                  <a:off x="2966295" y="1164052"/>
                  <a:ext cx="483061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 </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a:latin typeface="Cambria Math" panose="02040503050406030204" pitchFamily="18" charset="0"/>
                              </a:rPr>
                              <m:t>1</m:t>
                            </m:r>
                          </m:sub>
                        </m:sSub>
                      </m:oMath>
                    </m:oMathPara>
                  </a14:m>
                  <a:endParaRPr lang="zh-CN" altLang="en-US" dirty="0"/>
                </a:p>
              </p:txBody>
            </p:sp>
          </mc:Choice>
          <mc:Fallback xmlns="">
            <p:sp>
              <p:nvSpPr>
                <p:cNvPr id="32" name="文本框 31">
                  <a:extLst>
                    <a:ext uri="{FF2B5EF4-FFF2-40B4-BE49-F238E27FC236}">
                      <a16:creationId xmlns:a16="http://schemas.microsoft.com/office/drawing/2014/main" id="{03D9E34D-CE3A-E2DC-EFE2-8E087A503ABF}"/>
                    </a:ext>
                  </a:extLst>
                </p:cNvPr>
                <p:cNvSpPr txBox="1">
                  <a:spLocks noRot="1" noChangeAspect="1" noMove="1" noResize="1" noEditPoints="1" noAdjustHandles="1" noChangeArrowheads="1" noChangeShapeType="1" noTextEdit="1"/>
                </p:cNvSpPr>
                <p:nvPr/>
              </p:nvSpPr>
              <p:spPr>
                <a:xfrm>
                  <a:off x="2966295" y="1164052"/>
                  <a:ext cx="4830618" cy="46166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12E1984A-0364-8A5E-25BF-2F617A0F44A4}"/>
                    </a:ext>
                  </a:extLst>
                </p:cNvPr>
                <p:cNvSpPr txBox="1"/>
                <p:nvPr/>
              </p:nvSpPr>
              <p:spPr>
                <a:xfrm>
                  <a:off x="4179063" y="1154972"/>
                  <a:ext cx="483061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a:latin typeface="Cambria Math" panose="02040503050406030204" pitchFamily="18" charset="0"/>
                          </a:rPr>
                          <m:t> </m:t>
                        </m:r>
                        <m:sSub>
                          <m:sSubPr>
                            <m:ctrlPr>
                              <a:rPr lang="zh-CN" altLang="en-US" i="1">
                                <a:solidFill>
                                  <a:srgbClr val="836967"/>
                                </a:solidFill>
                                <a:latin typeface="Cambria Math" panose="02040503050406030204" pitchFamily="18" charset="0"/>
                              </a:rPr>
                            </m:ctrlPr>
                          </m:sSubPr>
                          <m:e>
                            <m:r>
                              <a:rPr lang="zh-CN" altLang="en-US" i="1">
                                <a:latin typeface="Cambria Math" panose="02040503050406030204" pitchFamily="18" charset="0"/>
                              </a:rPr>
                              <m:t>𝑥</m:t>
                            </m:r>
                          </m:e>
                          <m:sub>
                            <m:r>
                              <a:rPr lang="zh-CN" altLang="en-US">
                                <a:latin typeface="Cambria Math" panose="02040503050406030204" pitchFamily="18" charset="0"/>
                              </a:rPr>
                              <m:t>2</m:t>
                            </m:r>
                          </m:sub>
                        </m:sSub>
                      </m:oMath>
                    </m:oMathPara>
                  </a14:m>
                  <a:endParaRPr lang="zh-CN" altLang="en-US" dirty="0"/>
                </a:p>
              </p:txBody>
            </p:sp>
          </mc:Choice>
          <mc:Fallback xmlns="">
            <p:sp>
              <p:nvSpPr>
                <p:cNvPr id="33" name="文本框 32">
                  <a:extLst>
                    <a:ext uri="{FF2B5EF4-FFF2-40B4-BE49-F238E27FC236}">
                      <a16:creationId xmlns:a16="http://schemas.microsoft.com/office/drawing/2014/main" id="{12E1984A-0364-8A5E-25BF-2F617A0F44A4}"/>
                    </a:ext>
                  </a:extLst>
                </p:cNvPr>
                <p:cNvSpPr txBox="1">
                  <a:spLocks noRot="1" noChangeAspect="1" noMove="1" noResize="1" noEditPoints="1" noAdjustHandles="1" noChangeArrowheads="1" noChangeShapeType="1" noTextEdit="1"/>
                </p:cNvSpPr>
                <p:nvPr/>
              </p:nvSpPr>
              <p:spPr>
                <a:xfrm>
                  <a:off x="4179063" y="1154972"/>
                  <a:ext cx="4830618" cy="461665"/>
                </a:xfrm>
                <a:prstGeom prst="rect">
                  <a:avLst/>
                </a:prstGeom>
                <a:blipFill>
                  <a:blip r:embed="rId9"/>
                  <a:stretch>
                    <a:fillRect/>
                  </a:stretch>
                </a:blipFill>
              </p:spPr>
              <p:txBody>
                <a:bodyPr/>
                <a:lstStyle/>
                <a:p>
                  <a:r>
                    <a:rPr lang="zh-CN" altLang="en-US">
                      <a:noFill/>
                    </a:rPr>
                    <a:t> </a:t>
                  </a:r>
                </a:p>
              </p:txBody>
            </p:sp>
          </mc:Fallback>
        </mc:AlternateContent>
      </p:grpSp>
      <p:grpSp>
        <p:nvGrpSpPr>
          <p:cNvPr id="45" name="组合 44">
            <a:extLst>
              <a:ext uri="{FF2B5EF4-FFF2-40B4-BE49-F238E27FC236}">
                <a16:creationId xmlns:a16="http://schemas.microsoft.com/office/drawing/2014/main" id="{60A07735-9AF7-FFA9-3026-FA9B7E8B3E53}"/>
              </a:ext>
            </a:extLst>
          </p:cNvPr>
          <p:cNvGrpSpPr/>
          <p:nvPr/>
        </p:nvGrpSpPr>
        <p:grpSpPr>
          <a:xfrm>
            <a:off x="8084945" y="1385369"/>
            <a:ext cx="3081214" cy="369332"/>
            <a:chOff x="6248741" y="1488392"/>
            <a:chExt cx="3081214" cy="369332"/>
          </a:xfrm>
        </p:grpSpPr>
        <p:cxnSp>
          <p:nvCxnSpPr>
            <p:cNvPr id="21" name="直接箭头连接符 20">
              <a:extLst>
                <a:ext uri="{FF2B5EF4-FFF2-40B4-BE49-F238E27FC236}">
                  <a16:creationId xmlns:a16="http://schemas.microsoft.com/office/drawing/2014/main" id="{775E9C0C-9F30-B449-15AB-373FAE3E127A}"/>
                </a:ext>
              </a:extLst>
            </p:cNvPr>
            <p:cNvCxnSpPr/>
            <p:nvPr/>
          </p:nvCxnSpPr>
          <p:spPr>
            <a:xfrm>
              <a:off x="8105819" y="1700808"/>
              <a:ext cx="12241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B1E3C4D9-26D5-B28B-1B9B-65177219A244}"/>
                </a:ext>
              </a:extLst>
            </p:cNvPr>
            <p:cNvCxnSpPr>
              <a:cxnSpLocks/>
            </p:cNvCxnSpPr>
            <p:nvPr/>
          </p:nvCxnSpPr>
          <p:spPr>
            <a:xfrm flipH="1">
              <a:off x="6248741" y="1700808"/>
              <a:ext cx="1473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AEB31CA6-6FA7-A1DF-8E3A-7C9D54C9BEB3}"/>
                </a:ext>
              </a:extLst>
            </p:cNvPr>
            <p:cNvCxnSpPr/>
            <p:nvPr/>
          </p:nvCxnSpPr>
          <p:spPr>
            <a:xfrm>
              <a:off x="9329955" y="1573481"/>
              <a:ext cx="0" cy="271343"/>
            </a:xfrm>
            <a:prstGeom prst="line">
              <a:avLst/>
            </a:prstGeom>
          </p:spPr>
          <p:style>
            <a:lnRef idx="2">
              <a:schemeClr val="dk1"/>
            </a:lnRef>
            <a:fillRef idx="0">
              <a:schemeClr val="dk1"/>
            </a:fillRef>
            <a:effectRef idx="1">
              <a:schemeClr val="dk1"/>
            </a:effectRef>
            <a:fontRef idx="minor">
              <a:schemeClr val="tx1"/>
            </a:fontRef>
          </p:style>
        </p:cxnSp>
        <p:cxnSp>
          <p:nvCxnSpPr>
            <p:cNvPr id="41" name="直接连接符 40">
              <a:extLst>
                <a:ext uri="{FF2B5EF4-FFF2-40B4-BE49-F238E27FC236}">
                  <a16:creationId xmlns:a16="http://schemas.microsoft.com/office/drawing/2014/main" id="{096711E5-A27F-D37D-FA92-0D4580B564DD}"/>
                </a:ext>
              </a:extLst>
            </p:cNvPr>
            <p:cNvCxnSpPr>
              <a:cxnSpLocks/>
            </p:cNvCxnSpPr>
            <p:nvPr/>
          </p:nvCxnSpPr>
          <p:spPr>
            <a:xfrm>
              <a:off x="6248741" y="1573481"/>
              <a:ext cx="0" cy="271343"/>
            </a:xfrm>
            <a:prstGeom prst="line">
              <a:avLst/>
            </a:prstGeom>
          </p:spPr>
          <p:style>
            <a:lnRef idx="2">
              <a:schemeClr val="dk1"/>
            </a:lnRef>
            <a:fillRef idx="0">
              <a:schemeClr val="dk1"/>
            </a:fillRef>
            <a:effectRef idx="1">
              <a:schemeClr val="dk1"/>
            </a:effectRef>
            <a:fontRef idx="minor">
              <a:schemeClr val="tx1"/>
            </a:fontRef>
          </p:style>
        </p:cxnSp>
        <p:sp>
          <p:nvSpPr>
            <p:cNvPr id="44" name="文本框 43">
              <a:extLst>
                <a:ext uri="{FF2B5EF4-FFF2-40B4-BE49-F238E27FC236}">
                  <a16:creationId xmlns:a16="http://schemas.microsoft.com/office/drawing/2014/main" id="{3EC3F981-CB66-C64B-C2CA-B760CCF44FF7}"/>
                </a:ext>
              </a:extLst>
            </p:cNvPr>
            <p:cNvSpPr txBox="1"/>
            <p:nvPr/>
          </p:nvSpPr>
          <p:spPr>
            <a:xfrm>
              <a:off x="7754012" y="1488392"/>
              <a:ext cx="383275" cy="369332"/>
            </a:xfrm>
            <a:prstGeom prst="rect">
              <a:avLst/>
            </a:prstGeom>
            <a:noFill/>
          </p:spPr>
          <p:txBody>
            <a:bodyPr wrap="square" rtlCol="0">
              <a:spAutoFit/>
            </a:bodyPr>
            <a:lstStyle/>
            <a:p>
              <a:r>
                <a:rPr lang="en-US" altLang="zh-CN" dirty="0"/>
                <a:t>z</a:t>
              </a:r>
              <a:endParaRPr lang="zh-CN" altLang="en-US" dirty="0"/>
            </a:p>
          </p:txBody>
        </p:sp>
      </p:grpSp>
      <p:sp>
        <p:nvSpPr>
          <p:cNvPr id="47" name="文本框 46">
            <a:extLst>
              <a:ext uri="{FF2B5EF4-FFF2-40B4-BE49-F238E27FC236}">
                <a16:creationId xmlns:a16="http://schemas.microsoft.com/office/drawing/2014/main" id="{2714FCE3-903B-A26C-6E9E-06B6EE32E961}"/>
              </a:ext>
            </a:extLst>
          </p:cNvPr>
          <p:cNvSpPr txBox="1"/>
          <p:nvPr/>
        </p:nvSpPr>
        <p:spPr>
          <a:xfrm>
            <a:off x="35495" y="2077950"/>
            <a:ext cx="6094428" cy="523220"/>
          </a:xfrm>
          <a:prstGeom prst="rect">
            <a:avLst/>
          </a:prstGeom>
          <a:noFill/>
        </p:spPr>
        <p:txBody>
          <a:bodyPr wrap="square">
            <a:spAutoFit/>
          </a:bodyPr>
          <a:lstStyle/>
          <a:p>
            <a:r>
              <a:rPr lang="zh-CN" altLang="zh-CN" sz="2800" dirty="0">
                <a:latin typeface="宋体" panose="02010600030101010101" pitchFamily="2" charset="-122"/>
                <a:ea typeface="宋体" panose="02010600030101010101" pitchFamily="2" charset="-122"/>
              </a:rPr>
              <a:t>保持缩减比</a:t>
            </a:r>
            <a:endParaRPr lang="zh-CN" altLang="en-US" sz="2800" dirty="0">
              <a:latin typeface="宋体" panose="02010600030101010101" pitchFamily="2" charset="-122"/>
              <a:ea typeface="宋体" panose="02010600030101010101" pitchFamily="2" charset="-122"/>
            </a:endParaRPr>
          </a:p>
        </p:txBody>
      </p:sp>
      <p:grpSp>
        <p:nvGrpSpPr>
          <p:cNvPr id="49" name="组合 48">
            <a:extLst>
              <a:ext uri="{FF2B5EF4-FFF2-40B4-BE49-F238E27FC236}">
                <a16:creationId xmlns:a16="http://schemas.microsoft.com/office/drawing/2014/main" id="{A67C5571-A809-F369-87B2-751BAB6B5D36}"/>
              </a:ext>
            </a:extLst>
          </p:cNvPr>
          <p:cNvGrpSpPr/>
          <p:nvPr/>
        </p:nvGrpSpPr>
        <p:grpSpPr>
          <a:xfrm>
            <a:off x="5751806" y="2031674"/>
            <a:ext cx="7833230" cy="694237"/>
            <a:chOff x="5724774" y="2024933"/>
            <a:chExt cx="7833230" cy="694237"/>
          </a:xfrm>
        </p:grpSpPr>
        <p:pic>
          <p:nvPicPr>
            <p:cNvPr id="50" name="图片 49">
              <a:extLst>
                <a:ext uri="{FF2B5EF4-FFF2-40B4-BE49-F238E27FC236}">
                  <a16:creationId xmlns:a16="http://schemas.microsoft.com/office/drawing/2014/main" id="{DF922B4C-432B-4A6B-DCA4-512D814CEE25}"/>
                </a:ext>
              </a:extLst>
            </p:cNvPr>
            <p:cNvPicPr/>
            <p:nvPr/>
          </p:nvPicPr>
          <p:blipFill>
            <a:blip r:embed="rId10"/>
            <a:stretch>
              <a:fillRect/>
            </a:stretch>
          </p:blipFill>
          <p:spPr>
            <a:xfrm>
              <a:off x="8065034" y="2024933"/>
              <a:ext cx="3132348" cy="315174"/>
            </a:xfrm>
            <a:prstGeom prst="rect">
              <a:avLst/>
            </a:prstGeom>
          </p:spPr>
        </p:pic>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8805D002-4188-0069-6907-3A843DF80E03}"/>
                    </a:ext>
                  </a:extLst>
                </p:cNvPr>
                <p:cNvSpPr txBox="1"/>
                <p:nvPr/>
              </p:nvSpPr>
              <p:spPr>
                <a:xfrm>
                  <a:off x="5724774" y="2298157"/>
                  <a:ext cx="46805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𝑎</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51" name="文本框 50">
                  <a:extLst>
                    <a:ext uri="{FF2B5EF4-FFF2-40B4-BE49-F238E27FC236}">
                      <a16:creationId xmlns:a16="http://schemas.microsoft.com/office/drawing/2014/main" id="{8805D002-4188-0069-6907-3A843DF80E03}"/>
                    </a:ext>
                  </a:extLst>
                </p:cNvPr>
                <p:cNvSpPr txBox="1">
                  <a:spLocks noRot="1" noChangeAspect="1" noMove="1" noResize="1" noEditPoints="1" noAdjustHandles="1" noChangeArrowheads="1" noChangeShapeType="1" noTextEdit="1"/>
                </p:cNvSpPr>
                <p:nvPr/>
              </p:nvSpPr>
              <p:spPr>
                <a:xfrm>
                  <a:off x="5724774" y="2298157"/>
                  <a:ext cx="4680520"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F4EB2CF2-1DEB-5C69-B7C8-2D3057A2FA61}"/>
                    </a:ext>
                  </a:extLst>
                </p:cNvPr>
                <p:cNvSpPr txBox="1"/>
                <p:nvPr/>
              </p:nvSpPr>
              <p:spPr>
                <a:xfrm>
                  <a:off x="8745860" y="2349838"/>
                  <a:ext cx="481214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𝑏</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52" name="文本框 51">
                  <a:extLst>
                    <a:ext uri="{FF2B5EF4-FFF2-40B4-BE49-F238E27FC236}">
                      <a16:creationId xmlns:a16="http://schemas.microsoft.com/office/drawing/2014/main" id="{F4EB2CF2-1DEB-5C69-B7C8-2D3057A2FA61}"/>
                    </a:ext>
                  </a:extLst>
                </p:cNvPr>
                <p:cNvSpPr txBox="1">
                  <a:spLocks noRot="1" noChangeAspect="1" noMove="1" noResize="1" noEditPoints="1" noAdjustHandles="1" noChangeArrowheads="1" noChangeShapeType="1" noTextEdit="1"/>
                </p:cNvSpPr>
                <p:nvPr/>
              </p:nvSpPr>
              <p:spPr>
                <a:xfrm>
                  <a:off x="8745860" y="2349838"/>
                  <a:ext cx="4812144"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D1B19841-D10E-5970-BDAF-8C7B19AE67AE}"/>
                    </a:ext>
                  </a:extLst>
                </p:cNvPr>
                <p:cNvSpPr txBox="1"/>
                <p:nvPr/>
              </p:nvSpPr>
              <p:spPr>
                <a:xfrm>
                  <a:off x="6882404" y="2276778"/>
                  <a:ext cx="483061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i="1">
                                <a:solidFill>
                                  <a:srgbClr val="836967"/>
                                </a:solidFill>
                                <a:latin typeface="Cambria Math" panose="02040503050406030204" pitchFamily="18" charset="0"/>
                              </a:rPr>
                            </m:ctrlPr>
                          </m:sSubSupPr>
                          <m:e>
                            <m:r>
                              <a:rPr lang="en-US" altLang="zh-CN" i="1">
                                <a:solidFill>
                                  <a:srgbClr val="836967"/>
                                </a:solidFill>
                                <a:latin typeface="Cambria Math" panose="02040503050406030204" pitchFamily="18" charset="0"/>
                              </a:rPr>
                              <m:t>𝑥</m:t>
                            </m:r>
                          </m:e>
                          <m:sub>
                            <m:r>
                              <a:rPr lang="en-US" altLang="zh-CN" i="1">
                                <a:solidFill>
                                  <a:srgbClr val="836967"/>
                                </a:solidFill>
                                <a:latin typeface="Cambria Math" panose="02040503050406030204" pitchFamily="18" charset="0"/>
                              </a:rPr>
                              <m:t>1</m:t>
                            </m:r>
                          </m:sub>
                          <m:sup>
                            <m:r>
                              <a:rPr lang="en-US" altLang="zh-CN" i="1">
                                <a:solidFill>
                                  <a:srgbClr val="836967"/>
                                </a:solidFill>
                                <a:latin typeface="Cambria Math" panose="02040503050406030204" pitchFamily="18" charset="0"/>
                              </a:rPr>
                              <m:t>′</m:t>
                            </m:r>
                          </m:sup>
                        </m:sSubSup>
                      </m:oMath>
                    </m:oMathPara>
                  </a14:m>
                  <a:endParaRPr lang="zh-CN" altLang="en-US" dirty="0"/>
                </a:p>
              </p:txBody>
            </p:sp>
          </mc:Choice>
          <mc:Fallback xmlns="">
            <p:sp>
              <p:nvSpPr>
                <p:cNvPr id="53" name="文本框 52">
                  <a:extLst>
                    <a:ext uri="{FF2B5EF4-FFF2-40B4-BE49-F238E27FC236}">
                      <a16:creationId xmlns:a16="http://schemas.microsoft.com/office/drawing/2014/main" id="{D1B19841-D10E-5970-BDAF-8C7B19AE67AE}"/>
                    </a:ext>
                  </a:extLst>
                </p:cNvPr>
                <p:cNvSpPr txBox="1">
                  <a:spLocks noRot="1" noChangeAspect="1" noMove="1" noResize="1" noEditPoints="1" noAdjustHandles="1" noChangeArrowheads="1" noChangeShapeType="1" noTextEdit="1"/>
                </p:cNvSpPr>
                <p:nvPr/>
              </p:nvSpPr>
              <p:spPr>
                <a:xfrm>
                  <a:off x="6882404" y="2276778"/>
                  <a:ext cx="4830618" cy="369332"/>
                </a:xfrm>
                <a:prstGeom prst="rect">
                  <a:avLst/>
                </a:prstGeom>
                <a:blipFill>
                  <a:blip r:embed="rId13"/>
                  <a:stretch>
                    <a:fillRect b="-1667"/>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4B922173-9766-63A0-A31C-24B554A26554}"/>
                  </a:ext>
                </a:extLst>
              </p:cNvPr>
              <p:cNvSpPr txBox="1"/>
              <p:nvPr/>
            </p:nvSpPr>
            <p:spPr>
              <a:xfrm>
                <a:off x="-801673" y="1923420"/>
                <a:ext cx="6905134" cy="82727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zh-CN" sz="2800" i="1" kern="10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latin typeface="Cambria Math" panose="02040503050406030204" pitchFamily="18" charset="0"/>
                              <a:cs typeface="Times New Roman" panose="02020603050405020304" pitchFamily="18" charset="0"/>
                            </a:rPr>
                            <m:t>𝑧</m:t>
                          </m:r>
                        </m:num>
                        <m:den>
                          <m:r>
                            <a:rPr lang="en-US" altLang="zh-CN" sz="2800" i="1" kern="100">
                              <a:latin typeface="Cambria Math" panose="02040503050406030204" pitchFamily="18" charset="0"/>
                              <a:cs typeface="Times New Roman" panose="02020603050405020304" pitchFamily="18" charset="0"/>
                            </a:rPr>
                            <m:t>𝑙</m:t>
                          </m:r>
                        </m:den>
                      </m:f>
                    </m:oMath>
                  </m:oMathPara>
                </a14:m>
                <a:endParaRPr lang="zh-CN" altLang="en-US" sz="2800" dirty="0"/>
              </a:p>
            </p:txBody>
          </p:sp>
        </mc:Choice>
        <mc:Fallback xmlns="">
          <p:sp>
            <p:nvSpPr>
              <p:cNvPr id="26" name="文本框 25">
                <a:extLst>
                  <a:ext uri="{FF2B5EF4-FFF2-40B4-BE49-F238E27FC236}">
                    <a16:creationId xmlns:a16="http://schemas.microsoft.com/office/drawing/2014/main" id="{4B922173-9766-63A0-A31C-24B554A26554}"/>
                  </a:ext>
                </a:extLst>
              </p:cNvPr>
              <p:cNvSpPr txBox="1">
                <a:spLocks noRot="1" noChangeAspect="1" noMove="1" noResize="1" noEditPoints="1" noAdjustHandles="1" noChangeArrowheads="1" noChangeShapeType="1" noTextEdit="1"/>
              </p:cNvSpPr>
              <p:nvPr/>
            </p:nvSpPr>
            <p:spPr>
              <a:xfrm>
                <a:off x="-801673" y="1923420"/>
                <a:ext cx="6905134" cy="827278"/>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A73144A-BF6A-949E-42BC-EECD1EBF31F4}"/>
                  </a:ext>
                </a:extLst>
              </p:cNvPr>
              <p:cNvSpPr txBox="1"/>
              <p:nvPr/>
            </p:nvSpPr>
            <p:spPr>
              <a:xfrm>
                <a:off x="413611" y="1874821"/>
                <a:ext cx="7671334" cy="90755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zh-CN" altLang="zh-CN" sz="2800" i="1" kern="100" smtClean="0">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𝑙</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𝑧</m:t>
                          </m:r>
                        </m:num>
                        <m:den>
                          <m:r>
                            <a:rPr lang="en-US" altLang="zh-CN" sz="2800" i="1" kern="100">
                              <a:latin typeface="Cambria Math" panose="02040503050406030204" pitchFamily="18" charset="0"/>
                              <a:ea typeface="等线" panose="02010600030101010101" pitchFamily="2" charset="-122"/>
                              <a:cs typeface="Times New Roman" panose="02020603050405020304" pitchFamily="18" charset="0"/>
                            </a:rPr>
                            <m:t>𝑧</m:t>
                          </m:r>
                        </m:den>
                      </m:f>
                    </m:oMath>
                  </m:oMathPara>
                </a14:m>
                <a:endParaRPr lang="zh-CN" altLang="en-US" sz="2800" dirty="0"/>
              </a:p>
            </p:txBody>
          </p:sp>
        </mc:Choice>
        <mc:Fallback xmlns="">
          <p:sp>
            <p:nvSpPr>
              <p:cNvPr id="34" name="文本框 33">
                <a:extLst>
                  <a:ext uri="{FF2B5EF4-FFF2-40B4-BE49-F238E27FC236}">
                    <a16:creationId xmlns:a16="http://schemas.microsoft.com/office/drawing/2014/main" id="{EA73144A-BF6A-949E-42BC-EECD1EBF31F4}"/>
                  </a:ext>
                </a:extLst>
              </p:cNvPr>
              <p:cNvSpPr txBox="1">
                <a:spLocks noRot="1" noChangeAspect="1" noMove="1" noResize="1" noEditPoints="1" noAdjustHandles="1" noChangeArrowheads="1" noChangeShapeType="1" noTextEdit="1"/>
              </p:cNvSpPr>
              <p:nvPr/>
            </p:nvSpPr>
            <p:spPr>
              <a:xfrm>
                <a:off x="413611" y="1874821"/>
                <a:ext cx="7671334" cy="907556"/>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AEAA6827-4D70-DCAA-8CC5-0D97AD3874C2}"/>
                  </a:ext>
                </a:extLst>
              </p:cNvPr>
              <p:cNvSpPr txBox="1"/>
              <p:nvPr/>
            </p:nvSpPr>
            <p:spPr>
              <a:xfrm>
                <a:off x="-577131" y="2129631"/>
                <a:ext cx="7671334" cy="52322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800" b="0" i="1" kern="100" smtClean="0">
                          <a:latin typeface="Cambria Math" panose="02040503050406030204" pitchFamily="18" charset="0"/>
                          <a:cs typeface="Times New Roman" panose="02020603050405020304" pitchFamily="18" charset="0"/>
                        </a:rPr>
                        <m:t>=</m:t>
                      </m:r>
                    </m:oMath>
                  </m:oMathPara>
                </a14:m>
                <a:endParaRPr lang="zh-CN" altLang="en-US" sz="2800" dirty="0"/>
              </a:p>
            </p:txBody>
          </p:sp>
        </mc:Choice>
        <mc:Fallback xmlns="">
          <p:sp>
            <p:nvSpPr>
              <p:cNvPr id="35" name="文本框 34">
                <a:extLst>
                  <a:ext uri="{FF2B5EF4-FFF2-40B4-BE49-F238E27FC236}">
                    <a16:creationId xmlns:a16="http://schemas.microsoft.com/office/drawing/2014/main" id="{AEAA6827-4D70-DCAA-8CC5-0D97AD3874C2}"/>
                  </a:ext>
                </a:extLst>
              </p:cNvPr>
              <p:cNvSpPr txBox="1">
                <a:spLocks noRot="1" noChangeAspect="1" noMove="1" noResize="1" noEditPoints="1" noAdjustHandles="1" noChangeArrowheads="1" noChangeShapeType="1" noTextEdit="1"/>
              </p:cNvSpPr>
              <p:nvPr/>
            </p:nvSpPr>
            <p:spPr>
              <a:xfrm>
                <a:off x="-577131" y="2129631"/>
                <a:ext cx="7671334" cy="523220"/>
              </a:xfrm>
              <a:prstGeom prst="rect">
                <a:avLst/>
              </a:prstGeom>
              <a:blipFill>
                <a:blip r:embed="rId16"/>
                <a:stretch>
                  <a:fillRect/>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4BB60B78-3008-8849-9816-FBEAA50992CB}"/>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pic>
        <p:nvPicPr>
          <p:cNvPr id="4" name="图片 3">
            <a:extLst>
              <a:ext uri="{FF2B5EF4-FFF2-40B4-BE49-F238E27FC236}">
                <a16:creationId xmlns:a16="http://schemas.microsoft.com/office/drawing/2014/main" id="{22EA9B53-C392-0C04-259F-29541F88E6F6}"/>
              </a:ext>
            </a:extLst>
          </p:cNvPr>
          <p:cNvPicPr>
            <a:picLocks noChangeAspect="1"/>
          </p:cNvPicPr>
          <p:nvPr/>
        </p:nvPicPr>
        <p:blipFill>
          <a:blip r:embed="rId17"/>
          <a:stretch>
            <a:fillRect/>
          </a:stretch>
        </p:blipFill>
        <p:spPr>
          <a:xfrm>
            <a:off x="9278331" y="2823501"/>
            <a:ext cx="1952625" cy="342900"/>
          </a:xfrm>
          <a:prstGeom prst="rect">
            <a:avLst/>
          </a:prstGeom>
        </p:spPr>
      </p:pic>
    </p:spTree>
    <p:extLst>
      <p:ext uri="{BB962C8B-B14F-4D97-AF65-F5344CB8AC3E}">
        <p14:creationId xmlns:p14="http://schemas.microsoft.com/office/powerpoint/2010/main" val="3902623172"/>
      </p:ext>
    </p:extLst>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xEl>
                                              <p:pRg st="1" end="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8">
                                            <p:txEl>
                                              <p:pRg st="1" end="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26" grpId="0"/>
      <p:bldP spid="34" grpId="0"/>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6CC29D86-D8AA-C9DE-B1D9-E129842714C1}"/>
              </a:ext>
            </a:extLst>
          </p:cNvPr>
          <p:cNvSpPr txBox="1"/>
          <p:nvPr/>
        </p:nvSpPr>
        <p:spPr>
          <a:xfrm>
            <a:off x="623392" y="548680"/>
            <a:ext cx="6872140" cy="584775"/>
          </a:xfrm>
          <a:prstGeom prst="rect">
            <a:avLst/>
          </a:prstGeom>
          <a:noFill/>
        </p:spPr>
        <p:txBody>
          <a:bodyPr wrap="square">
            <a:spAutoFit/>
          </a:bodyPr>
          <a:lstStyle/>
          <a:p>
            <a:pPr algn="just">
              <a:spcBef>
                <a:spcPts val="600"/>
              </a:spcBef>
              <a:spcAft>
                <a:spcPts val="600"/>
              </a:spcAft>
            </a:pPr>
            <a:r>
              <a:rPr lang="zh-CN" altLang="en-US" sz="3200" kern="100" dirty="0">
                <a:effectLst/>
                <a:latin typeface="Times New Roman" panose="02020603050405020304" pitchFamily="18" charset="0"/>
                <a:ea typeface="黑体" panose="02010609060101010101" pitchFamily="49" charset="-122"/>
              </a:rPr>
              <a:t>三</a:t>
            </a:r>
            <a:r>
              <a:rPr lang="zh-CN" altLang="zh-CN" sz="3200" kern="100" dirty="0">
                <a:effectLst/>
                <a:latin typeface="Times New Roman" panose="02020603050405020304" pitchFamily="18" charset="0"/>
                <a:ea typeface="黑体" panose="02010609060101010101" pitchFamily="49" charset="-122"/>
              </a:rPr>
              <a:t>、</a:t>
            </a:r>
            <a:r>
              <a:rPr lang="zh-CN" altLang="en-US" sz="3200" kern="100" dirty="0">
                <a:effectLst/>
                <a:latin typeface="Times New Roman" panose="02020603050405020304" pitchFamily="18" charset="0"/>
                <a:ea typeface="黑体" panose="02010609060101010101" pitchFamily="49" charset="-122"/>
              </a:rPr>
              <a:t>黄金分割法的步骤</a:t>
            </a:r>
            <a:endParaRPr lang="zh-CN" altLang="zh-CN" sz="32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ECB875E0-843F-313B-91FD-438FC6A686C8}"/>
                  </a:ext>
                </a:extLst>
              </p:cNvPr>
              <p:cNvSpPr txBox="1"/>
              <p:nvPr/>
            </p:nvSpPr>
            <p:spPr>
              <a:xfrm>
                <a:off x="911424" y="1700808"/>
                <a:ext cx="10513168" cy="3238772"/>
              </a:xfrm>
              <a:prstGeom prst="rect">
                <a:avLst/>
              </a:prstGeom>
              <a:noFill/>
            </p:spPr>
            <p:txBody>
              <a:bodyPr wrap="square">
                <a:spAutoFit/>
              </a:bodyPr>
              <a:lstStyle/>
              <a:p>
                <a:pPr indent="266700" algn="just">
                  <a:lnSpc>
                    <a:spcPct val="150000"/>
                  </a:lnSpc>
                </a:pPr>
                <a:r>
                  <a:rPr lang="en-US" altLang="zh-CN" sz="2800" kern="100" dirty="0">
                    <a:effectLst/>
                    <a:latin typeface="宋体" panose="02010600030101010101" pitchFamily="2" charset="-122"/>
                    <a:ea typeface="宋体" panose="02010600030101010101" pitchFamily="2" charset="-122"/>
                  </a:rPr>
                  <a:t>1. </a:t>
                </a:r>
                <a:r>
                  <a:rPr lang="zh-CN" altLang="zh-CN" sz="2800" kern="100" dirty="0">
                    <a:effectLst/>
                    <a:latin typeface="宋体" panose="02010600030101010101" pitchFamily="2" charset="-122"/>
                    <a:ea typeface="宋体" panose="02010600030101010101" pitchFamily="2" charset="-122"/>
                  </a:rPr>
                  <a:t>在区间</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宋体" panose="02010600030101010101" pitchFamily="2" charset="-122"/>
                    <a:ea typeface="宋体" panose="02010600030101010101" pitchFamily="2" charset="-122"/>
                  </a:rPr>
                  <a:t>上选择第一个试点</a:t>
                </a:r>
                <a14:m>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+0.382(</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，并计算</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a:t>
                </a:r>
              </a:p>
              <a:p>
                <a:pPr indent="266700" algn="just">
                  <a:lnSpc>
                    <a:spcPct val="150000"/>
                  </a:lnSpc>
                </a:pPr>
                <a:r>
                  <a:rPr lang="en-US" altLang="zh-CN" sz="2800" kern="100" dirty="0">
                    <a:effectLst/>
                    <a:latin typeface="宋体" panose="02010600030101010101" pitchFamily="2" charset="-122"/>
                    <a:ea typeface="宋体" panose="02010600030101010101" pitchFamily="2" charset="-122"/>
                  </a:rPr>
                  <a:t>2. </a:t>
                </a:r>
                <a:r>
                  <a:rPr lang="zh-CN" altLang="zh-CN" sz="2800" kern="100" dirty="0">
                    <a:effectLst/>
                    <a:latin typeface="宋体" panose="02010600030101010101" pitchFamily="2" charset="-122"/>
                    <a:ea typeface="宋体" panose="02010600030101010101" pitchFamily="2" charset="-122"/>
                  </a:rPr>
                  <a:t>选择</a:t>
                </a:r>
                <a14:m>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oMath>
                </a14:m>
                <a:r>
                  <a:rPr lang="zh-CN" altLang="zh-CN" sz="2800" kern="100" dirty="0">
                    <a:effectLst/>
                    <a:latin typeface="宋体" panose="02010600030101010101" pitchFamily="2" charset="-122"/>
                    <a:ea typeface="宋体" panose="02010600030101010101" pitchFamily="2" charset="-122"/>
                  </a:rPr>
                  <a:t>的对称点</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 </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+0.618(</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作为第二个试点，并计算</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，令 </a:t>
                </a:r>
                <a:r>
                  <a:rPr lang="en-US" altLang="zh-CN" sz="2800" i="1" kern="100" dirty="0">
                    <a:effectLst/>
                    <a:latin typeface="宋体" panose="02010600030101010101" pitchFamily="2" charset="-122"/>
                    <a:ea typeface="宋体" panose="02010600030101010101" pitchFamily="2" charset="-122"/>
                  </a:rPr>
                  <a:t>k </a:t>
                </a:r>
                <a:r>
                  <a:rPr lang="en-US" altLang="zh-CN" sz="2800" kern="100" dirty="0">
                    <a:effectLst/>
                    <a:latin typeface="宋体" panose="02010600030101010101" pitchFamily="2" charset="-122"/>
                    <a:ea typeface="宋体" panose="02010600030101010101" pitchFamily="2" charset="-122"/>
                  </a:rPr>
                  <a:t>= 1</a:t>
                </a:r>
                <a:r>
                  <a:rPr lang="zh-CN" altLang="zh-CN" sz="2800" kern="100" dirty="0">
                    <a:effectLst/>
                    <a:latin typeface="宋体" panose="02010600030101010101" pitchFamily="2" charset="-122"/>
                    <a:ea typeface="宋体" panose="02010600030101010101" pitchFamily="2" charset="-122"/>
                  </a:rPr>
                  <a:t>。</a:t>
                </a:r>
              </a:p>
              <a:p>
                <a:pPr indent="266700" algn="just">
                  <a:lnSpc>
                    <a:spcPct val="150000"/>
                  </a:lnSpc>
                </a:pPr>
                <a:r>
                  <a:rPr lang="en-US" altLang="zh-CN" sz="2800" kern="100" dirty="0">
                    <a:effectLst/>
                    <a:latin typeface="宋体" panose="02010600030101010101" pitchFamily="2" charset="-122"/>
                    <a:ea typeface="宋体" panose="02010600030101010101" pitchFamily="2" charset="-122"/>
                  </a:rPr>
                  <a:t>3. </a:t>
                </a:r>
                <a:r>
                  <a:rPr lang="zh-CN" altLang="zh-CN" sz="2800" kern="100" dirty="0">
                    <a:effectLst/>
                    <a:latin typeface="宋体" panose="02010600030101010101" pitchFamily="2" charset="-122"/>
                    <a:ea typeface="宋体" panose="02010600030101010101" pitchFamily="2" charset="-122"/>
                  </a:rPr>
                  <a:t>比较</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oMath>
                </a14:m>
                <a:r>
                  <a:rPr lang="en-US" altLang="zh-CN" sz="2800" kern="100" dirty="0">
                    <a:effectLst/>
                    <a:latin typeface="宋体" panose="02010600030101010101" pitchFamily="2" charset="-122"/>
                    <a:ea typeface="宋体" panose="02010600030101010101" pitchFamily="2" charset="-122"/>
                  </a:rPr>
                  <a:t> </a:t>
                </a:r>
                <a:r>
                  <a:rPr lang="zh-CN" altLang="zh-CN" sz="2800" kern="100" dirty="0">
                    <a:effectLst/>
                    <a:latin typeface="宋体" panose="02010600030101010101" pitchFamily="2" charset="-122"/>
                    <a:ea typeface="宋体" panose="02010600030101010101" pitchFamily="2" charset="-122"/>
                  </a:rPr>
                  <a:t>和</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m:t>
                    </m:r>
                  </m:oMath>
                </a14:m>
                <a:endParaRPr lang="zh-CN" altLang="zh-CN" sz="2800" kern="100" dirty="0">
                  <a:effectLst/>
                  <a:latin typeface="宋体" panose="02010600030101010101" pitchFamily="2" charset="-122"/>
                  <a:ea typeface="宋体" panose="02010600030101010101" pitchFamily="2" charset="-122"/>
                </a:endParaRPr>
              </a:p>
            </p:txBody>
          </p:sp>
        </mc:Choice>
        <mc:Fallback xmlns="">
          <p:sp>
            <p:nvSpPr>
              <p:cNvPr id="27" name="文本框 26">
                <a:extLst>
                  <a:ext uri="{FF2B5EF4-FFF2-40B4-BE49-F238E27FC236}">
                    <a16:creationId xmlns:a16="http://schemas.microsoft.com/office/drawing/2014/main" id="{ECB875E0-843F-313B-91FD-438FC6A686C8}"/>
                  </a:ext>
                </a:extLst>
              </p:cNvPr>
              <p:cNvSpPr txBox="1">
                <a:spLocks noRot="1" noChangeAspect="1" noMove="1" noResize="1" noEditPoints="1" noAdjustHandles="1" noChangeArrowheads="1" noChangeShapeType="1" noTextEdit="1"/>
              </p:cNvSpPr>
              <p:nvPr/>
            </p:nvSpPr>
            <p:spPr>
              <a:xfrm>
                <a:off x="911424" y="1700808"/>
                <a:ext cx="10513168" cy="3238772"/>
              </a:xfrm>
              <a:prstGeom prst="rect">
                <a:avLst/>
              </a:prstGeom>
              <a:blipFill>
                <a:blip r:embed="rId2"/>
                <a:stretch>
                  <a:fillRect l="-1218" r="-1218" b="-395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CCE1EF1A-4305-62D8-ECD5-82EC793B508B}"/>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extLst>
      <p:ext uri="{BB962C8B-B14F-4D97-AF65-F5344CB8AC3E}">
        <p14:creationId xmlns:p14="http://schemas.microsoft.com/office/powerpoint/2010/main" val="518014282"/>
      </p:ext>
    </p:extLst>
  </p:cSld>
  <p:clrMapOvr>
    <a:masterClrMapping/>
  </p:clrMapOvr>
  <p:transition>
    <p:random/>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96F06304-CB74-7DB6-8851-D77E6F8445A2}"/>
                  </a:ext>
                </a:extLst>
              </p:cNvPr>
              <p:cNvSpPr txBox="1"/>
              <p:nvPr/>
            </p:nvSpPr>
            <p:spPr>
              <a:xfrm>
                <a:off x="623392" y="332656"/>
                <a:ext cx="11233248" cy="6193042"/>
              </a:xfrm>
              <a:prstGeom prst="rect">
                <a:avLst/>
              </a:prstGeom>
              <a:noFill/>
            </p:spPr>
            <p:txBody>
              <a:bodyPr wrap="square">
                <a:spAutoFit/>
              </a:bodyPr>
              <a:lstStyle/>
              <a:p>
                <a:pPr indent="266700" algn="just">
                  <a:lnSpc>
                    <a:spcPct val="150000"/>
                  </a:lnSpc>
                </a:pPr>
                <a:r>
                  <a:rPr lang="zh-CN" altLang="zh-CN" sz="2800" kern="100" dirty="0">
                    <a:solidFill>
                      <a:srgbClr val="FF0000"/>
                    </a:solidFill>
                    <a:effectLst/>
                    <a:latin typeface="Times New Roman" panose="02020603050405020304" pitchFamily="18" charset="0"/>
                    <a:ea typeface="黑体" panose="02010609060101010101" pitchFamily="49" charset="-122"/>
                  </a:rPr>
                  <a:t>第一种情况</a:t>
                </a:r>
                <a:r>
                  <a:rPr lang="zh-CN" altLang="zh-CN" sz="2800" kern="100" dirty="0">
                    <a:effectLst/>
                    <a:latin typeface="Times New Roman" panose="02020603050405020304" pitchFamily="18" charset="0"/>
                    <a:ea typeface="黑体" panose="02010609060101010101" pitchFamily="49" charset="-122"/>
                  </a:rPr>
                  <a:t>：</a:t>
                </a:r>
                <a:r>
                  <a:rPr lang="zh-CN" altLang="zh-CN" sz="2800" kern="100" dirty="0">
                    <a:effectLst/>
                    <a:latin typeface="Times New Roman" panose="02020603050405020304" pitchFamily="18" charset="0"/>
                    <a:ea typeface="宋体" panose="02010600030101010101" pitchFamily="2" charset="-122"/>
                  </a:rPr>
                  <a:t>当</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d>
                      <m:dPr>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e>
                    </m:d>
                    <m:r>
                      <a:rPr lang="en-US" altLang="zh-CN" sz="2800" i="1" kern="100">
                        <a:effectLst/>
                        <a:latin typeface="Cambria Math" panose="02040503050406030204" pitchFamily="18" charset="0"/>
                        <a:ea typeface="宋体" panose="02010600030101010101" pitchFamily="2" charset="-122"/>
                      </a:rPr>
                      <m:t>&gt;</m:t>
                    </m:r>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Times New Roman" panose="02020603050405020304" pitchFamily="18" charset="0"/>
                    <a:ea typeface="宋体" panose="02010600030101010101" pitchFamily="2" charset="-122"/>
                  </a:rPr>
                  <a:t>时</a:t>
                </a:r>
                <a:endParaRPr lang="en-US" altLang="zh-CN" sz="2800" kern="100" dirty="0">
                  <a:effectLst/>
                  <a:latin typeface="Times New Roman" panose="02020603050405020304" pitchFamily="18" charset="0"/>
                  <a:ea typeface="宋体" panose="02010600030101010101" pitchFamily="2" charset="-122"/>
                </a:endParaRPr>
              </a:p>
              <a:p>
                <a:pPr indent="266700" algn="just">
                  <a:lnSpc>
                    <a:spcPct val="150000"/>
                  </a:lnSpc>
                </a:pPr>
                <a:r>
                  <a:rPr lang="en-US" altLang="zh-CN" sz="2800" kern="100" dirty="0">
                    <a:latin typeface="Times New Roman" panose="02020603050405020304" pitchFamily="18" charset="0"/>
                    <a:ea typeface="宋体" panose="02010600030101010101" pitchFamily="2" charset="-122"/>
                  </a:rPr>
                  <a:t>     </a:t>
                </a:r>
                <a:r>
                  <a:rPr lang="zh-CN" altLang="zh-CN" sz="2800" kern="100" dirty="0">
                    <a:effectLst/>
                    <a:latin typeface="Times New Roman" panose="02020603050405020304" pitchFamily="18" charset="0"/>
                    <a:ea typeface="宋体" panose="02010600030101010101" pitchFamily="2" charset="-122"/>
                  </a:rPr>
                  <a:t>因为</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𝑥</m:t>
                    </m:r>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Times New Roman" panose="02020603050405020304" pitchFamily="18" charset="0"/>
                    <a:ea typeface="宋体" panose="02010600030101010101" pitchFamily="2" charset="-122"/>
                  </a:rPr>
                  <a:t>是单谷函数，故其极小点不可能在区间</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𝑘</m:t>
                            </m:r>
                          </m:sub>
                        </m:sSub>
                      </m:e>
                    </m:d>
                  </m:oMath>
                </a14:m>
                <a:r>
                  <a:rPr lang="zh-CN" altLang="zh-CN" sz="2800" kern="100" dirty="0">
                    <a:effectLst/>
                    <a:latin typeface="Times New Roman" panose="02020603050405020304" pitchFamily="18" charset="0"/>
                    <a:ea typeface="宋体" panose="02010600030101010101" pitchFamily="2" charset="-122"/>
                  </a:rPr>
                  <a:t>上，将原区间缩短为</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e>
                    </m:d>
                  </m:oMath>
                </a14:m>
                <a:r>
                  <a:rPr lang="zh-CN" altLang="zh-CN" sz="2800" kern="100" dirty="0">
                    <a:effectLst/>
                    <a:latin typeface="Times New Roman" panose="02020603050405020304" pitchFamily="18" charset="0"/>
                    <a:ea typeface="宋体" panose="02010600030101010101" pitchFamily="2" charset="-122"/>
                  </a:rPr>
                  <a:t>。</a:t>
                </a:r>
              </a:p>
              <a:p>
                <a:pPr indent="266700" algn="just">
                  <a:lnSpc>
                    <a:spcPct val="150000"/>
                  </a:lnSpc>
                </a:pPr>
                <a:r>
                  <a:rPr lang="en-US" altLang="zh-CN" sz="2800" kern="100" dirty="0">
                    <a:effectLst/>
                    <a:latin typeface="宋体" panose="02010600030101010101" pitchFamily="2" charset="-122"/>
                    <a:ea typeface="宋体" panose="02010600030101010101" pitchFamily="2" charset="-122"/>
                  </a:rPr>
                  <a:t>(1)</a:t>
                </a:r>
                <a:r>
                  <a:rPr lang="en-US" altLang="zh-CN" sz="2800" kern="100" dirty="0">
                    <a:effectLst/>
                    <a:latin typeface="Times New Roman" panose="02020603050405020304" pitchFamily="18" charset="0"/>
                    <a:ea typeface="宋体" panose="02010600030101010101" pitchFamily="2" charset="-122"/>
                  </a:rPr>
                  <a:t> </a:t>
                </a:r>
                <a:r>
                  <a:rPr lang="zh-CN" altLang="zh-CN" sz="2800" kern="100" dirty="0">
                    <a:effectLst/>
                    <a:latin typeface="Times New Roman" panose="02020603050405020304" pitchFamily="18" charset="0"/>
                    <a:ea typeface="宋体" panose="02010600030101010101" pitchFamily="2" charset="-122"/>
                  </a:rPr>
                  <a:t>进行区间端点的置换</a:t>
                </a:r>
              </a:p>
              <a:p>
                <a:pPr marL="533400" indent="266700" algn="just">
                  <a:lnSpc>
                    <a:spcPct val="150000"/>
                  </a:lnSpc>
                </a:pPr>
                <a:r>
                  <a:rPr lang="zh-CN" altLang="zh-CN" sz="2800" kern="100" dirty="0">
                    <a:effectLst/>
                    <a:latin typeface="Times New Roman" panose="02020603050405020304" pitchFamily="18" charset="0"/>
                    <a:ea typeface="宋体" panose="02010600030101010101" pitchFamily="2" charset="-122"/>
                  </a:rPr>
                  <a:t>令新的区间端点 </a:t>
                </a:r>
                <a14:m>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sub>
                    </m:sSub>
                    <m:r>
                      <a:rPr lang="en-US" altLang="zh-CN" sz="2800" i="1" kern="100">
                        <a:effectLst/>
                        <a:latin typeface="Cambria Math" panose="02040503050406030204" pitchFamily="18" charset="0"/>
                        <a:ea typeface="宋体" panose="02010600030101010101" pitchFamily="2" charset="-122"/>
                      </a:rPr>
                      <m:t>, </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oMath>
                </a14:m>
                <a:endParaRPr lang="zh-CN" altLang="zh-CN" sz="2800" kern="100" dirty="0">
                  <a:effectLst/>
                  <a:latin typeface="Times New Roman" panose="02020603050405020304" pitchFamily="18" charset="0"/>
                  <a:ea typeface="宋体" panose="02010600030101010101" pitchFamily="2" charset="-122"/>
                </a:endParaRPr>
              </a:p>
              <a:p>
                <a:pPr indent="266700" algn="just">
                  <a:lnSpc>
                    <a:spcPct val="150000"/>
                  </a:lnSpc>
                </a:pPr>
                <a:r>
                  <a:rPr lang="en-US" altLang="zh-CN" sz="2800" kern="100" dirty="0">
                    <a:effectLst/>
                    <a:latin typeface="宋体" panose="02010600030101010101" pitchFamily="2" charset="-122"/>
                    <a:ea typeface="宋体" panose="02010600030101010101" pitchFamily="2" charset="-122"/>
                  </a:rPr>
                  <a:t>(2)</a:t>
                </a:r>
                <a:r>
                  <a:rPr lang="en-US" altLang="zh-CN" sz="2800" kern="100" dirty="0">
                    <a:effectLst/>
                    <a:latin typeface="Times New Roman" panose="02020603050405020304" pitchFamily="18" charset="0"/>
                    <a:ea typeface="宋体" panose="02010600030101010101" pitchFamily="2" charset="-122"/>
                  </a:rPr>
                  <a:t> </a:t>
                </a:r>
                <a:r>
                  <a:rPr lang="zh-CN" altLang="zh-CN" sz="2800" kern="100" dirty="0">
                    <a:effectLst/>
                    <a:latin typeface="Times New Roman" panose="02020603050405020304" pitchFamily="18" charset="0"/>
                    <a:ea typeface="宋体" panose="02010600030101010101" pitchFamily="2" charset="-122"/>
                  </a:rPr>
                  <a:t>判断精度</a:t>
                </a:r>
              </a:p>
              <a:p>
                <a:pPr algn="just">
                  <a:lnSpc>
                    <a:spcPct val="150000"/>
                  </a:lnSpc>
                </a:pPr>
                <a:r>
                  <a:rPr lang="en-US" altLang="zh-CN" sz="2800" kern="100" dirty="0">
                    <a:effectLst/>
                    <a:latin typeface="Times New Roman" panose="02020603050405020304" pitchFamily="18" charset="0"/>
                    <a:ea typeface="宋体" panose="02010600030101010101" pitchFamily="2" charset="-122"/>
                  </a:rPr>
                  <a:t>         </a:t>
                </a:r>
                <a:r>
                  <a:rPr lang="zh-CN" altLang="zh-CN" sz="2800" kern="100" dirty="0">
                    <a:effectLst/>
                    <a:latin typeface="Times New Roman" panose="02020603050405020304" pitchFamily="18" charset="0"/>
                    <a:ea typeface="宋体" panose="02010600030101010101" pitchFamily="2" charset="-122"/>
                  </a:rPr>
                  <a:t>若</a:t>
                </a:r>
                <a14:m>
                  <m:oMath xmlns:m="http://schemas.openxmlformats.org/officeDocument/2006/math">
                    <m:f>
                      <m:fPr>
                        <m:ctrlPr>
                          <a:rPr lang="zh-CN" altLang="zh-CN" sz="2800" i="1" kern="100">
                            <a:effectLst/>
                            <a:latin typeface="Cambria Math" panose="02040503050406030204" pitchFamily="18" charset="0"/>
                            <a:ea typeface="Cambria Math" panose="02040503050406030204" pitchFamily="18" charset="0"/>
                          </a:rPr>
                        </m:ctrlPr>
                      </m:fPr>
                      <m:num>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num>
                      <m:den>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den>
                    </m:f>
                    <m:r>
                      <a:rPr lang="en-US" altLang="zh-CN" sz="2800" i="1" kern="100">
                        <a:effectLst/>
                        <a:latin typeface="Cambria Math" panose="02040503050406030204" pitchFamily="18" charset="0"/>
                        <a:ea typeface="宋体" panose="02010600030101010101" pitchFamily="2" charset="-122"/>
                      </a:rPr>
                      <m:t>&lt;</m:t>
                    </m:r>
                    <m:r>
                      <a:rPr lang="en-US" altLang="zh-CN" sz="2800" i="1" kern="100">
                        <a:effectLst/>
                        <a:latin typeface="Cambria Math" panose="02040503050406030204" pitchFamily="18" charset="0"/>
                        <a:ea typeface="宋体" panose="02010600030101010101" pitchFamily="2" charset="-122"/>
                      </a:rPr>
                      <m:t>𝛿</m:t>
                    </m:r>
                  </m:oMath>
                </a14:m>
                <a:r>
                  <a:rPr lang="zh-CN" altLang="zh-CN" sz="2800" kern="100" dirty="0">
                    <a:effectLst/>
                    <a:latin typeface="Times New Roman" panose="02020603050405020304" pitchFamily="18" charset="0"/>
                    <a:ea typeface="宋体" panose="02010600030101010101" pitchFamily="2" charset="-122"/>
                  </a:rPr>
                  <a:t>，则停止计算，可取</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rPr>
                          <m:t>∗</m:t>
                        </m:r>
                      </m:sup>
                    </m:sSup>
                    <m:r>
                      <a:rPr lang="en-US" altLang="zh-CN" sz="2800" i="1" kern="100">
                        <a:effectLst/>
                        <a:latin typeface="Cambria Math" panose="02040503050406030204" pitchFamily="18" charset="0"/>
                        <a:ea typeface="宋体" panose="02010600030101010101" pitchFamily="2" charset="-122"/>
                      </a:rPr>
                      <m:t>=</m:t>
                    </m:r>
                    <m:f>
                      <m:fPr>
                        <m:ctrlPr>
                          <a:rPr lang="zh-CN" altLang="zh-CN" sz="2800" i="1" kern="100">
                            <a:effectLst/>
                            <a:latin typeface="Cambria Math" panose="02040503050406030204" pitchFamily="18" charset="0"/>
                            <a:ea typeface="Cambria Math" panose="02040503050406030204" pitchFamily="18" charset="0"/>
                          </a:rPr>
                        </m:ctrlPr>
                      </m:fPr>
                      <m:num>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num>
                      <m:den>
                        <m:r>
                          <a:rPr lang="en-US" altLang="zh-CN" sz="2800" i="1" kern="100">
                            <a:effectLst/>
                            <a:latin typeface="Cambria Math" panose="02040503050406030204" pitchFamily="18" charset="0"/>
                            <a:ea typeface="宋体" panose="02010600030101010101" pitchFamily="2" charset="-122"/>
                          </a:rPr>
                          <m:t>2</m:t>
                        </m:r>
                      </m:den>
                    </m:f>
                  </m:oMath>
                </a14:m>
                <a:r>
                  <a:rPr lang="zh-CN" altLang="zh-CN" sz="2800" kern="100" dirty="0">
                    <a:effectLst/>
                    <a:latin typeface="Times New Roman" panose="02020603050405020304" pitchFamily="18" charset="0"/>
                    <a:ea typeface="宋体" panose="02010600030101010101" pitchFamily="2" charset="-122"/>
                  </a:rPr>
                  <a:t>为近似极小点，</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𝑥</m:t>
                        </m:r>
                      </m:e>
                      <m:sup>
                        <m:r>
                          <a:rPr lang="en-US" altLang="zh-CN" sz="2800" i="1" kern="100">
                            <a:effectLst/>
                            <a:latin typeface="Cambria Math" panose="02040503050406030204" pitchFamily="18" charset="0"/>
                            <a:ea typeface="宋体" panose="02010600030101010101" pitchFamily="2" charset="-122"/>
                          </a:rPr>
                          <m:t>∗</m:t>
                        </m:r>
                      </m:sup>
                    </m:sSup>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Times New Roman" panose="02020603050405020304" pitchFamily="18" charset="0"/>
                    <a:ea typeface="宋体" panose="02010600030101010101" pitchFamily="2" charset="-122"/>
                  </a:rPr>
                  <a:t>为近似极小值。否则，转下一步。</a:t>
                </a:r>
              </a:p>
              <a:p>
                <a:pPr indent="266700" algn="just">
                  <a:lnSpc>
                    <a:spcPct val="150000"/>
                  </a:lnSpc>
                </a:pPr>
                <a:endParaRPr lang="zh-CN" altLang="zh-CN" sz="2800" kern="100" dirty="0">
                  <a:effectLst/>
                  <a:latin typeface="Times New Roman" panose="02020603050405020304" pitchFamily="18" charset="0"/>
                  <a:ea typeface="宋体" panose="02010600030101010101" pitchFamily="2" charset="-122"/>
                </a:endParaRPr>
              </a:p>
            </p:txBody>
          </p:sp>
        </mc:Choice>
        <mc:Fallback xmlns="">
          <p:sp>
            <p:nvSpPr>
              <p:cNvPr id="28" name="文本框 27">
                <a:extLst>
                  <a:ext uri="{FF2B5EF4-FFF2-40B4-BE49-F238E27FC236}">
                    <a16:creationId xmlns:a16="http://schemas.microsoft.com/office/drawing/2014/main" id="{96F06304-CB74-7DB6-8851-D77E6F8445A2}"/>
                  </a:ext>
                </a:extLst>
              </p:cNvPr>
              <p:cNvSpPr txBox="1">
                <a:spLocks noRot="1" noChangeAspect="1" noMove="1" noResize="1" noEditPoints="1" noAdjustHandles="1" noChangeArrowheads="1" noChangeShapeType="1" noTextEdit="1"/>
              </p:cNvSpPr>
              <p:nvPr/>
            </p:nvSpPr>
            <p:spPr>
              <a:xfrm>
                <a:off x="623392" y="332656"/>
                <a:ext cx="11233248" cy="6193042"/>
              </a:xfrm>
              <a:prstGeom prst="rect">
                <a:avLst/>
              </a:prstGeom>
              <a:blipFill>
                <a:blip r:embed="rId2"/>
                <a:stretch>
                  <a:fillRect l="-1085" r="-4341"/>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F21ECCE4-6226-8C69-D5A7-4438590E2482}"/>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D246CFB7-971A-FCC2-994A-9882A3C5C35A}"/>
                  </a:ext>
                </a:extLst>
              </p:cNvPr>
              <p:cNvSpPr txBox="1"/>
              <p:nvPr/>
            </p:nvSpPr>
            <p:spPr>
              <a:xfrm>
                <a:off x="839416" y="476672"/>
                <a:ext cx="11233248" cy="3888500"/>
              </a:xfrm>
              <a:prstGeom prst="rect">
                <a:avLst/>
              </a:prstGeom>
              <a:noFill/>
            </p:spPr>
            <p:txBody>
              <a:bodyPr wrap="square">
                <a:spAutoFit/>
              </a:bodyPr>
              <a:lstStyle/>
              <a:p>
                <a:pPr indent="266700" algn="just">
                  <a:lnSpc>
                    <a:spcPct val="150000"/>
                  </a:lnSpc>
                </a:pPr>
                <a:r>
                  <a:rPr lang="en-US" altLang="zh-CN" sz="2800" kern="100" dirty="0">
                    <a:effectLst/>
                    <a:latin typeface="宋体" panose="02010600030101010101" pitchFamily="2" charset="-122"/>
                    <a:ea typeface="宋体" panose="02010600030101010101" pitchFamily="2" charset="-122"/>
                  </a:rPr>
                  <a:t>(3)</a:t>
                </a:r>
                <a:r>
                  <a:rPr lang="en-US" altLang="zh-CN" sz="2800" kern="100" dirty="0">
                    <a:effectLst/>
                    <a:latin typeface="Times New Roman" panose="02020603050405020304" pitchFamily="18" charset="0"/>
                    <a:ea typeface="宋体" panose="02010600030101010101" pitchFamily="2" charset="-122"/>
                  </a:rPr>
                  <a:t> </a:t>
                </a:r>
                <a:r>
                  <a:rPr lang="zh-CN" altLang="zh-CN" sz="2800" kern="100" dirty="0">
                    <a:effectLst/>
                    <a:latin typeface="Times New Roman" panose="02020603050405020304" pitchFamily="18" charset="0"/>
                    <a:ea typeface="宋体" panose="02010600030101010101" pitchFamily="2" charset="-122"/>
                  </a:rPr>
                  <a:t>试点坐标的变换</a:t>
                </a:r>
              </a:p>
              <a:p>
                <a:pPr indent="266700" algn="just">
                  <a:lnSpc>
                    <a:spcPct val="150000"/>
                  </a:lnSpc>
                </a:pPr>
                <a:r>
                  <a:rPr lang="en-US" altLang="zh-CN" sz="2800" kern="100" dirty="0">
                    <a:effectLst/>
                    <a:latin typeface="Times New Roman" panose="02020603050405020304" pitchFamily="18" charset="0"/>
                    <a:ea typeface="宋体" panose="02010600030101010101" pitchFamily="2" charset="-122"/>
                  </a:rPr>
                  <a:t>       </a:t>
                </a:r>
                <a:r>
                  <a:rPr lang="zh-CN" altLang="zh-CN" sz="2800" kern="100" dirty="0">
                    <a:effectLst/>
                    <a:latin typeface="Times New Roman" panose="02020603050405020304" pitchFamily="18" charset="0"/>
                    <a:ea typeface="宋体" panose="02010600030101010101" pitchFamily="2" charset="-122"/>
                  </a:rPr>
                  <a:t>在新区间</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Times New Roman" panose="02020603050405020304" pitchFamily="18" charset="0"/>
                    <a:ea typeface="宋体" panose="02010600030101010101" pitchFamily="2" charset="-122"/>
                  </a:rPr>
                  <a:t>上，</a:t>
                </a:r>
              </a:p>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 </m:t>
                      </m:r>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oMath>
                  </m:oMathPara>
                </a14:m>
                <a:endParaRPr lang="zh-CN" altLang="zh-CN" sz="2800" kern="100" dirty="0">
                  <a:effectLst/>
                  <a:latin typeface="Times New Roman" panose="02020603050405020304" pitchFamily="18" charset="0"/>
                  <a:ea typeface="宋体" panose="02010600030101010101" pitchFamily="2" charset="-122"/>
                </a:endParaRPr>
              </a:p>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+0.38</m:t>
                      </m:r>
                      <m:r>
                        <a:rPr lang="en-US" altLang="zh-CN" sz="2800" b="0" i="1" kern="100" smtClean="0">
                          <a:effectLst/>
                          <a:latin typeface="Cambria Math" panose="02040503050406030204" pitchFamily="18" charset="0"/>
                          <a:ea typeface="宋体" panose="02010600030101010101" pitchFamily="2" charset="-122"/>
                        </a:rPr>
                        <m:t>2</m:t>
                      </m:r>
                      <m:d>
                        <m:dPr>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e>
                      </m:d>
                    </m:oMath>
                  </m:oMathPara>
                </a14:m>
                <a:endParaRPr lang="zh-CN" altLang="zh-CN" sz="2800" kern="100" dirty="0">
                  <a:effectLst/>
                  <a:latin typeface="Times New Roman" panose="02020603050405020304" pitchFamily="18" charset="0"/>
                  <a:ea typeface="宋体" panose="02010600030101010101" pitchFamily="2" charset="-122"/>
                </a:endParaRPr>
              </a:p>
              <a:p>
                <a:pPr indent="190500" algn="just">
                  <a:lnSpc>
                    <a:spcPct val="150000"/>
                  </a:lnSpc>
                </a:pPr>
                <a:r>
                  <a:rPr lang="en-US" altLang="zh-CN" sz="2800" kern="100" dirty="0">
                    <a:effectLst/>
                    <a:latin typeface="Times New Roman" panose="02020603050405020304" pitchFamily="18" charset="0"/>
                    <a:ea typeface="宋体" panose="02010600030101010101" pitchFamily="2" charset="-122"/>
                  </a:rPr>
                  <a:t>        </a:t>
                </a:r>
                <a:r>
                  <a:rPr lang="zh-CN" altLang="zh-CN" sz="2800" kern="100" dirty="0">
                    <a:effectLst/>
                    <a:latin typeface="Times New Roman" panose="02020603050405020304" pitchFamily="18" charset="0"/>
                    <a:ea typeface="宋体" panose="02010600030101010101" pitchFamily="2" charset="-122"/>
                  </a:rPr>
                  <a:t>再计算出</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oMath>
                </a14:m>
                <a:endParaRPr lang="zh-CN" altLang="zh-CN" sz="2800" kern="100" dirty="0">
                  <a:effectLst/>
                  <a:latin typeface="Times New Roman" panose="02020603050405020304" pitchFamily="18" charset="0"/>
                  <a:ea typeface="宋体" panose="02010600030101010101" pitchFamily="2" charset="-122"/>
                </a:endParaRPr>
              </a:p>
              <a:p>
                <a:pPr indent="190500" algn="just">
                  <a:lnSpc>
                    <a:spcPct val="150000"/>
                  </a:lnSpc>
                </a:pPr>
                <a:r>
                  <a:rPr lang="en-US" altLang="zh-CN" sz="2800" kern="100" dirty="0">
                    <a:effectLst/>
                    <a:latin typeface="Times New Roman" panose="02020603050405020304" pitchFamily="18" charset="0"/>
                    <a:ea typeface="宋体" panose="02010600030101010101" pitchFamily="2" charset="-122"/>
                  </a:rPr>
                  <a:t> (4)</a:t>
                </a:r>
                <a:r>
                  <a:rPr lang="zh-CN" altLang="zh-CN" sz="2800" kern="100" dirty="0">
                    <a:effectLst/>
                    <a:latin typeface="Times New Roman" panose="02020603050405020304" pitchFamily="18" charset="0"/>
                    <a:ea typeface="宋体" panose="02010600030101010101" pitchFamily="2" charset="-122"/>
                  </a:rPr>
                  <a:t>令</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oMath>
                </a14:m>
                <a:r>
                  <a:rPr lang="zh-CN" altLang="zh-CN" sz="2800" kern="100" dirty="0">
                    <a:effectLst/>
                    <a:latin typeface="Times New Roman" panose="02020603050405020304" pitchFamily="18" charset="0"/>
                    <a:ea typeface="宋体" panose="02010600030101010101" pitchFamily="2" charset="-122"/>
                  </a:rPr>
                  <a:t>，返回步骤</a:t>
                </a:r>
                <a:r>
                  <a:rPr lang="en-US" altLang="zh-CN" sz="2800" kern="100" dirty="0">
                    <a:effectLst/>
                    <a:latin typeface="Times New Roman" panose="02020603050405020304" pitchFamily="18" charset="0"/>
                    <a:ea typeface="宋体" panose="02010600030101010101" pitchFamily="2" charset="-122"/>
                  </a:rPr>
                  <a:t>3</a:t>
                </a:r>
                <a:endParaRPr lang="zh-CN" altLang="zh-CN" sz="2800" kern="100" dirty="0">
                  <a:effectLst/>
                  <a:latin typeface="Times New Roman" panose="02020603050405020304" pitchFamily="18" charset="0"/>
                  <a:ea typeface="宋体" panose="02010600030101010101" pitchFamily="2" charset="-122"/>
                </a:endParaRPr>
              </a:p>
            </p:txBody>
          </p:sp>
        </mc:Choice>
        <mc:Fallback xmlns="">
          <p:sp>
            <p:nvSpPr>
              <p:cNvPr id="4" name="文本框 3">
                <a:extLst>
                  <a:ext uri="{FF2B5EF4-FFF2-40B4-BE49-F238E27FC236}">
                    <a16:creationId xmlns:a16="http://schemas.microsoft.com/office/drawing/2014/main" id="{D246CFB7-971A-FCC2-994A-9882A3C5C35A}"/>
                  </a:ext>
                </a:extLst>
              </p:cNvPr>
              <p:cNvSpPr txBox="1">
                <a:spLocks noRot="1" noChangeAspect="1" noMove="1" noResize="1" noEditPoints="1" noAdjustHandles="1" noChangeArrowheads="1" noChangeShapeType="1" noTextEdit="1"/>
              </p:cNvSpPr>
              <p:nvPr/>
            </p:nvSpPr>
            <p:spPr>
              <a:xfrm>
                <a:off x="839416" y="476672"/>
                <a:ext cx="11233248" cy="3888500"/>
              </a:xfrm>
              <a:prstGeom prst="rect">
                <a:avLst/>
              </a:prstGeom>
              <a:blipFill>
                <a:blip r:embed="rId2"/>
                <a:stretch>
                  <a:fillRect b="-360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58B698A8-84CC-172B-8C14-6D3F0958A0A7}"/>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extLst>
      <p:ext uri="{BB962C8B-B14F-4D97-AF65-F5344CB8AC3E}">
        <p14:creationId xmlns:p14="http://schemas.microsoft.com/office/powerpoint/2010/main" val="3573932150"/>
      </p:ext>
    </p:extLst>
  </p:cSld>
  <p:clrMapOvr>
    <a:masterClrMapping/>
  </p:clrMapOvr>
  <p:transition>
    <p:random/>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723258A-697C-32E2-24E1-A648F040B331}"/>
                  </a:ext>
                </a:extLst>
              </p:cNvPr>
              <p:cNvSpPr txBox="1"/>
              <p:nvPr/>
            </p:nvSpPr>
            <p:spPr>
              <a:xfrm>
                <a:off x="1271464" y="548680"/>
                <a:ext cx="9721080" cy="5551328"/>
              </a:xfrm>
              <a:prstGeom prst="rect">
                <a:avLst/>
              </a:prstGeom>
              <a:noFill/>
            </p:spPr>
            <p:txBody>
              <a:bodyPr wrap="square">
                <a:spAutoFit/>
              </a:bodyPr>
              <a:lstStyle>
                <a:defPPr>
                  <a:defRPr lang="zh-CN"/>
                </a:defPPr>
                <a:lvl1pPr indent="266700" algn="just">
                  <a:lnSpc>
                    <a:spcPct val="150000"/>
                  </a:lnSpc>
                  <a:defRPr sz="2800" kern="100">
                    <a:effectLst/>
                    <a:latin typeface="宋体" panose="02010600030101010101" pitchFamily="2" charset="-122"/>
                    <a:ea typeface="宋体" panose="02010600030101010101" pitchFamily="2" charset="-122"/>
                  </a:defRPr>
                </a:lvl1pPr>
              </a:lstStyle>
              <a:p>
                <a:r>
                  <a:rPr lang="zh-CN" altLang="zh-CN" dirty="0">
                    <a:solidFill>
                      <a:srgbClr val="FF0000"/>
                    </a:solidFill>
                  </a:rPr>
                  <a:t>第二种情况</a:t>
                </a:r>
                <a:r>
                  <a:rPr lang="zh-CN" altLang="zh-CN" dirty="0"/>
                  <a:t>：当</a:t>
                </a:r>
                <a14:m>
                  <m:oMath xmlns:m="http://schemas.openxmlformats.org/officeDocument/2006/math">
                    <m:r>
                      <a:rPr lang="en-US" altLang="zh-CN">
                        <a:latin typeface="Cambria Math" panose="02040503050406030204" pitchFamily="18" charset="0"/>
                      </a:rPr>
                      <m:t>𝑓</m:t>
                    </m:r>
                    <m:d>
                      <m:dPr>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2</m:t>
                            </m:r>
                          </m:sub>
                        </m:sSub>
                      </m:e>
                    </m:d>
                    <m:r>
                      <a:rPr lang="en-US" altLang="zh-CN">
                        <a:latin typeface="Cambria Math" panose="02040503050406030204" pitchFamily="18" charset="0"/>
                      </a:rPr>
                      <m:t>≤</m:t>
                    </m:r>
                    <m:r>
                      <a:rPr lang="en-US" altLang="zh-CN">
                        <a:latin typeface="Cambria Math" panose="02040503050406030204" pitchFamily="18" charset="0"/>
                      </a:rPr>
                      <m:t>𝑓</m:t>
                    </m:r>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r>
                      <a:rPr lang="en-US" altLang="zh-CN">
                        <a:latin typeface="Cambria Math" panose="02040503050406030204" pitchFamily="18" charset="0"/>
                      </a:rPr>
                      <m:t>)</m:t>
                    </m:r>
                  </m:oMath>
                </a14:m>
                <a:r>
                  <a:rPr lang="zh-CN" altLang="zh-CN" dirty="0"/>
                  <a:t>时</a:t>
                </a:r>
                <a:r>
                  <a:rPr lang="zh-CN" altLang="en-US" dirty="0"/>
                  <a:t>，</a:t>
                </a:r>
                <a:r>
                  <a:rPr lang="zh-CN" altLang="zh-CN" dirty="0"/>
                  <a:t>第二种情况与第一种情况完全类似。因为</a:t>
                </a:r>
                <a14:m>
                  <m:oMath xmlns:m="http://schemas.openxmlformats.org/officeDocument/2006/math">
                    <m:r>
                      <a:rPr lang="en-US" altLang="zh-CN">
                        <a:latin typeface="Cambria Math" panose="02040503050406030204" pitchFamily="18" charset="0"/>
                      </a:rPr>
                      <m:t>𝑓</m:t>
                    </m:r>
                    <m:r>
                      <a:rPr lang="en-US" altLang="zh-CN">
                        <a:latin typeface="Cambria Math" panose="02040503050406030204" pitchFamily="18" charset="0"/>
                      </a:rPr>
                      <m:t>(</m:t>
                    </m:r>
                    <m:r>
                      <a:rPr lang="en-US" altLang="zh-CN">
                        <a:latin typeface="Cambria Math" panose="02040503050406030204" pitchFamily="18" charset="0"/>
                      </a:rPr>
                      <m:t>𝑥</m:t>
                    </m:r>
                    <m:r>
                      <a:rPr lang="en-US" altLang="zh-CN">
                        <a:latin typeface="Cambria Math" panose="02040503050406030204" pitchFamily="18" charset="0"/>
                      </a:rPr>
                      <m:t>)</m:t>
                    </m:r>
                  </m:oMath>
                </a14:m>
                <a:r>
                  <a:rPr lang="zh-CN" altLang="zh-CN" dirty="0"/>
                  <a:t>是单谷函数，故其极小点不可能在区间</a:t>
                </a:r>
                <a14:m>
                  <m:oMath xmlns:m="http://schemas.openxmlformats.org/officeDocument/2006/math">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rPr>
                              <m:t>𝑎</m:t>
                            </m:r>
                          </m:e>
                          <m:sub>
                            <m:r>
                              <a:rPr lang="en-US" altLang="zh-CN">
                                <a:latin typeface="Cambria Math" panose="02040503050406030204" pitchFamily="18" charset="0"/>
                              </a:rPr>
                              <m:t>𝑘</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e>
                    </m:d>
                  </m:oMath>
                </a14:m>
                <a:r>
                  <a:rPr lang="zh-CN" altLang="zh-CN" dirty="0"/>
                  <a:t>上，将原区间缩短为</a:t>
                </a:r>
                <a14:m>
                  <m:oMath xmlns:m="http://schemas.openxmlformats.org/officeDocument/2006/math">
                    <m:d>
                      <m:dPr>
                        <m:begChr m:val="["/>
                        <m:endChr m:val="]"/>
                        <m:ctrlPr>
                          <a:rPr lang="zh-CN" altLang="zh-CN" i="1">
                            <a:latin typeface="Cambria Math" panose="02040503050406030204" pitchFamily="18" charset="0"/>
                          </a:rPr>
                        </m:ctrlPr>
                      </m:dPr>
                      <m:e>
                        <m:sSub>
                          <m:sSubPr>
                            <m:ctrlPr>
                              <a:rPr lang="zh-CN"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𝑏</m:t>
                            </m:r>
                          </m:e>
                          <m:sub>
                            <m:r>
                              <a:rPr lang="en-US" altLang="zh-CN">
                                <a:latin typeface="Cambria Math" panose="02040503050406030204" pitchFamily="18" charset="0"/>
                              </a:rPr>
                              <m:t>𝑘</m:t>
                            </m:r>
                          </m:sub>
                        </m:sSub>
                      </m:e>
                    </m:d>
                  </m:oMath>
                </a14:m>
                <a:r>
                  <a:rPr lang="zh-CN" altLang="zh-CN" dirty="0"/>
                  <a:t>．</a:t>
                </a:r>
              </a:p>
              <a:p>
                <a:r>
                  <a:rPr lang="en-US" altLang="zh-CN" dirty="0"/>
                  <a:t>(1) </a:t>
                </a:r>
                <a:r>
                  <a:rPr lang="zh-CN" altLang="zh-CN" dirty="0"/>
                  <a:t>进行区间端点的置换．</a:t>
                </a:r>
              </a:p>
              <a:p>
                <a:r>
                  <a:rPr lang="en-US" altLang="zh-CN" dirty="0"/>
                  <a:t>    </a:t>
                </a:r>
                <a:r>
                  <a:rPr lang="zh-CN" altLang="zh-CN" dirty="0"/>
                  <a:t>令新的区间端点 </a:t>
                </a:r>
                <a14:m>
                  <m:oMath xmlns:m="http://schemas.openxmlformats.org/officeDocument/2006/math">
                    <m:sSub>
                      <m:sSubPr>
                        <m:ctrlPr>
                          <a:rPr lang="zh-CN" altLang="zh-CN" i="1">
                            <a:latin typeface="Cambria Math" panose="02040503050406030204" pitchFamily="18" charset="0"/>
                          </a:rPr>
                        </m:ctrlPr>
                      </m:sSubPr>
                      <m:e>
                        <m:r>
                          <a:rPr lang="en-US" altLang="zh-CN">
                            <a:latin typeface="Cambria Math" panose="02040503050406030204" pitchFamily="18" charset="0"/>
                          </a:rPr>
                          <m:t>𝑎</m:t>
                        </m:r>
                      </m:e>
                      <m:sub>
                        <m:r>
                          <a:rPr lang="en-US" altLang="zh-CN">
                            <a:latin typeface="Cambria Math" panose="02040503050406030204" pitchFamily="18" charset="0"/>
                          </a:rPr>
                          <m:t>𝑘</m:t>
                        </m:r>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𝑥</m:t>
                        </m:r>
                      </m:e>
                      <m:sub>
                        <m:r>
                          <a:rPr lang="en-US" altLang="zh-CN">
                            <a:latin typeface="Cambria Math" panose="02040503050406030204" pitchFamily="18" charset="0"/>
                          </a:rPr>
                          <m:t>1</m:t>
                        </m:r>
                      </m:sub>
                    </m:sSub>
                    <m:r>
                      <a:rPr lang="en-US" altLang="zh-CN">
                        <a:latin typeface="Cambria Math" panose="02040503050406030204" pitchFamily="18" charset="0"/>
                      </a:rPr>
                      <m:t>, </m:t>
                    </m:r>
                    <m:sSub>
                      <m:sSubPr>
                        <m:ctrlPr>
                          <a:rPr lang="zh-CN" altLang="zh-CN" i="1">
                            <a:latin typeface="Cambria Math" panose="02040503050406030204" pitchFamily="18" charset="0"/>
                          </a:rPr>
                        </m:ctrlPr>
                      </m:sSubPr>
                      <m:e>
                        <m:r>
                          <a:rPr lang="en-US" altLang="zh-CN">
                            <a:latin typeface="Cambria Math" panose="02040503050406030204" pitchFamily="18" charset="0"/>
                          </a:rPr>
                          <m:t>𝑏</m:t>
                        </m:r>
                      </m:e>
                      <m:sub>
                        <m:r>
                          <a:rPr lang="en-US" altLang="zh-CN">
                            <a:latin typeface="Cambria Math" panose="02040503050406030204" pitchFamily="18" charset="0"/>
                          </a:rPr>
                          <m:t>𝑘</m:t>
                        </m:r>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𝑏</m:t>
                        </m:r>
                      </m:e>
                      <m:sub>
                        <m:r>
                          <a:rPr lang="en-US" altLang="zh-CN">
                            <a:latin typeface="Cambria Math" panose="02040503050406030204" pitchFamily="18" charset="0"/>
                          </a:rPr>
                          <m:t>𝑘</m:t>
                        </m:r>
                      </m:sub>
                    </m:sSub>
                  </m:oMath>
                </a14:m>
                <a:endParaRPr lang="zh-CN" altLang="zh-CN" dirty="0"/>
              </a:p>
              <a:p>
                <a:r>
                  <a:rPr lang="en-US" altLang="zh-CN" dirty="0"/>
                  <a:t>(2) </a:t>
                </a:r>
                <a:r>
                  <a:rPr lang="zh-CN" altLang="zh-CN" dirty="0"/>
                  <a:t>判断精度．</a:t>
                </a:r>
              </a:p>
              <a:p>
                <a:r>
                  <a:rPr lang="en-US" altLang="zh-CN" dirty="0"/>
                  <a:t>    </a:t>
                </a:r>
                <a:r>
                  <a:rPr lang="zh-CN" altLang="zh-CN" dirty="0"/>
                  <a:t>若</a:t>
                </a:r>
                <a14:m>
                  <m:oMath xmlns:m="http://schemas.openxmlformats.org/officeDocument/2006/math">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a:latin typeface="Cambria Math" panose="02040503050406030204" pitchFamily="18" charset="0"/>
                              </a:rPr>
                              <m:t>𝑏</m:t>
                            </m:r>
                          </m:e>
                          <m:sub>
                            <m:r>
                              <a:rPr lang="en-US" altLang="zh-CN">
                                <a:latin typeface="Cambria Math" panose="02040503050406030204" pitchFamily="18" charset="0"/>
                              </a:rPr>
                              <m:t>𝑘</m:t>
                            </m:r>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𝑎</m:t>
                            </m:r>
                          </m:e>
                          <m:sub>
                            <m:r>
                              <a:rPr lang="en-US" altLang="zh-CN">
                                <a:latin typeface="Cambria Math" panose="02040503050406030204" pitchFamily="18" charset="0"/>
                              </a:rPr>
                              <m:t>𝑘</m:t>
                            </m:r>
                            <m:r>
                              <a:rPr lang="en-US" altLang="zh-CN">
                                <a:latin typeface="Cambria Math" panose="02040503050406030204" pitchFamily="18" charset="0"/>
                              </a:rPr>
                              <m:t>+1</m:t>
                            </m:r>
                          </m:sub>
                        </m:sSub>
                      </m:num>
                      <m:den>
                        <m:sSub>
                          <m:sSubPr>
                            <m:ctrlPr>
                              <a:rPr lang="zh-CN" altLang="zh-CN" i="1">
                                <a:latin typeface="Cambria Math" panose="02040503050406030204" pitchFamily="18" charset="0"/>
                              </a:rPr>
                            </m:ctrlPr>
                          </m:sSubPr>
                          <m:e>
                            <m:r>
                              <a:rPr lang="en-US" altLang="zh-CN">
                                <a:latin typeface="Cambria Math" panose="02040503050406030204" pitchFamily="18" charset="0"/>
                              </a:rPr>
                              <m:t>𝑏</m:t>
                            </m:r>
                          </m:e>
                          <m:sub>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𝑎</m:t>
                            </m:r>
                          </m:e>
                          <m:sub>
                            <m:r>
                              <a:rPr lang="en-US" altLang="zh-CN">
                                <a:latin typeface="Cambria Math" panose="02040503050406030204" pitchFamily="18" charset="0"/>
                              </a:rPr>
                              <m:t>1</m:t>
                            </m:r>
                          </m:sub>
                        </m:sSub>
                      </m:den>
                    </m:f>
                    <m:r>
                      <a:rPr lang="en-US" altLang="zh-CN">
                        <a:latin typeface="Cambria Math" panose="02040503050406030204" pitchFamily="18" charset="0"/>
                      </a:rPr>
                      <m:t>&lt;</m:t>
                    </m:r>
                    <m:r>
                      <a:rPr lang="en-US" altLang="zh-CN">
                        <a:latin typeface="Cambria Math" panose="02040503050406030204" pitchFamily="18" charset="0"/>
                      </a:rPr>
                      <m:t>𝛿</m:t>
                    </m:r>
                  </m:oMath>
                </a14:m>
                <a:r>
                  <a:rPr lang="zh-CN" altLang="zh-CN" dirty="0"/>
                  <a:t>，则停止计算，可取</a:t>
                </a:r>
                <a14:m>
                  <m:oMath xmlns:m="http://schemas.openxmlformats.org/officeDocument/2006/math">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en-US" altLang="zh-CN">
                        <a:latin typeface="Cambria Math" panose="02040503050406030204" pitchFamily="18" charset="0"/>
                      </a:rPr>
                      <m:t>=</m:t>
                    </m:r>
                    <m:f>
                      <m:fPr>
                        <m:ctrlPr>
                          <a:rPr lang="zh-CN" altLang="zh-CN" i="1">
                            <a:latin typeface="Cambria Math" panose="02040503050406030204" pitchFamily="18" charset="0"/>
                          </a:rPr>
                        </m:ctrlPr>
                      </m:fPr>
                      <m:num>
                        <m:sSub>
                          <m:sSubPr>
                            <m:ctrlPr>
                              <a:rPr lang="zh-CN" altLang="zh-CN" i="1">
                                <a:latin typeface="Cambria Math" panose="02040503050406030204" pitchFamily="18" charset="0"/>
                              </a:rPr>
                            </m:ctrlPr>
                          </m:sSubPr>
                          <m:e>
                            <m:r>
                              <a:rPr lang="en-US" altLang="zh-CN">
                                <a:latin typeface="Cambria Math" panose="02040503050406030204" pitchFamily="18" charset="0"/>
                              </a:rPr>
                              <m:t>𝑎</m:t>
                            </m:r>
                          </m:e>
                          <m:sub>
                            <m:r>
                              <a:rPr lang="en-US" altLang="zh-CN">
                                <a:latin typeface="Cambria Math" panose="02040503050406030204" pitchFamily="18" charset="0"/>
                              </a:rPr>
                              <m:t>𝑘</m:t>
                            </m:r>
                            <m:r>
                              <a:rPr lang="en-US" altLang="zh-CN">
                                <a:latin typeface="Cambria Math" panose="02040503050406030204" pitchFamily="18" charset="0"/>
                              </a:rPr>
                              <m:t>+1</m:t>
                            </m:r>
                          </m:sub>
                        </m:sSub>
                        <m:r>
                          <a:rPr lang="en-US" altLang="zh-CN">
                            <a:latin typeface="Cambria Math" panose="02040503050406030204" pitchFamily="18" charset="0"/>
                          </a:rPr>
                          <m:t>+</m:t>
                        </m:r>
                        <m:sSub>
                          <m:sSubPr>
                            <m:ctrlPr>
                              <a:rPr lang="zh-CN" altLang="zh-CN" i="1">
                                <a:latin typeface="Cambria Math" panose="02040503050406030204" pitchFamily="18" charset="0"/>
                              </a:rPr>
                            </m:ctrlPr>
                          </m:sSubPr>
                          <m:e>
                            <m:r>
                              <a:rPr lang="en-US" altLang="zh-CN">
                                <a:latin typeface="Cambria Math" panose="02040503050406030204" pitchFamily="18" charset="0"/>
                              </a:rPr>
                              <m:t>𝑏</m:t>
                            </m:r>
                          </m:e>
                          <m:sub>
                            <m:r>
                              <a:rPr lang="en-US" altLang="zh-CN">
                                <a:latin typeface="Cambria Math" panose="02040503050406030204" pitchFamily="18" charset="0"/>
                              </a:rPr>
                              <m:t>𝑘</m:t>
                            </m:r>
                            <m:r>
                              <a:rPr lang="en-US" altLang="zh-CN">
                                <a:latin typeface="Cambria Math" panose="02040503050406030204" pitchFamily="18" charset="0"/>
                              </a:rPr>
                              <m:t>+1</m:t>
                            </m:r>
                          </m:sub>
                        </m:sSub>
                      </m:num>
                      <m:den>
                        <m:r>
                          <a:rPr lang="en-US" altLang="zh-CN">
                            <a:latin typeface="Cambria Math" panose="02040503050406030204" pitchFamily="18" charset="0"/>
                          </a:rPr>
                          <m:t>2</m:t>
                        </m:r>
                      </m:den>
                    </m:f>
                  </m:oMath>
                </a14:m>
                <a:r>
                  <a:rPr lang="zh-CN" altLang="zh-CN" dirty="0"/>
                  <a:t>为近似极小点，</a:t>
                </a:r>
                <a14:m>
                  <m:oMath xmlns:m="http://schemas.openxmlformats.org/officeDocument/2006/math">
                    <m:r>
                      <a:rPr lang="en-US" altLang="zh-CN">
                        <a:latin typeface="Cambria Math" panose="02040503050406030204" pitchFamily="18" charset="0"/>
                      </a:rPr>
                      <m:t>𝑓</m:t>
                    </m:r>
                    <m:r>
                      <a:rPr lang="en-US" altLang="zh-CN">
                        <a:latin typeface="Cambria Math" panose="02040503050406030204" pitchFamily="18" charset="0"/>
                      </a:rPr>
                      <m:t>(</m:t>
                    </m:r>
                    <m:sSup>
                      <m:sSupPr>
                        <m:ctrlPr>
                          <a:rPr lang="zh-CN" altLang="zh-CN" i="1">
                            <a:latin typeface="Cambria Math" panose="02040503050406030204" pitchFamily="18" charset="0"/>
                          </a:rPr>
                        </m:ctrlPr>
                      </m:sSupPr>
                      <m:e>
                        <m:r>
                          <a:rPr lang="en-US" altLang="zh-CN">
                            <a:latin typeface="Cambria Math" panose="02040503050406030204" pitchFamily="18" charset="0"/>
                          </a:rPr>
                          <m:t>𝑥</m:t>
                        </m:r>
                      </m:e>
                      <m:sup>
                        <m:r>
                          <a:rPr lang="en-US" altLang="zh-CN">
                            <a:latin typeface="Cambria Math" panose="02040503050406030204" pitchFamily="18" charset="0"/>
                          </a:rPr>
                          <m:t>∗</m:t>
                        </m:r>
                      </m:sup>
                    </m:sSup>
                    <m:r>
                      <a:rPr lang="en-US" altLang="zh-CN">
                        <a:latin typeface="Cambria Math" panose="02040503050406030204" pitchFamily="18" charset="0"/>
                      </a:rPr>
                      <m:t>)</m:t>
                    </m:r>
                  </m:oMath>
                </a14:m>
                <a:r>
                  <a:rPr lang="zh-CN" altLang="zh-CN" dirty="0"/>
                  <a:t>为近似极小值。否则，转下一步。</a:t>
                </a:r>
              </a:p>
            </p:txBody>
          </p:sp>
        </mc:Choice>
        <mc:Fallback xmlns="">
          <p:sp>
            <p:nvSpPr>
              <p:cNvPr id="5" name="文本框 4">
                <a:extLst>
                  <a:ext uri="{FF2B5EF4-FFF2-40B4-BE49-F238E27FC236}">
                    <a16:creationId xmlns:a16="http://schemas.microsoft.com/office/drawing/2014/main" id="{9723258A-697C-32E2-24E1-A648F040B331}"/>
                  </a:ext>
                </a:extLst>
              </p:cNvPr>
              <p:cNvSpPr txBox="1">
                <a:spLocks noRot="1" noChangeAspect="1" noMove="1" noResize="1" noEditPoints="1" noAdjustHandles="1" noChangeArrowheads="1" noChangeShapeType="1" noTextEdit="1"/>
              </p:cNvSpPr>
              <p:nvPr/>
            </p:nvSpPr>
            <p:spPr>
              <a:xfrm>
                <a:off x="1271464" y="548680"/>
                <a:ext cx="9721080" cy="5551328"/>
              </a:xfrm>
              <a:prstGeom prst="rect">
                <a:avLst/>
              </a:prstGeom>
              <a:blipFill>
                <a:blip r:embed="rId2"/>
                <a:stretch>
                  <a:fillRect l="-1317" r="-1317" b="-175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55392992"/>
      </p:ext>
    </p:extLst>
  </p:cSld>
  <p:clrMapOvr>
    <a:masterClrMapping/>
  </p:clrMapOvr>
  <p:transition>
    <p:rand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102CDC52-B67B-537F-57DE-DE879AE2453F}"/>
                  </a:ext>
                </a:extLst>
              </p:cNvPr>
              <p:cNvSpPr txBox="1"/>
              <p:nvPr/>
            </p:nvSpPr>
            <p:spPr>
              <a:xfrm>
                <a:off x="1343472" y="980728"/>
                <a:ext cx="8449385" cy="3869329"/>
              </a:xfrm>
              <a:prstGeom prst="rect">
                <a:avLst/>
              </a:prstGeom>
              <a:noFill/>
            </p:spPr>
            <p:txBody>
              <a:bodyPr wrap="square">
                <a:spAutoFit/>
              </a:bodyPr>
              <a:lstStyle/>
              <a:p>
                <a:pPr indent="266700" algn="just">
                  <a:lnSpc>
                    <a:spcPct val="150000"/>
                  </a:lnSpc>
                </a:pPr>
                <a:r>
                  <a:rPr lang="en-US" altLang="zh-CN" sz="2800" kern="100" dirty="0">
                    <a:effectLst/>
                    <a:latin typeface="宋体" panose="02010600030101010101" pitchFamily="2" charset="-122"/>
                    <a:ea typeface="宋体" panose="02010600030101010101" pitchFamily="2" charset="-122"/>
                  </a:rPr>
                  <a:t>(3) </a:t>
                </a:r>
                <a:r>
                  <a:rPr lang="zh-CN" altLang="zh-CN" sz="2800" kern="100" dirty="0">
                    <a:effectLst/>
                    <a:latin typeface="宋体" panose="02010600030101010101" pitchFamily="2" charset="-122"/>
                    <a:ea typeface="宋体" panose="02010600030101010101" pitchFamily="2" charset="-122"/>
                  </a:rPr>
                  <a:t>试点坐标的变换．</a:t>
                </a:r>
              </a:p>
              <a:p>
                <a:pPr indent="266700" algn="just">
                  <a:lnSpc>
                    <a:spcPct val="150000"/>
                  </a:lnSpc>
                </a:pPr>
                <a:r>
                  <a:rPr lang="en-US" altLang="zh-CN" sz="2800" kern="100" dirty="0">
                    <a:effectLst/>
                    <a:latin typeface="宋体" panose="02010600030101010101" pitchFamily="2" charset="-122"/>
                    <a:ea typeface="宋体" panose="02010600030101010101" pitchFamily="2" charset="-122"/>
                  </a:rPr>
                  <a:t>    </a:t>
                </a:r>
                <a:r>
                  <a:rPr lang="zh-CN" altLang="zh-CN" sz="2800" kern="100" dirty="0">
                    <a:effectLst/>
                    <a:latin typeface="宋体" panose="02010600030101010101" pitchFamily="2" charset="-122"/>
                    <a:ea typeface="宋体" panose="02010600030101010101" pitchFamily="2" charset="-122"/>
                  </a:rPr>
                  <a:t>在新区间</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宋体" panose="02010600030101010101" pitchFamily="2" charset="-122"/>
                    <a:ea typeface="宋体" panose="02010600030101010101" pitchFamily="2" charset="-122"/>
                  </a:rPr>
                  <a:t>上，</a:t>
                </a:r>
              </a:p>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 </m:t>
                      </m:r>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m:t>
                      </m:r>
                    </m:oMath>
                  </m:oMathPara>
                </a14:m>
                <a:endParaRPr lang="zh-CN" altLang="zh-CN" sz="2800" kern="100" dirty="0">
                  <a:effectLst/>
                  <a:latin typeface="宋体" panose="02010600030101010101" pitchFamily="2" charset="-122"/>
                  <a:ea typeface="宋体" panose="02010600030101010101" pitchFamily="2" charset="-122"/>
                </a:endParaRPr>
              </a:p>
              <a:p>
                <a:pPr indent="266700" algn="just">
                  <a:lnSpc>
                    <a:spcPct val="150000"/>
                  </a:lnSpc>
                </a:pPr>
                <a14:m>
                  <m:oMathPara xmlns:m="http://schemas.openxmlformats.org/officeDocument/2006/math">
                    <m:oMathParaPr>
                      <m:jc m:val="centerGroup"/>
                    </m:oMathParaPr>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+0.618(</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𝑘</m:t>
                          </m:r>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oMath>
                  </m:oMathPara>
                </a14:m>
                <a:endParaRPr lang="zh-CN" altLang="zh-CN" sz="2800" kern="100" dirty="0">
                  <a:effectLst/>
                  <a:latin typeface="宋体" panose="02010600030101010101" pitchFamily="2" charset="-122"/>
                  <a:ea typeface="宋体" panose="02010600030101010101" pitchFamily="2" charset="-122"/>
                </a:endParaRPr>
              </a:p>
              <a:p>
                <a:pPr indent="266700" algn="just">
                  <a:lnSpc>
                    <a:spcPct val="150000"/>
                  </a:lnSpc>
                </a:pPr>
                <a:r>
                  <a:rPr lang="en-US" altLang="zh-CN" sz="2800" kern="100" dirty="0">
                    <a:effectLst/>
                    <a:latin typeface="宋体" panose="02010600030101010101" pitchFamily="2" charset="-122"/>
                    <a:ea typeface="宋体" panose="02010600030101010101" pitchFamily="2" charset="-122"/>
                  </a:rPr>
                  <a:t>    </a:t>
                </a:r>
                <a:r>
                  <a:rPr lang="zh-CN" altLang="zh-CN" sz="2800" kern="100" dirty="0">
                    <a:effectLst/>
                    <a:latin typeface="宋体" panose="02010600030101010101" pitchFamily="2" charset="-122"/>
                    <a:ea typeface="宋体" panose="02010600030101010101" pitchFamily="2" charset="-122"/>
                  </a:rPr>
                  <a:t>再计算出</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𝑓</m:t>
                    </m:r>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𝑥</m:t>
                        </m:r>
                      </m:e>
                      <m:sub>
                        <m:r>
                          <a:rPr lang="en-US" altLang="zh-CN" sz="2800" i="1" kern="100">
                            <a:effectLst/>
                            <a:latin typeface="Cambria Math" panose="02040503050406030204" pitchFamily="18" charset="0"/>
                            <a:ea typeface="宋体" panose="02010600030101010101" pitchFamily="2" charset="-122"/>
                          </a:rPr>
                          <m:t>2</m:t>
                        </m:r>
                      </m:sub>
                    </m:sSub>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effectLst/>
                    <a:latin typeface="宋体" panose="02010600030101010101" pitchFamily="2" charset="-122"/>
                    <a:ea typeface="宋体" panose="02010600030101010101" pitchFamily="2" charset="-122"/>
                  </a:rPr>
                  <a:t>。</a:t>
                </a:r>
              </a:p>
              <a:p>
                <a:pPr indent="266700" algn="just">
                  <a:lnSpc>
                    <a:spcPct val="150000"/>
                  </a:lnSpc>
                </a:pPr>
                <a:r>
                  <a:rPr lang="en-US" altLang="zh-CN" sz="2800" kern="100">
                    <a:effectLst/>
                    <a:latin typeface="宋体" panose="02010600030101010101" pitchFamily="2" charset="-122"/>
                    <a:ea typeface="宋体" panose="02010600030101010101" pitchFamily="2" charset="-122"/>
                  </a:rPr>
                  <a:t>(4)</a:t>
                </a:r>
                <a:r>
                  <a:rPr lang="zh-CN" altLang="zh-CN" sz="2800" kern="100" dirty="0">
                    <a:effectLst/>
                    <a:latin typeface="宋体" panose="02010600030101010101" pitchFamily="2" charset="-122"/>
                    <a:ea typeface="宋体" panose="02010600030101010101" pitchFamily="2" charset="-122"/>
                  </a:rPr>
                  <a:t>令</a:t>
                </a:r>
                <a14:m>
                  <m:oMath xmlns:m="http://schemas.openxmlformats.org/officeDocument/2006/math">
                    <m:r>
                      <a:rPr lang="en-US" altLang="zh-CN" sz="2800" b="0" i="1" kern="100" smtClean="0">
                        <a:effectLst/>
                        <a:latin typeface="Cambria Math" panose="02040503050406030204" pitchFamily="18" charset="0"/>
                        <a:ea typeface="Cambria Math" panose="02040503050406030204" pitchFamily="18" charset="0"/>
                      </a:rPr>
                      <m:t>𝑘</m:t>
                    </m:r>
                    <m:r>
                      <a:rPr lang="en-US" altLang="zh-CN" sz="2800" b="0" i="1" kern="100" smtClean="0">
                        <a:effectLst/>
                        <a:latin typeface="Cambria Math" panose="02040503050406030204" pitchFamily="18" charset="0"/>
                        <a:ea typeface="Cambria Math" panose="02040503050406030204" pitchFamily="18" charset="0"/>
                      </a:rPr>
                      <m:t>=</m:t>
                    </m:r>
                    <m:r>
                      <a:rPr lang="en-US" altLang="zh-CN" sz="2800" b="0" i="1" kern="100" smtClean="0">
                        <a:effectLst/>
                        <a:latin typeface="Cambria Math" panose="02040503050406030204" pitchFamily="18" charset="0"/>
                        <a:ea typeface="Cambria Math" panose="02040503050406030204" pitchFamily="18" charset="0"/>
                      </a:rPr>
                      <m:t>𝑘</m:t>
                    </m:r>
                    <m:r>
                      <a:rPr lang="en-US" altLang="zh-CN" sz="2800" b="0" i="1" kern="100" smtClean="0">
                        <a:effectLst/>
                        <a:latin typeface="Cambria Math" panose="02040503050406030204" pitchFamily="18" charset="0"/>
                        <a:ea typeface="Cambria Math" panose="02040503050406030204" pitchFamily="18" charset="0"/>
                      </a:rPr>
                      <m:t>+1</m:t>
                    </m:r>
                  </m:oMath>
                </a14:m>
                <a:r>
                  <a:rPr lang="zh-CN" altLang="zh-CN" sz="2800" kern="100" dirty="0">
                    <a:effectLst/>
                    <a:latin typeface="宋体" panose="02010600030101010101" pitchFamily="2" charset="-122"/>
                    <a:ea typeface="宋体" panose="02010600030101010101" pitchFamily="2" charset="-122"/>
                  </a:rPr>
                  <a:t>，返回步骤</a:t>
                </a:r>
                <a:r>
                  <a:rPr lang="en-US" altLang="zh-CN" sz="2800" kern="100" dirty="0">
                    <a:effectLst/>
                    <a:latin typeface="宋体" panose="02010600030101010101" pitchFamily="2" charset="-122"/>
                    <a:ea typeface="宋体" panose="02010600030101010101" pitchFamily="2" charset="-122"/>
                  </a:rPr>
                  <a:t>3</a:t>
                </a:r>
                <a:endParaRPr lang="zh-CN" altLang="zh-CN" sz="2800" kern="100" dirty="0">
                  <a:effectLst/>
                  <a:latin typeface="宋体" panose="02010600030101010101" pitchFamily="2" charset="-122"/>
                  <a:ea typeface="宋体" panose="02010600030101010101" pitchFamily="2" charset="-122"/>
                </a:endParaRPr>
              </a:p>
            </p:txBody>
          </p:sp>
        </mc:Choice>
        <mc:Fallback xmlns="">
          <p:sp>
            <p:nvSpPr>
              <p:cNvPr id="3" name="文本框 2">
                <a:extLst>
                  <a:ext uri="{FF2B5EF4-FFF2-40B4-BE49-F238E27FC236}">
                    <a16:creationId xmlns:a16="http://schemas.microsoft.com/office/drawing/2014/main" id="{102CDC52-B67B-537F-57DE-DE879AE2453F}"/>
                  </a:ext>
                </a:extLst>
              </p:cNvPr>
              <p:cNvSpPr txBox="1">
                <a:spLocks noRot="1" noChangeAspect="1" noMove="1" noResize="1" noEditPoints="1" noAdjustHandles="1" noChangeArrowheads="1" noChangeShapeType="1" noTextEdit="1"/>
              </p:cNvSpPr>
              <p:nvPr/>
            </p:nvSpPr>
            <p:spPr>
              <a:xfrm>
                <a:off x="1343472" y="980728"/>
                <a:ext cx="8449385" cy="3869329"/>
              </a:xfrm>
              <a:prstGeom prst="rect">
                <a:avLst/>
              </a:prstGeom>
              <a:blipFill>
                <a:blip r:embed="rId2"/>
                <a:stretch>
                  <a:fillRect b="-346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1B50B89C-5E62-ABF3-20C7-F4403F0AF955}"/>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extLst>
      <p:ext uri="{BB962C8B-B14F-4D97-AF65-F5344CB8AC3E}">
        <p14:creationId xmlns:p14="http://schemas.microsoft.com/office/powerpoint/2010/main" val="3888052080"/>
      </p:ext>
    </p:extLst>
  </p:cSld>
  <p:clrMapOvr>
    <a:masterClrMapping/>
  </p:clrMapOvr>
  <p:transition>
    <p:random/>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577F169-FA5A-4E91-9E69-000846C672CA}"/>
                  </a:ext>
                </a:extLst>
              </p:cNvPr>
              <p:cNvSpPr txBox="1"/>
              <p:nvPr/>
            </p:nvSpPr>
            <p:spPr>
              <a:xfrm>
                <a:off x="263352" y="171217"/>
                <a:ext cx="10513168" cy="6521272"/>
              </a:xfrm>
              <a:prstGeom prst="rect">
                <a:avLst/>
              </a:prstGeom>
              <a:noFill/>
            </p:spPr>
            <p:txBody>
              <a:bodyPr wrap="square">
                <a:spAutoFit/>
              </a:bodyPr>
              <a:lstStyle/>
              <a:p>
                <a:pPr algn="just">
                  <a:lnSpc>
                    <a:spcPct val="125000"/>
                  </a:lnSpc>
                </a:pPr>
                <a:r>
                  <a:rPr lang="zh-CN" altLang="zh-CN" sz="24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算法</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a:t>
                </a:r>
              </a:p>
              <a:p>
                <a:pPr algn="just">
                  <a:lnSpc>
                    <a:spcPct val="125000"/>
                  </a:lnSpc>
                </a:pP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输入：</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𝑎</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𝑏</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d>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𝜇</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=0.618,</m:t>
                    </m:r>
                    <m:r>
                      <a:rPr lang="en-US" altLang="zh-CN" sz="2400" i="1" kern="100">
                        <a:latin typeface="Cambria Math" panose="02040503050406030204" pitchFamily="18" charset="0"/>
                        <a:cs typeface="Times New Roman" panose="02020603050405020304" pitchFamily="18" charset="0"/>
                      </a:rPr>
                      <m:t>𝑡𝑜𝑙</m:t>
                    </m:r>
                  </m:oMath>
                </a14:m>
                <a:endParaRPr lang="en-US" altLang="zh-CN" sz="2400" i="1" kern="100" dirty="0">
                  <a:latin typeface="Cambria Math" panose="02040503050406030204" pitchFamily="18" charset="0"/>
                  <a:cs typeface="Times New Roman" panose="02020603050405020304" pitchFamily="18" charset="0"/>
                </a:endParaRPr>
              </a:p>
              <a:p>
                <a:pPr algn="just">
                  <a:lnSpc>
                    <a:spcPct val="125000"/>
                  </a:lnSpc>
                </a:pPr>
                <a:r>
                  <a:rPr lang="en-US" altLang="zh-CN" sz="2400"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400"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𝑎</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𝜇</m:t>
                        </m:r>
                      </m:e>
                    </m:d>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𝑏</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𝑎</m:t>
                        </m:r>
                      </m:e>
                    </m:d>
                    <m:r>
                      <a:rPr lang="en-US" altLang="zh-CN" sz="2400" b="0" i="0" kern="100" smtClean="0">
                        <a:latin typeface="Cambria Math" panose="02040503050406030204" pitchFamily="18" charset="0"/>
                        <a:ea typeface="等线" panose="02010600030101010101" pitchFamily="2" charset="-122"/>
                        <a:cs typeface="Times New Roman" panose="02020603050405020304" pitchFamily="18" charset="0"/>
                      </a:rPr>
                      <m:t> </m:t>
                    </m:r>
                  </m:oMath>
                </a14:m>
                <a:endParaRPr lang="en-US" altLang="zh-CN" sz="2400" b="0" i="0" kern="100" dirty="0">
                  <a:latin typeface="Cambria Math" panose="02040503050406030204" pitchFamily="18" charset="0"/>
                  <a:ea typeface="等线" panose="02010600030101010101" pitchFamily="2" charset="-122"/>
                  <a:cs typeface="Times New Roman" panose="02020603050405020304" pitchFamily="18" charset="0"/>
                </a:endParaRPr>
              </a:p>
              <a:p>
                <a:pPr algn="just">
                  <a:lnSpc>
                    <a:spcPct val="125000"/>
                  </a:lnSpc>
                </a:pPr>
                <a:r>
                  <a:rPr lang="en-US" altLang="zh-CN" sz="2400"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𝑎</m:t>
                    </m:r>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𝜇</m:t>
                    </m:r>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𝑏</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𝑎</m:t>
                    </m:r>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pPr>
                <a:r>
                  <a:rPr lang="en-US" altLang="zh-CN" sz="2400" kern="100">
                    <a:latin typeface="等线" panose="02010600030101010101" pitchFamily="2" charset="-122"/>
                    <a:ea typeface="等线" panose="02010600030101010101" pitchFamily="2" charset="-122"/>
                    <a:cs typeface="Times New Roman" panose="02020603050405020304" pitchFamily="18" charset="0"/>
                  </a:rPr>
                  <a:t>        </a:t>
                </a:r>
                <a:r>
                  <a:rPr lang="en-US" altLang="zh-CN" sz="2400" kern="100" dirty="0">
                    <a:solidFill>
                      <a:schemeClr val="accent1"/>
                    </a:solidFill>
                    <a:latin typeface="等线" panose="02010600030101010101" pitchFamily="2" charset="-122"/>
                    <a:ea typeface="等线" panose="02010600030101010101" pitchFamily="2" charset="-122"/>
                    <a:cs typeface="Times New Roman" panose="02020603050405020304" pitchFamily="18" charset="0"/>
                  </a:rPr>
                  <a:t>w</a:t>
                </a:r>
                <a:r>
                  <a:rPr lang="en-US" altLang="zh-CN" sz="2400" kern="100">
                    <a:solidFill>
                      <a:schemeClr val="accent1"/>
                    </a:solidFill>
                    <a:latin typeface="等线" panose="02010600030101010101" pitchFamily="2" charset="-122"/>
                    <a:ea typeface="等线" panose="02010600030101010101" pitchFamily="2" charset="-122"/>
                    <a:cs typeface="Times New Roman" panose="02020603050405020304" pitchFamily="18" charset="0"/>
                  </a:rPr>
                  <a:t>hile</a:t>
                </a:r>
                <a:r>
                  <a:rPr lang="en-US" altLang="zh-CN" sz="2400" kern="100">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d>
                      <m:dPr>
                        <m:begChr m:val="|"/>
                        <m:end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𝑏</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𝑎</m:t>
                        </m:r>
                      </m:e>
                    </m:d>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𝑡𝑜𝑙</m:t>
                    </m:r>
                  </m:oMath>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266700" algn="just">
                  <a:lnSpc>
                    <a:spcPct val="125000"/>
                  </a:lnSpc>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2400" kern="100" dirty="0">
                    <a:solidFill>
                      <a:schemeClr val="accent1"/>
                    </a:solidFill>
                    <a:latin typeface="等线" panose="02010600030101010101" pitchFamily="2" charset="-122"/>
                    <a:ea typeface="等线" panose="02010600030101010101" pitchFamily="2" charset="-122"/>
                    <a:cs typeface="Times New Roman" panose="02020603050405020304" pitchFamily="18" charset="0"/>
                  </a:rPr>
                  <a:t>   If </a:t>
                </a:r>
                <a14:m>
                  <m:oMath xmlns:m="http://schemas.openxmlformats.org/officeDocument/2006/math">
                    <m:r>
                      <a:rPr lang="en-US" altLang="zh-CN" sz="2400" i="1" kern="100">
                        <a:solidFill>
                          <a:schemeClr val="accent1"/>
                        </a:solidFill>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533400" indent="533400" algn="just">
                  <a:lnSpc>
                    <a:spcPct val="125000"/>
                  </a:lnSpc>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𝑎</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𝑓</m:t>
                        </m:r>
                        <m:r>
                          <a:rPr lang="en-US" altLang="zh-CN" sz="2400" i="1"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𝑥</m:t>
                        </m:r>
                      </m:e>
                      <m:sub>
                        <m:r>
                          <a:rPr lang="en-US" altLang="zh-CN" sz="2400" i="1" kern="100">
                            <a:latin typeface="Cambria Math" panose="02040503050406030204" pitchFamily="18" charset="0"/>
                            <a:cs typeface="Times New Roman" panose="02020603050405020304" pitchFamily="18" charset="0"/>
                          </a:rPr>
                          <m:t>1</m:t>
                        </m:r>
                      </m:sub>
                    </m:sSub>
                    <m:r>
                      <a:rPr lang="en-US" altLang="zh-CN" sz="2400" i="1" kern="100">
                        <a:latin typeface="Cambria Math" panose="02040503050406030204" pitchFamily="18" charset="0"/>
                        <a:cs typeface="Times New Roman" panose="02020603050405020304" pitchFamily="18" charset="0"/>
                      </a:rPr>
                      <m:t>)</m:t>
                    </m:r>
                    <m:r>
                      <a:rPr lang="en-US" altLang="zh-CN" sz="2400" b="0" i="1" kern="100" smtClean="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𝑓</m:t>
                    </m:r>
                    <m:d>
                      <m:dPr>
                        <m:ctrlPr>
                          <a:rPr lang="en-US" altLang="zh-CN" sz="2400" i="1" kern="100">
                            <a:latin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𝑥</m:t>
                            </m:r>
                          </m:e>
                          <m:sub>
                            <m:r>
                              <a:rPr lang="en-US" altLang="zh-CN" sz="2400" i="1" kern="100">
                                <a:latin typeface="Cambria Math" panose="02040503050406030204" pitchFamily="18" charset="0"/>
                                <a:cs typeface="Times New Roman" panose="02020603050405020304" pitchFamily="18" charset="0"/>
                              </a:rPr>
                              <m:t>2</m:t>
                            </m:r>
                          </m:sub>
                        </m:sSub>
                      </m:e>
                    </m:d>
                    <m:r>
                      <a:rPr lang="en-US" altLang="zh-CN" sz="2400" b="0" i="1" kern="100" smtClean="0">
                        <a:latin typeface="Cambria Math" panose="02040503050406030204" pitchFamily="18" charset="0"/>
                        <a:cs typeface="Times New Roman" panose="02020603050405020304" pitchFamily="18" charset="0"/>
                      </a:rPr>
                      <m:t>,</m:t>
                    </m:r>
                  </m:oMath>
                </a14:m>
                <a:r>
                  <a:rPr lang="zh-CN" altLang="zh-CN" sz="2400"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𝑥</m:t>
                        </m:r>
                      </m:e>
                      <m:sub>
                        <m:r>
                          <a:rPr lang="en-US" altLang="zh-CN" sz="2400" kern="100">
                            <a:latin typeface="Cambria Math" panose="02040503050406030204" pitchFamily="18" charset="0"/>
                            <a:cs typeface="Times New Roman" panose="02020603050405020304" pitchFamily="18" charset="0"/>
                          </a:rPr>
                          <m:t>2</m:t>
                        </m:r>
                      </m:sub>
                    </m:sSub>
                    <m:r>
                      <a:rPr lang="en-US" altLang="zh-CN" sz="2400"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𝑎</m:t>
                    </m:r>
                    <m:r>
                      <a:rPr lang="en-US" altLang="zh-CN" sz="2400"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𝜇</m:t>
                    </m:r>
                    <m:r>
                      <a:rPr lang="en-US" altLang="zh-CN" sz="2400"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𝑏</m:t>
                    </m:r>
                    <m:r>
                      <a:rPr lang="en-US" altLang="zh-CN" sz="2400" i="1"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𝑎</m:t>
                    </m:r>
                    <m:r>
                      <a:rPr lang="en-US" altLang="zh-CN" sz="2400" kern="100">
                        <a:latin typeface="Cambria Math" panose="02040503050406030204" pitchFamily="18" charset="0"/>
                        <a:cs typeface="Times New Roman" panose="02020603050405020304" pitchFamily="18" charset="0"/>
                      </a:rPr>
                      <m:t>)</m:t>
                    </m:r>
                  </m:oMath>
                </a14:m>
                <a:r>
                  <a:rPr lang="en-US" altLang="zh-CN" sz="2400" kern="100" dirty="0">
                    <a:latin typeface="等线" panose="02010600030101010101" pitchFamily="2" charset="-122"/>
                    <a:cs typeface="Times New Roman" panose="02020603050405020304" pitchFamily="18" charset="0"/>
                  </a:rPr>
                  <a:t> </a:t>
                </a:r>
              </a:p>
              <a:p>
                <a:pPr marL="533400" indent="533400" algn="just">
                  <a:lnSpc>
                    <a:spcPct val="125000"/>
                  </a:lnSpc>
                </a:pPr>
                <a:r>
                  <a:rPr lang="en-US" altLang="zh-CN" sz="2400" kern="100" dirty="0">
                    <a:latin typeface="等线" panose="02010600030101010101" pitchFamily="2" charset="-122"/>
                    <a:cs typeface="Times New Roman" panose="02020603050405020304" pitchFamily="18" charset="0"/>
                  </a:rPr>
                  <a:t>	</a:t>
                </a:r>
                <a:r>
                  <a:rPr lang="zh-CN" altLang="en-US" sz="2400" kern="100" dirty="0">
                    <a:latin typeface="等线" panose="02010600030101010101" pitchFamily="2" charset="-122"/>
                    <a:cs typeface="Times New Roman" panose="02020603050405020304" pitchFamily="18" charset="0"/>
                  </a:rPr>
                  <a:t>计算</a:t>
                </a:r>
                <a14:m>
                  <m:oMath xmlns:m="http://schemas.openxmlformats.org/officeDocument/2006/math">
                    <m:r>
                      <a:rPr lang="en-US" altLang="zh-CN" sz="2400" i="1" kern="100" smtClean="0">
                        <a:latin typeface="Cambria Math" panose="02040503050406030204" pitchFamily="18" charset="0"/>
                        <a:cs typeface="Times New Roman" panose="02020603050405020304" pitchFamily="18" charset="0"/>
                      </a:rPr>
                      <m:t>𝑓</m:t>
                    </m:r>
                    <m:d>
                      <m:dPr>
                        <m:ctrlPr>
                          <a:rPr lang="en-US" altLang="zh-CN" sz="2400" i="1" kern="100">
                            <a:latin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𝑥</m:t>
                            </m:r>
                          </m:e>
                          <m:sub>
                            <m:r>
                              <a:rPr lang="en-US" altLang="zh-CN" sz="2400" i="1" kern="100">
                                <a:latin typeface="Cambria Math" panose="02040503050406030204" pitchFamily="18" charset="0"/>
                                <a:cs typeface="Times New Roman" panose="02020603050405020304" pitchFamily="18" charset="0"/>
                              </a:rPr>
                              <m:t>2</m:t>
                            </m:r>
                          </m:sub>
                        </m:sSub>
                      </m:e>
                    </m:d>
                  </m:oMath>
                </a14:m>
                <a:endParaRPr lang="zh-CN" altLang="zh-CN" sz="2400" kern="100" dirty="0">
                  <a:latin typeface="等线" panose="02010600030101010101" pitchFamily="2" charset="-122"/>
                  <a:cs typeface="Times New Roman" panose="02020603050405020304" pitchFamily="18" charset="0"/>
                </a:endParaRPr>
              </a:p>
              <a:p>
                <a:pPr marL="266700" algn="just">
                  <a:lnSpc>
                    <a:spcPct val="125000"/>
                  </a:lnSpc>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2400" kern="100" dirty="0">
                    <a:solidFill>
                      <a:schemeClr val="accent1"/>
                    </a:solidFill>
                    <a:latin typeface="等线" panose="02010600030101010101" pitchFamily="2" charset="-122"/>
                    <a:ea typeface="等线" panose="02010600030101010101" pitchFamily="2" charset="-122"/>
                    <a:cs typeface="Times New Roman" panose="02020603050405020304" pitchFamily="18" charset="0"/>
                  </a:rPr>
                  <a:t>   else</a:t>
                </a:r>
                <a:endParaRPr lang="zh-CN" altLang="zh-CN" sz="2400" kern="100" dirty="0">
                  <a:solidFill>
                    <a:schemeClr val="accent1"/>
                  </a:solidFill>
                  <a:latin typeface="等线" panose="02010600030101010101" pitchFamily="2" charset="-122"/>
                  <a:ea typeface="等线" panose="02010600030101010101" pitchFamily="2" charset="-122"/>
                  <a:cs typeface="Times New Roman" panose="02020603050405020304" pitchFamily="18" charset="0"/>
                </a:endParaRPr>
              </a:p>
              <a:p>
                <a:pPr indent="533400" algn="just">
                  <a:lnSpc>
                    <a:spcPct val="125000"/>
                  </a:lnSpc>
                </a:pPr>
                <a:r>
                  <a:rPr lang="en-US" altLang="zh-CN" sz="2400" kern="100" dirty="0">
                    <a:ea typeface="等线" panose="02010600030101010101" pitchFamily="2" charset="-122"/>
                    <a:cs typeface="Times New Roman" panose="02020603050405020304" pitchFamily="18" charset="0"/>
                  </a:rPr>
                  <a:t>               </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𝑏</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kern="100">
                        <a:latin typeface="Cambria Math" panose="02040503050406030204" pitchFamily="18" charset="0"/>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𝑓</m:t>
                        </m:r>
                        <m:r>
                          <a:rPr lang="en-US" altLang="zh-CN" sz="2400" i="1"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𝑥</m:t>
                        </m:r>
                      </m:e>
                      <m:sub>
                        <m:r>
                          <a:rPr lang="en-US" altLang="zh-CN" sz="2400" i="1" kern="100">
                            <a:latin typeface="Cambria Math" panose="02040503050406030204" pitchFamily="18" charset="0"/>
                            <a:cs typeface="Times New Roman" panose="02020603050405020304" pitchFamily="18" charset="0"/>
                          </a:rPr>
                          <m:t>2</m:t>
                        </m:r>
                      </m:sub>
                    </m:sSub>
                    <m:r>
                      <a:rPr lang="en-US" altLang="zh-CN" sz="2400" i="1"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𝑓</m:t>
                    </m:r>
                    <m:r>
                      <a:rPr lang="en-US" altLang="zh-CN" sz="2400" i="1" kern="100">
                        <a:latin typeface="Cambria Math" panose="02040503050406030204" pitchFamily="18" charset="0"/>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𝑥</m:t>
                        </m:r>
                      </m:e>
                      <m:sub>
                        <m:r>
                          <a:rPr lang="en-US" altLang="zh-CN" sz="2400" i="1" kern="100">
                            <a:latin typeface="Cambria Math" panose="02040503050406030204" pitchFamily="18" charset="0"/>
                            <a:cs typeface="Times New Roman" panose="02020603050405020304" pitchFamily="18" charset="0"/>
                          </a:rPr>
                          <m:t>1</m:t>
                        </m:r>
                      </m:sub>
                    </m:sSub>
                    <m:r>
                      <a:rPr lang="en-US" altLang="zh-CN" sz="2400" i="1"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𝑎</m:t>
                    </m:r>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d>
                      <m:dPr>
                        <m:ctrlPr>
                          <a:rPr lang="en-US" altLang="zh-CN" sz="2400" i="1" kern="100">
                            <a:latin typeface="Cambria Math" panose="02040503050406030204" pitchFamily="18" charset="0"/>
                            <a:ea typeface="等线" panose="02010600030101010101" pitchFamily="2" charset="-122"/>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𝟏</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𝜇</m:t>
                        </m:r>
                      </m:e>
                    </m:d>
                    <m:d>
                      <m:dPr>
                        <m:ctrlPr>
                          <a:rPr lang="en-US" altLang="zh-CN" sz="2400" i="1" kern="100">
                            <a:latin typeface="Cambria Math" panose="02040503050406030204" pitchFamily="18" charset="0"/>
                            <a:ea typeface="等线" panose="02010600030101010101" pitchFamily="2" charset="-122"/>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𝑏</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𝑎</m:t>
                        </m:r>
                      </m:e>
                    </m:d>
                  </m:oMath>
                </a14:m>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p>
              <a:p>
                <a:pPr indent="533400" algn="just">
                  <a:lnSpc>
                    <a:spcPct val="125000"/>
                  </a:lnSpc>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r>
                  <a:rPr lang="zh-CN" altLang="en-US" sz="2400" kern="100" dirty="0">
                    <a:latin typeface="等线" panose="02010600030101010101" pitchFamily="2" charset="-122"/>
                    <a:cs typeface="Times New Roman" panose="02020603050405020304" pitchFamily="18" charset="0"/>
                  </a:rPr>
                  <a:t>计算</a:t>
                </a:r>
                <a14:m>
                  <m:oMath xmlns:m="http://schemas.openxmlformats.org/officeDocument/2006/math">
                    <m:r>
                      <a:rPr lang="en-US" altLang="zh-CN" sz="2400" i="1" kern="100" smtClean="0">
                        <a:latin typeface="Cambria Math" panose="02040503050406030204" pitchFamily="18" charset="0"/>
                        <a:cs typeface="Times New Roman" panose="02020603050405020304" pitchFamily="18" charset="0"/>
                      </a:rPr>
                      <m:t>𝑓</m:t>
                    </m:r>
                    <m:d>
                      <m:dPr>
                        <m:ctrlPr>
                          <a:rPr lang="en-US" altLang="zh-CN" sz="2400" i="1" kern="100">
                            <a:latin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cs typeface="Times New Roman" panose="02020603050405020304" pitchFamily="18" charset="0"/>
                              </a:rPr>
                              <m:t>𝑥</m:t>
                            </m:r>
                          </m:e>
                          <m:sub>
                            <m:r>
                              <a:rPr lang="en-US" altLang="zh-CN" sz="2400" b="0" i="1" kern="100" smtClean="0">
                                <a:latin typeface="Cambria Math" panose="02040503050406030204" pitchFamily="18" charset="0"/>
                                <a:cs typeface="Times New Roman" panose="02020603050405020304" pitchFamily="18" charset="0"/>
                              </a:rPr>
                              <m:t>1</m:t>
                            </m:r>
                          </m:sub>
                        </m:sSub>
                      </m:e>
                    </m:d>
                  </m:oMath>
                </a14:m>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p>
              <a:p>
                <a:pPr indent="533400" algn="just">
                  <a:lnSpc>
                    <a:spcPct val="125000"/>
                  </a:lnSpc>
                </a:pP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2400" kern="100" dirty="0">
                    <a:solidFill>
                      <a:schemeClr val="accent1"/>
                    </a:solidFill>
                    <a:latin typeface="等线" panose="02010600030101010101" pitchFamily="2" charset="-122"/>
                    <a:ea typeface="等线" panose="02010600030101010101" pitchFamily="2" charset="-122"/>
                    <a:cs typeface="Times New Roman" panose="02020603050405020304" pitchFamily="18" charset="0"/>
                  </a:rPr>
                  <a:t>end</a:t>
                </a:r>
                <a:endParaRPr lang="zh-CN" altLang="zh-CN" sz="2400" kern="100" dirty="0">
                  <a:solidFill>
                    <a:schemeClr val="accent1"/>
                  </a:solidFill>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pPr>
                <a:r>
                  <a:rPr lang="en-US" altLang="zh-CN" sz="2400" kern="100" dirty="0">
                    <a:solidFill>
                      <a:schemeClr val="accent1"/>
                    </a:solidFill>
                    <a:latin typeface="等线" panose="02010600030101010101" pitchFamily="2" charset="-122"/>
                    <a:ea typeface="等线" panose="02010600030101010101" pitchFamily="2" charset="-122"/>
                    <a:cs typeface="Times New Roman" panose="02020603050405020304" pitchFamily="18" charset="0"/>
                  </a:rPr>
                  <a:t>        end</a:t>
                </a:r>
                <a:endParaRPr lang="zh-CN" altLang="zh-CN" sz="2400" kern="100" dirty="0">
                  <a:solidFill>
                    <a:schemeClr val="accent1"/>
                  </a:solidFill>
                  <a:latin typeface="等线" panose="02010600030101010101" pitchFamily="2" charset="-122"/>
                  <a:ea typeface="等线" panose="02010600030101010101" pitchFamily="2" charset="-122"/>
                  <a:cs typeface="Times New Roman" panose="02020603050405020304" pitchFamily="18" charset="0"/>
                </a:endParaRPr>
              </a:p>
              <a:p>
                <a:pPr algn="just">
                  <a:lnSpc>
                    <a:spcPct val="125000"/>
                  </a:lnSpc>
                </a:pP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输出：</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𝑎</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𝑏</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oMath>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3577F169-FA5A-4E91-9E69-000846C672CA}"/>
                  </a:ext>
                </a:extLst>
              </p:cNvPr>
              <p:cNvSpPr txBox="1">
                <a:spLocks noRot="1" noChangeAspect="1" noMove="1" noResize="1" noEditPoints="1" noAdjustHandles="1" noChangeArrowheads="1" noChangeShapeType="1" noTextEdit="1"/>
              </p:cNvSpPr>
              <p:nvPr/>
            </p:nvSpPr>
            <p:spPr>
              <a:xfrm>
                <a:off x="263352" y="171217"/>
                <a:ext cx="10513168" cy="6521272"/>
              </a:xfrm>
              <a:prstGeom prst="rect">
                <a:avLst/>
              </a:prstGeom>
              <a:blipFill>
                <a:blip r:embed="rId2"/>
                <a:stretch>
                  <a:fillRect l="-870" b="-121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0F430197-C620-189B-188C-FC0110E78B19}"/>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extLst>
      <p:ext uri="{BB962C8B-B14F-4D97-AF65-F5344CB8AC3E}">
        <p14:creationId xmlns:p14="http://schemas.microsoft.com/office/powerpoint/2010/main" val="1940043198"/>
      </p:ext>
    </p:extLst>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06467D14-993F-F16B-39B2-10B7F20E588F}"/>
              </a:ext>
            </a:extLst>
          </p:cNvPr>
          <p:cNvSpPr txBox="1"/>
          <p:nvPr/>
        </p:nvSpPr>
        <p:spPr>
          <a:xfrm>
            <a:off x="623392" y="548680"/>
            <a:ext cx="6872140" cy="584775"/>
          </a:xfrm>
          <a:prstGeom prst="rect">
            <a:avLst/>
          </a:prstGeom>
          <a:noFill/>
        </p:spPr>
        <p:txBody>
          <a:bodyPr wrap="square">
            <a:spAutoFit/>
          </a:bodyPr>
          <a:lstStyle/>
          <a:p>
            <a:pPr algn="just">
              <a:spcBef>
                <a:spcPts val="600"/>
              </a:spcBef>
              <a:spcAft>
                <a:spcPts val="600"/>
              </a:spcAft>
            </a:pPr>
            <a:r>
              <a:rPr lang="zh-CN" altLang="en-US" sz="3200" kern="100" dirty="0">
                <a:latin typeface="Times New Roman" panose="02020603050405020304" pitchFamily="18" charset="0"/>
                <a:ea typeface="黑体" panose="02010609060101010101" pitchFamily="49" charset="-122"/>
              </a:rPr>
              <a:t>四、小结</a:t>
            </a:r>
            <a:endParaRPr lang="zh-CN" altLang="zh-CN" sz="32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20CB425A-484F-6D2D-7536-90EFA21D0548}"/>
                  </a:ext>
                </a:extLst>
              </p:cNvPr>
              <p:cNvSpPr txBox="1"/>
              <p:nvPr/>
            </p:nvSpPr>
            <p:spPr>
              <a:xfrm>
                <a:off x="1055440" y="1268760"/>
                <a:ext cx="10441160" cy="4515660"/>
              </a:xfrm>
              <a:prstGeom prst="rect">
                <a:avLst/>
              </a:prstGeom>
              <a:noFill/>
            </p:spPr>
            <p:txBody>
              <a:bodyPr wrap="square">
                <a:spAutoFit/>
              </a:bodyPr>
              <a:lstStyle/>
              <a:p>
                <a:pPr marL="457200" indent="-457200" algn="just">
                  <a:lnSpc>
                    <a:spcPct val="150000"/>
                  </a:lnSpc>
                  <a:buFont typeface="Wingdings" panose="05000000000000000000" pitchFamily="2" charset="2"/>
                  <a:buChar char="Ø"/>
                </a:pPr>
                <a:r>
                  <a:rPr lang="zh-CN" altLang="zh-CN" sz="2800" kern="100" dirty="0">
                    <a:effectLst/>
                    <a:latin typeface="宋体" panose="02010600030101010101" pitchFamily="2" charset="-122"/>
                    <a:ea typeface="宋体" panose="02010600030101010101" pitchFamily="2" charset="-122"/>
                  </a:rPr>
                  <a:t>采用黄金分割法时，计算</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𝑛</m:t>
                    </m:r>
                  </m:oMath>
                </a14:m>
                <a:r>
                  <a:rPr lang="zh-CN" altLang="zh-CN" sz="2800" kern="100" dirty="0">
                    <a:effectLst/>
                    <a:latin typeface="宋体" panose="02010600030101010101" pitchFamily="2" charset="-122"/>
                    <a:ea typeface="宋体" panose="02010600030101010101" pitchFamily="2" charset="-122"/>
                  </a:rPr>
                  <a:t>对试点的函数值可以把原始区间</a:t>
                </a:r>
                <a14:m>
                  <m:oMath xmlns:m="http://schemas.openxmlformats.org/officeDocument/2006/math">
                    <m:d>
                      <m:dPr>
                        <m:begChr m:val="["/>
                        <m:endChr m:val="]"/>
                        <m:ctrlPr>
                          <a:rPr lang="zh-CN" altLang="zh-CN" sz="2800" i="1" kern="100">
                            <a:effectLst/>
                            <a:latin typeface="Cambria Math" panose="02040503050406030204" pitchFamily="18" charset="0"/>
                            <a:ea typeface="Cambria Math" panose="02040503050406030204" pitchFamily="18" charset="0"/>
                          </a:rPr>
                        </m:ctrlPr>
                      </m:d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e>
                    </m:d>
                  </m:oMath>
                </a14:m>
                <a:r>
                  <a:rPr lang="zh-CN" altLang="zh-CN" sz="2800" kern="100" dirty="0">
                    <a:effectLst/>
                    <a:latin typeface="宋体" panose="02010600030101010101" pitchFamily="2" charset="-122"/>
                    <a:ea typeface="宋体" panose="02010600030101010101" pitchFamily="2" charset="-122"/>
                  </a:rPr>
                  <a:t>连续缩短</a:t>
                </a:r>
                <a14:m>
                  <m:oMath xmlns:m="http://schemas.openxmlformats.org/officeDocument/2006/math">
                    <m:r>
                      <a:rPr lang="en-US" altLang="zh-CN" sz="2800" i="1" kern="100">
                        <a:effectLst/>
                        <a:latin typeface="Cambria Math" panose="02040503050406030204" pitchFamily="18" charset="0"/>
                        <a:ea typeface="宋体" panose="02010600030101010101" pitchFamily="2" charset="-122"/>
                      </a:rPr>
                      <m:t>𝑛</m:t>
                    </m:r>
                    <m:r>
                      <a:rPr lang="en-US" altLang="zh-CN" sz="2800" i="1" kern="100">
                        <a:effectLst/>
                        <a:latin typeface="Cambria Math" panose="02040503050406030204" pitchFamily="18" charset="0"/>
                        <a:ea typeface="宋体" panose="02010600030101010101" pitchFamily="2" charset="-122"/>
                      </a:rPr>
                      <m:t>−1</m:t>
                    </m:r>
                  </m:oMath>
                </a14:m>
                <a:r>
                  <a:rPr lang="zh-CN" altLang="zh-CN" sz="2800" kern="100" dirty="0">
                    <a:effectLst/>
                    <a:latin typeface="宋体" panose="02010600030101010101" pitchFamily="2" charset="-122"/>
                    <a:ea typeface="宋体" panose="02010600030101010101" pitchFamily="2" charset="-122"/>
                  </a:rPr>
                  <a:t>次，且每次的区间</a:t>
                </a:r>
                <a:r>
                  <a:rPr lang="zh-CN" altLang="en-US" sz="2800" kern="100" dirty="0">
                    <a:latin typeface="宋体" panose="02010600030101010101" pitchFamily="2" charset="-122"/>
                    <a:ea typeface="宋体" panose="02010600030101010101" pitchFamily="2" charset="-122"/>
                  </a:rPr>
                  <a:t>缩减比</a:t>
                </a:r>
                <a:r>
                  <a:rPr lang="zh-CN" altLang="zh-CN" sz="2800" kern="100" dirty="0">
                    <a:effectLst/>
                    <a:latin typeface="宋体" panose="02010600030101010101" pitchFamily="2" charset="-122"/>
                    <a:ea typeface="宋体" panose="02010600030101010101" pitchFamily="2" charset="-122"/>
                  </a:rPr>
                  <a:t>都是</a:t>
                </a:r>
                <a:r>
                  <a:rPr lang="en-US" altLang="zh-CN" sz="2800" kern="100" dirty="0">
                    <a:effectLst/>
                    <a:latin typeface="宋体" panose="02010600030101010101" pitchFamily="2" charset="-122"/>
                    <a:ea typeface="宋体" panose="02010600030101010101" pitchFamily="2" charset="-122"/>
                  </a:rPr>
                  <a:t>0.618</a:t>
                </a:r>
                <a:r>
                  <a:rPr lang="zh-CN" altLang="zh-CN" sz="2800" kern="100" dirty="0">
                    <a:effectLst/>
                    <a:latin typeface="宋体" panose="02010600030101010101" pitchFamily="2" charset="-122"/>
                    <a:ea typeface="宋体" panose="02010600030101010101" pitchFamily="2" charset="-122"/>
                  </a:rPr>
                  <a:t>，故最后所剩区间的长度为</a:t>
                </a:r>
                <a14:m>
                  <m:oMath xmlns:m="http://schemas.openxmlformats.org/officeDocument/2006/math">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𝑛</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𝑛</m:t>
                        </m:r>
                      </m:sub>
                    </m:sSub>
                    <m:r>
                      <a:rPr lang="en-US" altLang="zh-CN" sz="2800" i="1" kern="100">
                        <a:effectLst/>
                        <a:latin typeface="Cambria Math" panose="02040503050406030204" pitchFamily="18" charset="0"/>
                        <a:ea typeface="宋体" panose="02010600030101010101" pitchFamily="2" charset="-122"/>
                      </a:rPr>
                      <m:t>=</m:t>
                    </m:r>
                    <m:sSup>
                      <m:sSupPr>
                        <m:ctrlPr>
                          <a:rPr lang="zh-CN" altLang="zh-CN" sz="2800" i="1" kern="100">
                            <a:effectLst/>
                            <a:latin typeface="Cambria Math" panose="02040503050406030204" pitchFamily="18" charset="0"/>
                            <a:ea typeface="Cambria Math" panose="02040503050406030204" pitchFamily="18" charset="0"/>
                          </a:rPr>
                        </m:ctrlPr>
                      </m:sSupPr>
                      <m:e>
                        <m:r>
                          <a:rPr lang="en-US" altLang="zh-CN" sz="2800" i="1" kern="100">
                            <a:effectLst/>
                            <a:latin typeface="Cambria Math" panose="02040503050406030204" pitchFamily="18" charset="0"/>
                            <a:ea typeface="宋体" panose="02010600030101010101" pitchFamily="2" charset="-122"/>
                          </a:rPr>
                          <m:t>0.618</m:t>
                        </m:r>
                      </m:e>
                      <m:sup>
                        <m:r>
                          <a:rPr lang="en-US" altLang="zh-CN" sz="2800" i="1" kern="100">
                            <a:effectLst/>
                            <a:latin typeface="Cambria Math" panose="02040503050406030204" pitchFamily="18" charset="0"/>
                            <a:ea typeface="宋体" panose="02010600030101010101" pitchFamily="2" charset="-122"/>
                          </a:rPr>
                          <m:t>𝑛</m:t>
                        </m:r>
                        <m:r>
                          <a:rPr lang="en-US" altLang="zh-CN" sz="2800" i="1" kern="100">
                            <a:effectLst/>
                            <a:latin typeface="Cambria Math" panose="02040503050406030204" pitchFamily="18" charset="0"/>
                            <a:ea typeface="宋体" panose="02010600030101010101" pitchFamily="2" charset="-122"/>
                          </a:rPr>
                          <m:t>−1</m:t>
                        </m:r>
                      </m:sup>
                    </m:sSup>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𝑏</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i="1" kern="100">
                            <a:effectLst/>
                            <a:latin typeface="Cambria Math" panose="02040503050406030204" pitchFamily="18" charset="0"/>
                            <a:ea typeface="宋体" panose="02010600030101010101" pitchFamily="2" charset="-122"/>
                          </a:rPr>
                          <m:t>𝑎</m:t>
                        </m:r>
                      </m:e>
                      <m:sub>
                        <m:r>
                          <a:rPr lang="en-US" altLang="zh-CN" sz="2800" i="1" kern="100">
                            <a:effectLst/>
                            <a:latin typeface="Cambria Math" panose="02040503050406030204" pitchFamily="18" charset="0"/>
                            <a:ea typeface="宋体" panose="02010600030101010101" pitchFamily="2" charset="-122"/>
                          </a:rPr>
                          <m:t>1</m:t>
                        </m:r>
                      </m:sub>
                    </m:sSub>
                    <m:r>
                      <a:rPr lang="en-US" altLang="zh-CN" sz="2800" i="1" kern="100">
                        <a:effectLst/>
                        <a:latin typeface="Cambria Math" panose="02040503050406030204" pitchFamily="18" charset="0"/>
                        <a:ea typeface="宋体" panose="02010600030101010101" pitchFamily="2" charset="-122"/>
                      </a:rPr>
                      <m:t>)</m:t>
                    </m:r>
                  </m:oMath>
                </a14:m>
                <a:r>
                  <a:rPr lang="zh-CN" altLang="zh-CN" sz="2800" kern="100" dirty="0">
                    <a:latin typeface="宋体" panose="02010600030101010101" pitchFamily="2" charset="-122"/>
                    <a:ea typeface="宋体" panose="02010600030101010101" pitchFamily="2" charset="-122"/>
                  </a:rPr>
                  <a:t>。</a:t>
                </a:r>
                <a:endParaRPr lang="zh-CN" altLang="zh-CN" sz="2800" kern="100" dirty="0">
                  <a:effectLst/>
                  <a:latin typeface="宋体" panose="02010600030101010101" pitchFamily="2" charset="-122"/>
                  <a:ea typeface="宋体" panose="02010600030101010101" pitchFamily="2" charset="-122"/>
                </a:endParaRPr>
              </a:p>
              <a:p>
                <a:pPr marL="457200" indent="-457200" algn="just">
                  <a:lnSpc>
                    <a:spcPct val="150000"/>
                  </a:lnSpc>
                  <a:buFont typeface="Wingdings" panose="05000000000000000000" pitchFamily="2" charset="2"/>
                  <a:buChar char="Ø"/>
                </a:pPr>
                <a:r>
                  <a:rPr lang="zh-CN" altLang="zh-CN" sz="2800" kern="100" dirty="0">
                    <a:effectLst/>
                    <a:latin typeface="宋体" panose="02010600030101010101" pitchFamily="2" charset="-122"/>
                    <a:ea typeface="宋体" panose="02010600030101010101" pitchFamily="2" charset="-122"/>
                  </a:rPr>
                  <a:t>黄金分割法原理简单，不要求函数可导，只需计算函数值，通用性强</a:t>
                </a:r>
                <a:r>
                  <a:rPr lang="zh-CN" altLang="en-US" sz="2800" kern="100" dirty="0">
                    <a:effectLst/>
                    <a:latin typeface="宋体" panose="02010600030101010101" pitchFamily="2" charset="-122"/>
                    <a:ea typeface="宋体" panose="02010600030101010101" pitchFamily="2" charset="-122"/>
                  </a:rPr>
                  <a:t>。</a:t>
                </a:r>
                <a:endParaRPr lang="zh-CN" altLang="zh-CN" sz="2800" kern="100" dirty="0">
                  <a:effectLst/>
                  <a:latin typeface="宋体" panose="02010600030101010101" pitchFamily="2" charset="-122"/>
                  <a:ea typeface="宋体" panose="02010600030101010101" pitchFamily="2" charset="-122"/>
                </a:endParaRPr>
              </a:p>
              <a:p>
                <a:pPr marL="457200" indent="-457200" algn="just">
                  <a:lnSpc>
                    <a:spcPct val="150000"/>
                  </a:lnSpc>
                  <a:buFont typeface="Wingdings" panose="05000000000000000000" pitchFamily="2" charset="2"/>
                  <a:buChar char="Ø"/>
                </a:pPr>
                <a:r>
                  <a:rPr lang="zh-CN" altLang="zh-CN" sz="2800" kern="100" dirty="0">
                    <a:effectLst/>
                    <a:latin typeface="宋体" panose="02010600030101010101" pitchFamily="2" charset="-122"/>
                    <a:ea typeface="宋体" panose="02010600030101010101" pitchFamily="2" charset="-122"/>
                  </a:rPr>
                  <a:t>取</a:t>
                </a:r>
                <a:r>
                  <a:rPr lang="en-US" altLang="zh-CN" sz="2800" kern="100" dirty="0">
                    <a:effectLst/>
                    <a:latin typeface="宋体" panose="02010600030101010101" pitchFamily="2" charset="-122"/>
                    <a:ea typeface="宋体" panose="02010600030101010101" pitchFamily="2" charset="-122"/>
                  </a:rPr>
                  <a:t>0.618</a:t>
                </a:r>
                <a:r>
                  <a:rPr lang="zh-CN" altLang="zh-CN" sz="2800" kern="100" dirty="0">
                    <a:effectLst/>
                    <a:latin typeface="宋体" panose="02010600030101010101" pitchFamily="2" charset="-122"/>
                    <a:ea typeface="宋体" panose="02010600030101010101" pitchFamily="2" charset="-122"/>
                  </a:rPr>
                  <a:t>作为区间</a:t>
                </a:r>
                <a:r>
                  <a:rPr lang="zh-CN" altLang="en-US" sz="2800" kern="100" dirty="0">
                    <a:effectLst/>
                    <a:latin typeface="宋体" panose="02010600030101010101" pitchFamily="2" charset="-122"/>
                    <a:ea typeface="宋体" panose="02010600030101010101" pitchFamily="2" charset="-122"/>
                  </a:rPr>
                  <a:t>缩减比</a:t>
                </a:r>
                <a:r>
                  <a:rPr lang="zh-CN" altLang="zh-CN" sz="2800" kern="100" dirty="0">
                    <a:effectLst/>
                    <a:latin typeface="宋体" panose="02010600030101010101" pitchFamily="2" charset="-122"/>
                    <a:ea typeface="宋体" panose="02010600030101010101" pitchFamily="2" charset="-122"/>
                  </a:rPr>
                  <a:t>只是近似的黄金分割法，通常又称为</a:t>
                </a:r>
                <a:r>
                  <a:rPr lang="en-US" altLang="zh-CN" sz="2800" kern="100" dirty="0">
                    <a:effectLst/>
                    <a:latin typeface="宋体" panose="02010600030101010101" pitchFamily="2" charset="-122"/>
                    <a:ea typeface="宋体" panose="02010600030101010101" pitchFamily="2" charset="-122"/>
                  </a:rPr>
                  <a:t>0.618</a:t>
                </a:r>
                <a:r>
                  <a:rPr lang="zh-CN" altLang="zh-CN" sz="2800" kern="100" dirty="0">
                    <a:effectLst/>
                    <a:latin typeface="宋体" panose="02010600030101010101" pitchFamily="2" charset="-122"/>
                    <a:ea typeface="宋体" panose="02010600030101010101" pitchFamily="2" charset="-122"/>
                  </a:rPr>
                  <a:t>法，一般情况下黄金分割法指的就是</a:t>
                </a:r>
                <a:r>
                  <a:rPr lang="en-US" altLang="zh-CN" sz="2800" kern="100" dirty="0">
                    <a:effectLst/>
                    <a:latin typeface="宋体" panose="02010600030101010101" pitchFamily="2" charset="-122"/>
                    <a:ea typeface="宋体" panose="02010600030101010101" pitchFamily="2" charset="-122"/>
                  </a:rPr>
                  <a:t>0.618</a:t>
                </a:r>
                <a:r>
                  <a:rPr lang="zh-CN" altLang="zh-CN" sz="2800" kern="100" dirty="0">
                    <a:effectLst/>
                    <a:latin typeface="宋体" panose="02010600030101010101" pitchFamily="2" charset="-122"/>
                    <a:ea typeface="宋体" panose="02010600030101010101" pitchFamily="2" charset="-122"/>
                  </a:rPr>
                  <a:t>法。</a:t>
                </a:r>
              </a:p>
            </p:txBody>
          </p:sp>
        </mc:Choice>
        <mc:Fallback xmlns="">
          <p:sp>
            <p:nvSpPr>
              <p:cNvPr id="7" name="文本框 6">
                <a:extLst>
                  <a:ext uri="{FF2B5EF4-FFF2-40B4-BE49-F238E27FC236}">
                    <a16:creationId xmlns:a16="http://schemas.microsoft.com/office/drawing/2014/main" id="{20CB425A-484F-6D2D-7536-90EFA21D0548}"/>
                  </a:ext>
                </a:extLst>
              </p:cNvPr>
              <p:cNvSpPr txBox="1">
                <a:spLocks noRot="1" noChangeAspect="1" noMove="1" noResize="1" noEditPoints="1" noAdjustHandles="1" noChangeArrowheads="1" noChangeShapeType="1" noTextEdit="1"/>
              </p:cNvSpPr>
              <p:nvPr/>
            </p:nvSpPr>
            <p:spPr>
              <a:xfrm>
                <a:off x="1055440" y="1268760"/>
                <a:ext cx="10441160" cy="4515660"/>
              </a:xfrm>
              <a:prstGeom prst="rect">
                <a:avLst/>
              </a:prstGeom>
              <a:blipFill>
                <a:blip r:embed="rId2"/>
                <a:stretch>
                  <a:fillRect l="-992" r="-1226" b="-2834"/>
                </a:stretch>
              </a:blipFill>
            </p:spPr>
            <p:txBody>
              <a:bodyPr/>
              <a:lstStyle/>
              <a:p>
                <a:r>
                  <a:rPr lang="zh-CN" altLang="en-US">
                    <a:noFill/>
                  </a:rPr>
                  <a:t> </a:t>
                </a:r>
              </a:p>
            </p:txBody>
          </p:sp>
        </mc:Fallback>
      </mc:AlternateContent>
    </p:spTree>
  </p:cSld>
  <p:clrMapOvr>
    <a:masterClrMapping/>
  </p:clrMapOvr>
  <p:transition>
    <p:rand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a:extLst>
              <a:ext uri="{FF2B5EF4-FFF2-40B4-BE49-F238E27FC236}">
                <a16:creationId xmlns:a16="http://schemas.microsoft.com/office/drawing/2014/main" id="{709DB880-D1A2-593B-134D-E072583FDEE7}"/>
              </a:ext>
            </a:extLst>
          </p:cNvPr>
          <p:cNvSpPr>
            <a:spLocks noGrp="1" noChangeArrowheads="1"/>
          </p:cNvSpPr>
          <p:nvPr>
            <p:ph type="body" idx="1"/>
          </p:nvPr>
        </p:nvSpPr>
        <p:spPr>
          <a:xfrm>
            <a:off x="1271464" y="980728"/>
            <a:ext cx="9289032" cy="3025775"/>
          </a:xfrm>
        </p:spPr>
        <p:txBody>
          <a:bodyPr>
            <a:noAutofit/>
          </a:bodyPr>
          <a:lstStyle/>
          <a:p>
            <a:pPr eaLnBrk="1" hangingPunct="1">
              <a:lnSpc>
                <a:spcPct val="150000"/>
              </a:lnSpc>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在应用黄金分割法时，需要注意一点：</a:t>
            </a:r>
            <a:r>
              <a:rPr lang="zh-CN" altLang="en-US" dirty="0">
                <a:solidFill>
                  <a:srgbClr val="FF3300"/>
                </a:solidFill>
                <a:latin typeface="宋体" panose="02010600030101010101" pitchFamily="2" charset="-122"/>
                <a:ea typeface="宋体" panose="02010600030101010101" pitchFamily="2" charset="-122"/>
              </a:rPr>
              <a:t>黄金分割法只适用于单谷函数。</a:t>
            </a:r>
            <a:r>
              <a:rPr lang="zh-CN" altLang="en-US" dirty="0">
                <a:latin typeface="宋体" panose="02010600030101010101" pitchFamily="2" charset="-122"/>
                <a:ea typeface="宋体" panose="02010600030101010101" pitchFamily="2" charset="-122"/>
              </a:rPr>
              <a:t>因此，必须先确定目标函数的单谷区间，再运用黄金分割法。确定单谷区间的方法可采用本章后面将要介绍的寻找极小点存在区间的外推内插法。</a:t>
            </a: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443349" y="2276872"/>
            <a:ext cx="4953600" cy="769441"/>
          </a:xfrm>
          <a:prstGeom prst="rect">
            <a:avLst/>
          </a:prstGeom>
        </p:spPr>
        <p:txBody>
          <a:bodyPr wrap="none">
            <a:spAutoFit/>
          </a:bodyPr>
          <a:lstStyle/>
          <a:p>
            <a:pPr algn="ctr"/>
            <a:r>
              <a:rPr lang="en-US" altLang="zh-CN" sz="4400" b="1" dirty="0"/>
              <a:t>   7.3 </a:t>
            </a:r>
            <a:r>
              <a:rPr lang="zh-CN" altLang="en-US" sz="4400" b="1" dirty="0"/>
              <a:t>抛物线逼近法</a:t>
            </a:r>
          </a:p>
        </p:txBody>
      </p:sp>
    </p:spTree>
  </p:cSld>
  <p:clrMapOvr>
    <a:masterClrMapping/>
  </p:clrMapOvr>
  <p:transition>
    <p:random/>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20164" name="Text Box 4"/>
              <p:cNvSpPr txBox="1">
                <a:spLocks noChangeArrowheads="1"/>
              </p:cNvSpPr>
              <p:nvPr/>
            </p:nvSpPr>
            <p:spPr bwMode="auto">
              <a:xfrm>
                <a:off x="1353692" y="1633266"/>
                <a:ext cx="2119312" cy="1568450"/>
              </a:xfrm>
              <a:prstGeom prst="rect">
                <a:avLst/>
              </a:prstGeom>
              <a:solidFill>
                <a:srgbClr val="FFFFCC"/>
              </a:solidFill>
              <a:ln w="9525">
                <a:solidFill>
                  <a:srgbClr val="0000FF"/>
                </a:solidFill>
                <a:miter lim="800000"/>
              </a:ln>
              <a:effectLst/>
              <a:extLst>
                <a:ext uri="{AF507438-7753-43E0-B8FC-AC1667EBCBE1}">
                  <a14:hiddenEffects>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dirty="0">
                    <a:solidFill>
                      <a:srgbClr val="FF0000"/>
                    </a:solidFill>
                  </a:rPr>
                  <a:t>对形式复杂的函数</a:t>
                </a:r>
                <a14:m>
                  <m:oMath xmlns:m="http://schemas.openxmlformats.org/officeDocument/2006/math">
                    <m:r>
                      <a:rPr kumimoji="1" lang="en-US" altLang="zh-CN" b="1" i="1" smtClean="0">
                        <a:solidFill>
                          <a:srgbClr val="0070C0"/>
                        </a:solidFill>
                        <a:latin typeface="Cambria Math" panose="02040503050406030204" pitchFamily="18" charset="0"/>
                      </a:rPr>
                      <m:t>𝒇</m:t>
                    </m:r>
                    <m:r>
                      <a:rPr kumimoji="1" lang="en-US" altLang="zh-CN" b="1" i="1" smtClean="0">
                        <a:solidFill>
                          <a:srgbClr val="0070C0"/>
                        </a:solidFill>
                        <a:latin typeface="Cambria Math" panose="02040503050406030204" pitchFamily="18" charset="0"/>
                      </a:rPr>
                      <m:t>(</m:t>
                    </m:r>
                    <m:r>
                      <a:rPr kumimoji="1" lang="en-US" altLang="zh-CN" b="1" i="1" smtClean="0">
                        <a:solidFill>
                          <a:srgbClr val="0070C0"/>
                        </a:solidFill>
                        <a:latin typeface="Cambria Math" panose="02040503050406030204" pitchFamily="18" charset="0"/>
                      </a:rPr>
                      <m:t>𝒙</m:t>
                    </m:r>
                    <m:r>
                      <a:rPr kumimoji="1" lang="en-US" altLang="zh-CN" b="1" i="1" smtClean="0">
                        <a:solidFill>
                          <a:srgbClr val="0070C0"/>
                        </a:solidFill>
                        <a:latin typeface="Cambria Math" panose="02040503050406030204" pitchFamily="18" charset="0"/>
                      </a:rPr>
                      <m:t>)</m:t>
                    </m:r>
                  </m:oMath>
                </a14:m>
                <a:r>
                  <a:rPr kumimoji="1" lang="zh-CN" altLang="en-US" dirty="0">
                    <a:solidFill>
                      <a:srgbClr val="FF0000"/>
                    </a:solidFill>
                  </a:rPr>
                  <a:t>，数学运算时不方便。</a:t>
                </a:r>
              </a:p>
            </p:txBody>
          </p:sp>
        </mc:Choice>
        <mc:Fallback xmlns="">
          <p:sp>
            <p:nvSpPr>
              <p:cNvPr id="220164" name="Text Box 4"/>
              <p:cNvSpPr txBox="1">
                <a:spLocks noRot="1" noChangeAspect="1" noMove="1" noResize="1" noEditPoints="1" noAdjustHandles="1" noChangeArrowheads="1" noChangeShapeType="1" noTextEdit="1"/>
              </p:cNvSpPr>
              <p:nvPr/>
            </p:nvSpPr>
            <p:spPr bwMode="auto">
              <a:xfrm>
                <a:off x="1353692" y="1633266"/>
                <a:ext cx="2119312" cy="1568450"/>
              </a:xfrm>
              <a:prstGeom prst="rect">
                <a:avLst/>
              </a:prstGeom>
              <a:blipFill rotWithShape="1">
                <a:blip r:embed="rId2"/>
                <a:stretch>
                  <a:fillRect l="-234" t="-327" r="-201" b="-280"/>
                </a:stretch>
              </a:blip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220165" name="Group 5"/>
          <p:cNvGrpSpPr/>
          <p:nvPr/>
        </p:nvGrpSpPr>
        <p:grpSpPr bwMode="auto">
          <a:xfrm>
            <a:off x="3417443" y="1633266"/>
            <a:ext cx="3768725" cy="1196975"/>
            <a:chOff x="1499" y="935"/>
            <a:chExt cx="2374" cy="754"/>
          </a:xfrm>
        </p:grpSpPr>
        <mc:AlternateContent xmlns:mc="http://schemas.openxmlformats.org/markup-compatibility/2006" xmlns:a14="http://schemas.microsoft.com/office/drawing/2010/main">
          <mc:Choice Requires="a14">
            <p:sp>
              <p:nvSpPr>
                <p:cNvPr id="9239" name="Rectangle 6"/>
                <p:cNvSpPr>
                  <a:spLocks noChangeArrowheads="1"/>
                </p:cNvSpPr>
                <p:nvPr/>
              </p:nvSpPr>
              <p:spPr bwMode="auto">
                <a:xfrm>
                  <a:off x="1946" y="935"/>
                  <a:ext cx="1927" cy="754"/>
                </a:xfrm>
                <a:prstGeom prst="rect">
                  <a:avLst/>
                </a:prstGeom>
                <a:solidFill>
                  <a:srgbClr val="FFFFCC"/>
                </a:solidFill>
                <a:ln w="9525">
                  <a:solidFill>
                    <a:srgbClr val="0000FF"/>
                  </a:solidFill>
                  <a:miter lim="800000"/>
                </a:ln>
                <a:effectLst/>
                <a:extLst>
                  <a:ext uri="{AF507438-7753-43E0-B8FC-AC1667EBCBE1}">
                    <a14:hiddenEffects>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zh-CN" altLang="en-US" dirty="0">
                      <a:solidFill>
                        <a:srgbClr val="FF0000"/>
                      </a:solidFill>
                    </a:rPr>
                    <a:t>找一个近似的、解析性能好、便于计算的简单函数</a:t>
                  </a:r>
                  <a14:m>
                    <m:oMath xmlns:m="http://schemas.openxmlformats.org/officeDocument/2006/math">
                      <m:r>
                        <a:rPr kumimoji="1" lang="zh-CN" altLang="en-US" i="1" smtClean="0">
                          <a:solidFill>
                            <a:srgbClr val="0070C0"/>
                          </a:solidFill>
                          <a:latin typeface="Cambria Math" panose="02040503050406030204" pitchFamily="18" charset="0"/>
                        </a:rPr>
                        <m:t>𝝋</m:t>
                      </m:r>
                      <m:r>
                        <a:rPr kumimoji="1" lang="en-US" altLang="zh-CN" i="1">
                          <a:solidFill>
                            <a:srgbClr val="0070C0"/>
                          </a:solidFill>
                          <a:latin typeface="Cambria Math" panose="02040503050406030204" pitchFamily="18" charset="0"/>
                        </a:rPr>
                        <m:t>(</m:t>
                      </m:r>
                      <m:r>
                        <a:rPr kumimoji="1" lang="en-US" altLang="zh-CN" i="1">
                          <a:solidFill>
                            <a:srgbClr val="0070C0"/>
                          </a:solidFill>
                          <a:latin typeface="Cambria Math" panose="02040503050406030204" pitchFamily="18" charset="0"/>
                        </a:rPr>
                        <m:t>𝒙</m:t>
                      </m:r>
                      <m:r>
                        <a:rPr kumimoji="1" lang="en-US" altLang="zh-CN" i="1">
                          <a:solidFill>
                            <a:srgbClr val="0070C0"/>
                          </a:solidFill>
                          <a:latin typeface="Cambria Math" panose="02040503050406030204" pitchFamily="18" charset="0"/>
                        </a:rPr>
                        <m:t>)</m:t>
                      </m:r>
                    </m:oMath>
                  </a14:m>
                  <a:r>
                    <a:rPr kumimoji="1" lang="zh-CN" altLang="en-US" dirty="0">
                      <a:solidFill>
                        <a:srgbClr val="FF0000"/>
                      </a:solidFill>
                    </a:rPr>
                    <a:t>来代替。</a:t>
                  </a:r>
                </a:p>
              </p:txBody>
            </p:sp>
          </mc:Choice>
          <mc:Fallback xmlns="">
            <p:sp>
              <p:nvSpPr>
                <p:cNvPr id="9239" name="Rectangle 6"/>
                <p:cNvSpPr>
                  <a:spLocks noRot="1" noChangeAspect="1" noMove="1" noResize="1" noEditPoints="1" noAdjustHandles="1" noChangeArrowheads="1" noChangeShapeType="1" noTextEdit="1"/>
                </p:cNvSpPr>
                <p:nvPr/>
              </p:nvSpPr>
              <p:spPr bwMode="auto">
                <a:xfrm>
                  <a:off x="1946" y="935"/>
                  <a:ext cx="1927" cy="754"/>
                </a:xfrm>
                <a:prstGeom prst="rect">
                  <a:avLst/>
                </a:prstGeom>
                <a:blipFill rotWithShape="1">
                  <a:blip r:embed="rId3"/>
                </a:blip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9240" name="AutoShape 7"/>
            <p:cNvSpPr>
              <a:spLocks noChangeArrowheads="1"/>
            </p:cNvSpPr>
            <p:nvPr/>
          </p:nvSpPr>
          <p:spPr bwMode="auto">
            <a:xfrm>
              <a:off x="1499" y="1221"/>
              <a:ext cx="453" cy="144"/>
            </a:xfrm>
            <a:prstGeom prst="chevron">
              <a:avLst>
                <a:gd name="adj" fmla="val 78646"/>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p:grpSp>
        <p:nvGrpSpPr>
          <p:cNvPr id="220168" name="Group 8"/>
          <p:cNvGrpSpPr/>
          <p:nvPr/>
        </p:nvGrpSpPr>
        <p:grpSpPr bwMode="auto">
          <a:xfrm>
            <a:off x="7105205" y="1658666"/>
            <a:ext cx="3076575" cy="1568450"/>
            <a:chOff x="3822" y="951"/>
            <a:chExt cx="1938" cy="988"/>
          </a:xfrm>
        </p:grpSpPr>
        <mc:AlternateContent xmlns:mc="http://schemas.openxmlformats.org/markup-compatibility/2006" xmlns:a14="http://schemas.microsoft.com/office/drawing/2010/main">
          <mc:Choice Requires="a14">
            <p:sp>
              <p:nvSpPr>
                <p:cNvPr id="9237" name="Rectangle 9"/>
                <p:cNvSpPr>
                  <a:spLocks noChangeArrowheads="1"/>
                </p:cNvSpPr>
                <p:nvPr/>
              </p:nvSpPr>
              <p:spPr bwMode="auto">
                <a:xfrm>
                  <a:off x="4247" y="951"/>
                  <a:ext cx="1513" cy="988"/>
                </a:xfrm>
                <a:prstGeom prst="rect">
                  <a:avLst/>
                </a:prstGeom>
                <a:solidFill>
                  <a:srgbClr val="FFFFCC"/>
                </a:solidFill>
                <a:ln w="9525">
                  <a:solidFill>
                    <a:srgbClr val="0000FF"/>
                  </a:solidFill>
                  <a:miter lim="800000"/>
                </a:ln>
                <a:effectLst/>
                <a:extLst>
                  <a:ext uri="{AF507438-7753-43E0-B8FC-AC1667EBCBE1}">
                    <a14:hiddenEffects>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kumimoji="1" lang="zh-CN" altLang="en-US" dirty="0">
                      <a:solidFill>
                        <a:srgbClr val="FF0000"/>
                      </a:solidFill>
                    </a:rPr>
                    <a:t>用近似函数</a:t>
                  </a:r>
                  <a14:m>
                    <m:oMath xmlns:m="http://schemas.openxmlformats.org/officeDocument/2006/math">
                      <m:r>
                        <a:rPr kumimoji="1" lang="zh-CN" altLang="en-US" i="1" smtClean="0">
                          <a:solidFill>
                            <a:srgbClr val="0070C0"/>
                          </a:solidFill>
                          <a:latin typeface="Cambria Math" panose="02040503050406030204" pitchFamily="18" charset="0"/>
                        </a:rPr>
                        <m:t>𝝋</m:t>
                      </m:r>
                      <m:r>
                        <a:rPr kumimoji="1" lang="en-US" altLang="zh-CN" i="1">
                          <a:solidFill>
                            <a:srgbClr val="0070C0"/>
                          </a:solidFill>
                          <a:latin typeface="Cambria Math" panose="02040503050406030204" pitchFamily="18" charset="0"/>
                        </a:rPr>
                        <m:t>(</m:t>
                      </m:r>
                      <m:r>
                        <a:rPr kumimoji="1" lang="en-US" altLang="zh-CN" i="1">
                          <a:solidFill>
                            <a:srgbClr val="0070C0"/>
                          </a:solidFill>
                          <a:latin typeface="Cambria Math" panose="02040503050406030204" pitchFamily="18" charset="0"/>
                        </a:rPr>
                        <m:t>𝒙</m:t>
                      </m:r>
                      <m:r>
                        <a:rPr kumimoji="1" lang="en-US" altLang="zh-CN" i="1">
                          <a:solidFill>
                            <a:srgbClr val="0070C0"/>
                          </a:solidFill>
                          <a:latin typeface="Cambria Math" panose="02040503050406030204" pitchFamily="18" charset="0"/>
                        </a:rPr>
                        <m:t>)</m:t>
                      </m:r>
                    </m:oMath>
                  </a14:m>
                  <a:r>
                    <a:rPr kumimoji="1" lang="zh-CN" altLang="en-US" dirty="0">
                      <a:solidFill>
                        <a:srgbClr val="FF0000"/>
                      </a:solidFill>
                    </a:rPr>
                    <a:t>的极小点作为原函数</a:t>
                  </a:r>
                  <a14:m>
                    <m:oMath xmlns:m="http://schemas.openxmlformats.org/officeDocument/2006/math">
                      <m:r>
                        <a:rPr kumimoji="1" lang="en-US" altLang="zh-CN" i="1">
                          <a:solidFill>
                            <a:srgbClr val="0070C0"/>
                          </a:solidFill>
                          <a:latin typeface="Cambria Math" panose="02040503050406030204" pitchFamily="18" charset="0"/>
                        </a:rPr>
                        <m:t>𝒇</m:t>
                      </m:r>
                      <m:r>
                        <a:rPr kumimoji="1" lang="en-US" altLang="zh-CN" i="1">
                          <a:solidFill>
                            <a:srgbClr val="0070C0"/>
                          </a:solidFill>
                          <a:latin typeface="Cambria Math" panose="02040503050406030204" pitchFamily="18" charset="0"/>
                        </a:rPr>
                        <m:t>(</m:t>
                      </m:r>
                      <m:r>
                        <a:rPr kumimoji="1" lang="en-US" altLang="zh-CN" i="1">
                          <a:solidFill>
                            <a:srgbClr val="0070C0"/>
                          </a:solidFill>
                          <a:latin typeface="Cambria Math" panose="02040503050406030204" pitchFamily="18" charset="0"/>
                        </a:rPr>
                        <m:t>𝒙</m:t>
                      </m:r>
                      <m:r>
                        <a:rPr kumimoji="1" lang="en-US" altLang="zh-CN" i="1">
                          <a:solidFill>
                            <a:srgbClr val="0070C0"/>
                          </a:solidFill>
                          <a:latin typeface="Cambria Math" panose="02040503050406030204" pitchFamily="18" charset="0"/>
                        </a:rPr>
                        <m:t>)</m:t>
                      </m:r>
                    </m:oMath>
                  </a14:m>
                  <a:r>
                    <a:rPr kumimoji="1" lang="zh-CN" altLang="en-US" dirty="0">
                      <a:solidFill>
                        <a:srgbClr val="FF0000"/>
                      </a:solidFill>
                    </a:rPr>
                    <a:t>极小点的近似。</a:t>
                  </a:r>
                </a:p>
              </p:txBody>
            </p:sp>
          </mc:Choice>
          <mc:Fallback xmlns="">
            <p:sp>
              <p:nvSpPr>
                <p:cNvPr id="9237" name="Rectangle 9"/>
                <p:cNvSpPr>
                  <a:spLocks noRot="1" noChangeAspect="1" noMove="1" noResize="1" noEditPoints="1" noAdjustHandles="1" noChangeArrowheads="1" noChangeShapeType="1" noTextEdit="1"/>
                </p:cNvSpPr>
                <p:nvPr/>
              </p:nvSpPr>
              <p:spPr bwMode="auto">
                <a:xfrm>
                  <a:off x="4247" y="951"/>
                  <a:ext cx="1513" cy="988"/>
                </a:xfrm>
                <a:prstGeom prst="rect">
                  <a:avLst/>
                </a:prstGeom>
                <a:blipFill rotWithShape="1">
                  <a:blip r:embed="rId4"/>
                </a:blip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9238" name="AutoShape 10"/>
            <p:cNvSpPr>
              <a:spLocks noChangeArrowheads="1"/>
            </p:cNvSpPr>
            <p:nvPr/>
          </p:nvSpPr>
          <p:spPr bwMode="auto">
            <a:xfrm>
              <a:off x="3822" y="1251"/>
              <a:ext cx="448" cy="144"/>
            </a:xfrm>
            <a:prstGeom prst="chevron">
              <a:avLst>
                <a:gd name="adj" fmla="val 77778"/>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mc:AlternateContent xmlns:mc="http://schemas.openxmlformats.org/markup-compatibility/2006" xmlns:a14="http://schemas.microsoft.com/office/drawing/2010/main">
        <mc:Choice Requires="a14">
          <p:sp>
            <p:nvSpPr>
              <p:cNvPr id="220171" name="Text Box 11"/>
              <p:cNvSpPr txBox="1">
                <a:spLocks noChangeArrowheads="1"/>
              </p:cNvSpPr>
              <p:nvPr/>
            </p:nvSpPr>
            <p:spPr bwMode="auto">
              <a:xfrm>
                <a:off x="2088705" y="3273152"/>
                <a:ext cx="2144713" cy="457200"/>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zh-CN" altLang="en-US" dirty="0">
                    <a:solidFill>
                      <a:srgbClr val="0000FF"/>
                    </a:solidFill>
                  </a:rPr>
                  <a:t>复杂函数 </a:t>
                </a:r>
                <a14:m>
                  <m:oMath xmlns:m="http://schemas.openxmlformats.org/officeDocument/2006/math">
                    <m:r>
                      <a:rPr kumimoji="1" lang="en-US" altLang="zh-CN" i="1">
                        <a:solidFill>
                          <a:srgbClr val="0070C0"/>
                        </a:solidFill>
                        <a:latin typeface="Cambria Math" panose="02040503050406030204" pitchFamily="18" charset="0"/>
                      </a:rPr>
                      <m:t>𝒇</m:t>
                    </m:r>
                    <m:r>
                      <a:rPr kumimoji="1" lang="en-US" altLang="zh-CN" i="1">
                        <a:solidFill>
                          <a:srgbClr val="0070C0"/>
                        </a:solidFill>
                        <a:latin typeface="Cambria Math" panose="02040503050406030204" pitchFamily="18" charset="0"/>
                      </a:rPr>
                      <m:t>(</m:t>
                    </m:r>
                    <m:r>
                      <a:rPr kumimoji="1" lang="en-US" altLang="zh-CN" i="1">
                        <a:solidFill>
                          <a:srgbClr val="0070C0"/>
                        </a:solidFill>
                        <a:latin typeface="Cambria Math" panose="02040503050406030204" pitchFamily="18" charset="0"/>
                      </a:rPr>
                      <m:t>𝒙</m:t>
                    </m:r>
                    <m:r>
                      <a:rPr kumimoji="1" lang="en-US" altLang="zh-CN" i="1">
                        <a:solidFill>
                          <a:srgbClr val="0070C0"/>
                        </a:solidFill>
                        <a:latin typeface="Cambria Math" panose="02040503050406030204" pitchFamily="18" charset="0"/>
                      </a:rPr>
                      <m:t>)</m:t>
                    </m:r>
                  </m:oMath>
                </a14:m>
                <a:r>
                  <a:rPr kumimoji="1" lang="en-US" altLang="zh-CN" dirty="0">
                    <a:solidFill>
                      <a:srgbClr val="0000FF"/>
                    </a:solidFill>
                  </a:rPr>
                  <a:t> </a:t>
                </a:r>
              </a:p>
            </p:txBody>
          </p:sp>
        </mc:Choice>
        <mc:Fallback xmlns="">
          <p:sp>
            <p:nvSpPr>
              <p:cNvPr id="220171" name="Text Box 11"/>
              <p:cNvSpPr txBox="1">
                <a:spLocks noRot="1" noChangeAspect="1" noMove="1" noResize="1" noEditPoints="1" noAdjustHandles="1" noChangeArrowheads="1" noChangeShapeType="1" noTextEdit="1"/>
              </p:cNvSpPr>
              <p:nvPr/>
            </p:nvSpPr>
            <p:spPr bwMode="auto">
              <a:xfrm>
                <a:off x="2088705" y="3273152"/>
                <a:ext cx="2144713" cy="457200"/>
              </a:xfrm>
              <a:prstGeom prst="rect">
                <a:avLst/>
              </a:prstGeom>
              <a:blipFill rotWithShape="1">
                <a:blip r:embed="rId5"/>
                <a:stretch>
                  <a:fillRect l="-9" t="-79" r="24" b="7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220172" name="Text Box 12"/>
          <p:cNvSpPr txBox="1">
            <a:spLocks noChangeArrowheads="1"/>
          </p:cNvSpPr>
          <p:nvPr/>
        </p:nvSpPr>
        <p:spPr bwMode="auto">
          <a:xfrm>
            <a:off x="5039867" y="4128815"/>
            <a:ext cx="19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a:solidFill>
                  <a:srgbClr val="0000FF"/>
                </a:solidFill>
              </a:rPr>
              <a:t>极小点</a:t>
            </a:r>
            <a:r>
              <a:rPr kumimoji="1" lang="en-US" altLang="zh-CN">
                <a:solidFill>
                  <a:srgbClr val="FF0000"/>
                </a:solidFill>
              </a:rPr>
              <a:t>x</a:t>
            </a:r>
            <a:r>
              <a:rPr kumimoji="1" lang="en-US" altLang="zh-CN" baseline="30000">
                <a:solidFill>
                  <a:srgbClr val="FF0000"/>
                </a:solidFill>
              </a:rPr>
              <a:t>**</a:t>
            </a:r>
            <a:r>
              <a:rPr kumimoji="1" lang="en-US" altLang="zh-CN">
                <a:solidFill>
                  <a:srgbClr val="0000FF"/>
                </a:solidFill>
              </a:rPr>
              <a:t> </a:t>
            </a:r>
          </a:p>
        </p:txBody>
      </p:sp>
      <p:grpSp>
        <p:nvGrpSpPr>
          <p:cNvPr id="220173" name="Group 13"/>
          <p:cNvGrpSpPr/>
          <p:nvPr/>
        </p:nvGrpSpPr>
        <p:grpSpPr bwMode="auto">
          <a:xfrm>
            <a:off x="4052442" y="3273155"/>
            <a:ext cx="3350098" cy="461963"/>
            <a:chOff x="1680" y="1728"/>
            <a:chExt cx="1829" cy="291"/>
          </a:xfrm>
        </p:grpSpPr>
        <mc:AlternateContent xmlns:mc="http://schemas.openxmlformats.org/markup-compatibility/2006" xmlns:a14="http://schemas.microsoft.com/office/drawing/2010/main">
          <mc:Choice Requires="a14">
            <p:sp>
              <p:nvSpPr>
                <p:cNvPr id="9235" name="Text Box 14"/>
                <p:cNvSpPr txBox="1">
                  <a:spLocks noChangeArrowheads="1"/>
                </p:cNvSpPr>
                <p:nvPr/>
              </p:nvSpPr>
              <p:spPr bwMode="auto">
                <a:xfrm>
                  <a:off x="2208" y="1728"/>
                  <a:ext cx="1301" cy="29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dirty="0">
                      <a:solidFill>
                        <a:srgbClr val="0000FF"/>
                      </a:solidFill>
                    </a:rPr>
                    <a:t>简单函数</a:t>
                  </a:r>
                  <a14:m>
                    <m:oMath xmlns:m="http://schemas.openxmlformats.org/officeDocument/2006/math">
                      <m:r>
                        <a:rPr kumimoji="1" lang="zh-CN" altLang="en-US" i="1" smtClean="0">
                          <a:solidFill>
                            <a:srgbClr val="0070C0"/>
                          </a:solidFill>
                          <a:latin typeface="Cambria Math" panose="02040503050406030204" pitchFamily="18" charset="0"/>
                        </a:rPr>
                        <m:t>𝝋</m:t>
                      </m:r>
                      <m:r>
                        <a:rPr kumimoji="1" lang="en-US" altLang="zh-CN" i="1">
                          <a:solidFill>
                            <a:srgbClr val="0070C0"/>
                          </a:solidFill>
                          <a:latin typeface="Cambria Math" panose="02040503050406030204" pitchFamily="18" charset="0"/>
                        </a:rPr>
                        <m:t>(</m:t>
                      </m:r>
                      <m:r>
                        <a:rPr kumimoji="1" lang="en-US" altLang="zh-CN" i="1">
                          <a:solidFill>
                            <a:srgbClr val="0070C0"/>
                          </a:solidFill>
                          <a:latin typeface="Cambria Math" panose="02040503050406030204" pitchFamily="18" charset="0"/>
                        </a:rPr>
                        <m:t>𝒙</m:t>
                      </m:r>
                      <m:r>
                        <a:rPr kumimoji="1" lang="en-US" altLang="zh-CN" i="1">
                          <a:solidFill>
                            <a:srgbClr val="0070C0"/>
                          </a:solidFill>
                          <a:latin typeface="Cambria Math" panose="02040503050406030204" pitchFamily="18" charset="0"/>
                        </a:rPr>
                        <m:t>)</m:t>
                      </m:r>
                    </m:oMath>
                  </a14:m>
                  <a:r>
                    <a:rPr kumimoji="1" lang="en-US" altLang="zh-CN" dirty="0">
                      <a:solidFill>
                        <a:srgbClr val="0000FF"/>
                      </a:solidFill>
                    </a:rPr>
                    <a:t> </a:t>
                  </a:r>
                </a:p>
              </p:txBody>
            </p:sp>
          </mc:Choice>
          <mc:Fallback xmlns="">
            <p:sp>
              <p:nvSpPr>
                <p:cNvPr id="9235" name="Text Box 14"/>
                <p:cNvSpPr txBox="1">
                  <a:spLocks noRot="1" noChangeAspect="1" noMove="1" noResize="1" noEditPoints="1" noAdjustHandles="1" noChangeArrowheads="1" noChangeShapeType="1" noTextEdit="1"/>
                </p:cNvSpPr>
                <p:nvPr/>
              </p:nvSpPr>
              <p:spPr bwMode="auto">
                <a:xfrm>
                  <a:off x="2208" y="1728"/>
                  <a:ext cx="1301" cy="291"/>
                </a:xfrm>
                <a:prstGeom prst="rect">
                  <a:avLst/>
                </a:prstGeom>
                <a:blipFill rotWithShape="1">
                  <a:blip r:embed="rId6"/>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9236" name="AutoShape 15"/>
            <p:cNvSpPr>
              <a:spLocks noChangeArrowheads="1"/>
            </p:cNvSpPr>
            <p:nvPr/>
          </p:nvSpPr>
          <p:spPr bwMode="auto">
            <a:xfrm flipH="1">
              <a:off x="1680" y="1776"/>
              <a:ext cx="384" cy="19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alpha val="50195"/>
              </a:schemeClr>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20176" name="Group 16"/>
          <p:cNvGrpSpPr/>
          <p:nvPr/>
        </p:nvGrpSpPr>
        <p:grpSpPr bwMode="auto">
          <a:xfrm>
            <a:off x="2474468" y="4128815"/>
            <a:ext cx="2408237" cy="457200"/>
            <a:chOff x="864" y="2160"/>
            <a:chExt cx="1200" cy="288"/>
          </a:xfrm>
        </p:grpSpPr>
        <p:sp>
          <p:nvSpPr>
            <p:cNvPr id="9233" name="Text Box 17"/>
            <p:cNvSpPr txBox="1">
              <a:spLocks noChangeArrowheads="1"/>
            </p:cNvSpPr>
            <p:nvPr/>
          </p:nvSpPr>
          <p:spPr bwMode="auto">
            <a:xfrm>
              <a:off x="864" y="2160"/>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a:solidFill>
                    <a:srgbClr val="0000FF"/>
                  </a:solidFill>
                </a:rPr>
                <a:t>极小点</a:t>
              </a:r>
              <a:r>
                <a:rPr kumimoji="1" lang="en-US" altLang="zh-CN">
                  <a:solidFill>
                    <a:srgbClr val="FF0000"/>
                  </a:solidFill>
                </a:rPr>
                <a:t>x</a:t>
              </a:r>
              <a:r>
                <a:rPr kumimoji="1" lang="en-US" altLang="zh-CN" baseline="30000">
                  <a:solidFill>
                    <a:srgbClr val="FF0000"/>
                  </a:solidFill>
                </a:rPr>
                <a:t>*</a:t>
              </a:r>
              <a:r>
                <a:rPr kumimoji="1" lang="en-US" altLang="zh-CN">
                  <a:solidFill>
                    <a:srgbClr val="0000FF"/>
                  </a:solidFill>
                </a:rPr>
                <a:t> </a:t>
              </a:r>
            </a:p>
          </p:txBody>
        </p:sp>
        <p:sp>
          <p:nvSpPr>
            <p:cNvPr id="9234" name="AutoShape 18"/>
            <p:cNvSpPr>
              <a:spLocks noChangeArrowheads="1"/>
            </p:cNvSpPr>
            <p:nvPr/>
          </p:nvSpPr>
          <p:spPr bwMode="auto">
            <a:xfrm flipH="1">
              <a:off x="1680" y="2192"/>
              <a:ext cx="384" cy="192"/>
            </a:xfrm>
            <a:custGeom>
              <a:avLst/>
              <a:gdLst>
                <a:gd name="T0" fmla="*/ 0 w 21600"/>
                <a:gd name="T1" fmla="*/ 0 h 21600"/>
                <a:gd name="T2" fmla="*/ 0 w 21600"/>
                <a:gd name="T3" fmla="*/ 0 h 21600"/>
                <a:gd name="T4" fmla="*/ 0 w 21600"/>
                <a:gd name="T5" fmla="*/ 0 h 21600"/>
                <a:gd name="T6" fmla="*/ 0 w 21600"/>
                <a:gd name="T7" fmla="*/ 0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0179" name="AutoShape 19"/>
          <p:cNvSpPr>
            <a:spLocks noChangeArrowheads="1"/>
          </p:cNvSpPr>
          <p:nvPr/>
        </p:nvSpPr>
        <p:spPr bwMode="auto">
          <a:xfrm>
            <a:off x="1631504" y="4797152"/>
            <a:ext cx="4186238" cy="1157288"/>
          </a:xfrm>
          <a:prstGeom prst="cloudCallout">
            <a:avLst>
              <a:gd name="adj1" fmla="val 27028"/>
              <a:gd name="adj2" fmla="val -89370"/>
            </a:avLst>
          </a:prstGeom>
          <a:solidFill>
            <a:srgbClr val="FFFFCC"/>
          </a:solidFill>
          <a:ln w="952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rgbClr val="FF0000"/>
                </a:solidFill>
              </a:rPr>
              <a:t>函数近似，</a:t>
            </a:r>
          </a:p>
          <a:p>
            <a:pPr algn="ctr" eaLnBrk="1" hangingPunct="1"/>
            <a:r>
              <a:rPr kumimoji="1" lang="zh-CN" altLang="en-US">
                <a:solidFill>
                  <a:srgbClr val="FF0000"/>
                </a:solidFill>
              </a:rPr>
              <a:t>最优点也应近似。</a:t>
            </a:r>
          </a:p>
        </p:txBody>
      </p:sp>
      <p:sp>
        <p:nvSpPr>
          <p:cNvPr id="220180" name="AutoShape 20"/>
          <p:cNvSpPr/>
          <p:nvPr/>
        </p:nvSpPr>
        <p:spPr bwMode="auto">
          <a:xfrm>
            <a:off x="7575105" y="4720952"/>
            <a:ext cx="2347913" cy="1377950"/>
          </a:xfrm>
          <a:prstGeom prst="accentCallout1">
            <a:avLst>
              <a:gd name="adj1" fmla="val 8296"/>
              <a:gd name="adj2" fmla="val -3245"/>
              <a:gd name="adj3" fmla="val -79954"/>
              <a:gd name="adj4" fmla="val -49630"/>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rgbClr val="0000FF"/>
                </a:solidFill>
              </a:rPr>
              <a:t>一次多项式</a:t>
            </a:r>
          </a:p>
          <a:p>
            <a:pPr algn="ctr" eaLnBrk="1" hangingPunct="1"/>
            <a:r>
              <a:rPr kumimoji="1" lang="zh-CN" altLang="en-US">
                <a:solidFill>
                  <a:srgbClr val="0000FF"/>
                </a:solidFill>
              </a:rPr>
              <a:t>二次多项式</a:t>
            </a:r>
          </a:p>
          <a:p>
            <a:pPr algn="ctr" eaLnBrk="1" hangingPunct="1"/>
            <a:r>
              <a:rPr kumimoji="1" lang="zh-CN" altLang="en-US">
                <a:solidFill>
                  <a:srgbClr val="0000FF"/>
                </a:solidFill>
              </a:rPr>
              <a:t>三次多项式</a:t>
            </a:r>
          </a:p>
        </p:txBody>
      </p:sp>
      <p:sp>
        <p:nvSpPr>
          <p:cNvPr id="220181" name="Line 21"/>
          <p:cNvSpPr>
            <a:spLocks noChangeShapeType="1"/>
          </p:cNvSpPr>
          <p:nvPr/>
        </p:nvSpPr>
        <p:spPr bwMode="auto">
          <a:xfrm>
            <a:off x="7978330" y="4949552"/>
            <a:ext cx="1439863" cy="0"/>
          </a:xfrm>
          <a:prstGeom prst="line">
            <a:avLst/>
          </a:prstGeom>
          <a:noFill/>
          <a:ln w="76200" cmpd="tri">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0182" name="AutoShape 22"/>
          <p:cNvSpPr>
            <a:spLocks noChangeArrowheads="1"/>
          </p:cNvSpPr>
          <p:nvPr/>
        </p:nvSpPr>
        <p:spPr bwMode="auto">
          <a:xfrm>
            <a:off x="5292280" y="3701777"/>
            <a:ext cx="309563" cy="381000"/>
          </a:xfrm>
          <a:prstGeom prst="downArrow">
            <a:avLst>
              <a:gd name="adj1" fmla="val 50000"/>
              <a:gd name="adj2" fmla="val 30769"/>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220183" name="AutoShape 23"/>
          <p:cNvSpPr>
            <a:spLocks noChangeArrowheads="1"/>
          </p:cNvSpPr>
          <p:nvPr/>
        </p:nvSpPr>
        <p:spPr bwMode="auto">
          <a:xfrm flipV="1">
            <a:off x="2866579" y="3776391"/>
            <a:ext cx="287338" cy="377825"/>
          </a:xfrm>
          <a:prstGeom prst="upArrow">
            <a:avLst>
              <a:gd name="adj1" fmla="val 50000"/>
              <a:gd name="adj2" fmla="val 32873"/>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23" name="文本框 22"/>
          <p:cNvSpPr txBox="1"/>
          <p:nvPr/>
        </p:nvSpPr>
        <p:spPr>
          <a:xfrm>
            <a:off x="623392" y="548680"/>
            <a:ext cx="6872140" cy="584775"/>
          </a:xfrm>
          <a:prstGeom prst="rect">
            <a:avLst/>
          </a:prstGeom>
          <a:noFill/>
        </p:spPr>
        <p:txBody>
          <a:bodyPr wrap="square">
            <a:spAutoFit/>
          </a:bodyPr>
          <a:lstStyle/>
          <a:p>
            <a:pPr algn="just">
              <a:spcBef>
                <a:spcPts val="600"/>
              </a:spcBef>
              <a:spcAft>
                <a:spcPts val="600"/>
              </a:spcAft>
            </a:pPr>
            <a:r>
              <a:rPr lang="zh-CN" altLang="zh-CN" sz="3200" kern="100" dirty="0">
                <a:effectLst/>
                <a:latin typeface="Times New Roman" panose="02020603050405020304" pitchFamily="18" charset="0"/>
                <a:ea typeface="黑体" panose="02010609060101010101" pitchFamily="49" charset="-122"/>
              </a:rPr>
              <a:t>一、</a:t>
            </a:r>
            <a:r>
              <a:rPr lang="zh-CN" altLang="en-US" sz="3200" kern="100" dirty="0">
                <a:effectLst/>
                <a:latin typeface="Times New Roman" panose="02020603050405020304" pitchFamily="18" charset="0"/>
                <a:ea typeface="黑体" panose="02010609060101010101" pitchFamily="49" charset="-122"/>
              </a:rPr>
              <a:t>基本思想</a:t>
            </a:r>
            <a:endParaRPr lang="zh-CN" altLang="zh-CN" sz="3200" kern="100" dirty="0">
              <a:effectLst/>
              <a:latin typeface="Times New Roman" panose="02020603050405020304" pitchFamily="18" charset="0"/>
              <a:ea typeface="宋体" panose="02010600030101010101" pitchFamily="2"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220164"/>
                                        </p:tgtEl>
                                        <p:attrNameLst>
                                          <p:attrName>style.visibility</p:attrName>
                                        </p:attrNameLst>
                                      </p:cBhvr>
                                      <p:to>
                                        <p:strVal val="visible"/>
                                      </p:to>
                                    </p:set>
                                    <p:anim calcmode="lin" valueType="num">
                                      <p:cBhvr>
                                        <p:cTn id="7" dur="3000" fill="hold"/>
                                        <p:tgtEl>
                                          <p:spTgt spid="220164"/>
                                        </p:tgtEl>
                                        <p:attrNameLst>
                                          <p:attrName>ppt_w</p:attrName>
                                        </p:attrNameLst>
                                      </p:cBhvr>
                                      <p:tavLst>
                                        <p:tav tm="0">
                                          <p:val>
                                            <p:fltVal val="0"/>
                                          </p:val>
                                        </p:tav>
                                        <p:tav tm="100000">
                                          <p:val>
                                            <p:strVal val="#ppt_w"/>
                                          </p:val>
                                        </p:tav>
                                      </p:tavLst>
                                    </p:anim>
                                    <p:anim calcmode="lin" valueType="num">
                                      <p:cBhvr>
                                        <p:cTn id="8" dur="3000" fill="hold"/>
                                        <p:tgtEl>
                                          <p:spTgt spid="22016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nodeType="clickEffect">
                                  <p:stCondLst>
                                    <p:cond delay="0"/>
                                  </p:stCondLst>
                                  <p:childTnLst>
                                    <p:set>
                                      <p:cBhvr>
                                        <p:cTn id="12" dur="1" fill="hold">
                                          <p:stCondLst>
                                            <p:cond delay="0"/>
                                          </p:stCondLst>
                                        </p:cTn>
                                        <p:tgtEl>
                                          <p:spTgt spid="220165"/>
                                        </p:tgtEl>
                                        <p:attrNameLst>
                                          <p:attrName>style.visibility</p:attrName>
                                        </p:attrNameLst>
                                      </p:cBhvr>
                                      <p:to>
                                        <p:strVal val="visible"/>
                                      </p:to>
                                    </p:set>
                                    <p:animEffect transition="in" filter="wipe(left)">
                                      <p:cBhvr>
                                        <p:cTn id="13" dur="500"/>
                                        <p:tgtEl>
                                          <p:spTgt spid="220165"/>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220168"/>
                                        </p:tgtEl>
                                        <p:attrNameLst>
                                          <p:attrName>style.visibility</p:attrName>
                                        </p:attrNameLst>
                                      </p:cBhvr>
                                      <p:to>
                                        <p:strVal val="visible"/>
                                      </p:to>
                                    </p:set>
                                    <p:animEffect transition="in" filter="wipe(left)">
                                      <p:cBhvr>
                                        <p:cTn id="18" dur="500"/>
                                        <p:tgtEl>
                                          <p:spTgt spid="220168"/>
                                        </p:tgtEl>
                                      </p:cBhvr>
                                    </p:animEffect>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grpId="0" nodeType="clickEffect">
                                  <p:stCondLst>
                                    <p:cond delay="0"/>
                                  </p:stCondLst>
                                  <p:childTnLst>
                                    <p:set>
                                      <p:cBhvr>
                                        <p:cTn id="22" dur="1" fill="hold">
                                          <p:stCondLst>
                                            <p:cond delay="0"/>
                                          </p:stCondLst>
                                        </p:cTn>
                                        <p:tgtEl>
                                          <p:spTgt spid="220171"/>
                                        </p:tgtEl>
                                        <p:attrNameLst>
                                          <p:attrName>style.visibility</p:attrName>
                                        </p:attrNameLst>
                                      </p:cBhvr>
                                      <p:to>
                                        <p:strVal val="visible"/>
                                      </p:to>
                                    </p:set>
                                    <p:anim calcmode="lin" valueType="num">
                                      <p:cBhvr>
                                        <p:cTn id="23" dur="500" fill="hold"/>
                                        <p:tgtEl>
                                          <p:spTgt spid="220171"/>
                                        </p:tgtEl>
                                        <p:attrNameLst>
                                          <p:attrName>ppt_w</p:attrName>
                                        </p:attrNameLst>
                                      </p:cBhvr>
                                      <p:tavLst>
                                        <p:tav tm="0">
                                          <p:val>
                                            <p:fltVal val="0"/>
                                          </p:val>
                                        </p:tav>
                                        <p:tav tm="100000">
                                          <p:val>
                                            <p:strVal val="#ppt_w"/>
                                          </p:val>
                                        </p:tav>
                                      </p:tavLst>
                                    </p:anim>
                                    <p:anim calcmode="lin" valueType="num">
                                      <p:cBhvr>
                                        <p:cTn id="24" dur="500" fill="hold"/>
                                        <p:tgtEl>
                                          <p:spTgt spid="220171"/>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nodeType="clickEffect">
                                  <p:stCondLst>
                                    <p:cond delay="0"/>
                                  </p:stCondLst>
                                  <p:childTnLst>
                                    <p:set>
                                      <p:cBhvr>
                                        <p:cTn id="28" dur="1" fill="hold">
                                          <p:stCondLst>
                                            <p:cond delay="0"/>
                                          </p:stCondLst>
                                        </p:cTn>
                                        <p:tgtEl>
                                          <p:spTgt spid="220173"/>
                                        </p:tgtEl>
                                        <p:attrNameLst>
                                          <p:attrName>style.visibility</p:attrName>
                                        </p:attrNameLst>
                                      </p:cBhvr>
                                      <p:to>
                                        <p:strVal val="visible"/>
                                      </p:to>
                                    </p:set>
                                    <p:anim calcmode="lin" valueType="num">
                                      <p:cBhvr>
                                        <p:cTn id="29" dur="500" fill="hold"/>
                                        <p:tgtEl>
                                          <p:spTgt spid="220173"/>
                                        </p:tgtEl>
                                        <p:attrNameLst>
                                          <p:attrName>ppt_w</p:attrName>
                                        </p:attrNameLst>
                                      </p:cBhvr>
                                      <p:tavLst>
                                        <p:tav tm="0">
                                          <p:val>
                                            <p:fltVal val="0"/>
                                          </p:val>
                                        </p:tav>
                                        <p:tav tm="100000">
                                          <p:val>
                                            <p:strVal val="#ppt_w"/>
                                          </p:val>
                                        </p:tav>
                                      </p:tavLst>
                                    </p:anim>
                                    <p:anim calcmode="lin" valueType="num">
                                      <p:cBhvr>
                                        <p:cTn id="30" dur="500" fill="hold"/>
                                        <p:tgtEl>
                                          <p:spTgt spid="220173"/>
                                        </p:tgtEl>
                                        <p:attrNameLst>
                                          <p:attrName>ppt_h</p:attrName>
                                        </p:attrNameLst>
                                      </p:cBhvr>
                                      <p:tavLst>
                                        <p:tav tm="0">
                                          <p:val>
                                            <p:strVal val="#ppt_h"/>
                                          </p:val>
                                        </p:tav>
                                        <p:tav tm="100000">
                                          <p:val>
                                            <p:strVal val="#ppt_h"/>
                                          </p:val>
                                        </p:tav>
                                      </p:tavLst>
                                    </p:anim>
                                  </p:childTnLst>
                                </p:cTn>
                              </p:par>
                            </p:childTnLst>
                          </p:cTn>
                        </p:par>
                        <p:par>
                          <p:cTn id="31" fill="hold">
                            <p:stCondLst>
                              <p:cond delay="500"/>
                            </p:stCondLst>
                            <p:childTnLst>
                              <p:par>
                                <p:cTn id="32" presetID="17" presetClass="entr" presetSubtype="10" fill="hold" grpId="0" nodeType="afterEffect">
                                  <p:stCondLst>
                                    <p:cond delay="0"/>
                                  </p:stCondLst>
                                  <p:childTnLst>
                                    <p:set>
                                      <p:cBhvr>
                                        <p:cTn id="33" dur="1" fill="hold">
                                          <p:stCondLst>
                                            <p:cond delay="0"/>
                                          </p:stCondLst>
                                        </p:cTn>
                                        <p:tgtEl>
                                          <p:spTgt spid="220182"/>
                                        </p:tgtEl>
                                        <p:attrNameLst>
                                          <p:attrName>style.visibility</p:attrName>
                                        </p:attrNameLst>
                                      </p:cBhvr>
                                      <p:to>
                                        <p:strVal val="visible"/>
                                      </p:to>
                                    </p:set>
                                    <p:anim calcmode="lin" valueType="num">
                                      <p:cBhvr>
                                        <p:cTn id="34" dur="500" fill="hold"/>
                                        <p:tgtEl>
                                          <p:spTgt spid="220182"/>
                                        </p:tgtEl>
                                        <p:attrNameLst>
                                          <p:attrName>ppt_w</p:attrName>
                                        </p:attrNameLst>
                                      </p:cBhvr>
                                      <p:tavLst>
                                        <p:tav tm="0">
                                          <p:val>
                                            <p:fltVal val="0"/>
                                          </p:val>
                                        </p:tav>
                                        <p:tav tm="100000">
                                          <p:val>
                                            <p:strVal val="#ppt_w"/>
                                          </p:val>
                                        </p:tav>
                                      </p:tavLst>
                                    </p:anim>
                                    <p:anim calcmode="lin" valueType="num">
                                      <p:cBhvr>
                                        <p:cTn id="35" dur="500" fill="hold"/>
                                        <p:tgtEl>
                                          <p:spTgt spid="220182"/>
                                        </p:tgtEl>
                                        <p:attrNameLst>
                                          <p:attrName>ppt_h</p:attrName>
                                        </p:attrNameLst>
                                      </p:cBhvr>
                                      <p:tavLst>
                                        <p:tav tm="0">
                                          <p:val>
                                            <p:strVal val="#ppt_h"/>
                                          </p:val>
                                        </p:tav>
                                        <p:tav tm="100000">
                                          <p:val>
                                            <p:strVal val="#ppt_h"/>
                                          </p:val>
                                        </p:tav>
                                      </p:tavLst>
                                    </p:anim>
                                  </p:childTnLst>
                                </p:cTn>
                              </p:par>
                            </p:childTnLst>
                          </p:cTn>
                        </p:par>
                      </p:childTnLst>
                    </p:cTn>
                  </p:par>
                  <p:par>
                    <p:cTn id="36" fill="hold">
                      <p:stCondLst>
                        <p:cond delay="indefinite"/>
                      </p:stCondLst>
                      <p:childTnLst>
                        <p:par>
                          <p:cTn id="37" fill="hold">
                            <p:stCondLst>
                              <p:cond delay="0"/>
                            </p:stCondLst>
                            <p:childTnLst>
                              <p:par>
                                <p:cTn id="38" presetID="17" presetClass="entr" presetSubtype="10" fill="hold" grpId="0" nodeType="clickEffect">
                                  <p:stCondLst>
                                    <p:cond delay="0"/>
                                  </p:stCondLst>
                                  <p:childTnLst>
                                    <p:set>
                                      <p:cBhvr>
                                        <p:cTn id="39" dur="1" fill="hold">
                                          <p:stCondLst>
                                            <p:cond delay="0"/>
                                          </p:stCondLst>
                                        </p:cTn>
                                        <p:tgtEl>
                                          <p:spTgt spid="220172"/>
                                        </p:tgtEl>
                                        <p:attrNameLst>
                                          <p:attrName>style.visibility</p:attrName>
                                        </p:attrNameLst>
                                      </p:cBhvr>
                                      <p:to>
                                        <p:strVal val="visible"/>
                                      </p:to>
                                    </p:set>
                                    <p:anim calcmode="lin" valueType="num">
                                      <p:cBhvr>
                                        <p:cTn id="40" dur="500" fill="hold"/>
                                        <p:tgtEl>
                                          <p:spTgt spid="220172"/>
                                        </p:tgtEl>
                                        <p:attrNameLst>
                                          <p:attrName>ppt_w</p:attrName>
                                        </p:attrNameLst>
                                      </p:cBhvr>
                                      <p:tavLst>
                                        <p:tav tm="0">
                                          <p:val>
                                            <p:fltVal val="0"/>
                                          </p:val>
                                        </p:tav>
                                        <p:tav tm="100000">
                                          <p:val>
                                            <p:strVal val="#ppt_w"/>
                                          </p:val>
                                        </p:tav>
                                      </p:tavLst>
                                    </p:anim>
                                    <p:anim calcmode="lin" valueType="num">
                                      <p:cBhvr>
                                        <p:cTn id="41" dur="500" fill="hold"/>
                                        <p:tgtEl>
                                          <p:spTgt spid="220172"/>
                                        </p:tgtEl>
                                        <p:attrNameLst>
                                          <p:attrName>ppt_h</p:attrName>
                                        </p:attrNameLst>
                                      </p:cBhvr>
                                      <p:tavLst>
                                        <p:tav tm="0">
                                          <p:val>
                                            <p:strVal val="#ppt_h"/>
                                          </p:val>
                                        </p:tav>
                                        <p:tav tm="100000">
                                          <p:val>
                                            <p:strVal val="#ppt_h"/>
                                          </p:val>
                                        </p:tav>
                                      </p:tavLst>
                                    </p:anim>
                                  </p:childTnLst>
                                </p:cTn>
                              </p:par>
                            </p:childTnLst>
                          </p:cTn>
                        </p:par>
                      </p:childTnLst>
                    </p:cTn>
                  </p:par>
                  <p:par>
                    <p:cTn id="42" fill="hold">
                      <p:stCondLst>
                        <p:cond delay="indefinite"/>
                      </p:stCondLst>
                      <p:childTnLst>
                        <p:par>
                          <p:cTn id="43" fill="hold">
                            <p:stCondLst>
                              <p:cond delay="0"/>
                            </p:stCondLst>
                            <p:childTnLst>
                              <p:par>
                                <p:cTn id="44" presetID="17" presetClass="entr" presetSubtype="10" fill="hold" nodeType="clickEffect">
                                  <p:stCondLst>
                                    <p:cond delay="0"/>
                                  </p:stCondLst>
                                  <p:childTnLst>
                                    <p:set>
                                      <p:cBhvr>
                                        <p:cTn id="45" dur="1" fill="hold">
                                          <p:stCondLst>
                                            <p:cond delay="0"/>
                                          </p:stCondLst>
                                        </p:cTn>
                                        <p:tgtEl>
                                          <p:spTgt spid="220176"/>
                                        </p:tgtEl>
                                        <p:attrNameLst>
                                          <p:attrName>style.visibility</p:attrName>
                                        </p:attrNameLst>
                                      </p:cBhvr>
                                      <p:to>
                                        <p:strVal val="visible"/>
                                      </p:to>
                                    </p:set>
                                    <p:anim calcmode="lin" valueType="num">
                                      <p:cBhvr>
                                        <p:cTn id="46" dur="500" fill="hold"/>
                                        <p:tgtEl>
                                          <p:spTgt spid="220176"/>
                                        </p:tgtEl>
                                        <p:attrNameLst>
                                          <p:attrName>ppt_w</p:attrName>
                                        </p:attrNameLst>
                                      </p:cBhvr>
                                      <p:tavLst>
                                        <p:tav tm="0">
                                          <p:val>
                                            <p:fltVal val="0"/>
                                          </p:val>
                                        </p:tav>
                                        <p:tav tm="100000">
                                          <p:val>
                                            <p:strVal val="#ppt_w"/>
                                          </p:val>
                                        </p:tav>
                                      </p:tavLst>
                                    </p:anim>
                                    <p:anim calcmode="lin" valueType="num">
                                      <p:cBhvr>
                                        <p:cTn id="47" dur="500" fill="hold"/>
                                        <p:tgtEl>
                                          <p:spTgt spid="220176"/>
                                        </p:tgtEl>
                                        <p:attrNameLst>
                                          <p:attrName>ppt_h</p:attrName>
                                        </p:attrNameLst>
                                      </p:cBhvr>
                                      <p:tavLst>
                                        <p:tav tm="0">
                                          <p:val>
                                            <p:strVal val="#ppt_h"/>
                                          </p:val>
                                        </p:tav>
                                        <p:tav tm="100000">
                                          <p:val>
                                            <p:strVal val="#ppt_h"/>
                                          </p:val>
                                        </p:tav>
                                      </p:tavLst>
                                    </p:anim>
                                  </p:childTnLst>
                                </p:cTn>
                              </p:par>
                            </p:childTnLst>
                          </p:cTn>
                        </p:par>
                        <p:par>
                          <p:cTn id="48" fill="hold">
                            <p:stCondLst>
                              <p:cond delay="500"/>
                            </p:stCondLst>
                            <p:childTnLst>
                              <p:par>
                                <p:cTn id="49" presetID="17" presetClass="entr" presetSubtype="10" fill="hold" grpId="0" nodeType="afterEffect">
                                  <p:stCondLst>
                                    <p:cond delay="0"/>
                                  </p:stCondLst>
                                  <p:childTnLst>
                                    <p:set>
                                      <p:cBhvr>
                                        <p:cTn id="50" dur="1" fill="hold">
                                          <p:stCondLst>
                                            <p:cond delay="0"/>
                                          </p:stCondLst>
                                        </p:cTn>
                                        <p:tgtEl>
                                          <p:spTgt spid="220183"/>
                                        </p:tgtEl>
                                        <p:attrNameLst>
                                          <p:attrName>style.visibility</p:attrName>
                                        </p:attrNameLst>
                                      </p:cBhvr>
                                      <p:to>
                                        <p:strVal val="visible"/>
                                      </p:to>
                                    </p:set>
                                    <p:anim calcmode="lin" valueType="num">
                                      <p:cBhvr>
                                        <p:cTn id="51" dur="500" fill="hold"/>
                                        <p:tgtEl>
                                          <p:spTgt spid="220183"/>
                                        </p:tgtEl>
                                        <p:attrNameLst>
                                          <p:attrName>ppt_w</p:attrName>
                                        </p:attrNameLst>
                                      </p:cBhvr>
                                      <p:tavLst>
                                        <p:tav tm="0">
                                          <p:val>
                                            <p:fltVal val="0"/>
                                          </p:val>
                                        </p:tav>
                                        <p:tav tm="100000">
                                          <p:val>
                                            <p:strVal val="#ppt_w"/>
                                          </p:val>
                                        </p:tav>
                                      </p:tavLst>
                                    </p:anim>
                                    <p:anim calcmode="lin" valueType="num">
                                      <p:cBhvr>
                                        <p:cTn id="52" dur="500" fill="hold"/>
                                        <p:tgtEl>
                                          <p:spTgt spid="220183"/>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7" presetClass="entr" presetSubtype="10" fill="hold" grpId="0" nodeType="clickEffect">
                                  <p:stCondLst>
                                    <p:cond delay="0"/>
                                  </p:stCondLst>
                                  <p:childTnLst>
                                    <p:set>
                                      <p:cBhvr>
                                        <p:cTn id="56" dur="1" fill="hold">
                                          <p:stCondLst>
                                            <p:cond delay="0"/>
                                          </p:stCondLst>
                                        </p:cTn>
                                        <p:tgtEl>
                                          <p:spTgt spid="220179"/>
                                        </p:tgtEl>
                                        <p:attrNameLst>
                                          <p:attrName>style.visibility</p:attrName>
                                        </p:attrNameLst>
                                      </p:cBhvr>
                                      <p:to>
                                        <p:strVal val="visible"/>
                                      </p:to>
                                    </p:set>
                                    <p:anim calcmode="lin" valueType="num">
                                      <p:cBhvr>
                                        <p:cTn id="57" dur="500" fill="hold"/>
                                        <p:tgtEl>
                                          <p:spTgt spid="220179"/>
                                        </p:tgtEl>
                                        <p:attrNameLst>
                                          <p:attrName>ppt_w</p:attrName>
                                        </p:attrNameLst>
                                      </p:cBhvr>
                                      <p:tavLst>
                                        <p:tav tm="0">
                                          <p:val>
                                            <p:fltVal val="0"/>
                                          </p:val>
                                        </p:tav>
                                        <p:tav tm="100000">
                                          <p:val>
                                            <p:strVal val="#ppt_w"/>
                                          </p:val>
                                        </p:tav>
                                      </p:tavLst>
                                    </p:anim>
                                    <p:anim calcmode="lin" valueType="num">
                                      <p:cBhvr>
                                        <p:cTn id="58" dur="500" fill="hold"/>
                                        <p:tgtEl>
                                          <p:spTgt spid="220179"/>
                                        </p:tgtEl>
                                        <p:attrNameLst>
                                          <p:attrName>ppt_h</p:attrName>
                                        </p:attrNameLst>
                                      </p:cBhvr>
                                      <p:tavLst>
                                        <p:tav tm="0">
                                          <p:val>
                                            <p:strVal val="#ppt_h"/>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10" fill="hold" grpId="0" nodeType="clickEffect">
                                  <p:stCondLst>
                                    <p:cond delay="0"/>
                                  </p:stCondLst>
                                  <p:childTnLst>
                                    <p:set>
                                      <p:cBhvr>
                                        <p:cTn id="62" dur="1" fill="hold">
                                          <p:stCondLst>
                                            <p:cond delay="0"/>
                                          </p:stCondLst>
                                        </p:cTn>
                                        <p:tgtEl>
                                          <p:spTgt spid="220180"/>
                                        </p:tgtEl>
                                        <p:attrNameLst>
                                          <p:attrName>style.visibility</p:attrName>
                                        </p:attrNameLst>
                                      </p:cBhvr>
                                      <p:to>
                                        <p:strVal val="visible"/>
                                      </p:to>
                                    </p:set>
                                    <p:anim calcmode="lin" valueType="num">
                                      <p:cBhvr>
                                        <p:cTn id="63" dur="500" fill="hold"/>
                                        <p:tgtEl>
                                          <p:spTgt spid="220180"/>
                                        </p:tgtEl>
                                        <p:attrNameLst>
                                          <p:attrName>ppt_w</p:attrName>
                                        </p:attrNameLst>
                                      </p:cBhvr>
                                      <p:tavLst>
                                        <p:tav tm="0">
                                          <p:val>
                                            <p:fltVal val="0"/>
                                          </p:val>
                                        </p:tav>
                                        <p:tav tm="100000">
                                          <p:val>
                                            <p:strVal val="#ppt_w"/>
                                          </p:val>
                                        </p:tav>
                                      </p:tavLst>
                                    </p:anim>
                                    <p:anim calcmode="lin" valueType="num">
                                      <p:cBhvr>
                                        <p:cTn id="64" dur="500" fill="hold"/>
                                        <p:tgtEl>
                                          <p:spTgt spid="220180"/>
                                        </p:tgtEl>
                                        <p:attrNameLst>
                                          <p:attrName>ppt_h</p:attrName>
                                        </p:attrNameLst>
                                      </p:cBhvr>
                                      <p:tavLst>
                                        <p:tav tm="0">
                                          <p:val>
                                            <p:strVal val="#ppt_h"/>
                                          </p:val>
                                        </p:tav>
                                        <p:tav tm="100000">
                                          <p:val>
                                            <p:strVal val="#ppt_h"/>
                                          </p:val>
                                        </p:tav>
                                      </p:tavLst>
                                    </p:anim>
                                  </p:childTnLst>
                                </p:cTn>
                              </p:par>
                            </p:childTnLst>
                          </p:cTn>
                        </p:par>
                        <p:par>
                          <p:cTn id="65" fill="hold">
                            <p:stCondLst>
                              <p:cond delay="500"/>
                            </p:stCondLst>
                            <p:childTnLst>
                              <p:par>
                                <p:cTn id="66" presetID="19" presetClass="entr" presetSubtype="10" fill="hold" nodeType="afterEffect">
                                  <p:stCondLst>
                                    <p:cond delay="0"/>
                                  </p:stCondLst>
                                  <p:childTnLst>
                                    <p:set>
                                      <p:cBhvr>
                                        <p:cTn id="67" dur="1" fill="hold">
                                          <p:stCondLst>
                                            <p:cond delay="0"/>
                                          </p:stCondLst>
                                        </p:cTn>
                                        <p:tgtEl>
                                          <p:spTgt spid="220181"/>
                                        </p:tgtEl>
                                        <p:attrNameLst>
                                          <p:attrName>style.visibility</p:attrName>
                                        </p:attrNameLst>
                                      </p:cBhvr>
                                      <p:to>
                                        <p:strVal val="visible"/>
                                      </p:to>
                                    </p:set>
                                    <p:anim calcmode="lin" valueType="num">
                                      <p:cBhvr>
                                        <p:cTn id="68" dur="5000" fill="hold"/>
                                        <p:tgtEl>
                                          <p:spTgt spid="220181"/>
                                        </p:tgtEl>
                                        <p:attrNameLst>
                                          <p:attrName>ppt_w</p:attrName>
                                        </p:attrNameLst>
                                      </p:cBhvr>
                                      <p:tavLst>
                                        <p:tav tm="0" fmla="#ppt_w*sin(2.5*pi*$)">
                                          <p:val>
                                            <p:fltVal val="0"/>
                                          </p:val>
                                        </p:tav>
                                        <p:tav tm="100000">
                                          <p:val>
                                            <p:fltVal val="1"/>
                                          </p:val>
                                        </p:tav>
                                      </p:tavLst>
                                    </p:anim>
                                    <p:anim calcmode="lin" valueType="num">
                                      <p:cBhvr>
                                        <p:cTn id="69" dur="5000" fill="hold"/>
                                        <p:tgtEl>
                                          <p:spTgt spid="220181"/>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4" grpId="0" bldLvl="0" animBg="1" autoUpdateAnimBg="0"/>
      <p:bldP spid="220171" grpId="0" autoUpdateAnimBg="0"/>
      <p:bldP spid="220172" grpId="0" autoUpdateAnimBg="0"/>
      <p:bldP spid="220179" grpId="0" animBg="1" autoUpdateAnimBg="0"/>
      <p:bldP spid="220180" grpId="0" animBg="1" autoUpdateAnimBg="0"/>
      <p:bldP spid="220182" grpId="0" animBg="1"/>
      <p:bldP spid="22018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1609090" y="476672"/>
                <a:ext cx="9095422" cy="5077460"/>
              </a:xfrm>
              <a:prstGeom prst="rect">
                <a:avLst/>
              </a:prstGeom>
              <a:noFill/>
            </p:spPr>
            <p:txBody>
              <a:bodyPr wrap="square" rtlCol="0">
                <a:spAutoFit/>
              </a:bodyPr>
              <a:lstStyle/>
              <a:p>
                <a:pPr algn="just" fontAlgn="auto">
                  <a:lnSpc>
                    <a:spcPct val="150000"/>
                  </a:lnSpc>
                </a:pP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抛物线逼近法又叫三点二次插值法，其基本思想是在极小点附近，用二次插值函数</a:t>
                </a:r>
                <a14:m>
                  <m:oMath xmlns:m="http://schemas.openxmlformats.org/officeDocument/2006/math">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逼近目标函数</a:t>
                </a:r>
                <a14:m>
                  <m:oMath xmlns:m="http://schemas.openxmlformats.org/officeDocument/2006/math">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设</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为</a:t>
                </a:r>
                <a14:m>
                  <m:oMath xmlns:m="http://schemas.openxmlformats.org/officeDocument/2006/math">
                    <m:r>
                      <a:rPr kumimoji="1" lang="en-US" altLang="zh-CN" sz="2400" i="1">
                        <a:latin typeface="Cambria Math" panose="02040503050406030204" pitchFamily="18" charset="0"/>
                      </a:rPr>
                      <m:t>𝑓</m:t>
                    </m:r>
                    <m:r>
                      <a:rPr kumimoji="1" lang="en-US" altLang="zh-CN" sz="2400" i="1">
                        <a:latin typeface="Cambria Math" panose="02040503050406030204" pitchFamily="18" charset="0"/>
                      </a:rPr>
                      <m:t>(</m:t>
                    </m:r>
                    <m:r>
                      <a:rPr kumimoji="1" lang="en-US" altLang="zh-CN" sz="2400" i="1">
                        <a:latin typeface="Cambria Math" panose="02040503050406030204" pitchFamily="18" charset="0"/>
                      </a:rPr>
                      <m:t>𝑥</m:t>
                    </m:r>
                    <m:r>
                      <a:rPr kumimoji="1" lang="en-US" altLang="zh-CN" sz="2400" i="1">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极小点附近的三个点，且满足以下条件：</a:t>
                </a:r>
              </a:p>
              <a:p>
                <a:pPr algn="just" fontAlgn="auto">
                  <a:lnSpc>
                    <a:spcPct val="150000"/>
                  </a:lnSpc>
                </a:pPr>
                <a:r>
                  <a:rPr kumimoji="1" lang="en-US" altLang="zh-CN" sz="2400" b="0" dirty="0">
                    <a:solidFill>
                      <a:schemeClr val="tx1"/>
                    </a:solidFill>
                    <a:cs typeface="Cambria Math" panose="02040503050406030204" pitchFamily="18" charset="0"/>
                  </a:rPr>
                  <a:t>                                    </a:t>
                </a:r>
                <a14:m>
                  <m:oMath xmlns:m="http://schemas.openxmlformats.org/officeDocument/2006/math">
                    <m:r>
                      <a:rPr kumimoji="1" lang="en-US" altLang="zh-CN" sz="2400" b="0" i="1" smtClean="0">
                        <a:solidFill>
                          <a:schemeClr val="tx1"/>
                        </a:solidFill>
                        <a:latin typeface="Cambria Math" panose="02040503050406030204" pitchFamily="18" charset="0"/>
                        <a:cs typeface="Cambria Math" panose="02040503050406030204" pitchFamily="18" charset="0"/>
                      </a:rPr>
                      <m:t> </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kumimoji="1" lang="en-US" altLang="zh-CN" sz="2400" i="1">
                        <a:solidFill>
                          <a:schemeClr val="tx1"/>
                        </a:solidFill>
                        <a:latin typeface="Cambria Math" panose="02040503050406030204" pitchFamily="18" charset="0"/>
                        <a:cs typeface="Cambria Math" panose="02040503050406030204" pitchFamily="18" charset="0"/>
                      </a:rPr>
                      <m:t>&lt;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&lt;</m:t>
                        </m:r>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oMath>
                </a14:m>
                <a:endParaRPr kumimoji="1" lang="en-US" altLang="zh-CN" sz="2400" i="1" dirty="0">
                  <a:solidFill>
                    <a:schemeClr val="tx1"/>
                  </a:solidFill>
                  <a:latin typeface="Cambria Math" panose="02040503050406030204" pitchFamily="18" charset="0"/>
                  <a:cs typeface="Cambria Math" panose="02040503050406030204" pitchFamily="18" charset="0"/>
                </a:endParaRPr>
              </a:p>
              <a:p>
                <a:pPr algn="just" fontAlgn="auto">
                  <a:lnSpc>
                    <a:spcPct val="150000"/>
                  </a:lnSpc>
                </a:pPr>
                <a:r>
                  <a:rPr kumimoji="1" lang="en-US" altLang="zh-CN" sz="2400" dirty="0">
                    <a:solidFill>
                      <a:schemeClr val="tx1"/>
                    </a:solidFill>
                    <a:latin typeface="Cambria Math" panose="02040503050406030204" pitchFamily="18" charset="0"/>
                  </a:rPr>
                  <a:t>                       </a:t>
                </a:r>
                <a14:m>
                  <m:oMath xmlns:m="http://schemas.openxmlformats.org/officeDocument/2006/math">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&gt;</m:t>
                    </m:r>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r>
                      <a:rPr kumimoji="1" lang="en-US" altLang="zh-CN" sz="2400" i="1">
                        <a:solidFill>
                          <a:schemeClr val="tx1"/>
                        </a:solidFill>
                        <a:latin typeface="Cambria Math" panose="02040503050406030204" pitchFamily="18" charset="0"/>
                      </a:rPr>
                      <m:t>),</m:t>
                    </m:r>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&gt;</m:t>
                    </m:r>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			</a:t>
                </a:r>
              </a:p>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则称</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为“两头大中间小”的三点。抛物线逼近法就是过三点</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作抛物线</a:t>
                </a:r>
                <a14:m>
                  <m:oMath xmlns:m="http://schemas.openxmlformats.org/officeDocument/2006/math">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，然后求</a:t>
                </a:r>
                <a14:m>
                  <m:oMath xmlns:m="http://schemas.openxmlformats.org/officeDocument/2006/math">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的极小点作为</a:t>
                </a:r>
                <a14:m>
                  <m:oMath xmlns:m="http://schemas.openxmlformats.org/officeDocument/2006/math">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的近似极小点，如果不满足精度要求，则需要进行迭代直到满足精度要求为止。</a:t>
                </a:r>
              </a:p>
            </p:txBody>
          </p:sp>
        </mc:Choice>
        <mc:Fallback xmlns="">
          <p:sp>
            <p:nvSpPr>
              <p:cNvPr id="3" name="文本框 2"/>
              <p:cNvSpPr txBox="1">
                <a:spLocks noRot="1" noChangeAspect="1" noMove="1" noResize="1" noEditPoints="1" noAdjustHandles="1" noChangeArrowheads="1" noChangeShapeType="1" noTextEdit="1"/>
              </p:cNvSpPr>
              <p:nvPr/>
            </p:nvSpPr>
            <p:spPr>
              <a:xfrm>
                <a:off x="1609090" y="476672"/>
                <a:ext cx="9095422" cy="5077460"/>
              </a:xfrm>
              <a:prstGeom prst="rect">
                <a:avLst/>
              </a:prstGeom>
              <a:blipFill>
                <a:blip r:embed="rId2"/>
                <a:stretch>
                  <a:fillRect l="-1072" r="-1005" b="-120"/>
                </a:stretch>
              </a:blipFill>
            </p:spPr>
            <p:txBody>
              <a:bodyPr/>
              <a:lstStyle/>
              <a:p>
                <a:r>
                  <a:rPr lang="zh-CN" altLang="en-US">
                    <a:noFill/>
                  </a:rPr>
                  <a:t> </a:t>
                </a:r>
              </a:p>
            </p:txBody>
          </p:sp>
        </mc:Fallback>
      </mc:AlternateContent>
      <p:sp>
        <p:nvSpPr>
          <p:cNvPr id="7" name="Text Box 24"/>
          <p:cNvSpPr txBox="1">
            <a:spLocks noChangeArrowheads="1"/>
          </p:cNvSpPr>
          <p:nvPr/>
        </p:nvSpPr>
        <p:spPr bwMode="auto">
          <a:xfrm>
            <a:off x="1632490" y="5733256"/>
            <a:ext cx="4749800" cy="466725"/>
          </a:xfrm>
          <a:prstGeom prst="rect">
            <a:avLst/>
          </a:prstGeom>
          <a:solidFill>
            <a:srgbClr val="FFFFCC"/>
          </a:solidFill>
          <a:ln w="9525">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kumimoji="1" lang="en-US" altLang="zh-CN" dirty="0">
                <a:solidFill>
                  <a:srgbClr val="FF0000"/>
                </a:solidFill>
              </a:rPr>
              <a:t>?  </a:t>
            </a:r>
            <a:r>
              <a:rPr kumimoji="1" lang="zh-CN" altLang="en-US" dirty="0">
                <a:solidFill>
                  <a:srgbClr val="0000FF"/>
                </a:solidFill>
              </a:rPr>
              <a:t>如何构造符合要求的多项式 </a:t>
            </a:r>
            <a:r>
              <a:rPr kumimoji="1" lang="en-US" altLang="zh-CN" dirty="0">
                <a:solidFill>
                  <a:srgbClr val="FF0000"/>
                </a:solidFill>
              </a:rPr>
              <a:t>?</a:t>
            </a:r>
          </a:p>
        </p:txBody>
      </p:sp>
      <p:sp>
        <p:nvSpPr>
          <p:cNvPr id="2" name="文本框 1">
            <a:extLst>
              <a:ext uri="{FF2B5EF4-FFF2-40B4-BE49-F238E27FC236}">
                <a16:creationId xmlns:a16="http://schemas.microsoft.com/office/drawing/2014/main" id="{2D19FE85-A5C6-472A-58B6-5824F00A5C63}"/>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23392" y="548680"/>
            <a:ext cx="6872140" cy="584775"/>
          </a:xfrm>
          <a:prstGeom prst="rect">
            <a:avLst/>
          </a:prstGeom>
          <a:noFill/>
        </p:spPr>
        <p:txBody>
          <a:bodyPr wrap="square">
            <a:spAutoFit/>
          </a:bodyPr>
          <a:lstStyle/>
          <a:p>
            <a:pPr algn="just">
              <a:spcBef>
                <a:spcPts val="600"/>
              </a:spcBef>
              <a:spcAft>
                <a:spcPts val="600"/>
              </a:spcAft>
            </a:pPr>
            <a:r>
              <a:rPr lang="zh-CN" altLang="en-US" sz="3200" kern="100" dirty="0">
                <a:latin typeface="Times New Roman" panose="02020603050405020304" pitchFamily="18" charset="0"/>
                <a:ea typeface="黑体" panose="02010609060101010101" pitchFamily="49" charset="-122"/>
              </a:rPr>
              <a:t>二</a:t>
            </a:r>
            <a:r>
              <a:rPr lang="zh-CN" altLang="zh-CN" sz="3200" kern="100" dirty="0">
                <a:effectLst/>
                <a:latin typeface="Times New Roman" panose="02020603050405020304" pitchFamily="18" charset="0"/>
                <a:ea typeface="黑体" panose="02010609060101010101" pitchFamily="49" charset="-122"/>
              </a:rPr>
              <a:t>、</a:t>
            </a:r>
            <a:r>
              <a:rPr lang="zh-CN" altLang="en-US" sz="3200" kern="100" dirty="0">
                <a:effectLst/>
                <a:latin typeface="Times New Roman" panose="02020603050405020304" pitchFamily="18" charset="0"/>
                <a:ea typeface="黑体" panose="02010609060101010101" pitchFamily="49" charset="-122"/>
              </a:rPr>
              <a:t>基本原理</a:t>
            </a:r>
            <a:endParaRPr lang="zh-CN" altLang="zh-CN" sz="32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8" name="文本框 7"/>
              <p:cNvSpPr txBox="1"/>
              <p:nvPr/>
            </p:nvSpPr>
            <p:spPr>
              <a:xfrm>
                <a:off x="839416" y="1412776"/>
                <a:ext cx="10009112" cy="1219629"/>
              </a:xfrm>
              <a:prstGeom prst="rect">
                <a:avLst/>
              </a:prstGeom>
              <a:noFill/>
            </p:spPr>
            <p:txBody>
              <a:bodyPr wrap="square">
                <a:spAutoFit/>
              </a:bodyPr>
              <a:lstStyle/>
              <a:p>
                <a:pPr algn="just">
                  <a:lnSpc>
                    <a:spcPct val="150000"/>
                  </a:lnSpc>
                </a:pPr>
                <a:r>
                  <a:rPr lang="en-US" altLang="zh-CN" sz="2800"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2800" kern="100" dirty="0">
                    <a:effectLst/>
                    <a:latin typeface="宋体" panose="02010600030101010101" pitchFamily="2" charset="-122"/>
                    <a:ea typeface="宋体" panose="02010600030101010101" pitchFamily="2" charset="-122"/>
                    <a:cs typeface="宋体" panose="02010600030101010101" pitchFamily="2" charset="-122"/>
                  </a:rPr>
                  <a:t> </a:t>
                </a:r>
                <a:r>
                  <a:rPr lang="en-US" altLang="zh-CN" sz="2400" kern="100" dirty="0">
                    <a:effectLst/>
                    <a:latin typeface="宋体" panose="02010600030101010101" pitchFamily="2" charset="-122"/>
                    <a:ea typeface="宋体" panose="02010600030101010101" pitchFamily="2" charset="-122"/>
                    <a:cs typeface="宋体" panose="02010600030101010101" pitchFamily="2" charset="-122"/>
                  </a:rPr>
                  <a:t> </a:t>
                </a:r>
                <a:r>
                  <a:rPr lang="zh-CN" altLang="zh-CN" sz="2400" kern="100" dirty="0">
                    <a:effectLst/>
                    <a:latin typeface="宋体" panose="02010600030101010101" pitchFamily="2" charset="-122"/>
                    <a:ea typeface="宋体" panose="02010600030101010101" pitchFamily="2" charset="-122"/>
                    <a:cs typeface="宋体" panose="02010600030101010101" pitchFamily="2" charset="-122"/>
                  </a:rPr>
                  <a:t>假设目标函数</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𝑓</m:t>
                    </m:r>
                    <m:d>
                      <m:d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𝑥</m:t>
                        </m:r>
                      </m:e>
                    </m:d>
                  </m:oMath>
                </a14:m>
                <a:r>
                  <a:rPr lang="zh-CN" altLang="zh-CN" sz="2400" kern="100" dirty="0">
                    <a:effectLst/>
                    <a:latin typeface="宋体" panose="02010600030101010101" pitchFamily="2" charset="-122"/>
                    <a:ea typeface="宋体" panose="02010600030101010101" pitchFamily="2" charset="-122"/>
                    <a:cs typeface="宋体" panose="02010600030101010101" pitchFamily="2" charset="-122"/>
                  </a:rPr>
                  <a:t>在三点</a:t>
                </a:r>
                <a14:m>
                  <m:oMath xmlns:m="http://schemas.openxmlformats.org/officeDocument/2006/math">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&lt;</m:t>
                    </m:r>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2</m:t>
                        </m:r>
                      </m:sub>
                    </m:s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&lt;</m:t>
                    </m:r>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𝑥</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3</m:t>
                        </m:r>
                      </m:sub>
                    </m:sSub>
                  </m:oMath>
                </a14:m>
                <a:r>
                  <a:rPr lang="en-US" altLang="zh-CN" sz="2400" kern="100" baseline="-25000" dirty="0">
                    <a:effectLst/>
                    <a:latin typeface="宋体" panose="02010600030101010101" pitchFamily="2" charset="-122"/>
                    <a:ea typeface="宋体" panose="02010600030101010101" pitchFamily="2" charset="-122"/>
                    <a:cs typeface="宋体" panose="02010600030101010101" pitchFamily="2" charset="-122"/>
                  </a:rPr>
                  <a:t> </a:t>
                </a:r>
                <a:r>
                  <a:rPr lang="zh-CN" altLang="zh-CN" sz="2400" kern="100" dirty="0">
                    <a:effectLst/>
                    <a:latin typeface="宋体" panose="02010600030101010101" pitchFamily="2" charset="-122"/>
                    <a:ea typeface="宋体" panose="02010600030101010101" pitchFamily="2" charset="-122"/>
                    <a:cs typeface="宋体" panose="02010600030101010101" pitchFamily="2" charset="-122"/>
                  </a:rPr>
                  <a:t>上的函数值分别为</a:t>
                </a:r>
                <a14:m>
                  <m:oMath xmlns:m="http://schemas.openxmlformats.org/officeDocument/2006/math">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 </m:t>
                    </m:r>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2</m:t>
                        </m:r>
                      </m:sub>
                    </m:s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 </m:t>
                    </m:r>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3</m:t>
                        </m:r>
                      </m:sub>
                    </m:sSub>
                  </m:oMath>
                </a14:m>
                <a:r>
                  <a:rPr lang="zh-CN" altLang="zh-CN" sz="2400" kern="100" dirty="0">
                    <a:effectLst/>
                    <a:latin typeface="宋体" panose="02010600030101010101" pitchFamily="2" charset="-122"/>
                    <a:ea typeface="宋体" panose="02010600030101010101" pitchFamily="2" charset="-122"/>
                    <a:cs typeface="宋体" panose="02010600030101010101" pitchFamily="2" charset="-122"/>
                  </a:rPr>
                  <a:t>，且满足</a:t>
                </a:r>
                <a14:m>
                  <m:oMath xmlns:m="http://schemas.openxmlformats.org/officeDocument/2006/math">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1</m:t>
                        </m:r>
                      </m:sub>
                    </m:s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&gt;</m:t>
                    </m:r>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2</m:t>
                        </m:r>
                      </m:sub>
                    </m:s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 </m:t>
                    </m:r>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solidFill>
                              <a:schemeClr val="tx1"/>
                            </a:solidFill>
                            <a:effectLst/>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3</m:t>
                        </m:r>
                      </m:sub>
                    </m:s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&gt;</m:t>
                    </m:r>
                    <m:sSub>
                      <m:sSub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cs typeface="Cambria Math" panose="02040503050406030204" pitchFamily="18" charset="0"/>
                          </a:rPr>
                          <m:t>𝑓</m:t>
                        </m:r>
                      </m:e>
                      <m:sub>
                        <m:r>
                          <a:rPr lang="en-US" altLang="zh-CN" sz="2400" i="1" kern="100">
                            <a:effectLst/>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400" kern="100" dirty="0">
                    <a:effectLst/>
                    <a:latin typeface="宋体" panose="02010600030101010101" pitchFamily="2" charset="-122"/>
                    <a:ea typeface="宋体" panose="02010600030101010101" pitchFamily="2" charset="-122"/>
                    <a:cs typeface="宋体" panose="02010600030101010101" pitchFamily="2" charset="-122"/>
                  </a:rPr>
                  <a:t>。</a:t>
                </a:r>
                <a:endParaRPr lang="zh-CN" altLang="zh-CN" sz="2400" kern="100" dirty="0">
                  <a:effectLst/>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8" name="文本框 7"/>
              <p:cNvSpPr txBox="1">
                <a:spLocks noRot="1" noChangeAspect="1" noMove="1" noResize="1" noEditPoints="1" noAdjustHandles="1" noChangeArrowheads="1" noChangeShapeType="1" noTextEdit="1"/>
              </p:cNvSpPr>
              <p:nvPr/>
            </p:nvSpPr>
            <p:spPr>
              <a:xfrm>
                <a:off x="839416" y="1412776"/>
                <a:ext cx="10009112" cy="1219629"/>
              </a:xfrm>
              <a:prstGeom prst="rect">
                <a:avLst/>
              </a:prstGeom>
              <a:blipFill>
                <a:blip r:embed="rId2"/>
                <a:stretch>
                  <a:fillRect l="-974" r="-914" b="-9500"/>
                </a:stretch>
              </a:blipFill>
            </p:spPr>
            <p:txBody>
              <a:bodyPr/>
              <a:lstStyle/>
              <a:p>
                <a:r>
                  <a:rPr lang="zh-CN" altLang="en-US">
                    <a:noFill/>
                  </a:rPr>
                  <a:t> </a:t>
                </a:r>
              </a:p>
            </p:txBody>
          </p:sp>
        </mc:Fallback>
      </mc:AlternateContent>
      <p:grpSp>
        <p:nvGrpSpPr>
          <p:cNvPr id="10" name="Group 2"/>
          <p:cNvGrpSpPr/>
          <p:nvPr/>
        </p:nvGrpSpPr>
        <p:grpSpPr bwMode="auto">
          <a:xfrm>
            <a:off x="6611144" y="3121291"/>
            <a:ext cx="4572000" cy="1708150"/>
            <a:chOff x="1872" y="2217"/>
            <a:chExt cx="2880" cy="1076"/>
          </a:xfrm>
        </p:grpSpPr>
        <p:sp>
          <p:nvSpPr>
            <p:cNvPr id="11" name="Rectangle 3"/>
            <p:cNvSpPr>
              <a:spLocks noChangeArrowheads="1"/>
            </p:cNvSpPr>
            <p:nvPr/>
          </p:nvSpPr>
          <p:spPr bwMode="auto">
            <a:xfrm>
              <a:off x="1872" y="2217"/>
              <a:ext cx="407"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dirty="0">
                  <a:solidFill>
                    <a:srgbClr val="0000FF"/>
                  </a:solidFill>
                </a:rPr>
                <a:t>f(x)</a:t>
              </a:r>
            </a:p>
          </p:txBody>
        </p:sp>
        <p:grpSp>
          <p:nvGrpSpPr>
            <p:cNvPr id="12" name="Group 4"/>
            <p:cNvGrpSpPr/>
            <p:nvPr/>
          </p:nvGrpSpPr>
          <p:grpSpPr bwMode="auto">
            <a:xfrm>
              <a:off x="2031" y="2272"/>
              <a:ext cx="2721" cy="1021"/>
              <a:chOff x="1440" y="945"/>
              <a:chExt cx="2721" cy="1021"/>
            </a:xfrm>
          </p:grpSpPr>
          <p:sp>
            <p:nvSpPr>
              <p:cNvPr id="13" name="Freeform 5"/>
              <p:cNvSpPr/>
              <p:nvPr/>
            </p:nvSpPr>
            <p:spPr bwMode="auto">
              <a:xfrm rot="408616">
                <a:off x="1440" y="1134"/>
                <a:ext cx="2304" cy="832"/>
              </a:xfrm>
              <a:custGeom>
                <a:avLst/>
                <a:gdLst>
                  <a:gd name="T0" fmla="*/ 0 w 5760"/>
                  <a:gd name="T1" fmla="*/ 0 h 2080"/>
                  <a:gd name="T2" fmla="*/ 0 w 5760"/>
                  <a:gd name="T3" fmla="*/ 0 h 2080"/>
                  <a:gd name="T4" fmla="*/ 0 w 5760"/>
                  <a:gd name="T5" fmla="*/ 0 h 2080"/>
                  <a:gd name="T6" fmla="*/ 0 w 5760"/>
                  <a:gd name="T7" fmla="*/ 0 h 2080"/>
                  <a:gd name="T8" fmla="*/ 0 w 5760"/>
                  <a:gd name="T9" fmla="*/ 0 h 2080"/>
                  <a:gd name="T10" fmla="*/ 0 w 5760"/>
                  <a:gd name="T11" fmla="*/ 0 h 2080"/>
                  <a:gd name="T12" fmla="*/ 0 w 5760"/>
                  <a:gd name="T13" fmla="*/ 0 h 2080"/>
                  <a:gd name="T14" fmla="*/ 0 w 5760"/>
                  <a:gd name="T15" fmla="*/ 0 h 2080"/>
                  <a:gd name="T16" fmla="*/ 0 w 5760"/>
                  <a:gd name="T17" fmla="*/ 0 h 2080"/>
                  <a:gd name="T18" fmla="*/ 0 w 5760"/>
                  <a:gd name="T19" fmla="*/ 0 h 2080"/>
                  <a:gd name="T20" fmla="*/ 0 w 5760"/>
                  <a:gd name="T21" fmla="*/ 0 h 2080"/>
                  <a:gd name="T22" fmla="*/ 0 w 5760"/>
                  <a:gd name="T23" fmla="*/ 0 h 2080"/>
                  <a:gd name="T24" fmla="*/ 0 w 5760"/>
                  <a:gd name="T25" fmla="*/ 0 h 2080"/>
                  <a:gd name="T26" fmla="*/ 0 w 5760"/>
                  <a:gd name="T27" fmla="*/ 0 h 2080"/>
                  <a:gd name="T28" fmla="*/ 0 w 5760"/>
                  <a:gd name="T29" fmla="*/ 0 h 2080"/>
                  <a:gd name="T30" fmla="*/ 0 w 5760"/>
                  <a:gd name="T31" fmla="*/ 0 h 2080"/>
                  <a:gd name="T32" fmla="*/ 0 w 5760"/>
                  <a:gd name="T33" fmla="*/ 0 h 2080"/>
                  <a:gd name="T34" fmla="*/ 0 w 5760"/>
                  <a:gd name="T35" fmla="*/ 0 h 208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760" h="2080">
                    <a:moveTo>
                      <a:pt x="0" y="312"/>
                    </a:moveTo>
                    <a:cubicBezTo>
                      <a:pt x="165" y="494"/>
                      <a:pt x="330" y="676"/>
                      <a:pt x="540" y="780"/>
                    </a:cubicBezTo>
                    <a:cubicBezTo>
                      <a:pt x="750" y="884"/>
                      <a:pt x="1080" y="858"/>
                      <a:pt x="1260" y="936"/>
                    </a:cubicBezTo>
                    <a:cubicBezTo>
                      <a:pt x="1440" y="1014"/>
                      <a:pt x="1500" y="1196"/>
                      <a:pt x="1620" y="1248"/>
                    </a:cubicBezTo>
                    <a:cubicBezTo>
                      <a:pt x="1740" y="1300"/>
                      <a:pt x="1860" y="1222"/>
                      <a:pt x="1980" y="1248"/>
                    </a:cubicBezTo>
                    <a:cubicBezTo>
                      <a:pt x="2100" y="1274"/>
                      <a:pt x="2250" y="1352"/>
                      <a:pt x="2340" y="1404"/>
                    </a:cubicBezTo>
                    <a:cubicBezTo>
                      <a:pt x="2430" y="1456"/>
                      <a:pt x="2430" y="1534"/>
                      <a:pt x="2520" y="1560"/>
                    </a:cubicBezTo>
                    <a:cubicBezTo>
                      <a:pt x="2610" y="1586"/>
                      <a:pt x="2730" y="1534"/>
                      <a:pt x="2880" y="1560"/>
                    </a:cubicBezTo>
                    <a:cubicBezTo>
                      <a:pt x="3030" y="1586"/>
                      <a:pt x="3270" y="1638"/>
                      <a:pt x="3420" y="1716"/>
                    </a:cubicBezTo>
                    <a:cubicBezTo>
                      <a:pt x="3570" y="1794"/>
                      <a:pt x="3660" y="1976"/>
                      <a:pt x="3780" y="2028"/>
                    </a:cubicBezTo>
                    <a:cubicBezTo>
                      <a:pt x="3900" y="2080"/>
                      <a:pt x="4020" y="2080"/>
                      <a:pt x="4140" y="2028"/>
                    </a:cubicBezTo>
                    <a:cubicBezTo>
                      <a:pt x="4260" y="1976"/>
                      <a:pt x="4410" y="1794"/>
                      <a:pt x="4500" y="1716"/>
                    </a:cubicBezTo>
                    <a:cubicBezTo>
                      <a:pt x="4590" y="1638"/>
                      <a:pt x="4620" y="1638"/>
                      <a:pt x="4680" y="1560"/>
                    </a:cubicBezTo>
                    <a:cubicBezTo>
                      <a:pt x="4740" y="1482"/>
                      <a:pt x="4800" y="1352"/>
                      <a:pt x="4860" y="1248"/>
                    </a:cubicBezTo>
                    <a:cubicBezTo>
                      <a:pt x="4920" y="1144"/>
                      <a:pt x="4980" y="1040"/>
                      <a:pt x="5040" y="936"/>
                    </a:cubicBezTo>
                    <a:cubicBezTo>
                      <a:pt x="5100" y="832"/>
                      <a:pt x="5130" y="728"/>
                      <a:pt x="5220" y="624"/>
                    </a:cubicBezTo>
                    <a:cubicBezTo>
                      <a:pt x="5310" y="520"/>
                      <a:pt x="5490" y="416"/>
                      <a:pt x="5580" y="312"/>
                    </a:cubicBezTo>
                    <a:cubicBezTo>
                      <a:pt x="5670" y="208"/>
                      <a:pt x="5730" y="52"/>
                      <a:pt x="5760" y="0"/>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4" name="Freeform 6"/>
              <p:cNvSpPr/>
              <p:nvPr/>
            </p:nvSpPr>
            <p:spPr bwMode="auto">
              <a:xfrm>
                <a:off x="3777" y="945"/>
                <a:ext cx="384" cy="336"/>
              </a:xfrm>
              <a:custGeom>
                <a:avLst/>
                <a:gdLst>
                  <a:gd name="T0" fmla="*/ 0 w 384"/>
                  <a:gd name="T1" fmla="*/ 336 h 336"/>
                  <a:gd name="T2" fmla="*/ 96 w 384"/>
                  <a:gd name="T3" fmla="*/ 288 h 336"/>
                  <a:gd name="T4" fmla="*/ 192 w 384"/>
                  <a:gd name="T5" fmla="*/ 240 h 336"/>
                  <a:gd name="T6" fmla="*/ 336 w 384"/>
                  <a:gd name="T7" fmla="*/ 96 h 336"/>
                  <a:gd name="T8" fmla="*/ 384 w 384"/>
                  <a:gd name="T9" fmla="*/ 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4" h="336">
                    <a:moveTo>
                      <a:pt x="0" y="336"/>
                    </a:moveTo>
                    <a:cubicBezTo>
                      <a:pt x="32" y="320"/>
                      <a:pt x="64" y="304"/>
                      <a:pt x="96" y="288"/>
                    </a:cubicBezTo>
                    <a:cubicBezTo>
                      <a:pt x="128" y="272"/>
                      <a:pt x="152" y="272"/>
                      <a:pt x="192" y="240"/>
                    </a:cubicBezTo>
                    <a:cubicBezTo>
                      <a:pt x="232" y="208"/>
                      <a:pt x="304" y="136"/>
                      <a:pt x="336" y="96"/>
                    </a:cubicBezTo>
                    <a:cubicBezTo>
                      <a:pt x="368" y="56"/>
                      <a:pt x="368" y="16"/>
                      <a:pt x="384" y="0"/>
                    </a:cubicBezTo>
                  </a:path>
                </a:pathLst>
              </a:custGeom>
              <a:noFill/>
              <a:ln w="19050"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5" name="Group 7"/>
          <p:cNvGrpSpPr/>
          <p:nvPr/>
        </p:nvGrpSpPr>
        <p:grpSpPr bwMode="auto">
          <a:xfrm>
            <a:off x="7601745" y="3087953"/>
            <a:ext cx="3289301" cy="1892300"/>
            <a:chOff x="2503" y="2217"/>
            <a:chExt cx="2072" cy="1192"/>
          </a:xfrm>
        </p:grpSpPr>
        <p:grpSp>
          <p:nvGrpSpPr>
            <p:cNvPr id="16" name="Group 8"/>
            <p:cNvGrpSpPr/>
            <p:nvPr/>
          </p:nvGrpSpPr>
          <p:grpSpPr bwMode="auto">
            <a:xfrm>
              <a:off x="2607" y="2356"/>
              <a:ext cx="1968" cy="1053"/>
              <a:chOff x="2016" y="1029"/>
              <a:chExt cx="1968" cy="1053"/>
            </a:xfrm>
          </p:grpSpPr>
          <p:sp>
            <p:nvSpPr>
              <p:cNvPr id="18" name="Freeform 9"/>
              <p:cNvSpPr/>
              <p:nvPr/>
            </p:nvSpPr>
            <p:spPr bwMode="auto">
              <a:xfrm>
                <a:off x="2016" y="1104"/>
                <a:ext cx="1656" cy="978"/>
              </a:xfrm>
              <a:custGeom>
                <a:avLst/>
                <a:gdLst>
                  <a:gd name="T0" fmla="*/ 0 w 4140"/>
                  <a:gd name="T1" fmla="*/ 0 h 2444"/>
                  <a:gd name="T2" fmla="*/ 0 w 4140"/>
                  <a:gd name="T3" fmla="*/ 0 h 2444"/>
                  <a:gd name="T4" fmla="*/ 0 w 4140"/>
                  <a:gd name="T5" fmla="*/ 0 h 2444"/>
                  <a:gd name="T6" fmla="*/ 0 w 4140"/>
                  <a:gd name="T7" fmla="*/ 0 h 2444"/>
                  <a:gd name="T8" fmla="*/ 0 w 4140"/>
                  <a:gd name="T9" fmla="*/ 0 h 2444"/>
                  <a:gd name="T10" fmla="*/ 0 w 4140"/>
                  <a:gd name="T11" fmla="*/ 0 h 24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40" h="2444">
                    <a:moveTo>
                      <a:pt x="0" y="0"/>
                    </a:moveTo>
                    <a:cubicBezTo>
                      <a:pt x="360" y="442"/>
                      <a:pt x="720" y="884"/>
                      <a:pt x="1080" y="1248"/>
                    </a:cubicBezTo>
                    <a:cubicBezTo>
                      <a:pt x="1440" y="1612"/>
                      <a:pt x="1920" y="2002"/>
                      <a:pt x="2160" y="2184"/>
                    </a:cubicBezTo>
                    <a:cubicBezTo>
                      <a:pt x="2400" y="2366"/>
                      <a:pt x="2400" y="2340"/>
                      <a:pt x="2520" y="2340"/>
                    </a:cubicBezTo>
                    <a:cubicBezTo>
                      <a:pt x="2640" y="2340"/>
                      <a:pt x="2610" y="2444"/>
                      <a:pt x="2880" y="2184"/>
                    </a:cubicBezTo>
                    <a:cubicBezTo>
                      <a:pt x="3150" y="1924"/>
                      <a:pt x="3930" y="1014"/>
                      <a:pt x="4140" y="78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9" name="Line 10"/>
              <p:cNvSpPr>
                <a:spLocks noChangeShapeType="1"/>
              </p:cNvSpPr>
              <p:nvPr/>
            </p:nvSpPr>
            <p:spPr bwMode="auto">
              <a:xfrm flipH="1">
                <a:off x="3648" y="1029"/>
                <a:ext cx="336" cy="41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mc:AlternateContent xmlns:mc="http://schemas.openxmlformats.org/markup-compatibility/2006" xmlns:a14="http://schemas.microsoft.com/office/drawing/2010/main">
          <mc:Choice Requires="a14">
            <p:sp>
              <p:nvSpPr>
                <p:cNvPr id="17" name="Rectangle 11"/>
                <p:cNvSpPr>
                  <a:spLocks noChangeArrowheads="1"/>
                </p:cNvSpPr>
                <p:nvPr/>
              </p:nvSpPr>
              <p:spPr bwMode="auto">
                <a:xfrm>
                  <a:off x="2503" y="2217"/>
                  <a:ext cx="509" cy="25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a14:m>
                    <m:oMathPara xmlns:m="http://schemas.openxmlformats.org/officeDocument/2006/math">
                      <m:oMathParaPr>
                        <m:jc m:val="centerGroup"/>
                      </m:oMathParaPr>
                      <m:oMath xmlns:m="http://schemas.openxmlformats.org/officeDocument/2006/math">
                        <m:r>
                          <a:rPr lang="en-US" altLang="zh-CN" sz="2000" b="1" i="1" kern="100" smtClean="0">
                            <a:effectLst/>
                            <a:latin typeface="Cambria Math" panose="02040503050406030204" pitchFamily="18" charset="0"/>
                            <a:ea typeface="等线" panose="02010600030101010101" pitchFamily="2" charset="-122"/>
                            <a:cs typeface="Times New Roman" panose="02020603050405020304" pitchFamily="18" charset="0"/>
                          </a:rPr>
                          <m:t>𝝋</m:t>
                        </m:r>
                        <m:r>
                          <a:rPr lang="en-US" altLang="zh-CN" sz="2000" b="1" i="1" kern="100" smtClean="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2000" b="1" i="1" kern="100" smtClean="0">
                            <a:effectLst/>
                            <a:latin typeface="Cambria Math" panose="02040503050406030204" pitchFamily="18" charset="0"/>
                            <a:ea typeface="等线" panose="02010600030101010101" pitchFamily="2" charset="-122"/>
                            <a:cs typeface="Times New Roman" panose="02020603050405020304" pitchFamily="18" charset="0"/>
                          </a:rPr>
                          <m:t>𝒙</m:t>
                        </m:r>
                        <m:r>
                          <a:rPr lang="en-US" altLang="zh-CN" sz="2000" b="1" i="1" kern="100" smtClean="0">
                            <a:effectLst/>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zh-CN" sz="20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7" name="Rectangle 11"/>
                <p:cNvSpPr>
                  <a:spLocks noRot="1" noChangeAspect="1" noMove="1" noResize="1" noEditPoints="1" noAdjustHandles="1" noChangeArrowheads="1" noChangeShapeType="1" noTextEdit="1"/>
                </p:cNvSpPr>
                <p:nvPr/>
              </p:nvSpPr>
              <p:spPr bwMode="auto">
                <a:xfrm>
                  <a:off x="2503" y="2217"/>
                  <a:ext cx="509" cy="252"/>
                </a:xfrm>
                <a:prstGeom prst="rect">
                  <a:avLst/>
                </a:prstGeom>
                <a:blipFill rotWithShape="1">
                  <a:blip r:embed="rId3"/>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grpSp>
        <p:nvGrpSpPr>
          <p:cNvPr id="20" name="Group 14"/>
          <p:cNvGrpSpPr/>
          <p:nvPr/>
        </p:nvGrpSpPr>
        <p:grpSpPr bwMode="auto">
          <a:xfrm>
            <a:off x="8285488" y="4149992"/>
            <a:ext cx="1245346" cy="412750"/>
            <a:chOff x="2351" y="1538"/>
            <a:chExt cx="647" cy="260"/>
          </a:xfrm>
        </p:grpSpPr>
        <p:sp>
          <p:nvSpPr>
            <p:cNvPr id="21" name="Oval 15"/>
            <p:cNvSpPr>
              <a:spLocks noChangeArrowheads="1"/>
            </p:cNvSpPr>
            <p:nvPr/>
          </p:nvSpPr>
          <p:spPr bwMode="auto">
            <a:xfrm>
              <a:off x="2618" y="1764"/>
              <a:ext cx="34" cy="34"/>
            </a:xfrm>
            <a:prstGeom prst="ellipse">
              <a:avLst/>
            </a:prstGeom>
            <a:solidFill>
              <a:srgbClr val="FFFFCC"/>
            </a:solidFill>
            <a:ln w="9525">
              <a:solidFill>
                <a:srgbClr val="FF000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mc:AlternateContent xmlns:mc="http://schemas.openxmlformats.org/markup-compatibility/2006" xmlns:a14="http://schemas.microsoft.com/office/drawing/2010/main">
          <mc:Choice Requires="a14">
            <p:sp>
              <p:nvSpPr>
                <p:cNvPr id="22" name="Text Box 16"/>
                <p:cNvSpPr txBox="1">
                  <a:spLocks noChangeArrowheads="1"/>
                </p:cNvSpPr>
                <p:nvPr/>
              </p:nvSpPr>
              <p:spPr bwMode="auto">
                <a:xfrm>
                  <a:off x="2351" y="1538"/>
                  <a:ext cx="647" cy="2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a:r>
                    <a:rPr lang="en-US" altLang="zh-CN" sz="2000" dirty="0"/>
                    <a:t>(</a:t>
                  </a:r>
                  <a14:m>
                    <m:oMath xmlns:m="http://schemas.openxmlformats.org/officeDocument/2006/math">
                      <m:sSub>
                        <m:sSubPr>
                          <m:ctrlPr>
                            <a:rPr lang="zh-CN" altLang="zh-CN" sz="2000" i="1" smtClean="0">
                              <a:effectLst/>
                              <a:latin typeface="Cambria Math" panose="02040503050406030204" pitchFamily="18" charset="0"/>
                              <a:ea typeface="Cambria Math" panose="02040503050406030204" pitchFamily="18" charset="0"/>
                            </a:rPr>
                          </m:ctrlPr>
                        </m:sSubPr>
                        <m:e>
                          <m:r>
                            <a:rPr lang="en-US" altLang="zh-CN" sz="2000" b="1" i="1">
                              <a:effectLst/>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2000" b="1" i="1">
                              <a:effectLst/>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𝒇</m:t>
                          </m:r>
                        </m:e>
                        <m:sub>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𝟏</m:t>
                          </m:r>
                        </m:sub>
                      </m:sSub>
                    </m:oMath>
                  </a14:m>
                  <a:r>
                    <a:rPr lang="en-US" altLang="zh-CN" sz="2000" dirty="0"/>
                    <a:t>)</a:t>
                  </a:r>
                  <a:endParaRPr lang="en-US" altLang="zh-CN" sz="2000" baseline="-25000" dirty="0"/>
                </a:p>
              </p:txBody>
            </p:sp>
          </mc:Choice>
          <mc:Fallback xmlns="">
            <p:sp>
              <p:nvSpPr>
                <p:cNvPr id="22" name="Text Box 16"/>
                <p:cNvSpPr txBox="1">
                  <a:spLocks noRot="1" noChangeAspect="1" noMove="1" noResize="1" noEditPoints="1" noAdjustHandles="1" noChangeArrowheads="1" noChangeShapeType="1" noTextEdit="1"/>
                </p:cNvSpPr>
                <p:nvPr/>
              </p:nvSpPr>
              <p:spPr bwMode="auto">
                <a:xfrm>
                  <a:off x="2351" y="1538"/>
                  <a:ext cx="647" cy="250"/>
                </a:xfrm>
                <a:prstGeom prst="rect">
                  <a:avLst/>
                </a:prstGeom>
                <a:blipFill rotWithShape="1">
                  <a:blip r:embed="rId4"/>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nvGrpSpPr>
          <p:cNvPr id="23" name="Group 17"/>
          <p:cNvGrpSpPr/>
          <p:nvPr/>
        </p:nvGrpSpPr>
        <p:grpSpPr bwMode="auto">
          <a:xfrm>
            <a:off x="8668546" y="4727845"/>
            <a:ext cx="1244601" cy="404813"/>
            <a:chOff x="2577" y="1902"/>
            <a:chExt cx="784" cy="255"/>
          </a:xfrm>
        </p:grpSpPr>
        <p:sp>
          <p:nvSpPr>
            <p:cNvPr id="24" name="Oval 18"/>
            <p:cNvSpPr>
              <a:spLocks noChangeArrowheads="1"/>
            </p:cNvSpPr>
            <p:nvPr/>
          </p:nvSpPr>
          <p:spPr bwMode="auto">
            <a:xfrm>
              <a:off x="2882" y="1968"/>
              <a:ext cx="34" cy="34"/>
            </a:xfrm>
            <a:prstGeom prst="ellipse">
              <a:avLst/>
            </a:prstGeom>
            <a:solidFill>
              <a:srgbClr val="FFFFCC"/>
            </a:solidFill>
            <a:ln w="9525">
              <a:solidFill>
                <a:srgbClr val="FF000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mc:AlternateContent xmlns:mc="http://schemas.openxmlformats.org/markup-compatibility/2006" xmlns:a14="http://schemas.microsoft.com/office/drawing/2010/main">
          <mc:Choice Requires="a14">
            <p:sp>
              <p:nvSpPr>
                <p:cNvPr id="25" name="Text Box 19"/>
                <p:cNvSpPr txBox="1">
                  <a:spLocks noChangeArrowheads="1"/>
                </p:cNvSpPr>
                <p:nvPr/>
              </p:nvSpPr>
              <p:spPr bwMode="auto">
                <a:xfrm>
                  <a:off x="2577" y="1902"/>
                  <a:ext cx="784" cy="25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a:r>
                    <a:rPr lang="en-US" altLang="zh-CN" sz="2000" dirty="0"/>
                    <a:t>(</a:t>
                  </a:r>
                  <a14:m>
                    <m:oMath xmlns:m="http://schemas.openxmlformats.org/officeDocument/2006/math">
                      <m:sSub>
                        <m:sSubPr>
                          <m:ctrlPr>
                            <a:rPr lang="zh-CN" altLang="zh-CN" sz="2000" i="1" smtClean="0">
                              <a:effectLst/>
                              <a:latin typeface="Cambria Math" panose="02040503050406030204" pitchFamily="18" charset="0"/>
                              <a:ea typeface="Cambria Math" panose="02040503050406030204" pitchFamily="18" charset="0"/>
                            </a:rPr>
                          </m:ctrlPr>
                        </m:sSubPr>
                        <m:e>
                          <m:r>
                            <a:rPr lang="en-US" altLang="zh-CN" sz="2000" b="1" i="1">
                              <a:effectLst/>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𝟐</m:t>
                          </m:r>
                        </m:sub>
                      </m:sSub>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𝒇</m:t>
                          </m:r>
                        </m:e>
                        <m:sub>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𝟐</m:t>
                          </m:r>
                        </m:sub>
                      </m:sSub>
                    </m:oMath>
                  </a14:m>
                  <a:r>
                    <a:rPr lang="en-US" altLang="zh-CN" sz="2000" dirty="0"/>
                    <a:t>)</a:t>
                  </a:r>
                  <a:endParaRPr lang="en-US" altLang="zh-CN" sz="2000" baseline="-25000" dirty="0"/>
                </a:p>
              </p:txBody>
            </p:sp>
          </mc:Choice>
          <mc:Fallback xmlns="">
            <p:sp>
              <p:nvSpPr>
                <p:cNvPr id="25" name="Text Box 19"/>
                <p:cNvSpPr txBox="1">
                  <a:spLocks noRot="1" noChangeAspect="1" noMove="1" noResize="1" noEditPoints="1" noAdjustHandles="1" noChangeArrowheads="1" noChangeShapeType="1" noTextEdit="1"/>
                </p:cNvSpPr>
                <p:nvPr/>
              </p:nvSpPr>
              <p:spPr bwMode="auto">
                <a:xfrm>
                  <a:off x="2577" y="1902"/>
                  <a:ext cx="784" cy="255"/>
                </a:xfrm>
                <a:prstGeom prst="rect">
                  <a:avLst/>
                </a:prstGeom>
                <a:blipFill rotWithShape="1">
                  <a:blip r:embed="rId5"/>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nvGrpSpPr>
          <p:cNvPr id="26" name="Group 20"/>
          <p:cNvGrpSpPr/>
          <p:nvPr/>
        </p:nvGrpSpPr>
        <p:grpSpPr bwMode="auto">
          <a:xfrm>
            <a:off x="9827209" y="4437198"/>
            <a:ext cx="1165764" cy="387168"/>
            <a:chOff x="3290" y="1746"/>
            <a:chExt cx="374" cy="250"/>
          </a:xfrm>
        </p:grpSpPr>
        <p:sp>
          <p:nvSpPr>
            <p:cNvPr id="27" name="Oval 21"/>
            <p:cNvSpPr>
              <a:spLocks noChangeArrowheads="1"/>
            </p:cNvSpPr>
            <p:nvPr/>
          </p:nvSpPr>
          <p:spPr bwMode="auto">
            <a:xfrm>
              <a:off x="3290" y="1803"/>
              <a:ext cx="34" cy="34"/>
            </a:xfrm>
            <a:prstGeom prst="ellipse">
              <a:avLst/>
            </a:prstGeom>
            <a:solidFill>
              <a:srgbClr val="FFFFCC"/>
            </a:solidFill>
            <a:ln w="9525">
              <a:solidFill>
                <a:srgbClr val="FF000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mc:AlternateContent xmlns:mc="http://schemas.openxmlformats.org/markup-compatibility/2006" xmlns:a14="http://schemas.microsoft.com/office/drawing/2010/main">
          <mc:Choice Requires="a14">
            <p:sp>
              <p:nvSpPr>
                <p:cNvPr id="28" name="Text Box 22"/>
                <p:cNvSpPr txBox="1">
                  <a:spLocks noChangeArrowheads="1"/>
                </p:cNvSpPr>
                <p:nvPr/>
              </p:nvSpPr>
              <p:spPr bwMode="auto">
                <a:xfrm>
                  <a:off x="3294" y="1746"/>
                  <a:ext cx="370" cy="2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a:r>
                    <a:rPr lang="en-US" altLang="zh-CN" sz="2000" dirty="0"/>
                    <a:t>(</a:t>
                  </a:r>
                  <a14:m>
                    <m:oMath xmlns:m="http://schemas.openxmlformats.org/officeDocument/2006/math">
                      <m:sSub>
                        <m:sSubPr>
                          <m:ctrlPr>
                            <a:rPr lang="zh-CN" altLang="zh-CN" sz="2000" i="1" smtClean="0">
                              <a:effectLst/>
                              <a:latin typeface="Cambria Math" panose="02040503050406030204" pitchFamily="18" charset="0"/>
                              <a:ea typeface="Cambria Math" panose="02040503050406030204" pitchFamily="18" charset="0"/>
                            </a:rPr>
                          </m:ctrlPr>
                        </m:sSubPr>
                        <m:e>
                          <m:r>
                            <a:rPr lang="en-US" altLang="zh-CN" sz="2000" b="1" i="1">
                              <a:effectLst/>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𝟑</m:t>
                          </m:r>
                        </m:sub>
                      </m:sSub>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𝒇</m:t>
                          </m:r>
                        </m:e>
                        <m:sub>
                          <m:r>
                            <a:rPr lang="en-US" altLang="zh-CN" sz="2000" b="1" i="1" smtClean="0">
                              <a:effectLst/>
                              <a:latin typeface="Cambria Math" panose="02040503050406030204" pitchFamily="18" charset="0"/>
                              <a:ea typeface="等线" panose="02010600030101010101" pitchFamily="2" charset="-122"/>
                              <a:cs typeface="Times New Roman" panose="02020603050405020304" pitchFamily="18" charset="0"/>
                            </a:rPr>
                            <m:t>𝟑</m:t>
                          </m:r>
                        </m:sub>
                      </m:sSub>
                    </m:oMath>
                  </a14:m>
                  <a:r>
                    <a:rPr lang="en-US" altLang="zh-CN" sz="2000" dirty="0"/>
                    <a:t>)</a:t>
                  </a:r>
                  <a:endParaRPr lang="en-US" altLang="zh-CN" sz="2000" baseline="-25000" dirty="0"/>
                </a:p>
              </p:txBody>
            </p:sp>
          </mc:Choice>
          <mc:Fallback xmlns="">
            <p:sp>
              <p:nvSpPr>
                <p:cNvPr id="28" name="Text Box 22"/>
                <p:cNvSpPr txBox="1">
                  <a:spLocks noRot="1" noChangeAspect="1" noMove="1" noResize="1" noEditPoints="1" noAdjustHandles="1" noChangeArrowheads="1" noChangeShapeType="1" noTextEdit="1"/>
                </p:cNvSpPr>
                <p:nvPr/>
              </p:nvSpPr>
              <p:spPr bwMode="auto">
                <a:xfrm>
                  <a:off x="3294" y="1746"/>
                  <a:ext cx="370" cy="250"/>
                </a:xfrm>
                <a:prstGeom prst="rect">
                  <a:avLst/>
                </a:prstGeom>
                <a:blipFill rotWithShape="1">
                  <a:blip r:embed="rId6"/>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sp>
        <p:nvSpPr>
          <p:cNvPr id="29" name="AutoShape 25"/>
          <p:cNvSpPr>
            <a:spLocks noChangeArrowheads="1"/>
          </p:cNvSpPr>
          <p:nvPr/>
        </p:nvSpPr>
        <p:spPr bwMode="auto">
          <a:xfrm>
            <a:off x="8400256" y="2730766"/>
            <a:ext cx="3143250" cy="533400"/>
          </a:xfrm>
          <a:prstGeom prst="cloudCallout">
            <a:avLst>
              <a:gd name="adj1" fmla="val -66546"/>
              <a:gd name="adj2" fmla="val -3273"/>
            </a:avLst>
          </a:prstGeom>
          <a:solidFill>
            <a:srgbClr val="FFFFCC"/>
          </a:solidFill>
          <a:ln w="9525">
            <a:solidFill>
              <a:srgbClr val="0000FF"/>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zh-CN" altLang="en-US">
                <a:solidFill>
                  <a:srgbClr val="FF0000"/>
                </a:solidFill>
              </a:rPr>
              <a:t>三个待定系数</a:t>
            </a:r>
          </a:p>
        </p:txBody>
      </p:sp>
      <p:sp>
        <p:nvSpPr>
          <p:cNvPr id="30" name="Rectangle 3"/>
          <p:cNvSpPr>
            <a:spLocks noChangeArrowheads="1"/>
          </p:cNvSpPr>
          <p:nvPr/>
        </p:nvSpPr>
        <p:spPr bwMode="auto">
          <a:xfrm>
            <a:off x="864874" y="604792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zh-CN" altLang="zh-CN" sz="800" b="0" i="0" u="none" strike="noStrike" cap="none" normalizeH="0" baseline="0">
                <a:ln>
                  <a:noFill/>
                </a:ln>
                <a:solidFill>
                  <a:schemeClr val="tx1"/>
                </a:solidFill>
                <a:effectLst/>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mc:AlternateContent xmlns:mc="http://schemas.openxmlformats.org/markup-compatibility/2006" xmlns:a14="http://schemas.microsoft.com/office/drawing/2010/main">
        <mc:Choice Requires="a14">
          <p:sp>
            <p:nvSpPr>
              <p:cNvPr id="36" name="文本框 35"/>
              <p:cNvSpPr txBox="1"/>
              <p:nvPr/>
            </p:nvSpPr>
            <p:spPr>
              <a:xfrm>
                <a:off x="911225" y="2997200"/>
                <a:ext cx="3879215" cy="476250"/>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令</a:t>
                </a:r>
                <a14:m>
                  <m:oMath xmlns:m="http://schemas.openxmlformats.org/officeDocument/2006/math">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𝑎</m:t>
                    </m:r>
                    <m:sSup>
                      <m:sSupPr>
                        <m:ctrlPr>
                          <a:rPr kumimoji="1" lang="en-US" altLang="zh-CN" sz="2400" i="1">
                            <a:solidFill>
                              <a:schemeClr val="tx1"/>
                            </a:solidFill>
                            <a:latin typeface="Cambria Math" panose="02040503050406030204" pitchFamily="18" charset="0"/>
                            <a:cs typeface="Cambria Math" panose="02040503050406030204" pitchFamily="18" charset="0"/>
                          </a:rPr>
                        </m:ctrlPr>
                      </m:sSupPr>
                      <m:e>
                        <m:r>
                          <a:rPr kumimoji="1" lang="en-US" altLang="zh-CN" sz="2400" i="1">
                            <a:solidFill>
                              <a:schemeClr val="tx1"/>
                            </a:solidFill>
                            <a:latin typeface="Cambria Math" panose="02040503050406030204" pitchFamily="18" charset="0"/>
                            <a:cs typeface="Cambria Math" panose="02040503050406030204" pitchFamily="18" charset="0"/>
                          </a:rPr>
                          <m:t>𝑥</m:t>
                        </m:r>
                      </m:e>
                      <m:sup>
                        <m:r>
                          <a:rPr kumimoji="1" lang="en-US" altLang="zh-CN" sz="2400" i="1">
                            <a:solidFill>
                              <a:schemeClr val="tx1"/>
                            </a:solidFill>
                            <a:latin typeface="Cambria Math" panose="02040503050406030204" pitchFamily="18" charset="0"/>
                            <a:cs typeface="Cambria Math" panose="02040503050406030204" pitchFamily="18" charset="0"/>
                          </a:rPr>
                          <m:t>2</m:t>
                        </m:r>
                      </m:sup>
                    </m:sSup>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𝑏𝑥</m:t>
                    </m:r>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𝑐</m:t>
                    </m:r>
                  </m:oMath>
                </a14:m>
                <a:endParaRPr lang="zh-CN" altLang="en-US" sz="2400" dirty="0">
                  <a:latin typeface="宋体" panose="02010600030101010101" pitchFamily="2" charset="-122"/>
                  <a:ea typeface="宋体" panose="02010600030101010101" pitchFamily="2" charset="-122"/>
                </a:endParaRPr>
              </a:p>
            </p:txBody>
          </p:sp>
        </mc:Choice>
        <mc:Fallback xmlns="">
          <p:sp>
            <p:nvSpPr>
              <p:cNvPr id="36" name="文本框 35"/>
              <p:cNvSpPr txBox="1">
                <a:spLocks noRot="1" noChangeAspect="1" noMove="1" noResize="1" noEditPoints="1" noAdjustHandles="1" noChangeArrowheads="1" noChangeShapeType="1" noTextEdit="1"/>
              </p:cNvSpPr>
              <p:nvPr/>
            </p:nvSpPr>
            <p:spPr>
              <a:xfrm>
                <a:off x="911225" y="2997200"/>
                <a:ext cx="3879215" cy="476250"/>
              </a:xfrm>
              <a:prstGeom prst="rect">
                <a:avLst/>
              </a:prstGeom>
              <a:blipFill rotWithShape="1">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p:cNvSpPr txBox="1"/>
              <p:nvPr/>
            </p:nvSpPr>
            <p:spPr>
              <a:xfrm>
                <a:off x="839415" y="4020015"/>
                <a:ext cx="5958733" cy="1113766"/>
              </a:xfrm>
              <a:prstGeom prst="rect">
                <a:avLst/>
              </a:prstGeom>
              <a:noFill/>
            </p:spPr>
            <p:txBody>
              <a:bodyPr wrap="square" rtlCol="0">
                <a:spAutoFit/>
              </a:bodyPr>
              <a:lstStyle/>
              <a:p>
                <a:pPr>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其中</a:t>
                </a:r>
                <a14:m>
                  <m:oMath xmlns:m="http://schemas.openxmlformats.org/officeDocument/2006/math">
                    <m:r>
                      <a:rPr kumimoji="1" lang="en-US" altLang="zh-CN" sz="2400" i="1">
                        <a:solidFill>
                          <a:schemeClr val="tx1"/>
                        </a:solidFill>
                        <a:latin typeface="Cambria Math" panose="02040503050406030204" pitchFamily="18" charset="0"/>
                      </a:rPr>
                      <m:t>𝑎</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kumimoji="1" lang="en-US" altLang="zh-CN" sz="2400" i="1">
                        <a:solidFill>
                          <a:schemeClr val="tx1"/>
                        </a:solidFill>
                        <a:latin typeface="Cambria Math" panose="02040503050406030204" pitchFamily="18" charset="0"/>
                        <a:cs typeface="Cambria Math" panose="02040503050406030204" pitchFamily="18" charset="0"/>
                      </a:rPr>
                      <m:t>𝑏</m:t>
                    </m:r>
                    <m:r>
                      <a:rPr kumimoji="1" lang="zh-CN" altLang="en-US" sz="2400" i="1">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𝑐</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为待定常数，可以通过求解方程组来确定：</a:t>
                </a:r>
              </a:p>
            </p:txBody>
          </p:sp>
        </mc:Choice>
        <mc:Fallback xmlns="">
          <p:sp>
            <p:nvSpPr>
              <p:cNvPr id="37" name="文本框 36"/>
              <p:cNvSpPr txBox="1">
                <a:spLocks noRot="1" noChangeAspect="1" noMove="1" noResize="1" noEditPoints="1" noAdjustHandles="1" noChangeArrowheads="1" noChangeShapeType="1" noTextEdit="1"/>
              </p:cNvSpPr>
              <p:nvPr/>
            </p:nvSpPr>
            <p:spPr>
              <a:xfrm>
                <a:off x="839415" y="4020015"/>
                <a:ext cx="5958733" cy="1113766"/>
              </a:xfrm>
              <a:prstGeom prst="rect">
                <a:avLst/>
              </a:prstGeom>
              <a:blipFill>
                <a:blip r:embed="rId8"/>
                <a:stretch>
                  <a:fillRect l="-1638" b="-1147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55BAF2FE-6D37-72D6-3942-3BC5A5C0CA92}"/>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p:cTn id="7" dur="500" fill="hold"/>
                                        <p:tgtEl>
                                          <p:spTgt spid="10"/>
                                        </p:tgtEl>
                                        <p:attrNameLst>
                                          <p:attrName>ppt_w</p:attrName>
                                        </p:attrNameLst>
                                      </p:cBhvr>
                                      <p:tavLst>
                                        <p:tav tm="0">
                                          <p:val>
                                            <p:fltVal val="0"/>
                                          </p:val>
                                        </p:tav>
                                        <p:tav tm="100000">
                                          <p:val>
                                            <p:strVal val="#ppt_w"/>
                                          </p:val>
                                        </p:tav>
                                      </p:tavLst>
                                    </p:anim>
                                    <p:anim calcmode="lin" valueType="num">
                                      <p:cBhvr>
                                        <p:cTn id="8" dur="500" fill="hold"/>
                                        <p:tgtEl>
                                          <p:spTgt spid="10"/>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17" presetClass="entr" presetSubtype="10" fill="hold" nodeType="afterEffect">
                                  <p:stCondLst>
                                    <p:cond delay="0"/>
                                  </p:stCondLst>
                                  <p:childTnLst>
                                    <p:set>
                                      <p:cBhvr>
                                        <p:cTn id="11" dur="1" fill="hold">
                                          <p:stCondLst>
                                            <p:cond delay="0"/>
                                          </p:stCondLst>
                                        </p:cTn>
                                        <p:tgtEl>
                                          <p:spTgt spid="20"/>
                                        </p:tgtEl>
                                        <p:attrNameLst>
                                          <p:attrName>style.visibility</p:attrName>
                                        </p:attrNameLst>
                                      </p:cBhvr>
                                      <p:to>
                                        <p:strVal val="visible"/>
                                      </p:to>
                                    </p:set>
                                    <p:anim calcmode="lin" valueType="num">
                                      <p:cBhvr>
                                        <p:cTn id="12" dur="2000" fill="hold"/>
                                        <p:tgtEl>
                                          <p:spTgt spid="20"/>
                                        </p:tgtEl>
                                        <p:attrNameLst>
                                          <p:attrName>ppt_w</p:attrName>
                                        </p:attrNameLst>
                                      </p:cBhvr>
                                      <p:tavLst>
                                        <p:tav tm="0">
                                          <p:val>
                                            <p:fltVal val="0"/>
                                          </p:val>
                                        </p:tav>
                                        <p:tav tm="100000">
                                          <p:val>
                                            <p:strVal val="#ppt_w"/>
                                          </p:val>
                                        </p:tav>
                                      </p:tavLst>
                                    </p:anim>
                                    <p:anim calcmode="lin" valueType="num">
                                      <p:cBhvr>
                                        <p:cTn id="13" dur="2000" fill="hold"/>
                                        <p:tgtEl>
                                          <p:spTgt spid="20"/>
                                        </p:tgtEl>
                                        <p:attrNameLst>
                                          <p:attrName>ppt_h</p:attrName>
                                        </p:attrNameLst>
                                      </p:cBhvr>
                                      <p:tavLst>
                                        <p:tav tm="0">
                                          <p:val>
                                            <p:strVal val="#ppt_h"/>
                                          </p:val>
                                        </p:tav>
                                        <p:tav tm="100000">
                                          <p:val>
                                            <p:strVal val="#ppt_h"/>
                                          </p:val>
                                        </p:tav>
                                      </p:tavLst>
                                    </p:anim>
                                  </p:childTnLst>
                                </p:cTn>
                              </p:par>
                            </p:childTnLst>
                          </p:cTn>
                        </p:par>
                        <p:par>
                          <p:cTn id="14" fill="hold">
                            <p:stCondLst>
                              <p:cond delay="2500"/>
                            </p:stCondLst>
                            <p:childTnLst>
                              <p:par>
                                <p:cTn id="15" presetID="17" presetClass="entr" presetSubtype="10" fill="hold" nodeType="afterEffect">
                                  <p:stCondLst>
                                    <p:cond delay="0"/>
                                  </p:stCondLst>
                                  <p:childTnLst>
                                    <p:set>
                                      <p:cBhvr>
                                        <p:cTn id="16" dur="1" fill="hold">
                                          <p:stCondLst>
                                            <p:cond delay="0"/>
                                          </p:stCondLst>
                                        </p:cTn>
                                        <p:tgtEl>
                                          <p:spTgt spid="23"/>
                                        </p:tgtEl>
                                        <p:attrNameLst>
                                          <p:attrName>style.visibility</p:attrName>
                                        </p:attrNameLst>
                                      </p:cBhvr>
                                      <p:to>
                                        <p:strVal val="visible"/>
                                      </p:to>
                                    </p:set>
                                    <p:anim calcmode="lin" valueType="num">
                                      <p:cBhvr>
                                        <p:cTn id="17" dur="2000" fill="hold"/>
                                        <p:tgtEl>
                                          <p:spTgt spid="23"/>
                                        </p:tgtEl>
                                        <p:attrNameLst>
                                          <p:attrName>ppt_w</p:attrName>
                                        </p:attrNameLst>
                                      </p:cBhvr>
                                      <p:tavLst>
                                        <p:tav tm="0">
                                          <p:val>
                                            <p:fltVal val="0"/>
                                          </p:val>
                                        </p:tav>
                                        <p:tav tm="100000">
                                          <p:val>
                                            <p:strVal val="#ppt_w"/>
                                          </p:val>
                                        </p:tav>
                                      </p:tavLst>
                                    </p:anim>
                                    <p:anim calcmode="lin" valueType="num">
                                      <p:cBhvr>
                                        <p:cTn id="18" dur="2000" fill="hold"/>
                                        <p:tgtEl>
                                          <p:spTgt spid="23"/>
                                        </p:tgtEl>
                                        <p:attrNameLst>
                                          <p:attrName>ppt_h</p:attrName>
                                        </p:attrNameLst>
                                      </p:cBhvr>
                                      <p:tavLst>
                                        <p:tav tm="0">
                                          <p:val>
                                            <p:strVal val="#ppt_h"/>
                                          </p:val>
                                        </p:tav>
                                        <p:tav tm="100000">
                                          <p:val>
                                            <p:strVal val="#ppt_h"/>
                                          </p:val>
                                        </p:tav>
                                      </p:tavLst>
                                    </p:anim>
                                  </p:childTnLst>
                                </p:cTn>
                              </p:par>
                            </p:childTnLst>
                          </p:cTn>
                        </p:par>
                        <p:par>
                          <p:cTn id="19" fill="hold">
                            <p:stCondLst>
                              <p:cond delay="4500"/>
                            </p:stCondLst>
                            <p:childTnLst>
                              <p:par>
                                <p:cTn id="20" presetID="17" presetClass="entr" presetSubtype="10" fill="hold" nodeType="after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p:cTn id="22" dur="2000" fill="hold"/>
                                        <p:tgtEl>
                                          <p:spTgt spid="26"/>
                                        </p:tgtEl>
                                        <p:attrNameLst>
                                          <p:attrName>ppt_w</p:attrName>
                                        </p:attrNameLst>
                                      </p:cBhvr>
                                      <p:tavLst>
                                        <p:tav tm="0">
                                          <p:val>
                                            <p:fltVal val="0"/>
                                          </p:val>
                                        </p:tav>
                                        <p:tav tm="100000">
                                          <p:val>
                                            <p:strVal val="#ppt_w"/>
                                          </p:val>
                                        </p:tav>
                                      </p:tavLst>
                                    </p:anim>
                                    <p:anim calcmode="lin" valueType="num">
                                      <p:cBhvr>
                                        <p:cTn id="23" dur="2000" fill="hold"/>
                                        <p:tgtEl>
                                          <p:spTgt spid="26"/>
                                        </p:tgtEl>
                                        <p:attrNameLst>
                                          <p:attrName>ppt_h</p:attrName>
                                        </p:attrNameLst>
                                      </p:cBhvr>
                                      <p:tavLst>
                                        <p:tav tm="0">
                                          <p:val>
                                            <p:strVal val="#ppt_h"/>
                                          </p:val>
                                        </p:tav>
                                        <p:tav tm="100000">
                                          <p:val>
                                            <p:strVal val="#ppt_h"/>
                                          </p:val>
                                        </p:tav>
                                      </p:tavLst>
                                    </p:anim>
                                  </p:childTnLst>
                                </p:cTn>
                              </p:par>
                              <p:par>
                                <p:cTn id="24" presetID="1" presetClass="entr" presetSubtype="0" fill="hold" grpId="0" nodeType="withEffect">
                                  <p:stCondLst>
                                    <p:cond delay="0"/>
                                  </p:stCondLst>
                                  <p:childTnLst>
                                    <p:set>
                                      <p:cBhvr>
                                        <p:cTn id="25" dur="1" fill="hold">
                                          <p:stCondLst>
                                            <p:cond delay="0"/>
                                          </p:stCondLst>
                                        </p:cTn>
                                        <p:tgtEl>
                                          <p:spTgt spid="3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nodeType="click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ppt_w</p:attrName>
                                        </p:attrNameLst>
                                      </p:cBhvr>
                                      <p:tavLst>
                                        <p:tav tm="0">
                                          <p:val>
                                            <p:fltVal val="0"/>
                                          </p:val>
                                        </p:tav>
                                        <p:tav tm="100000">
                                          <p:val>
                                            <p:strVal val="#ppt_w"/>
                                          </p:val>
                                        </p:tav>
                                      </p:tavLst>
                                    </p:anim>
                                    <p:anim calcmode="lin" valueType="num">
                                      <p:cBhvr>
                                        <p:cTn id="31"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17" presetClass="entr" presetSubtype="10"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 calcmode="lin" valueType="num">
                                      <p:cBhvr>
                                        <p:cTn id="36" dur="500" fill="hold"/>
                                        <p:tgtEl>
                                          <p:spTgt spid="29"/>
                                        </p:tgtEl>
                                        <p:attrNameLst>
                                          <p:attrName>ppt_w</p:attrName>
                                        </p:attrNameLst>
                                      </p:cBhvr>
                                      <p:tavLst>
                                        <p:tav tm="0">
                                          <p:val>
                                            <p:fltVal val="0"/>
                                          </p:val>
                                        </p:tav>
                                        <p:tav tm="100000">
                                          <p:val>
                                            <p:strVal val="#ppt_w"/>
                                          </p:val>
                                        </p:tav>
                                      </p:tavLst>
                                    </p:anim>
                                    <p:anim calcmode="lin" valueType="num">
                                      <p:cBhvr>
                                        <p:cTn id="37" dur="500" fill="hold"/>
                                        <p:tgtEl>
                                          <p:spTgt spid="29"/>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autoUpdateAnimBg="0"/>
      <p:bldP spid="36" grpId="0"/>
      <p:bldP spid="3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29"/>
          <p:cNvGrpSpPr/>
          <p:nvPr/>
        </p:nvGrpSpPr>
        <p:grpSpPr bwMode="auto">
          <a:xfrm>
            <a:off x="3691676" y="2146661"/>
            <a:ext cx="1426939" cy="538162"/>
            <a:chOff x="1584" y="2352"/>
            <a:chExt cx="864" cy="339"/>
          </a:xfrm>
        </p:grpSpPr>
        <p:sp>
          <p:nvSpPr>
            <p:cNvPr id="6" name="Text Box 30"/>
            <p:cNvSpPr txBox="1">
              <a:spLocks noChangeArrowheads="1"/>
            </p:cNvSpPr>
            <p:nvPr/>
          </p:nvSpPr>
          <p:spPr bwMode="auto">
            <a:xfrm>
              <a:off x="1776" y="2400"/>
              <a:ext cx="672"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dirty="0">
                  <a:solidFill>
                    <a:srgbClr val="FF0000"/>
                  </a:solidFill>
                </a:rPr>
                <a:t>a, b, c </a:t>
              </a:r>
            </a:p>
          </p:txBody>
        </p:sp>
        <p:sp>
          <p:nvSpPr>
            <p:cNvPr id="7" name="AutoShape 31"/>
            <p:cNvSpPr>
              <a:spLocks noChangeArrowheads="1"/>
            </p:cNvSpPr>
            <p:nvPr/>
          </p:nvSpPr>
          <p:spPr bwMode="auto">
            <a:xfrm rot="-2380396">
              <a:off x="1584" y="2352"/>
              <a:ext cx="144" cy="336"/>
            </a:xfrm>
            <a:prstGeom prst="curvedRightArrow">
              <a:avLst>
                <a:gd name="adj1" fmla="val 46667"/>
                <a:gd name="adj2" fmla="val 93333"/>
                <a:gd name="adj3" fmla="val 33333"/>
              </a:avLst>
            </a:prstGeom>
            <a:solidFill>
              <a:srgbClr val="FFFFCC"/>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mc:AlternateContent xmlns:mc="http://schemas.openxmlformats.org/markup-compatibility/2006" xmlns:a14="http://schemas.microsoft.com/office/drawing/2010/main">
        <mc:Choice Requires="a14">
          <p:sp>
            <p:nvSpPr>
              <p:cNvPr id="9" name="文本框 8"/>
              <p:cNvSpPr txBox="1"/>
              <p:nvPr/>
            </p:nvSpPr>
            <p:spPr>
              <a:xfrm>
                <a:off x="1558925" y="476250"/>
                <a:ext cx="4041140" cy="1316355"/>
              </a:xfrm>
              <a:prstGeom prst="rect">
                <a:avLst/>
              </a:prstGeom>
              <a:noFill/>
            </p:spPr>
            <p:txBody>
              <a:bodyPr wrap="none" rtlCol="0">
                <a:spAutoFit/>
              </a:bodyPr>
              <a:lstStyle/>
              <a:p>
                <a:pPr algn="l"/>
                <a14:m>
                  <m:oMathPara xmlns:m="http://schemas.openxmlformats.org/officeDocument/2006/math">
                    <m:oMathParaPr>
                      <m:jc m:val="centerGroup"/>
                    </m:oMathParaPr>
                    <m:oMath xmlns:m="http://schemas.openxmlformats.org/officeDocument/2006/math">
                      <m:d>
                        <m:dPr>
                          <m:begChr m:val="{"/>
                          <m:endChr m:val=""/>
                          <m:ctrlPr>
                            <a:rPr kumimoji="1" lang="zh-CN" altLang="en-US" sz="2400" i="1" smtClean="0">
                              <a:solidFill>
                                <a:schemeClr val="tx1"/>
                              </a:solidFill>
                              <a:latin typeface="Cambria Math" panose="02040503050406030204" pitchFamily="18" charset="0"/>
                              <a:cs typeface="Cambria Math" panose="02040503050406030204" pitchFamily="18" charset="0"/>
                            </a:rPr>
                          </m:ctrlPr>
                        </m:dPr>
                        <m:e>
                          <m:eqArr>
                            <m:eqArrPr>
                              <m:ctrlPr>
                                <a:rPr kumimoji="1" lang="zh-CN" altLang="en-US" sz="2400" i="1" smtClean="0">
                                  <a:solidFill>
                                    <a:schemeClr val="tx1"/>
                                  </a:solidFill>
                                  <a:latin typeface="Cambria Math" panose="02040503050406030204" pitchFamily="18" charset="0"/>
                                  <a:cs typeface="Cambria Math" panose="02040503050406030204" pitchFamily="18" charset="0"/>
                                </a:rPr>
                              </m:ctrlPr>
                            </m:eqArrPr>
                            <m:e>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𝑎</m:t>
                              </m:r>
                              <m:sSubSup>
                                <m:sSubSupPr>
                                  <m:ctrlPr>
                                    <a:rPr kumimoji="1" lang="en-US" altLang="zh-CN" sz="2400" i="1">
                                      <a:solidFill>
                                        <a:schemeClr val="tx1"/>
                                      </a:solidFill>
                                      <a:latin typeface="Cambria Math" panose="02040503050406030204" pitchFamily="18" charset="0"/>
                                      <a:cs typeface="Cambria Math" panose="02040503050406030204" pitchFamily="18" charset="0"/>
                                    </a:rPr>
                                  </m:ctrlPr>
                                </m:sSubSup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up>
                                  <m:r>
                                    <a:rPr kumimoji="1" lang="en-US" altLang="zh-CN" sz="2400" i="1">
                                      <a:solidFill>
                                        <a:schemeClr val="tx1"/>
                                      </a:solidFill>
                                      <a:latin typeface="Cambria Math" panose="02040503050406030204" pitchFamily="18" charset="0"/>
                                      <a:cs typeface="Cambria Math" panose="02040503050406030204" pitchFamily="18" charset="0"/>
                                    </a:rPr>
                                    <m:t>2</m:t>
                                  </m:r>
                                </m:sup>
                              </m:sSubSup>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𝑏</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𝑐</m:t>
                              </m:r>
                              <m:r>
                                <a:rPr kumimoji="1" lang="en-US" altLang="zh-CN" sz="2400" i="1">
                                  <a:solidFill>
                                    <a:schemeClr val="tx1"/>
                                  </a:solidFill>
                                  <a:latin typeface="Cambria Math" panose="02040503050406030204" pitchFamily="18" charset="0"/>
                                  <a:cs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𝑓</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e>
                            <m:e>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𝑎</m:t>
                              </m:r>
                              <m:sSubSup>
                                <m:sSubSupPr>
                                  <m:ctrlPr>
                                    <a:rPr kumimoji="1" lang="en-US" altLang="zh-CN" sz="2400" i="1">
                                      <a:solidFill>
                                        <a:schemeClr val="tx1"/>
                                      </a:solidFill>
                                      <a:latin typeface="Cambria Math" panose="02040503050406030204" pitchFamily="18" charset="0"/>
                                      <a:cs typeface="Cambria Math" panose="02040503050406030204" pitchFamily="18" charset="0"/>
                                    </a:rPr>
                                  </m:ctrlPr>
                                </m:sSubSup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up>
                                  <m:r>
                                    <a:rPr kumimoji="1" lang="en-US" altLang="zh-CN" sz="2400" i="1">
                                      <a:solidFill>
                                        <a:schemeClr val="tx1"/>
                                      </a:solidFill>
                                      <a:latin typeface="Cambria Math" panose="02040503050406030204" pitchFamily="18" charset="0"/>
                                      <a:cs typeface="Cambria Math" panose="02040503050406030204" pitchFamily="18" charset="0"/>
                                    </a:rPr>
                                    <m:t>2</m:t>
                                  </m:r>
                                </m:sup>
                              </m:sSubSup>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𝑏</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𝑐</m:t>
                              </m:r>
                              <m:r>
                                <a:rPr kumimoji="1" lang="en-US" altLang="zh-CN" sz="2400" i="1">
                                  <a:solidFill>
                                    <a:schemeClr val="tx1"/>
                                  </a:solidFill>
                                  <a:latin typeface="Cambria Math" panose="02040503050406030204" pitchFamily="18" charset="0"/>
                                  <a:cs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𝑓</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e>
                            <m:e>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𝑎</m:t>
                              </m:r>
                              <m:sSubSup>
                                <m:sSubSupPr>
                                  <m:ctrlPr>
                                    <a:rPr kumimoji="1" lang="en-US" altLang="zh-CN" sz="2400" i="1">
                                      <a:solidFill>
                                        <a:schemeClr val="tx1"/>
                                      </a:solidFill>
                                      <a:latin typeface="Cambria Math" panose="02040503050406030204" pitchFamily="18" charset="0"/>
                                      <a:cs typeface="Cambria Math" panose="02040503050406030204" pitchFamily="18" charset="0"/>
                                    </a:rPr>
                                  </m:ctrlPr>
                                </m:sSubSup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up>
                                  <m:r>
                                    <a:rPr kumimoji="1" lang="en-US" altLang="zh-CN" sz="2400" i="1">
                                      <a:solidFill>
                                        <a:schemeClr val="tx1"/>
                                      </a:solidFill>
                                      <a:latin typeface="Cambria Math" panose="02040503050406030204" pitchFamily="18" charset="0"/>
                                      <a:cs typeface="Cambria Math" panose="02040503050406030204" pitchFamily="18" charset="0"/>
                                    </a:rPr>
                                    <m:t>2</m:t>
                                  </m:r>
                                </m:sup>
                              </m:sSubSup>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𝑏</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𝑐</m:t>
                              </m:r>
                              <m:r>
                                <a:rPr kumimoji="1" lang="en-US" altLang="zh-CN" sz="2400" i="1">
                                  <a:solidFill>
                                    <a:schemeClr val="tx1"/>
                                  </a:solidFill>
                                  <a:latin typeface="Cambria Math" panose="02040503050406030204" pitchFamily="18" charset="0"/>
                                  <a:cs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𝑓</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e>
                          </m:eqArr>
                        </m:e>
                      </m:d>
                    </m:oMath>
                  </m:oMathPara>
                </a14:m>
                <a:endParaRPr lang="zh-CN" altLang="en-US" dirty="0"/>
              </a:p>
            </p:txBody>
          </p:sp>
        </mc:Choice>
        <mc:Fallback xmlns="">
          <p:sp>
            <p:nvSpPr>
              <p:cNvPr id="9" name="文本框 8"/>
              <p:cNvSpPr txBox="1">
                <a:spLocks noRot="1" noChangeAspect="1" noMove="1" noResize="1" noEditPoints="1" noAdjustHandles="1" noChangeArrowheads="1" noChangeShapeType="1" noTextEdit="1"/>
              </p:cNvSpPr>
              <p:nvPr/>
            </p:nvSpPr>
            <p:spPr>
              <a:xfrm>
                <a:off x="1558925" y="476250"/>
                <a:ext cx="4041140" cy="1316355"/>
              </a:xfrm>
              <a:prstGeom prst="rect">
                <a:avLst/>
              </a:prstGeom>
              <a:blipFill rotWithShape="1">
                <a:blip r:embed="rId2"/>
                <a:stretch>
                  <a:fillRect r="-2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1558925" y="2785247"/>
                <a:ext cx="10009435" cy="3661410"/>
              </a:xfrm>
              <a:prstGeom prst="rect">
                <a:avLst/>
              </a:prstGeom>
              <a:noFill/>
            </p:spPr>
            <p:txBody>
              <a:bodyPr wrap="square" rtlCol="0">
                <a:spAutoFit/>
              </a:bodyPr>
              <a:lstStyle/>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令</a:t>
                </a:r>
                <a:r>
                  <a:rPr lang="en-US" altLang="zh-CN" sz="2400" dirty="0">
                    <a:latin typeface="宋体" panose="02010600030101010101" pitchFamily="2" charset="-122"/>
                    <a:ea typeface="宋体" panose="02010600030101010101" pitchFamily="2" charset="-122"/>
                    <a:cs typeface="宋体" panose="02010600030101010101" pitchFamily="2" charset="-122"/>
                  </a:rPr>
                  <a:t>  </a:t>
                </a:r>
              </a:p>
              <a:p>
                <a:pPr algn="just" fontAlgn="auto">
                  <a:lnSpc>
                    <a:spcPct val="150000"/>
                  </a:lnSpc>
                </a:pPr>
                <a:r>
                  <a:rPr lang="en-US" altLang="zh-CN" sz="24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r>
                      <a:rPr kumimoji="1" lang="zh-CN" altLang="en-US" sz="2400" b="0" i="1" smtClean="0">
                        <a:solidFill>
                          <a:schemeClr val="tx1"/>
                        </a:solidFill>
                        <a:latin typeface="Cambria Math" panose="02040503050406030204" pitchFamily="18" charset="0"/>
                        <a:ea typeface="MS Mincho" panose="02020609040205080304" charset="-128"/>
                        <a:cs typeface="Cambria Math" panose="02040503050406030204" pitchFamily="18" charset="0"/>
                      </a:rPr>
                      <m:t>𝜑</m:t>
                    </m:r>
                    <m:r>
                      <a:rPr kumimoji="1" lang="en-US" altLang="zh-CN" sz="2400" b="0" i="1" smtClean="0">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b="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r>
                      <a:rPr kumimoji="1" lang="en-US" altLang="zh-CN" sz="2400" b="0" i="1" smtClean="0">
                        <a:solidFill>
                          <a:schemeClr val="tx1"/>
                        </a:solidFill>
                        <a:latin typeface="Cambria Math" panose="02040503050406030204" pitchFamily="18" charset="0"/>
                        <a:ea typeface="MS Mincho" panose="02020609040205080304" charset="-128"/>
                        <a:cs typeface="Cambria Math" panose="02040503050406030204" pitchFamily="18" charset="0"/>
                      </a:rPr>
                      <m:t>)=2</m:t>
                    </m:r>
                    <m:r>
                      <a:rPr kumimoji="1" lang="en-US" altLang="zh-CN" sz="2400" b="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𝑎𝑥</m:t>
                    </m:r>
                    <m:r>
                      <a:rPr kumimoji="1" lang="en-US" altLang="zh-CN" sz="2400" b="0" i="1" smtClean="0">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b="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𝑏</m:t>
                    </m:r>
                    <m:r>
                      <a:rPr kumimoji="1" lang="en-US" altLang="zh-CN" sz="2400" b="0" i="1" smtClean="0">
                        <a:solidFill>
                          <a:schemeClr val="tx1"/>
                        </a:solidFill>
                        <a:latin typeface="Cambria Math" panose="02040503050406030204" pitchFamily="18" charset="0"/>
                        <a:ea typeface="MS Mincho" panose="02020609040205080304" charset="-128"/>
                        <a:cs typeface="Cambria Math" panose="02040503050406030204" pitchFamily="18" charset="0"/>
                      </a:rPr>
                      <m:t>=0</m:t>
                    </m:r>
                  </m:oMath>
                </a14:m>
                <a:r>
                  <a:rPr lang="en-US" altLang="zh-CN" sz="2400" dirty="0">
                    <a:latin typeface="宋体" panose="02010600030101010101" pitchFamily="2" charset="-122"/>
                    <a:ea typeface="宋体" panose="02010600030101010101" pitchFamily="2" charset="-122"/>
                    <a:cs typeface="宋体" panose="02010600030101010101" pitchFamily="2" charset="-122"/>
                  </a:rPr>
                  <a:t>  </a:t>
                </a:r>
              </a:p>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则</a:t>
                </a:r>
                <a:r>
                  <a:rPr lang="en-US" altLang="zh-CN" sz="2400" dirty="0">
                    <a:latin typeface="宋体" panose="02010600030101010101" pitchFamily="2" charset="-122"/>
                    <a:ea typeface="宋体" panose="02010600030101010101" pitchFamily="2" charset="-122"/>
                    <a:cs typeface="宋体" panose="02010600030101010101" pitchFamily="2" charset="-122"/>
                  </a:rPr>
                  <a:t>        </a:t>
                </a:r>
              </a:p>
              <a:p>
                <a:pPr algn="just" fontAlgn="auto">
                  <a:lnSpc>
                    <a:spcPct val="150000"/>
                  </a:lnSpc>
                </a:pPr>
                <a:r>
                  <a:rPr lang="en-US" altLang="zh-CN" sz="2400" dirty="0">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r>
                      <a:rPr kumimoji="1" lang="en-US" altLang="zh-CN" sz="2400" b="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r>
                      <a:rPr kumimoji="1" lang="en-US" altLang="zh-CN" sz="2400" b="0" i="1" smtClean="0">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b="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m:t>
                    </m:r>
                    <m:f>
                      <m:fPr>
                        <m:ctrlP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ctrlPr>
                      </m:fPr>
                      <m:num>
                        <m:r>
                          <a:rPr kumimoji="1" lang="en-US" altLang="zh-CN" sz="2400" b="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𝑏</m:t>
                        </m:r>
                      </m:num>
                      <m:den>
                        <m:r>
                          <a:rPr kumimoji="1" lang="en-US" altLang="zh-CN" sz="2400" b="0" i="1" smtClean="0">
                            <a:solidFill>
                              <a:schemeClr val="tx1"/>
                            </a:solidFill>
                            <a:latin typeface="Cambria Math" panose="02040503050406030204" pitchFamily="18" charset="0"/>
                            <a:ea typeface="MS Mincho" panose="02020609040205080304" charset="-128"/>
                            <a:cs typeface="Cambria Math" panose="02040503050406030204" pitchFamily="18" charset="0"/>
                          </a:rPr>
                          <m:t>2</m:t>
                        </m:r>
                        <m:r>
                          <a:rPr kumimoji="1" lang="en-US" altLang="zh-CN" sz="2400" b="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𝑎</m:t>
                        </m:r>
                      </m:den>
                    </m:f>
                  </m:oMath>
                </a14:m>
                <a:r>
                  <a:rPr lang="en-US" altLang="zh-CN" sz="2400" dirty="0">
                    <a:latin typeface="宋体" panose="02010600030101010101" pitchFamily="2" charset="-122"/>
                    <a:ea typeface="宋体" panose="02010600030101010101" pitchFamily="2" charset="-122"/>
                    <a:cs typeface="宋体" panose="02010600030101010101" pitchFamily="2" charset="-122"/>
                  </a:rPr>
                  <a:t>   </a:t>
                </a:r>
              </a:p>
              <a:p>
                <a:pPr algn="just" fontAlgn="auto">
                  <a:lnSpc>
                    <a:spcPct val="150000"/>
                  </a:lnSpc>
                </a:pPr>
                <a:r>
                  <a:rPr lang="en-US" altLang="zh-CN" sz="2400" dirty="0" err="1">
                    <a:latin typeface="宋体" panose="02010600030101010101" pitchFamily="2" charset="-122"/>
                    <a:ea typeface="宋体" panose="02010600030101010101" pitchFamily="2" charset="-122"/>
                    <a:cs typeface="宋体" panose="02010600030101010101" pitchFamily="2" charset="-122"/>
                  </a:rPr>
                  <a:t>作为</a:t>
                </a:r>
                <a14:m>
                  <m:oMath xmlns:m="http://schemas.openxmlformats.org/officeDocument/2006/math">
                    <m:r>
                      <a:rPr lang="en-US" altLang="zh-CN" sz="2400" b="0" i="1" kern="100" smtClean="0">
                        <a:effectLst/>
                        <a:latin typeface="Cambria Math" panose="02040503050406030204" pitchFamily="18" charset="0"/>
                        <a:ea typeface="宋体" panose="02010600030101010101" pitchFamily="2" charset="-122"/>
                        <a:cs typeface="Cambria Math" panose="02040503050406030204" pitchFamily="18" charset="0"/>
                      </a:rPr>
                      <m:t>𝑓</m:t>
                    </m:r>
                    <m:d>
                      <m:dPr>
                        <m:ctrlPr>
                          <a:rPr lang="zh-CN" altLang="zh-CN" sz="2400" i="1" kern="100">
                            <a:effectLst/>
                            <a:latin typeface="Cambria Math" panose="02040503050406030204" pitchFamily="18" charset="0"/>
                            <a:ea typeface="宋体" panose="02010600030101010101" pitchFamily="2" charset="-122"/>
                            <a:cs typeface="Cambria Math" panose="02040503050406030204" pitchFamily="18" charset="0"/>
                          </a:rPr>
                        </m:ctrlPr>
                      </m:dPr>
                      <m:e>
                        <m:r>
                          <a:rPr lang="en-US" altLang="zh-CN" sz="2400" b="0" i="1" kern="100" smtClean="0">
                            <a:effectLst/>
                            <a:latin typeface="Cambria Math" panose="02040503050406030204" pitchFamily="18" charset="0"/>
                            <a:ea typeface="宋体" panose="02010600030101010101" pitchFamily="2" charset="-122"/>
                            <a:cs typeface="Cambria Math" panose="02040503050406030204" pitchFamily="18" charset="0"/>
                          </a:rPr>
                          <m:t>𝑥</m:t>
                        </m:r>
                      </m:e>
                    </m:d>
                  </m:oMath>
                </a14:m>
                <a:r>
                  <a:rPr lang="en-US" altLang="zh-CN" sz="2400" dirty="0" err="1">
                    <a:latin typeface="宋体" panose="02010600030101010101" pitchFamily="2" charset="-122"/>
                    <a:ea typeface="宋体" panose="02010600030101010101" pitchFamily="2" charset="-122"/>
                    <a:cs typeface="宋体" panose="02010600030101010101" pitchFamily="2" charset="-122"/>
                  </a:rPr>
                  <a:t>极小点的近似。但是此时的近似可能并不理想，所以，需要新选出三个点继续迭代</a:t>
                </a: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en-US" altLang="zh-CN" sz="2400" dirty="0">
                    <a:latin typeface="宋体" panose="02010600030101010101" pitchFamily="2" charset="-122"/>
                    <a:ea typeface="宋体" panose="02010600030101010101" pitchFamily="2" charset="-122"/>
                  </a:rPr>
                  <a:t>  </a:t>
                </a:r>
              </a:p>
            </p:txBody>
          </p:sp>
        </mc:Choice>
        <mc:Fallback xmlns="">
          <p:sp>
            <p:nvSpPr>
              <p:cNvPr id="10" name="文本框 9"/>
              <p:cNvSpPr txBox="1">
                <a:spLocks noRot="1" noChangeAspect="1" noMove="1" noResize="1" noEditPoints="1" noAdjustHandles="1" noChangeArrowheads="1" noChangeShapeType="1" noTextEdit="1"/>
              </p:cNvSpPr>
              <p:nvPr/>
            </p:nvSpPr>
            <p:spPr>
              <a:xfrm>
                <a:off x="1558925" y="2785247"/>
                <a:ext cx="10009435" cy="3661410"/>
              </a:xfrm>
              <a:prstGeom prst="rect">
                <a:avLst/>
              </a:prstGeom>
              <a:blipFill>
                <a:blip r:embed="rId3"/>
                <a:stretch>
                  <a:fillRect l="-974" r="-914" b="-333"/>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219E4855-7390-857C-62F1-0A2F0FB98883}"/>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781050" y="4769018"/>
            <a:ext cx="2674938" cy="457200"/>
          </a:xfrm>
          <a:prstGeom prst="rect">
            <a:avLst/>
          </a:prstGeom>
          <a:solidFill>
            <a:srgbClr val="FFFFCC"/>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dirty="0">
                <a:solidFill>
                  <a:srgbClr val="FF0000"/>
                </a:solidFill>
              </a:rPr>
              <a:t>注意：</a:t>
            </a:r>
          </a:p>
        </p:txBody>
      </p:sp>
      <p:grpSp>
        <p:nvGrpSpPr>
          <p:cNvPr id="222211" name="Group 3"/>
          <p:cNvGrpSpPr/>
          <p:nvPr/>
        </p:nvGrpSpPr>
        <p:grpSpPr bwMode="auto">
          <a:xfrm>
            <a:off x="2720975" y="1471613"/>
            <a:ext cx="4572000" cy="1892300"/>
            <a:chOff x="1296" y="576"/>
            <a:chExt cx="2880" cy="1192"/>
          </a:xfrm>
        </p:grpSpPr>
        <p:grpSp>
          <p:nvGrpSpPr>
            <p:cNvPr id="11295" name="Group 4"/>
            <p:cNvGrpSpPr/>
            <p:nvPr/>
          </p:nvGrpSpPr>
          <p:grpSpPr bwMode="auto">
            <a:xfrm>
              <a:off x="1296" y="576"/>
              <a:ext cx="2880" cy="1076"/>
              <a:chOff x="1872" y="2217"/>
              <a:chExt cx="2880" cy="1076"/>
            </a:xfrm>
          </p:grpSpPr>
          <p:sp>
            <p:nvSpPr>
              <p:cNvPr id="11310" name="Rectangle 5"/>
              <p:cNvSpPr>
                <a:spLocks noChangeArrowheads="1"/>
              </p:cNvSpPr>
              <p:nvPr/>
            </p:nvSpPr>
            <p:spPr bwMode="auto">
              <a:xfrm>
                <a:off x="1872" y="2217"/>
                <a:ext cx="3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a:solidFill>
                      <a:srgbClr val="0000FF"/>
                    </a:solidFill>
                  </a:rPr>
                  <a:t>f(x)</a:t>
                </a:r>
              </a:p>
            </p:txBody>
          </p:sp>
          <p:grpSp>
            <p:nvGrpSpPr>
              <p:cNvPr id="11311" name="Group 6"/>
              <p:cNvGrpSpPr/>
              <p:nvPr/>
            </p:nvGrpSpPr>
            <p:grpSpPr bwMode="auto">
              <a:xfrm>
                <a:off x="2031" y="2272"/>
                <a:ext cx="2721" cy="1021"/>
                <a:chOff x="1440" y="945"/>
                <a:chExt cx="2721" cy="1021"/>
              </a:xfrm>
            </p:grpSpPr>
            <p:sp>
              <p:nvSpPr>
                <p:cNvPr id="11312" name="Freeform 7"/>
                <p:cNvSpPr/>
                <p:nvPr/>
              </p:nvSpPr>
              <p:spPr bwMode="auto">
                <a:xfrm rot="408616">
                  <a:off x="1440" y="1134"/>
                  <a:ext cx="2304" cy="832"/>
                </a:xfrm>
                <a:custGeom>
                  <a:avLst/>
                  <a:gdLst>
                    <a:gd name="T0" fmla="*/ 0 w 5760"/>
                    <a:gd name="T1" fmla="*/ 0 h 2080"/>
                    <a:gd name="T2" fmla="*/ 0 w 5760"/>
                    <a:gd name="T3" fmla="*/ 0 h 2080"/>
                    <a:gd name="T4" fmla="*/ 0 w 5760"/>
                    <a:gd name="T5" fmla="*/ 0 h 2080"/>
                    <a:gd name="T6" fmla="*/ 0 w 5760"/>
                    <a:gd name="T7" fmla="*/ 0 h 2080"/>
                    <a:gd name="T8" fmla="*/ 0 w 5760"/>
                    <a:gd name="T9" fmla="*/ 0 h 2080"/>
                    <a:gd name="T10" fmla="*/ 0 w 5760"/>
                    <a:gd name="T11" fmla="*/ 0 h 2080"/>
                    <a:gd name="T12" fmla="*/ 0 w 5760"/>
                    <a:gd name="T13" fmla="*/ 0 h 2080"/>
                    <a:gd name="T14" fmla="*/ 0 w 5760"/>
                    <a:gd name="T15" fmla="*/ 0 h 2080"/>
                    <a:gd name="T16" fmla="*/ 0 w 5760"/>
                    <a:gd name="T17" fmla="*/ 0 h 2080"/>
                    <a:gd name="T18" fmla="*/ 0 w 5760"/>
                    <a:gd name="T19" fmla="*/ 0 h 2080"/>
                    <a:gd name="T20" fmla="*/ 0 w 5760"/>
                    <a:gd name="T21" fmla="*/ 0 h 2080"/>
                    <a:gd name="T22" fmla="*/ 0 w 5760"/>
                    <a:gd name="T23" fmla="*/ 0 h 2080"/>
                    <a:gd name="T24" fmla="*/ 0 w 5760"/>
                    <a:gd name="T25" fmla="*/ 0 h 2080"/>
                    <a:gd name="T26" fmla="*/ 0 w 5760"/>
                    <a:gd name="T27" fmla="*/ 0 h 2080"/>
                    <a:gd name="T28" fmla="*/ 0 w 5760"/>
                    <a:gd name="T29" fmla="*/ 0 h 2080"/>
                    <a:gd name="T30" fmla="*/ 0 w 5760"/>
                    <a:gd name="T31" fmla="*/ 0 h 2080"/>
                    <a:gd name="T32" fmla="*/ 0 w 5760"/>
                    <a:gd name="T33" fmla="*/ 0 h 2080"/>
                    <a:gd name="T34" fmla="*/ 0 w 5760"/>
                    <a:gd name="T35" fmla="*/ 0 h 208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5760" h="2080">
                      <a:moveTo>
                        <a:pt x="0" y="312"/>
                      </a:moveTo>
                      <a:cubicBezTo>
                        <a:pt x="165" y="494"/>
                        <a:pt x="330" y="676"/>
                        <a:pt x="540" y="780"/>
                      </a:cubicBezTo>
                      <a:cubicBezTo>
                        <a:pt x="750" y="884"/>
                        <a:pt x="1080" y="858"/>
                        <a:pt x="1260" y="936"/>
                      </a:cubicBezTo>
                      <a:cubicBezTo>
                        <a:pt x="1440" y="1014"/>
                        <a:pt x="1500" y="1196"/>
                        <a:pt x="1620" y="1248"/>
                      </a:cubicBezTo>
                      <a:cubicBezTo>
                        <a:pt x="1740" y="1300"/>
                        <a:pt x="1860" y="1222"/>
                        <a:pt x="1980" y="1248"/>
                      </a:cubicBezTo>
                      <a:cubicBezTo>
                        <a:pt x="2100" y="1274"/>
                        <a:pt x="2250" y="1352"/>
                        <a:pt x="2340" y="1404"/>
                      </a:cubicBezTo>
                      <a:cubicBezTo>
                        <a:pt x="2430" y="1456"/>
                        <a:pt x="2430" y="1534"/>
                        <a:pt x="2520" y="1560"/>
                      </a:cubicBezTo>
                      <a:cubicBezTo>
                        <a:pt x="2610" y="1586"/>
                        <a:pt x="2730" y="1534"/>
                        <a:pt x="2880" y="1560"/>
                      </a:cubicBezTo>
                      <a:cubicBezTo>
                        <a:pt x="3030" y="1586"/>
                        <a:pt x="3270" y="1638"/>
                        <a:pt x="3420" y="1716"/>
                      </a:cubicBezTo>
                      <a:cubicBezTo>
                        <a:pt x="3570" y="1794"/>
                        <a:pt x="3660" y="1976"/>
                        <a:pt x="3780" y="2028"/>
                      </a:cubicBezTo>
                      <a:cubicBezTo>
                        <a:pt x="3900" y="2080"/>
                        <a:pt x="4020" y="2080"/>
                        <a:pt x="4140" y="2028"/>
                      </a:cubicBezTo>
                      <a:cubicBezTo>
                        <a:pt x="4260" y="1976"/>
                        <a:pt x="4410" y="1794"/>
                        <a:pt x="4500" y="1716"/>
                      </a:cubicBezTo>
                      <a:cubicBezTo>
                        <a:pt x="4590" y="1638"/>
                        <a:pt x="4620" y="1638"/>
                        <a:pt x="4680" y="1560"/>
                      </a:cubicBezTo>
                      <a:cubicBezTo>
                        <a:pt x="4740" y="1482"/>
                        <a:pt x="4800" y="1352"/>
                        <a:pt x="4860" y="1248"/>
                      </a:cubicBezTo>
                      <a:cubicBezTo>
                        <a:pt x="4920" y="1144"/>
                        <a:pt x="4980" y="1040"/>
                        <a:pt x="5040" y="936"/>
                      </a:cubicBezTo>
                      <a:cubicBezTo>
                        <a:pt x="5100" y="832"/>
                        <a:pt x="5130" y="728"/>
                        <a:pt x="5220" y="624"/>
                      </a:cubicBezTo>
                      <a:cubicBezTo>
                        <a:pt x="5310" y="520"/>
                        <a:pt x="5490" y="416"/>
                        <a:pt x="5580" y="312"/>
                      </a:cubicBezTo>
                      <a:cubicBezTo>
                        <a:pt x="5670" y="208"/>
                        <a:pt x="5730" y="52"/>
                        <a:pt x="5760" y="0"/>
                      </a:cubicBezTo>
                    </a:path>
                  </a:pathLst>
                </a:custGeom>
                <a:noFill/>
                <a:ln w="19050" cmpd="sng">
                  <a:solidFill>
                    <a:srgbClr val="0000FF"/>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13" name="Freeform 8"/>
                <p:cNvSpPr/>
                <p:nvPr/>
              </p:nvSpPr>
              <p:spPr bwMode="auto">
                <a:xfrm>
                  <a:off x="3777" y="945"/>
                  <a:ext cx="384" cy="336"/>
                </a:xfrm>
                <a:custGeom>
                  <a:avLst/>
                  <a:gdLst>
                    <a:gd name="T0" fmla="*/ 0 w 384"/>
                    <a:gd name="T1" fmla="*/ 336 h 336"/>
                    <a:gd name="T2" fmla="*/ 96 w 384"/>
                    <a:gd name="T3" fmla="*/ 288 h 336"/>
                    <a:gd name="T4" fmla="*/ 192 w 384"/>
                    <a:gd name="T5" fmla="*/ 240 h 336"/>
                    <a:gd name="T6" fmla="*/ 336 w 384"/>
                    <a:gd name="T7" fmla="*/ 96 h 336"/>
                    <a:gd name="T8" fmla="*/ 384 w 384"/>
                    <a:gd name="T9" fmla="*/ 0 h 3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84" h="336">
                      <a:moveTo>
                        <a:pt x="0" y="336"/>
                      </a:moveTo>
                      <a:cubicBezTo>
                        <a:pt x="32" y="320"/>
                        <a:pt x="64" y="304"/>
                        <a:pt x="96" y="288"/>
                      </a:cubicBezTo>
                      <a:cubicBezTo>
                        <a:pt x="128" y="272"/>
                        <a:pt x="152" y="272"/>
                        <a:pt x="192" y="240"/>
                      </a:cubicBezTo>
                      <a:cubicBezTo>
                        <a:pt x="232" y="208"/>
                        <a:pt x="304" y="136"/>
                        <a:pt x="336" y="96"/>
                      </a:cubicBezTo>
                      <a:cubicBezTo>
                        <a:pt x="368" y="56"/>
                        <a:pt x="368" y="16"/>
                        <a:pt x="384" y="0"/>
                      </a:cubicBezTo>
                    </a:path>
                  </a:pathLst>
                </a:custGeom>
                <a:noFill/>
                <a:ln w="19050" cmpd="sng">
                  <a:solidFill>
                    <a:srgbClr val="0000FF"/>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grpSp>
          <p:nvGrpSpPr>
            <p:cNvPr id="11296" name="Group 9"/>
            <p:cNvGrpSpPr/>
            <p:nvPr/>
          </p:nvGrpSpPr>
          <p:grpSpPr bwMode="auto">
            <a:xfrm>
              <a:off x="1890" y="576"/>
              <a:ext cx="2109" cy="1192"/>
              <a:chOff x="2466" y="2217"/>
              <a:chExt cx="2109" cy="1192"/>
            </a:xfrm>
          </p:grpSpPr>
          <p:grpSp>
            <p:nvGrpSpPr>
              <p:cNvPr id="11306" name="Group 10"/>
              <p:cNvGrpSpPr/>
              <p:nvPr/>
            </p:nvGrpSpPr>
            <p:grpSpPr bwMode="auto">
              <a:xfrm>
                <a:off x="2607" y="2356"/>
                <a:ext cx="1968" cy="1053"/>
                <a:chOff x="2016" y="1029"/>
                <a:chExt cx="1968" cy="1053"/>
              </a:xfrm>
            </p:grpSpPr>
            <p:sp>
              <p:nvSpPr>
                <p:cNvPr id="11308" name="Freeform 11"/>
                <p:cNvSpPr/>
                <p:nvPr/>
              </p:nvSpPr>
              <p:spPr bwMode="auto">
                <a:xfrm>
                  <a:off x="2016" y="1104"/>
                  <a:ext cx="1656" cy="978"/>
                </a:xfrm>
                <a:custGeom>
                  <a:avLst/>
                  <a:gdLst>
                    <a:gd name="T0" fmla="*/ 0 w 4140"/>
                    <a:gd name="T1" fmla="*/ 0 h 2444"/>
                    <a:gd name="T2" fmla="*/ 0 w 4140"/>
                    <a:gd name="T3" fmla="*/ 0 h 2444"/>
                    <a:gd name="T4" fmla="*/ 0 w 4140"/>
                    <a:gd name="T5" fmla="*/ 0 h 2444"/>
                    <a:gd name="T6" fmla="*/ 0 w 4140"/>
                    <a:gd name="T7" fmla="*/ 0 h 2444"/>
                    <a:gd name="T8" fmla="*/ 0 w 4140"/>
                    <a:gd name="T9" fmla="*/ 0 h 2444"/>
                    <a:gd name="T10" fmla="*/ 0 w 4140"/>
                    <a:gd name="T11" fmla="*/ 0 h 244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140" h="2444">
                      <a:moveTo>
                        <a:pt x="0" y="0"/>
                      </a:moveTo>
                      <a:cubicBezTo>
                        <a:pt x="360" y="442"/>
                        <a:pt x="720" y="884"/>
                        <a:pt x="1080" y="1248"/>
                      </a:cubicBezTo>
                      <a:cubicBezTo>
                        <a:pt x="1440" y="1612"/>
                        <a:pt x="1920" y="2002"/>
                        <a:pt x="2160" y="2184"/>
                      </a:cubicBezTo>
                      <a:cubicBezTo>
                        <a:pt x="2400" y="2366"/>
                        <a:pt x="2400" y="2340"/>
                        <a:pt x="2520" y="2340"/>
                      </a:cubicBezTo>
                      <a:cubicBezTo>
                        <a:pt x="2640" y="2340"/>
                        <a:pt x="2610" y="2444"/>
                        <a:pt x="2880" y="2184"/>
                      </a:cubicBezTo>
                      <a:cubicBezTo>
                        <a:pt x="3150" y="1924"/>
                        <a:pt x="3930" y="1014"/>
                        <a:pt x="4140" y="780"/>
                      </a:cubicBezTo>
                    </a:path>
                  </a:pathLst>
                </a:custGeom>
                <a:noFill/>
                <a:ln w="19050" cmpd="sng">
                  <a:solidFill>
                    <a:srgbClr val="FF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309" name="Line 12"/>
                <p:cNvSpPr>
                  <a:spLocks noChangeShapeType="1"/>
                </p:cNvSpPr>
                <p:nvPr/>
              </p:nvSpPr>
              <p:spPr bwMode="auto">
                <a:xfrm flipH="1">
                  <a:off x="3648" y="1029"/>
                  <a:ext cx="336" cy="410"/>
                </a:xfrm>
                <a:prstGeom prst="line">
                  <a:avLst/>
                </a:prstGeom>
                <a:noFill/>
                <a:ln w="1905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mc:AlternateContent xmlns:mc="http://schemas.openxmlformats.org/markup-compatibility/2006" xmlns:a14="http://schemas.microsoft.com/office/drawing/2010/main">
            <mc:Choice Requires="a14">
              <p:sp>
                <p:nvSpPr>
                  <p:cNvPr id="11307" name="Rectangle 13"/>
                  <p:cNvSpPr>
                    <a:spLocks noChangeArrowheads="1"/>
                  </p:cNvSpPr>
                  <p:nvPr/>
                </p:nvSpPr>
                <p:spPr bwMode="auto">
                  <a:xfrm>
                    <a:off x="2466" y="2217"/>
                    <a:ext cx="472" cy="23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a14:m>
                      <m:oMathPara xmlns:m="http://schemas.openxmlformats.org/officeDocument/2006/math">
                        <m:oMathParaPr>
                          <m:jc m:val="centerGroup"/>
                        </m:oMathParaPr>
                        <m:oMath xmlns:m="http://schemas.openxmlformats.org/officeDocument/2006/math">
                          <m:r>
                            <a:rPr lang="en-US" altLang="zh-CN" sz="1800" b="1" i="1" kern="100" smtClean="0">
                              <a:effectLst/>
                              <a:latin typeface="Cambria Math" panose="02040503050406030204" pitchFamily="18" charset="0"/>
                              <a:ea typeface="等线" panose="02010600030101010101" pitchFamily="2" charset="-122"/>
                              <a:cs typeface="Times New Roman" panose="02020603050405020304" pitchFamily="18" charset="0"/>
                            </a:rPr>
                            <m:t>𝝋</m:t>
                          </m:r>
                          <m:r>
                            <a:rPr lang="en-US" altLang="zh-CN" sz="1800" b="1" i="1" kern="100" smtClean="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b="1" i="1" kern="100" smtClean="0">
                              <a:effectLst/>
                              <a:latin typeface="Cambria Math" panose="02040503050406030204" pitchFamily="18" charset="0"/>
                              <a:ea typeface="等线" panose="02010600030101010101" pitchFamily="2" charset="-122"/>
                              <a:cs typeface="Times New Roman" panose="02020603050405020304" pitchFamily="18" charset="0"/>
                            </a:rPr>
                            <m:t>𝒙</m:t>
                          </m:r>
                          <m:r>
                            <a:rPr lang="en-US" altLang="zh-CN" sz="1800" b="1" i="1" kern="100" smtClean="0">
                              <a:effectLst/>
                              <a:latin typeface="Cambria Math" panose="02040503050406030204" pitchFamily="18" charset="0"/>
                              <a:ea typeface="等线" panose="02010600030101010101" pitchFamily="2" charset="-122"/>
                              <a:cs typeface="Times New Roman" panose="02020603050405020304" pitchFamily="18" charset="0"/>
                            </a:rPr>
                            <m:t>)</m:t>
                          </m:r>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1307" name="Rectangle 13"/>
                  <p:cNvSpPr>
                    <a:spLocks noRot="1" noChangeAspect="1" noMove="1" noResize="1" noEditPoints="1" noAdjustHandles="1" noChangeArrowheads="1" noChangeShapeType="1" noTextEdit="1"/>
                  </p:cNvSpPr>
                  <p:nvPr/>
                </p:nvSpPr>
                <p:spPr bwMode="auto">
                  <a:xfrm>
                    <a:off x="2466" y="2217"/>
                    <a:ext cx="472" cy="233"/>
                  </a:xfrm>
                  <a:prstGeom prst="rect">
                    <a:avLst/>
                  </a:prstGeom>
                  <a:blipFill rotWithShape="1">
                    <a:blip r:embed="rId2"/>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grpSp>
          <p:nvGrpSpPr>
            <p:cNvPr id="11297" name="Group 14"/>
            <p:cNvGrpSpPr/>
            <p:nvPr/>
          </p:nvGrpSpPr>
          <p:grpSpPr bwMode="auto">
            <a:xfrm>
              <a:off x="2376" y="1175"/>
              <a:ext cx="641" cy="309"/>
              <a:chOff x="2361" y="1489"/>
              <a:chExt cx="641" cy="309"/>
            </a:xfrm>
          </p:grpSpPr>
          <p:sp>
            <p:nvSpPr>
              <p:cNvPr id="11304" name="Oval 15"/>
              <p:cNvSpPr>
                <a:spLocks noChangeArrowheads="1"/>
              </p:cNvSpPr>
              <p:nvPr/>
            </p:nvSpPr>
            <p:spPr bwMode="auto">
              <a:xfrm>
                <a:off x="2618" y="1764"/>
                <a:ext cx="34" cy="34"/>
              </a:xfrm>
              <a:prstGeom prst="ellipse">
                <a:avLst/>
              </a:prstGeom>
              <a:solidFill>
                <a:srgbClr val="FFFFCC"/>
              </a:solidFill>
              <a:ln w="9525">
                <a:solidFill>
                  <a:srgbClr val="FF000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mc:AlternateContent xmlns:mc="http://schemas.openxmlformats.org/markup-compatibility/2006" xmlns:a14="http://schemas.microsoft.com/office/drawing/2010/main">
            <mc:Choice Requires="a14">
              <p:sp>
                <p:nvSpPr>
                  <p:cNvPr id="11305" name="Text Box 16"/>
                  <p:cNvSpPr txBox="1">
                    <a:spLocks noChangeArrowheads="1"/>
                  </p:cNvSpPr>
                  <p:nvPr/>
                </p:nvSpPr>
                <p:spPr bwMode="auto">
                  <a:xfrm>
                    <a:off x="2361" y="1489"/>
                    <a:ext cx="641" cy="2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a:r>
                      <a:rPr lang="en-US" altLang="zh-CN" sz="1800" dirty="0"/>
                      <a:t>(</a:t>
                    </a:r>
                    <a14:m>
                      <m:oMath xmlns:m="http://schemas.openxmlformats.org/officeDocument/2006/math">
                        <m:sSub>
                          <m:sSubPr>
                            <m:ctrlPr>
                              <a:rPr lang="zh-CN" altLang="zh-CN" sz="1800" i="1" smtClean="0">
                                <a:effectLst/>
                                <a:latin typeface="Cambria Math" panose="02040503050406030204" pitchFamily="18" charset="0"/>
                                <a:ea typeface="Cambria Math" panose="02040503050406030204" pitchFamily="18" charset="0"/>
                              </a:rPr>
                            </m:ctrlPr>
                          </m:sSubPr>
                          <m:e>
                            <m:r>
                              <a:rPr lang="en-US" altLang="zh-CN" sz="1800" b="1" i="1">
                                <a:effectLst/>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1800" b="1" i="1">
                                <a:effectLst/>
                                <a:latin typeface="Cambria Math" panose="02040503050406030204" pitchFamily="18" charset="0"/>
                                <a:ea typeface="等线" panose="02010600030101010101" pitchFamily="2" charset="-122"/>
                                <a:cs typeface="Times New Roman" panose="02020603050405020304" pitchFamily="18" charset="0"/>
                              </a:rPr>
                              <m:t>𝟏</m:t>
                            </m:r>
                          </m:sub>
                        </m:sSub>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𝒇</m:t>
                            </m:r>
                          </m:e>
                          <m:sub>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𝟏</m:t>
                            </m:r>
                          </m:sub>
                        </m:sSub>
                      </m:oMath>
                    </a14:m>
                    <a:r>
                      <a:rPr lang="en-US" altLang="zh-CN" sz="1800" dirty="0"/>
                      <a:t>)</a:t>
                    </a:r>
                    <a:endParaRPr lang="en-US" altLang="zh-CN" sz="1800" baseline="-25000" dirty="0"/>
                  </a:p>
                </p:txBody>
              </p:sp>
            </mc:Choice>
            <mc:Fallback xmlns="">
              <p:sp>
                <p:nvSpPr>
                  <p:cNvPr id="11305" name="Text Box 16"/>
                  <p:cNvSpPr txBox="1">
                    <a:spLocks noRot="1" noChangeAspect="1" noMove="1" noResize="1" noEditPoints="1" noAdjustHandles="1" noChangeArrowheads="1" noChangeShapeType="1" noTextEdit="1"/>
                  </p:cNvSpPr>
                  <p:nvPr/>
                </p:nvSpPr>
                <p:spPr bwMode="auto">
                  <a:xfrm>
                    <a:off x="2361" y="1489"/>
                    <a:ext cx="641" cy="250"/>
                  </a:xfrm>
                  <a:prstGeom prst="rect">
                    <a:avLst/>
                  </a:prstGeom>
                  <a:blipFill rotWithShape="1">
                    <a:blip r:embed="rId3"/>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nvGrpSpPr>
            <p:cNvPr id="11298" name="Group 17"/>
            <p:cNvGrpSpPr/>
            <p:nvPr/>
          </p:nvGrpSpPr>
          <p:grpSpPr bwMode="auto">
            <a:xfrm>
              <a:off x="2689" y="1391"/>
              <a:ext cx="596" cy="297"/>
              <a:chOff x="2689" y="1391"/>
              <a:chExt cx="596" cy="297"/>
            </a:xfrm>
          </p:grpSpPr>
          <p:sp>
            <p:nvSpPr>
              <p:cNvPr id="11302" name="Oval 18"/>
              <p:cNvSpPr>
                <a:spLocks noChangeArrowheads="1"/>
              </p:cNvSpPr>
              <p:nvPr/>
            </p:nvSpPr>
            <p:spPr bwMode="auto">
              <a:xfrm>
                <a:off x="2897" y="1654"/>
                <a:ext cx="34" cy="34"/>
              </a:xfrm>
              <a:prstGeom prst="ellipse">
                <a:avLst/>
              </a:prstGeom>
              <a:solidFill>
                <a:srgbClr val="FFFFCC"/>
              </a:solidFill>
              <a:ln w="9525">
                <a:solidFill>
                  <a:srgbClr val="FF000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mc:AlternateContent xmlns:mc="http://schemas.openxmlformats.org/markup-compatibility/2006" xmlns:a14="http://schemas.microsoft.com/office/drawing/2010/main">
            <mc:Choice Requires="a14">
              <p:sp>
                <p:nvSpPr>
                  <p:cNvPr id="11303" name="Text Box 19"/>
                  <p:cNvSpPr txBox="1">
                    <a:spLocks noChangeArrowheads="1"/>
                  </p:cNvSpPr>
                  <p:nvPr/>
                </p:nvSpPr>
                <p:spPr bwMode="auto">
                  <a:xfrm>
                    <a:off x="2689" y="1391"/>
                    <a:ext cx="596" cy="2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a:r>
                      <a:rPr lang="en-US" altLang="zh-CN" sz="1800" dirty="0"/>
                      <a:t>(</a:t>
                    </a:r>
                    <a14:m>
                      <m:oMath xmlns:m="http://schemas.openxmlformats.org/officeDocument/2006/math">
                        <m:sSub>
                          <m:sSubPr>
                            <m:ctrlPr>
                              <a:rPr lang="zh-CN" altLang="zh-CN" sz="1800" i="1" smtClean="0">
                                <a:effectLst/>
                                <a:latin typeface="Cambria Math" panose="02040503050406030204" pitchFamily="18" charset="0"/>
                                <a:ea typeface="Cambria Math" panose="02040503050406030204" pitchFamily="18" charset="0"/>
                              </a:rPr>
                            </m:ctrlPr>
                          </m:sSubPr>
                          <m:e>
                            <m:r>
                              <a:rPr lang="en-US" altLang="zh-CN" sz="1800" b="1" i="1">
                                <a:effectLst/>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𝟐</m:t>
                            </m:r>
                          </m:sub>
                        </m:sSub>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𝒇</m:t>
                            </m:r>
                          </m:e>
                          <m:sub>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𝟐</m:t>
                            </m:r>
                          </m:sub>
                        </m:sSub>
                      </m:oMath>
                    </a14:m>
                    <a:r>
                      <a:rPr lang="en-US" altLang="zh-CN" sz="1800" dirty="0"/>
                      <a:t>)</a:t>
                    </a:r>
                    <a:endParaRPr lang="en-US" altLang="zh-CN" sz="1800" baseline="-25000" dirty="0"/>
                  </a:p>
                </p:txBody>
              </p:sp>
            </mc:Choice>
            <mc:Fallback xmlns="">
              <p:sp>
                <p:nvSpPr>
                  <p:cNvPr id="11303" name="Text Box 19"/>
                  <p:cNvSpPr txBox="1">
                    <a:spLocks noRot="1" noChangeAspect="1" noMove="1" noResize="1" noEditPoints="1" noAdjustHandles="1" noChangeArrowheads="1" noChangeShapeType="1" noTextEdit="1"/>
                  </p:cNvSpPr>
                  <p:nvPr/>
                </p:nvSpPr>
                <p:spPr bwMode="auto">
                  <a:xfrm>
                    <a:off x="2689" y="1391"/>
                    <a:ext cx="596" cy="250"/>
                  </a:xfrm>
                  <a:prstGeom prst="rect">
                    <a:avLst/>
                  </a:prstGeom>
                  <a:blipFill rotWithShape="1">
                    <a:blip r:embed="rId4"/>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nvGrpSpPr>
            <p:cNvPr id="11299" name="Group 20"/>
            <p:cNvGrpSpPr/>
            <p:nvPr/>
          </p:nvGrpSpPr>
          <p:grpSpPr bwMode="auto">
            <a:xfrm>
              <a:off x="3225" y="1247"/>
              <a:ext cx="550" cy="276"/>
              <a:chOff x="3210" y="1561"/>
              <a:chExt cx="550" cy="276"/>
            </a:xfrm>
          </p:grpSpPr>
          <p:sp>
            <p:nvSpPr>
              <p:cNvPr id="11300" name="Oval 21"/>
              <p:cNvSpPr>
                <a:spLocks noChangeArrowheads="1"/>
              </p:cNvSpPr>
              <p:nvPr/>
            </p:nvSpPr>
            <p:spPr bwMode="auto">
              <a:xfrm>
                <a:off x="3290" y="1803"/>
                <a:ext cx="34" cy="34"/>
              </a:xfrm>
              <a:prstGeom prst="ellipse">
                <a:avLst/>
              </a:prstGeom>
              <a:solidFill>
                <a:srgbClr val="FFFFCC"/>
              </a:solidFill>
              <a:ln w="9525">
                <a:solidFill>
                  <a:srgbClr val="FF000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mc:AlternateContent xmlns:mc="http://schemas.openxmlformats.org/markup-compatibility/2006" xmlns:a14="http://schemas.microsoft.com/office/drawing/2010/main">
            <mc:Choice Requires="a14">
              <p:sp>
                <p:nvSpPr>
                  <p:cNvPr id="11301" name="Text Box 22"/>
                  <p:cNvSpPr txBox="1">
                    <a:spLocks noChangeArrowheads="1"/>
                  </p:cNvSpPr>
                  <p:nvPr/>
                </p:nvSpPr>
                <p:spPr bwMode="auto">
                  <a:xfrm>
                    <a:off x="3210" y="1561"/>
                    <a:ext cx="550" cy="2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a:r>
                      <a:rPr lang="en-US" altLang="zh-CN" sz="1800" dirty="0"/>
                      <a:t>(</a:t>
                    </a:r>
                    <a14:m>
                      <m:oMath xmlns:m="http://schemas.openxmlformats.org/officeDocument/2006/math">
                        <m:sSub>
                          <m:sSubPr>
                            <m:ctrlPr>
                              <a:rPr lang="zh-CN" altLang="zh-CN" sz="1800" i="1" smtClean="0">
                                <a:effectLst/>
                                <a:latin typeface="Cambria Math" panose="02040503050406030204" pitchFamily="18" charset="0"/>
                                <a:ea typeface="Cambria Math" panose="02040503050406030204" pitchFamily="18" charset="0"/>
                              </a:rPr>
                            </m:ctrlPr>
                          </m:sSubPr>
                          <m:e>
                            <m:r>
                              <a:rPr lang="en-US" altLang="zh-CN" sz="1800" b="1" i="1">
                                <a:effectLst/>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𝟑</m:t>
                            </m:r>
                          </m:sub>
                        </m:sSub>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 </m:t>
                        </m:r>
                        <m:sSub>
                          <m:sSubPr>
                            <m:ctrlP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ctrlPr>
                          </m:sSubPr>
                          <m:e>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𝒇</m:t>
                            </m:r>
                          </m:e>
                          <m:sub>
                            <m:r>
                              <a:rPr lang="en-US" altLang="zh-CN" sz="1800" b="1" i="1" smtClean="0">
                                <a:effectLst/>
                                <a:latin typeface="Cambria Math" panose="02040503050406030204" pitchFamily="18" charset="0"/>
                                <a:ea typeface="等线" panose="02010600030101010101" pitchFamily="2" charset="-122"/>
                                <a:cs typeface="Times New Roman" panose="02020603050405020304" pitchFamily="18" charset="0"/>
                              </a:rPr>
                              <m:t>𝟑</m:t>
                            </m:r>
                          </m:sub>
                        </m:sSub>
                      </m:oMath>
                    </a14:m>
                    <a:r>
                      <a:rPr lang="en-US" altLang="zh-CN" sz="1800" dirty="0"/>
                      <a:t>)</a:t>
                    </a:r>
                    <a:endParaRPr lang="en-US" altLang="zh-CN" sz="1800" baseline="-25000" dirty="0"/>
                  </a:p>
                </p:txBody>
              </p:sp>
            </mc:Choice>
            <mc:Fallback xmlns="">
              <p:sp>
                <p:nvSpPr>
                  <p:cNvPr id="11301" name="Text Box 22"/>
                  <p:cNvSpPr txBox="1">
                    <a:spLocks noRot="1" noChangeAspect="1" noMove="1" noResize="1" noEditPoints="1" noAdjustHandles="1" noChangeArrowheads="1" noChangeShapeType="1" noTextEdit="1"/>
                  </p:cNvSpPr>
                  <p:nvPr/>
                </p:nvSpPr>
                <p:spPr bwMode="auto">
                  <a:xfrm>
                    <a:off x="3210" y="1561"/>
                    <a:ext cx="550" cy="250"/>
                  </a:xfrm>
                  <a:prstGeom prst="rect">
                    <a:avLst/>
                  </a:prstGeom>
                  <a:blipFill rotWithShape="1">
                    <a:blip r:embed="rId5"/>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grpSp>
      </p:grpSp>
      <p:sp>
        <p:nvSpPr>
          <p:cNvPr id="222231" name="Oval 23"/>
          <p:cNvSpPr>
            <a:spLocks noChangeArrowheads="1"/>
          </p:cNvSpPr>
          <p:nvPr/>
        </p:nvSpPr>
        <p:spPr bwMode="auto">
          <a:xfrm>
            <a:off x="4264026" y="2584451"/>
            <a:ext cx="53975" cy="53975"/>
          </a:xfrm>
          <a:prstGeom prst="ellipse">
            <a:avLst/>
          </a:prstGeom>
          <a:solidFill>
            <a:srgbClr val="FF0000"/>
          </a:solidFill>
          <a:ln w="9525">
            <a:solidFill>
              <a:srgbClr val="FF000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222232" name="Oval 24"/>
          <p:cNvSpPr>
            <a:spLocks noChangeArrowheads="1"/>
          </p:cNvSpPr>
          <p:nvPr/>
        </p:nvSpPr>
        <p:spPr bwMode="auto">
          <a:xfrm>
            <a:off x="4546601" y="2803526"/>
            <a:ext cx="53975" cy="53975"/>
          </a:xfrm>
          <a:prstGeom prst="ellipse">
            <a:avLst/>
          </a:prstGeom>
          <a:solidFill>
            <a:srgbClr val="FF0000"/>
          </a:solidFill>
          <a:ln w="9525">
            <a:solidFill>
              <a:srgbClr val="FF000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222233" name="Oval 25"/>
          <p:cNvSpPr>
            <a:spLocks noChangeArrowheads="1"/>
          </p:cNvSpPr>
          <p:nvPr/>
        </p:nvSpPr>
        <p:spPr bwMode="auto">
          <a:xfrm>
            <a:off x="5283201" y="3198814"/>
            <a:ext cx="53975" cy="53975"/>
          </a:xfrm>
          <a:prstGeom prst="ellipse">
            <a:avLst/>
          </a:prstGeom>
          <a:solidFill>
            <a:srgbClr val="FF0000"/>
          </a:solidFill>
          <a:ln w="9525">
            <a:solidFill>
              <a:srgbClr val="FF0000"/>
            </a:solidFill>
            <a:round/>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p:nvGrpSpPr>
          <p:cNvPr id="222238" name="Group 30"/>
          <p:cNvGrpSpPr/>
          <p:nvPr/>
        </p:nvGrpSpPr>
        <p:grpSpPr bwMode="auto">
          <a:xfrm>
            <a:off x="5470525" y="3327400"/>
            <a:ext cx="482600" cy="1022350"/>
            <a:chOff x="2984" y="1728"/>
            <a:chExt cx="304" cy="644"/>
          </a:xfrm>
        </p:grpSpPr>
        <p:sp>
          <p:nvSpPr>
            <p:cNvPr id="11290" name="Line 31"/>
            <p:cNvSpPr>
              <a:spLocks noChangeShapeType="1"/>
            </p:cNvSpPr>
            <p:nvPr/>
          </p:nvSpPr>
          <p:spPr bwMode="auto">
            <a:xfrm flipV="1">
              <a:off x="3056" y="1728"/>
              <a:ext cx="0" cy="453"/>
            </a:xfrm>
            <a:prstGeom prst="line">
              <a:avLst/>
            </a:prstGeom>
            <a:noFill/>
            <a:ln w="9525">
              <a:solidFill>
                <a:srgbClr val="00FF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91" name="Rectangle 32"/>
            <p:cNvSpPr>
              <a:spLocks noChangeArrowheads="1"/>
            </p:cNvSpPr>
            <p:nvPr/>
          </p:nvSpPr>
          <p:spPr bwMode="auto">
            <a:xfrm>
              <a:off x="2984" y="2120"/>
              <a:ext cx="3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b="0">
                  <a:solidFill>
                    <a:srgbClr val="FF0000"/>
                  </a:solidFill>
                </a:rPr>
                <a:t>x</a:t>
              </a:r>
              <a:r>
                <a:rPr kumimoji="1" lang="en-US" altLang="zh-CN" sz="2000" b="0" baseline="30000">
                  <a:solidFill>
                    <a:srgbClr val="FF0000"/>
                  </a:solidFill>
                </a:rPr>
                <a:t>**</a:t>
              </a:r>
            </a:p>
          </p:txBody>
        </p:sp>
      </p:grpSp>
      <p:grpSp>
        <p:nvGrpSpPr>
          <p:cNvPr id="222241" name="Group 33"/>
          <p:cNvGrpSpPr/>
          <p:nvPr/>
        </p:nvGrpSpPr>
        <p:grpSpPr bwMode="auto">
          <a:xfrm>
            <a:off x="5308607" y="3260725"/>
            <a:ext cx="398463" cy="1390650"/>
            <a:chOff x="2888" y="1728"/>
            <a:chExt cx="251" cy="876"/>
          </a:xfrm>
        </p:grpSpPr>
        <p:sp>
          <p:nvSpPr>
            <p:cNvPr id="11288" name="Line 34"/>
            <p:cNvSpPr>
              <a:spLocks noChangeShapeType="1"/>
            </p:cNvSpPr>
            <p:nvPr/>
          </p:nvSpPr>
          <p:spPr bwMode="auto">
            <a:xfrm flipV="1">
              <a:off x="2976" y="1728"/>
              <a:ext cx="0" cy="720"/>
            </a:xfrm>
            <a:prstGeom prst="line">
              <a:avLst/>
            </a:prstGeom>
            <a:noFill/>
            <a:ln w="9525">
              <a:solidFill>
                <a:srgbClr val="00FF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9" name="Rectangle 35"/>
            <p:cNvSpPr>
              <a:spLocks noChangeArrowheads="1"/>
            </p:cNvSpPr>
            <p:nvPr/>
          </p:nvSpPr>
          <p:spPr bwMode="auto">
            <a:xfrm>
              <a:off x="2888" y="2352"/>
              <a:ext cx="251"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b="0">
                  <a:solidFill>
                    <a:srgbClr val="0000FF"/>
                  </a:solidFill>
                </a:rPr>
                <a:t>x</a:t>
              </a:r>
              <a:r>
                <a:rPr kumimoji="1" lang="en-US" altLang="zh-CN" sz="2000" b="0" baseline="30000">
                  <a:solidFill>
                    <a:srgbClr val="0000FF"/>
                  </a:solidFill>
                </a:rPr>
                <a:t>*</a:t>
              </a:r>
            </a:p>
          </p:txBody>
        </p:sp>
      </p:grpSp>
      <p:grpSp>
        <p:nvGrpSpPr>
          <p:cNvPr id="222244" name="Group 36"/>
          <p:cNvGrpSpPr/>
          <p:nvPr/>
        </p:nvGrpSpPr>
        <p:grpSpPr bwMode="auto">
          <a:xfrm>
            <a:off x="7388225" y="3689350"/>
            <a:ext cx="482600" cy="1022350"/>
            <a:chOff x="3552" y="1824"/>
            <a:chExt cx="304" cy="644"/>
          </a:xfrm>
        </p:grpSpPr>
        <p:sp>
          <p:nvSpPr>
            <p:cNvPr id="11286" name="Line 37"/>
            <p:cNvSpPr>
              <a:spLocks noChangeShapeType="1"/>
            </p:cNvSpPr>
            <p:nvPr/>
          </p:nvSpPr>
          <p:spPr bwMode="auto">
            <a:xfrm flipV="1">
              <a:off x="3624" y="1824"/>
              <a:ext cx="0" cy="453"/>
            </a:xfrm>
            <a:prstGeom prst="line">
              <a:avLst/>
            </a:prstGeom>
            <a:noFill/>
            <a:ln w="9525">
              <a:solidFill>
                <a:srgbClr val="00FF00"/>
              </a:solidFill>
              <a:prstDash val="dash"/>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287" name="Rectangle 38"/>
            <p:cNvSpPr>
              <a:spLocks noChangeArrowheads="1"/>
            </p:cNvSpPr>
            <p:nvPr/>
          </p:nvSpPr>
          <p:spPr bwMode="auto">
            <a:xfrm>
              <a:off x="3552" y="2216"/>
              <a:ext cx="304"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b="0">
                  <a:solidFill>
                    <a:schemeClr val="accent1"/>
                  </a:solidFill>
                </a:rPr>
                <a:t>x</a:t>
              </a:r>
              <a:r>
                <a:rPr kumimoji="1" lang="en-US" altLang="zh-CN" sz="2000" b="0" baseline="30000">
                  <a:solidFill>
                    <a:schemeClr val="accent1"/>
                  </a:solidFill>
                </a:rPr>
                <a:t>**</a:t>
              </a:r>
            </a:p>
          </p:txBody>
        </p:sp>
      </p:grpSp>
      <p:grpSp>
        <p:nvGrpSpPr>
          <p:cNvPr id="222247" name="Group 39"/>
          <p:cNvGrpSpPr/>
          <p:nvPr/>
        </p:nvGrpSpPr>
        <p:grpSpPr bwMode="auto">
          <a:xfrm>
            <a:off x="3725864" y="506413"/>
            <a:ext cx="6180137" cy="3211512"/>
            <a:chOff x="1387" y="319"/>
            <a:chExt cx="3893" cy="2023"/>
          </a:xfrm>
        </p:grpSpPr>
        <p:grpSp>
          <p:nvGrpSpPr>
            <p:cNvPr id="11279" name="Group 40"/>
            <p:cNvGrpSpPr/>
            <p:nvPr/>
          </p:nvGrpSpPr>
          <p:grpSpPr bwMode="auto">
            <a:xfrm>
              <a:off x="1387" y="319"/>
              <a:ext cx="2590" cy="2023"/>
              <a:chOff x="1387" y="319"/>
              <a:chExt cx="2590" cy="2023"/>
            </a:xfrm>
          </p:grpSpPr>
          <p:sp>
            <p:nvSpPr>
              <p:cNvPr id="11282" name="Arc 41"/>
              <p:cNvSpPr/>
              <p:nvPr/>
            </p:nvSpPr>
            <p:spPr bwMode="auto">
              <a:xfrm rot="3729705" flipV="1">
                <a:off x="1317" y="389"/>
                <a:ext cx="1772" cy="1632"/>
              </a:xfrm>
              <a:custGeom>
                <a:avLst/>
                <a:gdLst>
                  <a:gd name="T0" fmla="*/ 0 w 17336"/>
                  <a:gd name="T1" fmla="*/ 0 h 21600"/>
                  <a:gd name="T2" fmla="*/ 0 w 17336"/>
                  <a:gd name="T3" fmla="*/ 0 h 21600"/>
                  <a:gd name="T4" fmla="*/ 0 w 17336"/>
                  <a:gd name="T5" fmla="*/ 0 h 21600"/>
                  <a:gd name="T6" fmla="*/ 0 60000 65536"/>
                  <a:gd name="T7" fmla="*/ 0 60000 65536"/>
                  <a:gd name="T8" fmla="*/ 0 60000 65536"/>
                </a:gdLst>
                <a:ahLst/>
                <a:cxnLst>
                  <a:cxn ang="T6">
                    <a:pos x="T0" y="T1"/>
                  </a:cxn>
                  <a:cxn ang="T7">
                    <a:pos x="T2" y="T3"/>
                  </a:cxn>
                  <a:cxn ang="T8">
                    <a:pos x="T4" y="T5"/>
                  </a:cxn>
                </a:cxnLst>
                <a:rect l="0" t="0" r="r" b="b"/>
                <a:pathLst>
                  <a:path w="17336" h="21600" fill="none" extrusionOk="0">
                    <a:moveTo>
                      <a:pt x="-1" y="0"/>
                    </a:moveTo>
                    <a:cubicBezTo>
                      <a:pt x="6831" y="0"/>
                      <a:pt x="13260" y="3231"/>
                      <a:pt x="17335" y="8715"/>
                    </a:cubicBezTo>
                  </a:path>
                  <a:path w="17336" h="21600" stroke="0" extrusionOk="0">
                    <a:moveTo>
                      <a:pt x="-1" y="0"/>
                    </a:moveTo>
                    <a:cubicBezTo>
                      <a:pt x="6831" y="0"/>
                      <a:pt x="13260" y="3231"/>
                      <a:pt x="17335" y="8715"/>
                    </a:cubicBezTo>
                    <a:lnTo>
                      <a:pt x="0" y="21600"/>
                    </a:lnTo>
                    <a:lnTo>
                      <a:pt x="-1" y="0"/>
                    </a:lnTo>
                    <a:close/>
                  </a:path>
                </a:pathLst>
              </a:custGeom>
              <a:noFill/>
              <a:ln w="1905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3" name="Arc 42"/>
              <p:cNvSpPr/>
              <p:nvPr/>
            </p:nvSpPr>
            <p:spPr bwMode="auto">
              <a:xfrm rot="12274280" flipH="1">
                <a:off x="2600" y="1418"/>
                <a:ext cx="666" cy="816"/>
              </a:xfrm>
              <a:custGeom>
                <a:avLst/>
                <a:gdLst>
                  <a:gd name="T0" fmla="*/ 0 w 9834"/>
                  <a:gd name="T1" fmla="*/ 0 h 21600"/>
                  <a:gd name="T2" fmla="*/ 0 w 9834"/>
                  <a:gd name="T3" fmla="*/ 0 h 21600"/>
                  <a:gd name="T4" fmla="*/ 0 w 9834"/>
                  <a:gd name="T5" fmla="*/ 0 h 21600"/>
                  <a:gd name="T6" fmla="*/ 0 60000 65536"/>
                  <a:gd name="T7" fmla="*/ 0 60000 65536"/>
                  <a:gd name="T8" fmla="*/ 0 60000 65536"/>
                </a:gdLst>
                <a:ahLst/>
                <a:cxnLst>
                  <a:cxn ang="T6">
                    <a:pos x="T0" y="T1"/>
                  </a:cxn>
                  <a:cxn ang="T7">
                    <a:pos x="T2" y="T3"/>
                  </a:cxn>
                  <a:cxn ang="T8">
                    <a:pos x="T4" y="T5"/>
                  </a:cxn>
                </a:cxnLst>
                <a:rect l="0" t="0" r="r" b="b"/>
                <a:pathLst>
                  <a:path w="9834" h="21600" fill="none" extrusionOk="0">
                    <a:moveTo>
                      <a:pt x="-1" y="0"/>
                    </a:moveTo>
                    <a:cubicBezTo>
                      <a:pt x="3419" y="0"/>
                      <a:pt x="6789" y="811"/>
                      <a:pt x="9834" y="2368"/>
                    </a:cubicBezTo>
                  </a:path>
                  <a:path w="9834" h="21600" stroke="0" extrusionOk="0">
                    <a:moveTo>
                      <a:pt x="-1" y="0"/>
                    </a:moveTo>
                    <a:cubicBezTo>
                      <a:pt x="3419" y="0"/>
                      <a:pt x="6789" y="811"/>
                      <a:pt x="9834" y="2368"/>
                    </a:cubicBezTo>
                    <a:lnTo>
                      <a:pt x="0" y="21600"/>
                    </a:lnTo>
                    <a:lnTo>
                      <a:pt x="-1" y="0"/>
                    </a:lnTo>
                    <a:close/>
                  </a:path>
                </a:pathLst>
              </a:custGeom>
              <a:noFill/>
              <a:ln w="1905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4" name="Arc 43"/>
              <p:cNvSpPr/>
              <p:nvPr/>
            </p:nvSpPr>
            <p:spPr bwMode="auto">
              <a:xfrm rot="11577765" flipH="1">
                <a:off x="3173" y="1509"/>
                <a:ext cx="558" cy="816"/>
              </a:xfrm>
              <a:custGeom>
                <a:avLst/>
                <a:gdLst>
                  <a:gd name="T0" fmla="*/ 0 w 8235"/>
                  <a:gd name="T1" fmla="*/ 0 h 21600"/>
                  <a:gd name="T2" fmla="*/ 0 w 8235"/>
                  <a:gd name="T3" fmla="*/ 0 h 21600"/>
                  <a:gd name="T4" fmla="*/ 0 w 8235"/>
                  <a:gd name="T5" fmla="*/ 0 h 21600"/>
                  <a:gd name="T6" fmla="*/ 0 60000 65536"/>
                  <a:gd name="T7" fmla="*/ 0 60000 65536"/>
                  <a:gd name="T8" fmla="*/ 0 60000 65536"/>
                </a:gdLst>
                <a:ahLst/>
                <a:cxnLst>
                  <a:cxn ang="T6">
                    <a:pos x="T0" y="T1"/>
                  </a:cxn>
                  <a:cxn ang="T7">
                    <a:pos x="T2" y="T3"/>
                  </a:cxn>
                  <a:cxn ang="T8">
                    <a:pos x="T4" y="T5"/>
                  </a:cxn>
                </a:cxnLst>
                <a:rect l="0" t="0" r="r" b="b"/>
                <a:pathLst>
                  <a:path w="8235" h="21600" fill="none" extrusionOk="0">
                    <a:moveTo>
                      <a:pt x="-1" y="0"/>
                    </a:moveTo>
                    <a:cubicBezTo>
                      <a:pt x="2825" y="0"/>
                      <a:pt x="5623" y="554"/>
                      <a:pt x="8234" y="1631"/>
                    </a:cubicBezTo>
                  </a:path>
                  <a:path w="8235" h="21600" stroke="0" extrusionOk="0">
                    <a:moveTo>
                      <a:pt x="-1" y="0"/>
                    </a:moveTo>
                    <a:cubicBezTo>
                      <a:pt x="2825" y="0"/>
                      <a:pt x="5623" y="554"/>
                      <a:pt x="8234" y="1631"/>
                    </a:cubicBezTo>
                    <a:lnTo>
                      <a:pt x="0" y="21600"/>
                    </a:lnTo>
                    <a:lnTo>
                      <a:pt x="-1" y="0"/>
                    </a:lnTo>
                    <a:close/>
                  </a:path>
                </a:pathLst>
              </a:custGeom>
              <a:noFill/>
              <a:ln w="1905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5" name="Arc 44"/>
              <p:cNvSpPr/>
              <p:nvPr/>
            </p:nvSpPr>
            <p:spPr bwMode="auto">
              <a:xfrm rot="11334997" flipH="1">
                <a:off x="3707" y="1526"/>
                <a:ext cx="270" cy="816"/>
              </a:xfrm>
              <a:custGeom>
                <a:avLst/>
                <a:gdLst>
                  <a:gd name="T0" fmla="*/ 0 w 8235"/>
                  <a:gd name="T1" fmla="*/ 0 h 21600"/>
                  <a:gd name="T2" fmla="*/ 0 w 8235"/>
                  <a:gd name="T3" fmla="*/ 0 h 21600"/>
                  <a:gd name="T4" fmla="*/ 0 w 8235"/>
                  <a:gd name="T5" fmla="*/ 0 h 21600"/>
                  <a:gd name="T6" fmla="*/ 0 60000 65536"/>
                  <a:gd name="T7" fmla="*/ 0 60000 65536"/>
                  <a:gd name="T8" fmla="*/ 0 60000 65536"/>
                </a:gdLst>
                <a:ahLst/>
                <a:cxnLst>
                  <a:cxn ang="T6">
                    <a:pos x="T0" y="T1"/>
                  </a:cxn>
                  <a:cxn ang="T7">
                    <a:pos x="T2" y="T3"/>
                  </a:cxn>
                  <a:cxn ang="T8">
                    <a:pos x="T4" y="T5"/>
                  </a:cxn>
                </a:cxnLst>
                <a:rect l="0" t="0" r="r" b="b"/>
                <a:pathLst>
                  <a:path w="8235" h="21600" fill="none" extrusionOk="0">
                    <a:moveTo>
                      <a:pt x="-1" y="0"/>
                    </a:moveTo>
                    <a:cubicBezTo>
                      <a:pt x="2825" y="0"/>
                      <a:pt x="5623" y="554"/>
                      <a:pt x="8234" y="1631"/>
                    </a:cubicBezTo>
                  </a:path>
                  <a:path w="8235" h="21600" stroke="0" extrusionOk="0">
                    <a:moveTo>
                      <a:pt x="-1" y="0"/>
                    </a:moveTo>
                    <a:cubicBezTo>
                      <a:pt x="2825" y="0"/>
                      <a:pt x="5623" y="554"/>
                      <a:pt x="8234" y="1631"/>
                    </a:cubicBezTo>
                    <a:lnTo>
                      <a:pt x="0" y="21600"/>
                    </a:lnTo>
                    <a:lnTo>
                      <a:pt x="-1" y="0"/>
                    </a:lnTo>
                    <a:close/>
                  </a:path>
                </a:pathLst>
              </a:custGeom>
              <a:noFill/>
              <a:ln w="1905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1280" name="Arc 45"/>
            <p:cNvSpPr/>
            <p:nvPr/>
          </p:nvSpPr>
          <p:spPr bwMode="auto">
            <a:xfrm rot="-4400731" flipH="1" flipV="1">
              <a:off x="3578" y="406"/>
              <a:ext cx="1772" cy="1632"/>
            </a:xfrm>
            <a:custGeom>
              <a:avLst/>
              <a:gdLst>
                <a:gd name="T0" fmla="*/ 0 w 17336"/>
                <a:gd name="T1" fmla="*/ 0 h 21600"/>
                <a:gd name="T2" fmla="*/ 0 w 17336"/>
                <a:gd name="T3" fmla="*/ 0 h 21600"/>
                <a:gd name="T4" fmla="*/ 0 w 17336"/>
                <a:gd name="T5" fmla="*/ 0 h 21600"/>
                <a:gd name="T6" fmla="*/ 0 60000 65536"/>
                <a:gd name="T7" fmla="*/ 0 60000 65536"/>
                <a:gd name="T8" fmla="*/ 0 60000 65536"/>
              </a:gdLst>
              <a:ahLst/>
              <a:cxnLst>
                <a:cxn ang="T6">
                  <a:pos x="T0" y="T1"/>
                </a:cxn>
                <a:cxn ang="T7">
                  <a:pos x="T2" y="T3"/>
                </a:cxn>
                <a:cxn ang="T8">
                  <a:pos x="T4" y="T5"/>
                </a:cxn>
              </a:cxnLst>
              <a:rect l="0" t="0" r="r" b="b"/>
              <a:pathLst>
                <a:path w="17336" h="21600" fill="none" extrusionOk="0">
                  <a:moveTo>
                    <a:pt x="-1" y="0"/>
                  </a:moveTo>
                  <a:cubicBezTo>
                    <a:pt x="6831" y="0"/>
                    <a:pt x="13260" y="3231"/>
                    <a:pt x="17335" y="8715"/>
                  </a:cubicBezTo>
                </a:path>
                <a:path w="17336" h="21600" stroke="0" extrusionOk="0">
                  <a:moveTo>
                    <a:pt x="-1" y="0"/>
                  </a:moveTo>
                  <a:cubicBezTo>
                    <a:pt x="6831" y="0"/>
                    <a:pt x="13260" y="3231"/>
                    <a:pt x="17335" y="8715"/>
                  </a:cubicBezTo>
                  <a:lnTo>
                    <a:pt x="0" y="21600"/>
                  </a:lnTo>
                  <a:lnTo>
                    <a:pt x="-1" y="0"/>
                  </a:lnTo>
                  <a:close/>
                </a:path>
              </a:pathLst>
            </a:custGeom>
            <a:noFill/>
            <a:ln w="1905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281" name="Arc 46"/>
            <p:cNvSpPr/>
            <p:nvPr/>
          </p:nvSpPr>
          <p:spPr bwMode="auto">
            <a:xfrm rot="8826366">
              <a:off x="3694" y="1440"/>
              <a:ext cx="666" cy="816"/>
            </a:xfrm>
            <a:custGeom>
              <a:avLst/>
              <a:gdLst>
                <a:gd name="T0" fmla="*/ 0 w 9834"/>
                <a:gd name="T1" fmla="*/ 0 h 21600"/>
                <a:gd name="T2" fmla="*/ 0 w 9834"/>
                <a:gd name="T3" fmla="*/ 0 h 21600"/>
                <a:gd name="T4" fmla="*/ 0 w 9834"/>
                <a:gd name="T5" fmla="*/ 0 h 21600"/>
                <a:gd name="T6" fmla="*/ 0 60000 65536"/>
                <a:gd name="T7" fmla="*/ 0 60000 65536"/>
                <a:gd name="T8" fmla="*/ 0 60000 65536"/>
              </a:gdLst>
              <a:ahLst/>
              <a:cxnLst>
                <a:cxn ang="T6">
                  <a:pos x="T0" y="T1"/>
                </a:cxn>
                <a:cxn ang="T7">
                  <a:pos x="T2" y="T3"/>
                </a:cxn>
                <a:cxn ang="T8">
                  <a:pos x="T4" y="T5"/>
                </a:cxn>
              </a:cxnLst>
              <a:rect l="0" t="0" r="r" b="b"/>
              <a:pathLst>
                <a:path w="9834" h="21600" fill="none" extrusionOk="0">
                  <a:moveTo>
                    <a:pt x="-1" y="0"/>
                  </a:moveTo>
                  <a:cubicBezTo>
                    <a:pt x="3419" y="0"/>
                    <a:pt x="6789" y="811"/>
                    <a:pt x="9834" y="2368"/>
                  </a:cubicBezTo>
                </a:path>
                <a:path w="9834" h="21600" stroke="0" extrusionOk="0">
                  <a:moveTo>
                    <a:pt x="-1" y="0"/>
                  </a:moveTo>
                  <a:cubicBezTo>
                    <a:pt x="3419" y="0"/>
                    <a:pt x="6789" y="811"/>
                    <a:pt x="9834" y="2368"/>
                  </a:cubicBezTo>
                  <a:lnTo>
                    <a:pt x="0" y="21600"/>
                  </a:lnTo>
                  <a:lnTo>
                    <a:pt x="-1" y="0"/>
                  </a:lnTo>
                  <a:close/>
                </a:path>
              </a:pathLst>
            </a:custGeom>
            <a:noFill/>
            <a:ln w="19050">
              <a:solidFill>
                <a:schemeClr val="accent1"/>
              </a:solidFill>
              <a:rou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2255" name="Rectangle 47"/>
          <p:cNvSpPr>
            <a:spLocks noChangeArrowheads="1"/>
          </p:cNvSpPr>
          <p:nvPr/>
        </p:nvSpPr>
        <p:spPr bwMode="auto">
          <a:xfrm>
            <a:off x="1905000" y="4806950"/>
            <a:ext cx="337464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zh-CN" altLang="en-US" sz="2000" dirty="0">
                <a:solidFill>
                  <a:srgbClr val="0000FF"/>
                </a:solidFill>
              </a:rPr>
              <a:t>若任意取</a:t>
            </a:r>
            <a:r>
              <a:rPr kumimoji="1" lang="en-US" altLang="zh-CN" sz="2000" dirty="0">
                <a:solidFill>
                  <a:srgbClr val="FF0000"/>
                </a:solidFill>
              </a:rPr>
              <a:t>x</a:t>
            </a:r>
            <a:r>
              <a:rPr kumimoji="1" lang="en-US" altLang="zh-CN" sz="2000" baseline="-30000" dirty="0">
                <a:solidFill>
                  <a:srgbClr val="FF0000"/>
                </a:solidFill>
              </a:rPr>
              <a:t>1 </a:t>
            </a:r>
            <a:r>
              <a:rPr kumimoji="1" lang="en-US" altLang="zh-CN" sz="2000" dirty="0">
                <a:solidFill>
                  <a:srgbClr val="FF0000"/>
                </a:solidFill>
              </a:rPr>
              <a:t>&lt;</a:t>
            </a:r>
            <a:r>
              <a:rPr kumimoji="1" lang="en-US" altLang="zh-CN" sz="2000" dirty="0">
                <a:solidFill>
                  <a:srgbClr val="FF0000"/>
                </a:solidFill>
                <a:sym typeface="Symbol" panose="05050102010706020507" pitchFamily="18" charset="2"/>
              </a:rPr>
              <a:t> </a:t>
            </a:r>
            <a:r>
              <a:rPr kumimoji="1" lang="en-US" altLang="zh-CN" sz="2000" dirty="0">
                <a:solidFill>
                  <a:srgbClr val="FF0000"/>
                </a:solidFill>
              </a:rPr>
              <a:t>x</a:t>
            </a:r>
            <a:r>
              <a:rPr kumimoji="1" lang="en-US" altLang="zh-CN" sz="2000" baseline="-30000" dirty="0">
                <a:solidFill>
                  <a:srgbClr val="FF0000"/>
                </a:solidFill>
              </a:rPr>
              <a:t>2 </a:t>
            </a:r>
            <a:r>
              <a:rPr kumimoji="1" lang="en-US" altLang="zh-CN" sz="2000" dirty="0">
                <a:solidFill>
                  <a:srgbClr val="FF0000"/>
                </a:solidFill>
              </a:rPr>
              <a:t>&lt;x</a:t>
            </a:r>
            <a:r>
              <a:rPr kumimoji="1" lang="en-US" altLang="zh-CN" sz="2000" baseline="-30000" dirty="0">
                <a:solidFill>
                  <a:srgbClr val="FF0000"/>
                </a:solidFill>
              </a:rPr>
              <a:t>3</a:t>
            </a:r>
            <a:r>
              <a:rPr kumimoji="1" lang="en-US" altLang="zh-CN" sz="2000" baseline="-30000" dirty="0">
                <a:solidFill>
                  <a:srgbClr val="0000FF"/>
                </a:solidFill>
              </a:rPr>
              <a:t> </a:t>
            </a:r>
            <a:r>
              <a:rPr kumimoji="1" lang="zh-CN" altLang="en-US" sz="2000" dirty="0">
                <a:solidFill>
                  <a:srgbClr val="0000FF"/>
                </a:solidFill>
              </a:rPr>
              <a:t>三个点，</a:t>
            </a:r>
          </a:p>
        </p:txBody>
      </p:sp>
      <p:sp>
        <p:nvSpPr>
          <p:cNvPr id="222256" name="Text Box 48"/>
          <p:cNvSpPr txBox="1">
            <a:spLocks noChangeArrowheads="1"/>
          </p:cNvSpPr>
          <p:nvPr/>
        </p:nvSpPr>
        <p:spPr bwMode="auto">
          <a:xfrm>
            <a:off x="5006975" y="4800601"/>
            <a:ext cx="541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000" dirty="0">
                <a:solidFill>
                  <a:srgbClr val="0000FF"/>
                </a:solidFill>
              </a:rPr>
              <a:t>则求出的</a:t>
            </a:r>
            <a:r>
              <a:rPr kumimoji="1" lang="en-US" altLang="zh-CN" sz="2000" dirty="0">
                <a:solidFill>
                  <a:srgbClr val="0000FF"/>
                </a:solidFill>
              </a:rPr>
              <a:t>x</a:t>
            </a:r>
            <a:r>
              <a:rPr kumimoji="1" lang="en-US" altLang="zh-CN" sz="2000" baseline="30000" dirty="0">
                <a:solidFill>
                  <a:srgbClr val="0000FF"/>
                </a:solidFill>
              </a:rPr>
              <a:t>** </a:t>
            </a:r>
            <a:r>
              <a:rPr kumimoji="1" lang="zh-CN" altLang="en-US" sz="2000" dirty="0">
                <a:solidFill>
                  <a:srgbClr val="0000FF"/>
                </a:solidFill>
              </a:rPr>
              <a:t>可能位于给定区间之外或误差太大。</a:t>
            </a:r>
            <a:endParaRPr kumimoji="1" lang="zh-CN" altLang="en-US" sz="2000" baseline="30000" dirty="0">
              <a:solidFill>
                <a:srgbClr val="0000FF"/>
              </a:solidFill>
            </a:endParaRPr>
          </a:p>
        </p:txBody>
      </p:sp>
      <p:sp>
        <p:nvSpPr>
          <p:cNvPr id="222257" name="Text Box 49"/>
          <p:cNvSpPr txBox="1">
            <a:spLocks noChangeArrowheads="1"/>
          </p:cNvSpPr>
          <p:nvPr/>
        </p:nvSpPr>
        <p:spPr bwMode="auto">
          <a:xfrm>
            <a:off x="1326362" y="5491643"/>
            <a:ext cx="9306141" cy="861774"/>
          </a:xfrm>
          <a:prstGeom prst="rect">
            <a:avLst/>
          </a:prstGeom>
          <a:solidFill>
            <a:srgbClr val="FFFFCC"/>
          </a:solidFill>
          <a:ln w="19050">
            <a:solidFill>
              <a:srgbClr val="FF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000" dirty="0">
                <a:solidFill>
                  <a:srgbClr val="FF0000"/>
                </a:solidFill>
              </a:rPr>
              <a:t>每次插值的三个点</a:t>
            </a:r>
            <a:r>
              <a:rPr kumimoji="1" lang="en-US" altLang="zh-CN" sz="2000" dirty="0">
                <a:solidFill>
                  <a:srgbClr val="FF0000"/>
                </a:solidFill>
              </a:rPr>
              <a:t>x</a:t>
            </a:r>
            <a:r>
              <a:rPr kumimoji="1" lang="en-US" altLang="zh-CN" sz="2000" baseline="-30000" dirty="0">
                <a:solidFill>
                  <a:srgbClr val="FF0000"/>
                </a:solidFill>
              </a:rPr>
              <a:t>1 </a:t>
            </a:r>
            <a:r>
              <a:rPr kumimoji="1" lang="en-US" altLang="zh-CN" sz="2000" dirty="0">
                <a:solidFill>
                  <a:srgbClr val="FF0000"/>
                </a:solidFill>
              </a:rPr>
              <a:t>&lt;</a:t>
            </a:r>
            <a:r>
              <a:rPr kumimoji="1" lang="en-US" altLang="zh-CN" sz="2000" dirty="0">
                <a:solidFill>
                  <a:srgbClr val="FF0000"/>
                </a:solidFill>
                <a:sym typeface="Symbol" panose="05050102010706020507" pitchFamily="18" charset="2"/>
              </a:rPr>
              <a:t> </a:t>
            </a:r>
            <a:r>
              <a:rPr kumimoji="1" lang="en-US" altLang="zh-CN" sz="2000" dirty="0">
                <a:solidFill>
                  <a:srgbClr val="FF0000"/>
                </a:solidFill>
              </a:rPr>
              <a:t>x</a:t>
            </a:r>
            <a:r>
              <a:rPr kumimoji="1" lang="en-US" altLang="zh-CN" sz="2000" baseline="-30000" dirty="0">
                <a:solidFill>
                  <a:srgbClr val="FF0000"/>
                </a:solidFill>
              </a:rPr>
              <a:t>2 </a:t>
            </a:r>
            <a:r>
              <a:rPr kumimoji="1" lang="en-US" altLang="zh-CN" sz="2000" dirty="0">
                <a:solidFill>
                  <a:srgbClr val="FF0000"/>
                </a:solidFill>
              </a:rPr>
              <a:t>&lt;x</a:t>
            </a:r>
            <a:r>
              <a:rPr kumimoji="1" lang="en-US" altLang="zh-CN" sz="2000" baseline="-30000" dirty="0">
                <a:solidFill>
                  <a:srgbClr val="FF0000"/>
                </a:solidFill>
              </a:rPr>
              <a:t>3</a:t>
            </a:r>
            <a:r>
              <a:rPr kumimoji="1" lang="en-US" altLang="zh-CN" sz="2000" b="0" baseline="-30000" dirty="0">
                <a:solidFill>
                  <a:srgbClr val="0000FF"/>
                </a:solidFill>
              </a:rPr>
              <a:t> </a:t>
            </a:r>
            <a:r>
              <a:rPr kumimoji="1" lang="zh-CN" altLang="en-US" sz="2000" dirty="0">
                <a:solidFill>
                  <a:srgbClr val="FF0000"/>
                </a:solidFill>
              </a:rPr>
              <a:t>都应构成一个两头大，中间小的“ 极小化框架”  ，</a:t>
            </a:r>
          </a:p>
          <a:p>
            <a:pPr eaLnBrk="1" hangingPunct="1">
              <a:spcBef>
                <a:spcPct val="50000"/>
              </a:spcBef>
            </a:pPr>
            <a:r>
              <a:rPr kumimoji="1" lang="zh-CN" altLang="en-US" sz="2000" dirty="0">
                <a:solidFill>
                  <a:srgbClr val="FF0000"/>
                </a:solidFill>
              </a:rPr>
              <a:t>即满足</a:t>
            </a:r>
            <a:r>
              <a:rPr kumimoji="1" lang="en-US" altLang="zh-CN" sz="2000" dirty="0">
                <a:solidFill>
                  <a:srgbClr val="FF0000"/>
                </a:solidFill>
              </a:rPr>
              <a:t>f</a:t>
            </a:r>
            <a:r>
              <a:rPr kumimoji="1" lang="en-US" altLang="zh-CN" sz="2000" baseline="-30000" dirty="0">
                <a:solidFill>
                  <a:srgbClr val="FF0000"/>
                </a:solidFill>
              </a:rPr>
              <a:t>1</a:t>
            </a:r>
            <a:r>
              <a:rPr kumimoji="1" lang="en-US" altLang="zh-CN" sz="2000" dirty="0">
                <a:solidFill>
                  <a:srgbClr val="FF0000"/>
                </a:solidFill>
              </a:rPr>
              <a:t>≥f</a:t>
            </a:r>
            <a:r>
              <a:rPr kumimoji="1" lang="en-US" altLang="zh-CN" sz="2000" baseline="-30000" dirty="0">
                <a:solidFill>
                  <a:srgbClr val="FF0000"/>
                </a:solidFill>
              </a:rPr>
              <a:t>2</a:t>
            </a:r>
            <a:r>
              <a:rPr kumimoji="1" lang="zh-CN" altLang="en-US" sz="2000" dirty="0">
                <a:solidFill>
                  <a:srgbClr val="FF0000"/>
                </a:solidFill>
              </a:rPr>
              <a:t>，</a:t>
            </a:r>
            <a:r>
              <a:rPr kumimoji="1" lang="en-US" altLang="zh-CN" sz="2000" dirty="0">
                <a:solidFill>
                  <a:srgbClr val="FF0000"/>
                </a:solidFill>
              </a:rPr>
              <a:t>f</a:t>
            </a:r>
            <a:r>
              <a:rPr kumimoji="1" lang="en-US" altLang="zh-CN" sz="2000" baseline="-30000" dirty="0">
                <a:solidFill>
                  <a:srgbClr val="FF0000"/>
                </a:solidFill>
              </a:rPr>
              <a:t>3</a:t>
            </a:r>
            <a:r>
              <a:rPr kumimoji="1" lang="en-US" altLang="zh-CN" sz="2000" dirty="0">
                <a:solidFill>
                  <a:srgbClr val="FF0000"/>
                </a:solidFill>
              </a:rPr>
              <a:t>≥f</a:t>
            </a:r>
            <a:r>
              <a:rPr kumimoji="1" lang="en-US" altLang="zh-CN" sz="2000" baseline="-30000" dirty="0">
                <a:solidFill>
                  <a:srgbClr val="FF0000"/>
                </a:solidFill>
              </a:rPr>
              <a:t>2</a:t>
            </a:r>
            <a:r>
              <a:rPr kumimoji="1" lang="en-US" altLang="zh-CN" sz="2000" dirty="0">
                <a:solidFill>
                  <a:srgbClr val="FF0000"/>
                </a:solidFill>
              </a:rPr>
              <a:t> </a:t>
            </a:r>
            <a:r>
              <a:rPr kumimoji="1" lang="zh-CN" altLang="en-US" sz="2000" dirty="0">
                <a:solidFill>
                  <a:srgbClr val="FF0000"/>
                </a:solidFill>
              </a:rPr>
              <a:t>，且两个等号不同时成立。</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222211"/>
                                        </p:tgtEl>
                                        <p:attrNameLst>
                                          <p:attrName>style.visibility</p:attrName>
                                        </p:attrNameLst>
                                      </p:cBhvr>
                                      <p:to>
                                        <p:strVal val="visible"/>
                                      </p:to>
                                    </p:set>
                                    <p:anim calcmode="lin" valueType="num">
                                      <p:cBhvr>
                                        <p:cTn id="7" dur="500" fill="hold"/>
                                        <p:tgtEl>
                                          <p:spTgt spid="222211"/>
                                        </p:tgtEl>
                                        <p:attrNameLst>
                                          <p:attrName>ppt_w</p:attrName>
                                        </p:attrNameLst>
                                      </p:cBhvr>
                                      <p:tavLst>
                                        <p:tav tm="0">
                                          <p:val>
                                            <p:fltVal val="0"/>
                                          </p:val>
                                        </p:tav>
                                        <p:tav tm="100000">
                                          <p:val>
                                            <p:strVal val="#ppt_w"/>
                                          </p:val>
                                        </p:tav>
                                      </p:tavLst>
                                    </p:anim>
                                    <p:anim calcmode="lin" valueType="num">
                                      <p:cBhvr>
                                        <p:cTn id="8" dur="500" fill="hold"/>
                                        <p:tgtEl>
                                          <p:spTgt spid="222211"/>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2255"/>
                                        </p:tgtEl>
                                        <p:attrNameLst>
                                          <p:attrName>style.visibility</p:attrName>
                                        </p:attrNameLst>
                                      </p:cBhvr>
                                      <p:to>
                                        <p:strVal val="visible"/>
                                      </p:to>
                                    </p:set>
                                    <p:anim calcmode="lin" valueType="num">
                                      <p:cBhvr additive="base">
                                        <p:cTn id="13" dur="500" fill="hold"/>
                                        <p:tgtEl>
                                          <p:spTgt spid="222255"/>
                                        </p:tgtEl>
                                        <p:attrNameLst>
                                          <p:attrName>ppt_x</p:attrName>
                                        </p:attrNameLst>
                                      </p:cBhvr>
                                      <p:tavLst>
                                        <p:tav tm="0">
                                          <p:val>
                                            <p:strVal val="0-#ppt_w/2"/>
                                          </p:val>
                                        </p:tav>
                                        <p:tav tm="100000">
                                          <p:val>
                                            <p:strVal val="#ppt_x"/>
                                          </p:val>
                                        </p:tav>
                                      </p:tavLst>
                                    </p:anim>
                                    <p:anim calcmode="lin" valueType="num">
                                      <p:cBhvr additive="base">
                                        <p:cTn id="14" dur="500" fill="hold"/>
                                        <p:tgtEl>
                                          <p:spTgt spid="222255"/>
                                        </p:tgtEl>
                                        <p:attrNameLst>
                                          <p:attrName>ppt_y</p:attrName>
                                        </p:attrNameLst>
                                      </p:cBhvr>
                                      <p:tavLst>
                                        <p:tav tm="0">
                                          <p:val>
                                            <p:strVal val="#ppt_y"/>
                                          </p:val>
                                        </p:tav>
                                        <p:tav tm="100000">
                                          <p:val>
                                            <p:strVal val="#ppt_y"/>
                                          </p:val>
                                        </p:tav>
                                      </p:tavLst>
                                    </p:anim>
                                  </p:childTnLst>
                                </p:cTn>
                              </p:par>
                            </p:childTnLst>
                          </p:cTn>
                        </p:par>
                        <p:par>
                          <p:cTn id="15" fill="hold">
                            <p:stCondLst>
                              <p:cond delay="500"/>
                            </p:stCondLst>
                            <p:childTnLst>
                              <p:par>
                                <p:cTn id="16" presetID="17" presetClass="entr" presetSubtype="10" fill="hold" grpId="0" nodeType="afterEffect">
                                  <p:stCondLst>
                                    <p:cond delay="0"/>
                                  </p:stCondLst>
                                  <p:childTnLst>
                                    <p:set>
                                      <p:cBhvr>
                                        <p:cTn id="17" dur="1" fill="hold">
                                          <p:stCondLst>
                                            <p:cond delay="0"/>
                                          </p:stCondLst>
                                        </p:cTn>
                                        <p:tgtEl>
                                          <p:spTgt spid="222231"/>
                                        </p:tgtEl>
                                        <p:attrNameLst>
                                          <p:attrName>style.visibility</p:attrName>
                                        </p:attrNameLst>
                                      </p:cBhvr>
                                      <p:to>
                                        <p:strVal val="visible"/>
                                      </p:to>
                                    </p:set>
                                    <p:anim calcmode="lin" valueType="num">
                                      <p:cBhvr>
                                        <p:cTn id="18" dur="1000" fill="hold"/>
                                        <p:tgtEl>
                                          <p:spTgt spid="222231"/>
                                        </p:tgtEl>
                                        <p:attrNameLst>
                                          <p:attrName>ppt_w</p:attrName>
                                        </p:attrNameLst>
                                      </p:cBhvr>
                                      <p:tavLst>
                                        <p:tav tm="0">
                                          <p:val>
                                            <p:fltVal val="0"/>
                                          </p:val>
                                        </p:tav>
                                        <p:tav tm="100000">
                                          <p:val>
                                            <p:strVal val="#ppt_w"/>
                                          </p:val>
                                        </p:tav>
                                      </p:tavLst>
                                    </p:anim>
                                    <p:anim calcmode="lin" valueType="num">
                                      <p:cBhvr>
                                        <p:cTn id="19" dur="1000" fill="hold"/>
                                        <p:tgtEl>
                                          <p:spTgt spid="222231"/>
                                        </p:tgtEl>
                                        <p:attrNameLst>
                                          <p:attrName>ppt_h</p:attrName>
                                        </p:attrNameLst>
                                      </p:cBhvr>
                                      <p:tavLst>
                                        <p:tav tm="0">
                                          <p:val>
                                            <p:strVal val="#ppt_h"/>
                                          </p:val>
                                        </p:tav>
                                        <p:tav tm="100000">
                                          <p:val>
                                            <p:strVal val="#ppt_h"/>
                                          </p:val>
                                        </p:tav>
                                      </p:tavLst>
                                    </p:anim>
                                  </p:childTnLst>
                                </p:cTn>
                              </p:par>
                            </p:childTnLst>
                          </p:cTn>
                        </p:par>
                        <p:par>
                          <p:cTn id="20" fill="hold">
                            <p:stCondLst>
                              <p:cond delay="1500"/>
                            </p:stCondLst>
                            <p:childTnLst>
                              <p:par>
                                <p:cTn id="21" presetID="17" presetClass="entr" presetSubtype="10" fill="hold" grpId="0" nodeType="afterEffect">
                                  <p:stCondLst>
                                    <p:cond delay="0"/>
                                  </p:stCondLst>
                                  <p:childTnLst>
                                    <p:set>
                                      <p:cBhvr>
                                        <p:cTn id="22" dur="1" fill="hold">
                                          <p:stCondLst>
                                            <p:cond delay="0"/>
                                          </p:stCondLst>
                                        </p:cTn>
                                        <p:tgtEl>
                                          <p:spTgt spid="222232"/>
                                        </p:tgtEl>
                                        <p:attrNameLst>
                                          <p:attrName>style.visibility</p:attrName>
                                        </p:attrNameLst>
                                      </p:cBhvr>
                                      <p:to>
                                        <p:strVal val="visible"/>
                                      </p:to>
                                    </p:set>
                                    <p:anim calcmode="lin" valueType="num">
                                      <p:cBhvr>
                                        <p:cTn id="23" dur="1000" fill="hold"/>
                                        <p:tgtEl>
                                          <p:spTgt spid="222232"/>
                                        </p:tgtEl>
                                        <p:attrNameLst>
                                          <p:attrName>ppt_w</p:attrName>
                                        </p:attrNameLst>
                                      </p:cBhvr>
                                      <p:tavLst>
                                        <p:tav tm="0">
                                          <p:val>
                                            <p:fltVal val="0"/>
                                          </p:val>
                                        </p:tav>
                                        <p:tav tm="100000">
                                          <p:val>
                                            <p:strVal val="#ppt_w"/>
                                          </p:val>
                                        </p:tav>
                                      </p:tavLst>
                                    </p:anim>
                                    <p:anim calcmode="lin" valueType="num">
                                      <p:cBhvr>
                                        <p:cTn id="24" dur="1000" fill="hold"/>
                                        <p:tgtEl>
                                          <p:spTgt spid="222232"/>
                                        </p:tgtEl>
                                        <p:attrNameLst>
                                          <p:attrName>ppt_h</p:attrName>
                                        </p:attrNameLst>
                                      </p:cBhvr>
                                      <p:tavLst>
                                        <p:tav tm="0">
                                          <p:val>
                                            <p:strVal val="#ppt_h"/>
                                          </p:val>
                                        </p:tav>
                                        <p:tav tm="100000">
                                          <p:val>
                                            <p:strVal val="#ppt_h"/>
                                          </p:val>
                                        </p:tav>
                                      </p:tavLst>
                                    </p:anim>
                                  </p:childTnLst>
                                </p:cTn>
                              </p:par>
                            </p:childTnLst>
                          </p:cTn>
                        </p:par>
                        <p:par>
                          <p:cTn id="25" fill="hold">
                            <p:stCondLst>
                              <p:cond delay="2500"/>
                            </p:stCondLst>
                            <p:childTnLst>
                              <p:par>
                                <p:cTn id="26" presetID="17" presetClass="entr" presetSubtype="10" fill="hold" grpId="0" nodeType="afterEffect">
                                  <p:stCondLst>
                                    <p:cond delay="0"/>
                                  </p:stCondLst>
                                  <p:childTnLst>
                                    <p:set>
                                      <p:cBhvr>
                                        <p:cTn id="27" dur="1" fill="hold">
                                          <p:stCondLst>
                                            <p:cond delay="0"/>
                                          </p:stCondLst>
                                        </p:cTn>
                                        <p:tgtEl>
                                          <p:spTgt spid="222233"/>
                                        </p:tgtEl>
                                        <p:attrNameLst>
                                          <p:attrName>style.visibility</p:attrName>
                                        </p:attrNameLst>
                                      </p:cBhvr>
                                      <p:to>
                                        <p:strVal val="visible"/>
                                      </p:to>
                                    </p:set>
                                    <p:anim calcmode="lin" valueType="num">
                                      <p:cBhvr>
                                        <p:cTn id="28" dur="1000" fill="hold"/>
                                        <p:tgtEl>
                                          <p:spTgt spid="222233"/>
                                        </p:tgtEl>
                                        <p:attrNameLst>
                                          <p:attrName>ppt_w</p:attrName>
                                        </p:attrNameLst>
                                      </p:cBhvr>
                                      <p:tavLst>
                                        <p:tav tm="0">
                                          <p:val>
                                            <p:fltVal val="0"/>
                                          </p:val>
                                        </p:tav>
                                        <p:tav tm="100000">
                                          <p:val>
                                            <p:strVal val="#ppt_w"/>
                                          </p:val>
                                        </p:tav>
                                      </p:tavLst>
                                    </p:anim>
                                    <p:anim calcmode="lin" valueType="num">
                                      <p:cBhvr>
                                        <p:cTn id="29" dur="1000" fill="hold"/>
                                        <p:tgtEl>
                                          <p:spTgt spid="222233"/>
                                        </p:tgtEl>
                                        <p:attrNameLst>
                                          <p:attrName>ppt_h</p:attrName>
                                        </p:attrNameLst>
                                      </p:cBhvr>
                                      <p:tavLst>
                                        <p:tav tm="0">
                                          <p:val>
                                            <p:strVal val="#ppt_h"/>
                                          </p:val>
                                        </p:tav>
                                        <p:tav tm="100000">
                                          <p:val>
                                            <p:strVal val="#ppt_h"/>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6" fill="hold" nodeType="clickEffect">
                                  <p:stCondLst>
                                    <p:cond delay="0"/>
                                  </p:stCondLst>
                                  <p:childTnLst>
                                    <p:set>
                                      <p:cBhvr>
                                        <p:cTn id="33" dur="1" fill="hold">
                                          <p:stCondLst>
                                            <p:cond delay="0"/>
                                          </p:stCondLst>
                                        </p:cTn>
                                        <p:tgtEl>
                                          <p:spTgt spid="222247"/>
                                        </p:tgtEl>
                                        <p:attrNameLst>
                                          <p:attrName>style.visibility</p:attrName>
                                        </p:attrNameLst>
                                      </p:cBhvr>
                                      <p:to>
                                        <p:strVal val="visible"/>
                                      </p:to>
                                    </p:set>
                                    <p:animEffect transition="in" filter="barn(inHorizontal)">
                                      <p:cBhvr>
                                        <p:cTn id="34" dur="500"/>
                                        <p:tgtEl>
                                          <p:spTgt spid="222247"/>
                                        </p:tgtEl>
                                      </p:cBhvr>
                                    </p:animEffect>
                                  </p:childTnLst>
                                </p:cTn>
                              </p:par>
                            </p:childTnLst>
                          </p:cTn>
                        </p:par>
                      </p:childTnLst>
                    </p:cTn>
                  </p:par>
                  <p:par>
                    <p:cTn id="35" fill="hold">
                      <p:stCondLst>
                        <p:cond delay="indefinite"/>
                      </p:stCondLst>
                      <p:childTnLst>
                        <p:par>
                          <p:cTn id="36" fill="hold">
                            <p:stCondLst>
                              <p:cond delay="0"/>
                            </p:stCondLst>
                            <p:childTnLst>
                              <p:par>
                                <p:cTn id="37" presetID="17" presetClass="entr" presetSubtype="10" fill="hold" nodeType="clickEffect">
                                  <p:stCondLst>
                                    <p:cond delay="0"/>
                                  </p:stCondLst>
                                  <p:childTnLst>
                                    <p:set>
                                      <p:cBhvr>
                                        <p:cTn id="38" dur="1" fill="hold">
                                          <p:stCondLst>
                                            <p:cond delay="0"/>
                                          </p:stCondLst>
                                        </p:cTn>
                                        <p:tgtEl>
                                          <p:spTgt spid="222241"/>
                                        </p:tgtEl>
                                        <p:attrNameLst>
                                          <p:attrName>style.visibility</p:attrName>
                                        </p:attrNameLst>
                                      </p:cBhvr>
                                      <p:to>
                                        <p:strVal val="visible"/>
                                      </p:to>
                                    </p:set>
                                    <p:anim calcmode="lin" valueType="num">
                                      <p:cBhvr>
                                        <p:cTn id="39" dur="500" fill="hold"/>
                                        <p:tgtEl>
                                          <p:spTgt spid="222241"/>
                                        </p:tgtEl>
                                        <p:attrNameLst>
                                          <p:attrName>ppt_w</p:attrName>
                                        </p:attrNameLst>
                                      </p:cBhvr>
                                      <p:tavLst>
                                        <p:tav tm="0">
                                          <p:val>
                                            <p:fltVal val="0"/>
                                          </p:val>
                                        </p:tav>
                                        <p:tav tm="100000">
                                          <p:val>
                                            <p:strVal val="#ppt_w"/>
                                          </p:val>
                                        </p:tav>
                                      </p:tavLst>
                                    </p:anim>
                                    <p:anim calcmode="lin" valueType="num">
                                      <p:cBhvr>
                                        <p:cTn id="40" dur="500" fill="hold"/>
                                        <p:tgtEl>
                                          <p:spTgt spid="222241"/>
                                        </p:tgtEl>
                                        <p:attrNameLst>
                                          <p:attrName>ppt_h</p:attrName>
                                        </p:attrNameLst>
                                      </p:cBhvr>
                                      <p:tavLst>
                                        <p:tav tm="0">
                                          <p:val>
                                            <p:strVal val="#ppt_h"/>
                                          </p:val>
                                        </p:tav>
                                        <p:tav tm="100000">
                                          <p:val>
                                            <p:strVal val="#ppt_h"/>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10" fill="hold" nodeType="clickEffect">
                                  <p:stCondLst>
                                    <p:cond delay="0"/>
                                  </p:stCondLst>
                                  <p:childTnLst>
                                    <p:set>
                                      <p:cBhvr>
                                        <p:cTn id="44" dur="1" fill="hold">
                                          <p:stCondLst>
                                            <p:cond delay="0"/>
                                          </p:stCondLst>
                                        </p:cTn>
                                        <p:tgtEl>
                                          <p:spTgt spid="222238"/>
                                        </p:tgtEl>
                                        <p:attrNameLst>
                                          <p:attrName>style.visibility</p:attrName>
                                        </p:attrNameLst>
                                      </p:cBhvr>
                                      <p:to>
                                        <p:strVal val="visible"/>
                                      </p:to>
                                    </p:set>
                                    <p:anim calcmode="lin" valueType="num">
                                      <p:cBhvr>
                                        <p:cTn id="45" dur="500" fill="hold"/>
                                        <p:tgtEl>
                                          <p:spTgt spid="222238"/>
                                        </p:tgtEl>
                                        <p:attrNameLst>
                                          <p:attrName>ppt_w</p:attrName>
                                        </p:attrNameLst>
                                      </p:cBhvr>
                                      <p:tavLst>
                                        <p:tav tm="0">
                                          <p:val>
                                            <p:fltVal val="0"/>
                                          </p:val>
                                        </p:tav>
                                        <p:tav tm="100000">
                                          <p:val>
                                            <p:strVal val="#ppt_w"/>
                                          </p:val>
                                        </p:tav>
                                      </p:tavLst>
                                    </p:anim>
                                    <p:anim calcmode="lin" valueType="num">
                                      <p:cBhvr>
                                        <p:cTn id="46" dur="500" fill="hold"/>
                                        <p:tgtEl>
                                          <p:spTgt spid="222238"/>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7" presetClass="entr" presetSubtype="10" fill="hold" nodeType="clickEffect">
                                  <p:stCondLst>
                                    <p:cond delay="0"/>
                                  </p:stCondLst>
                                  <p:childTnLst>
                                    <p:set>
                                      <p:cBhvr>
                                        <p:cTn id="50" dur="1" fill="hold">
                                          <p:stCondLst>
                                            <p:cond delay="0"/>
                                          </p:stCondLst>
                                        </p:cTn>
                                        <p:tgtEl>
                                          <p:spTgt spid="222244"/>
                                        </p:tgtEl>
                                        <p:attrNameLst>
                                          <p:attrName>style.visibility</p:attrName>
                                        </p:attrNameLst>
                                      </p:cBhvr>
                                      <p:to>
                                        <p:strVal val="visible"/>
                                      </p:to>
                                    </p:set>
                                    <p:anim calcmode="lin" valueType="num">
                                      <p:cBhvr>
                                        <p:cTn id="51" dur="500" fill="hold"/>
                                        <p:tgtEl>
                                          <p:spTgt spid="222244"/>
                                        </p:tgtEl>
                                        <p:attrNameLst>
                                          <p:attrName>ppt_w</p:attrName>
                                        </p:attrNameLst>
                                      </p:cBhvr>
                                      <p:tavLst>
                                        <p:tav tm="0">
                                          <p:val>
                                            <p:fltVal val="0"/>
                                          </p:val>
                                        </p:tav>
                                        <p:tav tm="100000">
                                          <p:val>
                                            <p:strVal val="#ppt_w"/>
                                          </p:val>
                                        </p:tav>
                                      </p:tavLst>
                                    </p:anim>
                                    <p:anim calcmode="lin" valueType="num">
                                      <p:cBhvr>
                                        <p:cTn id="52" dur="500" fill="hold"/>
                                        <p:tgtEl>
                                          <p:spTgt spid="222244"/>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9" presetClass="entr" presetSubtype="0" fill="hold" grpId="0" nodeType="clickEffect">
                                  <p:stCondLst>
                                    <p:cond delay="0"/>
                                  </p:stCondLst>
                                  <p:childTnLst>
                                    <p:set>
                                      <p:cBhvr>
                                        <p:cTn id="56" dur="1" fill="hold">
                                          <p:stCondLst>
                                            <p:cond delay="0"/>
                                          </p:stCondLst>
                                        </p:cTn>
                                        <p:tgtEl>
                                          <p:spTgt spid="222256"/>
                                        </p:tgtEl>
                                        <p:attrNameLst>
                                          <p:attrName>style.visibility</p:attrName>
                                        </p:attrNameLst>
                                      </p:cBhvr>
                                      <p:to>
                                        <p:strVal val="visible"/>
                                      </p:to>
                                    </p:set>
                                    <p:animEffect transition="in" filter="dissolve">
                                      <p:cBhvr>
                                        <p:cTn id="57" dur="500"/>
                                        <p:tgtEl>
                                          <p:spTgt spid="222256"/>
                                        </p:tgtEl>
                                      </p:cBhvr>
                                    </p:animEffect>
                                  </p:childTnLst>
                                </p:cTn>
                              </p:par>
                            </p:childTnLst>
                          </p:cTn>
                        </p:par>
                      </p:childTnLst>
                    </p:cTn>
                  </p:par>
                  <p:par>
                    <p:cTn id="58" fill="hold">
                      <p:stCondLst>
                        <p:cond delay="indefinite"/>
                      </p:stCondLst>
                      <p:childTnLst>
                        <p:par>
                          <p:cTn id="59" fill="hold">
                            <p:stCondLst>
                              <p:cond delay="0"/>
                            </p:stCondLst>
                            <p:childTnLst>
                              <p:par>
                                <p:cTn id="60" presetID="17" presetClass="entr" presetSubtype="10" fill="hold" grpId="0" nodeType="clickEffect">
                                  <p:stCondLst>
                                    <p:cond delay="0"/>
                                  </p:stCondLst>
                                  <p:childTnLst>
                                    <p:set>
                                      <p:cBhvr>
                                        <p:cTn id="61" dur="1" fill="hold">
                                          <p:stCondLst>
                                            <p:cond delay="0"/>
                                          </p:stCondLst>
                                        </p:cTn>
                                        <p:tgtEl>
                                          <p:spTgt spid="222257"/>
                                        </p:tgtEl>
                                        <p:attrNameLst>
                                          <p:attrName>style.visibility</p:attrName>
                                        </p:attrNameLst>
                                      </p:cBhvr>
                                      <p:to>
                                        <p:strVal val="visible"/>
                                      </p:to>
                                    </p:set>
                                    <p:anim calcmode="lin" valueType="num">
                                      <p:cBhvr>
                                        <p:cTn id="62" dur="500" fill="hold"/>
                                        <p:tgtEl>
                                          <p:spTgt spid="222257"/>
                                        </p:tgtEl>
                                        <p:attrNameLst>
                                          <p:attrName>ppt_w</p:attrName>
                                        </p:attrNameLst>
                                      </p:cBhvr>
                                      <p:tavLst>
                                        <p:tav tm="0">
                                          <p:val>
                                            <p:fltVal val="0"/>
                                          </p:val>
                                        </p:tav>
                                        <p:tav tm="100000">
                                          <p:val>
                                            <p:strVal val="#ppt_w"/>
                                          </p:val>
                                        </p:tav>
                                      </p:tavLst>
                                    </p:anim>
                                    <p:anim calcmode="lin" valueType="num">
                                      <p:cBhvr>
                                        <p:cTn id="63" dur="500" fill="hold"/>
                                        <p:tgtEl>
                                          <p:spTgt spid="22225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2231" grpId="0" animBg="1"/>
      <p:bldP spid="222232" grpId="0" animBg="1"/>
      <p:bldP spid="222233" grpId="0" animBg="1"/>
      <p:bldP spid="222255" grpId="0" autoUpdateAnimBg="0"/>
      <p:bldP spid="222256" grpId="0" autoUpdateAnimBg="0"/>
      <p:bldP spid="222257"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148840" y="789305"/>
            <a:ext cx="2578100" cy="460375"/>
          </a:xfrm>
          <a:prstGeom prst="rect">
            <a:avLst/>
          </a:prstGeom>
          <a:noFill/>
        </p:spPr>
        <p:txBody>
          <a:bodyPr wrap="square" rtlCol="0">
            <a:spAutoFit/>
          </a:bodyPr>
          <a:lstStyle/>
          <a:p>
            <a:r>
              <a:rPr lang="zh-CN" altLang="en-US" sz="2400" dirty="0">
                <a:latin typeface="宋体" panose="02010600030101010101" pitchFamily="2" charset="-122"/>
                <a:ea typeface="宋体" panose="02010600030101010101" pitchFamily="2" charset="-122"/>
              </a:rPr>
              <a:t>对插值方程组</a:t>
            </a:r>
          </a:p>
        </p:txBody>
      </p:sp>
      <p:sp>
        <p:nvSpPr>
          <p:cNvPr id="6" name="文本框 5"/>
          <p:cNvSpPr txBox="1"/>
          <p:nvPr/>
        </p:nvSpPr>
        <p:spPr>
          <a:xfrm>
            <a:off x="695400" y="204486"/>
            <a:ext cx="6872140" cy="523220"/>
          </a:xfrm>
          <a:prstGeom prst="rect">
            <a:avLst/>
          </a:prstGeom>
          <a:noFill/>
        </p:spPr>
        <p:txBody>
          <a:bodyPr wrap="square">
            <a:spAutoFit/>
          </a:bodyPr>
          <a:lstStyle/>
          <a:p>
            <a:pPr algn="just">
              <a:spcBef>
                <a:spcPts val="600"/>
              </a:spcBef>
              <a:spcAft>
                <a:spcPts val="600"/>
              </a:spcAft>
            </a:pPr>
            <a:r>
              <a:rPr lang="zh-CN" altLang="en-US" sz="2800" b="1" kern="100" dirty="0">
                <a:solidFill>
                  <a:schemeClr val="accent1"/>
                </a:solidFill>
                <a:effectLst/>
                <a:latin typeface="宋体" panose="02010600030101010101" pitchFamily="2" charset="-122"/>
                <a:ea typeface="宋体" panose="02010600030101010101" pitchFamily="2" charset="-122"/>
              </a:rPr>
              <a:t>近似极小点的估计</a:t>
            </a:r>
            <a:endParaRPr lang="zh-CN" altLang="zh-CN" sz="2800" b="1" kern="100" dirty="0">
              <a:solidFill>
                <a:schemeClr val="accent1"/>
              </a:solidFill>
              <a:effectLst/>
              <a:latin typeface="宋体" panose="02010600030101010101" pitchFamily="2" charset="-122"/>
              <a:ea typeface="宋体" panose="02010600030101010101" pitchFamily="2" charset="-122"/>
            </a:endParaRPr>
          </a:p>
        </p:txBody>
      </p:sp>
      <mc:AlternateContent xmlns:mc="http://schemas.openxmlformats.org/markup-compatibility/2006" xmlns:a14="http://schemas.microsoft.com/office/drawing/2010/main">
        <mc:Choice Requires="a14">
          <p:sp>
            <p:nvSpPr>
              <p:cNvPr id="7" name="文本框 6"/>
              <p:cNvSpPr txBox="1"/>
              <p:nvPr/>
            </p:nvSpPr>
            <p:spPr>
              <a:xfrm>
                <a:off x="3287395" y="1412240"/>
                <a:ext cx="4176395" cy="1316355"/>
              </a:xfrm>
              <a:prstGeom prst="rect">
                <a:avLst/>
              </a:prstGeom>
              <a:noFill/>
            </p:spPr>
            <p:txBody>
              <a:bodyPr wrap="none" rtlCol="0" anchor="t">
                <a:spAutoFit/>
              </a:bodyPr>
              <a:lstStyle/>
              <a:p>
                <a:pPr/>
                <a14:m>
                  <m:oMathPara xmlns:m="http://schemas.openxmlformats.org/officeDocument/2006/math">
                    <m:oMathParaPr>
                      <m:jc m:val="centerGroup"/>
                    </m:oMathParaPr>
                    <m:oMath xmlns:m="http://schemas.openxmlformats.org/officeDocument/2006/math">
                      <m:d>
                        <m:dPr>
                          <m:begChr m:val="{"/>
                          <m:endChr m:val=""/>
                          <m:ctrlPr>
                            <a:rPr kumimoji="1" lang="zh-CN" altLang="en-US" sz="2400" i="1" smtClean="0">
                              <a:solidFill>
                                <a:schemeClr val="tx1"/>
                              </a:solidFill>
                              <a:latin typeface="Cambria Math" panose="02040503050406030204" pitchFamily="18" charset="0"/>
                              <a:cs typeface="Cambria Math" panose="02040503050406030204" pitchFamily="18" charset="0"/>
                            </a:rPr>
                          </m:ctrlPr>
                        </m:dPr>
                        <m:e>
                          <m:eqArr>
                            <m:eqArrPr>
                              <m:ctrlPr>
                                <a:rPr kumimoji="1" lang="zh-CN" altLang="en-US" sz="2400" i="1" smtClean="0">
                                  <a:solidFill>
                                    <a:schemeClr val="tx1"/>
                                  </a:solidFill>
                                  <a:latin typeface="Cambria Math" panose="02040503050406030204" pitchFamily="18" charset="0"/>
                                  <a:cs typeface="Cambria Math" panose="02040503050406030204" pitchFamily="18" charset="0"/>
                                </a:rPr>
                              </m:ctrlPr>
                            </m:eqArrPr>
                            <m:e>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𝑎</m:t>
                              </m:r>
                              <m:sSubSup>
                                <m:sSubSupPr>
                                  <m:ctrlPr>
                                    <a:rPr kumimoji="1" lang="en-US" altLang="zh-CN" sz="2400" i="1">
                                      <a:solidFill>
                                        <a:schemeClr val="tx1"/>
                                      </a:solidFill>
                                      <a:latin typeface="Cambria Math" panose="02040503050406030204" pitchFamily="18" charset="0"/>
                                      <a:cs typeface="Cambria Math" panose="02040503050406030204" pitchFamily="18" charset="0"/>
                                    </a:rPr>
                                  </m:ctrlPr>
                                </m:sSubSup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up>
                                  <m:r>
                                    <a:rPr kumimoji="1" lang="en-US" altLang="zh-CN" sz="2400" i="1">
                                      <a:solidFill>
                                        <a:schemeClr val="tx1"/>
                                      </a:solidFill>
                                      <a:latin typeface="Cambria Math" panose="02040503050406030204" pitchFamily="18" charset="0"/>
                                      <a:cs typeface="Cambria Math" panose="02040503050406030204" pitchFamily="18" charset="0"/>
                                    </a:rPr>
                                    <m:t>2</m:t>
                                  </m:r>
                                </m:sup>
                              </m:sSubSup>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𝑏</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𝑐</m:t>
                              </m:r>
                              <m:r>
                                <a:rPr kumimoji="1" lang="en-US" altLang="zh-CN" sz="2400" i="1">
                                  <a:solidFill>
                                    <a:schemeClr val="tx1"/>
                                  </a:solidFill>
                                  <a:latin typeface="Cambria Math" panose="02040503050406030204" pitchFamily="18" charset="0"/>
                                  <a:cs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𝑓</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e>
                            <m:e>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𝑎</m:t>
                              </m:r>
                              <m:sSubSup>
                                <m:sSubSupPr>
                                  <m:ctrlPr>
                                    <a:rPr kumimoji="1" lang="en-US" altLang="zh-CN" sz="2400" i="1">
                                      <a:solidFill>
                                        <a:schemeClr val="tx1"/>
                                      </a:solidFill>
                                      <a:latin typeface="Cambria Math" panose="02040503050406030204" pitchFamily="18" charset="0"/>
                                      <a:cs typeface="Cambria Math" panose="02040503050406030204" pitchFamily="18" charset="0"/>
                                    </a:rPr>
                                  </m:ctrlPr>
                                </m:sSubSup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up>
                                  <m:r>
                                    <a:rPr kumimoji="1" lang="en-US" altLang="zh-CN" sz="2400" i="1">
                                      <a:solidFill>
                                        <a:schemeClr val="tx1"/>
                                      </a:solidFill>
                                      <a:latin typeface="Cambria Math" panose="02040503050406030204" pitchFamily="18" charset="0"/>
                                      <a:cs typeface="Cambria Math" panose="02040503050406030204" pitchFamily="18" charset="0"/>
                                    </a:rPr>
                                    <m:t>2</m:t>
                                  </m:r>
                                </m:sup>
                              </m:sSubSup>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𝑏</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𝑐</m:t>
                              </m:r>
                              <m:r>
                                <a:rPr kumimoji="1" lang="en-US" altLang="zh-CN" sz="2400" i="1">
                                  <a:solidFill>
                                    <a:schemeClr val="tx1"/>
                                  </a:solidFill>
                                  <a:latin typeface="Cambria Math" panose="02040503050406030204" pitchFamily="18" charset="0"/>
                                  <a:cs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𝑓</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e>
                            <m:e>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𝑎</m:t>
                              </m:r>
                              <m:sSubSup>
                                <m:sSubSupPr>
                                  <m:ctrlPr>
                                    <a:rPr kumimoji="1" lang="en-US" altLang="zh-CN" sz="2400" i="1">
                                      <a:solidFill>
                                        <a:schemeClr val="tx1"/>
                                      </a:solidFill>
                                      <a:latin typeface="Cambria Math" panose="02040503050406030204" pitchFamily="18" charset="0"/>
                                      <a:cs typeface="Cambria Math" panose="02040503050406030204" pitchFamily="18" charset="0"/>
                                    </a:rPr>
                                  </m:ctrlPr>
                                </m:sSubSup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up>
                                  <m:r>
                                    <a:rPr kumimoji="1" lang="en-US" altLang="zh-CN" sz="2400" i="1">
                                      <a:solidFill>
                                        <a:schemeClr val="tx1"/>
                                      </a:solidFill>
                                      <a:latin typeface="Cambria Math" panose="02040503050406030204" pitchFamily="18" charset="0"/>
                                      <a:cs typeface="Cambria Math" panose="02040503050406030204" pitchFamily="18" charset="0"/>
                                    </a:rPr>
                                    <m:t>2</m:t>
                                  </m:r>
                                </m:sup>
                              </m:sSubSup>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𝑏</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r>
                                <a:rPr kumimoji="1" lang="en-US" altLang="zh-CN" sz="2400" i="1">
                                  <a:solidFill>
                                    <a:schemeClr val="tx1"/>
                                  </a:solidFill>
                                  <a:latin typeface="Cambria Math" panose="02040503050406030204" pitchFamily="18" charset="0"/>
                                  <a:cs typeface="Cambria Math" panose="02040503050406030204" pitchFamily="18" charset="0"/>
                                </a:rPr>
                                <m:t>+</m:t>
                              </m:r>
                              <m:r>
                                <a:rPr kumimoji="1" lang="en-US" altLang="zh-CN" sz="2400" i="1">
                                  <a:solidFill>
                                    <a:schemeClr val="tx1"/>
                                  </a:solidFill>
                                  <a:latin typeface="Cambria Math" panose="02040503050406030204" pitchFamily="18" charset="0"/>
                                  <a:cs typeface="Cambria Math" panose="02040503050406030204" pitchFamily="18" charset="0"/>
                                </a:rPr>
                                <m:t>𝑐</m:t>
                              </m:r>
                              <m:r>
                                <a:rPr kumimoji="1" lang="en-US" altLang="zh-CN" sz="2400" i="1">
                                  <a:solidFill>
                                    <a:schemeClr val="tx1"/>
                                  </a:solidFill>
                                  <a:latin typeface="Cambria Math" panose="02040503050406030204" pitchFamily="18" charset="0"/>
                                  <a:cs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cs typeface="Cambria Math" panose="02040503050406030204" pitchFamily="18" charset="0"/>
                                    </a:rPr>
                                    <m:t>𝑓</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e>
                          </m:eqArr>
                        </m:e>
                      </m:d>
                    </m:oMath>
                  </m:oMathPara>
                </a14:m>
                <a:endParaRPr lang="zh-CN" altLang="en-US" sz="2400"/>
              </a:p>
            </p:txBody>
          </p:sp>
        </mc:Choice>
        <mc:Fallback xmlns="">
          <p:sp>
            <p:nvSpPr>
              <p:cNvPr id="7" name="文本框 6"/>
              <p:cNvSpPr txBox="1">
                <a:spLocks noRot="1" noChangeAspect="1" noMove="1" noResize="1" noEditPoints="1" noAdjustHandles="1" noChangeArrowheads="1" noChangeShapeType="1" noTextEdit="1"/>
              </p:cNvSpPr>
              <p:nvPr/>
            </p:nvSpPr>
            <p:spPr>
              <a:xfrm>
                <a:off x="3287395" y="1412240"/>
                <a:ext cx="4176395" cy="1316355"/>
              </a:xfrm>
              <a:prstGeom prst="rect">
                <a:avLst/>
              </a:prstGeom>
              <a:blipFill rotWithShape="1">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2351405" y="2708910"/>
                <a:ext cx="8041005" cy="4286250"/>
              </a:xfrm>
              <a:prstGeom prst="rect">
                <a:avLst/>
              </a:prstGeom>
              <a:noFill/>
            </p:spPr>
            <p:txBody>
              <a:bodyPr wrap="square" rtlCol="0">
                <a:spAutoFit/>
              </a:bodyPr>
              <a:lstStyle/>
              <a:p>
                <a:pPr fontAlgn="auto">
                  <a:lnSpc>
                    <a:spcPct val="150000"/>
                  </a:lnSpc>
                </a:pPr>
                <a:r>
                  <a:rPr lang="zh-CN" altLang="en-US" sz="2400">
                    <a:latin typeface="宋体" panose="02010600030101010101" pitchFamily="2" charset="-122"/>
                    <a:ea typeface="宋体" panose="02010600030101010101" pitchFamily="2" charset="-122"/>
                    <a:cs typeface="宋体" panose="02010600030101010101" pitchFamily="2" charset="-122"/>
                  </a:rPr>
                  <a:t>消去</a:t>
                </a:r>
                <a14:m>
                  <m:oMath xmlns:m="http://schemas.openxmlformats.org/officeDocument/2006/math">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𝑐</m:t>
                    </m:r>
                  </m:oMath>
                </a14:m>
                <a:r>
                  <a:rPr kumimoji="1" lang="zh-CN" altLang="en-US" sz="2400">
                    <a:solidFill>
                      <a:schemeClr val="tx1"/>
                    </a:solidFill>
                    <a:latin typeface="宋体" panose="02010600030101010101" pitchFamily="2" charset="-122"/>
                    <a:ea typeface="宋体" panose="02010600030101010101" pitchFamily="2" charset="-122"/>
                    <a:cs typeface="Cambria Math" panose="02040503050406030204" pitchFamily="18" charset="0"/>
                  </a:rPr>
                  <a:t>，得</a:t>
                </a:r>
                <a:r>
                  <a:rPr kumimoji="1" lang="en-US" altLang="zh-CN">
                    <a:solidFill>
                      <a:schemeClr val="tx1"/>
                    </a:solidFill>
                    <a:latin typeface="宋体" panose="02010600030101010101" pitchFamily="2" charset="-122"/>
                    <a:ea typeface="宋体" panose="02010600030101010101" pitchFamily="2" charset="-122"/>
                    <a:cs typeface="Cambria Math" panose="02040503050406030204" pitchFamily="18" charset="0"/>
                  </a:rPr>
                  <a:t>          </a:t>
                </a:r>
              </a:p>
              <a:p>
                <a:pPr fontAlgn="auto">
                  <a:lnSpc>
                    <a:spcPct val="150000"/>
                  </a:lnSpc>
                </a:pPr>
                <a:r>
                  <a:rPr kumimoji="1" lang="en-US" altLang="zh-CN">
                    <a:solidFill>
                      <a:schemeClr val="tx1"/>
                    </a:solidFill>
                    <a:latin typeface="宋体" panose="02010600030101010101" pitchFamily="2" charset="-122"/>
                    <a:ea typeface="宋体" panose="02010600030101010101" pitchFamily="2" charset="-122"/>
                    <a:cs typeface="Cambria Math" panose="02040503050406030204" pitchFamily="18" charset="0"/>
                  </a:rPr>
                  <a:t>              </a:t>
                </a:r>
                <a14:m>
                  <m:oMath xmlns:m="http://schemas.openxmlformats.org/officeDocument/2006/math">
                    <m:r>
                      <a:rPr kumimoji="1" lang="en-US" altLang="zh-CN" i="1">
                        <a:solidFill>
                          <a:schemeClr val="tx1"/>
                        </a:solidFill>
                        <a:latin typeface="Cambria Math" panose="02040503050406030204" pitchFamily="18" charset="0"/>
                      </a:rPr>
                      <m:t>𝑏</m:t>
                    </m:r>
                    <m:r>
                      <a:rPr kumimoji="1" lang="en-US" altLang="zh-CN" i="1">
                        <a:solidFill>
                          <a:schemeClr val="tx1"/>
                        </a:solidFill>
                        <a:latin typeface="Cambria Math" panose="02040503050406030204" pitchFamily="18" charset="0"/>
                      </a:rPr>
                      <m:t>=</m:t>
                    </m:r>
                    <m:f>
                      <m:fPr>
                        <m:ctrlPr>
                          <a:rPr kumimoji="1" lang="en-US" altLang="zh-CN" i="1">
                            <a:solidFill>
                              <a:schemeClr val="tx1"/>
                            </a:solidFill>
                            <a:latin typeface="Cambria Math" panose="02040503050406030204" pitchFamily="18" charset="0"/>
                            <a:cs typeface="Cambria Math" panose="02040503050406030204" pitchFamily="18" charset="0"/>
                          </a:rPr>
                        </m:ctrlPr>
                      </m:fPr>
                      <m:num>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rPr>
                          <m:t>)+</m:t>
                        </m:r>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rPr>
                          <m:t>)+</m:t>
                        </m:r>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rPr>
                          <m:t>)</m:t>
                        </m:r>
                      </m:num>
                      <m:den>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cs typeface="Cambria Math" panose="02040503050406030204" pitchFamily="18" charset="0"/>
                          </a:rPr>
                          <m:t>)</m:t>
                        </m:r>
                      </m:den>
                    </m:f>
                  </m:oMath>
                </a14:m>
                <a:r>
                  <a:rPr kumimoji="1" lang="en-US" altLang="zh-CN">
                    <a:solidFill>
                      <a:schemeClr val="tx1"/>
                    </a:solidFill>
                    <a:latin typeface="宋体" panose="02010600030101010101" pitchFamily="2" charset="-122"/>
                    <a:ea typeface="宋体" panose="02010600030101010101" pitchFamily="2" charset="-122"/>
                    <a:cs typeface="Cambria Math" panose="02040503050406030204" pitchFamily="18" charset="0"/>
                  </a:rPr>
                  <a:t> </a:t>
                </a:r>
              </a:p>
              <a:p>
                <a:pPr fontAlgn="auto">
                  <a:lnSpc>
                    <a:spcPct val="150000"/>
                  </a:lnSpc>
                </a:pPr>
                <a:r>
                  <a:rPr kumimoji="1" lang="en-US" altLang="zh-CN">
                    <a:solidFill>
                      <a:schemeClr val="tx1"/>
                    </a:solidFill>
                    <a:latin typeface="宋体" panose="02010600030101010101" pitchFamily="2" charset="-122"/>
                    <a:ea typeface="宋体" panose="02010600030101010101" pitchFamily="2" charset="-122"/>
                    <a:cs typeface="Cambria Math" panose="02040503050406030204" pitchFamily="18" charset="0"/>
                  </a:rPr>
                  <a:t>              </a:t>
                </a:r>
                <a14:m>
                  <m:oMath xmlns:m="http://schemas.openxmlformats.org/officeDocument/2006/math">
                    <m:r>
                      <a:rPr kumimoji="1" lang="en-US" altLang="zh-CN" i="1">
                        <a:solidFill>
                          <a:schemeClr val="tx1"/>
                        </a:solidFill>
                        <a:latin typeface="Cambria Math" panose="02040503050406030204" pitchFamily="18" charset="0"/>
                      </a:rPr>
                      <m:t>𝑎</m:t>
                    </m:r>
                    <m:r>
                      <a:rPr kumimoji="1" lang="en-US" altLang="zh-CN" i="1">
                        <a:solidFill>
                          <a:schemeClr val="tx1"/>
                        </a:solidFill>
                        <a:latin typeface="Cambria Math" panose="02040503050406030204" pitchFamily="18" charset="0"/>
                      </a:rPr>
                      <m:t>=−</m:t>
                    </m:r>
                    <m:f>
                      <m:fPr>
                        <m:ctrlPr>
                          <a:rPr kumimoji="1" lang="en-US" altLang="zh-CN" i="1">
                            <a:solidFill>
                              <a:schemeClr val="tx1"/>
                            </a:solidFill>
                            <a:latin typeface="Cambria Math" panose="02040503050406030204" pitchFamily="18" charset="0"/>
                            <a:cs typeface="Cambria Math" panose="02040503050406030204" pitchFamily="18" charset="0"/>
                          </a:rPr>
                        </m:ctrlPr>
                      </m:fPr>
                      <m:num>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rPr>
                          <m:t>)+</m:t>
                        </m:r>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rPr>
                          <m:t>)+</m:t>
                        </m:r>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rPr>
                          <m:t>)</m:t>
                        </m:r>
                      </m:num>
                      <m:den>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cs typeface="Cambria Math" panose="02040503050406030204" pitchFamily="18" charset="0"/>
                          </a:rPr>
                          <m:t>)</m:t>
                        </m:r>
                      </m:den>
                    </m:f>
                  </m:oMath>
                </a14:m>
                <a:r>
                  <a:rPr kumimoji="1" lang="en-US" altLang="zh-CN">
                    <a:solidFill>
                      <a:schemeClr val="tx1"/>
                    </a:solidFill>
                    <a:latin typeface="宋体" panose="02010600030101010101" pitchFamily="2" charset="-122"/>
                    <a:ea typeface="宋体" panose="02010600030101010101" pitchFamily="2" charset="-122"/>
                    <a:cs typeface="Cambria Math" panose="02040503050406030204" pitchFamily="18" charset="0"/>
                  </a:rPr>
                  <a:t> </a:t>
                </a:r>
              </a:p>
              <a:p>
                <a:pPr fontAlgn="auto">
                  <a:lnSpc>
                    <a:spcPct val="150000"/>
                  </a:lnSpc>
                </a:pPr>
                <a:r>
                  <a:rPr kumimoji="1"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记</a:t>
                </a:r>
                <a14:m>
                  <m:oMath xmlns:m="http://schemas.openxmlformats.org/officeDocument/2006/math">
                    <m:r>
                      <a:rPr kumimoji="1" lang="zh-CN" altLang="en-US" sz="2400" i="1" smtClean="0">
                        <a:solidFill>
                          <a:schemeClr val="tx1"/>
                        </a:solidFill>
                        <a:latin typeface="Cambria Math" panose="02040503050406030204" pitchFamily="18" charset="0"/>
                        <a:ea typeface="MS Mincho" panose="02020609040205080304" charset="-128"/>
                        <a:cs typeface="Cambria Math" panose="02040503050406030204" pitchFamily="18" charset="0"/>
                      </a:rPr>
                      <m:t>𝜑</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kumimoji="1"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的驻点</a:t>
                </a:r>
              </a:p>
              <a:p>
                <a:pPr fontAlgn="auto">
                  <a:lnSpc>
                    <a:spcPct val="150000"/>
                  </a:lnSpc>
                </a:pPr>
                <a14:m>
                  <m:oMathPara xmlns:m="http://schemas.openxmlformats.org/officeDocument/2006/math">
                    <m:oMathParaPr>
                      <m:jc m:val="left"/>
                    </m:oMathParaPr>
                    <m:oMath xmlns:m="http://schemas.openxmlformats.org/officeDocument/2006/math">
                      <m:sSub>
                        <m:sSubPr>
                          <m:ctrlPr>
                            <a:rPr kumimoji="1" lang="zh-CN" altLang="en-US" i="1" smtClean="0">
                              <a:solidFill>
                                <a:schemeClr val="tx1"/>
                              </a:solidFill>
                              <a:latin typeface="Cambria Math" panose="02040503050406030204" pitchFamily="18" charset="0"/>
                              <a:cs typeface="Cambria Math" panose="02040503050406030204" pitchFamily="18" charset="0"/>
                            </a:rPr>
                          </m:ctrlPr>
                        </m:sSubPr>
                        <m:e>
                          <m:r>
                            <a:rPr kumimoji="1" lang="en-US" altLang="zh-CN" i="1" smtClean="0">
                              <a:solidFill>
                                <a:schemeClr val="tx1"/>
                              </a:solidFill>
                              <a:latin typeface="Cambria Math" panose="02040503050406030204" pitchFamily="18" charset="0"/>
                              <a:cs typeface="Cambria Math" panose="02040503050406030204" pitchFamily="18" charset="0"/>
                            </a:rPr>
                            <m:t>𝑥</m:t>
                          </m:r>
                        </m:e>
                        <m:sub>
                          <m:r>
                            <a:rPr kumimoji="1" lang="en-US" altLang="zh-CN" i="1" smtClean="0">
                              <a:solidFill>
                                <a:schemeClr val="tx1"/>
                              </a:solidFill>
                              <a:latin typeface="Cambria Math" panose="02040503050406030204" pitchFamily="18" charset="0"/>
                              <a:cs typeface="Cambria Math" panose="02040503050406030204" pitchFamily="18" charset="0"/>
                            </a:rPr>
                            <m:t>𝑘</m:t>
                          </m:r>
                        </m:sub>
                      </m:sSub>
                      <m:r>
                        <a:rPr kumimoji="1" lang="en-US" altLang="zh-CN" i="1" smtClean="0">
                          <a:solidFill>
                            <a:schemeClr val="tx1"/>
                          </a:solidFill>
                          <a:latin typeface="Cambria Math" panose="02040503050406030204" pitchFamily="18" charset="0"/>
                          <a:cs typeface="Cambria Math" panose="02040503050406030204" pitchFamily="18" charset="0"/>
                        </a:rPr>
                        <m:t>=−</m:t>
                      </m:r>
                      <m:f>
                        <m:fPr>
                          <m:ctrlPr>
                            <a:rPr kumimoji="1" lang="en-US" altLang="zh-CN" i="1" smtClean="0">
                              <a:solidFill>
                                <a:schemeClr val="tx1"/>
                              </a:solidFill>
                              <a:latin typeface="Cambria Math" panose="02040503050406030204" pitchFamily="18" charset="0"/>
                              <a:cs typeface="Cambria Math" panose="02040503050406030204" pitchFamily="18" charset="0"/>
                            </a:rPr>
                          </m:ctrlPr>
                        </m:fPr>
                        <m:num>
                          <m:r>
                            <a:rPr kumimoji="1" lang="en-US" altLang="zh-CN" i="1" smtClean="0">
                              <a:solidFill>
                                <a:schemeClr val="tx1"/>
                              </a:solidFill>
                              <a:latin typeface="Cambria Math" panose="02040503050406030204" pitchFamily="18" charset="0"/>
                              <a:cs typeface="Cambria Math" panose="02040503050406030204" pitchFamily="18" charset="0"/>
                            </a:rPr>
                            <m:t>𝑏</m:t>
                          </m:r>
                        </m:num>
                        <m:den>
                          <m:r>
                            <a:rPr kumimoji="1" lang="en-US" altLang="zh-CN" i="1" smtClean="0">
                              <a:solidFill>
                                <a:schemeClr val="tx1"/>
                              </a:solidFill>
                              <a:latin typeface="Cambria Math" panose="02040503050406030204" pitchFamily="18" charset="0"/>
                              <a:cs typeface="Cambria Math" panose="02040503050406030204" pitchFamily="18" charset="0"/>
                            </a:rPr>
                            <m:t>2</m:t>
                          </m:r>
                          <m:r>
                            <a:rPr kumimoji="1" lang="en-US" altLang="zh-CN" i="1" smtClean="0">
                              <a:solidFill>
                                <a:schemeClr val="tx1"/>
                              </a:solidFill>
                              <a:latin typeface="Cambria Math" panose="02040503050406030204" pitchFamily="18" charset="0"/>
                              <a:cs typeface="Cambria Math" panose="02040503050406030204" pitchFamily="18" charset="0"/>
                            </a:rPr>
                            <m:t>𝑎</m:t>
                          </m:r>
                        </m:den>
                      </m:f>
                      <m:r>
                        <a:rPr kumimoji="1" lang="en-US" altLang="zh-CN" i="1" smtClean="0">
                          <a:solidFill>
                            <a:schemeClr val="tx1"/>
                          </a:solidFill>
                          <a:latin typeface="Cambria Math" panose="02040503050406030204" pitchFamily="18" charset="0"/>
                          <a:cs typeface="Cambria Math" panose="02040503050406030204" pitchFamily="18" charset="0"/>
                        </a:rPr>
                        <m:t>=</m:t>
                      </m:r>
                      <m:f>
                        <m:fPr>
                          <m:ctrlPr>
                            <a:rPr kumimoji="1" lang="en-US" altLang="zh-CN" i="1" smtClean="0">
                              <a:solidFill>
                                <a:schemeClr val="tx1"/>
                              </a:solidFill>
                              <a:latin typeface="Cambria Math" panose="02040503050406030204" pitchFamily="18" charset="0"/>
                              <a:cs typeface="Cambria Math" panose="02040503050406030204" pitchFamily="18" charset="0"/>
                            </a:rPr>
                          </m:ctrlPr>
                        </m:fPr>
                        <m:num>
                          <m:r>
                            <a:rPr kumimoji="1" lang="en-US" altLang="zh-CN" i="1" smtClean="0">
                              <a:solidFill>
                                <a:schemeClr val="tx1"/>
                              </a:solidFill>
                              <a:latin typeface="Cambria Math" panose="02040503050406030204" pitchFamily="18" charset="0"/>
                              <a:cs typeface="Cambria Math" panose="02040503050406030204" pitchFamily="18" charset="0"/>
                            </a:rPr>
                            <m:t>1</m:t>
                          </m:r>
                        </m:num>
                        <m:den>
                          <m:r>
                            <a:rPr kumimoji="1" lang="en-US" altLang="zh-CN" i="1" smtClean="0">
                              <a:solidFill>
                                <a:schemeClr val="tx1"/>
                              </a:solidFill>
                              <a:latin typeface="Cambria Math" panose="02040503050406030204" pitchFamily="18" charset="0"/>
                              <a:cs typeface="Cambria Math" panose="02040503050406030204" pitchFamily="18" charset="0"/>
                            </a:rPr>
                            <m:t>2</m:t>
                          </m:r>
                        </m:den>
                      </m:f>
                      <m:r>
                        <a:rPr kumimoji="1" lang="en-US" altLang="zh-CN" i="1" smtClean="0">
                          <a:solidFill>
                            <a:schemeClr val="tx1"/>
                          </a:solidFill>
                          <a:latin typeface="Cambria Math" panose="02040503050406030204" pitchFamily="18" charset="0"/>
                          <a:cs typeface="Cambria Math" panose="02040503050406030204" pitchFamily="18" charset="0"/>
                        </a:rPr>
                        <m:t>∙</m:t>
                      </m:r>
                      <m:f>
                        <m:fPr>
                          <m:ctrlPr>
                            <a:rPr kumimoji="1" lang="en-US" altLang="zh-CN" i="1">
                              <a:solidFill>
                                <a:schemeClr val="tx1"/>
                              </a:solidFill>
                              <a:latin typeface="Cambria Math" panose="02040503050406030204" pitchFamily="18" charset="0"/>
                              <a:cs typeface="Cambria Math" panose="02040503050406030204" pitchFamily="18" charset="0"/>
                            </a:rPr>
                          </m:ctrlPr>
                        </m:fPr>
                        <m:num>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rPr>
                            <m:t>)+</m:t>
                          </m:r>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rPr>
                            <m:t>)+</m:t>
                          </m:r>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sSubSup>
                            <m:sSubSupPr>
                              <m:ctrlPr>
                                <a:rPr kumimoji="1" lang="en-US" altLang="zh-CN" i="1">
                                  <a:solidFill>
                                    <a:schemeClr val="tx1"/>
                                  </a:solidFill>
                                  <a:latin typeface="Cambria Math" panose="02040503050406030204" pitchFamily="18" charset="0"/>
                                  <a:cs typeface="Cambria Math" panose="02040503050406030204" pitchFamily="18" charset="0"/>
                                </a:rPr>
                              </m:ctrlPr>
                            </m:sSubSup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up>
                              <m:r>
                                <a:rPr kumimoji="1" lang="en-US" altLang="zh-CN" i="1">
                                  <a:solidFill>
                                    <a:schemeClr val="tx1"/>
                                  </a:solidFill>
                                  <a:latin typeface="Cambria Math" panose="02040503050406030204" pitchFamily="18" charset="0"/>
                                  <a:cs typeface="Cambria Math" panose="02040503050406030204" pitchFamily="18" charset="0"/>
                                </a:rPr>
                                <m:t>2</m:t>
                              </m:r>
                            </m:sup>
                          </m:sSubSup>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rPr>
                            <m:t>)</m:t>
                          </m:r>
                        </m:num>
                        <m:den>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rPr>
                            <m:t>)+</m:t>
                          </m:r>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rPr>
                            <m:t>)+</m:t>
                          </m:r>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1</m:t>
                              </m:r>
                            </m:sub>
                          </m:sSub>
                          <m:r>
                            <a:rPr kumimoji="1" lang="en-US" altLang="zh-CN" i="1">
                              <a:solidFill>
                                <a:schemeClr val="tx1"/>
                              </a:solidFill>
                              <a:latin typeface="Cambria Math" panose="02040503050406030204" pitchFamily="18" charset="0"/>
                              <a:cs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cs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2</m:t>
                              </m:r>
                            </m:sub>
                          </m:sSub>
                          <m:r>
                            <a:rPr kumimoji="1" lang="en-US" altLang="zh-CN" i="1">
                              <a:solidFill>
                                <a:schemeClr val="tx1"/>
                              </a:solidFill>
                              <a:latin typeface="Cambria Math" panose="02040503050406030204" pitchFamily="18" charset="0"/>
                              <a:cs typeface="Cambria Math" panose="02040503050406030204" pitchFamily="18" charset="0"/>
                            </a:rPr>
                            <m:t>)</m:t>
                          </m:r>
                          <m:r>
                            <a:rPr kumimoji="1" lang="en-US" altLang="zh-CN" i="1" smtClean="0">
                              <a:solidFill>
                                <a:schemeClr val="tx1"/>
                              </a:solidFill>
                              <a:latin typeface="Cambria Math" panose="02040503050406030204" pitchFamily="18" charset="0"/>
                            </a:rPr>
                            <m:t>𝑓</m:t>
                          </m:r>
                          <m:r>
                            <a:rPr kumimoji="1" lang="en-US" altLang="zh-CN" i="1">
                              <a:solidFill>
                                <a:schemeClr val="tx1"/>
                              </a:solidFill>
                              <a:latin typeface="Cambria Math" panose="02040503050406030204" pitchFamily="18" charset="0"/>
                            </a:rPr>
                            <m:t>(</m:t>
                          </m:r>
                          <m:sSub>
                            <m:sSubPr>
                              <m:ctrlPr>
                                <a:rPr kumimoji="1" lang="en-US" altLang="zh-CN" i="1">
                                  <a:solidFill>
                                    <a:schemeClr val="tx1"/>
                                  </a:solidFill>
                                  <a:latin typeface="Cambria Math" panose="02040503050406030204" pitchFamily="18" charset="0"/>
                                  <a:cs typeface="Cambria Math" panose="02040503050406030204" pitchFamily="18" charset="0"/>
                                </a:rPr>
                              </m:ctrlPr>
                            </m:sSubPr>
                            <m:e>
                              <m:r>
                                <a:rPr kumimoji="1" lang="en-US" altLang="zh-CN" i="1">
                                  <a:solidFill>
                                    <a:schemeClr val="tx1"/>
                                  </a:solidFill>
                                  <a:latin typeface="Cambria Math" panose="02040503050406030204" pitchFamily="18" charset="0"/>
                                </a:rPr>
                                <m:t>𝑥</m:t>
                              </m:r>
                            </m:e>
                            <m:sub>
                              <m:r>
                                <a:rPr kumimoji="1" lang="en-US" altLang="zh-CN" i="1">
                                  <a:solidFill>
                                    <a:schemeClr val="tx1"/>
                                  </a:solidFill>
                                  <a:latin typeface="Cambria Math" panose="02040503050406030204" pitchFamily="18" charset="0"/>
                                  <a:cs typeface="Cambria Math" panose="02040503050406030204" pitchFamily="18" charset="0"/>
                                </a:rPr>
                                <m:t>3</m:t>
                              </m:r>
                            </m:sub>
                          </m:sSub>
                          <m:r>
                            <a:rPr kumimoji="1" lang="en-US" altLang="zh-CN" i="1">
                              <a:solidFill>
                                <a:schemeClr val="tx1"/>
                              </a:solidFill>
                              <a:latin typeface="Cambria Math" panose="02040503050406030204" pitchFamily="18" charset="0"/>
                            </a:rPr>
                            <m:t>)</m:t>
                          </m:r>
                        </m:den>
                      </m:f>
                    </m:oMath>
                  </m:oMathPara>
                </a14:m>
                <a:endParaRPr kumimoji="1" lang="en-US" altLang="zh-CN" i="1">
                  <a:solidFill>
                    <a:schemeClr val="tx1"/>
                  </a:solidFill>
                  <a:latin typeface="Cambria Math" panose="02040503050406030204" pitchFamily="18" charset="0"/>
                  <a:cs typeface="Cambria Math" panose="02040503050406030204" pitchFamily="18" charset="0"/>
                </a:endParaRPr>
              </a:p>
              <a:p>
                <a:pPr fontAlgn="auto">
                  <a:lnSpc>
                    <a:spcPct val="150000"/>
                  </a:lnSpc>
                </a:pPr>
                <a:r>
                  <a:rPr kumimoji="1"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作为</a:t>
                </a:r>
                <a14:m>
                  <m:oMath xmlns:m="http://schemas.openxmlformats.org/officeDocument/2006/math">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kumimoji="1" lang="zh-CN" altLang="en-US" sz="2400">
                    <a:solidFill>
                      <a:schemeClr val="tx1"/>
                    </a:solidFill>
                    <a:latin typeface="宋体" panose="02010600030101010101" pitchFamily="2" charset="-122"/>
                    <a:ea typeface="宋体" panose="02010600030101010101" pitchFamily="2" charset="-122"/>
                    <a:cs typeface="宋体" panose="02010600030101010101" pitchFamily="2" charset="-122"/>
                  </a:rPr>
                  <a:t>极小点的一个估计值。</a:t>
                </a:r>
                <a:r>
                  <a:rPr kumimoji="1" lang="en-US" altLang="zh-CN">
                    <a:solidFill>
                      <a:schemeClr val="tx1"/>
                    </a:solidFill>
                    <a:latin typeface="宋体" panose="02010600030101010101" pitchFamily="2" charset="-122"/>
                    <a:ea typeface="宋体" panose="02010600030101010101" pitchFamily="2" charset="-122"/>
                    <a:cs typeface="Cambria Math" panose="02040503050406030204" pitchFamily="18" charset="0"/>
                  </a:rPr>
                  <a:t> </a:t>
                </a:r>
              </a:p>
              <a:p>
                <a:r>
                  <a:rPr kumimoji="1" lang="en-US" altLang="zh-CN">
                    <a:solidFill>
                      <a:schemeClr val="tx1"/>
                    </a:solidFill>
                    <a:latin typeface="宋体" panose="02010600030101010101" pitchFamily="2" charset="-122"/>
                    <a:ea typeface="宋体" panose="02010600030101010101" pitchFamily="2" charset="-122"/>
                    <a:cs typeface="Cambria Math" panose="02040503050406030204" pitchFamily="18" charset="0"/>
                  </a:rPr>
                  <a:t>               </a:t>
                </a:r>
              </a:p>
            </p:txBody>
          </p:sp>
        </mc:Choice>
        <mc:Fallback xmlns="">
          <p:sp>
            <p:nvSpPr>
              <p:cNvPr id="8" name="文本框 7"/>
              <p:cNvSpPr txBox="1">
                <a:spLocks noRot="1" noChangeAspect="1" noMove="1" noResize="1" noEditPoints="1" noAdjustHandles="1" noChangeArrowheads="1" noChangeShapeType="1" noTextEdit="1"/>
              </p:cNvSpPr>
              <p:nvPr/>
            </p:nvSpPr>
            <p:spPr>
              <a:xfrm>
                <a:off x="2351405" y="2708910"/>
                <a:ext cx="8041005" cy="4286250"/>
              </a:xfrm>
              <a:prstGeom prst="rect">
                <a:avLst/>
              </a:prstGeom>
              <a:blipFill rotWithShape="1">
                <a:blip r:embed="rId3"/>
                <a:stretch>
                  <a:fillRect/>
                </a:stretch>
              </a:blipFill>
            </p:spPr>
            <p:txBody>
              <a:bodyPr/>
              <a:lstStyle/>
              <a:p>
                <a:r>
                  <a:rPr lang="zh-CN" altLang="en-US">
                    <a:noFill/>
                  </a:rPr>
                  <a:t> </a:t>
                </a:r>
              </a:p>
            </p:txBody>
          </p:sp>
        </mc:Fallback>
      </mc:AlternateContent>
    </p:spTree>
  </p:cSld>
  <p:clrMapOvr>
    <a:masterClrMapping/>
  </p:clrMapOvr>
  <p:transition>
    <p:random/>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1302484" y="1124744"/>
                <a:ext cx="9834076" cy="3970020"/>
              </a:xfrm>
              <a:prstGeom prst="rect">
                <a:avLst/>
              </a:prstGeom>
              <a:noFill/>
            </p:spPr>
            <p:txBody>
              <a:bodyPr wrap="square" rtlCol="0">
                <a:spAutoFit/>
              </a:bodyPr>
              <a:lstStyle/>
              <a:p>
                <a:pPr algn="just" fontAlgn="auto">
                  <a:lnSpc>
                    <a:spcPct val="150000"/>
                  </a:lnSpc>
                </a:pPr>
                <a:r>
                  <a:rPr lang="en-US" altLang="zh-CN" sz="2400" dirty="0">
                    <a:latin typeface="宋体" panose="02010600030101010101" pitchFamily="2" charset="-122"/>
                    <a:ea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求出</a:t>
                </a:r>
                <a14:m>
                  <m:oMath xmlns:m="http://schemas.openxmlformats.org/officeDocument/2006/math">
                    <m:sSub>
                      <m:sSubPr>
                        <m:ctrlPr>
                          <a:rPr kumimoji="1" lang="zh-CN" altLang="en-US" sz="2400" i="1" smtClean="0">
                            <a:solidFill>
                              <a:schemeClr val="tx1"/>
                            </a:solidFill>
                            <a:latin typeface="Cambria Math" panose="02040503050406030204" pitchFamily="18" charset="0"/>
                            <a:cs typeface="Cambria Math" panose="02040503050406030204" pitchFamily="18" charset="0"/>
                          </a:rPr>
                        </m:ctrlPr>
                      </m:sSubPr>
                      <m:e>
                        <m:r>
                          <a:rPr kumimoji="1" lang="en-US" altLang="zh-CN" sz="2400" i="1" smtClean="0">
                            <a:solidFill>
                              <a:schemeClr val="tx1"/>
                            </a:solidFill>
                            <a:latin typeface="Cambria Math" panose="02040503050406030204" pitchFamily="18" charset="0"/>
                            <a:cs typeface="Cambria Math" panose="02040503050406030204" pitchFamily="18" charset="0"/>
                          </a:rPr>
                          <m:t>𝑥</m:t>
                        </m:r>
                      </m:e>
                      <m:sub>
                        <m:r>
                          <a:rPr kumimoji="1" lang="en-US" altLang="zh-CN" sz="2400" i="1" smtClean="0">
                            <a:solidFill>
                              <a:schemeClr val="tx1"/>
                            </a:solidFill>
                            <a:latin typeface="Cambria Math" panose="02040503050406030204" pitchFamily="18" charset="0"/>
                            <a:cs typeface="Cambria Math" panose="02040503050406030204" pitchFamily="18" charset="0"/>
                          </a:rPr>
                          <m:t>𝑘</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以后，从</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lang="zh-CN" altLang="en-US" sz="2400">
                        <a:latin typeface="Cambria Math" panose="02040503050406030204" pitchFamily="18" charset="0"/>
                        <a:ea typeface="宋体" panose="02010600030101010101" pitchFamily="2" charset="-122"/>
                        <a:cs typeface="宋体" panose="02010600030101010101" pitchFamily="2" charset="-122"/>
                        <a:sym typeface="+mn-ea"/>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r>
                          <a:rPr lang="zh-CN" altLang="en-US" sz="2400">
                            <a:latin typeface="Cambria Math" panose="02040503050406030204" pitchFamily="18" charset="0"/>
                            <a:ea typeface="宋体" panose="02010600030101010101" pitchFamily="2" charset="-122"/>
                            <a:cs typeface="宋体" panose="02010600030101010101" pitchFamily="2" charset="-122"/>
                            <a:sym typeface="+mn-ea"/>
                          </a:rPr>
                          <m:t>、</m:t>
                        </m:r>
                      </m:sub>
                    </m:sSub>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zh-CN" altLang="en-US" sz="2400" i="1" smtClean="0">
                            <a:solidFill>
                              <a:schemeClr val="tx1"/>
                            </a:solidFill>
                            <a:latin typeface="Cambria Math" panose="02040503050406030204" pitchFamily="18" charset="0"/>
                            <a:cs typeface="Cambria Math" panose="02040503050406030204" pitchFamily="18" charset="0"/>
                          </a:rPr>
                        </m:ctrlPr>
                      </m:sSubPr>
                      <m:e>
                        <m:r>
                          <a:rPr kumimoji="1" lang="en-US" altLang="zh-CN" sz="2400" i="1" smtClean="0">
                            <a:solidFill>
                              <a:schemeClr val="tx1"/>
                            </a:solidFill>
                            <a:latin typeface="Cambria Math" panose="02040503050406030204" pitchFamily="18" charset="0"/>
                            <a:cs typeface="Cambria Math" panose="02040503050406030204" pitchFamily="18" charset="0"/>
                          </a:rPr>
                          <m:t>𝑥</m:t>
                        </m:r>
                      </m:e>
                      <m:sub>
                        <m:r>
                          <a:rPr kumimoji="1" lang="en-US" altLang="zh-CN" sz="2400" i="1" smtClean="0">
                            <a:solidFill>
                              <a:schemeClr val="tx1"/>
                            </a:solidFill>
                            <a:latin typeface="Cambria Math" panose="02040503050406030204" pitchFamily="18" charset="0"/>
                            <a:cs typeface="Cambria Math" panose="02040503050406030204" pitchFamily="18" charset="0"/>
                          </a:rPr>
                          <m:t>𝑘</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中选择目标函数值最小的点（实际上只要比较</a:t>
                </a:r>
                <a14:m>
                  <m:oMath xmlns:m="http://schemas.openxmlformats.org/officeDocument/2006/math">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𝑘</m:t>
                        </m:r>
                      </m:sub>
                    </m:sSub>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即可，</a:t>
                </a:r>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rPr>
                  <a:t>想一想，为什么？</a:t>
                </a:r>
                <a:r>
                  <a:rPr lang="zh-CN" altLang="en-US" sz="2400" dirty="0">
                    <a:latin typeface="宋体" panose="02010600030101010101" pitchFamily="2" charset="-122"/>
                    <a:ea typeface="宋体" panose="02010600030101010101" pitchFamily="2" charset="-122"/>
                    <a:cs typeface="宋体" panose="02010600030101010101" pitchFamily="2" charset="-122"/>
                  </a:rPr>
                  <a:t>）及其左、右两个邻点，令其中目标函数值最小的点为新的</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，其左右两个邻点分别为新的</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，这样就得到新的“两头大中间小”的极小化框架（注意：新三点中</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1</m:t>
                        </m:r>
                      </m:sub>
                    </m:sSub>
                    <m:r>
                      <a:rPr lang="zh-CN" sz="2400">
                        <a:latin typeface="Cambria Math" panose="02040503050406030204" pitchFamily="18" charset="0"/>
                        <a:ea typeface="宋体" panose="02010600030101010101" pitchFamily="2" charset="-122"/>
                        <a:cs typeface="Cambria Math" panose="02040503050406030204" pitchFamily="18" charset="0"/>
                      </a:rPr>
                      <m:t>和</m:t>
                    </m:r>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3</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之间的距离变小了），然后开始新的二次多项式插值，求出新的估计值</a:t>
                </a:r>
                <a14:m>
                  <m:oMath xmlns:m="http://schemas.openxmlformats.org/officeDocument/2006/math">
                    <m:sSub>
                      <m:sSubPr>
                        <m:ctrlPr>
                          <a:rPr kumimoji="1" lang="en-US" altLang="zh-CN" sz="2400" i="1">
                            <a:solidFill>
                              <a:schemeClr val="tx1"/>
                            </a:solidFill>
                            <a:latin typeface="Cambria Math" panose="02040503050406030204" pitchFamily="18" charset="0"/>
                            <a:cs typeface="Cambria Math" panose="02040503050406030204" pitchFamily="18" charset="0"/>
                          </a:rPr>
                        </m:ctrlPr>
                      </m:sSubPr>
                      <m:e>
                        <m:r>
                          <a:rPr kumimoji="1" lang="en-US" altLang="zh-CN" sz="2400" i="1">
                            <a:solidFill>
                              <a:schemeClr val="tx1"/>
                            </a:solidFill>
                            <a:latin typeface="Cambria Math" panose="02040503050406030204" pitchFamily="18" charset="0"/>
                          </a:rPr>
                          <m:t>𝑥</m:t>
                        </m:r>
                      </m:e>
                      <m:sub>
                        <m:r>
                          <a:rPr kumimoji="1" lang="en-US" altLang="zh-CN" sz="2400" i="1">
                            <a:solidFill>
                              <a:schemeClr val="tx1"/>
                            </a:solidFill>
                            <a:latin typeface="Cambria Math" panose="02040503050406030204" pitchFamily="18" charset="0"/>
                            <a:cs typeface="Cambria Math" panose="02040503050406030204" pitchFamily="18" charset="0"/>
                          </a:rPr>
                          <m:t>𝑘</m:t>
                        </m:r>
                        <m:r>
                          <a:rPr kumimoji="1" lang="en-US" altLang="zh-CN" sz="2400" i="1">
                            <a:solidFill>
                              <a:schemeClr val="tx1"/>
                            </a:solidFill>
                            <a:latin typeface="Cambria Math" panose="02040503050406030204" pitchFamily="18" charset="0"/>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…以此类推，产生一个点列，在一定条件下，这个点列收敛于</a:t>
                </a:r>
                <a14:m>
                  <m:oMath xmlns:m="http://schemas.openxmlformats.org/officeDocument/2006/math">
                    <m:r>
                      <a:rPr kumimoji="1" lang="en-US" altLang="zh-CN" sz="2400" i="1" smtClean="0">
                        <a:solidFill>
                          <a:schemeClr val="tx1"/>
                        </a:solidFill>
                        <a:latin typeface="Cambria Math" panose="02040503050406030204" pitchFamily="18" charset="0"/>
                      </a:rPr>
                      <m:t>𝑓</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的极小点。</a:t>
                </a:r>
              </a:p>
            </p:txBody>
          </p:sp>
        </mc:Choice>
        <mc:Fallback xmlns="">
          <p:sp>
            <p:nvSpPr>
              <p:cNvPr id="3" name="文本框 2"/>
              <p:cNvSpPr txBox="1">
                <a:spLocks noRot="1" noChangeAspect="1" noMove="1" noResize="1" noEditPoints="1" noAdjustHandles="1" noChangeArrowheads="1" noChangeShapeType="1" noTextEdit="1"/>
              </p:cNvSpPr>
              <p:nvPr/>
            </p:nvSpPr>
            <p:spPr>
              <a:xfrm>
                <a:off x="1302484" y="1124744"/>
                <a:ext cx="9834076" cy="3970020"/>
              </a:xfrm>
              <a:prstGeom prst="rect">
                <a:avLst/>
              </a:prstGeom>
              <a:blipFill>
                <a:blip r:embed="rId2"/>
                <a:stretch>
                  <a:fillRect l="-992" r="-930" b="-461"/>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E1015045-A4B9-4E14-1EB2-A1940C3FDD49}"/>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290" name="Text Box 2"/>
              <p:cNvSpPr txBox="1">
                <a:spLocks noChangeArrowheads="1"/>
              </p:cNvSpPr>
              <p:nvPr/>
            </p:nvSpPr>
            <p:spPr bwMode="auto">
              <a:xfrm>
                <a:off x="2022721" y="861219"/>
                <a:ext cx="7696200" cy="4603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dirty="0">
                    <a:solidFill>
                      <a:srgbClr val="0000FF"/>
                    </a:solidFill>
                    <a:latin typeface="宋体" panose="02010600030101010101" pitchFamily="2" charset="-122"/>
                    <a:cs typeface="宋体" panose="02010600030101010101" pitchFamily="2" charset="-122"/>
                  </a:rPr>
                  <a:t>在完成一次计算后，得到</a:t>
                </a:r>
                <a14:m>
                  <m:oMath xmlns:m="http://schemas.openxmlformats.org/officeDocument/2006/math">
                    <m:sSub>
                      <m:sSubPr>
                        <m:ctrlPr>
                          <a:rPr lang="zh-CN" altLang="zh-CN"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𝒌</m:t>
                        </m:r>
                      </m:sub>
                    </m:sSub>
                  </m:oMath>
                </a14:m>
                <a:r>
                  <a:rPr kumimoji="1" lang="zh-CN" altLang="en-US" dirty="0">
                    <a:solidFill>
                      <a:srgbClr val="0000FF"/>
                    </a:solidFill>
                    <a:latin typeface="宋体" panose="02010600030101010101" pitchFamily="2" charset="-122"/>
                    <a:cs typeface="宋体" panose="02010600030101010101" pitchFamily="2" charset="-122"/>
                  </a:rPr>
                  <a:t>近似</a:t>
                </a:r>
                <a14:m>
                  <m:oMath xmlns:m="http://schemas.openxmlformats.org/officeDocument/2006/math">
                    <m:r>
                      <a:rPr lang="en-US" altLang="zh-CN" i="1" kern="100">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𝑥</m:t>
                    </m:r>
                  </m:oMath>
                </a14:m>
                <a:r>
                  <a:rPr kumimoji="1" lang="en-US" altLang="zh-CN" baseline="30000" dirty="0">
                    <a:solidFill>
                      <a:srgbClr val="0000FF"/>
                    </a:solidFill>
                    <a:latin typeface="宋体" panose="02010600030101010101" pitchFamily="2" charset="-122"/>
                    <a:cs typeface="宋体" panose="02010600030101010101" pitchFamily="2" charset="-122"/>
                  </a:rPr>
                  <a:t>*</a:t>
                </a:r>
                <a:r>
                  <a:rPr kumimoji="1" lang="zh-CN" altLang="en-US" dirty="0">
                    <a:solidFill>
                      <a:srgbClr val="0000FF"/>
                    </a:solidFill>
                    <a:latin typeface="宋体" panose="02010600030101010101" pitchFamily="2" charset="-122"/>
                    <a:cs typeface="宋体" panose="02010600030101010101" pitchFamily="2" charset="-122"/>
                  </a:rPr>
                  <a:t>，</a:t>
                </a:r>
              </a:p>
            </p:txBody>
          </p:sp>
        </mc:Choice>
        <mc:Fallback>
          <p:sp>
            <p:nvSpPr>
              <p:cNvPr id="12290" name="Text Box 2"/>
              <p:cNvSpPr txBox="1">
                <a:spLocks noRot="1" noChangeAspect="1" noMove="1" noResize="1" noEditPoints="1" noAdjustHandles="1" noChangeArrowheads="1" noChangeShapeType="1" noTextEdit="1"/>
              </p:cNvSpPr>
              <p:nvPr/>
            </p:nvSpPr>
            <p:spPr bwMode="auto">
              <a:xfrm>
                <a:off x="2022721" y="861219"/>
                <a:ext cx="7696200" cy="460375"/>
              </a:xfrm>
              <a:prstGeom prst="rect">
                <a:avLst/>
              </a:prstGeom>
              <a:blipFill>
                <a:blip r:embed="rId2"/>
                <a:stretch>
                  <a:fillRect l="-1268" t="-14474" b="-250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grpSp>
        <p:nvGrpSpPr>
          <p:cNvPr id="223241" name="Group 9"/>
          <p:cNvGrpSpPr/>
          <p:nvPr/>
        </p:nvGrpSpPr>
        <p:grpSpPr bwMode="auto">
          <a:xfrm>
            <a:off x="2855913" y="2438401"/>
            <a:ext cx="6335712" cy="982663"/>
            <a:chOff x="1516" y="1536"/>
            <a:chExt cx="3769" cy="619"/>
          </a:xfrm>
        </p:grpSpPr>
        <mc:AlternateContent xmlns:mc="http://schemas.openxmlformats.org/markup-compatibility/2006" xmlns:a14="http://schemas.microsoft.com/office/drawing/2010/main">
          <mc:Choice Requires="a14">
            <p:sp>
              <p:nvSpPr>
                <p:cNvPr id="12299" name="Text Box 11"/>
                <p:cNvSpPr txBox="1">
                  <a:spLocks noChangeArrowheads="1"/>
                </p:cNvSpPr>
                <p:nvPr/>
              </p:nvSpPr>
              <p:spPr bwMode="auto">
                <a:xfrm>
                  <a:off x="4176" y="1632"/>
                  <a:ext cx="1109" cy="523"/>
                </a:xfrm>
                <a:prstGeom prst="rect">
                  <a:avLst/>
                </a:prstGeom>
                <a:solidFill>
                  <a:srgbClr val="FFFFCC"/>
                </a:solidFill>
                <a:ln w="9525">
                  <a:solidFill>
                    <a:schemeClr val="accent1"/>
                  </a:solidFill>
                  <a:miter lim="800000"/>
                </a:ln>
                <a:effectLst/>
                <a:extLst>
                  <a:ext uri="{AF507438-7753-43E0-B8FC-AC1667EBCBE1}">
                    <a14:hiddenEffects>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dirty="0">
                      <a:solidFill>
                        <a:srgbClr val="FF0000"/>
                      </a:solidFill>
                    </a:rPr>
                    <a:t>插值多项式极小点</a:t>
                  </a:r>
                  <a14:m>
                    <m:oMath xmlns:m="http://schemas.openxmlformats.org/officeDocument/2006/math">
                      <m:sSub>
                        <m:sSubPr>
                          <m:ctrlPr>
                            <a:rPr kumimoji="1" lang="en-US" altLang="zh-CN" i="1">
                              <a:solidFill>
                                <a:srgbClr val="FF0000"/>
                              </a:solidFill>
                              <a:latin typeface="Cambria Math" panose="02040503050406030204" pitchFamily="18" charset="0"/>
                              <a:cs typeface="Cambria Math" panose="02040503050406030204" pitchFamily="18" charset="0"/>
                            </a:rPr>
                          </m:ctrlPr>
                        </m:sSubPr>
                        <m:e>
                          <m:r>
                            <a:rPr kumimoji="1" lang="en-US" altLang="zh-CN" i="1">
                              <a:solidFill>
                                <a:srgbClr val="FF0000"/>
                              </a:solidFill>
                              <a:latin typeface="Cambria Math" panose="02040503050406030204" pitchFamily="18" charset="0"/>
                            </a:rPr>
                            <m:t>𝑥</m:t>
                          </m:r>
                        </m:e>
                        <m:sub>
                          <m:r>
                            <a:rPr kumimoji="1" lang="en-US" altLang="zh-CN" i="1">
                              <a:solidFill>
                                <a:srgbClr val="FF0000"/>
                              </a:solidFill>
                              <a:latin typeface="Cambria Math" panose="02040503050406030204" pitchFamily="18" charset="0"/>
                              <a:cs typeface="Cambria Math" panose="02040503050406030204" pitchFamily="18" charset="0"/>
                            </a:rPr>
                            <m:t>𝒌</m:t>
                          </m:r>
                        </m:sub>
                      </m:sSub>
                    </m:oMath>
                  </a14:m>
                  <a:r>
                    <a:rPr kumimoji="1" lang="en-US" altLang="zh-CN" dirty="0"/>
                    <a:t> </a:t>
                  </a:r>
                </a:p>
              </p:txBody>
            </p:sp>
          </mc:Choice>
          <mc:Fallback xmlns="">
            <p:sp>
              <p:nvSpPr>
                <p:cNvPr id="12299" name="Text Box 11"/>
                <p:cNvSpPr txBox="1">
                  <a:spLocks noRot="1" noChangeAspect="1" noMove="1" noResize="1" noEditPoints="1" noAdjustHandles="1" noChangeArrowheads="1" noChangeShapeType="1" noTextEdit="1"/>
                </p:cNvSpPr>
                <p:nvPr/>
              </p:nvSpPr>
              <p:spPr bwMode="auto">
                <a:xfrm>
                  <a:off x="4176" y="1632"/>
                  <a:ext cx="1109" cy="523"/>
                </a:xfrm>
                <a:prstGeom prst="rect">
                  <a:avLst/>
                </a:prstGeom>
                <a:blipFill rotWithShape="1">
                  <a:blip r:embed="rId3"/>
                </a:blip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300" name="Rectangle 13"/>
                <p:cNvSpPr>
                  <a:spLocks noChangeArrowheads="1"/>
                </p:cNvSpPr>
                <p:nvPr/>
              </p:nvSpPr>
              <p:spPr bwMode="auto">
                <a:xfrm>
                  <a:off x="1516" y="1536"/>
                  <a:ext cx="1854" cy="523"/>
                </a:xfrm>
                <a:prstGeom prst="rect">
                  <a:avLst/>
                </a:prstGeom>
                <a:solidFill>
                  <a:srgbClr val="FFFFCC"/>
                </a:solidFill>
                <a:ln w="9525">
                  <a:solidFill>
                    <a:schemeClr val="accent1"/>
                  </a:solidFill>
                  <a:miter lim="800000"/>
                </a:ln>
                <a:effectLst/>
                <a:extLst>
                  <a:ext uri="{AF507438-7753-43E0-B8FC-AC1667EBCBE1}">
                    <a14:hiddenEffects>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r>
                    <a:rPr kumimoji="1" lang="zh-CN" altLang="en-US" dirty="0">
                      <a:solidFill>
                        <a:srgbClr val="FF0000"/>
                      </a:solidFill>
                    </a:rPr>
                    <a:t>构造“ 极小化框架”</a:t>
                  </a:r>
                </a:p>
                <a:p>
                  <a:pPr algn="ctr" eaLnBrk="1" hangingPunct="1"/>
                  <a14:m>
                    <m:oMathPara xmlns:m="http://schemas.openxmlformats.org/officeDocument/2006/math">
                      <m:oMathParaPr>
                        <m:jc m:val="center"/>
                      </m:oMathParaPr>
                      <m:oMath xmlns:m="http://schemas.openxmlformats.org/officeDocument/2006/math">
                        <m:sSub>
                          <m:sSubPr>
                            <m:ctrlPr>
                              <a:rPr kumimoji="1" lang="en-US" altLang="zh-CN" i="1">
                                <a:solidFill>
                                  <a:srgbClr val="FF0000"/>
                                </a:solidFill>
                                <a:latin typeface="Cambria Math" panose="02040503050406030204" pitchFamily="18" charset="0"/>
                                <a:cs typeface="Cambria Math" panose="02040503050406030204" pitchFamily="18" charset="0"/>
                              </a:rPr>
                            </m:ctrlPr>
                          </m:sSubPr>
                          <m:e>
                            <m:r>
                              <a:rPr kumimoji="1" lang="en-US" altLang="zh-CN" i="1">
                                <a:solidFill>
                                  <a:srgbClr val="FF0000"/>
                                </a:solidFill>
                                <a:latin typeface="Cambria Math" panose="02040503050406030204" pitchFamily="18" charset="0"/>
                              </a:rPr>
                              <m:t>𝑥</m:t>
                            </m:r>
                          </m:e>
                          <m:sub>
                            <m:r>
                              <a:rPr kumimoji="1" lang="en-US" altLang="zh-CN" i="1">
                                <a:solidFill>
                                  <a:srgbClr val="FF0000"/>
                                </a:solidFill>
                                <a:latin typeface="Cambria Math" panose="02040503050406030204" pitchFamily="18" charset="0"/>
                                <a:cs typeface="Cambria Math" panose="02040503050406030204" pitchFamily="18" charset="0"/>
                              </a:rPr>
                              <m:t>1</m:t>
                            </m:r>
                          </m:sub>
                        </m:sSub>
                        <m:r>
                          <a:rPr kumimoji="1" lang="en-US" altLang="zh-CN" i="1">
                            <a:solidFill>
                              <a:srgbClr val="FF0000"/>
                            </a:solidFill>
                            <a:latin typeface="Cambria Math" panose="02040503050406030204" pitchFamily="18" charset="0"/>
                            <a:cs typeface="Cambria Math" panose="02040503050406030204" pitchFamily="18" charset="0"/>
                          </a:rPr>
                          <m:t>&lt;</m:t>
                        </m:r>
                        <m:sSub>
                          <m:sSubPr>
                            <m:ctrlPr>
                              <a:rPr kumimoji="1" lang="en-US" altLang="zh-CN" i="1">
                                <a:solidFill>
                                  <a:srgbClr val="FF0000"/>
                                </a:solidFill>
                                <a:latin typeface="Cambria Math" panose="02040503050406030204" pitchFamily="18" charset="0"/>
                                <a:cs typeface="Cambria Math" panose="02040503050406030204" pitchFamily="18" charset="0"/>
                              </a:rPr>
                            </m:ctrlPr>
                          </m:sSubPr>
                          <m:e>
                            <m:r>
                              <a:rPr kumimoji="1" lang="en-US" altLang="zh-CN" i="1">
                                <a:solidFill>
                                  <a:srgbClr val="FF0000"/>
                                </a:solidFill>
                                <a:latin typeface="Cambria Math" panose="02040503050406030204" pitchFamily="18" charset="0"/>
                              </a:rPr>
                              <m:t>𝑥</m:t>
                            </m:r>
                          </m:e>
                          <m:sub>
                            <m:r>
                              <a:rPr kumimoji="1" lang="en-US" altLang="zh-CN" i="1">
                                <a:solidFill>
                                  <a:srgbClr val="FF0000"/>
                                </a:solidFill>
                                <a:latin typeface="Cambria Math" panose="02040503050406030204" pitchFamily="18" charset="0"/>
                                <a:cs typeface="Cambria Math" panose="02040503050406030204" pitchFamily="18" charset="0"/>
                              </a:rPr>
                              <m:t>2</m:t>
                            </m:r>
                          </m:sub>
                        </m:sSub>
                        <m:sSub>
                          <m:sSubPr>
                            <m:ctrlPr>
                              <a:rPr kumimoji="1" lang="en-US" altLang="zh-CN" i="1">
                                <a:solidFill>
                                  <a:srgbClr val="FF0000"/>
                                </a:solidFill>
                                <a:latin typeface="Cambria Math" panose="02040503050406030204" pitchFamily="18" charset="0"/>
                                <a:cs typeface="Cambria Math" panose="02040503050406030204" pitchFamily="18" charset="0"/>
                              </a:rPr>
                            </m:ctrlPr>
                          </m:sSubPr>
                          <m:e>
                            <m:r>
                              <a:rPr kumimoji="1" lang="en-US" altLang="zh-CN" i="1">
                                <a:solidFill>
                                  <a:srgbClr val="FF0000"/>
                                </a:solidFill>
                                <a:latin typeface="Cambria Math" panose="02040503050406030204" pitchFamily="18" charset="0"/>
                                <a:cs typeface="Cambria Math" panose="02040503050406030204" pitchFamily="18" charset="0"/>
                              </a:rPr>
                              <m:t>&lt;</m:t>
                            </m:r>
                            <m:r>
                              <a:rPr kumimoji="1" lang="en-US" altLang="zh-CN" i="1">
                                <a:solidFill>
                                  <a:srgbClr val="FF0000"/>
                                </a:solidFill>
                                <a:latin typeface="Cambria Math" panose="02040503050406030204" pitchFamily="18" charset="0"/>
                              </a:rPr>
                              <m:t>𝑥</m:t>
                            </m:r>
                          </m:e>
                          <m:sub>
                            <m:r>
                              <a:rPr kumimoji="1" lang="en-US" altLang="zh-CN" i="1">
                                <a:solidFill>
                                  <a:srgbClr val="FF0000"/>
                                </a:solidFill>
                                <a:latin typeface="Cambria Math" panose="02040503050406030204" pitchFamily="18" charset="0"/>
                                <a:cs typeface="Cambria Math" panose="02040503050406030204" pitchFamily="18" charset="0"/>
                              </a:rPr>
                              <m:t>3</m:t>
                            </m:r>
                          </m:sub>
                        </m:sSub>
                      </m:oMath>
                    </m:oMathPara>
                  </a14:m>
                  <a:endParaRPr kumimoji="1" lang="en-US" altLang="zh-CN" baseline="-30000" dirty="0">
                    <a:solidFill>
                      <a:srgbClr val="FF0000"/>
                    </a:solidFill>
                  </a:endParaRPr>
                </a:p>
              </p:txBody>
            </p:sp>
          </mc:Choice>
          <mc:Fallback xmlns="">
            <p:sp>
              <p:nvSpPr>
                <p:cNvPr id="12300" name="Rectangle 13"/>
                <p:cNvSpPr>
                  <a:spLocks noRot="1" noChangeAspect="1" noMove="1" noResize="1" noEditPoints="1" noAdjustHandles="1" noChangeArrowheads="1" noChangeShapeType="1" noTextEdit="1"/>
                </p:cNvSpPr>
                <p:nvPr/>
              </p:nvSpPr>
              <p:spPr bwMode="auto">
                <a:xfrm>
                  <a:off x="1516" y="1536"/>
                  <a:ext cx="1854" cy="523"/>
                </a:xfrm>
                <a:prstGeom prst="rect">
                  <a:avLst/>
                </a:prstGeom>
                <a:blipFill rotWithShape="1">
                  <a:blip r:embed="rId4"/>
                </a:blip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2301" name="AutoShape 14"/>
            <p:cNvSpPr>
              <a:spLocks noChangeArrowheads="1"/>
            </p:cNvSpPr>
            <p:nvPr/>
          </p:nvSpPr>
          <p:spPr bwMode="auto">
            <a:xfrm>
              <a:off x="3552" y="1662"/>
              <a:ext cx="480" cy="192"/>
            </a:xfrm>
            <a:prstGeom prst="notchedRightArrow">
              <a:avLst>
                <a:gd name="adj1" fmla="val 50000"/>
                <a:gd name="adj2" fmla="val 62500"/>
              </a:avLst>
            </a:prstGeom>
            <a:solidFill>
              <a:schemeClr val="hlink"/>
            </a:solidFill>
            <a:ln w="9525">
              <a:solidFill>
                <a:srgbClr val="FF0000"/>
              </a:solidFill>
              <a:miter lim="800000"/>
            </a:ln>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p:grpSp>
        <p:nvGrpSpPr>
          <p:cNvPr id="223247" name="Group 15"/>
          <p:cNvGrpSpPr/>
          <p:nvPr/>
        </p:nvGrpSpPr>
        <p:grpSpPr bwMode="auto">
          <a:xfrm>
            <a:off x="4525963" y="3213100"/>
            <a:ext cx="3733800" cy="1339850"/>
            <a:chOff x="2448" y="1892"/>
            <a:chExt cx="2352" cy="844"/>
          </a:xfrm>
        </p:grpSpPr>
        <mc:AlternateContent xmlns:mc="http://schemas.openxmlformats.org/markup-compatibility/2006" xmlns:a14="http://schemas.microsoft.com/office/drawing/2010/main">
          <mc:Choice Requires="a14">
            <p:sp>
              <p:nvSpPr>
                <p:cNvPr id="12295" name="Text Box 16"/>
                <p:cNvSpPr txBox="1">
                  <a:spLocks noChangeArrowheads="1"/>
                </p:cNvSpPr>
                <p:nvPr/>
              </p:nvSpPr>
              <p:spPr bwMode="auto">
                <a:xfrm>
                  <a:off x="2448" y="2361"/>
                  <a:ext cx="2352" cy="3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a:r>
                    <a:rPr lang="zh-CN" altLang="en-US" dirty="0">
                      <a:solidFill>
                        <a:srgbClr val="0000FF"/>
                      </a:solidFill>
                    </a:rPr>
                    <a:t>比较</a:t>
                  </a:r>
                  <a14:m>
                    <m:oMath xmlns:m="http://schemas.openxmlformats.org/officeDocument/2006/math">
                      <m:r>
                        <a:rPr kumimoji="1" lang="en-US" altLang="zh-CN" i="1" smtClean="0">
                          <a:solidFill>
                            <a:srgbClr val="0000FF"/>
                          </a:solidFill>
                          <a:latin typeface="Cambria Math" panose="02040503050406030204" pitchFamily="18" charset="0"/>
                        </a:rPr>
                        <m:t>𝑓</m:t>
                      </m:r>
                    </m:oMath>
                  </a14:m>
                  <a:r>
                    <a:rPr lang="en-US" altLang="zh-CN" dirty="0">
                      <a:solidFill>
                        <a:srgbClr val="0000FF"/>
                      </a:solidFill>
                    </a:rPr>
                    <a:t>(</a:t>
                  </a:r>
                  <a14:m>
                    <m:oMath xmlns:m="http://schemas.openxmlformats.org/officeDocument/2006/math">
                      <m:sSub>
                        <m:sSubPr>
                          <m:ctrlPr>
                            <a:rPr kumimoji="1" lang="en-US" altLang="zh-CN" i="1">
                              <a:solidFill>
                                <a:srgbClr val="FF0000"/>
                              </a:solidFill>
                              <a:latin typeface="Cambria Math" panose="02040503050406030204" pitchFamily="18" charset="0"/>
                              <a:cs typeface="Cambria Math" panose="02040503050406030204" pitchFamily="18" charset="0"/>
                            </a:rPr>
                          </m:ctrlPr>
                        </m:sSubPr>
                        <m:e>
                          <m:r>
                            <a:rPr kumimoji="1" lang="en-US" altLang="zh-CN" i="1">
                              <a:solidFill>
                                <a:srgbClr val="FF0000"/>
                              </a:solidFill>
                              <a:latin typeface="Cambria Math" panose="02040503050406030204" pitchFamily="18" charset="0"/>
                            </a:rPr>
                            <m:t>𝑥</m:t>
                          </m:r>
                        </m:e>
                        <m:sub>
                          <m:r>
                            <a:rPr kumimoji="1" lang="en-US" altLang="zh-CN" i="1">
                              <a:solidFill>
                                <a:srgbClr val="FF0000"/>
                              </a:solidFill>
                              <a:latin typeface="Cambria Math" panose="02040503050406030204" pitchFamily="18" charset="0"/>
                              <a:cs typeface="Cambria Math" panose="02040503050406030204" pitchFamily="18" charset="0"/>
                            </a:rPr>
                            <m:t>𝒌</m:t>
                          </m:r>
                        </m:sub>
                      </m:sSub>
                    </m:oMath>
                  </a14:m>
                  <a:r>
                    <a:rPr lang="en-US" altLang="zh-CN" dirty="0">
                      <a:solidFill>
                        <a:srgbClr val="0000FF"/>
                      </a:solidFill>
                    </a:rPr>
                    <a:t>)</a:t>
                  </a:r>
                  <a:r>
                    <a:rPr lang="zh-CN" altLang="en-US" dirty="0">
                      <a:solidFill>
                        <a:srgbClr val="0000FF"/>
                      </a:solidFill>
                    </a:rPr>
                    <a:t>与</a:t>
                  </a:r>
                  <a14:m>
                    <m:oMath xmlns:m="http://schemas.openxmlformats.org/officeDocument/2006/math">
                      <m:r>
                        <a:rPr kumimoji="1" lang="en-US" altLang="zh-CN" i="1" smtClean="0">
                          <a:solidFill>
                            <a:srgbClr val="0000FF"/>
                          </a:solidFill>
                          <a:latin typeface="Cambria Math" panose="02040503050406030204" pitchFamily="18" charset="0"/>
                        </a:rPr>
                        <m:t>𝑓</m:t>
                      </m:r>
                    </m:oMath>
                  </a14:m>
                  <a:r>
                    <a:rPr lang="en-US" altLang="zh-CN" dirty="0">
                      <a:solidFill>
                        <a:srgbClr val="0000FF"/>
                      </a:solidFill>
                    </a:rPr>
                    <a:t>(</a:t>
                  </a:r>
                  <a14:m>
                    <m:oMath xmlns:m="http://schemas.openxmlformats.org/officeDocument/2006/math">
                      <m:sSub>
                        <m:sSubPr>
                          <m:ctrlPr>
                            <a:rPr kumimoji="1" lang="en-US" altLang="zh-CN" i="1">
                              <a:solidFill>
                                <a:srgbClr val="0000FF"/>
                              </a:solidFill>
                              <a:latin typeface="Cambria Math" panose="02040503050406030204" pitchFamily="18" charset="0"/>
                              <a:cs typeface="Cambria Math" panose="02040503050406030204" pitchFamily="18" charset="0"/>
                            </a:rPr>
                          </m:ctrlPr>
                        </m:sSubPr>
                        <m:e>
                          <m:r>
                            <a:rPr kumimoji="1" lang="en-US" altLang="zh-CN" i="1">
                              <a:solidFill>
                                <a:srgbClr val="0000FF"/>
                              </a:solidFill>
                              <a:latin typeface="Cambria Math" panose="02040503050406030204" pitchFamily="18" charset="0"/>
                            </a:rPr>
                            <m:t>𝑥</m:t>
                          </m:r>
                        </m:e>
                        <m:sub>
                          <m:r>
                            <a:rPr kumimoji="1" lang="en-US" altLang="zh-CN" i="1">
                              <a:solidFill>
                                <a:srgbClr val="0000FF"/>
                              </a:solidFill>
                              <a:latin typeface="Cambria Math" panose="02040503050406030204" pitchFamily="18" charset="0"/>
                              <a:cs typeface="Cambria Math" panose="02040503050406030204" pitchFamily="18" charset="0"/>
                            </a:rPr>
                            <m:t>2</m:t>
                          </m:r>
                        </m:sub>
                      </m:sSub>
                    </m:oMath>
                  </a14:m>
                  <a:r>
                    <a:rPr lang="en-US" altLang="zh-CN" dirty="0">
                      <a:solidFill>
                        <a:srgbClr val="0000FF"/>
                      </a:solidFill>
                    </a:rPr>
                    <a:t>)</a:t>
                  </a:r>
                  <a:r>
                    <a:rPr lang="zh-CN" altLang="en-US" dirty="0">
                      <a:solidFill>
                        <a:srgbClr val="0000FF"/>
                      </a:solidFill>
                    </a:rPr>
                    <a:t>，以函数值较小的点为中间点，加上左右两点</a:t>
                  </a:r>
                </a:p>
              </p:txBody>
            </p:sp>
          </mc:Choice>
          <mc:Fallback xmlns="">
            <p:sp>
              <p:nvSpPr>
                <p:cNvPr id="12295" name="Text Box 16"/>
                <p:cNvSpPr txBox="1">
                  <a:spLocks noRot="1" noChangeAspect="1" noMove="1" noResize="1" noEditPoints="1" noAdjustHandles="1" noChangeArrowheads="1" noChangeShapeType="1" noTextEdit="1"/>
                </p:cNvSpPr>
                <p:nvPr/>
              </p:nvSpPr>
              <p:spPr bwMode="auto">
                <a:xfrm>
                  <a:off x="2448" y="2361"/>
                  <a:ext cx="2352" cy="375"/>
                </a:xfrm>
                <a:prstGeom prst="rect">
                  <a:avLst/>
                </a:prstGeom>
                <a:blipFill rotWithShape="1">
                  <a:blip r:embed="rId5"/>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2296" name="Line 17"/>
            <p:cNvSpPr>
              <a:spLocks noChangeShapeType="1"/>
            </p:cNvSpPr>
            <p:nvPr/>
          </p:nvSpPr>
          <p:spPr bwMode="auto">
            <a:xfrm>
              <a:off x="4476" y="1892"/>
              <a:ext cx="0" cy="406"/>
            </a:xfrm>
            <a:prstGeom prst="line">
              <a:avLst/>
            </a:prstGeom>
            <a:noFill/>
            <a:ln w="57150">
              <a:solidFill>
                <a:srgbClr val="FF99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97" name="Line 18"/>
            <p:cNvSpPr>
              <a:spLocks noChangeShapeType="1"/>
            </p:cNvSpPr>
            <p:nvPr/>
          </p:nvSpPr>
          <p:spPr bwMode="auto">
            <a:xfrm flipV="1">
              <a:off x="2661" y="2306"/>
              <a:ext cx="1825" cy="0"/>
            </a:xfrm>
            <a:prstGeom prst="line">
              <a:avLst/>
            </a:prstGeom>
            <a:noFill/>
            <a:ln w="57150">
              <a:solidFill>
                <a:srgbClr val="FF99FF"/>
              </a:solidFill>
              <a:round/>
            </a:ln>
            <a:extLst>
              <a:ext uri="{909E8E84-426E-40DD-AFC4-6F175D3DCCD1}">
                <a14:hiddenFill xmlns:a14="http://schemas.microsoft.com/office/drawing/2010/main">
                  <a:noFill/>
                </a14:hiddenFill>
              </a:ext>
            </a:extLst>
          </p:spPr>
          <p:txBody>
            <a:bodyPr/>
            <a:lstStyle/>
            <a:p>
              <a:endParaRPr lang="zh-CN" altLang="en-US"/>
            </a:p>
          </p:txBody>
        </p:sp>
        <p:sp>
          <p:nvSpPr>
            <p:cNvPr id="12298" name="AutoShape 19"/>
            <p:cNvSpPr>
              <a:spLocks noChangeArrowheads="1"/>
            </p:cNvSpPr>
            <p:nvPr/>
          </p:nvSpPr>
          <p:spPr bwMode="auto">
            <a:xfrm flipV="1">
              <a:off x="2640" y="1949"/>
              <a:ext cx="48" cy="358"/>
            </a:xfrm>
            <a:prstGeom prst="downArrow">
              <a:avLst>
                <a:gd name="adj1" fmla="val 50000"/>
                <a:gd name="adj2" fmla="val 186458"/>
              </a:avLst>
            </a:prstGeom>
            <a:solidFill>
              <a:srgbClr val="FF99FF"/>
            </a:solidFill>
            <a:ln w="9525">
              <a:solidFill>
                <a:srgbClr val="FF99FF"/>
              </a:solidFill>
              <a:miter lim="800000"/>
            </a:ln>
          </p:spPr>
          <p:txBody>
            <a:bodyPr vert="eaVert"/>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p:sp>
        <p:nvSpPr>
          <p:cNvPr id="223252" name="Rectangle 20"/>
          <p:cNvSpPr>
            <a:spLocks noChangeArrowheads="1"/>
          </p:cNvSpPr>
          <p:nvPr/>
        </p:nvSpPr>
        <p:spPr bwMode="auto">
          <a:xfrm>
            <a:off x="2009304" y="1248651"/>
            <a:ext cx="8855075" cy="113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fontAlgn="auto">
              <a:lnSpc>
                <a:spcPct val="150000"/>
              </a:lnSpc>
              <a:spcBef>
                <a:spcPts val="0"/>
              </a:spcBef>
            </a:pPr>
            <a:r>
              <a:rPr kumimoji="1" lang="zh-CN" altLang="en-US" dirty="0">
                <a:solidFill>
                  <a:srgbClr val="0000FF"/>
                </a:solidFill>
              </a:rPr>
              <a:t>要进行搜索区间的收缩，然后在新区间中重新构造三点组成的“ 极小化框架” 。</a:t>
            </a:r>
          </a:p>
        </p:txBody>
      </p:sp>
      <mc:AlternateContent xmlns:mc="http://schemas.openxmlformats.org/markup-compatibility/2006" xmlns:a14="http://schemas.microsoft.com/office/drawing/2010/main">
        <mc:Choice Requires="a14">
          <p:sp>
            <p:nvSpPr>
              <p:cNvPr id="223253" name="Text Box 21"/>
              <p:cNvSpPr txBox="1">
                <a:spLocks noChangeArrowheads="1"/>
              </p:cNvSpPr>
              <p:nvPr/>
            </p:nvSpPr>
            <p:spPr bwMode="auto">
              <a:xfrm>
                <a:off x="1775306" y="5229361"/>
                <a:ext cx="8569166" cy="175323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fontAlgn="auto">
                  <a:lnSpc>
                    <a:spcPct val="150000"/>
                  </a:lnSpc>
                  <a:spcBef>
                    <a:spcPts val="0"/>
                  </a:spcBef>
                </a:pPr>
                <a:r>
                  <a:rPr kumimoji="1" lang="zh-CN" altLang="en-US" dirty="0">
                    <a:solidFill>
                      <a:srgbClr val="FF0000"/>
                    </a:solidFill>
                  </a:rPr>
                  <a:t>      终止准则：</a:t>
                </a:r>
                <a:r>
                  <a:rPr kumimoji="1" lang="zh-CN" altLang="en-US" dirty="0"/>
                  <a:t>可以采用</a:t>
                </a:r>
                <a14:m>
                  <m:oMath xmlns:m="http://schemas.openxmlformats.org/officeDocument/2006/math">
                    <m:sSub>
                      <m:sSubPr>
                        <m:ctrlPr>
                          <a:rPr kumimoji="1" lang="en-US" altLang="zh-CN" i="1">
                            <a:solidFill>
                              <a:srgbClr val="0000FF"/>
                            </a:solidFill>
                            <a:latin typeface="Cambria Math" panose="02040503050406030204" pitchFamily="18" charset="0"/>
                            <a:cs typeface="Cambria Math" panose="02040503050406030204" pitchFamily="18" charset="0"/>
                          </a:rPr>
                        </m:ctrlPr>
                      </m:sSubPr>
                      <m:e>
                        <m:r>
                          <a:rPr kumimoji="1" lang="en-US" altLang="zh-CN" i="1">
                            <a:solidFill>
                              <a:srgbClr val="0000FF"/>
                            </a:solidFill>
                            <a:latin typeface="Cambria Math" panose="02040503050406030204" pitchFamily="18" charset="0"/>
                          </a:rPr>
                          <m:t>𝑥</m:t>
                        </m:r>
                      </m:e>
                      <m:sub>
                        <m:r>
                          <a:rPr kumimoji="1" lang="en-US" altLang="zh-CN" i="1">
                            <a:solidFill>
                              <a:srgbClr val="0000FF"/>
                            </a:solidFill>
                            <a:latin typeface="Cambria Math" panose="02040503050406030204" pitchFamily="18" charset="0"/>
                            <a:cs typeface="Cambria Math" panose="02040503050406030204" pitchFamily="18" charset="0"/>
                          </a:rPr>
                          <m:t>2</m:t>
                        </m:r>
                      </m:sub>
                    </m:sSub>
                  </m:oMath>
                </a14:m>
                <a:r>
                  <a:rPr kumimoji="1" lang="zh-CN" altLang="en-US" dirty="0"/>
                  <a:t>、</a:t>
                </a:r>
                <a:r>
                  <a:rPr kumimoji="1" lang="en-US" altLang="zh-CN" dirty="0">
                    <a:solidFill>
                      <a:srgbClr val="FF0000"/>
                    </a:solidFill>
                  </a:rPr>
                  <a:t> </a:t>
                </a:r>
                <a14:m>
                  <m:oMath xmlns:m="http://schemas.openxmlformats.org/officeDocument/2006/math">
                    <m:sSub>
                      <m:sSubPr>
                        <m:ctrlPr>
                          <a:rPr kumimoji="1" lang="en-US" altLang="zh-CN" i="1">
                            <a:solidFill>
                              <a:srgbClr val="FF0000"/>
                            </a:solidFill>
                            <a:latin typeface="Cambria Math" panose="02040503050406030204" pitchFamily="18" charset="0"/>
                            <a:cs typeface="Cambria Math" panose="02040503050406030204" pitchFamily="18" charset="0"/>
                          </a:rPr>
                        </m:ctrlPr>
                      </m:sSubPr>
                      <m:e>
                        <m:r>
                          <a:rPr kumimoji="1" lang="en-US" altLang="zh-CN" i="1">
                            <a:solidFill>
                              <a:srgbClr val="FF0000"/>
                            </a:solidFill>
                            <a:latin typeface="Cambria Math" panose="02040503050406030204" pitchFamily="18" charset="0"/>
                          </a:rPr>
                          <m:t>𝑥</m:t>
                        </m:r>
                      </m:e>
                      <m:sub>
                        <m:r>
                          <a:rPr kumimoji="1" lang="en-US" altLang="zh-CN" i="1">
                            <a:solidFill>
                              <a:srgbClr val="FF0000"/>
                            </a:solidFill>
                            <a:latin typeface="Cambria Math" panose="02040503050406030204" pitchFamily="18" charset="0"/>
                            <a:cs typeface="Cambria Math" panose="02040503050406030204" pitchFamily="18" charset="0"/>
                          </a:rPr>
                          <m:t>𝒌</m:t>
                        </m:r>
                      </m:sub>
                    </m:sSub>
                  </m:oMath>
                </a14:m>
                <a:r>
                  <a:rPr kumimoji="1" lang="zh-CN" altLang="en-US" dirty="0"/>
                  <a:t>两点间（或目标函数值）的相对误差、绝对误差来判断。 </a:t>
                </a:r>
              </a:p>
              <a:p>
                <a:pPr eaLnBrk="1" hangingPunct="1">
                  <a:spcBef>
                    <a:spcPct val="50000"/>
                  </a:spcBef>
                </a:pPr>
                <a:endParaRPr kumimoji="1" lang="en-US" altLang="zh-CN" dirty="0"/>
              </a:p>
            </p:txBody>
          </p:sp>
        </mc:Choice>
        <mc:Fallback xmlns="">
          <p:sp>
            <p:nvSpPr>
              <p:cNvPr id="223253" name="Text Box 21"/>
              <p:cNvSpPr txBox="1">
                <a:spLocks noRot="1" noChangeAspect="1" noMove="1" noResize="1" noEditPoints="1" noAdjustHandles="1" noChangeArrowheads="1" noChangeShapeType="1" noTextEdit="1"/>
              </p:cNvSpPr>
              <p:nvPr/>
            </p:nvSpPr>
            <p:spPr bwMode="auto">
              <a:xfrm>
                <a:off x="1775306" y="5229361"/>
                <a:ext cx="8569166" cy="1753235"/>
              </a:xfrm>
              <a:prstGeom prst="rect">
                <a:avLst/>
              </a:prstGeom>
              <a:blipFill>
                <a:blip r:embed="rId6"/>
                <a:stretch>
                  <a:fillRect l="-1067"/>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14" name="文本框 13"/>
          <p:cNvSpPr txBox="1"/>
          <p:nvPr/>
        </p:nvSpPr>
        <p:spPr>
          <a:xfrm>
            <a:off x="623392" y="253380"/>
            <a:ext cx="6872140" cy="584775"/>
          </a:xfrm>
          <a:prstGeom prst="rect">
            <a:avLst/>
          </a:prstGeom>
          <a:noFill/>
        </p:spPr>
        <p:txBody>
          <a:bodyPr wrap="square">
            <a:spAutoFit/>
          </a:bodyPr>
          <a:lstStyle/>
          <a:p>
            <a:pPr algn="just">
              <a:spcBef>
                <a:spcPts val="600"/>
              </a:spcBef>
              <a:spcAft>
                <a:spcPts val="600"/>
              </a:spcAft>
            </a:pPr>
            <a:r>
              <a:rPr lang="zh-CN" altLang="en-US" sz="3200" kern="100" dirty="0">
                <a:effectLst/>
                <a:latin typeface="Times New Roman" panose="02020603050405020304" pitchFamily="18" charset="0"/>
                <a:ea typeface="黑体" panose="02010609060101010101" pitchFamily="49" charset="-122"/>
              </a:rPr>
              <a:t>三</a:t>
            </a:r>
            <a:r>
              <a:rPr lang="zh-CN" altLang="zh-CN" sz="3200" kern="100" dirty="0">
                <a:effectLst/>
                <a:latin typeface="Times New Roman" panose="02020603050405020304" pitchFamily="18" charset="0"/>
                <a:ea typeface="黑体" panose="02010609060101010101" pitchFamily="49" charset="-122"/>
              </a:rPr>
              <a:t>、</a:t>
            </a:r>
            <a:r>
              <a:rPr lang="zh-CN" altLang="en-US" sz="3200" kern="100" dirty="0">
                <a:effectLst/>
                <a:latin typeface="Times New Roman" panose="02020603050405020304" pitchFamily="18" charset="0"/>
                <a:ea typeface="黑体" panose="02010609060101010101" pitchFamily="49" charset="-122"/>
              </a:rPr>
              <a:t>算法</a:t>
            </a:r>
            <a:endParaRPr lang="zh-CN" altLang="zh-CN" sz="3200" kern="100" dirty="0">
              <a:effectLst/>
              <a:latin typeface="Times New Roman" panose="02020603050405020304" pitchFamily="18" charset="0"/>
              <a:ea typeface="宋体" panose="02010600030101010101" pitchFamily="2" charset="-122"/>
            </a:endParaRPr>
          </a:p>
        </p:txBody>
      </p:sp>
      <p:sp>
        <p:nvSpPr>
          <p:cNvPr id="3" name="文本框 2"/>
          <p:cNvSpPr txBox="1"/>
          <p:nvPr/>
        </p:nvSpPr>
        <p:spPr>
          <a:xfrm>
            <a:off x="5800725" y="4844415"/>
            <a:ext cx="309880" cy="368300"/>
          </a:xfrm>
          <a:prstGeom prst="rect">
            <a:avLst/>
          </a:prstGeom>
          <a:noFill/>
        </p:spPr>
        <p:txBody>
          <a:bodyPr wrap="none" rtlCol="0">
            <a:spAutoFit/>
          </a:bodyPr>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nodeType="clickEffect">
                                  <p:stCondLst>
                                    <p:cond delay="0"/>
                                  </p:stCondLst>
                                  <p:childTnLst>
                                    <p:set>
                                      <p:cBhvr>
                                        <p:cTn id="6" dur="1" fill="hold">
                                          <p:stCondLst>
                                            <p:cond delay="0"/>
                                          </p:stCondLst>
                                        </p:cTn>
                                        <p:tgtEl>
                                          <p:spTgt spid="223241"/>
                                        </p:tgtEl>
                                        <p:attrNameLst>
                                          <p:attrName>style.visibility</p:attrName>
                                        </p:attrNameLst>
                                      </p:cBhvr>
                                      <p:to>
                                        <p:strVal val="visible"/>
                                      </p:to>
                                    </p:set>
                                    <p:animEffect transition="in" filter="barn(inHorizontal)">
                                      <p:cBhvr>
                                        <p:cTn id="7" dur="500"/>
                                        <p:tgtEl>
                                          <p:spTgt spid="22324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23252"/>
                                        </p:tgtEl>
                                        <p:attrNameLst>
                                          <p:attrName>style.visibility</p:attrName>
                                        </p:attrNameLst>
                                      </p:cBhvr>
                                      <p:to>
                                        <p:strVal val="visible"/>
                                      </p:to>
                                    </p:set>
                                    <p:animEffect transition="in" filter="checkerboard(across)">
                                      <p:cBhvr>
                                        <p:cTn id="12" dur="500"/>
                                        <p:tgtEl>
                                          <p:spTgt spid="22325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6" fill="hold" nodeType="clickEffect">
                                  <p:stCondLst>
                                    <p:cond delay="0"/>
                                  </p:stCondLst>
                                  <p:childTnLst>
                                    <p:set>
                                      <p:cBhvr>
                                        <p:cTn id="16" dur="1" fill="hold">
                                          <p:stCondLst>
                                            <p:cond delay="0"/>
                                          </p:stCondLst>
                                        </p:cTn>
                                        <p:tgtEl>
                                          <p:spTgt spid="223247"/>
                                        </p:tgtEl>
                                        <p:attrNameLst>
                                          <p:attrName>style.visibility</p:attrName>
                                        </p:attrNameLst>
                                      </p:cBhvr>
                                      <p:to>
                                        <p:strVal val="visible"/>
                                      </p:to>
                                    </p:set>
                                    <p:animEffect transition="in" filter="barn(inHorizontal)">
                                      <p:cBhvr>
                                        <p:cTn id="17" dur="500"/>
                                        <p:tgtEl>
                                          <p:spTgt spid="223247"/>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223253"/>
                                        </p:tgtEl>
                                        <p:attrNameLst>
                                          <p:attrName>style.visibility</p:attrName>
                                        </p:attrNameLst>
                                      </p:cBhvr>
                                      <p:to>
                                        <p:strVal val="visible"/>
                                      </p:to>
                                    </p:set>
                                    <p:animEffect transition="in" filter="dissolve">
                                      <p:cBhvr>
                                        <p:cTn id="22" dur="500"/>
                                        <p:tgtEl>
                                          <p:spTgt spid="2232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52" grpId="0" bldLvl="0" animBg="1" autoUpdateAnimBg="0"/>
      <p:bldP spid="223253" grpId="0" bldLvl="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23163" y="127368"/>
                <a:ext cx="8064896" cy="1569660"/>
              </a:xfrm>
              <a:prstGeom prst="rect">
                <a:avLst/>
              </a:prstGeom>
              <a:noFill/>
            </p:spPr>
            <p:txBody>
              <a:bodyPr wrap="square">
                <a:spAutoFit/>
              </a:bodyPr>
              <a:lstStyle/>
              <a:p>
                <a:pPr algn="just"/>
                <a:r>
                  <a:rPr lang="zh-CN" altLang="zh-CN" sz="2400" kern="100" dirty="0">
                    <a:solidFill>
                      <a:srgbClr val="FF0000"/>
                    </a:solidFill>
                    <a:latin typeface="等线" panose="02010600030101010101" pitchFamily="2" charset="-122"/>
                    <a:ea typeface="等线" panose="02010600030101010101" pitchFamily="2" charset="-122"/>
                    <a:cs typeface="Times New Roman" panose="02020603050405020304" pitchFamily="18" charset="0"/>
                  </a:rPr>
                  <a:t>算法</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a:t>
                </a:r>
              </a:p>
              <a:p>
                <a:pPr algn="just"/>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输入：</a:t>
                </a:r>
                <a14:m>
                  <m:oMath xmlns:m="http://schemas.openxmlformats.org/officeDocument/2006/math">
                    <m: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𝑓</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d>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&lt;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&lt;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)&gt;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𝑓</m:t>
                    </m:r>
                    <m:d>
                      <m:d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e>
                    </m:d>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)&gt;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p>
              <a:p>
                <a:pPr marL="2667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23163" y="127368"/>
                <a:ext cx="8064896" cy="1569660"/>
              </a:xfrm>
              <a:prstGeom prst="rect">
                <a:avLst/>
              </a:prstGeom>
              <a:blipFill rotWithShape="1">
                <a:blip r:embed="rId2"/>
                <a:stretch>
                  <a:fillRect l="-4" t="-23" r="1" b="2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p:cNvSpPr txBox="1"/>
              <p:nvPr/>
            </p:nvSpPr>
            <p:spPr>
              <a:xfrm>
                <a:off x="8138385" y="2809592"/>
                <a:ext cx="4802018" cy="2763257"/>
              </a:xfrm>
              <a:prstGeom prst="rect">
                <a:avLst/>
              </a:prstGeom>
              <a:noFill/>
            </p:spPr>
            <p:txBody>
              <a:bodyPr wrap="square">
                <a:spAutoFit/>
              </a:bodyPr>
              <a:lstStyle/>
              <a:p>
                <a:pPr marL="2667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else</a:t>
                </a:r>
              </a:p>
              <a:p>
                <a:pPr marL="2667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if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𝑝</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&gt;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oMath>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ea typeface="等线" panose="02010600030101010101" pitchFamily="2" charset="-122"/>
                    <a:cs typeface="Times New Roman" panose="02020603050405020304" pitchFamily="18" charset="0"/>
                  </a:rPr>
                  <a:t>                   </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 </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𝑝</m:t>
                        </m:r>
                      </m:sub>
                    </m:sSub>
                  </m:oMath>
                </a14:m>
                <a:endParaRPr lang="en-US"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else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533400" indent="533400" algn="just"/>
                <a:r>
                  <a:rPr lang="en-US" altLang="zh-CN" sz="2400" kern="100" dirty="0">
                    <a:ea typeface="Cambria Math" panose="02040503050406030204" pitchFamily="18" charset="0"/>
                    <a:cs typeface="Times New Roman" panose="02020603050405020304" pitchFamily="18" charset="0"/>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𝟑</m:t>
                        </m:r>
                      </m:sub>
                    </m:s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𝟐</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𝑝</m:t>
                        </m:r>
                      </m:sub>
                    </m:sSub>
                  </m:oMath>
                </a14:m>
                <a:endParaRPr lang="en-US"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533400" indent="5334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end</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2667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8138385" y="2809592"/>
                <a:ext cx="4802018" cy="2763257"/>
              </a:xfrm>
              <a:prstGeom prst="rect">
                <a:avLst/>
              </a:prstGeom>
              <a:blipFill rotWithShape="1">
                <a:blip r:embed="rId3"/>
                <a:stretch>
                  <a:fillRect l="-5" t="-13" r="8"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p:cNvSpPr txBox="1"/>
              <p:nvPr/>
            </p:nvSpPr>
            <p:spPr>
              <a:xfrm>
                <a:off x="7968208" y="5501769"/>
                <a:ext cx="4581236" cy="1242060"/>
              </a:xfrm>
              <a:prstGeom prst="rect">
                <a:avLst/>
              </a:prstGeom>
              <a:noFill/>
            </p:spPr>
            <p:txBody>
              <a:bodyPr wrap="square">
                <a:spAutoFit/>
              </a:bodyPr>
              <a:lstStyle/>
              <a:p>
                <a:pPr marL="2667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end </a:t>
                </a:r>
              </a:p>
              <a:p>
                <a:pPr marL="2667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end</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algn="just"/>
                <a:r>
                  <a:rPr lang="zh-CN" altLang="zh-CN" sz="2400" kern="100" dirty="0">
                    <a:latin typeface="宋体" panose="02010600030101010101" pitchFamily="2" charset="-122"/>
                    <a:ea typeface="宋体" panose="02010600030101010101" pitchFamily="2" charset="-122"/>
                    <a:cs typeface="Times New Roman" panose="02020603050405020304" pitchFamily="18" charset="0"/>
                  </a:rPr>
                  <a:t>输出</a:t>
                </a:r>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𝑝</m:t>
                        </m:r>
                      </m:sub>
                    </m:sSub>
                  </m:oMath>
                </a14:m>
                <a:endParaRPr lang="zh-CN" altLang="en-US" sz="2400" dirty="0"/>
              </a:p>
            </p:txBody>
          </p:sp>
        </mc:Choice>
        <mc:Fallback xmlns="">
          <p:sp>
            <p:nvSpPr>
              <p:cNvPr id="7" name="文本框 6"/>
              <p:cNvSpPr txBox="1">
                <a:spLocks noRot="1" noChangeAspect="1" noMove="1" noResize="1" noEditPoints="1" noAdjustHandles="1" noChangeArrowheads="1" noChangeShapeType="1" noTextEdit="1"/>
              </p:cNvSpPr>
              <p:nvPr/>
            </p:nvSpPr>
            <p:spPr>
              <a:xfrm>
                <a:off x="7968208" y="5501769"/>
                <a:ext cx="4581236" cy="1242060"/>
              </a:xfrm>
              <a:prstGeom prst="rect">
                <a:avLst/>
              </a:prstGeom>
              <a:blipFill rotWithShape="1">
                <a:blip r:embed="rId4"/>
                <a:stretch>
                  <a:fillRect l="-5" t="-10" r="13" b="10"/>
                </a:stretch>
              </a:blipFill>
            </p:spPr>
            <p:txBody>
              <a:bodyPr/>
              <a:lstStyle/>
              <a:p>
                <a:r>
                  <a:rPr lang="zh-CN" altLang="en-US">
                    <a:noFill/>
                  </a:rPr>
                  <a:t> </a:t>
                </a:r>
              </a:p>
            </p:txBody>
          </p:sp>
        </mc:Fallback>
      </mc:AlternateContent>
      <p:cxnSp>
        <p:nvCxnSpPr>
          <p:cNvPr id="9" name="直接连接符 8"/>
          <p:cNvCxnSpPr/>
          <p:nvPr/>
        </p:nvCxnSpPr>
        <p:spPr bwMode="auto">
          <a:xfrm>
            <a:off x="7752184" y="477018"/>
            <a:ext cx="0" cy="6120334"/>
          </a:xfrm>
          <a:prstGeom prst="line">
            <a:avLst/>
          </a:prstGeom>
          <a:ln>
            <a:headEnd type="none" w="med" len="med"/>
            <a:tailEnd type="none" w="med" len="med"/>
          </a:ln>
        </p:spPr>
        <p:style>
          <a:lnRef idx="1">
            <a:schemeClr val="accent6"/>
          </a:lnRef>
          <a:fillRef idx="0">
            <a:schemeClr val="accent6"/>
          </a:fillRef>
          <a:effectRef idx="0">
            <a:schemeClr val="accent6"/>
          </a:effectRef>
          <a:fontRef idx="minor">
            <a:schemeClr val="tx1"/>
          </a:fontRef>
        </p:style>
      </p:cxnSp>
      <p:sp>
        <p:nvSpPr>
          <p:cNvPr id="2" name="Rectangle 2"/>
          <p:cNvSpPr>
            <a:spLocks noChangeArrowheads="1"/>
          </p:cNvSpPr>
          <p:nvPr/>
        </p:nvSpPr>
        <p:spPr bwMode="auto">
          <a:xfrm>
            <a:off x="551384" y="298738"/>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sz="2400"/>
          </a:p>
        </p:txBody>
      </p:sp>
      <mc:AlternateContent xmlns:mc="http://schemas.openxmlformats.org/markup-compatibility/2006" xmlns:a14="http://schemas.microsoft.com/office/drawing/2010/main">
        <mc:Choice Requires="a14">
          <p:sp>
            <p:nvSpPr>
              <p:cNvPr id="10" name="文本框 9"/>
              <p:cNvSpPr txBox="1"/>
              <p:nvPr/>
            </p:nvSpPr>
            <p:spPr>
              <a:xfrm>
                <a:off x="8157364" y="477018"/>
                <a:ext cx="6132136" cy="2422458"/>
              </a:xfrm>
              <a:prstGeom prst="rect">
                <a:avLst/>
              </a:prstGeom>
              <a:noFill/>
            </p:spPr>
            <p:txBody>
              <a:bodyPr wrap="square">
                <a:spAutoFit/>
              </a:bodyPr>
              <a:lstStyle/>
              <a:p>
                <a:pPr marL="2667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If </a:t>
                </a:r>
                <a14:m>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𝑝</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)&gt;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oMath>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990600" lvl="1" indent="5334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if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𝑝</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&gt;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2</m:t>
                        </m:r>
                      </m:sub>
                    </m:sSub>
                  </m:oMath>
                </a14:m>
                <a:endParaRPr lang="en-US" altLang="zh-CN" sz="2400" i="1" kern="100" dirty="0">
                  <a:latin typeface="Cambria Math" panose="02040503050406030204" pitchFamily="18" charset="0"/>
                  <a:ea typeface="等线" panose="02010600030101010101" pitchFamily="2" charset="-122"/>
                  <a:cs typeface="Times New Roman" panose="02020603050405020304" pitchFamily="18" charset="0"/>
                </a:endParaRPr>
              </a:p>
              <a:p>
                <a:pPr marL="990600" lvl="1" indent="533400" algn="just"/>
                <a14:m>
                  <m:oMathPara xmlns:m="http://schemas.openxmlformats.org/officeDocument/2006/math">
                    <m:oMathParaPr>
                      <m:jc m:val="centerGroup"/>
                    </m:oMathParaPr>
                    <m:oMath xmlns:m="http://schemas.openxmlformats.org/officeDocument/2006/math">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3</m:t>
                          </m:r>
                        </m:sub>
                      </m:s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𝑝</m:t>
                          </m:r>
                        </m:sub>
                      </m:sSub>
                    </m:oMath>
                  </m:oMathPara>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990600" lvl="1" indent="5334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else </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990600" lvl="1" indent="533400" algn="just"/>
                <a14:m>
                  <m:oMathPara xmlns:m="http://schemas.openxmlformats.org/officeDocument/2006/math">
                    <m:oMathParaPr>
                      <m:jc m:val="centerGroup"/>
                    </m:oMathParaPr>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1</m:t>
                          </m:r>
                        </m:sub>
                      </m:s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𝑝</m:t>
                          </m:r>
                        </m:sub>
                      </m:sSub>
                    </m:oMath>
                  </m:oMathPara>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990600" lvl="1" indent="5334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end</a:t>
                </a:r>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0" name="文本框 9"/>
              <p:cNvSpPr txBox="1">
                <a:spLocks noRot="1" noChangeAspect="1" noMove="1" noResize="1" noEditPoints="1" noAdjustHandles="1" noChangeArrowheads="1" noChangeShapeType="1" noTextEdit="1"/>
              </p:cNvSpPr>
              <p:nvPr/>
            </p:nvSpPr>
            <p:spPr>
              <a:xfrm>
                <a:off x="8157364" y="477018"/>
                <a:ext cx="6132136" cy="2422458"/>
              </a:xfrm>
              <a:prstGeom prst="rect">
                <a:avLst/>
              </a:prstGeom>
              <a:blipFill rotWithShape="1">
                <a:blip r:embed="rId5"/>
                <a:stretch>
                  <a:fillRect l="-3" t="-5" r="2" b="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p:cNvSpPr txBox="1"/>
              <p:nvPr/>
            </p:nvSpPr>
            <p:spPr>
              <a:xfrm>
                <a:off x="762061" y="1912573"/>
                <a:ext cx="7183224" cy="1616710"/>
              </a:xfrm>
              <a:prstGeom prst="rect">
                <a:avLst/>
              </a:prstGeom>
              <a:noFill/>
            </p:spPr>
            <p:txBody>
              <a:bodyPr wrap="square">
                <a:spAutoFit/>
              </a:bodyPr>
              <a:lstStyle/>
              <a:p>
                <a:pPr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While </a:t>
                </a:r>
                <a14:m>
                  <m:oMath xmlns:m="http://schemas.openxmlformats.org/officeDocument/2006/math">
                    <m:d>
                      <m:dPr>
                        <m:begChr m:val="|"/>
                        <m:endChr m:val="|"/>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kern="100">
                                <a:latin typeface="Cambria Math" panose="02040503050406030204" pitchFamily="18" charset="0"/>
                                <a:ea typeface="等线"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𝑝</m:t>
                            </m:r>
                          </m:sub>
                        </m:sSub>
                      </m:e>
                    </m:d>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等线" panose="02010600030101010101" pitchFamily="2" charset="-122"/>
                        <a:cs typeface="Times New Roman" panose="02020603050405020304" pitchFamily="18" charset="0"/>
                      </a:rPr>
                      <m:t>𝑡𝑜𝑙</m:t>
                    </m:r>
                  </m:oMath>
                </a14:m>
                <a:endParaRPr lang="zh-CN"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266700" algn="just"/>
                <a:r>
                  <a:rPr lang="zh-CN" altLang="en-US" sz="2400" kern="100" dirty="0">
                    <a:latin typeface="等线" panose="02010600030101010101" pitchFamily="2" charset="-122"/>
                    <a:ea typeface="等线" panose="02010600030101010101" pitchFamily="2" charset="-122"/>
                    <a:cs typeface="Times New Roman" panose="02020603050405020304" pitchFamily="18" charset="0"/>
                  </a:rPr>
                  <a:t>      </a:t>
                </a:r>
                <a:endParaRPr lang="en-US" altLang="zh-CN" sz="2400" kern="100" dirty="0">
                  <a:latin typeface="等线" panose="02010600030101010101" pitchFamily="2" charset="-122"/>
                  <a:ea typeface="等线" panose="02010600030101010101" pitchFamily="2" charset="-122"/>
                  <a:cs typeface="Times New Roman" panose="02020603050405020304" pitchFamily="18" charset="0"/>
                </a:endParaRPr>
              </a:p>
              <a:p>
                <a:pPr marL="2667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r>
                  <a:rPr lang="en-US" altLang="zh-CN" sz="2400" kern="100" dirty="0">
                    <a:latin typeface="宋体" panose="02010600030101010101" pitchFamily="2" charset="-122"/>
                    <a:ea typeface="宋体" panose="02010600030101010101" pitchFamily="2" charset="-122"/>
                    <a:cs typeface="宋体" panose="02010600030101010101" pitchFamily="2" charset="-122"/>
                  </a:rPr>
                  <a:t>   </a:t>
                </a:r>
                <a:r>
                  <a:rPr lang="zh-CN" altLang="en-US" sz="2400" kern="100" dirty="0">
                    <a:latin typeface="宋体" panose="02010600030101010101" pitchFamily="2" charset="-122"/>
                    <a:ea typeface="宋体" panose="02010600030101010101" pitchFamily="2" charset="-122"/>
                    <a:cs typeface="宋体" panose="02010600030101010101" pitchFamily="2" charset="-122"/>
                  </a:rPr>
                  <a:t> 根据公式计算</a:t>
                </a:r>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p>
              <a:p>
                <a:pPr marL="266700" algn="just"/>
                <a:r>
                  <a:rPr lang="en-US" altLang="zh-CN" sz="2400" kern="100" dirty="0">
                    <a:latin typeface="等线" panose="02010600030101010101" pitchFamily="2" charset="-122"/>
                    <a:ea typeface="等线" panose="02010600030101010101" pitchFamily="2" charset="-122"/>
                    <a:cs typeface="Times New Roman" panose="02020603050405020304" pitchFamily="18" charset="0"/>
                  </a:rPr>
                  <a:t>	</a:t>
                </a:r>
              </a:p>
            </p:txBody>
          </p:sp>
        </mc:Choice>
        <mc:Fallback xmlns="">
          <p:sp>
            <p:nvSpPr>
              <p:cNvPr id="13" name="文本框 12"/>
              <p:cNvSpPr txBox="1">
                <a:spLocks noRot="1" noChangeAspect="1" noMove="1" noResize="1" noEditPoints="1" noAdjustHandles="1" noChangeArrowheads="1" noChangeShapeType="1" noTextEdit="1"/>
              </p:cNvSpPr>
              <p:nvPr/>
            </p:nvSpPr>
            <p:spPr>
              <a:xfrm>
                <a:off x="762061" y="1912573"/>
                <a:ext cx="7183224" cy="1616710"/>
              </a:xfrm>
              <a:prstGeom prst="rect">
                <a:avLst/>
              </a:prstGeom>
              <a:blipFill rotWithShape="1">
                <a:blip r:embed="rId6"/>
                <a:stretch>
                  <a:fillRect l="-1" t="-36" r="2" b="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p:cNvSpPr txBox="1"/>
              <p:nvPr/>
            </p:nvSpPr>
            <p:spPr>
              <a:xfrm>
                <a:off x="1055370" y="3860800"/>
                <a:ext cx="6561455" cy="762635"/>
              </a:xfrm>
              <a:prstGeom prst="rect">
                <a:avLst/>
              </a:prstGeom>
              <a:noFill/>
            </p:spPr>
            <p:txBody>
              <a:bodyPr wrap="none" rtlCol="0" anchor="t">
                <a:spAutoFit/>
              </a:bodyPr>
              <a:lstStyle/>
              <a:p>
                <a:pPr/>
                <a14:m>
                  <m:oMathPara xmlns:m="http://schemas.openxmlformats.org/officeDocument/2006/math">
                    <m:oMathParaPr>
                      <m:jc m:val="left"/>
                    </m:oMathParaPr>
                    <m:oMath xmlns:m="http://schemas.openxmlformats.org/officeDocument/2006/math">
                      <m:sSub>
                        <m:sSubPr>
                          <m:ctrlPr>
                            <a:rPr kumimoji="1" lang="zh-CN" altLang="en-US" sz="2000" i="1" smtClean="0">
                              <a:solidFill>
                                <a:schemeClr val="tx1"/>
                              </a:solidFill>
                              <a:latin typeface="Cambria Math" panose="02040503050406030204" pitchFamily="18" charset="0"/>
                              <a:cs typeface="Cambria Math" panose="02040503050406030204" pitchFamily="18" charset="0"/>
                            </a:rPr>
                          </m:ctrlPr>
                        </m:sSubPr>
                        <m:e>
                          <m:r>
                            <a:rPr kumimoji="1" lang="en-US" altLang="zh-CN" sz="2000" i="1" smtClean="0">
                              <a:solidFill>
                                <a:schemeClr val="tx1"/>
                              </a:solidFill>
                              <a:latin typeface="Cambria Math" panose="02040503050406030204" pitchFamily="18" charset="0"/>
                              <a:cs typeface="Cambria Math" panose="02040503050406030204" pitchFamily="18" charset="0"/>
                            </a:rPr>
                            <m:t>𝑥</m:t>
                          </m:r>
                        </m:e>
                        <m:sub>
                          <m:r>
                            <a:rPr kumimoji="1" lang="en-US" altLang="zh-CN" sz="2000" i="1" smtClean="0">
                              <a:solidFill>
                                <a:schemeClr val="tx1"/>
                              </a:solidFill>
                              <a:latin typeface="Cambria Math" panose="02040503050406030204" pitchFamily="18" charset="0"/>
                              <a:cs typeface="Cambria Math" panose="02040503050406030204" pitchFamily="18" charset="0"/>
                            </a:rPr>
                            <m:t>𝑝</m:t>
                          </m:r>
                        </m:sub>
                      </m:sSub>
                      <m:r>
                        <a:rPr kumimoji="1" lang="en-US" altLang="zh-CN" sz="2000" i="1" smtClean="0">
                          <a:solidFill>
                            <a:schemeClr val="tx1"/>
                          </a:solidFill>
                          <a:latin typeface="Cambria Math" panose="02040503050406030204" pitchFamily="18" charset="0"/>
                          <a:cs typeface="Cambria Math" panose="02040503050406030204" pitchFamily="18" charset="0"/>
                        </a:rPr>
                        <m:t>=</m:t>
                      </m:r>
                      <m:f>
                        <m:fPr>
                          <m:ctrlPr>
                            <a:rPr kumimoji="1" lang="en-US" altLang="zh-CN" sz="2000" i="1" smtClean="0">
                              <a:solidFill>
                                <a:schemeClr val="tx1"/>
                              </a:solidFill>
                              <a:latin typeface="Cambria Math" panose="02040503050406030204" pitchFamily="18" charset="0"/>
                              <a:cs typeface="Cambria Math" panose="02040503050406030204" pitchFamily="18" charset="0"/>
                            </a:rPr>
                          </m:ctrlPr>
                        </m:fPr>
                        <m:num>
                          <m:r>
                            <a:rPr kumimoji="1" lang="en-US" altLang="zh-CN" sz="2000" i="1" smtClean="0">
                              <a:solidFill>
                                <a:schemeClr val="tx1"/>
                              </a:solidFill>
                              <a:latin typeface="Cambria Math" panose="02040503050406030204" pitchFamily="18" charset="0"/>
                              <a:cs typeface="Cambria Math" panose="02040503050406030204" pitchFamily="18" charset="0"/>
                            </a:rPr>
                            <m:t>1</m:t>
                          </m:r>
                        </m:num>
                        <m:den>
                          <m:r>
                            <a:rPr kumimoji="1" lang="en-US" altLang="zh-CN" sz="2000" i="1" smtClean="0">
                              <a:solidFill>
                                <a:schemeClr val="tx1"/>
                              </a:solidFill>
                              <a:latin typeface="Cambria Math" panose="02040503050406030204" pitchFamily="18" charset="0"/>
                              <a:cs typeface="Cambria Math" panose="02040503050406030204" pitchFamily="18" charset="0"/>
                            </a:rPr>
                            <m:t>2</m:t>
                          </m:r>
                        </m:den>
                      </m:f>
                      <m:r>
                        <a:rPr kumimoji="1" lang="en-US" altLang="zh-CN" sz="2000" i="1" smtClean="0">
                          <a:solidFill>
                            <a:schemeClr val="tx1"/>
                          </a:solidFill>
                          <a:latin typeface="Cambria Math" panose="02040503050406030204" pitchFamily="18" charset="0"/>
                          <a:cs typeface="Cambria Math" panose="02040503050406030204" pitchFamily="18" charset="0"/>
                        </a:rPr>
                        <m:t>∙</m:t>
                      </m:r>
                      <m:f>
                        <m:fPr>
                          <m:ctrlPr>
                            <a:rPr kumimoji="1" lang="en-US" altLang="zh-CN" sz="2000" i="1">
                              <a:solidFill>
                                <a:schemeClr val="tx1"/>
                              </a:solidFill>
                              <a:latin typeface="Cambria Math" panose="02040503050406030204" pitchFamily="18" charset="0"/>
                              <a:cs typeface="Cambria Math" panose="02040503050406030204" pitchFamily="18" charset="0"/>
                            </a:rPr>
                          </m:ctrlPr>
                        </m:fPr>
                        <m:num>
                          <m:r>
                            <a:rPr kumimoji="1" lang="en-US" altLang="zh-CN" sz="2000" i="1">
                              <a:solidFill>
                                <a:schemeClr val="tx1"/>
                              </a:solidFill>
                              <a:latin typeface="Cambria Math" panose="02040503050406030204" pitchFamily="18" charset="0"/>
                              <a:cs typeface="Cambria Math" panose="02040503050406030204" pitchFamily="18" charset="0"/>
                            </a:rPr>
                            <m:t>(</m:t>
                          </m:r>
                          <m:sSubSup>
                            <m:sSubSupPr>
                              <m:ctrlPr>
                                <a:rPr kumimoji="1" lang="en-US" altLang="zh-CN" sz="2000" i="1">
                                  <a:solidFill>
                                    <a:schemeClr val="tx1"/>
                                  </a:solidFill>
                                  <a:latin typeface="Cambria Math" panose="02040503050406030204" pitchFamily="18" charset="0"/>
                                  <a:cs typeface="Cambria Math" panose="02040503050406030204" pitchFamily="18" charset="0"/>
                                </a:rPr>
                              </m:ctrlPr>
                            </m:sSubSup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2</m:t>
                              </m:r>
                            </m:sub>
                            <m:sup>
                              <m:r>
                                <a:rPr kumimoji="1" lang="en-US" altLang="zh-CN" sz="2000" i="1">
                                  <a:solidFill>
                                    <a:schemeClr val="tx1"/>
                                  </a:solidFill>
                                  <a:latin typeface="Cambria Math" panose="02040503050406030204" pitchFamily="18" charset="0"/>
                                  <a:cs typeface="Cambria Math" panose="02040503050406030204" pitchFamily="18" charset="0"/>
                                </a:rPr>
                                <m:t>2</m:t>
                              </m:r>
                            </m:sup>
                          </m:sSubSup>
                          <m:r>
                            <a:rPr kumimoji="1" lang="en-US" altLang="zh-CN" sz="2000" i="1">
                              <a:solidFill>
                                <a:schemeClr val="tx1"/>
                              </a:solidFill>
                              <a:latin typeface="Cambria Math" panose="02040503050406030204" pitchFamily="18" charset="0"/>
                              <a:cs typeface="Cambria Math" panose="02040503050406030204" pitchFamily="18" charset="0"/>
                            </a:rPr>
                            <m:t>−</m:t>
                          </m:r>
                          <m:sSubSup>
                            <m:sSubSupPr>
                              <m:ctrlPr>
                                <a:rPr kumimoji="1" lang="en-US" altLang="zh-CN" sz="2000" i="1">
                                  <a:solidFill>
                                    <a:schemeClr val="tx1"/>
                                  </a:solidFill>
                                  <a:latin typeface="Cambria Math" panose="02040503050406030204" pitchFamily="18" charset="0"/>
                                  <a:cs typeface="Cambria Math" panose="02040503050406030204" pitchFamily="18" charset="0"/>
                                </a:rPr>
                              </m:ctrlPr>
                            </m:sSubSup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3</m:t>
                              </m:r>
                            </m:sub>
                            <m:sup>
                              <m:r>
                                <a:rPr kumimoji="1" lang="en-US" altLang="zh-CN" sz="2000" i="1">
                                  <a:solidFill>
                                    <a:schemeClr val="tx1"/>
                                  </a:solidFill>
                                  <a:latin typeface="Cambria Math" panose="02040503050406030204" pitchFamily="18" charset="0"/>
                                  <a:cs typeface="Cambria Math" panose="02040503050406030204" pitchFamily="18" charset="0"/>
                                </a:rPr>
                                <m:t>2</m:t>
                              </m:r>
                            </m:sup>
                          </m:sSubSup>
                          <m:r>
                            <a:rPr kumimoji="1" lang="en-US" altLang="zh-CN" sz="2000" i="1">
                              <a:solidFill>
                                <a:schemeClr val="tx1"/>
                              </a:solidFill>
                              <a:latin typeface="Cambria Math" panose="02040503050406030204" pitchFamily="18" charset="0"/>
                              <a:cs typeface="Cambria Math" panose="02040503050406030204" pitchFamily="18" charset="0"/>
                            </a:rPr>
                            <m:t>)</m:t>
                          </m:r>
                          <m:r>
                            <a:rPr kumimoji="1" lang="en-US" altLang="zh-CN" sz="2000" i="1" smtClean="0">
                              <a:solidFill>
                                <a:schemeClr val="tx1"/>
                              </a:solidFill>
                              <a:latin typeface="Cambria Math" panose="02040503050406030204" pitchFamily="18" charset="0"/>
                            </a:rPr>
                            <m:t>𝑓</m:t>
                          </m:r>
                          <m:r>
                            <a:rPr kumimoji="1" lang="en-US" altLang="zh-CN" sz="2000" i="1">
                              <a:solidFill>
                                <a:schemeClr val="tx1"/>
                              </a:solidFill>
                              <a:latin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1</m:t>
                              </m:r>
                            </m:sub>
                          </m:sSub>
                          <m:r>
                            <a:rPr kumimoji="1" lang="en-US" altLang="zh-CN" sz="2000" i="1">
                              <a:solidFill>
                                <a:schemeClr val="tx1"/>
                              </a:solidFill>
                              <a:latin typeface="Cambria Math" panose="02040503050406030204" pitchFamily="18" charset="0"/>
                            </a:rPr>
                            <m:t>)+</m:t>
                          </m:r>
                          <m:r>
                            <a:rPr kumimoji="1" lang="en-US" altLang="zh-CN" sz="2000" i="1">
                              <a:solidFill>
                                <a:schemeClr val="tx1"/>
                              </a:solidFill>
                              <a:latin typeface="Cambria Math" panose="02040503050406030204" pitchFamily="18" charset="0"/>
                              <a:cs typeface="Cambria Math" panose="02040503050406030204" pitchFamily="18" charset="0"/>
                            </a:rPr>
                            <m:t>(</m:t>
                          </m:r>
                          <m:sSubSup>
                            <m:sSubSupPr>
                              <m:ctrlPr>
                                <a:rPr kumimoji="1" lang="en-US" altLang="zh-CN" sz="2000" i="1">
                                  <a:solidFill>
                                    <a:schemeClr val="tx1"/>
                                  </a:solidFill>
                                  <a:latin typeface="Cambria Math" panose="02040503050406030204" pitchFamily="18" charset="0"/>
                                  <a:cs typeface="Cambria Math" panose="02040503050406030204" pitchFamily="18" charset="0"/>
                                </a:rPr>
                              </m:ctrlPr>
                            </m:sSubSup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3</m:t>
                              </m:r>
                            </m:sub>
                            <m:sup>
                              <m:r>
                                <a:rPr kumimoji="1" lang="en-US" altLang="zh-CN" sz="2000" i="1">
                                  <a:solidFill>
                                    <a:schemeClr val="tx1"/>
                                  </a:solidFill>
                                  <a:latin typeface="Cambria Math" panose="02040503050406030204" pitchFamily="18" charset="0"/>
                                  <a:cs typeface="Cambria Math" panose="02040503050406030204" pitchFamily="18" charset="0"/>
                                </a:rPr>
                                <m:t>2</m:t>
                              </m:r>
                            </m:sup>
                          </m:sSubSup>
                          <m:r>
                            <a:rPr kumimoji="1" lang="en-US" altLang="zh-CN" sz="2000" i="1">
                              <a:solidFill>
                                <a:schemeClr val="tx1"/>
                              </a:solidFill>
                              <a:latin typeface="Cambria Math" panose="02040503050406030204" pitchFamily="18" charset="0"/>
                              <a:cs typeface="Cambria Math" panose="02040503050406030204" pitchFamily="18" charset="0"/>
                            </a:rPr>
                            <m:t>−</m:t>
                          </m:r>
                          <m:sSubSup>
                            <m:sSubSupPr>
                              <m:ctrlPr>
                                <a:rPr kumimoji="1" lang="en-US" altLang="zh-CN" sz="2000" i="1">
                                  <a:solidFill>
                                    <a:schemeClr val="tx1"/>
                                  </a:solidFill>
                                  <a:latin typeface="Cambria Math" panose="02040503050406030204" pitchFamily="18" charset="0"/>
                                  <a:cs typeface="Cambria Math" panose="02040503050406030204" pitchFamily="18" charset="0"/>
                                </a:rPr>
                              </m:ctrlPr>
                            </m:sSubSup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1</m:t>
                              </m:r>
                            </m:sub>
                            <m:sup>
                              <m:r>
                                <a:rPr kumimoji="1" lang="en-US" altLang="zh-CN" sz="2000" i="1">
                                  <a:solidFill>
                                    <a:schemeClr val="tx1"/>
                                  </a:solidFill>
                                  <a:latin typeface="Cambria Math" panose="02040503050406030204" pitchFamily="18" charset="0"/>
                                  <a:cs typeface="Cambria Math" panose="02040503050406030204" pitchFamily="18" charset="0"/>
                                </a:rPr>
                                <m:t>2</m:t>
                              </m:r>
                            </m:sup>
                          </m:sSubSup>
                          <m:r>
                            <a:rPr kumimoji="1" lang="en-US" altLang="zh-CN" sz="2000" i="1">
                              <a:solidFill>
                                <a:schemeClr val="tx1"/>
                              </a:solidFill>
                              <a:latin typeface="Cambria Math" panose="02040503050406030204" pitchFamily="18" charset="0"/>
                              <a:cs typeface="Cambria Math" panose="02040503050406030204" pitchFamily="18" charset="0"/>
                            </a:rPr>
                            <m:t>)</m:t>
                          </m:r>
                          <m:r>
                            <a:rPr kumimoji="1" lang="en-US" altLang="zh-CN" sz="2000" i="1" smtClean="0">
                              <a:solidFill>
                                <a:schemeClr val="tx1"/>
                              </a:solidFill>
                              <a:latin typeface="Cambria Math" panose="02040503050406030204" pitchFamily="18" charset="0"/>
                            </a:rPr>
                            <m:t>𝑓</m:t>
                          </m:r>
                          <m:r>
                            <a:rPr kumimoji="1" lang="en-US" altLang="zh-CN" sz="2000" i="1">
                              <a:solidFill>
                                <a:schemeClr val="tx1"/>
                              </a:solidFill>
                              <a:latin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2</m:t>
                              </m:r>
                            </m:sub>
                          </m:sSub>
                          <m:r>
                            <a:rPr kumimoji="1" lang="en-US" altLang="zh-CN" sz="2000" i="1">
                              <a:solidFill>
                                <a:schemeClr val="tx1"/>
                              </a:solidFill>
                              <a:latin typeface="Cambria Math" panose="02040503050406030204" pitchFamily="18" charset="0"/>
                            </a:rPr>
                            <m:t>)+</m:t>
                          </m:r>
                          <m:r>
                            <a:rPr kumimoji="1" lang="en-US" altLang="zh-CN" sz="2000" i="1">
                              <a:solidFill>
                                <a:schemeClr val="tx1"/>
                              </a:solidFill>
                              <a:latin typeface="Cambria Math" panose="02040503050406030204" pitchFamily="18" charset="0"/>
                              <a:cs typeface="Cambria Math" panose="02040503050406030204" pitchFamily="18" charset="0"/>
                            </a:rPr>
                            <m:t>(</m:t>
                          </m:r>
                          <m:sSubSup>
                            <m:sSubSupPr>
                              <m:ctrlPr>
                                <a:rPr kumimoji="1" lang="en-US" altLang="zh-CN" sz="2000" i="1">
                                  <a:solidFill>
                                    <a:schemeClr val="tx1"/>
                                  </a:solidFill>
                                  <a:latin typeface="Cambria Math" panose="02040503050406030204" pitchFamily="18" charset="0"/>
                                  <a:cs typeface="Cambria Math" panose="02040503050406030204" pitchFamily="18" charset="0"/>
                                </a:rPr>
                              </m:ctrlPr>
                            </m:sSubSup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1</m:t>
                              </m:r>
                            </m:sub>
                            <m:sup>
                              <m:r>
                                <a:rPr kumimoji="1" lang="en-US" altLang="zh-CN" sz="2000" i="1">
                                  <a:solidFill>
                                    <a:schemeClr val="tx1"/>
                                  </a:solidFill>
                                  <a:latin typeface="Cambria Math" panose="02040503050406030204" pitchFamily="18" charset="0"/>
                                  <a:cs typeface="Cambria Math" panose="02040503050406030204" pitchFamily="18" charset="0"/>
                                </a:rPr>
                                <m:t>2</m:t>
                              </m:r>
                            </m:sup>
                          </m:sSubSup>
                          <m:r>
                            <a:rPr kumimoji="1" lang="en-US" altLang="zh-CN" sz="2000" i="1">
                              <a:solidFill>
                                <a:schemeClr val="tx1"/>
                              </a:solidFill>
                              <a:latin typeface="Cambria Math" panose="02040503050406030204" pitchFamily="18" charset="0"/>
                              <a:cs typeface="Cambria Math" panose="02040503050406030204" pitchFamily="18" charset="0"/>
                            </a:rPr>
                            <m:t>−</m:t>
                          </m:r>
                          <m:sSubSup>
                            <m:sSubSupPr>
                              <m:ctrlPr>
                                <a:rPr kumimoji="1" lang="en-US" altLang="zh-CN" sz="2000" i="1">
                                  <a:solidFill>
                                    <a:schemeClr val="tx1"/>
                                  </a:solidFill>
                                  <a:latin typeface="Cambria Math" panose="02040503050406030204" pitchFamily="18" charset="0"/>
                                  <a:cs typeface="Cambria Math" panose="02040503050406030204" pitchFamily="18" charset="0"/>
                                </a:rPr>
                              </m:ctrlPr>
                            </m:sSubSup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2</m:t>
                              </m:r>
                            </m:sub>
                            <m:sup>
                              <m:r>
                                <a:rPr kumimoji="1" lang="en-US" altLang="zh-CN" sz="2000" i="1">
                                  <a:solidFill>
                                    <a:schemeClr val="tx1"/>
                                  </a:solidFill>
                                  <a:latin typeface="Cambria Math" panose="02040503050406030204" pitchFamily="18" charset="0"/>
                                  <a:cs typeface="Cambria Math" panose="02040503050406030204" pitchFamily="18" charset="0"/>
                                </a:rPr>
                                <m:t>2</m:t>
                              </m:r>
                            </m:sup>
                          </m:sSubSup>
                          <m:r>
                            <a:rPr kumimoji="1" lang="en-US" altLang="zh-CN" sz="2000" i="1">
                              <a:solidFill>
                                <a:schemeClr val="tx1"/>
                              </a:solidFill>
                              <a:latin typeface="Cambria Math" panose="02040503050406030204" pitchFamily="18" charset="0"/>
                              <a:cs typeface="Cambria Math" panose="02040503050406030204" pitchFamily="18" charset="0"/>
                            </a:rPr>
                            <m:t>)</m:t>
                          </m:r>
                          <m:r>
                            <a:rPr kumimoji="1" lang="en-US" altLang="zh-CN" sz="2000" i="1" smtClean="0">
                              <a:solidFill>
                                <a:schemeClr val="tx1"/>
                              </a:solidFill>
                              <a:latin typeface="Cambria Math" panose="02040503050406030204" pitchFamily="18" charset="0"/>
                            </a:rPr>
                            <m:t>𝑓</m:t>
                          </m:r>
                          <m:r>
                            <a:rPr kumimoji="1" lang="en-US" altLang="zh-CN" sz="2000" i="1">
                              <a:solidFill>
                                <a:schemeClr val="tx1"/>
                              </a:solidFill>
                              <a:latin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3</m:t>
                              </m:r>
                            </m:sub>
                          </m:sSub>
                          <m:r>
                            <a:rPr kumimoji="1" lang="en-US" altLang="zh-CN" sz="2000" i="1">
                              <a:solidFill>
                                <a:schemeClr val="tx1"/>
                              </a:solidFill>
                              <a:latin typeface="Cambria Math" panose="02040503050406030204" pitchFamily="18" charset="0"/>
                            </a:rPr>
                            <m:t>)</m:t>
                          </m:r>
                        </m:num>
                        <m:den>
                          <m:r>
                            <a:rPr kumimoji="1" lang="en-US" altLang="zh-CN" sz="2000" i="1">
                              <a:solidFill>
                                <a:schemeClr val="tx1"/>
                              </a:solidFill>
                              <a:latin typeface="Cambria Math" panose="02040503050406030204" pitchFamily="18" charset="0"/>
                              <a:cs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2</m:t>
                              </m:r>
                            </m:sub>
                          </m:sSub>
                          <m:r>
                            <a:rPr kumimoji="1" lang="en-US" altLang="zh-CN" sz="2000" i="1">
                              <a:solidFill>
                                <a:schemeClr val="tx1"/>
                              </a:solidFill>
                              <a:latin typeface="Cambria Math" panose="02040503050406030204" pitchFamily="18" charset="0"/>
                              <a:cs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3</m:t>
                              </m:r>
                            </m:sub>
                          </m:sSub>
                          <m:r>
                            <a:rPr kumimoji="1" lang="en-US" altLang="zh-CN" sz="2000" i="1">
                              <a:solidFill>
                                <a:schemeClr val="tx1"/>
                              </a:solidFill>
                              <a:latin typeface="Cambria Math" panose="02040503050406030204" pitchFamily="18" charset="0"/>
                              <a:cs typeface="Cambria Math" panose="02040503050406030204" pitchFamily="18" charset="0"/>
                            </a:rPr>
                            <m:t>)</m:t>
                          </m:r>
                          <m:r>
                            <a:rPr kumimoji="1" lang="en-US" altLang="zh-CN" sz="2000" i="1" smtClean="0">
                              <a:solidFill>
                                <a:schemeClr val="tx1"/>
                              </a:solidFill>
                              <a:latin typeface="Cambria Math" panose="02040503050406030204" pitchFamily="18" charset="0"/>
                            </a:rPr>
                            <m:t>𝑓</m:t>
                          </m:r>
                          <m:r>
                            <a:rPr kumimoji="1" lang="en-US" altLang="zh-CN" sz="2000" i="1">
                              <a:solidFill>
                                <a:schemeClr val="tx1"/>
                              </a:solidFill>
                              <a:latin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1</m:t>
                              </m:r>
                            </m:sub>
                          </m:sSub>
                          <m:r>
                            <a:rPr kumimoji="1" lang="en-US" altLang="zh-CN" sz="2000" i="1">
                              <a:solidFill>
                                <a:schemeClr val="tx1"/>
                              </a:solidFill>
                              <a:latin typeface="Cambria Math" panose="02040503050406030204" pitchFamily="18" charset="0"/>
                            </a:rPr>
                            <m:t>)+</m:t>
                          </m:r>
                          <m:r>
                            <a:rPr kumimoji="1" lang="en-US" altLang="zh-CN" sz="2000" i="1">
                              <a:solidFill>
                                <a:schemeClr val="tx1"/>
                              </a:solidFill>
                              <a:latin typeface="Cambria Math" panose="02040503050406030204" pitchFamily="18" charset="0"/>
                              <a:cs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3</m:t>
                              </m:r>
                            </m:sub>
                          </m:sSub>
                          <m:r>
                            <a:rPr kumimoji="1" lang="en-US" altLang="zh-CN" sz="2000" i="1">
                              <a:solidFill>
                                <a:schemeClr val="tx1"/>
                              </a:solidFill>
                              <a:latin typeface="Cambria Math" panose="02040503050406030204" pitchFamily="18" charset="0"/>
                              <a:cs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1</m:t>
                              </m:r>
                            </m:sub>
                          </m:sSub>
                          <m:r>
                            <a:rPr kumimoji="1" lang="en-US" altLang="zh-CN" sz="2000" i="1">
                              <a:solidFill>
                                <a:schemeClr val="tx1"/>
                              </a:solidFill>
                              <a:latin typeface="Cambria Math" panose="02040503050406030204" pitchFamily="18" charset="0"/>
                              <a:cs typeface="Cambria Math" panose="02040503050406030204" pitchFamily="18" charset="0"/>
                            </a:rPr>
                            <m:t>)</m:t>
                          </m:r>
                          <m:r>
                            <a:rPr kumimoji="1" lang="en-US" altLang="zh-CN" sz="2000" i="1" smtClean="0">
                              <a:solidFill>
                                <a:schemeClr val="tx1"/>
                              </a:solidFill>
                              <a:latin typeface="Cambria Math" panose="02040503050406030204" pitchFamily="18" charset="0"/>
                            </a:rPr>
                            <m:t>𝑓</m:t>
                          </m:r>
                          <m:r>
                            <a:rPr kumimoji="1" lang="en-US" altLang="zh-CN" sz="2000" i="1">
                              <a:solidFill>
                                <a:schemeClr val="tx1"/>
                              </a:solidFill>
                              <a:latin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2</m:t>
                              </m:r>
                            </m:sub>
                          </m:sSub>
                          <m:r>
                            <a:rPr kumimoji="1" lang="en-US" altLang="zh-CN" sz="2000" i="1">
                              <a:solidFill>
                                <a:schemeClr val="tx1"/>
                              </a:solidFill>
                              <a:latin typeface="Cambria Math" panose="02040503050406030204" pitchFamily="18" charset="0"/>
                            </a:rPr>
                            <m:t>)+</m:t>
                          </m:r>
                          <m:r>
                            <a:rPr kumimoji="1" lang="en-US" altLang="zh-CN" sz="2000" i="1">
                              <a:solidFill>
                                <a:schemeClr val="tx1"/>
                              </a:solidFill>
                              <a:latin typeface="Cambria Math" panose="02040503050406030204" pitchFamily="18" charset="0"/>
                              <a:cs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1</m:t>
                              </m:r>
                            </m:sub>
                          </m:sSub>
                          <m:r>
                            <a:rPr kumimoji="1" lang="en-US" altLang="zh-CN" sz="2000" i="1">
                              <a:solidFill>
                                <a:schemeClr val="tx1"/>
                              </a:solidFill>
                              <a:latin typeface="Cambria Math" panose="02040503050406030204" pitchFamily="18" charset="0"/>
                              <a:cs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cs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2</m:t>
                              </m:r>
                            </m:sub>
                          </m:sSub>
                          <m:r>
                            <a:rPr kumimoji="1" lang="en-US" altLang="zh-CN" sz="2000" i="1">
                              <a:solidFill>
                                <a:schemeClr val="tx1"/>
                              </a:solidFill>
                              <a:latin typeface="Cambria Math" panose="02040503050406030204" pitchFamily="18" charset="0"/>
                              <a:cs typeface="Cambria Math" panose="02040503050406030204" pitchFamily="18" charset="0"/>
                            </a:rPr>
                            <m:t>)</m:t>
                          </m:r>
                          <m:r>
                            <a:rPr kumimoji="1" lang="en-US" altLang="zh-CN" sz="2000" i="1" smtClean="0">
                              <a:solidFill>
                                <a:schemeClr val="tx1"/>
                              </a:solidFill>
                              <a:latin typeface="Cambria Math" panose="02040503050406030204" pitchFamily="18" charset="0"/>
                            </a:rPr>
                            <m:t>𝑓</m:t>
                          </m:r>
                          <m:r>
                            <a:rPr kumimoji="1" lang="en-US" altLang="zh-CN" sz="2000" i="1">
                              <a:solidFill>
                                <a:schemeClr val="tx1"/>
                              </a:solidFill>
                              <a:latin typeface="Cambria Math" panose="02040503050406030204" pitchFamily="18" charset="0"/>
                            </a:rPr>
                            <m:t>(</m:t>
                          </m:r>
                          <m:sSub>
                            <m:sSubPr>
                              <m:ctrlPr>
                                <a:rPr kumimoji="1" lang="en-US" altLang="zh-CN" sz="2000" i="1">
                                  <a:solidFill>
                                    <a:schemeClr val="tx1"/>
                                  </a:solidFill>
                                  <a:latin typeface="Cambria Math" panose="02040503050406030204" pitchFamily="18" charset="0"/>
                                  <a:cs typeface="Cambria Math" panose="02040503050406030204" pitchFamily="18" charset="0"/>
                                </a:rPr>
                              </m:ctrlPr>
                            </m:sSubPr>
                            <m:e>
                              <m:r>
                                <a:rPr kumimoji="1" lang="en-US" altLang="zh-CN" sz="2000" i="1">
                                  <a:solidFill>
                                    <a:schemeClr val="tx1"/>
                                  </a:solidFill>
                                  <a:latin typeface="Cambria Math" panose="02040503050406030204" pitchFamily="18" charset="0"/>
                                </a:rPr>
                                <m:t>𝑥</m:t>
                              </m:r>
                            </m:e>
                            <m:sub>
                              <m:r>
                                <a:rPr kumimoji="1" lang="en-US" altLang="zh-CN" sz="2000" i="1">
                                  <a:solidFill>
                                    <a:schemeClr val="tx1"/>
                                  </a:solidFill>
                                  <a:latin typeface="Cambria Math" panose="02040503050406030204" pitchFamily="18" charset="0"/>
                                  <a:cs typeface="Cambria Math" panose="02040503050406030204" pitchFamily="18" charset="0"/>
                                </a:rPr>
                                <m:t>3</m:t>
                              </m:r>
                            </m:sub>
                          </m:sSub>
                          <m:r>
                            <a:rPr kumimoji="1" lang="en-US" altLang="zh-CN" sz="2000" i="1">
                              <a:solidFill>
                                <a:schemeClr val="tx1"/>
                              </a:solidFill>
                              <a:latin typeface="Cambria Math" panose="02040503050406030204" pitchFamily="18" charset="0"/>
                            </a:rPr>
                            <m:t>)</m:t>
                          </m:r>
                        </m:den>
                      </m:f>
                    </m:oMath>
                  </m:oMathPara>
                </a14:m>
                <a:endParaRPr lang="zh-CN" altLang="en-US" sz="2000"/>
              </a:p>
            </p:txBody>
          </p:sp>
        </mc:Choice>
        <mc:Fallback xmlns="">
          <p:sp>
            <p:nvSpPr>
              <p:cNvPr id="8" name="文本框 7"/>
              <p:cNvSpPr txBox="1">
                <a:spLocks noRot="1" noChangeAspect="1" noMove="1" noResize="1" noEditPoints="1" noAdjustHandles="1" noChangeArrowheads="1" noChangeShapeType="1" noTextEdit="1"/>
              </p:cNvSpPr>
              <p:nvPr/>
            </p:nvSpPr>
            <p:spPr>
              <a:xfrm>
                <a:off x="1055370" y="3860800"/>
                <a:ext cx="6561455" cy="762635"/>
              </a:xfrm>
              <a:prstGeom prst="rect">
                <a:avLst/>
              </a:prstGeom>
              <a:blipFill rotWithShape="1">
                <a:blip r:embed="rId7"/>
                <a:stretch>
                  <a:fillRect r="-310"/>
                </a:stretch>
              </a:blipFill>
            </p:spPr>
            <p:txBody>
              <a:bodyPr/>
              <a:lstStyle/>
              <a:p>
                <a:r>
                  <a:rPr lang="zh-CN" altLang="en-US">
                    <a:noFill/>
                  </a:rPr>
                  <a:t> </a:t>
                </a:r>
              </a:p>
            </p:txBody>
          </p:sp>
        </mc:Fallback>
      </mc:AlternateContent>
      <p:sp>
        <p:nvSpPr>
          <p:cNvPr id="4" name="文本框 3">
            <a:extLst>
              <a:ext uri="{FF2B5EF4-FFF2-40B4-BE49-F238E27FC236}">
                <a16:creationId xmlns:a16="http://schemas.microsoft.com/office/drawing/2014/main" id="{37C74FB0-E582-6C0A-EC3A-0486F6F12615}"/>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2"/>
          <a:stretch>
            <a:fillRect/>
          </a:stretch>
        </p:blipFill>
        <p:spPr>
          <a:xfrm>
            <a:off x="372118" y="1391371"/>
            <a:ext cx="6486525" cy="5019675"/>
          </a:xfrm>
          <a:prstGeom prst="rect">
            <a:avLst/>
          </a:prstGeom>
        </p:spPr>
      </p:pic>
      <p:pic>
        <p:nvPicPr>
          <p:cNvPr id="13" name="图片 12"/>
          <p:cNvPicPr>
            <a:picLocks noChangeAspect="1"/>
          </p:cNvPicPr>
          <p:nvPr/>
        </p:nvPicPr>
        <p:blipFill>
          <a:blip r:embed="rId3"/>
          <a:stretch>
            <a:fillRect/>
          </a:stretch>
        </p:blipFill>
        <p:spPr>
          <a:xfrm>
            <a:off x="7104112" y="2348880"/>
            <a:ext cx="4992601" cy="3960440"/>
          </a:xfrm>
          <a:prstGeom prst="rect">
            <a:avLst/>
          </a:prstGeom>
        </p:spPr>
      </p:pic>
      <mc:AlternateContent xmlns:mc="http://schemas.openxmlformats.org/markup-compatibility/2006" xmlns:a14="http://schemas.microsoft.com/office/drawing/2010/main">
        <mc:Choice Requires="a14">
          <p:sp>
            <p:nvSpPr>
              <p:cNvPr id="15" name="文本框 14"/>
              <p:cNvSpPr txBox="1"/>
              <p:nvPr/>
            </p:nvSpPr>
            <p:spPr>
              <a:xfrm>
                <a:off x="379750" y="332656"/>
                <a:ext cx="10180746" cy="830997"/>
              </a:xfrm>
              <a:prstGeom prst="rect">
                <a:avLst/>
              </a:prstGeom>
              <a:noFill/>
            </p:spPr>
            <p:txBody>
              <a:bodyPr wrap="square">
                <a:spAutoFit/>
              </a:bodyPr>
              <a:lstStyle/>
              <a:p>
                <a:pPr indent="266700" algn="just"/>
                <a:r>
                  <a:rPr lang="zh-CN" altLang="zh-CN" sz="2400" b="1" kern="100" dirty="0">
                    <a:solidFill>
                      <a:schemeClr val="accent1"/>
                    </a:solidFill>
                    <a:effectLst/>
                    <a:latin typeface="等线" panose="02010600030101010101" pitchFamily="2" charset="-122"/>
                    <a:ea typeface="宋体" panose="02010600030101010101" pitchFamily="2" charset="-122"/>
                    <a:cs typeface="Times New Roman" panose="02020603050405020304" pitchFamily="18" charset="0"/>
                  </a:rPr>
                  <a:t>例</a:t>
                </a:r>
                <a:r>
                  <a:rPr lang="en-US" altLang="zh-CN" sz="2400" b="1"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用抛物线逼近法求函数</a:t>
                </a:r>
                <a14:m>
                  <m:oMath xmlns:m="http://schemas.openxmlformats.org/officeDocument/2006/math">
                    <m:r>
                      <a:rPr lang="en-US" altLang="zh-CN" sz="2400" i="1" kern="100" smtClean="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4</m:t>
                        </m:r>
                      </m:sup>
                    </m:sSup>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4</m:t>
                    </m:r>
                    <m:sSup>
                      <m:sSup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3</m:t>
                        </m:r>
                      </m:sup>
                    </m:sSup>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6</m:t>
                    </m:r>
                    <m:sSup>
                      <m:sSup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16</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+4</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的极值点。初始搜索区间</a:t>
                </a:r>
                <a14:m>
                  <m:oMath xmlns:m="http://schemas.openxmlformats.org/officeDocument/2006/math">
                    <m:d>
                      <m:dPr>
                        <m:begChr m:val="["/>
                        <m:endChr m:val="]"/>
                        <m:ctrlPr>
                          <a:rPr lang="zh-CN" altLang="zh-CN" sz="2400" i="1" kern="100" smtClean="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3</m:t>
                            </m:r>
                          </m:sub>
                        </m:sSub>
                      </m:e>
                    </m:d>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1,6</m:t>
                        </m:r>
                      </m:e>
                    </m:d>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𝜀</m:t>
                    </m:r>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=0.05</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5" name="文本框 14"/>
              <p:cNvSpPr txBox="1">
                <a:spLocks noRot="1" noChangeAspect="1" noMove="1" noResize="1" noEditPoints="1" noAdjustHandles="1" noChangeArrowheads="1" noChangeShapeType="1" noTextEdit="1"/>
              </p:cNvSpPr>
              <p:nvPr/>
            </p:nvSpPr>
            <p:spPr>
              <a:xfrm>
                <a:off x="379750" y="332656"/>
                <a:ext cx="10180746" cy="830997"/>
              </a:xfrm>
              <a:prstGeom prst="rect">
                <a:avLst/>
              </a:prstGeom>
              <a:blipFill rotWithShape="1">
                <a:blip r:embed="rId4"/>
                <a:stretch>
                  <a:fillRect t="-66" r="4" b="40"/>
                </a:stretch>
              </a:blipFill>
            </p:spPr>
            <p:txBody>
              <a:bodyPr/>
              <a:lstStyle/>
              <a:p>
                <a:r>
                  <a:rPr lang="zh-CN" altLang="en-US">
                    <a:noFill/>
                  </a:rPr>
                  <a:t> </a:t>
                </a:r>
              </a:p>
            </p:txBody>
          </p:sp>
        </mc:Fallback>
      </mc:AlternateContent>
    </p:spTree>
  </p:cSld>
  <p:clrMapOvr>
    <a:masterClrMapping/>
  </p:clrMapOvr>
  <p:transition>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7" name="文本框 16"/>
              <p:cNvSpPr txBox="1"/>
              <p:nvPr/>
            </p:nvSpPr>
            <p:spPr>
              <a:xfrm>
                <a:off x="335360" y="332656"/>
                <a:ext cx="11665296" cy="6021070"/>
              </a:xfrm>
              <a:prstGeom prst="rect">
                <a:avLst/>
              </a:prstGeom>
              <a:noFill/>
            </p:spPr>
            <p:txBody>
              <a:bodyPr wrap="square">
                <a:spAutoFit/>
              </a:bodyPr>
              <a:lstStyle/>
              <a:p>
                <a:pPr indent="266700" algn="just">
                  <a:lnSpc>
                    <a:spcPct val="150000"/>
                  </a:lnSpc>
                </a:pPr>
                <a:r>
                  <a:rPr lang="zh-CN" altLang="zh-CN" sz="2400" b="1" kern="100" dirty="0">
                    <a:effectLst/>
                    <a:latin typeface="等线" panose="02010600030101010101" pitchFamily="2" charset="-122"/>
                    <a:ea typeface="宋体" panose="02010600030101010101" pitchFamily="2" charset="-122"/>
                    <a:cs typeface="Times New Roman" panose="02020603050405020304" pitchFamily="18" charset="0"/>
                  </a:rPr>
                  <a:t>解</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：取</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点为区间</a:t>
                </a:r>
                <a14:m>
                  <m:oMath xmlns:m="http://schemas.openxmlformats.org/officeDocument/2006/math">
                    <m:d>
                      <m:dPr>
                        <m:begChr m:val="["/>
                        <m:endChr m:val="]"/>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3</m:t>
                            </m:r>
                          </m:sub>
                        </m:sSub>
                      </m:e>
                    </m:d>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的中点，</a:t>
                </a:r>
                <a14:m>
                  <m:oMath xmlns:m="http://schemas.openxmlformats.org/officeDocument/2006/math">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=0.5×</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3</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=2.5</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，计算</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400" i="1" kern="100" dirty="0">
                    <a:effectLst/>
                    <a:latin typeface="Cambria Math"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oMath>
                </a14:m>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Cambria Math"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三点处的函数值</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𝑓</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=19, </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𝑓</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=−96, </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𝑓</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=124</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。可见函数值</a:t>
                </a:r>
                <a:r>
                  <a:rPr lang="zh-CN" altLang="zh-CN" sz="2400" kern="100">
                    <a:effectLst/>
                    <a:latin typeface="等线" panose="02010600030101010101" pitchFamily="2" charset="-122"/>
                    <a:ea typeface="宋体" panose="02010600030101010101" pitchFamily="2" charset="-122"/>
                    <a:cs typeface="Times New Roman" panose="02020603050405020304" pitchFamily="18" charset="0"/>
                  </a:rPr>
                  <a:t>满足“</a:t>
                </a:r>
                <a:r>
                  <a:rPr lang="zh-CN" altLang="en-US" sz="2400" kern="100">
                    <a:effectLst/>
                    <a:latin typeface="等线" panose="02010600030101010101" pitchFamily="2" charset="-122"/>
                    <a:ea typeface="宋体" panose="02010600030101010101" pitchFamily="2" charset="-122"/>
                    <a:cs typeface="Times New Roman" panose="02020603050405020304" pitchFamily="18" charset="0"/>
                  </a:rPr>
                  <a:t>高</a:t>
                </a:r>
                <a:r>
                  <a:rPr lang="zh-CN" altLang="zh-CN" sz="2400" kern="100">
                    <a:effectLst/>
                    <a:latin typeface="等线" panose="02010600030101010101" pitchFamily="2" charset="-122"/>
                    <a:ea typeface="宋体" panose="02010600030101010101" pitchFamily="2" charset="-122"/>
                    <a:cs typeface="Times New Roman" panose="02020603050405020304" pitchFamily="18" charset="0"/>
                  </a:rPr>
                  <a:t>－</a:t>
                </a:r>
                <a:r>
                  <a:rPr lang="zh-CN" altLang="en-US" sz="2400" kern="100">
                    <a:effectLst/>
                    <a:latin typeface="等线" panose="02010600030101010101" pitchFamily="2" charset="-122"/>
                    <a:ea typeface="宋体" panose="02010600030101010101" pitchFamily="2" charset="-122"/>
                    <a:cs typeface="Times New Roman" panose="02020603050405020304" pitchFamily="18" charset="0"/>
                  </a:rPr>
                  <a:t>低</a:t>
                </a:r>
                <a:r>
                  <a:rPr lang="zh-CN" altLang="zh-CN" sz="2400" kern="100">
                    <a:effectLst/>
                    <a:latin typeface="等线" panose="02010600030101010101" pitchFamily="2" charset="-122"/>
                    <a:ea typeface="宋体" panose="02010600030101010101" pitchFamily="2" charset="-122"/>
                    <a:cs typeface="Times New Roman" panose="02020603050405020304" pitchFamily="18" charset="0"/>
                  </a:rPr>
                  <a:t>－</a:t>
                </a:r>
                <a:r>
                  <a:rPr lang="zh-CN" altLang="en-US" sz="2400" kern="100">
                    <a:effectLst/>
                    <a:latin typeface="等线" panose="02010600030101010101" pitchFamily="2" charset="-122"/>
                    <a:ea typeface="宋体" panose="02010600030101010101" pitchFamily="2" charset="-122"/>
                    <a:cs typeface="Times New Roman" panose="02020603050405020304" pitchFamily="18" charset="0"/>
                  </a:rPr>
                  <a:t>高</a:t>
                </a:r>
                <a:r>
                  <a:rPr lang="zh-CN" altLang="zh-CN" sz="2400" kern="100">
                    <a:effectLst/>
                    <a:latin typeface="等线" panose="02010600030101010101" pitchFamily="2" charset="-122"/>
                    <a:ea typeface="宋体" panose="02010600030101010101" pitchFamily="2" charset="-122"/>
                    <a:cs typeface="Times New Roman" panose="02020603050405020304" pitchFamily="18" charset="0"/>
                  </a:rPr>
                  <a:t>”</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形态。</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pP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以</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400" i="1" kern="100" dirty="0">
                    <a:effectLst/>
                    <a:latin typeface="Cambria Math"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oMath>
                </a14:m>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Cambria Math"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为插值点构造二次曲线，求第一次近似的二次曲线</a:t>
                </a:r>
                <a14:m>
                  <m:oMath xmlns:m="http://schemas.openxmlformats.org/officeDocument/2006/math">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的极小值点，由公式得</a:t>
                </a:r>
                <a14:m>
                  <m:oMath xmlns:m="http://schemas.openxmlformats.org/officeDocument/2006/math">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𝑝</m:t>
                        </m:r>
                      </m:sub>
                    </m:s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=1.9545</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，比较函数值可知</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pPr>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𝑝</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=−65.4648&gt;</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=−96.9375</m:t>
                    </m:r>
                  </m:oMath>
                </a14:m>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pP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这种情况应消除左边区段</a:t>
                </a:r>
                <a14:m>
                  <m:oMath xmlns:m="http://schemas.openxmlformats.org/officeDocument/2006/math">
                    <m:d>
                      <m:dPr>
                        <m:begChr m:val="["/>
                        <m:endChr m:val="]"/>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𝑝</m:t>
                            </m:r>
                          </m:sub>
                        </m:sSub>
                      </m:e>
                    </m:d>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。然后用</a:t>
                </a:r>
                <a14:m>
                  <m:oMath xmlns:m="http://schemas.openxmlformats.org/officeDocument/2006/math">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𝑝</m:t>
                        </m:r>
                      </m:sub>
                    </m:s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 </m:t>
                    </m:r>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作为</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400" i="1" kern="100" dirty="0">
                    <a:effectLst/>
                    <a:latin typeface="Cambria Math"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oMath>
                </a14:m>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a:t>
                </a:r>
                <a:r>
                  <a:rPr lang="en-US" altLang="zh-CN" sz="2400" kern="100" dirty="0">
                    <a:effectLst/>
                    <a:latin typeface="Cambria Math" panose="02040503050406030204" pitchFamily="18" charset="0"/>
                    <a:ea typeface="宋体" panose="02010600030101010101" pitchFamily="2" charset="-122"/>
                    <a:cs typeface="Times New Roman" panose="02020603050405020304" pitchFamily="18" charset="0"/>
                  </a:rPr>
                  <a:t> </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新三点</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重新构造二次曲线</a:t>
                </a:r>
                <a14:m>
                  <m:oMath xmlns:m="http://schemas.openxmlformats.org/officeDocument/2006/math">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，如此反复计算，直到</a:t>
                </a:r>
                <a14:m>
                  <m:oMath xmlns:m="http://schemas.openxmlformats.org/officeDocument/2006/math">
                    <m:d>
                      <m:dPr>
                        <m:begChr m:val="|"/>
                        <m:endChr m:val="|"/>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𝑝</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&lt;</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𝜀</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为止。整个迭代过程的计算结果列于表</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1</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50000"/>
                  </a:lnSpc>
                </a:pP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从表</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1</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中可见，经</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7</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次迭代后，</a:t>
                </a:r>
                <a14:m>
                  <m:oMath xmlns:m="http://schemas.openxmlformats.org/officeDocument/2006/math">
                    <m:d>
                      <m:dPr>
                        <m:begChr m:val="|"/>
                        <m:endChr m:val="|"/>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𝑝</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=0.0378&lt;</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𝜀</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=0.05</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，终止迭代。故最优点</a:t>
                </a:r>
                <a14:m>
                  <m:oMath xmlns:m="http://schemas.openxmlformats.org/officeDocument/2006/math">
                    <m:sSup>
                      <m:sSup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sup>
                    </m:sSup>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𝑝</m:t>
                        </m:r>
                      </m:sub>
                    </m:s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=3.9501</m:t>
                    </m:r>
                  </m:oMath>
                </a14:m>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 </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17" name="文本框 16"/>
              <p:cNvSpPr txBox="1">
                <a:spLocks noRot="1" noChangeAspect="1" noMove="1" noResize="1" noEditPoints="1" noAdjustHandles="1" noChangeArrowheads="1" noChangeShapeType="1" noTextEdit="1"/>
              </p:cNvSpPr>
              <p:nvPr/>
            </p:nvSpPr>
            <p:spPr>
              <a:xfrm>
                <a:off x="335360" y="332656"/>
                <a:ext cx="11665296" cy="6021070"/>
              </a:xfrm>
              <a:prstGeom prst="rect">
                <a:avLst/>
              </a:prstGeom>
              <a:blipFill rotWithShape="1">
                <a:blip r:embed="rId2"/>
                <a:stretch>
                  <a:fillRect l="-1" t="-9" r="4" b="9"/>
                </a:stretch>
              </a:blipFill>
            </p:spPr>
            <p:txBody>
              <a:bodyPr/>
              <a:lstStyle/>
              <a:p>
                <a:r>
                  <a:rPr lang="zh-CN" altLang="en-US">
                    <a:noFill/>
                  </a:rPr>
                  <a:t> </a:t>
                </a:r>
              </a:p>
            </p:txBody>
          </p:sp>
        </mc:Fallback>
      </mc:AlternateContent>
    </p:spTree>
  </p:cSld>
  <p:clrMapOvr>
    <a:masterClrMapping/>
  </p:clrMapOvr>
  <p:transition>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338" name="Object 2"/>
          <p:cNvGraphicFramePr>
            <a:graphicFrameLocks noGrp="1" noChangeAspect="1"/>
          </p:cNvGraphicFramePr>
          <p:nvPr>
            <p:ph idx="1"/>
          </p:nvPr>
        </p:nvGraphicFramePr>
        <p:xfrm>
          <a:off x="623392" y="404664"/>
          <a:ext cx="8805862" cy="3541712"/>
        </p:xfrm>
        <a:graphic>
          <a:graphicData uri="http://schemas.openxmlformats.org/presentationml/2006/ole">
            <mc:AlternateContent xmlns:mc="http://schemas.openxmlformats.org/markup-compatibility/2006">
              <mc:Choice xmlns:v="urn:schemas-microsoft-com:vml" Requires="v">
                <p:oleObj name="Document" r:id="rId2" imgW="5113020" imgH="2057400" progId="Word.Document.8">
                  <p:embed/>
                </p:oleObj>
              </mc:Choice>
              <mc:Fallback>
                <p:oleObj name="Document" r:id="rId2" imgW="5113020" imgH="2057400" progId="Word.Document.8">
                  <p:embed/>
                  <p:pic>
                    <p:nvPicPr>
                      <p:cNvPr id="14338" name="Object 2"/>
                      <p:cNvPicPr>
                        <a:picLocks noChangeAspect="1" noChangeArrowheads="1"/>
                      </p:cNvPicPr>
                      <p:nvPr/>
                    </p:nvPicPr>
                    <p:blipFill>
                      <a:blip r:embed="rId3"/>
                      <a:srcRect/>
                      <a:stretch>
                        <a:fillRect/>
                      </a:stretch>
                    </p:blipFill>
                    <p:spPr bwMode="auto">
                      <a:xfrm>
                        <a:off x="623392" y="404664"/>
                        <a:ext cx="8805862" cy="3541712"/>
                      </a:xfrm>
                      <a:prstGeom prst="rect">
                        <a:avLst/>
                      </a:prstGeom>
                      <a:solidFill>
                        <a:srgbClr val="CCFFFF"/>
                      </a:solidFill>
                      <a:ln w="9525">
                        <a:solidFill>
                          <a:schemeClr val="tx1"/>
                        </a:solidFill>
                        <a:miter lim="800000"/>
                        <a:headEnd/>
                        <a:tailEnd/>
                      </a:ln>
                    </p:spPr>
                  </p:pic>
                </p:oleObj>
              </mc:Fallback>
            </mc:AlternateContent>
          </a:graphicData>
        </a:graphic>
      </p:graphicFrame>
      <p:sp>
        <p:nvSpPr>
          <p:cNvPr id="14339" name="Rectangle 3"/>
          <p:cNvSpPr>
            <a:spLocks noChangeArrowheads="1"/>
          </p:cNvSpPr>
          <p:nvPr/>
        </p:nvSpPr>
        <p:spPr bwMode="auto">
          <a:xfrm>
            <a:off x="4169073" y="2354785"/>
            <a:ext cx="9144000" cy="332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prstDash val="lg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14341" name="Rectangle 5"/>
          <p:cNvSpPr>
            <a:spLocks noChangeArrowheads="1"/>
          </p:cNvSpPr>
          <p:nvPr/>
        </p:nvSpPr>
        <p:spPr bwMode="auto">
          <a:xfrm>
            <a:off x="2650059" y="1484784"/>
            <a:ext cx="9144000" cy="332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6350">
                <a:solidFill>
                  <a:srgbClr val="000000"/>
                </a:solidFill>
                <a:prstDash val="lgDash"/>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0" tIns="0" rIns="0" bIns="0">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pic>
        <p:nvPicPr>
          <p:cNvPr id="9" name="图片 8"/>
          <p:cNvPicPr>
            <a:picLocks noChangeAspect="1"/>
          </p:cNvPicPr>
          <p:nvPr/>
        </p:nvPicPr>
        <p:blipFill>
          <a:blip r:embed="rId4"/>
          <a:stretch>
            <a:fillRect/>
          </a:stretch>
        </p:blipFill>
        <p:spPr>
          <a:xfrm>
            <a:off x="8472264" y="3946376"/>
            <a:ext cx="3557488" cy="2822020"/>
          </a:xfrm>
          <a:prstGeom prst="rect">
            <a:avLst/>
          </a:prstGeom>
        </p:spPr>
      </p:pic>
      <p:sp>
        <p:nvSpPr>
          <p:cNvPr id="2" name="文本框 1">
            <a:extLst>
              <a:ext uri="{FF2B5EF4-FFF2-40B4-BE49-F238E27FC236}">
                <a16:creationId xmlns:a16="http://schemas.microsoft.com/office/drawing/2014/main" id="{1F9282CD-AFAE-3E45-085F-2895AD5BEC36}"/>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3392" y="548680"/>
            <a:ext cx="6872140" cy="584775"/>
          </a:xfrm>
          <a:prstGeom prst="rect">
            <a:avLst/>
          </a:prstGeom>
          <a:noFill/>
        </p:spPr>
        <p:txBody>
          <a:bodyPr wrap="square">
            <a:spAutoFit/>
          </a:bodyPr>
          <a:lstStyle/>
          <a:p>
            <a:pPr algn="just">
              <a:spcBef>
                <a:spcPts val="600"/>
              </a:spcBef>
              <a:spcAft>
                <a:spcPts val="600"/>
              </a:spcAft>
            </a:pPr>
            <a:r>
              <a:rPr lang="zh-CN" altLang="en-US" sz="3200" kern="100" dirty="0">
                <a:latin typeface="Times New Roman" panose="02020603050405020304" pitchFamily="18" charset="0"/>
                <a:ea typeface="黑体" panose="02010609060101010101" pitchFamily="49" charset="-122"/>
              </a:rPr>
              <a:t>四、小结</a:t>
            </a:r>
            <a:endParaRPr lang="zh-CN" altLang="zh-CN" sz="3200" kern="100" dirty="0">
              <a:effectLst/>
              <a:latin typeface="Times New Roman" panose="02020603050405020304" pitchFamily="18" charset="0"/>
              <a:ea typeface="宋体" panose="02010600030101010101" pitchFamily="2" charset="-122"/>
            </a:endParaRPr>
          </a:p>
        </p:txBody>
      </p:sp>
      <mc:AlternateContent xmlns:mc="http://schemas.openxmlformats.org/markup-compatibility/2006" xmlns:a14="http://schemas.microsoft.com/office/drawing/2010/main">
        <mc:Choice Requires="a14">
          <p:sp>
            <p:nvSpPr>
              <p:cNvPr id="5" name="文本框 4"/>
              <p:cNvSpPr txBox="1"/>
              <p:nvPr/>
            </p:nvSpPr>
            <p:spPr>
              <a:xfrm>
                <a:off x="1415415" y="1772920"/>
                <a:ext cx="9292590" cy="3784600"/>
              </a:xfrm>
              <a:prstGeom prst="rect">
                <a:avLst/>
              </a:prstGeom>
              <a:noFill/>
            </p:spPr>
            <p:txBody>
              <a:bodyPr wrap="square" rtlCol="0">
                <a:spAutoFit/>
              </a:bodyPr>
              <a:lstStyle/>
              <a:p>
                <a:pPr algn="just" fontAlgn="auto">
                  <a:lnSpc>
                    <a:spcPct val="150000"/>
                  </a:lnSpc>
                </a:pP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   </a:t>
                </a: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值得注意的是，三个初始点</a:t>
                </a:r>
                <a14:m>
                  <m:oMath xmlns:m="http://schemas.openxmlformats.org/officeDocument/2006/math">
                    <m:sSub>
                      <m:sSubPr>
                        <m:ctrlPr>
                          <a:rPr kumimoji="1" lang="en-US" altLang="zh-CN" sz="2400" i="1">
                            <a:solidFill>
                              <a:srgbClr val="FF0000"/>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rgbClr val="FF0000"/>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rgbClr val="FF0000"/>
                            </a:solidFill>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400" dirty="0">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a:t>
                </a:r>
                <a14:m>
                  <m:oMath xmlns:m="http://schemas.openxmlformats.org/officeDocument/2006/math">
                    <m:sSub>
                      <m:sSubPr>
                        <m:ctrlPr>
                          <a:rPr kumimoji="1" lang="en-US" altLang="zh-CN" sz="2400" i="1">
                            <a:solidFill>
                              <a:srgbClr val="FF0000"/>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rgbClr val="FF0000"/>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rgbClr val="FF0000"/>
                            </a:solidFill>
                            <a:latin typeface="Cambria Math" panose="02040503050406030204" pitchFamily="18" charset="0"/>
                            <a:ea typeface="MS Mincho" panose="02020609040205080304" charset="-128"/>
                            <a:cs typeface="Cambria Math" panose="02040503050406030204" pitchFamily="18" charset="0"/>
                          </a:rPr>
                          <m:t>2</m:t>
                        </m:r>
                      </m:sub>
                    </m:sSub>
                    <m:r>
                      <a:rPr lang="zh-CN" altLang="en-US" sz="2400">
                        <a:solidFill>
                          <a:srgbClr val="FF0000"/>
                        </a:solidFill>
                        <a:latin typeface="Cambria Math" panose="02040503050406030204" pitchFamily="18" charset="0"/>
                        <a:ea typeface="宋体" panose="02010600030101010101" pitchFamily="2" charset="-122"/>
                        <a:cs typeface="Cambria Math" panose="02040503050406030204" pitchFamily="18" charset="0"/>
                        <a:sym typeface="+mn-ea"/>
                      </a:rPr>
                      <m:t>、</m:t>
                    </m:r>
                    <m:sSub>
                      <m:sSubPr>
                        <m:ctrlPr>
                          <a:rPr kumimoji="1" lang="en-US" altLang="zh-CN" sz="2400" i="1">
                            <a:solidFill>
                              <a:srgbClr val="FF0000"/>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rgbClr val="FF0000"/>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rgbClr val="FF0000"/>
                            </a:solidFill>
                            <a:latin typeface="Cambria Math" panose="02040503050406030204" pitchFamily="18" charset="0"/>
                            <a:ea typeface="MS Mincho" panose="02020609040205080304" charset="-128"/>
                            <a:cs typeface="Cambria Math" panose="02040503050406030204" pitchFamily="18" charset="0"/>
                          </a:rPr>
                          <m:t>3</m:t>
                        </m:r>
                      </m:sub>
                    </m:sSub>
                  </m:oMath>
                </a14:m>
                <a:r>
                  <a:rPr kumimoji="1" lang="zh-CN" altLang="en-US" sz="2400" dirty="0">
                    <a:latin typeface="宋体" panose="02010600030101010101" pitchFamily="2" charset="-122"/>
                    <a:ea typeface="宋体" panose="02010600030101010101" pitchFamily="2" charset="-122"/>
                    <a:cs typeface="宋体" panose="02010600030101010101" pitchFamily="2" charset="-122"/>
                    <a:sym typeface="+mn-ea"/>
                  </a:rPr>
                  <a:t>必须满足</a:t>
                </a:r>
              </a:p>
              <a:p>
                <a:pPr algn="just" fontAlgn="auto">
                  <a:lnSpc>
                    <a:spcPct val="150000"/>
                  </a:lnSpc>
                </a:pPr>
                <a14:m>
                  <m:oMathPara xmlns:m="http://schemas.openxmlformats.org/officeDocument/2006/math">
                    <m:oMathParaPr>
                      <m:jc m:val="center"/>
                    </m:oMathParaPr>
                    <m:oMath xmlns:m="http://schemas.openxmlformats.org/officeDocument/2006/math">
                      <m:sSub>
                        <m:sSubPr>
                          <m:ctrlPr>
                            <a:rPr kumimoji="1" lang="en-US" altLang="zh-CN" sz="2400" i="1">
                              <a:solidFill>
                                <a:srgbClr val="FF0000"/>
                              </a:solidFill>
                              <a:latin typeface="Cambria Math" panose="02040503050406030204" pitchFamily="18" charset="0"/>
                              <a:cs typeface="Cambria Math" panose="02040503050406030204" pitchFamily="18" charset="0"/>
                            </a:rPr>
                          </m:ctrlPr>
                        </m:sSubPr>
                        <m:e>
                          <m:r>
                            <a:rPr kumimoji="1" lang="en-US" altLang="zh-CN" sz="2400" i="1">
                              <a:solidFill>
                                <a:srgbClr val="FF0000"/>
                              </a:solidFill>
                              <a:latin typeface="Cambria Math" panose="02040503050406030204" pitchFamily="18" charset="0"/>
                            </a:rPr>
                            <m:t>𝑥</m:t>
                          </m:r>
                        </m:e>
                        <m:sub>
                          <m:r>
                            <a:rPr kumimoji="1" lang="en-US" altLang="zh-CN" sz="2400" i="1">
                              <a:solidFill>
                                <a:srgbClr val="FF0000"/>
                              </a:solidFill>
                              <a:latin typeface="Cambria Math" panose="02040503050406030204" pitchFamily="18" charset="0"/>
                              <a:cs typeface="Cambria Math" panose="02040503050406030204" pitchFamily="18" charset="0"/>
                            </a:rPr>
                            <m:t>1</m:t>
                          </m:r>
                        </m:sub>
                      </m:sSub>
                      <m:r>
                        <a:rPr kumimoji="1" lang="en-US" altLang="zh-CN" sz="2400" i="1">
                          <a:solidFill>
                            <a:srgbClr val="FF0000"/>
                          </a:solidFill>
                          <a:latin typeface="Cambria Math" panose="02040503050406030204" pitchFamily="18" charset="0"/>
                          <a:cs typeface="Cambria Math" panose="02040503050406030204" pitchFamily="18" charset="0"/>
                        </a:rPr>
                        <m:t>&lt;</m:t>
                      </m:r>
                      <m:sSub>
                        <m:sSubPr>
                          <m:ctrlPr>
                            <a:rPr kumimoji="1" lang="en-US" altLang="zh-CN" sz="2400" i="1">
                              <a:solidFill>
                                <a:srgbClr val="FF0000"/>
                              </a:solidFill>
                              <a:latin typeface="Cambria Math" panose="02040503050406030204" pitchFamily="18" charset="0"/>
                              <a:cs typeface="Cambria Math" panose="02040503050406030204" pitchFamily="18" charset="0"/>
                            </a:rPr>
                          </m:ctrlPr>
                        </m:sSubPr>
                        <m:e>
                          <m:r>
                            <a:rPr kumimoji="1" lang="en-US" altLang="zh-CN" sz="2400" i="1">
                              <a:solidFill>
                                <a:srgbClr val="FF0000"/>
                              </a:solidFill>
                              <a:latin typeface="Cambria Math" panose="02040503050406030204" pitchFamily="18" charset="0"/>
                            </a:rPr>
                            <m:t>𝑥</m:t>
                          </m:r>
                        </m:e>
                        <m:sub>
                          <m:r>
                            <a:rPr kumimoji="1" lang="en-US" altLang="zh-CN" sz="2400" i="1">
                              <a:solidFill>
                                <a:srgbClr val="FF0000"/>
                              </a:solidFill>
                              <a:latin typeface="Cambria Math" panose="02040503050406030204" pitchFamily="18" charset="0"/>
                              <a:cs typeface="Cambria Math" panose="02040503050406030204" pitchFamily="18" charset="0"/>
                            </a:rPr>
                            <m:t>2</m:t>
                          </m:r>
                        </m:sub>
                      </m:sSub>
                      <m:sSub>
                        <m:sSubPr>
                          <m:ctrlPr>
                            <a:rPr kumimoji="1" lang="en-US" altLang="zh-CN" sz="2400" i="1">
                              <a:solidFill>
                                <a:srgbClr val="FF0000"/>
                              </a:solidFill>
                              <a:latin typeface="Cambria Math" panose="02040503050406030204" pitchFamily="18" charset="0"/>
                              <a:cs typeface="Cambria Math" panose="02040503050406030204" pitchFamily="18" charset="0"/>
                            </a:rPr>
                          </m:ctrlPr>
                        </m:sSubPr>
                        <m:e>
                          <m:r>
                            <a:rPr kumimoji="1" lang="en-US" altLang="zh-CN" sz="2400" i="1">
                              <a:solidFill>
                                <a:srgbClr val="FF0000"/>
                              </a:solidFill>
                              <a:latin typeface="Cambria Math" panose="02040503050406030204" pitchFamily="18" charset="0"/>
                              <a:cs typeface="Cambria Math" panose="02040503050406030204" pitchFamily="18" charset="0"/>
                            </a:rPr>
                            <m:t>&lt;</m:t>
                          </m:r>
                          <m:r>
                            <a:rPr kumimoji="1" lang="en-US" altLang="zh-CN" sz="2400" i="1">
                              <a:solidFill>
                                <a:srgbClr val="FF0000"/>
                              </a:solidFill>
                              <a:latin typeface="Cambria Math" panose="02040503050406030204" pitchFamily="18" charset="0"/>
                            </a:rPr>
                            <m:t>𝑥</m:t>
                          </m:r>
                        </m:e>
                        <m:sub>
                          <m:r>
                            <a:rPr kumimoji="1" lang="en-US" altLang="zh-CN" sz="2400" i="1">
                              <a:solidFill>
                                <a:srgbClr val="FF0000"/>
                              </a:solidFill>
                              <a:latin typeface="Cambria Math" panose="02040503050406030204" pitchFamily="18" charset="0"/>
                              <a:cs typeface="Cambria Math" panose="02040503050406030204" pitchFamily="18" charset="0"/>
                            </a:rPr>
                            <m:t>3</m:t>
                          </m:r>
                        </m:sub>
                      </m:sSub>
                    </m:oMath>
                  </m:oMathPara>
                </a14:m>
                <a:endParaRPr kumimoji="1" lang="en-US" altLang="zh-CN" sz="2400" i="1" dirty="0">
                  <a:solidFill>
                    <a:srgbClr val="FF0000"/>
                  </a:solidFill>
                  <a:latin typeface="Cambria Math" panose="02040503050406030204" pitchFamily="18" charset="0"/>
                  <a:cs typeface="Cambria Math" panose="02040503050406030204" pitchFamily="18" charset="0"/>
                </a:endParaRPr>
              </a:p>
              <a:p>
                <a:pPr algn="just" fontAlgn="auto">
                  <a:lnSpc>
                    <a:spcPct val="150000"/>
                  </a:lnSpc>
                </a:pPr>
                <a14:m>
                  <m:oMathPara xmlns:m="http://schemas.openxmlformats.org/officeDocument/2006/math">
                    <m:oMathParaPr>
                      <m:jc m:val="center"/>
                    </m:oMathParaPr>
                    <m:oMath xmlns:m="http://schemas.openxmlformats.org/officeDocument/2006/math">
                      <m:r>
                        <a:rPr kumimoji="1" lang="en-US" altLang="zh-CN" sz="2400" i="1" smtClean="0">
                          <a:solidFill>
                            <a:srgbClr val="FF0000"/>
                          </a:solidFill>
                          <a:latin typeface="Cambria Math" panose="02040503050406030204" pitchFamily="18" charset="0"/>
                        </a:rPr>
                        <m:t>𝑓</m:t>
                      </m:r>
                      <m:r>
                        <a:rPr kumimoji="1" lang="en-US" altLang="zh-CN" sz="2400" i="1">
                          <a:solidFill>
                            <a:srgbClr val="FF0000"/>
                          </a:solidFill>
                          <a:latin typeface="Cambria Math" panose="02040503050406030204" pitchFamily="18" charset="0"/>
                        </a:rPr>
                        <m:t>(</m:t>
                      </m:r>
                      <m:sSub>
                        <m:sSubPr>
                          <m:ctrlPr>
                            <a:rPr kumimoji="1" lang="en-US" altLang="zh-CN" sz="2400" i="1">
                              <a:solidFill>
                                <a:srgbClr val="FF0000"/>
                              </a:solidFill>
                              <a:latin typeface="Cambria Math" panose="02040503050406030204" pitchFamily="18" charset="0"/>
                              <a:cs typeface="Cambria Math" panose="02040503050406030204" pitchFamily="18" charset="0"/>
                            </a:rPr>
                          </m:ctrlPr>
                        </m:sSubPr>
                        <m:e>
                          <m:r>
                            <a:rPr kumimoji="1" lang="en-US" altLang="zh-CN" sz="2400" i="1">
                              <a:solidFill>
                                <a:srgbClr val="FF0000"/>
                              </a:solidFill>
                              <a:latin typeface="Cambria Math" panose="02040503050406030204" pitchFamily="18" charset="0"/>
                            </a:rPr>
                            <m:t>𝑥</m:t>
                          </m:r>
                        </m:e>
                        <m:sub>
                          <m:r>
                            <a:rPr kumimoji="1" lang="en-US" altLang="zh-CN" sz="2400" i="1">
                              <a:solidFill>
                                <a:srgbClr val="FF0000"/>
                              </a:solidFill>
                              <a:latin typeface="Cambria Math" panose="02040503050406030204" pitchFamily="18" charset="0"/>
                              <a:cs typeface="Cambria Math" panose="02040503050406030204" pitchFamily="18" charset="0"/>
                            </a:rPr>
                            <m:t>1</m:t>
                          </m:r>
                        </m:sub>
                      </m:sSub>
                      <m:r>
                        <a:rPr kumimoji="1" lang="en-US" altLang="zh-CN" sz="2400" i="1">
                          <a:solidFill>
                            <a:srgbClr val="FF0000"/>
                          </a:solidFill>
                          <a:latin typeface="Cambria Math" panose="02040503050406030204" pitchFamily="18" charset="0"/>
                        </a:rPr>
                        <m:t>)</m:t>
                      </m:r>
                      <m:r>
                        <a:rPr kumimoji="1" lang="en-US" altLang="zh-CN" sz="2400" i="1">
                          <a:solidFill>
                            <a:srgbClr val="FF0000"/>
                          </a:solidFill>
                          <a:latin typeface="Cambria Math" panose="02040503050406030204" pitchFamily="18" charset="0"/>
                          <a:cs typeface="Cambria Math" panose="02040503050406030204" pitchFamily="18" charset="0"/>
                        </a:rPr>
                        <m:t>&gt;</m:t>
                      </m:r>
                      <m:r>
                        <a:rPr kumimoji="1" lang="en-US" altLang="zh-CN" sz="2400" i="1" smtClean="0">
                          <a:solidFill>
                            <a:srgbClr val="FF0000"/>
                          </a:solidFill>
                          <a:latin typeface="Cambria Math" panose="02040503050406030204" pitchFamily="18" charset="0"/>
                        </a:rPr>
                        <m:t>𝑓</m:t>
                      </m:r>
                      <m:r>
                        <a:rPr kumimoji="1" lang="en-US" altLang="zh-CN" sz="2400" i="1">
                          <a:solidFill>
                            <a:srgbClr val="FF0000"/>
                          </a:solidFill>
                          <a:latin typeface="Cambria Math" panose="02040503050406030204" pitchFamily="18" charset="0"/>
                        </a:rPr>
                        <m:t>(</m:t>
                      </m:r>
                      <m:sSub>
                        <m:sSubPr>
                          <m:ctrlPr>
                            <a:rPr kumimoji="1" lang="en-US" altLang="zh-CN" sz="2400" i="1">
                              <a:solidFill>
                                <a:srgbClr val="FF0000"/>
                              </a:solidFill>
                              <a:latin typeface="Cambria Math" panose="02040503050406030204" pitchFamily="18" charset="0"/>
                              <a:cs typeface="Cambria Math" panose="02040503050406030204" pitchFamily="18" charset="0"/>
                            </a:rPr>
                          </m:ctrlPr>
                        </m:sSubPr>
                        <m:e>
                          <m:r>
                            <a:rPr kumimoji="1" lang="en-US" altLang="zh-CN" sz="2400" i="1">
                              <a:solidFill>
                                <a:srgbClr val="FF0000"/>
                              </a:solidFill>
                              <a:latin typeface="Cambria Math" panose="02040503050406030204" pitchFamily="18" charset="0"/>
                            </a:rPr>
                            <m:t>𝑥</m:t>
                          </m:r>
                        </m:e>
                        <m:sub>
                          <m:r>
                            <a:rPr kumimoji="1" lang="en-US" altLang="zh-CN" sz="2400" i="1">
                              <a:solidFill>
                                <a:srgbClr val="FF0000"/>
                              </a:solidFill>
                              <a:latin typeface="Cambria Math" panose="02040503050406030204" pitchFamily="18" charset="0"/>
                              <a:cs typeface="Cambria Math" panose="02040503050406030204" pitchFamily="18" charset="0"/>
                            </a:rPr>
                            <m:t>2</m:t>
                          </m:r>
                        </m:sub>
                      </m:sSub>
                      <m:r>
                        <a:rPr kumimoji="1" lang="en-US" altLang="zh-CN" sz="2400" i="1">
                          <a:solidFill>
                            <a:srgbClr val="FF0000"/>
                          </a:solidFill>
                          <a:latin typeface="Cambria Math" panose="02040503050406030204" pitchFamily="18" charset="0"/>
                        </a:rPr>
                        <m:t>),</m:t>
                      </m:r>
                      <m:r>
                        <a:rPr kumimoji="1" lang="en-US" altLang="zh-CN" sz="2400" i="1" smtClean="0">
                          <a:solidFill>
                            <a:srgbClr val="FF0000"/>
                          </a:solidFill>
                          <a:latin typeface="Cambria Math" panose="02040503050406030204" pitchFamily="18" charset="0"/>
                        </a:rPr>
                        <m:t>𝑓</m:t>
                      </m:r>
                      <m:r>
                        <a:rPr kumimoji="1" lang="en-US" altLang="zh-CN" sz="2400" i="1">
                          <a:solidFill>
                            <a:srgbClr val="FF0000"/>
                          </a:solidFill>
                          <a:latin typeface="Cambria Math" panose="02040503050406030204" pitchFamily="18" charset="0"/>
                        </a:rPr>
                        <m:t>(</m:t>
                      </m:r>
                      <m:sSub>
                        <m:sSubPr>
                          <m:ctrlPr>
                            <a:rPr kumimoji="1" lang="en-US" altLang="zh-CN" sz="2400" i="1">
                              <a:solidFill>
                                <a:srgbClr val="FF0000"/>
                              </a:solidFill>
                              <a:latin typeface="Cambria Math" panose="02040503050406030204" pitchFamily="18" charset="0"/>
                              <a:cs typeface="Cambria Math" panose="02040503050406030204" pitchFamily="18" charset="0"/>
                            </a:rPr>
                          </m:ctrlPr>
                        </m:sSubPr>
                        <m:e>
                          <m:r>
                            <a:rPr kumimoji="1" lang="en-US" altLang="zh-CN" sz="2400" i="1">
                              <a:solidFill>
                                <a:srgbClr val="FF0000"/>
                              </a:solidFill>
                              <a:latin typeface="Cambria Math" panose="02040503050406030204" pitchFamily="18" charset="0"/>
                            </a:rPr>
                            <m:t>𝑥</m:t>
                          </m:r>
                        </m:e>
                        <m:sub>
                          <m:r>
                            <a:rPr kumimoji="1" lang="en-US" altLang="zh-CN" sz="2400" i="1">
                              <a:solidFill>
                                <a:srgbClr val="FF0000"/>
                              </a:solidFill>
                              <a:latin typeface="Cambria Math" panose="02040503050406030204" pitchFamily="18" charset="0"/>
                              <a:cs typeface="Cambria Math" panose="02040503050406030204" pitchFamily="18" charset="0"/>
                            </a:rPr>
                            <m:t>3</m:t>
                          </m:r>
                        </m:sub>
                      </m:sSub>
                      <m:r>
                        <a:rPr kumimoji="1" lang="en-US" altLang="zh-CN" sz="2400" i="1">
                          <a:solidFill>
                            <a:srgbClr val="FF0000"/>
                          </a:solidFill>
                          <a:latin typeface="Cambria Math" panose="02040503050406030204" pitchFamily="18" charset="0"/>
                        </a:rPr>
                        <m:t>)</m:t>
                      </m:r>
                      <m:r>
                        <a:rPr kumimoji="1" lang="en-US" altLang="zh-CN" sz="2400" i="1">
                          <a:solidFill>
                            <a:srgbClr val="FF0000"/>
                          </a:solidFill>
                          <a:latin typeface="Cambria Math" panose="02040503050406030204" pitchFamily="18" charset="0"/>
                          <a:cs typeface="Cambria Math" panose="02040503050406030204" pitchFamily="18" charset="0"/>
                        </a:rPr>
                        <m:t>&gt;</m:t>
                      </m:r>
                      <m:r>
                        <a:rPr kumimoji="1" lang="en-US" altLang="zh-CN" sz="2400" i="1" smtClean="0">
                          <a:solidFill>
                            <a:srgbClr val="FF0000"/>
                          </a:solidFill>
                          <a:latin typeface="Cambria Math" panose="02040503050406030204" pitchFamily="18" charset="0"/>
                        </a:rPr>
                        <m:t>𝑓</m:t>
                      </m:r>
                      <m:r>
                        <a:rPr kumimoji="1" lang="en-US" altLang="zh-CN" sz="2400" i="1">
                          <a:solidFill>
                            <a:srgbClr val="FF0000"/>
                          </a:solidFill>
                          <a:latin typeface="Cambria Math" panose="02040503050406030204" pitchFamily="18" charset="0"/>
                        </a:rPr>
                        <m:t>(</m:t>
                      </m:r>
                      <m:sSub>
                        <m:sSubPr>
                          <m:ctrlPr>
                            <a:rPr kumimoji="1" lang="en-US" altLang="zh-CN" sz="2400" i="1">
                              <a:solidFill>
                                <a:srgbClr val="FF0000"/>
                              </a:solidFill>
                              <a:latin typeface="Cambria Math" panose="02040503050406030204" pitchFamily="18" charset="0"/>
                              <a:cs typeface="Cambria Math" panose="02040503050406030204" pitchFamily="18" charset="0"/>
                            </a:rPr>
                          </m:ctrlPr>
                        </m:sSubPr>
                        <m:e>
                          <m:r>
                            <a:rPr kumimoji="1" lang="en-US" altLang="zh-CN" sz="2400" i="1">
                              <a:solidFill>
                                <a:srgbClr val="FF0000"/>
                              </a:solidFill>
                              <a:latin typeface="Cambria Math" panose="02040503050406030204" pitchFamily="18" charset="0"/>
                            </a:rPr>
                            <m:t>𝑥</m:t>
                          </m:r>
                        </m:e>
                        <m:sub>
                          <m:r>
                            <a:rPr kumimoji="1" lang="en-US" altLang="zh-CN" sz="2400" i="1">
                              <a:solidFill>
                                <a:srgbClr val="FF0000"/>
                              </a:solidFill>
                              <a:latin typeface="Cambria Math" panose="02040503050406030204" pitchFamily="18" charset="0"/>
                              <a:cs typeface="Cambria Math" panose="02040503050406030204" pitchFamily="18" charset="0"/>
                            </a:rPr>
                            <m:t>2</m:t>
                          </m:r>
                        </m:sub>
                      </m:sSub>
                      <m:r>
                        <a:rPr kumimoji="1" lang="en-US" altLang="zh-CN" sz="2400" i="1">
                          <a:solidFill>
                            <a:srgbClr val="FF0000"/>
                          </a:solidFill>
                          <a:latin typeface="Cambria Math" panose="02040503050406030204" pitchFamily="18" charset="0"/>
                        </a:rPr>
                        <m:t>)</m:t>
                      </m:r>
                    </m:oMath>
                  </m:oMathPara>
                </a14:m>
                <a:endParaRPr kumimoji="1" lang="en-US" altLang="zh-CN" sz="2400" i="1" dirty="0">
                  <a:solidFill>
                    <a:srgbClr val="FF0000"/>
                  </a:solidFill>
                  <a:latin typeface="Cambria Math" panose="02040503050406030204" pitchFamily="18" charset="0"/>
                </a:endParaRPr>
              </a:p>
              <a:p>
                <a:pPr algn="just" fontAlgn="auto">
                  <a:lnSpc>
                    <a:spcPct val="150000"/>
                  </a:lnSpc>
                </a:pPr>
                <a:r>
                  <a:rPr kumimoji="1" lang="zh-CN"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rPr>
                  <a:t>才能保证</a:t>
                </a:r>
                <a14:m>
                  <m:oMath xmlns:m="http://schemas.openxmlformats.org/officeDocument/2006/math">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kumimoji="1" lang="zh-CN"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rPr>
                  <a:t>的二次项系数</a:t>
                </a:r>
                <a14:m>
                  <m:oMath xmlns:m="http://schemas.openxmlformats.org/officeDocument/2006/math">
                    <m:r>
                      <a:rPr kumimoji="1" lang="en-US" altLang="zh-CN" sz="2400" i="1">
                        <a:solidFill>
                          <a:schemeClr val="tx1"/>
                        </a:solidFill>
                        <a:latin typeface="Cambria Math" panose="02040503050406030204" pitchFamily="18" charset="0"/>
                      </a:rPr>
                      <m:t>𝑎</m:t>
                    </m:r>
                    <m:r>
                      <a:rPr kumimoji="1" lang="en-US" altLang="zh-CN" sz="2400" i="1">
                        <a:solidFill>
                          <a:schemeClr val="tx1"/>
                        </a:solidFill>
                        <a:latin typeface="Cambria Math" panose="02040503050406030204" pitchFamily="18" charset="0"/>
                        <a:cs typeface="Cambria Math" panose="02040503050406030204" pitchFamily="18" charset="0"/>
                      </a:rPr>
                      <m:t>&gt;0</m:t>
                    </m:r>
                  </m:oMath>
                </a14:m>
                <a:r>
                  <a:rPr kumimoji="1" lang="zh-CN"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rPr>
                  <a:t>（即抛物线图象开口朝上），且</a:t>
                </a:r>
                <a14:m>
                  <m:oMath xmlns:m="http://schemas.openxmlformats.org/officeDocument/2006/math">
                    <m:r>
                      <a:rPr kumimoji="1" lang="zh-CN" altLang="en-US" sz="2400" i="1" smtClean="0">
                        <a:solidFill>
                          <a:schemeClr val="tx1"/>
                        </a:solidFill>
                        <a:latin typeface="Cambria Math" panose="02040503050406030204" pitchFamily="18" charset="0"/>
                      </a:rPr>
                      <m:t>𝜑</m:t>
                    </m:r>
                    <m:r>
                      <a:rPr kumimoji="1" lang="en-US" altLang="zh-CN" sz="2400" i="1">
                        <a:solidFill>
                          <a:schemeClr val="tx1"/>
                        </a:solidFill>
                        <a:latin typeface="Cambria Math" panose="02040503050406030204" pitchFamily="18" charset="0"/>
                      </a:rPr>
                      <m:t>(</m:t>
                    </m:r>
                    <m:r>
                      <a:rPr kumimoji="1" lang="en-US" altLang="zh-CN" sz="2400" i="1">
                        <a:solidFill>
                          <a:schemeClr val="tx1"/>
                        </a:solidFill>
                        <a:latin typeface="Cambria Math" panose="02040503050406030204" pitchFamily="18" charset="0"/>
                      </a:rPr>
                      <m:t>𝑥</m:t>
                    </m:r>
                    <m:r>
                      <a:rPr kumimoji="1" lang="en-US" altLang="zh-CN" sz="2400" i="1">
                        <a:solidFill>
                          <a:schemeClr val="tx1"/>
                        </a:solidFill>
                        <a:latin typeface="Cambria Math" panose="02040503050406030204" pitchFamily="18" charset="0"/>
                      </a:rPr>
                      <m:t>)</m:t>
                    </m:r>
                  </m:oMath>
                </a14:m>
                <a:r>
                  <a:rPr kumimoji="1" lang="zh-CN"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rPr>
                  <a:t>的极小点在</a:t>
                </a:r>
                <a14:m>
                  <m:oMath xmlns:m="http://schemas.openxmlformats.org/officeDocument/2006/math">
                    <m:d>
                      <m:dPr>
                        <m:begChr m:val="["/>
                        <m:endChr m:val="]"/>
                        <m:ctrlPr>
                          <a:rPr lang="zh-CN" altLang="zh-CN" sz="2400" i="1" kern="10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3</m:t>
                            </m:r>
                          </m:sub>
                        </m:sSub>
                      </m:e>
                    </m:d>
                  </m:oMath>
                </a14:m>
                <a:r>
                  <a:rPr kumimoji="1" lang="zh-CN" altLang="en-US" sz="2400" dirty="0">
                    <a:solidFill>
                      <a:schemeClr val="tx1"/>
                    </a:solidFill>
                    <a:latin typeface="宋体" panose="02010600030101010101" pitchFamily="2" charset="-122"/>
                    <a:ea typeface="宋体" panose="02010600030101010101" pitchFamily="2" charset="-122"/>
                    <a:cs typeface="宋体" panose="02010600030101010101" pitchFamily="2" charset="-122"/>
                  </a:rPr>
                  <a:t>内，因此利用公式迭代前必须求出满足上述条件的三个初始点，在下一节将介绍解决这个问题的外推内插法。</a:t>
                </a:r>
              </a:p>
              <a:p>
                <a:pPr algn="just"/>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1415415" y="1772920"/>
                <a:ext cx="9292590" cy="3784600"/>
              </a:xfrm>
              <a:prstGeom prst="rect">
                <a:avLst/>
              </a:prstGeom>
              <a:blipFill>
                <a:blip r:embed="rId2"/>
                <a:stretch>
                  <a:fillRect l="-984" r="-984"/>
                </a:stretch>
              </a:blipFill>
            </p:spPr>
            <p:txBody>
              <a:bodyPr/>
              <a:lstStyle/>
              <a:p>
                <a:r>
                  <a:rPr lang="zh-CN" altLang="en-US">
                    <a:noFill/>
                  </a:rPr>
                  <a:t> </a:t>
                </a:r>
              </a:p>
            </p:txBody>
          </p:sp>
        </mc:Fallback>
      </mc:AlternateContent>
    </p:spTree>
  </p:cSld>
  <p:clrMapOvr>
    <a:masterClrMapping/>
  </p:clrMapOvr>
  <p:transition>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03225" y="2276872"/>
            <a:ext cx="4233851" cy="769441"/>
          </a:xfrm>
          <a:prstGeom prst="rect">
            <a:avLst/>
          </a:prstGeom>
        </p:spPr>
        <p:txBody>
          <a:bodyPr wrap="none">
            <a:spAutoFit/>
          </a:bodyPr>
          <a:lstStyle/>
          <a:p>
            <a:pPr algn="ctr"/>
            <a:r>
              <a:rPr lang="en-US" altLang="zh-CN" sz="4400" b="1" dirty="0"/>
              <a:t>  7.4 </a:t>
            </a:r>
            <a:r>
              <a:rPr lang="zh-CN" altLang="en-US" sz="4400" b="1" dirty="0"/>
              <a:t>外推内插法</a:t>
            </a:r>
          </a:p>
        </p:txBody>
      </p:sp>
    </p:spTree>
  </p:cSld>
  <p:clrMapOvr>
    <a:masterClrMapping/>
  </p:clrMapOvr>
  <p:transition>
    <p:random/>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文本框 1"/>
              <p:cNvSpPr txBox="1"/>
              <p:nvPr/>
            </p:nvSpPr>
            <p:spPr>
              <a:xfrm>
                <a:off x="1127125" y="405130"/>
                <a:ext cx="9614535" cy="5631180"/>
              </a:xfrm>
              <a:prstGeom prst="rect">
                <a:avLst/>
              </a:prstGeom>
              <a:noFill/>
            </p:spPr>
            <p:txBody>
              <a:bodyPr wrap="square" rtlCol="0">
                <a:spAutoFit/>
              </a:bodyPr>
              <a:lstStyle/>
              <a:p>
                <a:pPr algn="just" fontAlgn="auto">
                  <a:lnSpc>
                    <a:spcPct val="150000"/>
                  </a:lnSpc>
                </a:pPr>
                <a:r>
                  <a:rPr lang="en-US" altLang="zh-CN" sz="2400" dirty="0"/>
                  <a:t>    </a:t>
                </a:r>
                <a:r>
                  <a:rPr lang="en-US" altLang="zh-CN" sz="2400" dirty="0">
                    <a:latin typeface="宋体" panose="02010600030101010101" pitchFamily="2" charset="-122"/>
                    <a:ea typeface="宋体" panose="02010600030101010101" pitchFamily="2" charset="-122"/>
                    <a:cs typeface="宋体" panose="02010600030101010101" pitchFamily="2" charset="-122"/>
                  </a:rPr>
                  <a:t>  </a:t>
                </a:r>
                <a:r>
                  <a:rPr lang="zh-CN" altLang="en-US" sz="2400" dirty="0">
                    <a:latin typeface="宋体" panose="02010600030101010101" pitchFamily="2" charset="-122"/>
                    <a:ea typeface="宋体" panose="02010600030101010101" pitchFamily="2" charset="-122"/>
                    <a:cs typeface="宋体" panose="02010600030101010101" pitchFamily="2" charset="-122"/>
                  </a:rPr>
                  <a:t>黄金分割法和抛物线逼近法等一维搜索方法都要事先给定一个包含极小点的初始搜索区间，外推内插法就是用来解决这个问题的。外推内插法又叫加步探索法，它本身就是一种区间试探法。主要思路就是一点出发，按一定的步长，试图确定出函数值呈现“高—低—高”（即“两头大中间小”）的三点。首先从一个方向去找，若不成功，就退回来，再沿反方向寻找，若方向正确，则加大步长进行探索，最终找到</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三点，满足</a:t>
                </a:r>
              </a:p>
              <a:p>
                <a:pPr algn="just" fontAlgn="auto">
                  <a:lnSpc>
                    <a:spcPct val="150000"/>
                  </a:lnSpc>
                </a:pPr>
                <a14:m>
                  <m:oMathPara xmlns:m="http://schemas.openxmlformats.org/officeDocument/2006/math">
                    <m:oMathParaPr>
                      <m:jc m:val="center"/>
                    </m:oMathParaPr>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oMath>
                  </m:oMathPara>
                </a14:m>
                <a:endParaRPr kumimoji="1" lang="en-US" altLang="zh-CN" sz="2400" i="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14:m>
                  <m:oMathPara xmlns:m="http://schemas.openxmlformats.org/officeDocument/2006/math">
                    <m:oMathParaPr>
                      <m:jc m:val="centerGroup"/>
                    </m:oMathParaPr>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)&gt;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)&gt;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m:oMathPara>
                </a14:m>
                <a:endParaRPr kumimoji="1" lang="en-US" altLang="zh-CN" sz="2400" i="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gn="just"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sym typeface="+mn-ea"/>
                  </a:rPr>
                  <a:t>为止。</a:t>
                </a:r>
              </a:p>
            </p:txBody>
          </p:sp>
        </mc:Choice>
        <mc:Fallback xmlns="">
          <p:sp>
            <p:nvSpPr>
              <p:cNvPr id="2" name="文本框 1"/>
              <p:cNvSpPr txBox="1">
                <a:spLocks noRot="1" noChangeAspect="1" noMove="1" noResize="1" noEditPoints="1" noAdjustHandles="1" noChangeArrowheads="1" noChangeShapeType="1" noTextEdit="1"/>
              </p:cNvSpPr>
              <p:nvPr/>
            </p:nvSpPr>
            <p:spPr>
              <a:xfrm>
                <a:off x="1127125" y="405130"/>
                <a:ext cx="9614535" cy="5631180"/>
              </a:xfrm>
              <a:prstGeom prst="rect">
                <a:avLst/>
              </a:prstGeom>
              <a:blipFill>
                <a:blip r:embed="rId2"/>
                <a:stretch>
                  <a:fillRect l="-1015" r="-951"/>
                </a:stretch>
              </a:blipFill>
            </p:spPr>
            <p:txBody>
              <a:bodyPr/>
              <a:lstStyle/>
              <a:p>
                <a:r>
                  <a:rPr lang="zh-CN" altLang="en-US">
                    <a:noFill/>
                  </a:rPr>
                  <a:t> </a:t>
                </a:r>
              </a:p>
            </p:txBody>
          </p:sp>
        </mc:Fallback>
      </mc:AlternateContent>
    </p:spTree>
  </p:cSld>
  <p:clrMapOvr>
    <a:masterClrMapping/>
  </p:clrMapOvr>
  <p:transition>
    <p:random/>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8" name="Text Box 4"/>
          <p:cNvSpPr txBox="1">
            <a:spLocks noChangeArrowheads="1"/>
          </p:cNvSpPr>
          <p:nvPr/>
        </p:nvSpPr>
        <p:spPr bwMode="auto">
          <a:xfrm>
            <a:off x="468655" y="457040"/>
            <a:ext cx="6324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kumimoji="1" lang="zh-CN" altLang="en-US" sz="3200" dirty="0">
                <a:latin typeface="黑体" panose="02010609060101010101" pitchFamily="49" charset="-122"/>
                <a:ea typeface="黑体" panose="02010609060101010101" pitchFamily="49" charset="-122"/>
              </a:rPr>
              <a:t>一、外推步的基本思想</a:t>
            </a:r>
          </a:p>
        </p:txBody>
      </p:sp>
      <p:sp>
        <p:nvSpPr>
          <p:cNvPr id="210949" name="Rectangle 5"/>
          <p:cNvSpPr>
            <a:spLocks noChangeArrowheads="1"/>
          </p:cNvSpPr>
          <p:nvPr/>
        </p:nvSpPr>
        <p:spPr bwMode="auto">
          <a:xfrm>
            <a:off x="1559496" y="1226902"/>
            <a:ext cx="8634412" cy="1198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fontAlgn="auto">
              <a:lnSpc>
                <a:spcPct val="150000"/>
              </a:lnSpc>
              <a:spcBef>
                <a:spcPts val="0"/>
              </a:spcBef>
            </a:pPr>
            <a:r>
              <a:rPr kumimoji="1" lang="zh-CN" altLang="en-US" dirty="0">
                <a:solidFill>
                  <a:srgbClr val="FF0000"/>
                </a:solidFill>
              </a:rPr>
              <a:t>由单</a:t>
            </a:r>
            <a:r>
              <a:rPr kumimoji="1" lang="zh-CN" altLang="en-US" dirty="0">
                <a:solidFill>
                  <a:srgbClr val="0000FF"/>
                </a:solidFill>
                <a:latin typeface="宋体" panose="02010600030101010101" pitchFamily="2" charset="-122"/>
              </a:rPr>
              <a:t>谷</a:t>
            </a:r>
            <a:r>
              <a:rPr kumimoji="1" lang="zh-CN" altLang="en-US" dirty="0">
                <a:solidFill>
                  <a:srgbClr val="FF0000"/>
                </a:solidFill>
              </a:rPr>
              <a:t>函数的性质可知，函数值在极小点左边严格下降，在右边严格上升。</a:t>
            </a:r>
            <a:endParaRPr kumimoji="1" lang="zh-CN" altLang="en-US" dirty="0">
              <a:solidFill>
                <a:srgbClr val="FF0000"/>
              </a:solidFill>
              <a:latin typeface="宋体" panose="02010600030101010101" pitchFamily="2" charset="-122"/>
            </a:endParaRPr>
          </a:p>
        </p:txBody>
      </p:sp>
      <p:grpSp>
        <p:nvGrpSpPr>
          <p:cNvPr id="15399" name="Group 7"/>
          <p:cNvGrpSpPr/>
          <p:nvPr/>
        </p:nvGrpSpPr>
        <p:grpSpPr bwMode="auto">
          <a:xfrm>
            <a:off x="4151883" y="3933155"/>
            <a:ext cx="2514600" cy="2362200"/>
            <a:chOff x="776" y="1968"/>
            <a:chExt cx="1584" cy="1488"/>
          </a:xfrm>
        </p:grpSpPr>
        <p:sp>
          <p:nvSpPr>
            <p:cNvPr id="15411" name="Rectangle 8"/>
            <p:cNvSpPr>
              <a:spLocks noChangeArrowheads="1"/>
            </p:cNvSpPr>
            <p:nvPr/>
          </p:nvSpPr>
          <p:spPr bwMode="auto">
            <a:xfrm>
              <a:off x="960" y="2496"/>
              <a:ext cx="1104" cy="960"/>
            </a:xfrm>
            <a:prstGeom prst="rect">
              <a:avLst/>
            </a:prstGeom>
            <a:solidFill>
              <a:srgbClr val="FFFF99"/>
            </a:solidFill>
            <a:ln w="9525">
              <a:solidFill>
                <a:srgbClr val="0000FF"/>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15412" name="Arc 9"/>
            <p:cNvSpPr/>
            <p:nvPr/>
          </p:nvSpPr>
          <p:spPr bwMode="auto">
            <a:xfrm rot="7208220">
              <a:off x="1381" y="2242"/>
              <a:ext cx="912" cy="619"/>
            </a:xfrm>
            <a:custGeom>
              <a:avLst/>
              <a:gdLst>
                <a:gd name="T0" fmla="*/ 0 w 21600"/>
                <a:gd name="T1" fmla="*/ 0 h 22361"/>
                <a:gd name="T2" fmla="*/ 0 w 21600"/>
                <a:gd name="T3" fmla="*/ 0 h 22361"/>
                <a:gd name="T4" fmla="*/ 0 w 21600"/>
                <a:gd name="T5" fmla="*/ 0 h 22361"/>
                <a:gd name="T6" fmla="*/ 0 60000 65536"/>
                <a:gd name="T7" fmla="*/ 0 60000 65536"/>
                <a:gd name="T8" fmla="*/ 0 60000 65536"/>
              </a:gdLst>
              <a:ahLst/>
              <a:cxnLst>
                <a:cxn ang="T6">
                  <a:pos x="T0" y="T1"/>
                </a:cxn>
                <a:cxn ang="T7">
                  <a:pos x="T2" y="T3"/>
                </a:cxn>
                <a:cxn ang="T8">
                  <a:pos x="T4" y="T5"/>
                </a:cxn>
              </a:cxnLst>
              <a:rect l="0" t="0" r="r" b="b"/>
              <a:pathLst>
                <a:path w="21600" h="22361" fill="none" extrusionOk="0">
                  <a:moveTo>
                    <a:pt x="549" y="0"/>
                  </a:moveTo>
                  <a:cubicBezTo>
                    <a:pt x="12261" y="298"/>
                    <a:pt x="21600" y="9877"/>
                    <a:pt x="21600" y="21593"/>
                  </a:cubicBezTo>
                  <a:cubicBezTo>
                    <a:pt x="21600" y="21849"/>
                    <a:pt x="21595" y="22105"/>
                    <a:pt x="21586" y="22361"/>
                  </a:cubicBezTo>
                </a:path>
                <a:path w="21600" h="22361" stroke="0" extrusionOk="0">
                  <a:moveTo>
                    <a:pt x="549" y="0"/>
                  </a:moveTo>
                  <a:cubicBezTo>
                    <a:pt x="12261" y="298"/>
                    <a:pt x="21600" y="9877"/>
                    <a:pt x="21600" y="21593"/>
                  </a:cubicBezTo>
                  <a:cubicBezTo>
                    <a:pt x="21600" y="21849"/>
                    <a:pt x="21595" y="22105"/>
                    <a:pt x="21586" y="22361"/>
                  </a:cubicBezTo>
                  <a:lnTo>
                    <a:pt x="0" y="21593"/>
                  </a:lnTo>
                  <a:lnTo>
                    <a:pt x="549" y="0"/>
                  </a:lnTo>
                  <a:close/>
                </a:path>
              </a:pathLst>
            </a:custGeom>
            <a:solidFill>
              <a:schemeClr val="bg1"/>
            </a:solidFill>
            <a:ln w="1905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3" name="Arc 10"/>
            <p:cNvSpPr/>
            <p:nvPr/>
          </p:nvSpPr>
          <p:spPr bwMode="auto">
            <a:xfrm rot="14385203" flipH="1">
              <a:off x="818" y="2305"/>
              <a:ext cx="912" cy="525"/>
            </a:xfrm>
            <a:custGeom>
              <a:avLst/>
              <a:gdLst>
                <a:gd name="T0" fmla="*/ 0 w 21600"/>
                <a:gd name="T1" fmla="*/ 0 h 22361"/>
                <a:gd name="T2" fmla="*/ 0 w 21600"/>
                <a:gd name="T3" fmla="*/ 0 h 22361"/>
                <a:gd name="T4" fmla="*/ 0 w 21600"/>
                <a:gd name="T5" fmla="*/ 0 h 22361"/>
                <a:gd name="T6" fmla="*/ 0 60000 65536"/>
                <a:gd name="T7" fmla="*/ 0 60000 65536"/>
                <a:gd name="T8" fmla="*/ 0 60000 65536"/>
              </a:gdLst>
              <a:ahLst/>
              <a:cxnLst>
                <a:cxn ang="T6">
                  <a:pos x="T0" y="T1"/>
                </a:cxn>
                <a:cxn ang="T7">
                  <a:pos x="T2" y="T3"/>
                </a:cxn>
                <a:cxn ang="T8">
                  <a:pos x="T4" y="T5"/>
                </a:cxn>
              </a:cxnLst>
              <a:rect l="0" t="0" r="r" b="b"/>
              <a:pathLst>
                <a:path w="21600" h="22361" fill="none" extrusionOk="0">
                  <a:moveTo>
                    <a:pt x="549" y="0"/>
                  </a:moveTo>
                  <a:cubicBezTo>
                    <a:pt x="12261" y="298"/>
                    <a:pt x="21600" y="9877"/>
                    <a:pt x="21600" y="21593"/>
                  </a:cubicBezTo>
                  <a:cubicBezTo>
                    <a:pt x="21600" y="21849"/>
                    <a:pt x="21595" y="22105"/>
                    <a:pt x="21586" y="22361"/>
                  </a:cubicBezTo>
                </a:path>
                <a:path w="21600" h="22361" stroke="0" extrusionOk="0">
                  <a:moveTo>
                    <a:pt x="549" y="0"/>
                  </a:moveTo>
                  <a:cubicBezTo>
                    <a:pt x="12261" y="298"/>
                    <a:pt x="21600" y="9877"/>
                    <a:pt x="21600" y="21593"/>
                  </a:cubicBezTo>
                  <a:cubicBezTo>
                    <a:pt x="21600" y="21849"/>
                    <a:pt x="21595" y="22105"/>
                    <a:pt x="21586" y="22361"/>
                  </a:cubicBezTo>
                  <a:lnTo>
                    <a:pt x="0" y="21593"/>
                  </a:lnTo>
                  <a:lnTo>
                    <a:pt x="549" y="0"/>
                  </a:lnTo>
                  <a:close/>
                </a:path>
              </a:pathLst>
            </a:custGeom>
            <a:solidFill>
              <a:schemeClr val="bg1"/>
            </a:solidFill>
            <a:ln w="1905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414" name="Rectangle 11"/>
            <p:cNvSpPr>
              <a:spLocks noChangeArrowheads="1"/>
            </p:cNvSpPr>
            <p:nvPr/>
          </p:nvSpPr>
          <p:spPr bwMode="auto">
            <a:xfrm rot="417416">
              <a:off x="776" y="1968"/>
              <a:ext cx="1584" cy="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kumimoji="1" lang="zh-CN" altLang="zh-CN" sz="2000"/>
            </a:p>
          </p:txBody>
        </p:sp>
        <p:sp>
          <p:nvSpPr>
            <p:cNvPr id="15415" name="Rectangle 12"/>
            <p:cNvSpPr>
              <a:spLocks noChangeArrowheads="1"/>
            </p:cNvSpPr>
            <p:nvPr/>
          </p:nvSpPr>
          <p:spPr bwMode="auto">
            <a:xfrm>
              <a:off x="1348" y="2352"/>
              <a:ext cx="192" cy="288"/>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p:grpSp>
        <p:nvGrpSpPr>
          <p:cNvPr id="15400" name="Group 13"/>
          <p:cNvGrpSpPr/>
          <p:nvPr/>
        </p:nvGrpSpPr>
        <p:grpSpPr bwMode="auto">
          <a:xfrm>
            <a:off x="3472433" y="4364955"/>
            <a:ext cx="3270250" cy="2203450"/>
            <a:chOff x="340" y="2240"/>
            <a:chExt cx="2060" cy="1388"/>
          </a:xfrm>
        </p:grpSpPr>
        <p:grpSp>
          <p:nvGrpSpPr>
            <p:cNvPr id="15404" name="Group 14"/>
            <p:cNvGrpSpPr/>
            <p:nvPr/>
          </p:nvGrpSpPr>
          <p:grpSpPr bwMode="auto">
            <a:xfrm>
              <a:off x="340" y="2240"/>
              <a:ext cx="2060" cy="1360"/>
              <a:chOff x="240" y="2400"/>
              <a:chExt cx="2060" cy="1360"/>
            </a:xfrm>
          </p:grpSpPr>
          <p:sp>
            <p:nvSpPr>
              <p:cNvPr id="15407" name="Line 15"/>
              <p:cNvSpPr>
                <a:spLocks noChangeShapeType="1"/>
              </p:cNvSpPr>
              <p:nvPr/>
            </p:nvSpPr>
            <p:spPr bwMode="auto">
              <a:xfrm flipV="1">
                <a:off x="589" y="2460"/>
                <a:ext cx="0" cy="1157"/>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8" name="Line 16"/>
              <p:cNvSpPr>
                <a:spLocks noChangeShapeType="1"/>
              </p:cNvSpPr>
              <p:nvPr/>
            </p:nvSpPr>
            <p:spPr bwMode="auto">
              <a:xfrm>
                <a:off x="597" y="3617"/>
                <a:ext cx="1551" cy="0"/>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409" name="Rectangle 17"/>
              <p:cNvSpPr>
                <a:spLocks noChangeArrowheads="1"/>
              </p:cNvSpPr>
              <p:nvPr/>
            </p:nvSpPr>
            <p:spPr bwMode="auto">
              <a:xfrm>
                <a:off x="240" y="2400"/>
                <a:ext cx="35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a:solidFill>
                      <a:srgbClr val="0000FF"/>
                    </a:solidFill>
                  </a:rPr>
                  <a:t>f(x)</a:t>
                </a:r>
                <a:endParaRPr kumimoji="1" lang="en-US" altLang="zh-CN" sz="2000" baseline="-30000">
                  <a:solidFill>
                    <a:srgbClr val="0000FF"/>
                  </a:solidFill>
                </a:endParaRPr>
              </a:p>
            </p:txBody>
          </p:sp>
          <p:sp>
            <p:nvSpPr>
              <p:cNvPr id="15410" name="Rectangle 18"/>
              <p:cNvSpPr>
                <a:spLocks noChangeArrowheads="1"/>
              </p:cNvSpPr>
              <p:nvPr/>
            </p:nvSpPr>
            <p:spPr bwMode="auto">
              <a:xfrm>
                <a:off x="2104" y="3510"/>
                <a:ext cx="19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a:solidFill>
                      <a:srgbClr val="0000FF"/>
                    </a:solidFill>
                  </a:rPr>
                  <a:t>x</a:t>
                </a:r>
                <a:endParaRPr kumimoji="1" lang="en-US" altLang="zh-CN" sz="2000" baseline="-30000">
                  <a:solidFill>
                    <a:srgbClr val="0000FF"/>
                  </a:solidFill>
                </a:endParaRPr>
              </a:p>
            </p:txBody>
          </p:sp>
        </p:grpSp>
        <p:sp>
          <p:nvSpPr>
            <p:cNvPr id="15405" name="Text Box 19"/>
            <p:cNvSpPr txBox="1">
              <a:spLocks noChangeArrowheads="1"/>
            </p:cNvSpPr>
            <p:nvPr/>
          </p:nvSpPr>
          <p:spPr bwMode="auto">
            <a:xfrm>
              <a:off x="876" y="3376"/>
              <a:ext cx="2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1800">
                  <a:solidFill>
                    <a:srgbClr val="0000FF"/>
                  </a:solidFill>
                </a:rPr>
                <a:t>a</a:t>
              </a:r>
            </a:p>
          </p:txBody>
        </p:sp>
        <p:sp>
          <p:nvSpPr>
            <p:cNvPr id="15406" name="Text Box 20"/>
            <p:cNvSpPr txBox="1">
              <a:spLocks noChangeArrowheads="1"/>
            </p:cNvSpPr>
            <p:nvPr/>
          </p:nvSpPr>
          <p:spPr bwMode="auto">
            <a:xfrm>
              <a:off x="1992" y="3416"/>
              <a:ext cx="1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1600">
                  <a:solidFill>
                    <a:srgbClr val="0000FF"/>
                  </a:solidFill>
                </a:rPr>
                <a:t>b</a:t>
              </a:r>
            </a:p>
          </p:txBody>
        </p:sp>
      </p:grpSp>
      <p:grpSp>
        <p:nvGrpSpPr>
          <p:cNvPr id="15401" name="Group 21"/>
          <p:cNvGrpSpPr/>
          <p:nvPr/>
        </p:nvGrpSpPr>
        <p:grpSpPr bwMode="auto">
          <a:xfrm>
            <a:off x="5218683" y="5380955"/>
            <a:ext cx="374650" cy="1217612"/>
            <a:chOff x="1440" y="2880"/>
            <a:chExt cx="236" cy="767"/>
          </a:xfrm>
        </p:grpSpPr>
        <p:sp>
          <p:nvSpPr>
            <p:cNvPr id="15402" name="Line 22"/>
            <p:cNvSpPr>
              <a:spLocks noChangeShapeType="1"/>
            </p:cNvSpPr>
            <p:nvPr/>
          </p:nvSpPr>
          <p:spPr bwMode="auto">
            <a:xfrm>
              <a:off x="1536" y="2880"/>
              <a:ext cx="0" cy="57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403" name="Rectangle 23"/>
            <p:cNvSpPr>
              <a:spLocks noChangeArrowheads="1"/>
            </p:cNvSpPr>
            <p:nvPr/>
          </p:nvSpPr>
          <p:spPr bwMode="auto">
            <a:xfrm>
              <a:off x="1440" y="3416"/>
              <a:ext cx="2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a:solidFill>
                    <a:srgbClr val="FF0000"/>
                  </a:solidFill>
                </a:rPr>
                <a:t>x</a:t>
              </a:r>
              <a:r>
                <a:rPr kumimoji="1" lang="en-US" altLang="zh-CN" sz="1800" baseline="30000">
                  <a:solidFill>
                    <a:srgbClr val="FF0000"/>
                  </a:solidFill>
                </a:rPr>
                <a:t>*</a:t>
              </a:r>
            </a:p>
          </p:txBody>
        </p:sp>
      </p:grpSp>
      <p:grpSp>
        <p:nvGrpSpPr>
          <p:cNvPr id="210968" name="Group 24"/>
          <p:cNvGrpSpPr/>
          <p:nvPr/>
        </p:nvGrpSpPr>
        <p:grpSpPr bwMode="auto">
          <a:xfrm>
            <a:off x="4558285" y="5076155"/>
            <a:ext cx="376238" cy="1474787"/>
            <a:chOff x="1024" y="2688"/>
            <a:chExt cx="237" cy="929"/>
          </a:xfrm>
        </p:grpSpPr>
        <p:sp>
          <p:nvSpPr>
            <p:cNvPr id="15397" name="Line 25"/>
            <p:cNvSpPr>
              <a:spLocks noChangeShapeType="1"/>
            </p:cNvSpPr>
            <p:nvPr/>
          </p:nvSpPr>
          <p:spPr bwMode="auto">
            <a:xfrm>
              <a:off x="1120" y="2688"/>
              <a:ext cx="0" cy="768"/>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8" name="Rectangle 26"/>
            <p:cNvSpPr>
              <a:spLocks noChangeArrowheads="1"/>
            </p:cNvSpPr>
            <p:nvPr/>
          </p:nvSpPr>
          <p:spPr bwMode="auto">
            <a:xfrm>
              <a:off x="1024" y="3384"/>
              <a:ext cx="2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dirty="0">
                  <a:solidFill>
                    <a:srgbClr val="0000FF"/>
                  </a:solidFill>
                </a:rPr>
                <a:t>x</a:t>
              </a:r>
              <a:r>
                <a:rPr kumimoji="1" lang="en-US" altLang="zh-CN" sz="1800" baseline="-30000" dirty="0">
                  <a:solidFill>
                    <a:srgbClr val="0000FF"/>
                  </a:solidFill>
                </a:rPr>
                <a:t>1</a:t>
              </a:r>
            </a:p>
          </p:txBody>
        </p:sp>
      </p:grpSp>
      <p:grpSp>
        <p:nvGrpSpPr>
          <p:cNvPr id="210971" name="Group 27"/>
          <p:cNvGrpSpPr/>
          <p:nvPr/>
        </p:nvGrpSpPr>
        <p:grpSpPr bwMode="auto">
          <a:xfrm>
            <a:off x="4869436" y="5304755"/>
            <a:ext cx="376238" cy="1258887"/>
            <a:chOff x="1220" y="2832"/>
            <a:chExt cx="237" cy="793"/>
          </a:xfrm>
        </p:grpSpPr>
        <p:sp>
          <p:nvSpPr>
            <p:cNvPr id="15395" name="Line 28"/>
            <p:cNvSpPr>
              <a:spLocks noChangeShapeType="1"/>
            </p:cNvSpPr>
            <p:nvPr/>
          </p:nvSpPr>
          <p:spPr bwMode="auto">
            <a:xfrm>
              <a:off x="1328" y="2832"/>
              <a:ext cx="0" cy="624"/>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6" name="Rectangle 29"/>
            <p:cNvSpPr>
              <a:spLocks noChangeArrowheads="1"/>
            </p:cNvSpPr>
            <p:nvPr/>
          </p:nvSpPr>
          <p:spPr bwMode="auto">
            <a:xfrm>
              <a:off x="1220" y="3392"/>
              <a:ext cx="2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dirty="0">
                  <a:solidFill>
                    <a:srgbClr val="0000FF"/>
                  </a:solidFill>
                </a:rPr>
                <a:t>x</a:t>
              </a:r>
              <a:r>
                <a:rPr kumimoji="1" lang="en-US" altLang="zh-CN" sz="1800" baseline="-30000" dirty="0">
                  <a:solidFill>
                    <a:srgbClr val="0000FF"/>
                  </a:solidFill>
                </a:rPr>
                <a:t>2</a:t>
              </a:r>
            </a:p>
          </p:txBody>
        </p:sp>
      </p:grpSp>
      <p:grpSp>
        <p:nvGrpSpPr>
          <p:cNvPr id="210974" name="Group 30"/>
          <p:cNvGrpSpPr/>
          <p:nvPr/>
        </p:nvGrpSpPr>
        <p:grpSpPr bwMode="auto">
          <a:xfrm>
            <a:off x="5644139" y="5268243"/>
            <a:ext cx="376238" cy="1296988"/>
            <a:chOff x="2716" y="3002"/>
            <a:chExt cx="237" cy="817"/>
          </a:xfrm>
        </p:grpSpPr>
        <p:sp>
          <p:nvSpPr>
            <p:cNvPr id="15393" name="Line 31"/>
            <p:cNvSpPr>
              <a:spLocks noChangeShapeType="1"/>
            </p:cNvSpPr>
            <p:nvPr/>
          </p:nvSpPr>
          <p:spPr bwMode="auto">
            <a:xfrm>
              <a:off x="2824" y="3002"/>
              <a:ext cx="0" cy="646"/>
            </a:xfrm>
            <a:prstGeom prst="line">
              <a:avLst/>
            </a:prstGeom>
            <a:noFill/>
            <a:ln w="9525">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4" name="Rectangle 32"/>
            <p:cNvSpPr>
              <a:spLocks noChangeArrowheads="1"/>
            </p:cNvSpPr>
            <p:nvPr/>
          </p:nvSpPr>
          <p:spPr bwMode="auto">
            <a:xfrm>
              <a:off x="2716" y="3586"/>
              <a:ext cx="237"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1800" dirty="0">
                  <a:solidFill>
                    <a:srgbClr val="0000FF"/>
                  </a:solidFill>
                </a:rPr>
                <a:t>x</a:t>
              </a:r>
              <a:r>
                <a:rPr kumimoji="1" lang="en-US" altLang="zh-CN" sz="1800" baseline="-30000" dirty="0">
                  <a:solidFill>
                    <a:srgbClr val="0000FF"/>
                  </a:solidFill>
                </a:rPr>
                <a:t>3</a:t>
              </a:r>
            </a:p>
          </p:txBody>
        </p:sp>
      </p:grpSp>
      <p:sp>
        <p:nvSpPr>
          <p:cNvPr id="210977" name="AutoShape 33"/>
          <p:cNvSpPr>
            <a:spLocks noChangeArrowheads="1"/>
          </p:cNvSpPr>
          <p:nvPr/>
        </p:nvSpPr>
        <p:spPr bwMode="auto">
          <a:xfrm rot="-2563729">
            <a:off x="4609083" y="4083967"/>
            <a:ext cx="304800" cy="1295400"/>
          </a:xfrm>
          <a:prstGeom prst="curvedRightArrow">
            <a:avLst>
              <a:gd name="adj1" fmla="val 85000"/>
              <a:gd name="adj2" fmla="val 170000"/>
              <a:gd name="adj3" fmla="val 333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210978" name="AutoShape 34"/>
          <p:cNvSpPr>
            <a:spLocks noChangeArrowheads="1"/>
          </p:cNvSpPr>
          <p:nvPr/>
        </p:nvSpPr>
        <p:spPr bwMode="auto">
          <a:xfrm rot="-7752958">
            <a:off x="5942583" y="4045867"/>
            <a:ext cx="304800" cy="1295400"/>
          </a:xfrm>
          <a:prstGeom prst="curvedRightArrow">
            <a:avLst>
              <a:gd name="adj1" fmla="val 85000"/>
              <a:gd name="adj2" fmla="val 170000"/>
              <a:gd name="adj3" fmla="val 33333"/>
            </a:avLst>
          </a:prstGeom>
          <a:solidFill>
            <a:schemeClr val="accent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210979" name="Rectangle 35"/>
          <p:cNvSpPr>
            <a:spLocks noChangeArrowheads="1"/>
          </p:cNvSpPr>
          <p:nvPr/>
        </p:nvSpPr>
        <p:spPr bwMode="auto">
          <a:xfrm>
            <a:off x="1558861" y="2205321"/>
            <a:ext cx="8424862" cy="1753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fontAlgn="auto">
              <a:lnSpc>
                <a:spcPct val="150000"/>
              </a:lnSpc>
              <a:spcBef>
                <a:spcPts val="0"/>
              </a:spcBef>
            </a:pPr>
            <a:r>
              <a:rPr kumimoji="1" lang="zh-CN" altLang="en-US" dirty="0">
                <a:solidFill>
                  <a:srgbClr val="0000FF"/>
                </a:solidFill>
                <a:latin typeface="宋体" panose="02010600030101010101" pitchFamily="2" charset="-122"/>
              </a:rPr>
              <a:t>从某个初始点出发，沿函数值下降的方向前进，直至发现函数值上升为止。</a:t>
            </a:r>
          </a:p>
          <a:p>
            <a:pPr fontAlgn="auto">
              <a:lnSpc>
                <a:spcPct val="150000"/>
              </a:lnSpc>
              <a:spcBef>
                <a:spcPts val="0"/>
              </a:spcBef>
            </a:pPr>
            <a:r>
              <a:rPr kumimoji="1" lang="zh-CN" altLang="en-US" dirty="0">
                <a:solidFill>
                  <a:srgbClr val="0000FF"/>
                </a:solidFill>
                <a:latin typeface="宋体" panose="02010600030101010101" pitchFamily="2" charset="-122"/>
              </a:rPr>
              <a:t>由两头大，中间小的三点，可确定极小点所在的初始区间。</a:t>
            </a:r>
          </a:p>
        </p:txBody>
      </p:sp>
      <p:grpSp>
        <p:nvGrpSpPr>
          <p:cNvPr id="210980" name="Group 36"/>
          <p:cNvGrpSpPr/>
          <p:nvPr/>
        </p:nvGrpSpPr>
        <p:grpSpPr bwMode="auto">
          <a:xfrm>
            <a:off x="4799584" y="5301581"/>
            <a:ext cx="1050925" cy="992187"/>
            <a:chOff x="2344" y="3024"/>
            <a:chExt cx="456" cy="625"/>
          </a:xfrm>
        </p:grpSpPr>
        <p:grpSp>
          <p:nvGrpSpPr>
            <p:cNvPr id="15373" name="Group 37"/>
            <p:cNvGrpSpPr/>
            <p:nvPr/>
          </p:nvGrpSpPr>
          <p:grpSpPr bwMode="auto">
            <a:xfrm>
              <a:off x="2344" y="3032"/>
              <a:ext cx="192" cy="617"/>
              <a:chOff x="960" y="2592"/>
              <a:chExt cx="144" cy="857"/>
            </a:xfrm>
          </p:grpSpPr>
          <p:sp>
            <p:nvSpPr>
              <p:cNvPr id="15384" name="Line 38"/>
              <p:cNvSpPr>
                <a:spLocks noChangeShapeType="1"/>
              </p:cNvSpPr>
              <p:nvPr/>
            </p:nvSpPr>
            <p:spPr bwMode="auto">
              <a:xfrm>
                <a:off x="960" y="259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5" name="Line 39"/>
              <p:cNvSpPr>
                <a:spLocks noChangeShapeType="1"/>
              </p:cNvSpPr>
              <p:nvPr/>
            </p:nvSpPr>
            <p:spPr bwMode="auto">
              <a:xfrm>
                <a:off x="960" y="268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6" name="Line 40"/>
              <p:cNvSpPr>
                <a:spLocks noChangeShapeType="1"/>
              </p:cNvSpPr>
              <p:nvPr/>
            </p:nvSpPr>
            <p:spPr bwMode="auto">
              <a:xfrm>
                <a:off x="960" y="278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7" name="Line 41"/>
              <p:cNvSpPr>
                <a:spLocks noChangeShapeType="1"/>
              </p:cNvSpPr>
              <p:nvPr/>
            </p:nvSpPr>
            <p:spPr bwMode="auto">
              <a:xfrm>
                <a:off x="960" y="2880"/>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8" name="Line 42"/>
              <p:cNvSpPr>
                <a:spLocks noChangeShapeType="1"/>
              </p:cNvSpPr>
              <p:nvPr/>
            </p:nvSpPr>
            <p:spPr bwMode="auto">
              <a:xfrm>
                <a:off x="960" y="2976"/>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9" name="Line 43"/>
              <p:cNvSpPr>
                <a:spLocks noChangeShapeType="1"/>
              </p:cNvSpPr>
              <p:nvPr/>
            </p:nvSpPr>
            <p:spPr bwMode="auto">
              <a:xfrm>
                <a:off x="960" y="307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0" name="Line 44"/>
              <p:cNvSpPr>
                <a:spLocks noChangeShapeType="1"/>
              </p:cNvSpPr>
              <p:nvPr/>
            </p:nvSpPr>
            <p:spPr bwMode="auto">
              <a:xfrm>
                <a:off x="960" y="316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1" name="Line 45"/>
              <p:cNvSpPr>
                <a:spLocks noChangeShapeType="1"/>
              </p:cNvSpPr>
              <p:nvPr/>
            </p:nvSpPr>
            <p:spPr bwMode="auto">
              <a:xfrm>
                <a:off x="960" y="326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92" name="Line 46"/>
              <p:cNvSpPr>
                <a:spLocks noChangeShapeType="1"/>
              </p:cNvSpPr>
              <p:nvPr/>
            </p:nvSpPr>
            <p:spPr bwMode="auto">
              <a:xfrm>
                <a:off x="968" y="3376"/>
                <a:ext cx="73" cy="73"/>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5374" name="Group 47"/>
            <p:cNvGrpSpPr/>
            <p:nvPr/>
          </p:nvGrpSpPr>
          <p:grpSpPr bwMode="auto">
            <a:xfrm flipH="1">
              <a:off x="2560" y="3024"/>
              <a:ext cx="240" cy="617"/>
              <a:chOff x="960" y="2592"/>
              <a:chExt cx="144" cy="857"/>
            </a:xfrm>
          </p:grpSpPr>
          <p:sp>
            <p:nvSpPr>
              <p:cNvPr id="15375" name="Line 48"/>
              <p:cNvSpPr>
                <a:spLocks noChangeShapeType="1"/>
              </p:cNvSpPr>
              <p:nvPr/>
            </p:nvSpPr>
            <p:spPr bwMode="auto">
              <a:xfrm>
                <a:off x="960" y="259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6" name="Line 49"/>
              <p:cNvSpPr>
                <a:spLocks noChangeShapeType="1"/>
              </p:cNvSpPr>
              <p:nvPr/>
            </p:nvSpPr>
            <p:spPr bwMode="auto">
              <a:xfrm>
                <a:off x="960" y="268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7" name="Line 50"/>
              <p:cNvSpPr>
                <a:spLocks noChangeShapeType="1"/>
              </p:cNvSpPr>
              <p:nvPr/>
            </p:nvSpPr>
            <p:spPr bwMode="auto">
              <a:xfrm>
                <a:off x="960" y="278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8" name="Line 51"/>
              <p:cNvSpPr>
                <a:spLocks noChangeShapeType="1"/>
              </p:cNvSpPr>
              <p:nvPr/>
            </p:nvSpPr>
            <p:spPr bwMode="auto">
              <a:xfrm>
                <a:off x="960" y="2880"/>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9" name="Line 52"/>
              <p:cNvSpPr>
                <a:spLocks noChangeShapeType="1"/>
              </p:cNvSpPr>
              <p:nvPr/>
            </p:nvSpPr>
            <p:spPr bwMode="auto">
              <a:xfrm>
                <a:off x="960" y="2976"/>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0" name="Line 53"/>
              <p:cNvSpPr>
                <a:spLocks noChangeShapeType="1"/>
              </p:cNvSpPr>
              <p:nvPr/>
            </p:nvSpPr>
            <p:spPr bwMode="auto">
              <a:xfrm>
                <a:off x="960" y="307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1" name="Line 54"/>
              <p:cNvSpPr>
                <a:spLocks noChangeShapeType="1"/>
              </p:cNvSpPr>
              <p:nvPr/>
            </p:nvSpPr>
            <p:spPr bwMode="auto">
              <a:xfrm>
                <a:off x="960" y="316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2" name="Line 55"/>
              <p:cNvSpPr>
                <a:spLocks noChangeShapeType="1"/>
              </p:cNvSpPr>
              <p:nvPr/>
            </p:nvSpPr>
            <p:spPr bwMode="auto">
              <a:xfrm>
                <a:off x="960" y="326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83" name="Line 56"/>
              <p:cNvSpPr>
                <a:spLocks noChangeShapeType="1"/>
              </p:cNvSpPr>
              <p:nvPr/>
            </p:nvSpPr>
            <p:spPr bwMode="auto">
              <a:xfrm>
                <a:off x="968" y="3376"/>
                <a:ext cx="73" cy="73"/>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210949"/>
                                        </p:tgtEl>
                                        <p:attrNameLst>
                                          <p:attrName>style.visibility</p:attrName>
                                        </p:attrNameLst>
                                      </p:cBhvr>
                                      <p:to>
                                        <p:strVal val="visible"/>
                                      </p:to>
                                    </p:set>
                                    <p:anim calcmode="lin" valueType="num">
                                      <p:cBhvr>
                                        <p:cTn id="7" dur="500" fill="hold"/>
                                        <p:tgtEl>
                                          <p:spTgt spid="210949"/>
                                        </p:tgtEl>
                                        <p:attrNameLst>
                                          <p:attrName>ppt_w</p:attrName>
                                        </p:attrNameLst>
                                      </p:cBhvr>
                                      <p:tavLst>
                                        <p:tav tm="0">
                                          <p:val>
                                            <p:fltVal val="0"/>
                                          </p:val>
                                        </p:tav>
                                        <p:tav tm="100000">
                                          <p:val>
                                            <p:strVal val="#ppt_w"/>
                                          </p:val>
                                        </p:tav>
                                      </p:tavLst>
                                    </p:anim>
                                    <p:anim calcmode="lin" valueType="num">
                                      <p:cBhvr>
                                        <p:cTn id="8" dur="500" fill="hold"/>
                                        <p:tgtEl>
                                          <p:spTgt spid="210949"/>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210977"/>
                                        </p:tgtEl>
                                        <p:attrNameLst>
                                          <p:attrName>style.visibility</p:attrName>
                                        </p:attrNameLst>
                                      </p:cBhvr>
                                      <p:to>
                                        <p:strVal val="visible"/>
                                      </p:to>
                                    </p:set>
                                    <p:anim calcmode="lin" valueType="num">
                                      <p:cBhvr>
                                        <p:cTn id="13" dur="500" fill="hold"/>
                                        <p:tgtEl>
                                          <p:spTgt spid="210977"/>
                                        </p:tgtEl>
                                        <p:attrNameLst>
                                          <p:attrName>ppt_w</p:attrName>
                                        </p:attrNameLst>
                                      </p:cBhvr>
                                      <p:tavLst>
                                        <p:tav tm="0">
                                          <p:val>
                                            <p:fltVal val="0"/>
                                          </p:val>
                                        </p:tav>
                                        <p:tav tm="100000">
                                          <p:val>
                                            <p:strVal val="#ppt_w"/>
                                          </p:val>
                                        </p:tav>
                                      </p:tavLst>
                                    </p:anim>
                                    <p:anim calcmode="lin" valueType="num">
                                      <p:cBhvr>
                                        <p:cTn id="14" dur="500" fill="hold"/>
                                        <p:tgtEl>
                                          <p:spTgt spid="210977"/>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10" fill="hold" grpId="0" nodeType="clickEffect">
                                  <p:stCondLst>
                                    <p:cond delay="0"/>
                                  </p:stCondLst>
                                  <p:childTnLst>
                                    <p:set>
                                      <p:cBhvr>
                                        <p:cTn id="18" dur="1" fill="hold">
                                          <p:stCondLst>
                                            <p:cond delay="0"/>
                                          </p:stCondLst>
                                        </p:cTn>
                                        <p:tgtEl>
                                          <p:spTgt spid="210978"/>
                                        </p:tgtEl>
                                        <p:attrNameLst>
                                          <p:attrName>style.visibility</p:attrName>
                                        </p:attrNameLst>
                                      </p:cBhvr>
                                      <p:to>
                                        <p:strVal val="visible"/>
                                      </p:to>
                                    </p:set>
                                    <p:anim calcmode="lin" valueType="num">
                                      <p:cBhvr>
                                        <p:cTn id="19" dur="500" fill="hold"/>
                                        <p:tgtEl>
                                          <p:spTgt spid="210978"/>
                                        </p:tgtEl>
                                        <p:attrNameLst>
                                          <p:attrName>ppt_w</p:attrName>
                                        </p:attrNameLst>
                                      </p:cBhvr>
                                      <p:tavLst>
                                        <p:tav tm="0">
                                          <p:val>
                                            <p:fltVal val="0"/>
                                          </p:val>
                                        </p:tav>
                                        <p:tav tm="100000">
                                          <p:val>
                                            <p:strVal val="#ppt_w"/>
                                          </p:val>
                                        </p:tav>
                                      </p:tavLst>
                                    </p:anim>
                                    <p:anim calcmode="lin" valueType="num">
                                      <p:cBhvr>
                                        <p:cTn id="20" dur="500" fill="hold"/>
                                        <p:tgtEl>
                                          <p:spTgt spid="210978"/>
                                        </p:tgtEl>
                                        <p:attrNameLst>
                                          <p:attrName>ppt_h</p:attrName>
                                        </p:attrNameLst>
                                      </p:cBhvr>
                                      <p:tavLst>
                                        <p:tav tm="0">
                                          <p:val>
                                            <p:strVal val="#ppt_h"/>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grpId="0" nodeType="clickEffect">
                                  <p:stCondLst>
                                    <p:cond delay="0"/>
                                  </p:stCondLst>
                                  <p:childTnLst>
                                    <p:set>
                                      <p:cBhvr>
                                        <p:cTn id="24" dur="1" fill="hold">
                                          <p:stCondLst>
                                            <p:cond delay="0"/>
                                          </p:stCondLst>
                                        </p:cTn>
                                        <p:tgtEl>
                                          <p:spTgt spid="210979"/>
                                        </p:tgtEl>
                                        <p:attrNameLst>
                                          <p:attrName>style.visibility</p:attrName>
                                        </p:attrNameLst>
                                      </p:cBhvr>
                                      <p:to>
                                        <p:strVal val="visible"/>
                                      </p:to>
                                    </p:set>
                                    <p:anim calcmode="lin" valueType="num">
                                      <p:cBhvr>
                                        <p:cTn id="25" dur="500" fill="hold"/>
                                        <p:tgtEl>
                                          <p:spTgt spid="210979"/>
                                        </p:tgtEl>
                                        <p:attrNameLst>
                                          <p:attrName>ppt_w</p:attrName>
                                        </p:attrNameLst>
                                      </p:cBhvr>
                                      <p:tavLst>
                                        <p:tav tm="0">
                                          <p:val>
                                            <p:fltVal val="0"/>
                                          </p:val>
                                        </p:tav>
                                        <p:tav tm="100000">
                                          <p:val>
                                            <p:strVal val="#ppt_w"/>
                                          </p:val>
                                        </p:tav>
                                      </p:tavLst>
                                    </p:anim>
                                    <p:anim calcmode="lin" valueType="num">
                                      <p:cBhvr>
                                        <p:cTn id="26" dur="500" fill="hold"/>
                                        <p:tgtEl>
                                          <p:spTgt spid="210979"/>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nodeType="clickEffect">
                                  <p:stCondLst>
                                    <p:cond delay="0"/>
                                  </p:stCondLst>
                                  <p:childTnLst>
                                    <p:set>
                                      <p:cBhvr>
                                        <p:cTn id="30" dur="1" fill="hold">
                                          <p:stCondLst>
                                            <p:cond delay="0"/>
                                          </p:stCondLst>
                                        </p:cTn>
                                        <p:tgtEl>
                                          <p:spTgt spid="210968"/>
                                        </p:tgtEl>
                                        <p:attrNameLst>
                                          <p:attrName>style.visibility</p:attrName>
                                        </p:attrNameLst>
                                      </p:cBhvr>
                                      <p:to>
                                        <p:strVal val="visible"/>
                                      </p:to>
                                    </p:set>
                                    <p:anim calcmode="lin" valueType="num">
                                      <p:cBhvr>
                                        <p:cTn id="31" dur="500" fill="hold"/>
                                        <p:tgtEl>
                                          <p:spTgt spid="210968"/>
                                        </p:tgtEl>
                                        <p:attrNameLst>
                                          <p:attrName>ppt_w</p:attrName>
                                        </p:attrNameLst>
                                      </p:cBhvr>
                                      <p:tavLst>
                                        <p:tav tm="0">
                                          <p:val>
                                            <p:fltVal val="0"/>
                                          </p:val>
                                        </p:tav>
                                        <p:tav tm="100000">
                                          <p:val>
                                            <p:strVal val="#ppt_w"/>
                                          </p:val>
                                        </p:tav>
                                      </p:tavLst>
                                    </p:anim>
                                    <p:anim calcmode="lin" valueType="num">
                                      <p:cBhvr>
                                        <p:cTn id="32" dur="500" fill="hold"/>
                                        <p:tgtEl>
                                          <p:spTgt spid="210968"/>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10" fill="hold" nodeType="clickEffect">
                                  <p:stCondLst>
                                    <p:cond delay="0"/>
                                  </p:stCondLst>
                                  <p:childTnLst>
                                    <p:set>
                                      <p:cBhvr>
                                        <p:cTn id="36" dur="1" fill="hold">
                                          <p:stCondLst>
                                            <p:cond delay="0"/>
                                          </p:stCondLst>
                                        </p:cTn>
                                        <p:tgtEl>
                                          <p:spTgt spid="210971"/>
                                        </p:tgtEl>
                                        <p:attrNameLst>
                                          <p:attrName>style.visibility</p:attrName>
                                        </p:attrNameLst>
                                      </p:cBhvr>
                                      <p:to>
                                        <p:strVal val="visible"/>
                                      </p:to>
                                    </p:set>
                                    <p:anim calcmode="lin" valueType="num">
                                      <p:cBhvr>
                                        <p:cTn id="37" dur="500" fill="hold"/>
                                        <p:tgtEl>
                                          <p:spTgt spid="210971"/>
                                        </p:tgtEl>
                                        <p:attrNameLst>
                                          <p:attrName>ppt_w</p:attrName>
                                        </p:attrNameLst>
                                      </p:cBhvr>
                                      <p:tavLst>
                                        <p:tav tm="0">
                                          <p:val>
                                            <p:fltVal val="0"/>
                                          </p:val>
                                        </p:tav>
                                        <p:tav tm="100000">
                                          <p:val>
                                            <p:strVal val="#ppt_w"/>
                                          </p:val>
                                        </p:tav>
                                      </p:tavLst>
                                    </p:anim>
                                    <p:anim calcmode="lin" valueType="num">
                                      <p:cBhvr>
                                        <p:cTn id="38" dur="500" fill="hold"/>
                                        <p:tgtEl>
                                          <p:spTgt spid="210971"/>
                                        </p:tgtEl>
                                        <p:attrNameLst>
                                          <p:attrName>ppt_h</p:attrName>
                                        </p:attrNameLst>
                                      </p:cBhvr>
                                      <p:tavLst>
                                        <p:tav tm="0">
                                          <p:val>
                                            <p:strVal val="#ppt_h"/>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17" presetClass="entr" presetSubtype="10" fill="hold" nodeType="clickEffect">
                                  <p:stCondLst>
                                    <p:cond delay="0"/>
                                  </p:stCondLst>
                                  <p:childTnLst>
                                    <p:set>
                                      <p:cBhvr>
                                        <p:cTn id="42" dur="1" fill="hold">
                                          <p:stCondLst>
                                            <p:cond delay="0"/>
                                          </p:stCondLst>
                                        </p:cTn>
                                        <p:tgtEl>
                                          <p:spTgt spid="210974"/>
                                        </p:tgtEl>
                                        <p:attrNameLst>
                                          <p:attrName>style.visibility</p:attrName>
                                        </p:attrNameLst>
                                      </p:cBhvr>
                                      <p:to>
                                        <p:strVal val="visible"/>
                                      </p:to>
                                    </p:set>
                                    <p:anim calcmode="lin" valueType="num">
                                      <p:cBhvr>
                                        <p:cTn id="43" dur="500" fill="hold"/>
                                        <p:tgtEl>
                                          <p:spTgt spid="210974"/>
                                        </p:tgtEl>
                                        <p:attrNameLst>
                                          <p:attrName>ppt_w</p:attrName>
                                        </p:attrNameLst>
                                      </p:cBhvr>
                                      <p:tavLst>
                                        <p:tav tm="0">
                                          <p:val>
                                            <p:fltVal val="0"/>
                                          </p:val>
                                        </p:tav>
                                        <p:tav tm="100000">
                                          <p:val>
                                            <p:strVal val="#ppt_w"/>
                                          </p:val>
                                        </p:tav>
                                      </p:tavLst>
                                    </p:anim>
                                    <p:anim calcmode="lin" valueType="num">
                                      <p:cBhvr>
                                        <p:cTn id="44" dur="500" fill="hold"/>
                                        <p:tgtEl>
                                          <p:spTgt spid="210974"/>
                                        </p:tgtEl>
                                        <p:attrNameLst>
                                          <p:attrName>ppt_h</p:attrName>
                                        </p:attrNameLst>
                                      </p:cBhvr>
                                      <p:tavLst>
                                        <p:tav tm="0">
                                          <p:val>
                                            <p:strVal val="#ppt_h"/>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19" presetClass="entr" presetSubtype="10" fill="hold" nodeType="clickEffect">
                                  <p:stCondLst>
                                    <p:cond delay="0"/>
                                  </p:stCondLst>
                                  <p:childTnLst>
                                    <p:set>
                                      <p:cBhvr>
                                        <p:cTn id="48" dur="1" fill="hold">
                                          <p:stCondLst>
                                            <p:cond delay="0"/>
                                          </p:stCondLst>
                                        </p:cTn>
                                        <p:tgtEl>
                                          <p:spTgt spid="210980"/>
                                        </p:tgtEl>
                                        <p:attrNameLst>
                                          <p:attrName>style.visibility</p:attrName>
                                        </p:attrNameLst>
                                      </p:cBhvr>
                                      <p:to>
                                        <p:strVal val="visible"/>
                                      </p:to>
                                    </p:set>
                                    <p:anim calcmode="lin" valueType="num">
                                      <p:cBhvr>
                                        <p:cTn id="49" dur="5000" fill="hold"/>
                                        <p:tgtEl>
                                          <p:spTgt spid="210980"/>
                                        </p:tgtEl>
                                        <p:attrNameLst>
                                          <p:attrName>ppt_w</p:attrName>
                                        </p:attrNameLst>
                                      </p:cBhvr>
                                      <p:tavLst>
                                        <p:tav tm="0" fmla="#ppt_w*sin(2.5*pi*$)">
                                          <p:val>
                                            <p:fltVal val="0"/>
                                          </p:val>
                                        </p:tav>
                                        <p:tav tm="100000">
                                          <p:val>
                                            <p:fltVal val="1"/>
                                          </p:val>
                                        </p:tav>
                                      </p:tavLst>
                                    </p:anim>
                                    <p:anim calcmode="lin" valueType="num">
                                      <p:cBhvr>
                                        <p:cTn id="50" dur="5000" fill="hold"/>
                                        <p:tgtEl>
                                          <p:spTgt spid="21098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0949" grpId="0" bldLvl="0" animBg="1" autoUpdateAnimBg="0"/>
      <p:bldP spid="210977" grpId="0" bldLvl="0" animBg="1"/>
      <p:bldP spid="210978" grpId="0" bldLvl="0" animBg="1"/>
      <p:bldP spid="210979" grpId="0" bldLvl="0" animBg="1" autoUpdateAnimBg="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335360" y="287665"/>
            <a:ext cx="6324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defPPr>
              <a:defRPr lang="zh-CN"/>
            </a:defPPr>
            <a:lvl1pPr algn="just">
              <a:spcBef>
                <a:spcPct val="50000"/>
              </a:spcBef>
              <a:defRPr kumimoji="1" sz="3200" b="1">
                <a:latin typeface="黑体" panose="02010609060101010101" pitchFamily="49" charset="-122"/>
                <a:ea typeface="黑体" panose="02010609060101010101" pitchFamily="49" charset="-122"/>
              </a:defRPr>
            </a:lvl1pPr>
            <a:lvl2pPr marL="742950" indent="-285750">
              <a:defRPr sz="2400" b="1">
                <a:latin typeface="Times New Roman" panose="02020603050405020304" pitchFamily="18" charset="0"/>
                <a:ea typeface="宋体" panose="02010600030101010101" pitchFamily="2" charset="-122"/>
              </a:defRPr>
            </a:lvl2pPr>
            <a:lvl3pPr marL="1143000" indent="-228600">
              <a:defRPr sz="2400" b="1">
                <a:latin typeface="Times New Roman" panose="02020603050405020304" pitchFamily="18" charset="0"/>
                <a:ea typeface="宋体" panose="02010600030101010101" pitchFamily="2" charset="-122"/>
              </a:defRPr>
            </a:lvl3pPr>
            <a:lvl4pPr marL="1600200" indent="-228600">
              <a:defRPr sz="2400" b="1">
                <a:latin typeface="Times New Roman" panose="02020603050405020304" pitchFamily="18" charset="0"/>
                <a:ea typeface="宋体" panose="02010600030101010101" pitchFamily="2" charset="-122"/>
              </a:defRPr>
            </a:lvl4pPr>
            <a:lvl5pPr marL="2057400" indent="-228600">
              <a:defRPr sz="2400" b="1">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latin typeface="Times New Roman" panose="02020603050405020304" pitchFamily="18" charset="0"/>
                <a:ea typeface="宋体" panose="02010600030101010101" pitchFamily="2" charset="-122"/>
              </a:defRPr>
            </a:lvl9pPr>
          </a:lstStyle>
          <a:p>
            <a:r>
              <a:rPr lang="zh-CN" altLang="en-US" dirty="0"/>
              <a:t>二、外推内插法的基本原理与步骤</a:t>
            </a:r>
          </a:p>
        </p:txBody>
      </p:sp>
      <p:grpSp>
        <p:nvGrpSpPr>
          <p:cNvPr id="4" name="Group 5"/>
          <p:cNvGrpSpPr/>
          <p:nvPr/>
        </p:nvGrpSpPr>
        <p:grpSpPr bwMode="auto">
          <a:xfrm>
            <a:off x="8225825" y="-1091"/>
            <a:ext cx="2787650" cy="2338388"/>
            <a:chOff x="684" y="2415"/>
            <a:chExt cx="1756" cy="1473"/>
          </a:xfrm>
        </p:grpSpPr>
        <p:sp>
          <p:nvSpPr>
            <p:cNvPr id="5" name="Rectangle 6"/>
            <p:cNvSpPr>
              <a:spLocks noChangeArrowheads="1"/>
            </p:cNvSpPr>
            <p:nvPr/>
          </p:nvSpPr>
          <p:spPr bwMode="auto">
            <a:xfrm>
              <a:off x="808" y="2688"/>
              <a:ext cx="1632" cy="1200"/>
            </a:xfrm>
            <a:prstGeom prst="rect">
              <a:avLst/>
            </a:prstGeom>
            <a:solidFill>
              <a:srgbClr val="FFFF99"/>
            </a:soli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6" name="Arc 7"/>
            <p:cNvSpPr/>
            <p:nvPr/>
          </p:nvSpPr>
          <p:spPr bwMode="auto">
            <a:xfrm rot="6890225">
              <a:off x="1411" y="2606"/>
              <a:ext cx="976" cy="744"/>
            </a:xfrm>
            <a:custGeom>
              <a:avLst/>
              <a:gdLst>
                <a:gd name="T0" fmla="*/ 0 w 23123"/>
                <a:gd name="T1" fmla="*/ 0 h 21600"/>
                <a:gd name="T2" fmla="*/ 0 w 23123"/>
                <a:gd name="T3" fmla="*/ 0 h 21600"/>
                <a:gd name="T4" fmla="*/ 0 w 23123"/>
                <a:gd name="T5" fmla="*/ 0 h 21600"/>
                <a:gd name="T6" fmla="*/ 0 60000 65536"/>
                <a:gd name="T7" fmla="*/ 0 60000 65536"/>
                <a:gd name="T8" fmla="*/ 0 60000 65536"/>
              </a:gdLst>
              <a:ahLst/>
              <a:cxnLst>
                <a:cxn ang="T6">
                  <a:pos x="T0" y="T1"/>
                </a:cxn>
                <a:cxn ang="T7">
                  <a:pos x="T2" y="T3"/>
                </a:cxn>
                <a:cxn ang="T8">
                  <a:pos x="T4" y="T5"/>
                </a:cxn>
              </a:cxnLst>
              <a:rect l="0" t="0" r="r" b="b"/>
              <a:pathLst>
                <a:path w="23123" h="21600" fill="none" extrusionOk="0">
                  <a:moveTo>
                    <a:pt x="-1" y="435"/>
                  </a:moveTo>
                  <a:cubicBezTo>
                    <a:pt x="1420" y="145"/>
                    <a:pt x="2866" y="-1"/>
                    <a:pt x="4316" y="0"/>
                  </a:cubicBezTo>
                  <a:cubicBezTo>
                    <a:pt x="12105" y="0"/>
                    <a:pt x="19292" y="4194"/>
                    <a:pt x="23123" y="10976"/>
                  </a:cubicBezTo>
                </a:path>
                <a:path w="23123" h="21600" stroke="0" extrusionOk="0">
                  <a:moveTo>
                    <a:pt x="-1" y="435"/>
                  </a:moveTo>
                  <a:cubicBezTo>
                    <a:pt x="1420" y="145"/>
                    <a:pt x="2866" y="-1"/>
                    <a:pt x="4316" y="0"/>
                  </a:cubicBezTo>
                  <a:cubicBezTo>
                    <a:pt x="12105" y="0"/>
                    <a:pt x="19292" y="4194"/>
                    <a:pt x="23123" y="10976"/>
                  </a:cubicBezTo>
                  <a:lnTo>
                    <a:pt x="4316" y="21600"/>
                  </a:lnTo>
                  <a:lnTo>
                    <a:pt x="-1" y="435"/>
                  </a:lnTo>
                  <a:close/>
                </a:path>
              </a:pathLst>
            </a:custGeom>
            <a:solidFill>
              <a:schemeClr val="bg1"/>
            </a:solidFill>
            <a:ln w="1905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Arc 8"/>
            <p:cNvSpPr/>
            <p:nvPr/>
          </p:nvSpPr>
          <p:spPr bwMode="auto">
            <a:xfrm rot="15362728" flipH="1">
              <a:off x="806" y="2703"/>
              <a:ext cx="912" cy="721"/>
            </a:xfrm>
            <a:custGeom>
              <a:avLst/>
              <a:gdLst>
                <a:gd name="T0" fmla="*/ 0 w 21600"/>
                <a:gd name="T1" fmla="*/ 0 h 24712"/>
                <a:gd name="T2" fmla="*/ 0 w 21600"/>
                <a:gd name="T3" fmla="*/ 0 h 24712"/>
                <a:gd name="T4" fmla="*/ 0 w 21600"/>
                <a:gd name="T5" fmla="*/ 0 h 24712"/>
                <a:gd name="T6" fmla="*/ 0 60000 65536"/>
                <a:gd name="T7" fmla="*/ 0 60000 65536"/>
                <a:gd name="T8" fmla="*/ 0 60000 65536"/>
              </a:gdLst>
              <a:ahLst/>
              <a:cxnLst>
                <a:cxn ang="T6">
                  <a:pos x="T0" y="T1"/>
                </a:cxn>
                <a:cxn ang="T7">
                  <a:pos x="T2" y="T3"/>
                </a:cxn>
                <a:cxn ang="T8">
                  <a:pos x="T4" y="T5"/>
                </a:cxn>
              </a:cxnLst>
              <a:rect l="0" t="0" r="r" b="b"/>
              <a:pathLst>
                <a:path w="21600" h="24712" fill="none" extrusionOk="0">
                  <a:moveTo>
                    <a:pt x="549" y="0"/>
                  </a:moveTo>
                  <a:cubicBezTo>
                    <a:pt x="12261" y="298"/>
                    <a:pt x="21600" y="9877"/>
                    <a:pt x="21600" y="21593"/>
                  </a:cubicBezTo>
                  <a:cubicBezTo>
                    <a:pt x="21600" y="22636"/>
                    <a:pt x="21524" y="23679"/>
                    <a:pt x="21373" y="24711"/>
                  </a:cubicBezTo>
                </a:path>
                <a:path w="21600" h="24712" stroke="0" extrusionOk="0">
                  <a:moveTo>
                    <a:pt x="549" y="0"/>
                  </a:moveTo>
                  <a:cubicBezTo>
                    <a:pt x="12261" y="298"/>
                    <a:pt x="21600" y="9877"/>
                    <a:pt x="21600" y="21593"/>
                  </a:cubicBezTo>
                  <a:cubicBezTo>
                    <a:pt x="21600" y="22636"/>
                    <a:pt x="21524" y="23679"/>
                    <a:pt x="21373" y="24711"/>
                  </a:cubicBezTo>
                  <a:lnTo>
                    <a:pt x="0" y="21593"/>
                  </a:lnTo>
                  <a:lnTo>
                    <a:pt x="549" y="0"/>
                  </a:lnTo>
                  <a:close/>
                </a:path>
              </a:pathLst>
            </a:custGeom>
            <a:solidFill>
              <a:schemeClr val="bg1"/>
            </a:solidFill>
            <a:ln w="1905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9"/>
            <p:cNvSpPr>
              <a:spLocks noChangeArrowheads="1"/>
            </p:cNvSpPr>
            <p:nvPr/>
          </p:nvSpPr>
          <p:spPr bwMode="auto">
            <a:xfrm rot="417416">
              <a:off x="1256" y="2415"/>
              <a:ext cx="695" cy="888"/>
            </a:xfrm>
            <a:prstGeom prst="rect">
              <a:avLst/>
            </a:prstGeom>
            <a:solidFill>
              <a:schemeClr val="bg1"/>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kumimoji="1" lang="zh-CN" altLang="zh-CN" sz="2000" b="0"/>
            </a:p>
          </p:txBody>
        </p:sp>
        <p:sp>
          <p:nvSpPr>
            <p:cNvPr id="9" name="Rectangle 10"/>
            <p:cNvSpPr>
              <a:spLocks noChangeArrowheads="1"/>
            </p:cNvSpPr>
            <p:nvPr/>
          </p:nvSpPr>
          <p:spPr bwMode="auto">
            <a:xfrm>
              <a:off x="684" y="2440"/>
              <a:ext cx="620" cy="288"/>
            </a:xfrm>
            <a:prstGeom prst="rect">
              <a:avLst/>
            </a:prstGeom>
            <a:solidFill>
              <a:schemeClr val="bg1"/>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p:sp>
        <p:nvSpPr>
          <p:cNvPr id="10" name="Line 11"/>
          <p:cNvSpPr>
            <a:spLocks noChangeShapeType="1"/>
          </p:cNvSpPr>
          <p:nvPr/>
        </p:nvSpPr>
        <p:spPr bwMode="auto">
          <a:xfrm flipV="1">
            <a:off x="8090888" y="503734"/>
            <a:ext cx="0" cy="1836738"/>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 name="Line 12"/>
          <p:cNvSpPr>
            <a:spLocks noChangeShapeType="1"/>
          </p:cNvSpPr>
          <p:nvPr/>
        </p:nvSpPr>
        <p:spPr bwMode="auto">
          <a:xfrm>
            <a:off x="8108350" y="2340472"/>
            <a:ext cx="3438525" cy="0"/>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Rectangle 13"/>
          <p:cNvSpPr>
            <a:spLocks noChangeArrowheads="1"/>
          </p:cNvSpPr>
          <p:nvPr/>
        </p:nvSpPr>
        <p:spPr bwMode="auto">
          <a:xfrm>
            <a:off x="7317775" y="408484"/>
            <a:ext cx="563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a:solidFill>
                  <a:srgbClr val="0000FF"/>
                </a:solidFill>
              </a:rPr>
              <a:t>f(</a:t>
            </a:r>
            <a:r>
              <a:rPr kumimoji="1" lang="en-US" altLang="zh-CN" sz="2000" i="1">
                <a:solidFill>
                  <a:srgbClr val="0000FF"/>
                </a:solidFill>
              </a:rPr>
              <a:t>x</a:t>
            </a:r>
            <a:r>
              <a:rPr kumimoji="1" lang="en-US" altLang="zh-CN" sz="2000">
                <a:solidFill>
                  <a:srgbClr val="0000FF"/>
                </a:solidFill>
              </a:rPr>
              <a:t>)</a:t>
            </a:r>
            <a:endParaRPr kumimoji="1" lang="en-US" altLang="zh-CN" sz="2000" baseline="-30000">
              <a:solidFill>
                <a:srgbClr val="0000FF"/>
              </a:solidFill>
            </a:endParaRPr>
          </a:p>
        </p:txBody>
      </p:sp>
      <p:sp>
        <p:nvSpPr>
          <p:cNvPr id="13" name="Rectangle 14"/>
          <p:cNvSpPr>
            <a:spLocks noChangeArrowheads="1"/>
          </p:cNvSpPr>
          <p:nvPr/>
        </p:nvSpPr>
        <p:spPr bwMode="auto">
          <a:xfrm>
            <a:off x="11448450" y="2170609"/>
            <a:ext cx="374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b="0">
                <a:solidFill>
                  <a:srgbClr val="0000FF"/>
                </a:solidFill>
              </a:rPr>
              <a:t> x</a:t>
            </a:r>
            <a:endParaRPr kumimoji="1" lang="en-US" altLang="zh-CN" sz="2000" b="0" baseline="-30000">
              <a:solidFill>
                <a:srgbClr val="0000FF"/>
              </a:solidFill>
            </a:endParaRPr>
          </a:p>
        </p:txBody>
      </p:sp>
      <p:grpSp>
        <p:nvGrpSpPr>
          <p:cNvPr id="14" name="Group 19"/>
          <p:cNvGrpSpPr/>
          <p:nvPr/>
        </p:nvGrpSpPr>
        <p:grpSpPr bwMode="auto">
          <a:xfrm>
            <a:off x="8438550" y="965695"/>
            <a:ext cx="542925" cy="2079624"/>
            <a:chOff x="834" y="3024"/>
            <a:chExt cx="342" cy="1310"/>
          </a:xfrm>
        </p:grpSpPr>
        <p:sp>
          <p:nvSpPr>
            <p:cNvPr id="15" name="Text Box 20"/>
            <p:cNvSpPr txBox="1">
              <a:spLocks noChangeArrowheads="1"/>
            </p:cNvSpPr>
            <p:nvPr/>
          </p:nvSpPr>
          <p:spPr bwMode="auto">
            <a:xfrm>
              <a:off x="834" y="3840"/>
              <a:ext cx="342" cy="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1800" b="0" dirty="0">
                  <a:solidFill>
                    <a:srgbClr val="0000FF"/>
                  </a:solidFill>
                </a:rPr>
                <a:t>x</a:t>
              </a:r>
              <a:r>
                <a:rPr kumimoji="1" lang="en-US" altLang="zh-CN" sz="1800" b="0" baseline="-30000" dirty="0">
                  <a:solidFill>
                    <a:srgbClr val="0000FF"/>
                  </a:solidFill>
                </a:rPr>
                <a:t>1</a:t>
              </a:r>
            </a:p>
            <a:p>
              <a:pPr eaLnBrk="1" hangingPunct="1">
                <a:spcBef>
                  <a:spcPct val="50000"/>
                </a:spcBef>
              </a:pPr>
              <a:endParaRPr kumimoji="1" lang="en-US" altLang="zh-CN" sz="1800" b="0" dirty="0">
                <a:solidFill>
                  <a:srgbClr val="0000FF"/>
                </a:solidFill>
              </a:endParaRPr>
            </a:p>
          </p:txBody>
        </p:sp>
        <p:sp>
          <p:nvSpPr>
            <p:cNvPr id="16" name="Line 21"/>
            <p:cNvSpPr>
              <a:spLocks noChangeShapeType="1"/>
            </p:cNvSpPr>
            <p:nvPr/>
          </p:nvSpPr>
          <p:spPr bwMode="auto">
            <a:xfrm>
              <a:off x="938" y="3024"/>
              <a:ext cx="0" cy="864"/>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7" name="Group 22"/>
          <p:cNvGrpSpPr/>
          <p:nvPr/>
        </p:nvGrpSpPr>
        <p:grpSpPr bwMode="auto">
          <a:xfrm>
            <a:off x="8651275" y="1321296"/>
            <a:ext cx="635000" cy="1309687"/>
            <a:chOff x="952" y="3248"/>
            <a:chExt cx="400" cy="825"/>
          </a:xfrm>
        </p:grpSpPr>
        <p:sp>
          <p:nvSpPr>
            <p:cNvPr id="18" name="Line 23"/>
            <p:cNvSpPr>
              <a:spLocks noChangeShapeType="1"/>
            </p:cNvSpPr>
            <p:nvPr/>
          </p:nvSpPr>
          <p:spPr bwMode="auto">
            <a:xfrm>
              <a:off x="1104" y="3248"/>
              <a:ext cx="0" cy="648"/>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Text Box 24"/>
            <p:cNvSpPr txBox="1">
              <a:spLocks noChangeArrowheads="1"/>
            </p:cNvSpPr>
            <p:nvPr/>
          </p:nvSpPr>
          <p:spPr bwMode="auto">
            <a:xfrm>
              <a:off x="952" y="3840"/>
              <a:ext cx="400"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1800" b="0" dirty="0">
                  <a:solidFill>
                    <a:srgbClr val="0000FF"/>
                  </a:solidFill>
                </a:rPr>
                <a:t>x</a:t>
              </a:r>
              <a:r>
                <a:rPr kumimoji="1" lang="en-US" altLang="zh-CN" sz="1800" b="0" baseline="-30000" dirty="0">
                  <a:solidFill>
                    <a:srgbClr val="0000FF"/>
                  </a:solidFill>
                </a:rPr>
                <a:t>1</a:t>
              </a:r>
              <a:r>
                <a:rPr kumimoji="1" lang="en-US" altLang="zh-CN" sz="1800" b="0" dirty="0">
                  <a:solidFill>
                    <a:srgbClr val="0000FF"/>
                  </a:solidFill>
                </a:rPr>
                <a:t>+h</a:t>
              </a:r>
            </a:p>
          </p:txBody>
        </p:sp>
      </p:grpSp>
      <p:grpSp>
        <p:nvGrpSpPr>
          <p:cNvPr id="20" name="Group 26"/>
          <p:cNvGrpSpPr/>
          <p:nvPr/>
        </p:nvGrpSpPr>
        <p:grpSpPr bwMode="auto">
          <a:xfrm>
            <a:off x="9252941" y="1651496"/>
            <a:ext cx="776288" cy="1019175"/>
            <a:chOff x="1331" y="3456"/>
            <a:chExt cx="489" cy="642"/>
          </a:xfrm>
        </p:grpSpPr>
        <p:sp>
          <p:nvSpPr>
            <p:cNvPr id="21" name="Line 27"/>
            <p:cNvSpPr>
              <a:spLocks noChangeShapeType="1"/>
            </p:cNvSpPr>
            <p:nvPr/>
          </p:nvSpPr>
          <p:spPr bwMode="auto">
            <a:xfrm>
              <a:off x="1488" y="3456"/>
              <a:ext cx="0" cy="458"/>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Rectangle 28"/>
            <p:cNvSpPr>
              <a:spLocks noChangeArrowheads="1"/>
            </p:cNvSpPr>
            <p:nvPr/>
          </p:nvSpPr>
          <p:spPr bwMode="auto">
            <a:xfrm>
              <a:off x="1331" y="3865"/>
              <a:ext cx="48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1800" b="0" dirty="0">
                  <a:solidFill>
                    <a:srgbClr val="0000FF"/>
                  </a:solidFill>
                </a:rPr>
                <a:t>x</a:t>
              </a:r>
              <a:r>
                <a:rPr kumimoji="1" lang="en-US" altLang="zh-CN" sz="1800" b="0" baseline="-30000" dirty="0">
                  <a:solidFill>
                    <a:srgbClr val="0000FF"/>
                  </a:solidFill>
                </a:rPr>
                <a:t>1 </a:t>
              </a:r>
              <a:r>
                <a:rPr kumimoji="1" lang="en-US" altLang="zh-CN" sz="1800" b="0" dirty="0">
                  <a:solidFill>
                    <a:srgbClr val="0000FF"/>
                  </a:solidFill>
                </a:rPr>
                <a:t>+3h</a:t>
              </a:r>
            </a:p>
          </p:txBody>
        </p:sp>
      </p:grpSp>
      <p:grpSp>
        <p:nvGrpSpPr>
          <p:cNvPr id="23" name="Group 46"/>
          <p:cNvGrpSpPr/>
          <p:nvPr/>
        </p:nvGrpSpPr>
        <p:grpSpPr bwMode="auto">
          <a:xfrm>
            <a:off x="10267350" y="1194296"/>
            <a:ext cx="752475" cy="1449387"/>
            <a:chOff x="1970" y="3168"/>
            <a:chExt cx="474" cy="913"/>
          </a:xfrm>
        </p:grpSpPr>
        <p:sp>
          <p:nvSpPr>
            <p:cNvPr id="24" name="Line 47"/>
            <p:cNvSpPr>
              <a:spLocks noChangeShapeType="1"/>
            </p:cNvSpPr>
            <p:nvPr/>
          </p:nvSpPr>
          <p:spPr bwMode="auto">
            <a:xfrm>
              <a:off x="2146" y="3168"/>
              <a:ext cx="0" cy="739"/>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48"/>
            <p:cNvSpPr txBox="1">
              <a:spLocks noChangeArrowheads="1"/>
            </p:cNvSpPr>
            <p:nvPr/>
          </p:nvSpPr>
          <p:spPr bwMode="auto">
            <a:xfrm>
              <a:off x="1970" y="3848"/>
              <a:ext cx="47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en-US" altLang="zh-CN" sz="1800" b="0" dirty="0">
                  <a:solidFill>
                    <a:srgbClr val="0000FF"/>
                  </a:solidFill>
                </a:rPr>
                <a:t>x</a:t>
              </a:r>
              <a:r>
                <a:rPr kumimoji="1" lang="en-US" altLang="zh-CN" sz="1800" b="0" baseline="-30000" dirty="0">
                  <a:solidFill>
                    <a:srgbClr val="0000FF"/>
                  </a:solidFill>
                </a:rPr>
                <a:t>1</a:t>
              </a:r>
              <a:r>
                <a:rPr kumimoji="1" lang="en-US" altLang="zh-CN" sz="1800" b="0" dirty="0">
                  <a:solidFill>
                    <a:srgbClr val="0000FF"/>
                  </a:solidFill>
                </a:rPr>
                <a:t>+7h</a:t>
              </a:r>
            </a:p>
          </p:txBody>
        </p:sp>
      </p:grpSp>
      <p:grpSp>
        <p:nvGrpSpPr>
          <p:cNvPr id="26" name="Group 49"/>
          <p:cNvGrpSpPr/>
          <p:nvPr/>
        </p:nvGrpSpPr>
        <p:grpSpPr bwMode="auto">
          <a:xfrm>
            <a:off x="8930674" y="1535610"/>
            <a:ext cx="1562100" cy="830263"/>
            <a:chOff x="1128" y="3128"/>
            <a:chExt cx="984" cy="523"/>
          </a:xfrm>
        </p:grpSpPr>
        <p:grpSp>
          <p:nvGrpSpPr>
            <p:cNvPr id="27" name="Group 52"/>
            <p:cNvGrpSpPr/>
            <p:nvPr/>
          </p:nvGrpSpPr>
          <p:grpSpPr bwMode="auto">
            <a:xfrm>
              <a:off x="1128" y="3134"/>
              <a:ext cx="360" cy="475"/>
              <a:chOff x="960" y="2592"/>
              <a:chExt cx="144" cy="857"/>
            </a:xfrm>
          </p:grpSpPr>
          <p:sp>
            <p:nvSpPr>
              <p:cNvPr id="38" name="Line 53"/>
              <p:cNvSpPr>
                <a:spLocks noChangeShapeType="1"/>
              </p:cNvSpPr>
              <p:nvPr/>
            </p:nvSpPr>
            <p:spPr bwMode="auto">
              <a:xfrm>
                <a:off x="960" y="259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 name="Line 54"/>
              <p:cNvSpPr>
                <a:spLocks noChangeShapeType="1"/>
              </p:cNvSpPr>
              <p:nvPr/>
            </p:nvSpPr>
            <p:spPr bwMode="auto">
              <a:xfrm>
                <a:off x="960" y="268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 name="Line 55"/>
              <p:cNvSpPr>
                <a:spLocks noChangeShapeType="1"/>
              </p:cNvSpPr>
              <p:nvPr/>
            </p:nvSpPr>
            <p:spPr bwMode="auto">
              <a:xfrm>
                <a:off x="960" y="278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56"/>
              <p:cNvSpPr>
                <a:spLocks noChangeShapeType="1"/>
              </p:cNvSpPr>
              <p:nvPr/>
            </p:nvSpPr>
            <p:spPr bwMode="auto">
              <a:xfrm>
                <a:off x="960" y="2880"/>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57"/>
              <p:cNvSpPr>
                <a:spLocks noChangeShapeType="1"/>
              </p:cNvSpPr>
              <p:nvPr/>
            </p:nvSpPr>
            <p:spPr bwMode="auto">
              <a:xfrm>
                <a:off x="960" y="2976"/>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58"/>
              <p:cNvSpPr>
                <a:spLocks noChangeShapeType="1"/>
              </p:cNvSpPr>
              <p:nvPr/>
            </p:nvSpPr>
            <p:spPr bwMode="auto">
              <a:xfrm>
                <a:off x="960" y="307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59"/>
              <p:cNvSpPr>
                <a:spLocks noChangeShapeType="1"/>
              </p:cNvSpPr>
              <p:nvPr/>
            </p:nvSpPr>
            <p:spPr bwMode="auto">
              <a:xfrm>
                <a:off x="960" y="316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60"/>
              <p:cNvSpPr>
                <a:spLocks noChangeShapeType="1"/>
              </p:cNvSpPr>
              <p:nvPr/>
            </p:nvSpPr>
            <p:spPr bwMode="auto">
              <a:xfrm>
                <a:off x="960" y="326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61"/>
              <p:cNvSpPr>
                <a:spLocks noChangeShapeType="1"/>
              </p:cNvSpPr>
              <p:nvPr/>
            </p:nvSpPr>
            <p:spPr bwMode="auto">
              <a:xfrm>
                <a:off x="968" y="3376"/>
                <a:ext cx="73" cy="73"/>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8" name="Group 62"/>
            <p:cNvGrpSpPr/>
            <p:nvPr/>
          </p:nvGrpSpPr>
          <p:grpSpPr bwMode="auto">
            <a:xfrm flipH="1">
              <a:off x="1488" y="3128"/>
              <a:ext cx="624" cy="523"/>
              <a:chOff x="960" y="2592"/>
              <a:chExt cx="144" cy="857"/>
            </a:xfrm>
          </p:grpSpPr>
          <p:sp>
            <p:nvSpPr>
              <p:cNvPr id="29" name="Line 63"/>
              <p:cNvSpPr>
                <a:spLocks noChangeShapeType="1"/>
              </p:cNvSpPr>
              <p:nvPr/>
            </p:nvSpPr>
            <p:spPr bwMode="auto">
              <a:xfrm>
                <a:off x="960" y="259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64"/>
              <p:cNvSpPr>
                <a:spLocks noChangeShapeType="1"/>
              </p:cNvSpPr>
              <p:nvPr/>
            </p:nvSpPr>
            <p:spPr bwMode="auto">
              <a:xfrm>
                <a:off x="960" y="268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65"/>
              <p:cNvSpPr>
                <a:spLocks noChangeShapeType="1"/>
              </p:cNvSpPr>
              <p:nvPr/>
            </p:nvSpPr>
            <p:spPr bwMode="auto">
              <a:xfrm>
                <a:off x="960" y="278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66"/>
              <p:cNvSpPr>
                <a:spLocks noChangeShapeType="1"/>
              </p:cNvSpPr>
              <p:nvPr/>
            </p:nvSpPr>
            <p:spPr bwMode="auto">
              <a:xfrm>
                <a:off x="960" y="2880"/>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67"/>
              <p:cNvSpPr>
                <a:spLocks noChangeShapeType="1"/>
              </p:cNvSpPr>
              <p:nvPr/>
            </p:nvSpPr>
            <p:spPr bwMode="auto">
              <a:xfrm>
                <a:off x="960" y="2976"/>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68"/>
              <p:cNvSpPr>
                <a:spLocks noChangeShapeType="1"/>
              </p:cNvSpPr>
              <p:nvPr/>
            </p:nvSpPr>
            <p:spPr bwMode="auto">
              <a:xfrm>
                <a:off x="960" y="307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69"/>
              <p:cNvSpPr>
                <a:spLocks noChangeShapeType="1"/>
              </p:cNvSpPr>
              <p:nvPr/>
            </p:nvSpPr>
            <p:spPr bwMode="auto">
              <a:xfrm>
                <a:off x="960" y="316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70"/>
              <p:cNvSpPr>
                <a:spLocks noChangeShapeType="1"/>
              </p:cNvSpPr>
              <p:nvPr/>
            </p:nvSpPr>
            <p:spPr bwMode="auto">
              <a:xfrm>
                <a:off x="960" y="326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71"/>
              <p:cNvSpPr>
                <a:spLocks noChangeShapeType="1"/>
              </p:cNvSpPr>
              <p:nvPr/>
            </p:nvSpPr>
            <p:spPr bwMode="auto">
              <a:xfrm>
                <a:off x="968" y="3376"/>
                <a:ext cx="73" cy="73"/>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47" name="Line 23"/>
          <p:cNvSpPr>
            <a:spLocks noChangeShapeType="1"/>
          </p:cNvSpPr>
          <p:nvPr/>
        </p:nvSpPr>
        <p:spPr bwMode="auto">
          <a:xfrm>
            <a:off x="8890458" y="1322767"/>
            <a:ext cx="0" cy="1028700"/>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mc:AlternateContent xmlns:mc="http://schemas.openxmlformats.org/markup-compatibility/2006" xmlns:a14="http://schemas.microsoft.com/office/drawing/2010/main">
        <mc:Choice Requires="a14">
          <p:sp>
            <p:nvSpPr>
              <p:cNvPr id="48" name="文本框 47"/>
              <p:cNvSpPr txBox="1"/>
              <p:nvPr/>
            </p:nvSpPr>
            <p:spPr>
              <a:xfrm>
                <a:off x="8962424" y="2641288"/>
                <a:ext cx="1873398" cy="276999"/>
              </a:xfrm>
              <a:prstGeom prst="rect">
                <a:avLst/>
              </a:prstGeom>
              <a:noFill/>
            </p:spPr>
            <p:txBody>
              <a:bodyPr wrap="none" lIns="0" tIns="0" rIns="0" bIns="0"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a14:m>
                <a:r>
                  <a:rPr lang="zh-CN" altLang="en-US" dirty="0"/>
                  <a:t>       </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oMath>
                </a14:m>
                <a:r>
                  <a:rPr lang="zh-CN" altLang="en-US"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oMath>
                </a14:m>
                <a:r>
                  <a:rPr lang="zh-CN" altLang="en-US" dirty="0"/>
                  <a:t>  </a:t>
                </a:r>
              </a:p>
            </p:txBody>
          </p:sp>
        </mc:Choice>
        <mc:Fallback xmlns="">
          <p:sp>
            <p:nvSpPr>
              <p:cNvPr id="48" name="文本框 47"/>
              <p:cNvSpPr txBox="1">
                <a:spLocks noRot="1" noChangeAspect="1" noMove="1" noResize="1" noEditPoints="1" noAdjustHandles="1" noChangeArrowheads="1" noChangeShapeType="1" noTextEdit="1"/>
              </p:cNvSpPr>
              <p:nvPr/>
            </p:nvSpPr>
            <p:spPr>
              <a:xfrm>
                <a:off x="8962424" y="2641288"/>
                <a:ext cx="1873398" cy="276999"/>
              </a:xfrm>
              <a:prstGeom prst="rect">
                <a:avLst/>
              </a:prstGeom>
              <a:blipFill rotWithShape="1">
                <a:blip r:embed="rId2"/>
                <a:stretch>
                  <a:fillRect l="-2" t="-117" r="-12057" b="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191135" y="1125220"/>
                <a:ext cx="7660005" cy="2676525"/>
              </a:xfrm>
              <a:prstGeom prst="rect">
                <a:avLst/>
              </a:prstGeom>
              <a:noFill/>
            </p:spPr>
            <p:txBody>
              <a:bodyPr wrap="square" rtlCol="0">
                <a:spAutoFit/>
              </a:bodyPr>
              <a:lstStyle/>
              <a:p>
                <a:r>
                  <a:rPr lang="en-US" altLang="zh-CN" sz="2400" dirty="0">
                    <a:latin typeface="宋体" panose="02010600030101010101" pitchFamily="2" charset="-122"/>
                    <a:ea typeface="宋体" panose="02010600030101010101" pitchFamily="2" charset="-122"/>
                  </a:rPr>
                  <a:t>1. </a:t>
                </a:r>
                <a:r>
                  <a:rPr lang="en-US" altLang="zh-CN" sz="2400" dirty="0" err="1">
                    <a:latin typeface="宋体" panose="02010600030101010101" pitchFamily="2" charset="-122"/>
                    <a:ea typeface="宋体" panose="02010600030101010101" pitchFamily="2" charset="-122"/>
                  </a:rPr>
                  <a:t>给定初始区间，初始点</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lang="en-US" altLang="zh-CN" sz="2400" dirty="0" err="1">
                    <a:latin typeface="宋体" panose="02010600030101010101" pitchFamily="2" charset="-122"/>
                    <a:ea typeface="宋体" panose="02010600030101010101" pitchFamily="2" charset="-122"/>
                  </a:rPr>
                  <a:t>及初始步长</a:t>
                </a:r>
                <a14:m>
                  <m:oMath xmlns:m="http://schemas.openxmlformats.org/officeDocument/2006/math">
                    <m:r>
                      <a:rPr kumimoji="1" lang="en-US" altLang="zh-CN" sz="2400" i="1">
                        <a:solidFill>
                          <a:schemeClr val="tx1"/>
                        </a:solidFill>
                        <a:latin typeface="Cambria Math" panose="02040503050406030204" pitchFamily="18" charset="0"/>
                        <a:cs typeface="Cambria Math" panose="02040503050406030204" pitchFamily="18" charset="0"/>
                      </a:rPr>
                      <m:t>h</m:t>
                    </m:r>
                    <m:r>
                      <a:rPr kumimoji="1" lang="en-US" altLang="zh-CN" sz="2400" i="1">
                        <a:solidFill>
                          <a:schemeClr val="tx1"/>
                        </a:solidFill>
                        <a:latin typeface="Cambria Math" panose="02040503050406030204" pitchFamily="18" charset="0"/>
                        <a:cs typeface="Cambria Math" panose="02040503050406030204" pitchFamily="18" charset="0"/>
                      </a:rPr>
                      <m:t>&gt;0</m:t>
                    </m:r>
                  </m:oMath>
                </a14:m>
                <a:r>
                  <a:rPr lang="en-US" altLang="zh-CN" sz="2400" dirty="0">
                    <a:latin typeface="宋体" panose="02010600030101010101" pitchFamily="2" charset="-122"/>
                    <a:ea typeface="宋体" panose="02010600030101010101" pitchFamily="2" charset="-122"/>
                  </a:rPr>
                  <a:t>。</a:t>
                </a:r>
              </a:p>
              <a:p>
                <a:r>
                  <a:rPr lang="en-US" altLang="zh-CN" sz="2400" dirty="0">
                    <a:latin typeface="宋体" panose="02010600030101010101" pitchFamily="2" charset="-122"/>
                    <a:ea typeface="宋体" panose="02010600030101010101" pitchFamily="2" charset="-122"/>
                  </a:rPr>
                  <a:t>2. </a:t>
                </a:r>
                <a:r>
                  <a:rPr lang="en-US" altLang="zh-CN" sz="2400" dirty="0" err="1">
                    <a:latin typeface="宋体" panose="02010600030101010101" pitchFamily="2" charset="-122"/>
                    <a:ea typeface="宋体" panose="02010600030101010101" pitchFamily="2" charset="-122"/>
                  </a:rPr>
                  <a:t>用加倍步长的外推法找出初始区间</a:t>
                </a:r>
                <a:r>
                  <a:rPr lang="en-US" altLang="zh-CN" sz="2400" dirty="0">
                    <a:latin typeface="宋体" panose="02010600030101010101" pitchFamily="2" charset="-122"/>
                    <a:ea typeface="宋体" panose="02010600030101010101" pitchFamily="2" charset="-122"/>
                  </a:rPr>
                  <a:t>。</a:t>
                </a:r>
              </a:p>
              <a:p>
                <a:r>
                  <a:rPr lang="en-US" altLang="zh-CN" sz="2400" dirty="0" err="1">
                    <a:latin typeface="宋体" panose="02010600030101010101" pitchFamily="2" charset="-122"/>
                    <a:ea typeface="宋体" panose="02010600030101010101" pitchFamily="2" charset="-122"/>
                  </a:rPr>
                  <a:t>由初始点</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lang="en-US" altLang="zh-CN" sz="2400" dirty="0" err="1">
                    <a:latin typeface="宋体" panose="02010600030101010101" pitchFamily="2" charset="-122"/>
                    <a:ea typeface="宋体" panose="02010600030101010101" pitchFamily="2" charset="-122"/>
                  </a:rPr>
                  <a:t>向某个方向，比如向</a:t>
                </a:r>
                <a14:m>
                  <m:oMath xmlns:m="http://schemas.openxmlformats.org/officeDocument/2006/math">
                    <m:r>
                      <a:rPr kumimoji="1" lang="en-US" altLang="zh-CN" sz="2400" i="1">
                        <a:solidFill>
                          <a:schemeClr val="tx1"/>
                        </a:solidFill>
                        <a:latin typeface="Cambria Math" panose="02040503050406030204" pitchFamily="18" charset="0"/>
                        <a:cs typeface="Cambria Math" panose="02040503050406030204" pitchFamily="18" charset="0"/>
                      </a:rPr>
                      <m:t>𝑥</m:t>
                    </m:r>
                  </m:oMath>
                </a14:m>
                <a:r>
                  <a:rPr lang="en-US" altLang="zh-CN" sz="2400" dirty="0" err="1">
                    <a:latin typeface="宋体" panose="02010600030101010101" pitchFamily="2" charset="-122"/>
                    <a:ea typeface="宋体" panose="02010600030101010101" pitchFamily="2" charset="-122"/>
                  </a:rPr>
                  <a:t>增大的方向走一步，步长为</a:t>
                </a:r>
                <a14:m>
                  <m:oMath xmlns:m="http://schemas.openxmlformats.org/officeDocument/2006/math">
                    <m:r>
                      <a:rPr kumimoji="1" lang="en-US" altLang="zh-CN" sz="2400" i="1">
                        <a:solidFill>
                          <a:schemeClr val="tx1"/>
                        </a:solidFill>
                        <a:latin typeface="Cambria Math" panose="02040503050406030204" pitchFamily="18" charset="0"/>
                        <a:cs typeface="Cambria Math" panose="02040503050406030204" pitchFamily="18" charset="0"/>
                      </a:rPr>
                      <m:t>h</m:t>
                    </m:r>
                  </m:oMath>
                </a14:m>
                <a:r>
                  <a:rPr lang="en-US" altLang="zh-CN" sz="2400" dirty="0">
                    <a:latin typeface="宋体" panose="02010600030101010101" pitchFamily="2" charset="-122"/>
                    <a:ea typeface="宋体" panose="02010600030101010101" pitchFamily="2" charset="-122"/>
                  </a:rPr>
                  <a:t>，得</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h</m:t>
                    </m:r>
                  </m:oMath>
                </a14:m>
                <a:r>
                  <a:rPr lang="en-US" altLang="zh-CN" sz="2400" dirty="0">
                    <a:latin typeface="宋体" panose="02010600030101010101" pitchFamily="2" charset="-122"/>
                    <a:ea typeface="宋体" panose="02010600030101010101" pitchFamily="2" charset="-122"/>
                  </a:rPr>
                  <a:t>，</a:t>
                </a:r>
                <a:r>
                  <a:rPr lang="en-US" altLang="zh-CN" sz="2400" dirty="0" err="1">
                    <a:latin typeface="宋体" panose="02010600030101010101" pitchFamily="2" charset="-122"/>
                    <a:ea typeface="宋体" panose="02010600030101010101" pitchFamily="2" charset="-122"/>
                  </a:rPr>
                  <a:t>计算函数值</a:t>
                </a:r>
                <a14:m>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lang="en-US" altLang="zh-CN" sz="2400" dirty="0">
                    <a:latin typeface="宋体" panose="02010600030101010101" pitchFamily="2" charset="-122"/>
                    <a:ea typeface="宋体" panose="02010600030101010101" pitchFamily="2" charset="-122"/>
                  </a:rPr>
                  <a:t>、</a:t>
                </a:r>
                <a14:m>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lang="en-US" altLang="zh-CN" sz="2400" dirty="0" err="1">
                    <a:latin typeface="宋体" panose="02010600030101010101" pitchFamily="2" charset="-122"/>
                    <a:ea typeface="宋体" panose="02010600030101010101" pitchFamily="2" charset="-122"/>
                  </a:rPr>
                  <a:t>并比较它们的大小</a:t>
                </a:r>
                <a:r>
                  <a:rPr lang="en-US" altLang="zh-CN" sz="2400" dirty="0">
                    <a:latin typeface="宋体" panose="02010600030101010101" pitchFamily="2" charset="-122"/>
                    <a:ea typeface="宋体" panose="02010600030101010101" pitchFamily="2" charset="-122"/>
                  </a:rPr>
                  <a:t>：</a:t>
                </a:r>
              </a:p>
              <a:p>
                <a:r>
                  <a:rPr lang="en-US" altLang="zh-CN" sz="2400" dirty="0">
                    <a:latin typeface="宋体" panose="02010600030101010101" pitchFamily="2" charset="-122"/>
                    <a:ea typeface="宋体" panose="02010600030101010101" pitchFamily="2" charset="-122"/>
                  </a:rPr>
                  <a:t>				   			</a:t>
                </a:r>
              </a:p>
              <a:p>
                <a:r>
                  <a:rPr lang="en-US" altLang="zh-CN" sz="2400" dirty="0">
                    <a:latin typeface="宋体" panose="02010600030101010101" pitchFamily="2" charset="-122"/>
                    <a:ea typeface="宋体" panose="02010600030101010101" pitchFamily="2" charset="-122"/>
                  </a:rPr>
                  <a:t>						</a:t>
                </a:r>
              </a:p>
            </p:txBody>
          </p:sp>
        </mc:Choice>
        <mc:Fallback xmlns="">
          <p:sp>
            <p:nvSpPr>
              <p:cNvPr id="2" name="文本框 1"/>
              <p:cNvSpPr txBox="1">
                <a:spLocks noRot="1" noChangeAspect="1" noMove="1" noResize="1" noEditPoints="1" noAdjustHandles="1" noChangeArrowheads="1" noChangeShapeType="1" noTextEdit="1"/>
              </p:cNvSpPr>
              <p:nvPr/>
            </p:nvSpPr>
            <p:spPr>
              <a:xfrm>
                <a:off x="191135" y="1125220"/>
                <a:ext cx="7660005" cy="2676525"/>
              </a:xfrm>
              <a:prstGeom prst="rect">
                <a:avLst/>
              </a:prstGeom>
              <a:blipFill>
                <a:blip r:embed="rId3"/>
                <a:stretch>
                  <a:fillRect l="-1193" t="-2506" r="-119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p:cNvSpPr txBox="1"/>
              <p:nvPr/>
            </p:nvSpPr>
            <p:spPr>
              <a:xfrm>
                <a:off x="655935" y="3142603"/>
                <a:ext cx="11146837" cy="3230245"/>
              </a:xfrm>
              <a:prstGeom prst="rect">
                <a:avLst/>
              </a:prstGeom>
              <a:noFill/>
            </p:spPr>
            <p:txBody>
              <a:bodyPr wrap="square" rtlCol="0">
                <a:spAutoFit/>
              </a:bodyPr>
              <a:lstStyle/>
              <a:p>
                <a:pPr algn="l"/>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(1)若</a:t>
                </a:r>
                <a14:m>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endParaRPr kumimoji="1" lang="en-US" altLang="zh-CN" sz="2400" i="1" dirty="0">
                  <a:solidFill>
                    <a:schemeClr val="tx1"/>
                  </a:solidFill>
                  <a:latin typeface="Cambria Math" panose="02040503050406030204" pitchFamily="18" charset="0"/>
                  <a:ea typeface="MS Mincho" panose="02020609040205080304" charset="-128"/>
                  <a:cs typeface="Cambria Math" panose="02040503050406030204" pitchFamily="18" charset="0"/>
                </a:endParaRPr>
              </a:p>
              <a:p>
                <a:r>
                  <a:rPr lang="en-US" altLang="zh-CN" sz="2400" dirty="0" err="1">
                    <a:latin typeface="宋体" panose="02010600030101010101" pitchFamily="2" charset="-122"/>
                    <a:ea typeface="宋体" panose="02010600030101010101" pitchFamily="2" charset="-122"/>
                    <a:cs typeface="宋体" panose="02010600030101010101" pitchFamily="2" charset="-122"/>
                    <a:sym typeface="+mn-ea"/>
                  </a:rPr>
                  <a:t>说明方向选对，则步长加倍，继续往前走，有</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b="0" i="1" smtClean="0">
                        <a:solidFill>
                          <a:schemeClr val="tx1"/>
                        </a:solidFill>
                        <a:latin typeface="Cambria Math" panose="02040503050406030204" pitchFamily="18" charset="0"/>
                        <a:ea typeface="MS Mincho" panose="02020609040205080304" charset="-128"/>
                        <a:cs typeface="Cambria Math" panose="02040503050406030204" pitchFamily="18" charset="0"/>
                      </a:rPr>
                      <m:t>2</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h</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b="0" i="1" smtClean="0">
                            <a:latin typeface="Cambria Math" panose="02040503050406030204" pitchFamily="18" charset="0"/>
                            <a:ea typeface="宋体" panose="02010600030101010101" pitchFamily="2" charset="-122"/>
                            <a:cs typeface="Cambria Math" panose="02040503050406030204" pitchFamily="18" charset="0"/>
                          </a:rPr>
                          <m:t>1</m:t>
                        </m:r>
                      </m:sub>
                    </m:sSub>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b="0" i="1" smtClean="0">
                        <a:latin typeface="Cambria Math" panose="02040503050406030204" pitchFamily="18" charset="0"/>
                        <a:ea typeface="MS Mincho" panose="02020609040205080304" charset="-128"/>
                        <a:cs typeface="Cambria Math" panose="02040503050406030204" pitchFamily="18" charset="0"/>
                      </a:rPr>
                      <m:t>3</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h</m:t>
                    </m:r>
                  </m:oMath>
                </a14:m>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dirty="0" err="1">
                    <a:latin typeface="宋体" panose="02010600030101010101" pitchFamily="2" charset="-122"/>
                    <a:ea typeface="宋体" panose="02010600030101010101" pitchFamily="2" charset="-122"/>
                    <a:cs typeface="宋体" panose="02010600030101010101" pitchFamily="2" charset="-122"/>
                    <a:sym typeface="+mn-ea"/>
                  </a:rPr>
                  <a:t>若仍有</a:t>
                </a:r>
                <a14:m>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b="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dirty="0" err="1">
                    <a:latin typeface="宋体" panose="02010600030101010101" pitchFamily="2" charset="-122"/>
                    <a:ea typeface="宋体" panose="02010600030101010101" pitchFamily="2" charset="-122"/>
                    <a:cs typeface="宋体" panose="02010600030101010101" pitchFamily="2" charset="-122"/>
                    <a:sym typeface="+mn-ea"/>
                  </a:rPr>
                  <a:t>则将步长再加倍，有</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4</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+4</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h</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1</m:t>
                        </m:r>
                      </m:sub>
                    </m:sSub>
                    <m:r>
                      <a:rPr kumimoji="1" lang="en-US" altLang="zh-CN" sz="2400" i="1">
                        <a:latin typeface="Cambria Math" panose="02040503050406030204" pitchFamily="18" charset="0"/>
                        <a:ea typeface="MS Mincho" panose="02020609040205080304" charset="-128"/>
                        <a:cs typeface="Cambria Math" panose="02040503050406030204" pitchFamily="18" charset="0"/>
                      </a:rPr>
                      <m:t>+</m:t>
                    </m:r>
                    <m:r>
                      <a:rPr kumimoji="1" lang="en-US" altLang="zh-CN" sz="2400" b="0" i="1" smtClean="0">
                        <a:latin typeface="Cambria Math" panose="02040503050406030204" pitchFamily="18" charset="0"/>
                        <a:ea typeface="MS Mincho" panose="02020609040205080304" charset="-128"/>
                        <a:cs typeface="Cambria Math" panose="02040503050406030204" pitchFamily="18" charset="0"/>
                      </a:rPr>
                      <m:t>7</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h</m:t>
                    </m:r>
                  </m:oMath>
                </a14:m>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dirty="0" err="1">
                    <a:latin typeface="宋体" panose="02010600030101010101" pitchFamily="2" charset="-122"/>
                    <a:ea typeface="宋体" panose="02010600030101010101" pitchFamily="2" charset="-122"/>
                    <a:cs typeface="宋体" panose="02010600030101010101" pitchFamily="2" charset="-122"/>
                    <a:sym typeface="+mn-ea"/>
                  </a:rPr>
                  <a:t>直到</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oMath>
                </a14:m>
                <a:r>
                  <a:rPr lang="en-US" altLang="zh-CN" sz="2400" dirty="0" err="1">
                    <a:latin typeface="宋体" panose="02010600030101010101" pitchFamily="2" charset="-122"/>
                    <a:ea typeface="宋体" panose="02010600030101010101" pitchFamily="2" charset="-122"/>
                    <a:cs typeface="宋体" panose="02010600030101010101" pitchFamily="2" charset="-122"/>
                    <a:sym typeface="+mn-ea"/>
                  </a:rPr>
                  <a:t>点的函数值刚刚变为增加为止。这样就得到满足“两头大中间小”的三点</a:t>
                </a: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a:t>
                </a:r>
                <a:endParaRPr lang="en-US" altLang="zh-CN" sz="2400" dirty="0">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14:m>
                  <m:oMathPara xmlns:m="http://schemas.openxmlformats.org/officeDocument/2006/math">
                    <m:oMathParaPr>
                      <m:jc m:val="center"/>
                    </m:oMathParaPr>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oMath>
                  </m:oMathPara>
                </a14:m>
                <a:endParaRPr kumimoji="1" lang="en-US" altLang="zh-CN" sz="2400" i="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14:m>
                  <m:oMathPara xmlns:m="http://schemas.openxmlformats.org/officeDocument/2006/math">
                    <m:oMathParaPr>
                      <m:jc m:val="centerGroup"/>
                    </m:oMathParaPr>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)&gt;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)&gt;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m:oMathPara>
                </a14:m>
                <a:endParaRPr kumimoji="1" lang="en-US" altLang="zh-CN" sz="2400" i="1" dirty="0">
                  <a:solidFill>
                    <a:schemeClr val="tx1"/>
                  </a:solidFill>
                  <a:latin typeface="Cambria Math" panose="02040503050406030204" pitchFamily="18" charset="0"/>
                  <a:ea typeface="MS Mincho" panose="02020609040205080304" charset="-128"/>
                  <a:cs typeface="Cambria Math" panose="02040503050406030204" pitchFamily="18" charset="0"/>
                </a:endParaRPr>
              </a:p>
              <a:p>
                <a:pPr algn="l" fontAlgn="auto">
                  <a:lnSpc>
                    <a:spcPct val="150000"/>
                  </a:lnSpc>
                </a:pPr>
                <a:r>
                  <a:rPr lang="en-US" altLang="zh-CN" sz="2400" dirty="0" err="1">
                    <a:latin typeface="宋体" panose="02010600030101010101" pitchFamily="2" charset="-122"/>
                    <a:ea typeface="宋体" panose="02010600030101010101" pitchFamily="2" charset="-122"/>
                    <a:cs typeface="宋体" panose="02010600030101010101" pitchFamily="2" charset="-122"/>
                    <a:sym typeface="+mn-ea"/>
                  </a:rPr>
                  <a:t>故极小点一定在区间</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a:t>
                </a:r>
                <a:r>
                  <a:rPr lang="en-US" altLang="zh-CN" sz="2400" dirty="0" err="1">
                    <a:latin typeface="宋体" panose="02010600030101010101" pitchFamily="2" charset="-122"/>
                    <a:ea typeface="宋体" panose="02010600030101010101" pitchFamily="2" charset="-122"/>
                    <a:cs typeface="宋体" panose="02010600030101010101" pitchFamily="2" charset="-122"/>
                    <a:sym typeface="+mn-ea"/>
                  </a:rPr>
                  <a:t>可舍弃初始区间的其它部分</a:t>
                </a: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p:txBody>
          </p:sp>
        </mc:Choice>
        <mc:Fallback xmlns="">
          <p:sp>
            <p:nvSpPr>
              <p:cNvPr id="50" name="文本框 49"/>
              <p:cNvSpPr txBox="1">
                <a:spLocks noRot="1" noChangeAspect="1" noMove="1" noResize="1" noEditPoints="1" noAdjustHandles="1" noChangeArrowheads="1" noChangeShapeType="1" noTextEdit="1"/>
              </p:cNvSpPr>
              <p:nvPr/>
            </p:nvSpPr>
            <p:spPr>
              <a:xfrm>
                <a:off x="655935" y="3142603"/>
                <a:ext cx="11146837" cy="3230245"/>
              </a:xfrm>
              <a:prstGeom prst="rect">
                <a:avLst/>
              </a:prstGeom>
              <a:blipFill>
                <a:blip r:embed="rId4"/>
                <a:stretch>
                  <a:fillRect l="-875" t="-2079" r="-328" b="-945"/>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7" presetClass="entr" presetSubtype="1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1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 calcmode="lin" valueType="num">
                                      <p:cBhvr>
                                        <p:cTn id="23" dur="500" fill="hold"/>
                                        <p:tgtEl>
                                          <p:spTgt spid="20"/>
                                        </p:tgtEl>
                                        <p:attrNameLst>
                                          <p:attrName>ppt_w</p:attrName>
                                        </p:attrNameLst>
                                      </p:cBhvr>
                                      <p:tavLst>
                                        <p:tav tm="0">
                                          <p:val>
                                            <p:fltVal val="0"/>
                                          </p:val>
                                        </p:tav>
                                        <p:tav tm="100000">
                                          <p:val>
                                            <p:strVal val="#ppt_w"/>
                                          </p:val>
                                        </p:tav>
                                      </p:tavLst>
                                    </p:anim>
                                    <p:anim calcmode="lin" valueType="num">
                                      <p:cBhvr>
                                        <p:cTn id="24" dur="500" fill="hold"/>
                                        <p:tgtEl>
                                          <p:spTgt spid="20"/>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10" fill="hold" nodeType="click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500" fill="hold"/>
                                        <p:tgtEl>
                                          <p:spTgt spid="23"/>
                                        </p:tgtEl>
                                        <p:attrNameLst>
                                          <p:attrName>ppt_w</p:attrName>
                                        </p:attrNameLst>
                                      </p:cBhvr>
                                      <p:tavLst>
                                        <p:tav tm="0">
                                          <p:val>
                                            <p:fltVal val="0"/>
                                          </p:val>
                                        </p:tav>
                                        <p:tav tm="100000">
                                          <p:val>
                                            <p:strVal val="#ppt_w"/>
                                          </p:val>
                                        </p:tav>
                                      </p:tavLst>
                                    </p:anim>
                                    <p:anim calcmode="lin" valueType="num">
                                      <p:cBhvr>
                                        <p:cTn id="30"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31" fill="hold">
                      <p:stCondLst>
                        <p:cond delay="indefinite"/>
                      </p:stCondLst>
                      <p:childTnLst>
                        <p:par>
                          <p:cTn id="32" fill="hold">
                            <p:stCondLst>
                              <p:cond delay="0"/>
                            </p:stCondLst>
                            <p:childTnLst>
                              <p:par>
                                <p:cTn id="33" presetID="19" presetClass="entr" presetSubtype="10"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 calcmode="lin" valueType="num">
                                      <p:cBhvr>
                                        <p:cTn id="35" dur="2000" fill="hold"/>
                                        <p:tgtEl>
                                          <p:spTgt spid="26"/>
                                        </p:tgtEl>
                                        <p:attrNameLst>
                                          <p:attrName>ppt_w</p:attrName>
                                        </p:attrNameLst>
                                      </p:cBhvr>
                                      <p:tavLst>
                                        <p:tav tm="0" fmla="#ppt_w*sin(2.5*pi*$)">
                                          <p:val>
                                            <p:fltVal val="0"/>
                                          </p:val>
                                        </p:tav>
                                        <p:tav tm="100000">
                                          <p:val>
                                            <p:fltVal val="1"/>
                                          </p:val>
                                        </p:tav>
                                      </p:tavLst>
                                    </p:anim>
                                    <p:anim calcmode="lin" valueType="num">
                                      <p:cBhvr>
                                        <p:cTn id="36" dur="2000" fill="hold"/>
                                        <p:tgtEl>
                                          <p:spTgt spid="2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30"/>
          <p:cNvGrpSpPr/>
          <p:nvPr/>
        </p:nvGrpSpPr>
        <p:grpSpPr bwMode="auto">
          <a:xfrm>
            <a:off x="7994355" y="3429000"/>
            <a:ext cx="2787650" cy="2338388"/>
            <a:chOff x="684" y="2415"/>
            <a:chExt cx="1756" cy="1473"/>
          </a:xfrm>
        </p:grpSpPr>
        <p:sp>
          <p:nvSpPr>
            <p:cNvPr id="6" name="Rectangle 31"/>
            <p:cNvSpPr>
              <a:spLocks noChangeArrowheads="1"/>
            </p:cNvSpPr>
            <p:nvPr/>
          </p:nvSpPr>
          <p:spPr bwMode="auto">
            <a:xfrm>
              <a:off x="808" y="2688"/>
              <a:ext cx="1632" cy="1200"/>
            </a:xfrm>
            <a:prstGeom prst="rect">
              <a:avLst/>
            </a:prstGeom>
            <a:solidFill>
              <a:srgbClr val="FFFF99"/>
            </a:solidFill>
            <a:ln w="9525">
              <a:solidFill>
                <a:schemeClr val="accent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sp>
          <p:nvSpPr>
            <p:cNvPr id="7" name="Arc 32"/>
            <p:cNvSpPr/>
            <p:nvPr/>
          </p:nvSpPr>
          <p:spPr bwMode="auto">
            <a:xfrm rot="6890225">
              <a:off x="1411" y="2606"/>
              <a:ext cx="976" cy="744"/>
            </a:xfrm>
            <a:custGeom>
              <a:avLst/>
              <a:gdLst>
                <a:gd name="T0" fmla="*/ 0 w 23123"/>
                <a:gd name="T1" fmla="*/ 0 h 21600"/>
                <a:gd name="T2" fmla="*/ 0 w 23123"/>
                <a:gd name="T3" fmla="*/ 0 h 21600"/>
                <a:gd name="T4" fmla="*/ 0 w 23123"/>
                <a:gd name="T5" fmla="*/ 0 h 21600"/>
                <a:gd name="T6" fmla="*/ 0 60000 65536"/>
                <a:gd name="T7" fmla="*/ 0 60000 65536"/>
                <a:gd name="T8" fmla="*/ 0 60000 65536"/>
              </a:gdLst>
              <a:ahLst/>
              <a:cxnLst>
                <a:cxn ang="T6">
                  <a:pos x="T0" y="T1"/>
                </a:cxn>
                <a:cxn ang="T7">
                  <a:pos x="T2" y="T3"/>
                </a:cxn>
                <a:cxn ang="T8">
                  <a:pos x="T4" y="T5"/>
                </a:cxn>
              </a:cxnLst>
              <a:rect l="0" t="0" r="r" b="b"/>
              <a:pathLst>
                <a:path w="23123" h="21600" fill="none" extrusionOk="0">
                  <a:moveTo>
                    <a:pt x="-1" y="435"/>
                  </a:moveTo>
                  <a:cubicBezTo>
                    <a:pt x="1420" y="145"/>
                    <a:pt x="2866" y="-1"/>
                    <a:pt x="4316" y="0"/>
                  </a:cubicBezTo>
                  <a:cubicBezTo>
                    <a:pt x="12105" y="0"/>
                    <a:pt x="19292" y="4194"/>
                    <a:pt x="23123" y="10976"/>
                  </a:cubicBezTo>
                </a:path>
                <a:path w="23123" h="21600" stroke="0" extrusionOk="0">
                  <a:moveTo>
                    <a:pt x="-1" y="435"/>
                  </a:moveTo>
                  <a:cubicBezTo>
                    <a:pt x="1420" y="145"/>
                    <a:pt x="2866" y="-1"/>
                    <a:pt x="4316" y="0"/>
                  </a:cubicBezTo>
                  <a:cubicBezTo>
                    <a:pt x="12105" y="0"/>
                    <a:pt x="19292" y="4194"/>
                    <a:pt x="23123" y="10976"/>
                  </a:cubicBezTo>
                  <a:lnTo>
                    <a:pt x="4316" y="21600"/>
                  </a:lnTo>
                  <a:lnTo>
                    <a:pt x="-1" y="435"/>
                  </a:lnTo>
                  <a:close/>
                </a:path>
              </a:pathLst>
            </a:custGeom>
            <a:solidFill>
              <a:schemeClr val="bg1"/>
            </a:solidFill>
            <a:ln w="1905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Arc 33"/>
            <p:cNvSpPr/>
            <p:nvPr/>
          </p:nvSpPr>
          <p:spPr bwMode="auto">
            <a:xfrm rot="15362728" flipH="1">
              <a:off x="806" y="2703"/>
              <a:ext cx="912" cy="721"/>
            </a:xfrm>
            <a:custGeom>
              <a:avLst/>
              <a:gdLst>
                <a:gd name="T0" fmla="*/ 0 w 21600"/>
                <a:gd name="T1" fmla="*/ 0 h 24712"/>
                <a:gd name="T2" fmla="*/ 0 w 21600"/>
                <a:gd name="T3" fmla="*/ 0 h 24712"/>
                <a:gd name="T4" fmla="*/ 0 w 21600"/>
                <a:gd name="T5" fmla="*/ 0 h 24712"/>
                <a:gd name="T6" fmla="*/ 0 60000 65536"/>
                <a:gd name="T7" fmla="*/ 0 60000 65536"/>
                <a:gd name="T8" fmla="*/ 0 60000 65536"/>
              </a:gdLst>
              <a:ahLst/>
              <a:cxnLst>
                <a:cxn ang="T6">
                  <a:pos x="T0" y="T1"/>
                </a:cxn>
                <a:cxn ang="T7">
                  <a:pos x="T2" y="T3"/>
                </a:cxn>
                <a:cxn ang="T8">
                  <a:pos x="T4" y="T5"/>
                </a:cxn>
              </a:cxnLst>
              <a:rect l="0" t="0" r="r" b="b"/>
              <a:pathLst>
                <a:path w="21600" h="24712" fill="none" extrusionOk="0">
                  <a:moveTo>
                    <a:pt x="549" y="0"/>
                  </a:moveTo>
                  <a:cubicBezTo>
                    <a:pt x="12261" y="298"/>
                    <a:pt x="21600" y="9877"/>
                    <a:pt x="21600" y="21593"/>
                  </a:cubicBezTo>
                  <a:cubicBezTo>
                    <a:pt x="21600" y="22636"/>
                    <a:pt x="21524" y="23679"/>
                    <a:pt x="21373" y="24711"/>
                  </a:cubicBezTo>
                </a:path>
                <a:path w="21600" h="24712" stroke="0" extrusionOk="0">
                  <a:moveTo>
                    <a:pt x="549" y="0"/>
                  </a:moveTo>
                  <a:cubicBezTo>
                    <a:pt x="12261" y="298"/>
                    <a:pt x="21600" y="9877"/>
                    <a:pt x="21600" y="21593"/>
                  </a:cubicBezTo>
                  <a:cubicBezTo>
                    <a:pt x="21600" y="22636"/>
                    <a:pt x="21524" y="23679"/>
                    <a:pt x="21373" y="24711"/>
                  </a:cubicBezTo>
                  <a:lnTo>
                    <a:pt x="0" y="21593"/>
                  </a:lnTo>
                  <a:lnTo>
                    <a:pt x="549" y="0"/>
                  </a:lnTo>
                  <a:close/>
                </a:path>
              </a:pathLst>
            </a:custGeom>
            <a:solidFill>
              <a:schemeClr val="bg1"/>
            </a:solidFill>
            <a:ln w="19050">
              <a:solidFill>
                <a:srgbClr val="FF0000"/>
              </a:solidFill>
              <a:rou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34"/>
            <p:cNvSpPr>
              <a:spLocks noChangeArrowheads="1"/>
            </p:cNvSpPr>
            <p:nvPr/>
          </p:nvSpPr>
          <p:spPr bwMode="auto">
            <a:xfrm rot="417416">
              <a:off x="1256" y="2415"/>
              <a:ext cx="695" cy="888"/>
            </a:xfrm>
            <a:prstGeom prst="rect">
              <a:avLst/>
            </a:prstGeom>
            <a:solidFill>
              <a:schemeClr val="bg1"/>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eaLnBrk="1" hangingPunct="1"/>
              <a:endParaRPr kumimoji="1" lang="zh-CN" altLang="zh-CN" sz="2000" b="0"/>
            </a:p>
          </p:txBody>
        </p:sp>
        <p:sp>
          <p:nvSpPr>
            <p:cNvPr id="10" name="Rectangle 35"/>
            <p:cNvSpPr>
              <a:spLocks noChangeArrowheads="1"/>
            </p:cNvSpPr>
            <p:nvPr/>
          </p:nvSpPr>
          <p:spPr bwMode="auto">
            <a:xfrm>
              <a:off x="684" y="2440"/>
              <a:ext cx="620" cy="288"/>
            </a:xfrm>
            <a:prstGeom prst="rect">
              <a:avLst/>
            </a:prstGeom>
            <a:solidFill>
              <a:schemeClr val="bg1"/>
            </a:solidFill>
            <a:ln>
              <a:noFill/>
            </a:ln>
            <a:effectLst/>
            <a:extLst>
              <a:ext uri="{91240B29-F687-4F45-9708-019B960494DF}">
                <a14:hiddenLine xmlns:a14="http://schemas.microsoft.com/office/drawing/2010/main" w="9525">
                  <a:solidFill>
                    <a:schemeClr val="accent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Bef>
                  <a:spcPct val="20000"/>
                </a:spcBef>
              </a:pPr>
              <a:endParaRPr lang="zh-CN" altLang="en-US"/>
            </a:p>
          </p:txBody>
        </p:sp>
      </p:grpSp>
      <p:sp>
        <p:nvSpPr>
          <p:cNvPr id="11" name="Line 36"/>
          <p:cNvSpPr>
            <a:spLocks noChangeShapeType="1"/>
          </p:cNvSpPr>
          <p:nvPr/>
        </p:nvSpPr>
        <p:spPr bwMode="auto">
          <a:xfrm flipV="1">
            <a:off x="7859418" y="3933825"/>
            <a:ext cx="0" cy="1836738"/>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37"/>
          <p:cNvSpPr>
            <a:spLocks noChangeShapeType="1"/>
          </p:cNvSpPr>
          <p:nvPr/>
        </p:nvSpPr>
        <p:spPr bwMode="auto">
          <a:xfrm>
            <a:off x="7876880" y="5770563"/>
            <a:ext cx="3438525" cy="0"/>
          </a:xfrm>
          <a:prstGeom prst="line">
            <a:avLst/>
          </a:prstGeom>
          <a:noFill/>
          <a:ln w="12700">
            <a:solidFill>
              <a:srgbClr val="0000FF"/>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3" name="Rectangle 38"/>
          <p:cNvSpPr>
            <a:spLocks noChangeArrowheads="1"/>
          </p:cNvSpPr>
          <p:nvPr/>
        </p:nvSpPr>
        <p:spPr bwMode="auto">
          <a:xfrm>
            <a:off x="7086305" y="3838575"/>
            <a:ext cx="5635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a:solidFill>
                  <a:srgbClr val="0000FF"/>
                </a:solidFill>
              </a:rPr>
              <a:t>f(</a:t>
            </a:r>
            <a:r>
              <a:rPr kumimoji="1" lang="en-US" altLang="zh-CN" sz="2000" i="1">
                <a:solidFill>
                  <a:srgbClr val="0000FF"/>
                </a:solidFill>
              </a:rPr>
              <a:t>x</a:t>
            </a:r>
            <a:r>
              <a:rPr kumimoji="1" lang="en-US" altLang="zh-CN" sz="2000">
                <a:solidFill>
                  <a:srgbClr val="0000FF"/>
                </a:solidFill>
              </a:rPr>
              <a:t>)</a:t>
            </a:r>
            <a:endParaRPr kumimoji="1" lang="en-US" altLang="zh-CN" sz="2000" baseline="-30000">
              <a:solidFill>
                <a:srgbClr val="0000FF"/>
              </a:solidFill>
            </a:endParaRPr>
          </a:p>
        </p:txBody>
      </p:sp>
      <p:sp>
        <p:nvSpPr>
          <p:cNvPr id="14" name="Rectangle 39"/>
          <p:cNvSpPr>
            <a:spLocks noChangeArrowheads="1"/>
          </p:cNvSpPr>
          <p:nvPr/>
        </p:nvSpPr>
        <p:spPr bwMode="auto">
          <a:xfrm>
            <a:off x="11216980" y="5600700"/>
            <a:ext cx="3746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eaLnBrk="1" hangingPunct="1"/>
            <a:r>
              <a:rPr kumimoji="1" lang="en-US" altLang="zh-CN" sz="2000" b="0">
                <a:solidFill>
                  <a:srgbClr val="0000FF"/>
                </a:solidFill>
              </a:rPr>
              <a:t> x</a:t>
            </a:r>
            <a:endParaRPr kumimoji="1" lang="en-US" altLang="zh-CN" sz="2000" b="0" baseline="-30000">
              <a:solidFill>
                <a:srgbClr val="0000FF"/>
              </a:solidFill>
            </a:endParaRPr>
          </a:p>
        </p:txBody>
      </p:sp>
      <p:grpSp>
        <p:nvGrpSpPr>
          <p:cNvPr id="15" name="Group 40"/>
          <p:cNvGrpSpPr/>
          <p:nvPr/>
        </p:nvGrpSpPr>
        <p:grpSpPr bwMode="auto">
          <a:xfrm>
            <a:off x="10321630" y="4432301"/>
            <a:ext cx="542925" cy="2079626"/>
            <a:chOff x="834" y="3024"/>
            <a:chExt cx="342" cy="1310"/>
          </a:xfrm>
        </p:grpSpPr>
        <p:sp>
          <p:nvSpPr>
            <p:cNvPr id="16" name="Text Box 41"/>
            <p:cNvSpPr txBox="1">
              <a:spLocks noChangeArrowheads="1"/>
            </p:cNvSpPr>
            <p:nvPr/>
          </p:nvSpPr>
          <p:spPr bwMode="auto">
            <a:xfrm>
              <a:off x="834" y="3840"/>
              <a:ext cx="342" cy="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1800" b="0" dirty="0">
                  <a:solidFill>
                    <a:srgbClr val="0000FF"/>
                  </a:solidFill>
                </a:rPr>
                <a:t>x</a:t>
              </a:r>
              <a:r>
                <a:rPr kumimoji="1" lang="en-US" altLang="zh-CN" sz="1800" b="0" baseline="-30000" dirty="0">
                  <a:solidFill>
                    <a:srgbClr val="0000FF"/>
                  </a:solidFill>
                </a:rPr>
                <a:t>1</a:t>
              </a:r>
            </a:p>
            <a:p>
              <a:pPr eaLnBrk="1" hangingPunct="1">
                <a:spcBef>
                  <a:spcPct val="50000"/>
                </a:spcBef>
              </a:pPr>
              <a:endParaRPr kumimoji="1" lang="en-US" altLang="zh-CN" sz="1800" b="0" dirty="0">
                <a:solidFill>
                  <a:srgbClr val="0000FF"/>
                </a:solidFill>
              </a:endParaRPr>
            </a:p>
          </p:txBody>
        </p:sp>
        <p:sp>
          <p:nvSpPr>
            <p:cNvPr id="17" name="Line 42"/>
            <p:cNvSpPr>
              <a:spLocks noChangeShapeType="1"/>
            </p:cNvSpPr>
            <p:nvPr/>
          </p:nvSpPr>
          <p:spPr bwMode="auto">
            <a:xfrm>
              <a:off x="938" y="3024"/>
              <a:ext cx="0" cy="864"/>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8" name="Group 43"/>
          <p:cNvGrpSpPr/>
          <p:nvPr/>
        </p:nvGrpSpPr>
        <p:grpSpPr bwMode="auto">
          <a:xfrm>
            <a:off x="10591505" y="3886200"/>
            <a:ext cx="673100" cy="2185988"/>
            <a:chOff x="5082" y="2704"/>
            <a:chExt cx="424" cy="1377"/>
          </a:xfrm>
        </p:grpSpPr>
        <p:sp>
          <p:nvSpPr>
            <p:cNvPr id="19" name="Text Box 44"/>
            <p:cNvSpPr txBox="1">
              <a:spLocks noChangeArrowheads="1"/>
            </p:cNvSpPr>
            <p:nvPr/>
          </p:nvSpPr>
          <p:spPr bwMode="auto">
            <a:xfrm>
              <a:off x="5082" y="3848"/>
              <a:ext cx="424"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1800" b="0" dirty="0">
                  <a:solidFill>
                    <a:srgbClr val="0000FF"/>
                  </a:solidFill>
                </a:rPr>
                <a:t>x</a:t>
              </a:r>
              <a:r>
                <a:rPr kumimoji="1" lang="en-US" altLang="zh-CN" sz="1800" b="0" baseline="-30000" dirty="0">
                  <a:solidFill>
                    <a:srgbClr val="0000FF"/>
                  </a:solidFill>
                </a:rPr>
                <a:t>1</a:t>
              </a:r>
              <a:r>
                <a:rPr kumimoji="1" lang="en-US" altLang="zh-CN" sz="1800" b="0" dirty="0">
                  <a:solidFill>
                    <a:srgbClr val="0000FF"/>
                  </a:solidFill>
                </a:rPr>
                <a:t>+h</a:t>
              </a:r>
            </a:p>
          </p:txBody>
        </p:sp>
        <p:sp>
          <p:nvSpPr>
            <p:cNvPr id="20" name="Line 45"/>
            <p:cNvSpPr>
              <a:spLocks noChangeShapeType="1"/>
            </p:cNvSpPr>
            <p:nvPr/>
          </p:nvSpPr>
          <p:spPr bwMode="auto">
            <a:xfrm>
              <a:off x="5200" y="2704"/>
              <a:ext cx="0" cy="1200"/>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1" name="Line 73"/>
          <p:cNvSpPr>
            <a:spLocks noChangeShapeType="1"/>
          </p:cNvSpPr>
          <p:nvPr/>
        </p:nvSpPr>
        <p:spPr bwMode="auto">
          <a:xfrm>
            <a:off x="10185105" y="4724399"/>
            <a:ext cx="0" cy="1028700"/>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74"/>
          <p:cNvSpPr txBox="1">
            <a:spLocks noChangeArrowheads="1"/>
          </p:cNvSpPr>
          <p:nvPr/>
        </p:nvSpPr>
        <p:spPr bwMode="auto">
          <a:xfrm>
            <a:off x="9943802" y="5648316"/>
            <a:ext cx="6191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1800" b="0" dirty="0">
                <a:solidFill>
                  <a:srgbClr val="0000FF"/>
                </a:solidFill>
              </a:rPr>
              <a:t>x</a:t>
            </a:r>
            <a:r>
              <a:rPr kumimoji="1" lang="en-US" altLang="zh-CN" sz="1800" b="0" baseline="-30000" dirty="0">
                <a:solidFill>
                  <a:srgbClr val="0000FF"/>
                </a:solidFill>
              </a:rPr>
              <a:t>1</a:t>
            </a:r>
            <a:r>
              <a:rPr kumimoji="1" lang="en-US" altLang="zh-CN" sz="1800" b="0" dirty="0">
                <a:solidFill>
                  <a:srgbClr val="0000FF"/>
                </a:solidFill>
              </a:rPr>
              <a:t>-h</a:t>
            </a:r>
          </a:p>
        </p:txBody>
      </p:sp>
      <p:grpSp>
        <p:nvGrpSpPr>
          <p:cNvPr id="23" name="Group 75"/>
          <p:cNvGrpSpPr/>
          <p:nvPr/>
        </p:nvGrpSpPr>
        <p:grpSpPr bwMode="auto">
          <a:xfrm>
            <a:off x="9435805" y="4981574"/>
            <a:ext cx="771525" cy="1103313"/>
            <a:chOff x="4410" y="3138"/>
            <a:chExt cx="486" cy="695"/>
          </a:xfrm>
        </p:grpSpPr>
        <p:sp>
          <p:nvSpPr>
            <p:cNvPr id="24" name="Line 76"/>
            <p:cNvSpPr>
              <a:spLocks noChangeShapeType="1"/>
            </p:cNvSpPr>
            <p:nvPr/>
          </p:nvSpPr>
          <p:spPr bwMode="auto">
            <a:xfrm>
              <a:off x="4594" y="3138"/>
              <a:ext cx="0" cy="512"/>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Text Box 77"/>
            <p:cNvSpPr txBox="1">
              <a:spLocks noChangeArrowheads="1"/>
            </p:cNvSpPr>
            <p:nvPr/>
          </p:nvSpPr>
          <p:spPr bwMode="auto">
            <a:xfrm>
              <a:off x="4410" y="3600"/>
              <a:ext cx="48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1800" b="0" dirty="0">
                  <a:solidFill>
                    <a:srgbClr val="0000FF"/>
                  </a:solidFill>
                </a:rPr>
                <a:t>x</a:t>
              </a:r>
              <a:r>
                <a:rPr kumimoji="1" lang="en-US" altLang="zh-CN" sz="1800" b="0" baseline="-30000" dirty="0">
                  <a:solidFill>
                    <a:srgbClr val="0000FF"/>
                  </a:solidFill>
                </a:rPr>
                <a:t>1</a:t>
              </a:r>
              <a:r>
                <a:rPr kumimoji="1" lang="en-US" altLang="zh-CN" sz="1800" b="0" dirty="0">
                  <a:solidFill>
                    <a:srgbClr val="0000FF"/>
                  </a:solidFill>
                </a:rPr>
                <a:t>-3h</a:t>
              </a:r>
            </a:p>
          </p:txBody>
        </p:sp>
      </p:grpSp>
      <p:grpSp>
        <p:nvGrpSpPr>
          <p:cNvPr id="26" name="Group 78"/>
          <p:cNvGrpSpPr/>
          <p:nvPr/>
        </p:nvGrpSpPr>
        <p:grpSpPr bwMode="auto">
          <a:xfrm>
            <a:off x="8454730" y="4838699"/>
            <a:ext cx="771525" cy="1323975"/>
            <a:chOff x="3736" y="3048"/>
            <a:chExt cx="486" cy="834"/>
          </a:xfrm>
        </p:grpSpPr>
        <p:sp>
          <p:nvSpPr>
            <p:cNvPr id="27" name="Line 79"/>
            <p:cNvSpPr>
              <a:spLocks noChangeShapeType="1"/>
            </p:cNvSpPr>
            <p:nvPr/>
          </p:nvSpPr>
          <p:spPr bwMode="auto">
            <a:xfrm>
              <a:off x="3920" y="3048"/>
              <a:ext cx="0" cy="607"/>
            </a:xfrm>
            <a:prstGeom prst="line">
              <a:avLst/>
            </a:prstGeom>
            <a:noFill/>
            <a:ln w="12700">
              <a:solidFill>
                <a:srgbClr val="0000FF"/>
              </a:solidFill>
              <a:prstDash val="dash"/>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Text Box 80"/>
            <p:cNvSpPr txBox="1">
              <a:spLocks noChangeArrowheads="1"/>
            </p:cNvSpPr>
            <p:nvPr/>
          </p:nvSpPr>
          <p:spPr bwMode="auto">
            <a:xfrm>
              <a:off x="3736" y="3649"/>
              <a:ext cx="486"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1" lang="en-US" altLang="zh-CN" sz="1800" b="0" dirty="0">
                  <a:solidFill>
                    <a:srgbClr val="0000FF"/>
                  </a:solidFill>
                </a:rPr>
                <a:t>x</a:t>
              </a:r>
              <a:r>
                <a:rPr kumimoji="1" lang="en-US" altLang="zh-CN" sz="1800" b="0" baseline="-30000" dirty="0">
                  <a:solidFill>
                    <a:srgbClr val="0000FF"/>
                  </a:solidFill>
                </a:rPr>
                <a:t>1</a:t>
              </a:r>
              <a:r>
                <a:rPr kumimoji="1" lang="en-US" altLang="zh-CN" sz="1800" b="0" dirty="0">
                  <a:solidFill>
                    <a:srgbClr val="0000FF"/>
                  </a:solidFill>
                </a:rPr>
                <a:t>-7h</a:t>
              </a:r>
            </a:p>
          </p:txBody>
        </p:sp>
      </p:grpSp>
      <p:grpSp>
        <p:nvGrpSpPr>
          <p:cNvPr id="29" name="Group 84"/>
          <p:cNvGrpSpPr/>
          <p:nvPr/>
        </p:nvGrpSpPr>
        <p:grpSpPr bwMode="auto">
          <a:xfrm>
            <a:off x="8740479" y="5038725"/>
            <a:ext cx="1022350" cy="754063"/>
            <a:chOff x="960" y="2592"/>
            <a:chExt cx="144" cy="857"/>
          </a:xfrm>
        </p:grpSpPr>
        <p:sp>
          <p:nvSpPr>
            <p:cNvPr id="30" name="Line 85"/>
            <p:cNvSpPr>
              <a:spLocks noChangeShapeType="1"/>
            </p:cNvSpPr>
            <p:nvPr/>
          </p:nvSpPr>
          <p:spPr bwMode="auto">
            <a:xfrm>
              <a:off x="960" y="259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Line 86"/>
            <p:cNvSpPr>
              <a:spLocks noChangeShapeType="1"/>
            </p:cNvSpPr>
            <p:nvPr/>
          </p:nvSpPr>
          <p:spPr bwMode="auto">
            <a:xfrm>
              <a:off x="960" y="268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2" name="Line 87"/>
            <p:cNvSpPr>
              <a:spLocks noChangeShapeType="1"/>
            </p:cNvSpPr>
            <p:nvPr/>
          </p:nvSpPr>
          <p:spPr bwMode="auto">
            <a:xfrm>
              <a:off x="960" y="278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 name="Line 88"/>
            <p:cNvSpPr>
              <a:spLocks noChangeShapeType="1"/>
            </p:cNvSpPr>
            <p:nvPr/>
          </p:nvSpPr>
          <p:spPr bwMode="auto">
            <a:xfrm>
              <a:off x="960" y="2880"/>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4" name="Line 89"/>
            <p:cNvSpPr>
              <a:spLocks noChangeShapeType="1"/>
            </p:cNvSpPr>
            <p:nvPr/>
          </p:nvSpPr>
          <p:spPr bwMode="auto">
            <a:xfrm>
              <a:off x="960" y="2976"/>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5" name="Line 90"/>
            <p:cNvSpPr>
              <a:spLocks noChangeShapeType="1"/>
            </p:cNvSpPr>
            <p:nvPr/>
          </p:nvSpPr>
          <p:spPr bwMode="auto">
            <a:xfrm>
              <a:off x="960" y="307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6" name="Line 91"/>
            <p:cNvSpPr>
              <a:spLocks noChangeShapeType="1"/>
            </p:cNvSpPr>
            <p:nvPr/>
          </p:nvSpPr>
          <p:spPr bwMode="auto">
            <a:xfrm>
              <a:off x="960" y="316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7" name="Line 92"/>
            <p:cNvSpPr>
              <a:spLocks noChangeShapeType="1"/>
            </p:cNvSpPr>
            <p:nvPr/>
          </p:nvSpPr>
          <p:spPr bwMode="auto">
            <a:xfrm>
              <a:off x="960" y="326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 name="Line 93"/>
            <p:cNvSpPr>
              <a:spLocks noChangeShapeType="1"/>
            </p:cNvSpPr>
            <p:nvPr/>
          </p:nvSpPr>
          <p:spPr bwMode="auto">
            <a:xfrm>
              <a:off x="968" y="3376"/>
              <a:ext cx="73" cy="73"/>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 name="Group 94"/>
          <p:cNvGrpSpPr/>
          <p:nvPr/>
        </p:nvGrpSpPr>
        <p:grpSpPr bwMode="auto">
          <a:xfrm flipH="1">
            <a:off x="9762829" y="4902200"/>
            <a:ext cx="419100" cy="889000"/>
            <a:chOff x="960" y="2592"/>
            <a:chExt cx="144" cy="857"/>
          </a:xfrm>
        </p:grpSpPr>
        <p:sp>
          <p:nvSpPr>
            <p:cNvPr id="40" name="Line 95"/>
            <p:cNvSpPr>
              <a:spLocks noChangeShapeType="1"/>
            </p:cNvSpPr>
            <p:nvPr/>
          </p:nvSpPr>
          <p:spPr bwMode="auto">
            <a:xfrm>
              <a:off x="960" y="259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1" name="Line 96"/>
            <p:cNvSpPr>
              <a:spLocks noChangeShapeType="1"/>
            </p:cNvSpPr>
            <p:nvPr/>
          </p:nvSpPr>
          <p:spPr bwMode="auto">
            <a:xfrm>
              <a:off x="960" y="268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 name="Line 97"/>
            <p:cNvSpPr>
              <a:spLocks noChangeShapeType="1"/>
            </p:cNvSpPr>
            <p:nvPr/>
          </p:nvSpPr>
          <p:spPr bwMode="auto">
            <a:xfrm>
              <a:off x="960" y="278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 name="Line 98"/>
            <p:cNvSpPr>
              <a:spLocks noChangeShapeType="1"/>
            </p:cNvSpPr>
            <p:nvPr/>
          </p:nvSpPr>
          <p:spPr bwMode="auto">
            <a:xfrm>
              <a:off x="960" y="2880"/>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 name="Line 99"/>
            <p:cNvSpPr>
              <a:spLocks noChangeShapeType="1"/>
            </p:cNvSpPr>
            <p:nvPr/>
          </p:nvSpPr>
          <p:spPr bwMode="auto">
            <a:xfrm>
              <a:off x="960" y="2976"/>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 name="Line 100"/>
            <p:cNvSpPr>
              <a:spLocks noChangeShapeType="1"/>
            </p:cNvSpPr>
            <p:nvPr/>
          </p:nvSpPr>
          <p:spPr bwMode="auto">
            <a:xfrm>
              <a:off x="960" y="3072"/>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 name="Line 101"/>
            <p:cNvSpPr>
              <a:spLocks noChangeShapeType="1"/>
            </p:cNvSpPr>
            <p:nvPr/>
          </p:nvSpPr>
          <p:spPr bwMode="auto">
            <a:xfrm>
              <a:off x="960" y="3168"/>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 name="Line 102"/>
            <p:cNvSpPr>
              <a:spLocks noChangeShapeType="1"/>
            </p:cNvSpPr>
            <p:nvPr/>
          </p:nvSpPr>
          <p:spPr bwMode="auto">
            <a:xfrm>
              <a:off x="960" y="3264"/>
              <a:ext cx="144" cy="144"/>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 name="Line 103"/>
            <p:cNvSpPr>
              <a:spLocks noChangeShapeType="1"/>
            </p:cNvSpPr>
            <p:nvPr/>
          </p:nvSpPr>
          <p:spPr bwMode="auto">
            <a:xfrm>
              <a:off x="968" y="3376"/>
              <a:ext cx="73" cy="73"/>
            </a:xfrm>
            <a:prstGeom prst="line">
              <a:avLst/>
            </a:prstGeom>
            <a:noFill/>
            <a:ln w="9525">
              <a:solidFill>
                <a:schemeClr val="accent1"/>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mc:AlternateContent xmlns:mc="http://schemas.openxmlformats.org/markup-compatibility/2006" xmlns:a14="http://schemas.microsoft.com/office/drawing/2010/main">
        <mc:Choice Requires="a14">
          <p:sp>
            <p:nvSpPr>
              <p:cNvPr id="49" name="文本框 48"/>
              <p:cNvSpPr txBox="1"/>
              <p:nvPr/>
            </p:nvSpPr>
            <p:spPr>
              <a:xfrm>
                <a:off x="8721960" y="6139667"/>
                <a:ext cx="2477025" cy="276999"/>
              </a:xfrm>
              <a:prstGeom prst="rect">
                <a:avLst/>
              </a:prstGeom>
              <a:noFill/>
            </p:spPr>
            <p:txBody>
              <a:bodyPr wrap="none" lIns="0" tIns="0" rIns="0" bIns="0" rtlCol="0">
                <a:spAutoFit/>
              </a:bodyPr>
              <a:lstStyle/>
              <a:p>
                <a14:m>
                  <m:oMath xmlns:m="http://schemas.openxmlformats.org/officeDocument/2006/math">
                    <m:sSub>
                      <m:sSubPr>
                        <m:ctrlPr>
                          <a:rPr lang="en-US" altLang="zh-CN"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5</m:t>
                        </m:r>
                      </m:sub>
                    </m:sSub>
                  </m:oMath>
                </a14:m>
                <a:r>
                  <a:rPr lang="zh-CN" altLang="en-US" dirty="0"/>
                  <a:t>           </a:t>
                </a:r>
                <a14:m>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4</m:t>
                        </m:r>
                      </m:sub>
                    </m:sSub>
                  </m:oMath>
                </a14:m>
                <a:r>
                  <a:rPr lang="zh-CN" altLang="en-US"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3</m:t>
                        </m:r>
                      </m:sub>
                    </m:sSub>
                  </m:oMath>
                </a14:m>
                <a:r>
                  <a:rPr lang="zh-CN" altLang="en-US" dirty="0"/>
                  <a:t>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𝑥</m:t>
                        </m:r>
                      </m:e>
                      <m:sub>
                        <m:r>
                          <a:rPr lang="en-US" altLang="zh-CN" b="0" i="1" smtClean="0">
                            <a:latin typeface="Cambria Math" panose="02040503050406030204" pitchFamily="18" charset="0"/>
                          </a:rPr>
                          <m:t>2</m:t>
                        </m:r>
                      </m:sub>
                    </m:sSub>
                  </m:oMath>
                </a14:m>
                <a:r>
                  <a:rPr lang="zh-CN" altLang="en-US" dirty="0"/>
                  <a:t>  </a:t>
                </a:r>
              </a:p>
            </p:txBody>
          </p:sp>
        </mc:Choice>
        <mc:Fallback xmlns="">
          <p:sp>
            <p:nvSpPr>
              <p:cNvPr id="49" name="文本框 48"/>
              <p:cNvSpPr txBox="1">
                <a:spLocks noRot="1" noChangeAspect="1" noMove="1" noResize="1" noEditPoints="1" noAdjustHandles="1" noChangeArrowheads="1" noChangeShapeType="1" noTextEdit="1"/>
              </p:cNvSpPr>
              <p:nvPr/>
            </p:nvSpPr>
            <p:spPr>
              <a:xfrm>
                <a:off x="8721960" y="6139667"/>
                <a:ext cx="2477025" cy="276999"/>
              </a:xfrm>
              <a:prstGeom prst="rect">
                <a:avLst/>
              </a:prstGeom>
              <a:blipFill rotWithShape="1">
                <a:blip r:embed="rId2"/>
                <a:stretch>
                  <a:fillRect l="-9" t="-176" r="-9096" b="2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p:cNvSpPr txBox="1"/>
              <p:nvPr/>
            </p:nvSpPr>
            <p:spPr>
              <a:xfrm>
                <a:off x="622935" y="188595"/>
                <a:ext cx="8400415" cy="5631180"/>
              </a:xfrm>
              <a:prstGeom prst="rect">
                <a:avLst/>
              </a:prstGeom>
              <a:noFill/>
            </p:spPr>
            <p:txBody>
              <a:bodyPr wrap="square" rtlCol="0">
                <a:spAutoFit/>
              </a:bodyPr>
              <a:lstStyle/>
              <a:p>
                <a:pPr algn="l" fontAlgn="auto">
                  <a:lnSpc>
                    <a:spcPct val="150000"/>
                  </a:lnSpc>
                </a:pPr>
                <a:r>
                  <a:rPr lang="en-US" altLang="zh-CN" sz="2400" dirty="0">
                    <a:latin typeface="宋体" panose="02010600030101010101" pitchFamily="2" charset="-122"/>
                    <a:ea typeface="宋体" panose="02010600030101010101" pitchFamily="2" charset="-122"/>
                    <a:cs typeface="宋体" panose="02010600030101010101" pitchFamily="2" charset="-122"/>
                    <a:sym typeface="+mn-ea"/>
                  </a:rPr>
                  <a:t>(2)若</a:t>
                </a:r>
                <a14:m>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)&gt;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endParaRPr kumimoji="1" lang="en-US" altLang="zh-CN" sz="2400" i="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nSpc>
                    <a:spcPct val="150000"/>
                  </a:lnSpc>
                </a:pPr>
                <a:r>
                  <a:rPr lang="en-US" altLang="zh-CN" sz="2400" dirty="0" err="1">
                    <a:latin typeface="宋体" panose="02010600030101010101" pitchFamily="2" charset="-122"/>
                    <a:ea typeface="宋体" panose="02010600030101010101" pitchFamily="2" charset="-122"/>
                    <a:cs typeface="宋体" panose="02010600030101010101" pitchFamily="2" charset="-122"/>
                    <a:sym typeface="+mn-ea"/>
                  </a:rPr>
                  <a:t>说明</a:t>
                </a:r>
                <a:r>
                  <a:rPr lang="en-US" altLang="zh-CN" sz="2400" dirty="0" err="1">
                    <a:latin typeface="宋体" panose="02010600030101010101" pitchFamily="2" charset="-122"/>
                    <a:ea typeface="宋体" panose="02010600030101010101" pitchFamily="2" charset="-122"/>
                    <a:cs typeface="宋体" panose="02010600030101010101" pitchFamily="2" charset="-122"/>
                  </a:rPr>
                  <a:t>由初始点方向选错了，因此仍由</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lang="en-US" altLang="zh-CN" sz="2400" dirty="0" err="1">
                    <a:latin typeface="宋体" panose="02010600030101010101" pitchFamily="2" charset="-122"/>
                    <a:ea typeface="宋体" panose="02010600030101010101" pitchFamily="2" charset="-122"/>
                    <a:cs typeface="宋体" panose="02010600030101010101" pitchFamily="2" charset="-122"/>
                  </a:rPr>
                  <a:t>出发向相反方向</a:t>
                </a:r>
                <a:r>
                  <a:rPr lang="en-US" altLang="zh-CN"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kumimoji="1" lang="en-US" altLang="zh-CN" sz="2400" i="1">
                        <a:solidFill>
                          <a:schemeClr val="tx1"/>
                        </a:solidFill>
                        <a:latin typeface="Cambria Math" panose="02040503050406030204" pitchFamily="18" charset="0"/>
                        <a:cs typeface="Cambria Math" panose="02040503050406030204" pitchFamily="18" charset="0"/>
                      </a:rPr>
                      <m:t>𝑥</m:t>
                    </m:r>
                  </m:oMath>
                </a14:m>
                <a:r>
                  <a:rPr lang="en-US" altLang="zh-CN" sz="2400" dirty="0" err="1">
                    <a:latin typeface="宋体" panose="02010600030101010101" pitchFamily="2" charset="-122"/>
                    <a:ea typeface="宋体" panose="02010600030101010101" pitchFamily="2" charset="-122"/>
                    <a:cs typeface="宋体" panose="02010600030101010101" pitchFamily="2" charset="-122"/>
                  </a:rPr>
                  <a:t>减小方向）走出一步：有</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h</m:t>
                    </m:r>
                  </m:oMath>
                </a14:m>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err="1">
                    <a:latin typeface="宋体" panose="02010600030101010101" pitchFamily="2" charset="-122"/>
                    <a:ea typeface="宋体" panose="02010600030101010101" pitchFamily="2" charset="-122"/>
                    <a:cs typeface="宋体" panose="02010600030101010101" pitchFamily="2" charset="-122"/>
                  </a:rPr>
                  <a:t>若此时有</a:t>
                </a:r>
                <a14:m>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err="1">
                    <a:latin typeface="宋体" panose="02010600030101010101" pitchFamily="2" charset="-122"/>
                    <a:ea typeface="宋体" panose="02010600030101010101" pitchFamily="2" charset="-122"/>
                    <a:cs typeface="宋体" panose="02010600030101010101" pitchFamily="2" charset="-122"/>
                  </a:rPr>
                  <a:t>说明方向正确，仍需要在此方向上迈出：取</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4</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−2</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h</m:t>
                    </m:r>
                  </m:oMath>
                </a14:m>
                <a:r>
                  <a:rPr kumimoji="1" lang="en-US" altLang="zh-CN" sz="2400" dirty="0">
                    <a:ea typeface="MS Mincho" panose="02020609040205080304" charset="-128"/>
                    <a:cs typeface="Cambria Math" panose="02040503050406030204" pitchFamily="18" charset="0"/>
                  </a:rPr>
                  <a:t> </a:t>
                </a:r>
                <a14:m>
                  <m:oMath xmlns:m="http://schemas.openxmlformats.org/officeDocument/2006/math">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b="0" i="1" smtClean="0">
                            <a:latin typeface="Cambria Math" panose="02040503050406030204" pitchFamily="18" charset="0"/>
                            <a:ea typeface="宋体" panose="02010600030101010101" pitchFamily="2" charset="-122"/>
                            <a:cs typeface="Cambria Math" panose="02040503050406030204" pitchFamily="18" charset="0"/>
                          </a:rPr>
                          <m:t>1</m:t>
                        </m:r>
                      </m:sub>
                    </m:s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m:t>
                    </m:r>
                    <m:r>
                      <a:rPr kumimoji="1" lang="en-US" altLang="zh-CN" sz="2400" b="0" i="1" smtClean="0">
                        <a:latin typeface="Cambria Math" panose="02040503050406030204" pitchFamily="18" charset="0"/>
                        <a:ea typeface="宋体" panose="02010600030101010101" pitchFamily="2" charset="-122"/>
                        <a:cs typeface="Cambria Math" panose="02040503050406030204" pitchFamily="18" charset="0"/>
                      </a:rPr>
                      <m:t>3</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h</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 </m:t>
                    </m:r>
                  </m:oMath>
                </a14:m>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err="1">
                    <a:latin typeface="宋体" panose="02010600030101010101" pitchFamily="2" charset="-122"/>
                    <a:ea typeface="宋体" panose="02010600030101010101" pitchFamily="2" charset="-122"/>
                    <a:cs typeface="宋体" panose="02010600030101010101" pitchFamily="2" charset="-122"/>
                  </a:rPr>
                  <a:t>若仍有</a:t>
                </a:r>
                <a14:m>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4</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err="1">
                    <a:latin typeface="宋体" panose="02010600030101010101" pitchFamily="2" charset="-122"/>
                    <a:ea typeface="宋体" panose="02010600030101010101" pitchFamily="2" charset="-122"/>
                    <a:cs typeface="宋体" panose="02010600030101010101" pitchFamily="2" charset="-122"/>
                  </a:rPr>
                  <a:t>则加倍步长继续同方向迈出</a:t>
                </a:r>
                <a:r>
                  <a:rPr lang="en-US" altLang="zh-CN"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5</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4</m:t>
                        </m:r>
                      </m:sub>
                    </m:s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−4</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h</m:t>
                    </m:r>
                    <m:r>
                      <a:rPr kumimoji="1" lang="en-US" altLang="zh-CN" sz="2400" i="1">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b="0" i="1" smtClean="0">
                            <a:latin typeface="Cambria Math" panose="02040503050406030204" pitchFamily="18" charset="0"/>
                            <a:ea typeface="宋体" panose="02010600030101010101" pitchFamily="2" charset="-122"/>
                            <a:cs typeface="Cambria Math" panose="02040503050406030204" pitchFamily="18" charset="0"/>
                          </a:rPr>
                          <m:t>1</m:t>
                        </m:r>
                      </m:sub>
                    </m:sSub>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m:t>
                    </m:r>
                    <m:r>
                      <a:rPr kumimoji="1" lang="en-US" altLang="zh-CN" sz="2400" b="0" i="1" smtClean="0">
                        <a:latin typeface="Cambria Math" panose="02040503050406030204" pitchFamily="18" charset="0"/>
                        <a:ea typeface="宋体" panose="02010600030101010101" pitchFamily="2" charset="-122"/>
                        <a:cs typeface="Cambria Math" panose="02040503050406030204" pitchFamily="18" charset="0"/>
                      </a:rPr>
                      <m:t>7</m:t>
                    </m:r>
                    <m:r>
                      <a:rPr kumimoji="1" lang="en-US" altLang="zh-CN" sz="2400" i="1">
                        <a:latin typeface="Cambria Math" panose="02040503050406030204" pitchFamily="18" charset="0"/>
                        <a:ea typeface="宋体" panose="02010600030101010101" pitchFamily="2" charset="-122"/>
                        <a:cs typeface="Cambria Math" panose="02040503050406030204" pitchFamily="18" charset="0"/>
                      </a:rPr>
                      <m:t>h</m:t>
                    </m:r>
                  </m:oMath>
                </a14:m>
                <a:r>
                  <a:rPr lang="en-US" altLang="zh-CN"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err="1">
                    <a:latin typeface="宋体" panose="02010600030101010101" pitchFamily="2" charset="-122"/>
                    <a:ea typeface="宋体" panose="02010600030101010101" pitchFamily="2" charset="-122"/>
                    <a:cs typeface="宋体" panose="02010600030101010101" pitchFamily="2" charset="-122"/>
                  </a:rPr>
                  <a:t>直到函数值刚刚变为增加为止</a:t>
                </a:r>
                <a:r>
                  <a:rPr lang="zh-CN" altLang="en-US" sz="2400" dirty="0">
                    <a:latin typeface="宋体" panose="02010600030101010101" pitchFamily="2" charset="-122"/>
                    <a:ea typeface="宋体" panose="02010600030101010101" pitchFamily="2" charset="-122"/>
                    <a:cs typeface="宋体" panose="02010600030101010101" pitchFamily="2" charset="-122"/>
                  </a:rPr>
                  <a:t>。</a:t>
                </a:r>
                <a:r>
                  <a:rPr lang="en-US" altLang="zh-CN" sz="2400" dirty="0" err="1">
                    <a:latin typeface="宋体" panose="02010600030101010101" pitchFamily="2" charset="-122"/>
                    <a:ea typeface="宋体" panose="02010600030101010101" pitchFamily="2" charset="-122"/>
                    <a:cs typeface="宋体" panose="02010600030101010101" pitchFamily="2" charset="-122"/>
                  </a:rPr>
                  <a:t>这样就得到满足“两头大中间小”的三点</a:t>
                </a:r>
                <a:r>
                  <a:rPr lang="en-US" altLang="zh-CN" sz="2400" dirty="0">
                    <a:latin typeface="宋体" panose="02010600030101010101" pitchFamily="2" charset="-122"/>
                    <a:ea typeface="宋体" panose="02010600030101010101" pitchFamily="2" charset="-122"/>
                    <a:cs typeface="宋体" panose="02010600030101010101" pitchFamily="2" charset="-122"/>
                  </a:rPr>
                  <a:t>：</a:t>
                </a:r>
              </a:p>
              <a:p>
                <a:pPr algn="l" fontAlgn="auto">
                  <a:lnSpc>
                    <a:spcPct val="150000"/>
                  </a:lnSpc>
                </a:pPr>
                <a14:m>
                  <m:oMathPara xmlns:m="http://schemas.openxmlformats.org/officeDocument/2006/math">
                    <m:oMathParaPr>
                      <m:jc m:val="center"/>
                    </m:oMathParaPr>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−2</m:t>
                          </m:r>
                        </m:sub>
                      </m:sSub>
                    </m:oMath>
                  </m:oMathPara>
                </a14:m>
                <a:endParaRPr kumimoji="1" lang="en-US" altLang="zh-CN" sz="2400" i="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gn="l" fontAlgn="auto">
                  <a:lnSpc>
                    <a:spcPct val="150000"/>
                  </a:lnSpc>
                </a:pPr>
                <a14:m>
                  <m:oMathPara xmlns:m="http://schemas.openxmlformats.org/officeDocument/2006/math">
                    <m:oMathParaPr>
                      <m:jc m:val="centerGroup"/>
                    </m:oMathParaPr>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)&gt;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)&gt;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m:oMathPara>
                </a14:m>
                <a:endParaRPr kumimoji="1" lang="en-US" altLang="zh-CN" sz="2400" i="1" dirty="0">
                  <a:solidFill>
                    <a:schemeClr val="tx1"/>
                  </a:solidFill>
                  <a:latin typeface="Cambria Math" panose="02040503050406030204" pitchFamily="18" charset="0"/>
                  <a:ea typeface="MS Mincho" panose="02020609040205080304" charset="-128"/>
                  <a:cs typeface="Cambria Math" panose="02040503050406030204" pitchFamily="18" charset="0"/>
                </a:endParaRPr>
              </a:p>
              <a:p>
                <a:pPr algn="l" fontAlgn="auto">
                  <a:lnSpc>
                    <a:spcPct val="150000"/>
                  </a:lnSpc>
                </a:pPr>
                <a:r>
                  <a:rPr lang="en-US" altLang="zh-CN" sz="2400" dirty="0" err="1">
                    <a:latin typeface="宋体" panose="02010600030101010101" pitchFamily="2" charset="-122"/>
                    <a:ea typeface="宋体" panose="02010600030101010101" pitchFamily="2" charset="-122"/>
                    <a:cs typeface="宋体" panose="02010600030101010101" pitchFamily="2" charset="-122"/>
                  </a:rPr>
                  <a:t>故极小点一定在区间</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lang="en-US" altLang="zh-CN" sz="2400" dirty="0">
                    <a:latin typeface="宋体" panose="02010600030101010101" pitchFamily="2" charset="-122"/>
                    <a:ea typeface="宋体" panose="02010600030101010101" pitchFamily="2" charset="-122"/>
                    <a:cs typeface="宋体" panose="02010600030101010101" pitchFamily="2" charset="-122"/>
                  </a:rPr>
                  <a:t>。</a:t>
                </a:r>
              </a:p>
            </p:txBody>
          </p:sp>
        </mc:Choice>
        <mc:Fallback xmlns="">
          <p:sp>
            <p:nvSpPr>
              <p:cNvPr id="2" name="文本框 1"/>
              <p:cNvSpPr txBox="1">
                <a:spLocks noRot="1" noChangeAspect="1" noMove="1" noResize="1" noEditPoints="1" noAdjustHandles="1" noChangeArrowheads="1" noChangeShapeType="1" noTextEdit="1"/>
              </p:cNvSpPr>
              <p:nvPr/>
            </p:nvSpPr>
            <p:spPr>
              <a:xfrm>
                <a:off x="622935" y="188595"/>
                <a:ext cx="8400415" cy="5631180"/>
              </a:xfrm>
              <a:prstGeom prst="rect">
                <a:avLst/>
              </a:prstGeom>
              <a:blipFill>
                <a:blip r:embed="rId3"/>
                <a:stretch>
                  <a:fillRect l="-1089" r="-4790"/>
                </a:stretch>
              </a:blipFill>
            </p:spPr>
            <p:txBody>
              <a:bodyPr/>
              <a:lstStyle/>
              <a:p>
                <a:r>
                  <a:rPr lang="zh-CN" altLang="en-US">
                    <a:noFill/>
                  </a:rPr>
                  <a:t> </a:t>
                </a:r>
              </a:p>
            </p:txBody>
          </p:sp>
        </mc:Fallback>
      </mc:AlternateContent>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p:cTn id="13" dur="500" fill="hold"/>
                                        <p:tgtEl>
                                          <p:spTgt spid="18"/>
                                        </p:tgtEl>
                                        <p:attrNameLst>
                                          <p:attrName>ppt_w</p:attrName>
                                        </p:attrNameLst>
                                      </p:cBhvr>
                                      <p:tavLst>
                                        <p:tav tm="0">
                                          <p:val>
                                            <p:fltVal val="0"/>
                                          </p:val>
                                        </p:tav>
                                        <p:tav tm="100000">
                                          <p:val>
                                            <p:strVal val="#ppt_w"/>
                                          </p:val>
                                        </p:tav>
                                      </p:tavLst>
                                    </p:anim>
                                    <p:anim calcmode="lin" valueType="num">
                                      <p:cBhvr>
                                        <p:cTn id="14" dur="500" fill="hold"/>
                                        <p:tgtEl>
                                          <p:spTgt spid="18"/>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23"/>
                                        </p:tgtEl>
                                        <p:attrNameLst>
                                          <p:attrName>style.visibility</p:attrName>
                                        </p:attrNameLst>
                                      </p:cBhvr>
                                      <p:to>
                                        <p:strVal val="visible"/>
                                      </p:to>
                                    </p:set>
                                    <p:anim calcmode="lin" valueType="num">
                                      <p:cBhvr>
                                        <p:cTn id="25" dur="500" fill="hold"/>
                                        <p:tgtEl>
                                          <p:spTgt spid="23"/>
                                        </p:tgtEl>
                                        <p:attrNameLst>
                                          <p:attrName>ppt_w</p:attrName>
                                        </p:attrNameLst>
                                      </p:cBhvr>
                                      <p:tavLst>
                                        <p:tav tm="0">
                                          <p:val>
                                            <p:fltVal val="0"/>
                                          </p:val>
                                        </p:tav>
                                        <p:tav tm="100000">
                                          <p:val>
                                            <p:strVal val="#ppt_w"/>
                                          </p:val>
                                        </p:tav>
                                      </p:tavLst>
                                    </p:anim>
                                    <p:anim calcmode="lin" valueType="num">
                                      <p:cBhvr>
                                        <p:cTn id="26" dur="500" fill="hold"/>
                                        <p:tgtEl>
                                          <p:spTgt spid="23"/>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1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p:cTn id="31" dur="500" fill="hold"/>
                                        <p:tgtEl>
                                          <p:spTgt spid="26"/>
                                        </p:tgtEl>
                                        <p:attrNameLst>
                                          <p:attrName>ppt_w</p:attrName>
                                        </p:attrNameLst>
                                      </p:cBhvr>
                                      <p:tavLst>
                                        <p:tav tm="0">
                                          <p:val>
                                            <p:fltVal val="0"/>
                                          </p:val>
                                        </p:tav>
                                        <p:tav tm="100000">
                                          <p:val>
                                            <p:strVal val="#ppt_w"/>
                                          </p:val>
                                        </p:tav>
                                      </p:tavLst>
                                    </p:anim>
                                    <p:anim calcmode="lin" valueType="num">
                                      <p:cBhvr>
                                        <p:cTn id="32" dur="500" fill="hold"/>
                                        <p:tgtEl>
                                          <p:spTgt spid="26"/>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9"/>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622935" y="260350"/>
            <a:ext cx="11529695" cy="460375"/>
          </a:xfrm>
          <a:prstGeom prst="rect">
            <a:avLst/>
          </a:prstGeom>
          <a:noFill/>
        </p:spPr>
        <p:txBody>
          <a:bodyPr wrap="square" rtlCol="0">
            <a:spAutoFit/>
          </a:bodyPr>
          <a:lstStyle/>
          <a:p>
            <a:r>
              <a:rPr lang="en-US" altLang="zh-CN" sz="2400" dirty="0">
                <a:latin typeface="宋体" panose="02010600030101010101" pitchFamily="2" charset="-122"/>
                <a:ea typeface="宋体" panose="02010600030101010101" pitchFamily="2" charset="-122"/>
                <a:cs typeface="宋体" panose="02010600030101010101" pitchFamily="2" charset="-122"/>
              </a:rPr>
              <a:t>3. </a:t>
            </a:r>
            <a:r>
              <a:rPr lang="en-US" altLang="zh-CN" sz="2400" dirty="0" err="1">
                <a:latin typeface="宋体" panose="02010600030101010101" pitchFamily="2" charset="-122"/>
                <a:ea typeface="宋体" panose="02010600030101010101" pitchFamily="2" charset="-122"/>
                <a:cs typeface="宋体" panose="02010600030101010101" pitchFamily="2" charset="-122"/>
              </a:rPr>
              <a:t>对得到的满足“中间小两头大”的三点，再一次缩短并最后确定极值点存在区间</a:t>
            </a:r>
            <a:r>
              <a:rPr lang="zh-CN" altLang="en-US" sz="2400" dirty="0">
                <a:latin typeface="宋体" panose="02010600030101010101" pitchFamily="2" charset="-122"/>
                <a:ea typeface="宋体" panose="02010600030101010101" pitchFamily="2" charset="-122"/>
                <a:cs typeface="宋体" panose="02010600030101010101" pitchFamily="2" charset="-122"/>
              </a:rPr>
              <a:t>。</a:t>
            </a:r>
          </a:p>
        </p:txBody>
      </p:sp>
      <mc:AlternateContent xmlns:mc="http://schemas.openxmlformats.org/markup-compatibility/2006" xmlns:a14="http://schemas.microsoft.com/office/drawing/2010/main">
        <mc:Choice Requires="a14">
          <p:sp>
            <p:nvSpPr>
              <p:cNvPr id="7" name="文本框 6"/>
              <p:cNvSpPr txBox="1"/>
              <p:nvPr/>
            </p:nvSpPr>
            <p:spPr>
              <a:xfrm>
                <a:off x="625187" y="720725"/>
                <a:ext cx="11159445" cy="5867400"/>
              </a:xfrm>
              <a:prstGeom prst="rect">
                <a:avLst/>
              </a:prstGeom>
              <a:noFill/>
            </p:spPr>
            <p:txBody>
              <a:bodyPr wrap="square" rtlCol="0">
                <a:spAutoFit/>
              </a:bodyPr>
              <a:lstStyle/>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   在上述三个点</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之间，因为步长是逐次加倍的，故有</a:t>
                </a:r>
              </a:p>
              <a:p>
                <a:pPr fontAlgn="auto">
                  <a:lnSpc>
                    <a:spcPct val="150000"/>
                  </a:lnSpc>
                </a:pPr>
                <a14:m>
                  <m:oMathPara xmlns:m="http://schemas.openxmlformats.org/officeDocument/2006/math">
                    <m:oMathParaPr>
                      <m:jc m:val="centerGroup"/>
                    </m:oMathParaPr>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现于</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之间内插一点</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，令</a:t>
                </a:r>
              </a:p>
              <a:p>
                <a:pPr algn="ctr" fontAlgn="auto">
                  <a:lnSpc>
                    <a:spcPct val="150000"/>
                  </a:lnSpc>
                </a:pP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f>
                      <m:f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fPr>
                      <m:num>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num>
                      <m:den>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den>
                    </m:f>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			</a:t>
                </a:r>
              </a:p>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这样得到等距的四个点：</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oMath>
                </a14:m>
                <a:r>
                  <a:rPr kumimoji="1" lang="zh-CN" altLang="en-US" sz="2400" dirty="0">
                    <a:solidFill>
                      <a:schemeClr val="tx1"/>
                    </a:solidFill>
                    <a:latin typeface="Cambria Math" panose="02040503050406030204" pitchFamily="18" charset="0"/>
                    <a:ea typeface="宋体" panose="02010600030101010101" pitchFamily="2" charset="-122"/>
                    <a:cs typeface="Cambria Math" panose="02040503050406030204" pitchFamily="18" charset="0"/>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kumimoji="1" lang="zh-CN" altLang="en-US" sz="2400" dirty="0">
                    <a:solidFill>
                      <a:schemeClr val="tx1"/>
                    </a:solidFill>
                    <a:latin typeface="Cambria Math" panose="02040503050406030204" pitchFamily="18" charset="0"/>
                    <a:ea typeface="宋体" panose="02010600030101010101" pitchFamily="2" charset="-122"/>
                    <a:cs typeface="Cambria Math" panose="02040503050406030204" pitchFamily="18" charset="0"/>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kumimoji="1" lang="zh-CN" altLang="en-US" sz="2400" dirty="0">
                    <a:solidFill>
                      <a:schemeClr val="tx1"/>
                    </a:solidFill>
                    <a:latin typeface="Cambria Math" panose="02040503050406030204" pitchFamily="18" charset="0"/>
                    <a:ea typeface="宋体" panose="02010600030101010101" pitchFamily="2" charset="-122"/>
                    <a:cs typeface="Cambria Math" panose="02040503050406030204" pitchFamily="18" charset="0"/>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𝑘</m:t>
                        </m:r>
                      </m:sub>
                    </m:sSub>
                  </m:oMath>
                </a14:m>
                <a:r>
                  <a:rPr kumimoji="1" lang="zh-CN" altLang="en-US" sz="2400" dirty="0">
                    <a:solidFill>
                      <a:schemeClr val="tx1"/>
                    </a:solidFill>
                    <a:latin typeface="Cambria Math" panose="02040503050406030204" pitchFamily="18" charset="0"/>
                    <a:ea typeface="宋体" panose="02010600030101010101" pitchFamily="2" charset="-122"/>
                    <a:cs typeface="Cambria Math" panose="02040503050406030204" pitchFamily="18" charset="0"/>
                  </a:rPr>
                  <a:t>。</a:t>
                </a:r>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比较上述四个点的函数值，令其中函数值最小的点为</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的左右邻点为</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和</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，至此得到了尽可能小的极值点存在区间</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a14:m>
                <a:r>
                  <a:rPr lang="zh-CN" altLang="en-US" sz="2400" dirty="0">
                    <a:latin typeface="宋体" panose="02010600030101010101" pitchFamily="2" charset="-122"/>
                    <a:ea typeface="宋体" panose="02010600030101010101" pitchFamily="2" charset="-122"/>
                    <a:cs typeface="宋体" panose="02010600030101010101" pitchFamily="2" charset="-122"/>
                  </a:rPr>
                  <a:t>，且</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oMath>
                </a14:m>
                <a:r>
                  <a:rPr lang="zh-CN" altLang="en-US" sz="2400" dirty="0">
                    <a:latin typeface="宋体" panose="02010600030101010101" pitchFamily="2" charset="-122"/>
                    <a:ea typeface="宋体" panose="02010600030101010101" pitchFamily="2" charset="-122"/>
                    <a:cs typeface="宋体" panose="02010600030101010101" pitchFamily="2" charset="-122"/>
                  </a:rPr>
                  <a:t>三点，满足“两头大中间小”的条件：           </a:t>
                </a:r>
                <a14:m>
                  <m:oMath xmlns:m="http://schemas.openxmlformats.org/officeDocument/2006/math">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b="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 </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&lt;</m:t>
                        </m:r>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oMath>
                </a14:m>
                <a:endParaRPr kumimoji="1" lang="en-US" altLang="zh-CN" sz="2400" i="1"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algn="ctr" fontAlgn="auto">
                  <a:lnSpc>
                    <a:spcPct val="150000"/>
                  </a:lnSpc>
                </a:pPr>
                <a14:m>
                  <m:oMathPara xmlns:m="http://schemas.openxmlformats.org/officeDocument/2006/math">
                    <m:oMathParaPr>
                      <m:jc m:val="centerGroup"/>
                    </m:oMathParaPr>
                    <m:oMath xmlns:m="http://schemas.openxmlformats.org/officeDocument/2006/math">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1</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)&gt;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3</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)&gt;</m:t>
                      </m:r>
                      <m:r>
                        <a:rPr kumimoji="1" lang="en-US" altLang="zh-CN" sz="2400" i="1" smtClean="0">
                          <a:solidFill>
                            <a:schemeClr val="tx1"/>
                          </a:solidFill>
                          <a:latin typeface="Cambria Math" panose="02040503050406030204" pitchFamily="18" charset="0"/>
                          <a:ea typeface="宋体" panose="02010600030101010101" pitchFamily="2" charset="-122"/>
                          <a:cs typeface="Cambria Math" panose="02040503050406030204" pitchFamily="18" charset="0"/>
                        </a:rPr>
                        <m:t>𝑓</m:t>
                      </m:r>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sSub>
                        <m:sSubPr>
                          <m:ctrlP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ctrlPr>
                        </m:sSubPr>
                        <m:e>
                          <m:r>
                            <a:rPr kumimoji="1" lang="en-US" altLang="zh-CN" sz="2400" i="1">
                              <a:solidFill>
                                <a:schemeClr val="tx1"/>
                              </a:solidFill>
                              <a:latin typeface="Cambria Math" panose="02040503050406030204" pitchFamily="18" charset="0"/>
                              <a:ea typeface="宋体" panose="02010600030101010101" pitchFamily="2" charset="-122"/>
                              <a:cs typeface="Cambria Math" panose="02040503050406030204" pitchFamily="18" charset="0"/>
                            </a:rPr>
                            <m:t>𝑥</m:t>
                          </m:r>
                        </m:e>
                        <m: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2</m:t>
                          </m:r>
                        </m:sub>
                      </m:sSub>
                      <m:r>
                        <a:rPr kumimoji="1" lang="en-US" altLang="zh-CN" sz="2400" i="1">
                          <a:solidFill>
                            <a:schemeClr val="tx1"/>
                          </a:solidFill>
                          <a:latin typeface="Cambria Math" panose="02040503050406030204" pitchFamily="18" charset="0"/>
                          <a:ea typeface="MS Mincho" panose="02020609040205080304" charset="-128"/>
                          <a:cs typeface="Cambria Math" panose="02040503050406030204" pitchFamily="18" charset="0"/>
                        </a:rPr>
                        <m:t>)</m:t>
                      </m:r>
                    </m:oMath>
                  </m:oMathPara>
                </a14:m>
                <a:endParaRPr lang="zh-CN" altLang="en-US" sz="2400" dirty="0">
                  <a:latin typeface="宋体" panose="02010600030101010101" pitchFamily="2" charset="-122"/>
                  <a:ea typeface="宋体" panose="02010600030101010101" pitchFamily="2" charset="-122"/>
                  <a:cs typeface="宋体" panose="02010600030101010101" pitchFamily="2" charset="-122"/>
                </a:endParaRPr>
              </a:p>
              <a:p>
                <a:pPr fontAlgn="auto">
                  <a:lnSpc>
                    <a:spcPct val="150000"/>
                  </a:lnSpc>
                </a:pPr>
                <a:r>
                  <a:rPr lang="zh-CN" altLang="en-US" sz="2400" dirty="0">
                    <a:latin typeface="宋体" panose="02010600030101010101" pitchFamily="2" charset="-122"/>
                    <a:ea typeface="宋体" panose="02010600030101010101" pitchFamily="2" charset="-122"/>
                    <a:cs typeface="宋体" panose="02010600030101010101" pitchFamily="2" charset="-122"/>
                  </a:rPr>
                  <a:t>从以上步骤可以看出，外推内插法实际上分为外推和内插两个阶段。</a:t>
                </a:r>
              </a:p>
            </p:txBody>
          </p:sp>
        </mc:Choice>
        <mc:Fallback xmlns="">
          <p:sp>
            <p:nvSpPr>
              <p:cNvPr id="7" name="文本框 6"/>
              <p:cNvSpPr txBox="1">
                <a:spLocks noRot="1" noChangeAspect="1" noMove="1" noResize="1" noEditPoints="1" noAdjustHandles="1" noChangeArrowheads="1" noChangeShapeType="1" noTextEdit="1"/>
              </p:cNvSpPr>
              <p:nvPr/>
            </p:nvSpPr>
            <p:spPr>
              <a:xfrm>
                <a:off x="625187" y="720725"/>
                <a:ext cx="11159445" cy="5867400"/>
              </a:xfrm>
              <a:prstGeom prst="rect">
                <a:avLst/>
              </a:prstGeom>
              <a:blipFill>
                <a:blip r:embed="rId2"/>
                <a:stretch>
                  <a:fillRect l="-874"/>
                </a:stretch>
              </a:blipFill>
            </p:spPr>
            <p:txBody>
              <a:bodyPr/>
              <a:lstStyle/>
              <a:p>
                <a:r>
                  <a:rPr lang="zh-CN" altLang="en-US">
                    <a:noFill/>
                  </a:rPr>
                  <a:t> </a:t>
                </a:r>
              </a:p>
            </p:txBody>
          </p:sp>
        </mc:Fallback>
      </mc:AlternateContent>
    </p:spTree>
  </p:cSld>
  <p:clrMapOvr>
    <a:masterClrMapping/>
  </p:clrMapOvr>
  <p:transition>
    <p:rand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p:cNvSpPr txBox="1"/>
              <p:nvPr/>
            </p:nvSpPr>
            <p:spPr>
              <a:xfrm>
                <a:off x="2795671" y="332656"/>
                <a:ext cx="9361040" cy="7171194"/>
              </a:xfrm>
              <a:prstGeom prst="rect">
                <a:avLst/>
              </a:prstGeom>
              <a:noFill/>
            </p:spPr>
            <p:txBody>
              <a:bodyPr wrap="square">
                <a:spAutoFit/>
              </a:bodyPr>
              <a:lstStyle/>
              <a:p>
                <a:pPr algn="just"/>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输入：</a:t>
                </a:r>
                <a14:m>
                  <m:oMath xmlns:m="http://schemas.openxmlformats.org/officeDocument/2006/math">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 </m:t>
                    </m:r>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𝟎</m:t>
                        </m:r>
                      </m:sub>
                    </m:sSub>
                    <m:r>
                      <a:rPr lang="en-US" altLang="zh-CN" sz="2000" b="0" i="1" kern="100">
                        <a:latin typeface="Cambria Math" panose="02040503050406030204" pitchFamily="18" charset="0"/>
                        <a:ea typeface="等线" panose="02010600030101010101" pitchFamily="2" charset="-122"/>
                        <a:cs typeface="Times New Roman" panose="02020603050405020304" pitchFamily="18" charset="0"/>
                      </a:rPr>
                      <m:t>,  </m:t>
                    </m:r>
                    <m:r>
                      <a:rPr lang="en-US" altLang="zh-CN" sz="2000" b="0" i="1" kern="100">
                        <a:latin typeface="Cambria Math" panose="02040503050406030204" pitchFamily="18" charset="0"/>
                        <a:ea typeface="Cambria Math" panose="02040503050406030204" pitchFamily="18" charset="0"/>
                        <a:cs typeface="Times New Roman" panose="02020603050405020304" pitchFamily="18" charset="0"/>
                      </a:rPr>
                      <m:t>h</m:t>
                    </m:r>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 </m:t>
                    </m:r>
                  </m:oMath>
                </a14:m>
                <a:r>
                  <a:rPr lang="en-US" altLang="zh-CN" sz="2000" b="0" kern="100" dirty="0">
                    <a:latin typeface="等线" panose="02010600030101010101" pitchFamily="2" charset="-122"/>
                    <a:ea typeface="等线" panose="02010600030101010101" pitchFamily="2" charset="-122"/>
                    <a:cs typeface="Times New Roman" panose="02020603050405020304" pitchFamily="18" charset="0"/>
                  </a:rPr>
                  <a:t>	</a:t>
                </a:r>
              </a:p>
              <a:p>
                <a:pPr algn="just"/>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𝒂</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𝟎</m:t>
                        </m:r>
                      </m:sub>
                    </m:sSub>
                  </m:oMath>
                </a14:m>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 </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𝒃</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𝟎</m:t>
                        </m:r>
                      </m:sub>
                    </m:sSub>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𝒉</m:t>
                    </m:r>
                  </m:oMath>
                </a14:m>
                <a:endParaRPr lang="en-US" altLang="zh-CN" sz="2000" kern="100" dirty="0">
                  <a:latin typeface="等线" panose="02010600030101010101" pitchFamily="2" charset="-122"/>
                  <a:ea typeface="等线" panose="02010600030101010101" pitchFamily="2" charset="-122"/>
                  <a:cs typeface="Times New Roman" panose="02020603050405020304" pitchFamily="18" charset="0"/>
                </a:endParaRPr>
              </a:p>
              <a:p>
                <a:r>
                  <a:rPr lang="en-US" altLang="zh-CN" sz="2000" dirty="0">
                    <a:solidFill>
                      <a:srgbClr val="0000FF"/>
                    </a:solidFill>
                    <a:latin typeface="Courier New" panose="02070309020205020404" pitchFamily="49" charset="0"/>
                  </a:rPr>
                  <a:t>if</a:t>
                </a:r>
                <a:r>
                  <a:rPr lang="en-US" altLang="zh-CN" sz="2000" b="0" dirty="0">
                    <a:solidFill>
                      <a:srgbClr val="000000"/>
                    </a:solidFill>
                    <a:latin typeface="Courier New" panose="02070309020205020404" pitchFamily="49" charset="0"/>
                  </a:rPr>
                  <a:t> </a:t>
                </a:r>
                <a14:m>
                  <m:oMath xmlns:m="http://schemas.openxmlformats.org/officeDocument/2006/math">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𝒂</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kern="100" dirty="0">
                    <a:ea typeface="等线" panose="02010600030101010101" pitchFamily="2" charset="-122"/>
                    <a:cs typeface="Times New Roman" panose="02020603050405020304" pitchFamily="18" charset="0"/>
                  </a:rPr>
                  <a:t> </a:t>
                </a:r>
                <a14:m>
                  <m:oMath xmlns:m="http://schemas.openxmlformats.org/officeDocument/2006/math">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𝒃</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 </m:t>
                    </m:r>
                  </m:oMath>
                </a14:m>
                <a:endParaRPr lang="en-US" altLang="zh-CN" sz="2000" b="0" dirty="0">
                  <a:solidFill>
                    <a:srgbClr val="000000"/>
                  </a:solidFill>
                  <a:latin typeface="Courier New" panose="02070309020205020404" pitchFamily="49" charset="0"/>
                </a:endParaRPr>
              </a:p>
              <a:p>
                <a:r>
                  <a:rPr lang="zh-CN" altLang="en-US" sz="2000" b="0" dirty="0">
                    <a:solidFill>
                      <a:srgbClr val="000000"/>
                    </a:solidFill>
                    <a:latin typeface="Courier New" panose="02070309020205020404" pitchFamily="49" charset="0"/>
                  </a:rPr>
                  <a:t>    </a:t>
                </a:r>
                <a:r>
                  <a:rPr lang="en-US" altLang="zh-CN" sz="2000" b="0" dirty="0" err="1">
                    <a:solidFill>
                      <a:srgbClr val="000000"/>
                    </a:solidFill>
                    <a:latin typeface="Courier New" panose="02070309020205020404" pitchFamily="49" charset="0"/>
                  </a:rPr>
                  <a:t>i</a:t>
                </a:r>
                <a:r>
                  <a:rPr lang="en-US" altLang="zh-CN" sz="2000" b="0" dirty="0">
                    <a:solidFill>
                      <a:srgbClr val="000000"/>
                    </a:solidFill>
                    <a:latin typeface="Courier New" panose="02070309020205020404" pitchFamily="49" charset="0"/>
                  </a:rPr>
                  <a:t> = 0;</a:t>
                </a:r>
                <a:r>
                  <a:rPr lang="zh-CN" altLang="en-US" sz="2000" b="0" dirty="0">
                    <a:solidFill>
                      <a:srgbClr val="000000"/>
                    </a:solidFill>
                    <a:latin typeface="Courier New" panose="02070309020205020404" pitchFamily="49" charset="0"/>
                  </a:rPr>
                  <a:t> </a:t>
                </a:r>
                <a:r>
                  <a:rPr lang="en-US" altLang="zh-CN" sz="2000" b="0" dirty="0" err="1">
                    <a:solidFill>
                      <a:srgbClr val="000000"/>
                    </a:solidFill>
                    <a:latin typeface="Courier New" panose="02070309020205020404" pitchFamily="49" charset="0"/>
                  </a:rPr>
                  <a:t>xt</a:t>
                </a:r>
                <a:r>
                  <a:rPr lang="en-US" altLang="zh-CN" sz="2000" b="0" dirty="0">
                    <a:solidFill>
                      <a:srgbClr val="000000"/>
                    </a:solidFill>
                    <a:latin typeface="Courier New" panose="02070309020205020404" pitchFamily="49" charset="0"/>
                  </a:rPr>
                  <a:t> = a;</a:t>
                </a:r>
              </a:p>
              <a:p>
                <a:r>
                  <a:rPr lang="zh-CN" altLang="en-US" sz="2000" b="0" dirty="0">
                    <a:solidFill>
                      <a:srgbClr val="000000"/>
                    </a:solidFill>
                    <a:latin typeface="Courier New" panose="02070309020205020404" pitchFamily="49" charset="0"/>
                  </a:rPr>
                  <a:t>  </a:t>
                </a:r>
                <a:r>
                  <a:rPr lang="en-US" altLang="zh-CN" sz="2000" b="0" dirty="0">
                    <a:solidFill>
                      <a:srgbClr val="0000FF"/>
                    </a:solidFill>
                    <a:latin typeface="Courier New" panose="02070309020205020404" pitchFamily="49" charset="0"/>
                  </a:rPr>
                  <a:t>while</a:t>
                </a:r>
                <a:r>
                  <a:rPr lang="en-US" altLang="zh-CN" sz="2000" b="0" dirty="0">
                    <a:solidFill>
                      <a:srgbClr val="000000"/>
                    </a:solidFill>
                    <a:latin typeface="Courier New" panose="02070309020205020404" pitchFamily="49" charset="0"/>
                  </a:rPr>
                  <a:t> f(</a:t>
                </a:r>
                <a:r>
                  <a:rPr lang="en-US" altLang="zh-CN" sz="2000" b="0" dirty="0" err="1">
                    <a:solidFill>
                      <a:srgbClr val="000000"/>
                    </a:solidFill>
                    <a:latin typeface="Courier New" panose="02070309020205020404" pitchFamily="49" charset="0"/>
                  </a:rPr>
                  <a:t>xt</a:t>
                </a:r>
                <a:r>
                  <a:rPr lang="en-US" altLang="zh-CN" sz="2000" b="0" dirty="0">
                    <a:solidFill>
                      <a:srgbClr val="000000"/>
                    </a:solidFill>
                    <a:latin typeface="Courier New" panose="02070309020205020404" pitchFamily="49" charset="0"/>
                  </a:rPr>
                  <a:t>)</a:t>
                </a:r>
                <a:r>
                  <a:rPr lang="en-US" altLang="zh-CN" sz="2000" kern="100" dirty="0">
                    <a:ea typeface="Cambria Math" panose="02040503050406030204" pitchFamily="18" charset="0"/>
                    <a:cs typeface="Times New Roman" panose="02020603050405020304" pitchFamily="18" charset="0"/>
                  </a:rPr>
                  <a:t> </a:t>
                </a:r>
                <a14:m>
                  <m:oMath xmlns:m="http://schemas.openxmlformats.org/officeDocument/2006/math">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kern="100" dirty="0">
                    <a:ea typeface="等线" panose="02010600030101010101" pitchFamily="2" charset="-122"/>
                    <a:cs typeface="Times New Roman" panose="02020603050405020304" pitchFamily="18" charset="0"/>
                  </a:rPr>
                  <a:t> </a:t>
                </a:r>
                <a14:m>
                  <m:oMath xmlns:m="http://schemas.openxmlformats.org/officeDocument/2006/math">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𝒃</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 </m:t>
                    </m:r>
                  </m:oMath>
                </a14:m>
                <a:endParaRPr lang="en-US" altLang="zh-CN" sz="2000" b="0" dirty="0">
                  <a:solidFill>
                    <a:srgbClr val="000000"/>
                  </a:solidFill>
                  <a:latin typeface="Courier New" panose="02070309020205020404" pitchFamily="49" charset="0"/>
                </a:endParaRPr>
              </a:p>
              <a:p>
                <a:r>
                  <a:rPr lang="en-US" altLang="zh-CN" sz="2000" b="0" dirty="0">
                    <a:solidFill>
                      <a:srgbClr val="000000"/>
                    </a:solidFill>
                    <a:latin typeface="Courier New" panose="02070309020205020404" pitchFamily="49" charset="0"/>
                  </a:rPr>
                  <a:t>    </a:t>
                </a:r>
                <a:r>
                  <a:rPr lang="en-US" altLang="zh-CN" sz="2000" b="0" dirty="0" err="1">
                    <a:solidFill>
                      <a:srgbClr val="000000"/>
                    </a:solidFill>
                    <a:latin typeface="Courier New" panose="02070309020205020404" pitchFamily="49" charset="0"/>
                  </a:rPr>
                  <a:t>i</a:t>
                </a:r>
                <a:r>
                  <a:rPr lang="en-US" altLang="zh-CN" sz="2000" b="0" dirty="0">
                    <a:solidFill>
                      <a:srgbClr val="000000"/>
                    </a:solidFill>
                    <a:latin typeface="Courier New" panose="02070309020205020404" pitchFamily="49" charset="0"/>
                  </a:rPr>
                  <a:t> = i+1; a = </a:t>
                </a:r>
                <a:r>
                  <a:rPr lang="en-US" altLang="zh-CN" sz="2000" b="0" dirty="0" err="1">
                    <a:solidFill>
                      <a:srgbClr val="000000"/>
                    </a:solidFill>
                    <a:latin typeface="Courier New" panose="02070309020205020404" pitchFamily="49" charset="0"/>
                  </a:rPr>
                  <a:t>xt</a:t>
                </a:r>
                <a:r>
                  <a:rPr lang="en-US" altLang="zh-CN" sz="2000" b="0" dirty="0">
                    <a:solidFill>
                      <a:srgbClr val="000000"/>
                    </a:solidFill>
                    <a:latin typeface="Courier New" panose="02070309020205020404" pitchFamily="49" charset="0"/>
                  </a:rPr>
                  <a:t>; </a:t>
                </a:r>
                <a:r>
                  <a:rPr lang="en-US" altLang="zh-CN" sz="2000" b="0" dirty="0" err="1">
                    <a:solidFill>
                      <a:srgbClr val="000000"/>
                    </a:solidFill>
                    <a:latin typeface="Courier New" panose="02070309020205020404" pitchFamily="49" charset="0"/>
                  </a:rPr>
                  <a:t>xt</a:t>
                </a:r>
                <a:r>
                  <a:rPr lang="en-US" altLang="zh-CN" sz="2000" b="0" dirty="0">
                    <a:solidFill>
                      <a:srgbClr val="000000"/>
                    </a:solidFill>
                    <a:latin typeface="Courier New" panose="02070309020205020404" pitchFamily="49" charset="0"/>
                  </a:rPr>
                  <a:t> = b;</a:t>
                </a:r>
                <a:r>
                  <a:rPr lang="zh-CN" altLang="en-US" sz="2000" b="0" dirty="0">
                    <a:solidFill>
                      <a:srgbClr val="000000"/>
                    </a:solidFill>
                    <a:latin typeface="Courier New" panose="02070309020205020404" pitchFamily="49" charset="0"/>
                  </a:rPr>
                  <a:t>  </a:t>
                </a:r>
                <a:r>
                  <a:rPr lang="pt-BR" altLang="zh-CN" sz="2000" b="0" dirty="0">
                    <a:solidFill>
                      <a:srgbClr val="000000"/>
                    </a:solidFill>
                    <a:latin typeface="Courier New" panose="02070309020205020404" pitchFamily="49" charset="0"/>
                  </a:rPr>
                  <a:t>b = b + 2^i*h;</a:t>
                </a:r>
              </a:p>
              <a:p>
                <a:r>
                  <a:rPr lang="zh-CN" altLang="en-US" sz="2000" b="0" dirty="0">
                    <a:solidFill>
                      <a:srgbClr val="000000"/>
                    </a:solidFill>
                    <a:latin typeface="Courier New" panose="02070309020205020404" pitchFamily="49" charset="0"/>
                  </a:rPr>
                  <a:t>  </a:t>
                </a:r>
                <a:r>
                  <a:rPr lang="en-US" altLang="zh-CN" sz="2000" b="0" dirty="0">
                    <a:solidFill>
                      <a:srgbClr val="0000FF"/>
                    </a:solidFill>
                    <a:latin typeface="Courier New" panose="02070309020205020404" pitchFamily="49" charset="0"/>
                  </a:rPr>
                  <a:t>end</a:t>
                </a:r>
              </a:p>
              <a:p>
                <a:r>
                  <a:rPr lang="zh-CN" altLang="en-US" sz="2000" b="0" dirty="0">
                    <a:solidFill>
                      <a:srgbClr val="000000"/>
                    </a:solidFill>
                    <a:latin typeface="Courier New" panose="02070309020205020404" pitchFamily="49" charset="0"/>
                  </a:rPr>
                  <a:t>  </a:t>
                </a:r>
                <a:r>
                  <a:rPr lang="en-US" altLang="zh-CN" sz="2000" b="0" dirty="0">
                    <a:solidFill>
                      <a:srgbClr val="000000"/>
                    </a:solidFill>
                    <a:latin typeface="Courier New" panose="02070309020205020404" pitchFamily="49" charset="0"/>
                  </a:rPr>
                  <a:t>[</a:t>
                </a:r>
                <a:r>
                  <a:rPr lang="en-US" altLang="zh-CN" sz="2000" b="0" dirty="0" err="1">
                    <a:solidFill>
                      <a:srgbClr val="000000"/>
                    </a:solidFill>
                    <a:latin typeface="Courier New" panose="02070309020205020404" pitchFamily="49" charset="0"/>
                  </a:rPr>
                  <a:t>a,b</a:t>
                </a:r>
                <a:r>
                  <a:rPr lang="en-US" altLang="zh-CN" sz="2000" b="0" dirty="0">
                    <a:solidFill>
                      <a:srgbClr val="000000"/>
                    </a:solidFill>
                    <a:latin typeface="Courier New" panose="02070309020205020404" pitchFamily="49" charset="0"/>
                  </a:rPr>
                  <a:t>]= interp1(</a:t>
                </a:r>
                <a:r>
                  <a:rPr lang="en-US" altLang="zh-CN" sz="2000" b="0" dirty="0" err="1">
                    <a:solidFill>
                      <a:srgbClr val="000000"/>
                    </a:solidFill>
                    <a:latin typeface="Courier New" panose="02070309020205020404" pitchFamily="49" charset="0"/>
                  </a:rPr>
                  <a:t>a,xt,b</a:t>
                </a:r>
                <a:r>
                  <a:rPr lang="en-US" altLang="zh-CN" sz="2000" b="0" dirty="0">
                    <a:solidFill>
                      <a:srgbClr val="000000"/>
                    </a:solidFill>
                    <a:latin typeface="Courier New" panose="02070309020205020404" pitchFamily="49" charset="0"/>
                  </a:rPr>
                  <a:t>,</a:t>
                </a:r>
                <a:r>
                  <a:rPr lang="en-US" altLang="zh-CN" sz="2000" b="0" kern="100" dirty="0">
                    <a:ea typeface="Cambria Math" panose="02040503050406030204" pitchFamily="18" charset="0"/>
                    <a:cs typeface="Times New Roman" panose="02020603050405020304" pitchFamily="18" charset="0"/>
                  </a:rPr>
                  <a:t> </a:t>
                </a:r>
                <a14:m>
                  <m:oMath xmlns:m="http://schemas.openxmlformats.org/officeDocument/2006/math">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𝑓</m:t>
                    </m:r>
                  </m:oMath>
                </a14:m>
                <a:r>
                  <a:rPr lang="en-US" altLang="zh-CN" sz="2000" b="0" dirty="0">
                    <a:solidFill>
                      <a:srgbClr val="000000"/>
                    </a:solidFill>
                    <a:latin typeface="Courier New" panose="02070309020205020404" pitchFamily="49" charset="0"/>
                  </a:rPr>
                  <a:t>);%</a:t>
                </a:r>
                <a:r>
                  <a:rPr lang="zh-CN" altLang="en-US" sz="2000" b="0" dirty="0">
                    <a:solidFill>
                      <a:schemeClr val="accent6"/>
                    </a:solidFill>
                    <a:latin typeface="Courier New" panose="02070309020205020404" pitchFamily="49" charset="0"/>
                  </a:rPr>
                  <a:t>内插</a:t>
                </a:r>
                <a:endParaRPr lang="en-US" altLang="zh-CN" sz="2000" b="0" dirty="0">
                  <a:solidFill>
                    <a:schemeClr val="accent6"/>
                  </a:solidFill>
                  <a:latin typeface="Courier New" panose="02070309020205020404" pitchFamily="49" charset="0"/>
                </a:endParaRPr>
              </a:p>
              <a:p>
                <a:r>
                  <a:rPr lang="en-US" altLang="zh-CN" sz="2000" dirty="0">
                    <a:solidFill>
                      <a:srgbClr val="0000FF"/>
                    </a:solidFill>
                    <a:latin typeface="Courier New" panose="02070309020205020404" pitchFamily="49" charset="0"/>
                  </a:rPr>
                  <a:t>else</a:t>
                </a:r>
              </a:p>
              <a:p>
                <a:r>
                  <a:rPr lang="en-US" altLang="zh-CN" sz="2000" b="0" dirty="0">
                    <a:solidFill>
                      <a:srgbClr val="000000"/>
                    </a:solidFill>
                    <a:latin typeface="Courier New" panose="02070309020205020404" pitchFamily="49" charset="0"/>
                  </a:rPr>
                  <a:t>    </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𝒂</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𝟎</m:t>
                        </m:r>
                      </m:sub>
                    </m:sSub>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𝒉</m:t>
                    </m:r>
                  </m:oMath>
                </a14:m>
                <a:r>
                  <a:rPr lang="en-US" altLang="zh-CN" sz="2000" b="0" dirty="0">
                    <a:solidFill>
                      <a:srgbClr val="000000"/>
                    </a:solidFill>
                    <a:latin typeface="Courier New" panose="02070309020205020404" pitchFamily="49" charset="0"/>
                  </a:rPr>
                  <a:t>; </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𝒃</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𝑥</m:t>
                        </m:r>
                      </m:e>
                      <m:sub>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𝟎</m:t>
                        </m:r>
                      </m:sub>
                    </m:sSub>
                  </m:oMath>
                </a14:m>
                <a:r>
                  <a:rPr lang="en-US" altLang="zh-CN" sz="2000" b="0" dirty="0">
                    <a:solidFill>
                      <a:srgbClr val="000000"/>
                    </a:solidFill>
                    <a:latin typeface="Courier New" panose="02070309020205020404" pitchFamily="49" charset="0"/>
                  </a:rPr>
                  <a:t>;</a:t>
                </a:r>
              </a:p>
              <a:p>
                <a:r>
                  <a:rPr lang="en-US" altLang="zh-CN" sz="2000" b="0" dirty="0">
                    <a:solidFill>
                      <a:srgbClr val="0000FF"/>
                    </a:solidFill>
                    <a:latin typeface="Courier New" panose="02070309020205020404" pitchFamily="49" charset="0"/>
                  </a:rPr>
                  <a:t>  if</a:t>
                </a:r>
                <a:r>
                  <a:rPr lang="en-US" altLang="zh-CN" sz="2000" b="0" dirty="0">
                    <a:solidFill>
                      <a:srgbClr val="000000"/>
                    </a:solidFill>
                    <a:latin typeface="Courier New" panose="02070309020205020404" pitchFamily="49" charset="0"/>
                  </a:rPr>
                  <a:t> </a:t>
                </a:r>
                <a14:m>
                  <m:oMath xmlns:m="http://schemas.openxmlformats.org/officeDocument/2006/math">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𝒂</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Cambria Math" panose="02040503050406030204" pitchFamily="18" charset="0"/>
                        <a:cs typeface="Times New Roman" panose="02020603050405020304" pitchFamily="18" charset="0"/>
                      </a:rPr>
                      <m:t>≤</m:t>
                    </m:r>
                  </m:oMath>
                </a14:m>
                <a:r>
                  <a:rPr lang="en-US" altLang="zh-CN" sz="2000" kern="100" dirty="0">
                    <a:ea typeface="等线" panose="02010600030101010101" pitchFamily="2" charset="-122"/>
                    <a:cs typeface="Times New Roman" panose="02020603050405020304" pitchFamily="18" charset="0"/>
                  </a:rPr>
                  <a:t> </a:t>
                </a:r>
                <a14:m>
                  <m:oMath xmlns:m="http://schemas.openxmlformats.org/officeDocument/2006/math">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𝒃</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oMath>
                </a14:m>
                <a:r>
                  <a:rPr lang="zh-CN" altLang="en-US" sz="2000" b="0" dirty="0">
                    <a:solidFill>
                      <a:srgbClr val="000000"/>
                    </a:solidFill>
                    <a:latin typeface="Courier New" panose="02070309020205020404" pitchFamily="49" charset="0"/>
                  </a:rPr>
                  <a:t>              </a:t>
                </a:r>
              </a:p>
              <a:p>
                <a:r>
                  <a:rPr lang="en-US" altLang="zh-CN" sz="2000" b="0" dirty="0">
                    <a:solidFill>
                      <a:srgbClr val="000000"/>
                    </a:solidFill>
                    <a:latin typeface="Courier New" panose="02070309020205020404" pitchFamily="49" charset="0"/>
                  </a:rPr>
                  <a:t>    j = 0; </a:t>
                </a:r>
                <a:r>
                  <a:rPr lang="en-US" altLang="zh-CN" sz="2000" b="0" dirty="0" err="1">
                    <a:solidFill>
                      <a:srgbClr val="000000"/>
                    </a:solidFill>
                    <a:latin typeface="Courier New" panose="02070309020205020404" pitchFamily="49" charset="0"/>
                  </a:rPr>
                  <a:t>xt</a:t>
                </a:r>
                <a:r>
                  <a:rPr lang="en-US" altLang="zh-CN" sz="2000" b="0" dirty="0">
                    <a:solidFill>
                      <a:srgbClr val="000000"/>
                    </a:solidFill>
                    <a:latin typeface="Courier New" panose="02070309020205020404" pitchFamily="49" charset="0"/>
                  </a:rPr>
                  <a:t> = b;</a:t>
                </a:r>
              </a:p>
              <a:p>
                <a:r>
                  <a:rPr lang="en-US" altLang="zh-CN" sz="2000" b="0" kern="100" dirty="0">
                    <a:solidFill>
                      <a:srgbClr val="0000FF"/>
                    </a:solidFill>
                    <a:latin typeface="等线" panose="02010600030101010101" pitchFamily="2" charset="-122"/>
                    <a:ea typeface="等线" panose="02010600030101010101" pitchFamily="2" charset="-122"/>
                    <a:cs typeface="Times New Roman" panose="02020603050405020304" pitchFamily="18" charset="0"/>
                  </a:rPr>
                  <a:t>        </a:t>
                </a:r>
                <a:r>
                  <a:rPr lang="en-US" altLang="zh-CN" sz="2000" b="0" dirty="0">
                    <a:solidFill>
                      <a:srgbClr val="0000FF"/>
                    </a:solidFill>
                    <a:latin typeface="Courier New" panose="02070309020205020404" pitchFamily="49" charset="0"/>
                  </a:rPr>
                  <a:t>while</a:t>
                </a:r>
                <a:r>
                  <a:rPr lang="en-US" altLang="zh-CN" sz="2000" b="0" dirty="0">
                    <a:solidFill>
                      <a:srgbClr val="000000"/>
                    </a:solidFill>
                    <a:latin typeface="Courier New" panose="02070309020205020404" pitchFamily="49" charset="0"/>
                  </a:rPr>
                  <a:t> </a:t>
                </a:r>
                <a14:m>
                  <m:oMath xmlns:m="http://schemas.openxmlformats.org/officeDocument/2006/math">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𝑓</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𝒂</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m:t>
                    </m:r>
                  </m:oMath>
                </a14:m>
                <a:r>
                  <a:rPr lang="en-US" altLang="zh-CN" sz="2000" b="0" dirty="0">
                    <a:solidFill>
                      <a:srgbClr val="000000"/>
                    </a:solidFill>
                    <a:latin typeface="Courier New" panose="02070309020205020404" pitchFamily="49" charset="0"/>
                  </a:rPr>
                  <a:t>f(</a:t>
                </a:r>
                <a:r>
                  <a:rPr lang="en-US" altLang="zh-CN" sz="2000" b="0" dirty="0" err="1">
                    <a:solidFill>
                      <a:srgbClr val="000000"/>
                    </a:solidFill>
                    <a:latin typeface="Courier New" panose="02070309020205020404" pitchFamily="49" charset="0"/>
                  </a:rPr>
                  <a:t>xt</a:t>
                </a:r>
                <a:r>
                  <a:rPr lang="en-US" altLang="zh-CN" sz="2000" b="0" dirty="0">
                    <a:solidFill>
                      <a:srgbClr val="000000"/>
                    </a:solidFill>
                    <a:latin typeface="Courier New" panose="02070309020205020404" pitchFamily="49" charset="0"/>
                  </a:rPr>
                  <a:t>)</a:t>
                </a:r>
              </a:p>
              <a:p>
                <a:r>
                  <a:rPr lang="en-US" altLang="zh-CN" sz="2000" b="0" dirty="0">
                    <a:solidFill>
                      <a:srgbClr val="000000"/>
                    </a:solidFill>
                    <a:latin typeface="Courier New" panose="02070309020205020404" pitchFamily="49" charset="0"/>
                  </a:rPr>
                  <a:t>      j = j + 1; b = </a:t>
                </a:r>
                <a:r>
                  <a:rPr lang="en-US" altLang="zh-CN" sz="2000" b="0" dirty="0" err="1">
                    <a:solidFill>
                      <a:srgbClr val="000000"/>
                    </a:solidFill>
                    <a:latin typeface="Courier New" panose="02070309020205020404" pitchFamily="49" charset="0"/>
                  </a:rPr>
                  <a:t>xt</a:t>
                </a:r>
                <a:r>
                  <a:rPr lang="en-US" altLang="zh-CN" sz="2000" b="0" dirty="0">
                    <a:solidFill>
                      <a:srgbClr val="000000"/>
                    </a:solidFill>
                    <a:latin typeface="Courier New" panose="02070309020205020404" pitchFamily="49" charset="0"/>
                  </a:rPr>
                  <a:t>; </a:t>
                </a:r>
                <a:r>
                  <a:rPr lang="en-US" altLang="zh-CN" sz="2000" b="0" dirty="0" err="1">
                    <a:solidFill>
                      <a:srgbClr val="000000"/>
                    </a:solidFill>
                    <a:latin typeface="Courier New" panose="02070309020205020404" pitchFamily="49" charset="0"/>
                  </a:rPr>
                  <a:t>xt</a:t>
                </a:r>
                <a:r>
                  <a:rPr lang="en-US" altLang="zh-CN" sz="2000" b="0" dirty="0">
                    <a:solidFill>
                      <a:srgbClr val="000000"/>
                    </a:solidFill>
                    <a:latin typeface="Courier New" panose="02070309020205020404" pitchFamily="49" charset="0"/>
                  </a:rPr>
                  <a:t> = a;</a:t>
                </a:r>
                <a:r>
                  <a:rPr lang="pt-BR" altLang="zh-CN" sz="2000" b="0" dirty="0">
                    <a:solidFill>
                      <a:srgbClr val="000000"/>
                    </a:solidFill>
                    <a:latin typeface="Courier New" panose="02070309020205020404" pitchFamily="49" charset="0"/>
                  </a:rPr>
                  <a:t> a = </a:t>
                </a:r>
                <a:r>
                  <a:rPr lang="pt-BR" altLang="zh-CN" sz="2000" b="0">
                    <a:solidFill>
                      <a:srgbClr val="000000"/>
                    </a:solidFill>
                    <a:latin typeface="Courier New" panose="02070309020205020404" pitchFamily="49" charset="0"/>
                  </a:rPr>
                  <a:t>a – 2^j</a:t>
                </a:r>
                <a:r>
                  <a:rPr lang="pt-BR" altLang="zh-CN" sz="2000" b="0" dirty="0">
                    <a:solidFill>
                      <a:srgbClr val="000000"/>
                    </a:solidFill>
                    <a:latin typeface="Courier New" panose="02070309020205020404" pitchFamily="49" charset="0"/>
                  </a:rPr>
                  <a:t>*h;</a:t>
                </a:r>
              </a:p>
              <a:p>
                <a:r>
                  <a:rPr lang="en-US" altLang="zh-CN" sz="2000" b="0" dirty="0">
                    <a:solidFill>
                      <a:srgbClr val="0000FF"/>
                    </a:solidFill>
                    <a:latin typeface="Courier New" panose="02070309020205020404" pitchFamily="49" charset="0"/>
                  </a:rPr>
                  <a:t>    end</a:t>
                </a:r>
              </a:p>
              <a:p>
                <a:r>
                  <a:rPr lang="en-US" altLang="zh-CN" sz="2000" b="0" dirty="0">
                    <a:solidFill>
                      <a:srgbClr val="000000"/>
                    </a:solidFill>
                    <a:latin typeface="Courier New" panose="02070309020205020404" pitchFamily="49" charset="0"/>
                  </a:rPr>
                  <a:t>   [</a:t>
                </a:r>
                <a:r>
                  <a:rPr lang="en-US" altLang="zh-CN" sz="2000" b="0" dirty="0" err="1">
                    <a:solidFill>
                      <a:srgbClr val="000000"/>
                    </a:solidFill>
                    <a:latin typeface="Courier New" panose="02070309020205020404" pitchFamily="49" charset="0"/>
                  </a:rPr>
                  <a:t>a,b</a:t>
                </a:r>
                <a:r>
                  <a:rPr lang="en-US" altLang="zh-CN" sz="2000" b="0" dirty="0">
                    <a:solidFill>
                      <a:srgbClr val="000000"/>
                    </a:solidFill>
                    <a:latin typeface="Courier New" panose="02070309020205020404" pitchFamily="49" charset="0"/>
                  </a:rPr>
                  <a:t>]= interp2(</a:t>
                </a:r>
                <a:r>
                  <a:rPr lang="en-US" altLang="zh-CN" sz="2000" b="0" dirty="0" err="1">
                    <a:solidFill>
                      <a:srgbClr val="000000"/>
                    </a:solidFill>
                    <a:latin typeface="Courier New" panose="02070309020205020404" pitchFamily="49" charset="0"/>
                  </a:rPr>
                  <a:t>a,xt,b</a:t>
                </a:r>
                <a:r>
                  <a:rPr lang="en-US" altLang="zh-CN" sz="2000" b="0" dirty="0">
                    <a:solidFill>
                      <a:srgbClr val="000000"/>
                    </a:solidFill>
                    <a:latin typeface="Courier New" panose="02070309020205020404" pitchFamily="49" charset="0"/>
                  </a:rPr>
                  <a:t>,</a:t>
                </a:r>
                <a:r>
                  <a:rPr lang="en-US" altLang="zh-CN" sz="2000" b="0" kern="100" dirty="0">
                    <a:ea typeface="Cambria Math" panose="02040503050406030204" pitchFamily="18" charset="0"/>
                    <a:cs typeface="Times New Roman" panose="02020603050405020304" pitchFamily="18" charset="0"/>
                  </a:rPr>
                  <a:t> </a:t>
                </a:r>
                <a14:m>
                  <m:oMath xmlns:m="http://schemas.openxmlformats.org/officeDocument/2006/math">
                    <m:r>
                      <a:rPr lang="en-US" altLang="zh-CN" sz="2000" b="0" i="1" kern="100" smtClean="0">
                        <a:latin typeface="Cambria Math" panose="02040503050406030204" pitchFamily="18" charset="0"/>
                        <a:ea typeface="Cambria Math" panose="02040503050406030204" pitchFamily="18" charset="0"/>
                        <a:cs typeface="Times New Roman" panose="02020603050405020304" pitchFamily="18" charset="0"/>
                      </a:rPr>
                      <m:t>𝑓</m:t>
                    </m:r>
                  </m:oMath>
                </a14:m>
                <a:r>
                  <a:rPr lang="en-US" altLang="zh-CN" sz="2000" dirty="0">
                    <a:solidFill>
                      <a:srgbClr val="000000"/>
                    </a:solidFill>
                    <a:latin typeface="Courier New" panose="02070309020205020404" pitchFamily="49" charset="0"/>
                  </a:rPr>
                  <a:t>); %</a:t>
                </a:r>
                <a:r>
                  <a:rPr lang="zh-CN" altLang="en-US" sz="2000" dirty="0">
                    <a:solidFill>
                      <a:schemeClr val="accent6"/>
                    </a:solidFill>
                    <a:latin typeface="Courier New" panose="02070309020205020404" pitchFamily="49" charset="0"/>
                  </a:rPr>
                  <a:t>内插</a:t>
                </a:r>
                <a:endParaRPr lang="en-US" altLang="zh-CN" sz="2000" b="0" dirty="0">
                  <a:solidFill>
                    <a:schemeClr val="accent6"/>
                  </a:solidFill>
                  <a:latin typeface="Courier New" panose="02070309020205020404" pitchFamily="49" charset="0"/>
                </a:endParaRPr>
              </a:p>
              <a:p>
                <a:r>
                  <a:rPr lang="en-US" altLang="zh-CN" sz="2000" b="0" dirty="0">
                    <a:solidFill>
                      <a:srgbClr val="0000FF"/>
                    </a:solidFill>
                    <a:latin typeface="Courier New" panose="02070309020205020404" pitchFamily="49" charset="0"/>
                  </a:rPr>
                  <a:t>  else</a:t>
                </a:r>
              </a:p>
              <a:p>
                <a:r>
                  <a:rPr lang="en-US" altLang="zh-CN" sz="2000" b="0" dirty="0">
                    <a:solidFill>
                      <a:srgbClr val="000000"/>
                    </a:solidFill>
                    <a:latin typeface="Courier New" panose="02070309020205020404" pitchFamily="49" charset="0"/>
                  </a:rPr>
                  <a:t>    </a:t>
                </a:r>
                <a14:m>
                  <m:oMath xmlns:m="http://schemas.openxmlformats.org/officeDocument/2006/math">
                    <m:sSub>
                      <m:sSubPr>
                        <m:ctrlPr>
                          <a:rPr lang="zh-CN" altLang="zh-CN" sz="2000" b="1" i="1" kern="100"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000" b="1" i="1" kern="100" smtClean="0">
                            <a:latin typeface="Cambria Math" panose="02040503050406030204" pitchFamily="18" charset="0"/>
                            <a:ea typeface="Cambria Math" panose="02040503050406030204" pitchFamily="18" charset="0"/>
                            <a:cs typeface="Times New Roman" panose="02020603050405020304" pitchFamily="18" charset="0"/>
                          </a:rPr>
                          <m:t>𝒃</m:t>
                        </m:r>
                        <m:r>
                          <a:rPr lang="en-US" altLang="zh-CN" sz="2000" b="1" i="1" kern="100">
                            <a:latin typeface="Cambria Math" panose="02040503050406030204" pitchFamily="18" charset="0"/>
                            <a:ea typeface="Cambria Math" panose="02040503050406030204" pitchFamily="18" charset="0"/>
                            <a:cs typeface="Times New Roman" panose="02020603050405020304" pitchFamily="18" charset="0"/>
                          </a:rPr>
                          <m:t>=</m:t>
                        </m:r>
                        <m:r>
                          <a:rPr lang="en-US" altLang="zh-CN" sz="2000" b="1" i="1" kern="100">
                            <a:latin typeface="Cambria Math" panose="02040503050406030204" pitchFamily="18" charset="0"/>
                            <a:ea typeface="等线" panose="02010600030101010101" pitchFamily="2" charset="-122"/>
                            <a:cs typeface="Times New Roman" panose="02020603050405020304" pitchFamily="18" charset="0"/>
                          </a:rPr>
                          <m:t>𝒙</m:t>
                        </m:r>
                      </m:e>
                      <m:sub>
                        <m:r>
                          <a:rPr lang="en-US" altLang="zh-CN" sz="2000" b="1" i="1" kern="100">
                            <a:latin typeface="Cambria Math" panose="02040503050406030204" pitchFamily="18" charset="0"/>
                            <a:ea typeface="等线" panose="02010600030101010101" pitchFamily="2" charset="-122"/>
                            <a:cs typeface="Times New Roman" panose="02020603050405020304" pitchFamily="18" charset="0"/>
                          </a:rPr>
                          <m:t>𝟎</m:t>
                        </m:r>
                      </m:sub>
                    </m:sSub>
                    <m:r>
                      <a:rPr lang="en-US" altLang="zh-CN" sz="2000" b="0" i="1" kern="100" smtClean="0">
                        <a:latin typeface="Cambria Math" panose="02040503050406030204" pitchFamily="18" charset="0"/>
                        <a:ea typeface="等线" panose="02010600030101010101" pitchFamily="2" charset="-122"/>
                        <a:cs typeface="Times New Roman" panose="02020603050405020304" pitchFamily="18" charset="0"/>
                      </a:rPr>
                      <m:t>+</m:t>
                    </m:r>
                    <m:r>
                      <a:rPr lang="en-US" altLang="zh-CN" sz="2000" i="1" kern="100">
                        <a:latin typeface="Cambria Math" panose="02040503050406030204" pitchFamily="18" charset="0"/>
                        <a:ea typeface="等线" panose="02010600030101010101" pitchFamily="2" charset="-122"/>
                        <a:cs typeface="Times New Roman" panose="02020603050405020304" pitchFamily="18" charset="0"/>
                      </a:rPr>
                      <m:t>𝒉</m:t>
                    </m:r>
                  </m:oMath>
                </a14:m>
                <a:r>
                  <a:rPr lang="en-US" altLang="zh-CN" sz="2000" b="0" dirty="0">
                    <a:solidFill>
                      <a:srgbClr val="000000"/>
                    </a:solidFill>
                    <a:latin typeface="Courier New" panose="02070309020205020404" pitchFamily="49" charset="0"/>
                  </a:rPr>
                  <a:t>;</a:t>
                </a:r>
              </a:p>
              <a:p>
                <a:r>
                  <a:rPr lang="en-US" altLang="zh-CN" sz="2000" dirty="0">
                    <a:solidFill>
                      <a:srgbClr val="000000"/>
                    </a:solidFill>
                    <a:latin typeface="Courier New" panose="02070309020205020404" pitchFamily="49" charset="0"/>
                  </a:rPr>
                  <a:t>  end</a:t>
                </a:r>
                <a:endParaRPr lang="en-US" altLang="zh-CN" sz="2000" b="0" dirty="0">
                  <a:solidFill>
                    <a:srgbClr val="000000"/>
                  </a:solidFill>
                  <a:latin typeface="Courier New" panose="02070309020205020404" pitchFamily="49" charset="0"/>
                </a:endParaRPr>
              </a:p>
              <a:p>
                <a:r>
                  <a:rPr lang="en-US" altLang="zh-CN" sz="2000" b="0" dirty="0">
                    <a:solidFill>
                      <a:srgbClr val="000000"/>
                    </a:solidFill>
                    <a:latin typeface="Courier New" panose="02070309020205020404" pitchFamily="49" charset="0"/>
                  </a:rPr>
                  <a:t>end</a:t>
                </a:r>
                <a:endParaRPr lang="en-US" altLang="zh-CN" sz="2000" dirty="0">
                  <a:solidFill>
                    <a:schemeClr val="accent2"/>
                  </a:solidFill>
                  <a:latin typeface="Courier New" panose="02070309020205020404" pitchFamily="49" charset="0"/>
                </a:endParaRPr>
              </a:p>
              <a:p>
                <a:endParaRPr lang="pt-BR" altLang="zh-CN" sz="2000" b="0" dirty="0">
                  <a:solidFill>
                    <a:srgbClr val="000000"/>
                  </a:solidFill>
                  <a:latin typeface="Courier New" panose="02070309020205020404" pitchFamily="49" charset="0"/>
                </a:endParaRPr>
              </a:p>
              <a:p>
                <a:endParaRPr lang="en-US" altLang="zh-CN" sz="2000" kern="100" dirty="0">
                  <a:latin typeface="等线" panose="02010600030101010101" pitchFamily="2" charset="-122"/>
                  <a:ea typeface="等线" panose="02010600030101010101" pitchFamily="2" charset="-122"/>
                  <a:cs typeface="Times New Roman" panose="02020603050405020304" pitchFamily="18" charset="0"/>
                </a:endParaRPr>
              </a:p>
              <a:p>
                <a:pPr marL="266700" algn="just"/>
                <a:r>
                  <a:rPr lang="en-US" altLang="zh-CN" sz="2000" kern="100" dirty="0">
                    <a:latin typeface="等线" panose="02010600030101010101" pitchFamily="2" charset="-122"/>
                    <a:ea typeface="等线" panose="02010600030101010101" pitchFamily="2" charset="-122"/>
                    <a:cs typeface="Times New Roman" panose="02020603050405020304" pitchFamily="18" charset="0"/>
                  </a:rPr>
                  <a:t>	</a:t>
                </a:r>
                <a:endParaRPr lang="zh-CN" altLang="zh-CN" sz="2000" kern="100" dirty="0">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3" name="文本框 2"/>
              <p:cNvSpPr txBox="1">
                <a:spLocks noRot="1" noChangeAspect="1" noMove="1" noResize="1" noEditPoints="1" noAdjustHandles="1" noChangeArrowheads="1" noChangeShapeType="1" noTextEdit="1"/>
              </p:cNvSpPr>
              <p:nvPr/>
            </p:nvSpPr>
            <p:spPr>
              <a:xfrm>
                <a:off x="2795671" y="332656"/>
                <a:ext cx="9361040" cy="7171194"/>
              </a:xfrm>
              <a:prstGeom prst="rect">
                <a:avLst/>
              </a:prstGeom>
              <a:blipFill>
                <a:blip r:embed="rId2"/>
                <a:stretch>
                  <a:fillRect l="-717" t="-510"/>
                </a:stretch>
              </a:blipFill>
            </p:spPr>
            <p:txBody>
              <a:bodyPr/>
              <a:lstStyle/>
              <a:p>
                <a:r>
                  <a:rPr lang="zh-CN" altLang="en-US">
                    <a:noFill/>
                  </a:rPr>
                  <a:t> </a:t>
                </a:r>
              </a:p>
            </p:txBody>
          </p:sp>
        </mc:Fallback>
      </mc:AlternateContent>
      <p:sp>
        <p:nvSpPr>
          <p:cNvPr id="4" name="文本框 3"/>
          <p:cNvSpPr txBox="1"/>
          <p:nvPr/>
        </p:nvSpPr>
        <p:spPr>
          <a:xfrm>
            <a:off x="1055440" y="304323"/>
            <a:ext cx="6094428" cy="461665"/>
          </a:xfrm>
          <a:prstGeom prst="rect">
            <a:avLst/>
          </a:prstGeom>
          <a:noFill/>
        </p:spPr>
        <p:txBody>
          <a:bodyPr wrap="square">
            <a:spAutoFit/>
          </a:bodyPr>
          <a:lstStyle/>
          <a:p>
            <a:pPr algn="just"/>
            <a:r>
              <a:rPr lang="zh-CN" altLang="zh-CN" sz="2400" kern="100" dirty="0">
                <a:latin typeface="等线" panose="02010600030101010101" pitchFamily="2" charset="-122"/>
                <a:ea typeface="等线" panose="02010600030101010101" pitchFamily="2" charset="-122"/>
                <a:cs typeface="Times New Roman" panose="02020603050405020304" pitchFamily="18" charset="0"/>
              </a:rPr>
              <a:t>算法：</a:t>
            </a:r>
          </a:p>
        </p:txBody>
      </p:sp>
    </p:spTree>
  </p:cSld>
  <p:clrMapOvr>
    <a:masterClrMapping/>
  </p:clrMapOvr>
  <p:transition>
    <p:random/>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p:cNvSpPr txBox="1"/>
              <p:nvPr/>
            </p:nvSpPr>
            <p:spPr>
              <a:xfrm>
                <a:off x="2063552" y="612844"/>
                <a:ext cx="7416824" cy="5632311"/>
              </a:xfrm>
              <a:prstGeom prst="rect">
                <a:avLst/>
              </a:prstGeom>
              <a:noFill/>
            </p:spPr>
            <p:txBody>
              <a:bodyPr wrap="square">
                <a:spAutoFit/>
              </a:bodyPr>
              <a:lstStyle/>
              <a:p>
                <a:r>
                  <a:rPr lang="en-US" altLang="zh-CN" sz="2400" b="0" i="0" u="none" strike="noStrike" baseline="0" dirty="0">
                    <a:solidFill>
                      <a:srgbClr val="0000FF"/>
                    </a:solidFill>
                    <a:latin typeface="Courier New" panose="02070309020205020404" pitchFamily="49" charset="0"/>
                  </a:rPr>
                  <a:t>function</a:t>
                </a:r>
                <a:r>
                  <a:rPr lang="en-US" altLang="zh-CN" sz="2400" b="0" i="0" u="none" strike="noStrike" baseline="0" dirty="0">
                    <a:solidFill>
                      <a:srgbClr val="000000"/>
                    </a:solidFill>
                    <a:latin typeface="Courier New" panose="02070309020205020404" pitchFamily="49" charset="0"/>
                  </a:rPr>
                  <a:t> [</a:t>
                </a:r>
                <a:r>
                  <a:rPr lang="en-US" altLang="zh-CN" sz="2400" b="0" i="0" u="none" strike="noStrike" baseline="0" dirty="0" err="1">
                    <a:solidFill>
                      <a:srgbClr val="000000"/>
                    </a:solidFill>
                    <a:latin typeface="Courier New" panose="02070309020205020404" pitchFamily="49" charset="0"/>
                  </a:rPr>
                  <a:t>a,b</a:t>
                </a:r>
                <a:r>
                  <a:rPr lang="en-US" altLang="zh-CN" sz="2400" b="0" i="0" u="none" strike="noStrike" baseline="0" dirty="0">
                    <a:solidFill>
                      <a:srgbClr val="000000"/>
                    </a:solidFill>
                    <a:latin typeface="Courier New" panose="02070309020205020404" pitchFamily="49" charset="0"/>
                  </a:rPr>
                  <a:t>]= interp1(</a:t>
                </a:r>
                <a:r>
                  <a:rPr lang="en-US" altLang="zh-CN" sz="2400" b="0" i="0" u="none" strike="noStrike" baseline="0" dirty="0" err="1">
                    <a:solidFill>
                      <a:srgbClr val="000000"/>
                    </a:solidFill>
                    <a:latin typeface="Courier New" panose="02070309020205020404" pitchFamily="49" charset="0"/>
                  </a:rPr>
                  <a:t>a,xt,b</a:t>
                </a:r>
                <a:r>
                  <a:rPr lang="en-US" altLang="zh-CN" sz="2400" b="0" i="0" u="none" strike="noStrike" baseline="0" dirty="0">
                    <a:solidFill>
                      <a:srgbClr val="000000"/>
                    </a:solidFill>
                    <a:latin typeface="Courier New" panose="02070309020205020404" pitchFamily="49" charset="0"/>
                  </a:rPr>
                  <a:t>,</a:t>
                </a:r>
                <a:r>
                  <a:rPr lang="en-US" altLang="zh-CN" sz="2400" b="0" kern="100" dirty="0">
                    <a:ea typeface="Cambria Math" panose="02040503050406030204" pitchFamily="18" charset="0"/>
                    <a:cs typeface="Times New Roman" panose="02020603050405020304" pitchFamily="18" charset="0"/>
                  </a:rPr>
                  <a:t> </a:t>
                </a:r>
                <a14:m>
                  <m:oMath xmlns:m="http://schemas.openxmlformats.org/officeDocument/2006/math">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𝑓</m:t>
                    </m:r>
                  </m:oMath>
                </a14:m>
                <a:r>
                  <a:rPr lang="en-US" altLang="zh-CN" sz="2400" b="0" i="0" u="none" strike="noStrike" baseline="0" dirty="0">
                    <a:solidFill>
                      <a:srgbClr val="000000"/>
                    </a:solidFill>
                    <a:latin typeface="Courier New" panose="02070309020205020404" pitchFamily="49" charset="0"/>
                  </a:rPr>
                  <a:t>)</a:t>
                </a:r>
              </a:p>
              <a:p>
                <a:r>
                  <a:rPr lang="en-US" altLang="zh-CN" sz="2400" b="0" i="0" u="none" strike="noStrike" baseline="0" dirty="0">
                    <a:solidFill>
                      <a:srgbClr val="000000"/>
                    </a:solidFill>
                    <a:latin typeface="Courier New" panose="02070309020205020404" pitchFamily="49" charset="0"/>
                  </a:rPr>
                  <a:t>        temp = 0.5*(</a:t>
                </a:r>
                <a:r>
                  <a:rPr lang="en-US" altLang="zh-CN" sz="2400" b="0" i="0" u="none" strike="noStrike" baseline="0" dirty="0" err="1">
                    <a:solidFill>
                      <a:srgbClr val="000000"/>
                    </a:solidFill>
                    <a:latin typeface="Courier New" panose="02070309020205020404" pitchFamily="49" charset="0"/>
                  </a:rPr>
                  <a:t>xt+b</a:t>
                </a:r>
                <a:r>
                  <a:rPr lang="en-US" altLang="zh-CN" sz="2400" b="0" i="0" u="none" strike="noStrike" baseline="0" dirty="0">
                    <a:solidFill>
                      <a:srgbClr val="000000"/>
                    </a:solidFill>
                    <a:latin typeface="Courier New" panose="02070309020205020404" pitchFamily="49" charset="0"/>
                  </a:rPr>
                  <a:t>);</a:t>
                </a:r>
              </a:p>
              <a:p>
                <a:r>
                  <a:rPr lang="en-US" altLang="zh-CN" sz="2400" b="0" i="0" u="none" strike="noStrike" baseline="0" dirty="0">
                    <a:solidFill>
                      <a:srgbClr val="000000"/>
                    </a:solidFill>
                    <a:latin typeface="Courier New" panose="02070309020205020404" pitchFamily="49" charset="0"/>
                  </a:rPr>
                  <a:t>        </a:t>
                </a:r>
                <a:r>
                  <a:rPr lang="en-US" altLang="zh-CN" sz="2400" b="0" i="0" u="none" strike="noStrike" baseline="0" dirty="0">
                    <a:solidFill>
                      <a:srgbClr val="0000FF"/>
                    </a:solidFill>
                    <a:latin typeface="Courier New" panose="02070309020205020404" pitchFamily="49" charset="0"/>
                  </a:rPr>
                  <a:t>if</a:t>
                </a:r>
                <a:r>
                  <a:rPr lang="en-US" altLang="zh-CN" sz="2400" b="0" i="0" u="none" strike="noStrike" baseline="0" dirty="0">
                    <a:solidFill>
                      <a:srgbClr val="000000"/>
                    </a:solidFill>
                    <a:latin typeface="Courier New" panose="02070309020205020404" pitchFamily="49" charset="0"/>
                  </a:rPr>
                  <a:t> </a:t>
                </a:r>
                <a14:m>
                  <m:oMath xmlns:m="http://schemas.openxmlformats.org/officeDocument/2006/math">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𝑓</m:t>
                    </m:r>
                  </m:oMath>
                </a14:m>
                <a:r>
                  <a:rPr lang="en-US" altLang="zh-CN" sz="2400" b="0" i="0" u="none" strike="noStrike" baseline="0" dirty="0">
                    <a:solidFill>
                      <a:srgbClr val="000000"/>
                    </a:solidFill>
                    <a:latin typeface="Courier New" panose="02070309020205020404" pitchFamily="49" charset="0"/>
                  </a:rPr>
                  <a:t>(temp)&lt;=</a:t>
                </a:r>
                <a:r>
                  <a:rPr lang="en-US" altLang="zh-CN" sz="2400" kern="100" dirty="0">
                    <a:ea typeface="Cambria Math" panose="02040503050406030204" pitchFamily="18" charset="0"/>
                    <a:cs typeface="Times New Roman" panose="02020603050405020304" pitchFamily="18" charset="0"/>
                  </a:rPr>
                  <a:t> </a:t>
                </a:r>
                <a14:m>
                  <m:oMath xmlns:m="http://schemas.openxmlformats.org/officeDocument/2006/math">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𝑓</m:t>
                    </m:r>
                  </m:oMath>
                </a14:m>
                <a:r>
                  <a:rPr lang="en-US" altLang="zh-CN" sz="2400" b="0" i="0" u="none" strike="noStrike" baseline="0" dirty="0">
                    <a:solidFill>
                      <a:srgbClr val="000000"/>
                    </a:solidFill>
                    <a:latin typeface="Courier New" panose="02070309020205020404" pitchFamily="49" charset="0"/>
                  </a:rPr>
                  <a:t>(</a:t>
                </a:r>
                <a:r>
                  <a:rPr lang="en-US" altLang="zh-CN" sz="2400" b="0" i="0" u="none" strike="noStrike" baseline="0" dirty="0" err="1">
                    <a:solidFill>
                      <a:srgbClr val="000000"/>
                    </a:solidFill>
                    <a:latin typeface="Courier New" panose="02070309020205020404" pitchFamily="49" charset="0"/>
                  </a:rPr>
                  <a:t>xt</a:t>
                </a:r>
                <a:r>
                  <a:rPr lang="en-US" altLang="zh-CN" sz="2400" b="0" i="0" u="none" strike="noStrike" baseline="0" dirty="0">
                    <a:solidFill>
                      <a:srgbClr val="000000"/>
                    </a:solidFill>
                    <a:latin typeface="Courier New" panose="02070309020205020404" pitchFamily="49" charset="0"/>
                  </a:rPr>
                  <a:t>)</a:t>
                </a:r>
              </a:p>
              <a:p>
                <a:r>
                  <a:rPr lang="en-US" altLang="zh-CN" sz="2400" b="0" i="0" u="none" strike="noStrike" baseline="0" dirty="0">
                    <a:solidFill>
                      <a:srgbClr val="000000"/>
                    </a:solidFill>
                    <a:latin typeface="Courier New" panose="02070309020205020404" pitchFamily="49" charset="0"/>
                  </a:rPr>
                  <a:t>            a = </a:t>
                </a:r>
                <a:r>
                  <a:rPr lang="en-US" altLang="zh-CN" sz="2400" b="0" i="0" u="none" strike="noStrike" baseline="0" dirty="0" err="1">
                    <a:solidFill>
                      <a:srgbClr val="000000"/>
                    </a:solidFill>
                    <a:latin typeface="Courier New" panose="02070309020205020404" pitchFamily="49" charset="0"/>
                  </a:rPr>
                  <a:t>xt</a:t>
                </a:r>
                <a:r>
                  <a:rPr lang="en-US" altLang="zh-CN" sz="2400" b="0" i="0" u="none" strike="noStrike" baseline="0" dirty="0">
                    <a:solidFill>
                      <a:srgbClr val="000000"/>
                    </a:solidFill>
                    <a:latin typeface="Courier New" panose="02070309020205020404" pitchFamily="49" charset="0"/>
                  </a:rPr>
                  <a:t>;</a:t>
                </a:r>
              </a:p>
              <a:p>
                <a:r>
                  <a:rPr lang="en-US" altLang="zh-CN" sz="2400" b="0" i="0" u="none" strike="noStrike" baseline="0" dirty="0">
                    <a:solidFill>
                      <a:srgbClr val="000000"/>
                    </a:solidFill>
                    <a:latin typeface="Courier New" panose="02070309020205020404" pitchFamily="49" charset="0"/>
                  </a:rPr>
                  <a:t>        </a:t>
                </a:r>
                <a:r>
                  <a:rPr lang="en-US" altLang="zh-CN" sz="2400" b="0" i="0" u="none" strike="noStrike" baseline="0" dirty="0">
                    <a:solidFill>
                      <a:srgbClr val="0000FF"/>
                    </a:solidFill>
                    <a:latin typeface="Courier New" panose="02070309020205020404" pitchFamily="49" charset="0"/>
                  </a:rPr>
                  <a:t>else</a:t>
                </a:r>
              </a:p>
              <a:p>
                <a:r>
                  <a:rPr lang="en-US" altLang="zh-CN" sz="2400" b="0" i="0" u="none" strike="noStrike" baseline="0" dirty="0">
                    <a:solidFill>
                      <a:srgbClr val="000000"/>
                    </a:solidFill>
                    <a:latin typeface="Courier New" panose="02070309020205020404" pitchFamily="49" charset="0"/>
                  </a:rPr>
                  <a:t>            b = temp;</a:t>
                </a:r>
              </a:p>
              <a:p>
                <a:r>
                  <a:rPr lang="en-US" altLang="zh-CN" sz="2400" b="0" i="0" u="none" strike="noStrike" baseline="0" dirty="0">
                    <a:solidFill>
                      <a:srgbClr val="000000"/>
                    </a:solidFill>
                    <a:latin typeface="Courier New" panose="02070309020205020404" pitchFamily="49" charset="0"/>
                  </a:rPr>
                  <a:t>        </a:t>
                </a:r>
                <a:r>
                  <a:rPr lang="en-US" altLang="zh-CN" sz="2400" b="0" i="0" u="none" strike="noStrike" baseline="0" dirty="0">
                    <a:solidFill>
                      <a:srgbClr val="0000FF"/>
                    </a:solidFill>
                    <a:latin typeface="Courier New" panose="02070309020205020404" pitchFamily="49" charset="0"/>
                  </a:rPr>
                  <a:t>end</a:t>
                </a:r>
              </a:p>
              <a:p>
                <a:r>
                  <a:rPr lang="zh-CN" altLang="en-US" sz="2400" b="0" i="0" u="none" strike="noStrike" baseline="0" dirty="0">
                    <a:solidFill>
                      <a:srgbClr val="000000"/>
                    </a:solidFill>
                    <a:latin typeface="Courier New" panose="02070309020205020404" pitchFamily="49" charset="0"/>
                  </a:rPr>
                  <a:t>        </a:t>
                </a:r>
              </a:p>
              <a:p>
                <a:r>
                  <a:rPr lang="en-US" altLang="zh-CN" sz="2400" b="0" i="0" u="none" strike="noStrike" baseline="0" dirty="0">
                    <a:solidFill>
                      <a:srgbClr val="0000FF"/>
                    </a:solidFill>
                    <a:latin typeface="Courier New" panose="02070309020205020404" pitchFamily="49" charset="0"/>
                  </a:rPr>
                  <a:t>function</a:t>
                </a:r>
                <a:r>
                  <a:rPr lang="en-US" altLang="zh-CN" sz="2400" b="0" i="0" u="none" strike="noStrike" baseline="0" dirty="0">
                    <a:solidFill>
                      <a:srgbClr val="000000"/>
                    </a:solidFill>
                    <a:latin typeface="Courier New" panose="02070309020205020404" pitchFamily="49" charset="0"/>
                  </a:rPr>
                  <a:t> [</a:t>
                </a:r>
                <a:r>
                  <a:rPr lang="en-US" altLang="zh-CN" sz="2400" b="0" i="0" u="none" strike="noStrike" baseline="0" dirty="0" err="1">
                    <a:solidFill>
                      <a:srgbClr val="000000"/>
                    </a:solidFill>
                    <a:latin typeface="Courier New" panose="02070309020205020404" pitchFamily="49" charset="0"/>
                  </a:rPr>
                  <a:t>a,b</a:t>
                </a:r>
                <a:r>
                  <a:rPr lang="en-US" altLang="zh-CN" sz="2400" b="0" i="0" u="none" strike="noStrike" baseline="0" dirty="0">
                    <a:solidFill>
                      <a:srgbClr val="000000"/>
                    </a:solidFill>
                    <a:latin typeface="Courier New" panose="02070309020205020404" pitchFamily="49" charset="0"/>
                  </a:rPr>
                  <a:t>]= interp2(</a:t>
                </a:r>
                <a:r>
                  <a:rPr lang="en-US" altLang="zh-CN" sz="2400" b="0" i="0" u="none" strike="noStrike" baseline="0" dirty="0" err="1">
                    <a:solidFill>
                      <a:srgbClr val="000000"/>
                    </a:solidFill>
                    <a:latin typeface="Courier New" panose="02070309020205020404" pitchFamily="49" charset="0"/>
                  </a:rPr>
                  <a:t>a,xt,b</a:t>
                </a:r>
                <a:r>
                  <a:rPr lang="en-US" altLang="zh-CN" sz="2400" b="0" i="0" u="none" strike="noStrike" baseline="0" dirty="0">
                    <a:solidFill>
                      <a:srgbClr val="000000"/>
                    </a:solidFill>
                    <a:latin typeface="Courier New" panose="02070309020205020404" pitchFamily="49" charset="0"/>
                  </a:rPr>
                  <a:t>,</a:t>
                </a:r>
                <a:r>
                  <a:rPr lang="en-US" altLang="zh-CN" sz="2400" b="0" kern="100" dirty="0">
                    <a:ea typeface="Cambria Math" panose="02040503050406030204" pitchFamily="18" charset="0"/>
                    <a:cs typeface="Times New Roman" panose="02020603050405020304" pitchFamily="18" charset="0"/>
                  </a:rPr>
                  <a:t> </a:t>
                </a:r>
                <a14:m>
                  <m:oMath xmlns:m="http://schemas.openxmlformats.org/officeDocument/2006/math">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𝑓</m:t>
                    </m:r>
                  </m:oMath>
                </a14:m>
                <a:r>
                  <a:rPr lang="en-US" altLang="zh-CN" sz="2400" b="0" i="0" u="none" strike="noStrike" baseline="0" dirty="0">
                    <a:solidFill>
                      <a:srgbClr val="000000"/>
                    </a:solidFill>
                    <a:latin typeface="Courier New" panose="02070309020205020404" pitchFamily="49" charset="0"/>
                  </a:rPr>
                  <a:t>)</a:t>
                </a:r>
              </a:p>
              <a:p>
                <a:r>
                  <a:rPr lang="en-US" altLang="zh-CN" sz="2400" b="0" i="0" u="none" strike="noStrike" baseline="0" dirty="0">
                    <a:solidFill>
                      <a:srgbClr val="000000"/>
                    </a:solidFill>
                    <a:latin typeface="Courier New" panose="02070309020205020404" pitchFamily="49" charset="0"/>
                  </a:rPr>
                  <a:t>        temp = 0.5*(</a:t>
                </a:r>
                <a:r>
                  <a:rPr lang="en-US" altLang="zh-CN" sz="2400" b="0" i="0" u="none" strike="noStrike" baseline="0" dirty="0" err="1">
                    <a:solidFill>
                      <a:srgbClr val="000000"/>
                    </a:solidFill>
                    <a:latin typeface="Courier New" panose="02070309020205020404" pitchFamily="49" charset="0"/>
                  </a:rPr>
                  <a:t>xt+a</a:t>
                </a:r>
                <a:r>
                  <a:rPr lang="en-US" altLang="zh-CN" sz="2400" b="0" i="0" u="none" strike="noStrike" baseline="0" dirty="0">
                    <a:solidFill>
                      <a:srgbClr val="000000"/>
                    </a:solidFill>
                    <a:latin typeface="Courier New" panose="02070309020205020404" pitchFamily="49" charset="0"/>
                  </a:rPr>
                  <a:t>);</a:t>
                </a:r>
              </a:p>
              <a:p>
                <a:r>
                  <a:rPr lang="en-US" altLang="zh-CN" sz="2400" b="0" i="0" u="none" strike="noStrike" baseline="0" dirty="0">
                    <a:solidFill>
                      <a:srgbClr val="000000"/>
                    </a:solidFill>
                    <a:latin typeface="Courier New" panose="02070309020205020404" pitchFamily="49" charset="0"/>
                  </a:rPr>
                  <a:t>        </a:t>
                </a:r>
                <a:r>
                  <a:rPr lang="en-US" altLang="zh-CN" sz="2400" b="0" i="0" u="none" strike="noStrike" baseline="0" dirty="0">
                    <a:solidFill>
                      <a:srgbClr val="0000FF"/>
                    </a:solidFill>
                    <a:latin typeface="Courier New" panose="02070309020205020404" pitchFamily="49" charset="0"/>
                  </a:rPr>
                  <a:t>if</a:t>
                </a:r>
                <a:r>
                  <a:rPr lang="en-US" altLang="zh-CN" sz="2400" b="0" i="0" u="none" strike="noStrike" baseline="0" dirty="0">
                    <a:solidFill>
                      <a:srgbClr val="000000"/>
                    </a:solidFill>
                    <a:latin typeface="Courier New" panose="02070309020205020404" pitchFamily="49" charset="0"/>
                  </a:rPr>
                  <a:t> </a:t>
                </a:r>
                <a14:m>
                  <m:oMath xmlns:m="http://schemas.openxmlformats.org/officeDocument/2006/math">
                    <m:r>
                      <a:rPr lang="en-US" altLang="zh-CN" sz="2400" b="0" i="1" kern="100" smtClean="0">
                        <a:latin typeface="Cambria Math" panose="02040503050406030204" pitchFamily="18" charset="0"/>
                        <a:ea typeface="Cambria Math" panose="02040503050406030204" pitchFamily="18" charset="0"/>
                        <a:cs typeface="Times New Roman" panose="02020603050405020304" pitchFamily="18" charset="0"/>
                      </a:rPr>
                      <m:t>𝑓</m:t>
                    </m:r>
                  </m:oMath>
                </a14:m>
                <a:r>
                  <a:rPr lang="en-US" altLang="zh-CN" sz="2400" b="0" i="0" u="none" strike="noStrike" baseline="0" dirty="0">
                    <a:solidFill>
                      <a:srgbClr val="000000"/>
                    </a:solidFill>
                    <a:latin typeface="Courier New" panose="02070309020205020404" pitchFamily="49" charset="0"/>
                  </a:rPr>
                  <a:t>(temp)&lt;=</a:t>
                </a:r>
                <a:r>
                  <a:rPr lang="en-US" altLang="zh-CN" sz="2400" kern="100" dirty="0">
                    <a:ea typeface="Cambria Math" panose="02040503050406030204" pitchFamily="18" charset="0"/>
                    <a:cs typeface="Times New Roman" panose="02020603050405020304" pitchFamily="18" charset="0"/>
                  </a:rPr>
                  <a:t> </a:t>
                </a:r>
                <a14:m>
                  <m:oMath xmlns:m="http://schemas.openxmlformats.org/officeDocument/2006/math">
                    <m:r>
                      <a:rPr lang="en-US" altLang="zh-CN" sz="2400" i="1" kern="100">
                        <a:latin typeface="Cambria Math" panose="02040503050406030204" pitchFamily="18" charset="0"/>
                        <a:ea typeface="Cambria Math" panose="02040503050406030204" pitchFamily="18" charset="0"/>
                        <a:cs typeface="Times New Roman" panose="02020603050405020304" pitchFamily="18" charset="0"/>
                      </a:rPr>
                      <m:t>𝑓</m:t>
                    </m:r>
                  </m:oMath>
                </a14:m>
                <a:r>
                  <a:rPr lang="en-US" altLang="zh-CN" sz="2400" b="0" i="0" u="none" strike="noStrike" baseline="0" dirty="0">
                    <a:solidFill>
                      <a:srgbClr val="000000"/>
                    </a:solidFill>
                    <a:latin typeface="Courier New" panose="02070309020205020404" pitchFamily="49" charset="0"/>
                  </a:rPr>
                  <a:t>(</a:t>
                </a:r>
                <a:r>
                  <a:rPr lang="en-US" altLang="zh-CN" sz="2400" b="0" i="0" u="none" strike="noStrike" baseline="0" dirty="0" err="1">
                    <a:solidFill>
                      <a:srgbClr val="000000"/>
                    </a:solidFill>
                    <a:latin typeface="Courier New" panose="02070309020205020404" pitchFamily="49" charset="0"/>
                  </a:rPr>
                  <a:t>xt</a:t>
                </a:r>
                <a:r>
                  <a:rPr lang="en-US" altLang="zh-CN" sz="2400" b="0" i="0" u="none" strike="noStrike" baseline="0" dirty="0">
                    <a:solidFill>
                      <a:srgbClr val="000000"/>
                    </a:solidFill>
                    <a:latin typeface="Courier New" panose="02070309020205020404" pitchFamily="49" charset="0"/>
                  </a:rPr>
                  <a:t>)</a:t>
                </a:r>
              </a:p>
              <a:p>
                <a:r>
                  <a:rPr lang="en-US" altLang="zh-CN" sz="2400" b="0" i="0" u="none" strike="noStrike" baseline="0" dirty="0">
                    <a:solidFill>
                      <a:srgbClr val="000000"/>
                    </a:solidFill>
                    <a:latin typeface="Courier New" panose="02070309020205020404" pitchFamily="49" charset="0"/>
                  </a:rPr>
                  <a:t>            b = </a:t>
                </a:r>
                <a:r>
                  <a:rPr lang="en-US" altLang="zh-CN" sz="2400" b="0" i="0" u="none" strike="noStrike" baseline="0" dirty="0" err="1">
                    <a:solidFill>
                      <a:srgbClr val="000000"/>
                    </a:solidFill>
                    <a:latin typeface="Courier New" panose="02070309020205020404" pitchFamily="49" charset="0"/>
                  </a:rPr>
                  <a:t>xt</a:t>
                </a:r>
                <a:r>
                  <a:rPr lang="en-US" altLang="zh-CN" sz="2400" b="0" i="0" u="none" strike="noStrike" baseline="0" dirty="0">
                    <a:solidFill>
                      <a:srgbClr val="000000"/>
                    </a:solidFill>
                    <a:latin typeface="Courier New" panose="02070309020205020404" pitchFamily="49" charset="0"/>
                  </a:rPr>
                  <a:t>;</a:t>
                </a:r>
              </a:p>
              <a:p>
                <a:r>
                  <a:rPr lang="en-US" altLang="zh-CN" sz="2400" b="0" i="0" u="none" strike="noStrike" baseline="0" dirty="0">
                    <a:solidFill>
                      <a:srgbClr val="000000"/>
                    </a:solidFill>
                    <a:latin typeface="Courier New" panose="02070309020205020404" pitchFamily="49" charset="0"/>
                  </a:rPr>
                  <a:t>        </a:t>
                </a:r>
                <a:r>
                  <a:rPr lang="en-US" altLang="zh-CN" sz="2400" b="0" i="0" u="none" strike="noStrike" baseline="0" dirty="0">
                    <a:solidFill>
                      <a:srgbClr val="0000FF"/>
                    </a:solidFill>
                    <a:latin typeface="Courier New" panose="02070309020205020404" pitchFamily="49" charset="0"/>
                  </a:rPr>
                  <a:t>else</a:t>
                </a:r>
              </a:p>
              <a:p>
                <a:r>
                  <a:rPr lang="en-US" altLang="zh-CN" sz="2400" b="0" i="0" u="none" strike="noStrike" baseline="0" dirty="0">
                    <a:solidFill>
                      <a:srgbClr val="000000"/>
                    </a:solidFill>
                    <a:latin typeface="Courier New" panose="02070309020205020404" pitchFamily="49" charset="0"/>
                  </a:rPr>
                  <a:t>            a = temp;</a:t>
                </a:r>
              </a:p>
              <a:p>
                <a:r>
                  <a:rPr lang="en-US" altLang="zh-CN" sz="2400" b="0" i="0" u="none" strike="noStrike" baseline="0" dirty="0">
                    <a:solidFill>
                      <a:srgbClr val="000000"/>
                    </a:solidFill>
                    <a:latin typeface="Courier New" panose="02070309020205020404" pitchFamily="49" charset="0"/>
                  </a:rPr>
                  <a:t>        </a:t>
                </a:r>
                <a:r>
                  <a:rPr lang="en-US" altLang="zh-CN" sz="2400" b="0" i="0" u="none" strike="noStrike" baseline="0" dirty="0">
                    <a:solidFill>
                      <a:srgbClr val="0000FF"/>
                    </a:solidFill>
                    <a:latin typeface="Courier New" panose="02070309020205020404" pitchFamily="49" charset="0"/>
                  </a:rPr>
                  <a:t>end</a:t>
                </a:r>
              </a:p>
            </p:txBody>
          </p:sp>
        </mc:Choice>
        <mc:Fallback xmlns="">
          <p:sp>
            <p:nvSpPr>
              <p:cNvPr id="4" name="文本框 3"/>
              <p:cNvSpPr txBox="1">
                <a:spLocks noRot="1" noChangeAspect="1" noMove="1" noResize="1" noEditPoints="1" noAdjustHandles="1" noChangeArrowheads="1" noChangeShapeType="1" noTextEdit="1"/>
              </p:cNvSpPr>
              <p:nvPr/>
            </p:nvSpPr>
            <p:spPr>
              <a:xfrm>
                <a:off x="2063552" y="612844"/>
                <a:ext cx="7416824" cy="5632311"/>
              </a:xfrm>
              <a:prstGeom prst="rect">
                <a:avLst/>
              </a:prstGeom>
              <a:blipFill>
                <a:blip r:embed="rId2"/>
                <a:stretch>
                  <a:fillRect l="-1316" t="-758" b="-1625"/>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23082277-8D4A-BA5F-D2D9-30C4E12E5746}"/>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85380A7A-7157-2317-07E2-DF2EBCC060B4}"/>
                  </a:ext>
                </a:extLst>
              </p:cNvPr>
              <p:cNvSpPr txBox="1"/>
              <p:nvPr/>
            </p:nvSpPr>
            <p:spPr>
              <a:xfrm>
                <a:off x="695400" y="-5738"/>
                <a:ext cx="10369152" cy="6863738"/>
              </a:xfrm>
              <a:prstGeom prst="rect">
                <a:avLst/>
              </a:prstGeom>
              <a:noFill/>
            </p:spPr>
            <p:txBody>
              <a:bodyPr wrap="square">
                <a:spAutoFit/>
              </a:bodyPr>
              <a:lstStyle/>
              <a:p>
                <a:pPr indent="266700" algn="just">
                  <a:lnSpc>
                    <a:spcPct val="130000"/>
                  </a:lnSpc>
                </a:pPr>
                <a:r>
                  <a:rPr lang="zh-CN" altLang="zh-CN" sz="2400" b="1" kern="100" dirty="0">
                    <a:solidFill>
                      <a:schemeClr val="accent1"/>
                    </a:solidFill>
                    <a:effectLst/>
                    <a:latin typeface="等线" panose="02010600030101010101" pitchFamily="2" charset="-122"/>
                    <a:ea typeface="宋体" panose="02010600030101010101" pitchFamily="2" charset="-122"/>
                    <a:cs typeface="Times New Roman" panose="02020603050405020304" pitchFamily="18" charset="0"/>
                  </a:rPr>
                  <a:t>例</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 </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用外推内插法确定一维最小化问题</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30000"/>
                  </a:lnSpc>
                </a:pPr>
                <a14:m>
                  <m:oMathPara xmlns:m="http://schemas.openxmlformats.org/officeDocument/2006/math">
                    <m:oMathParaPr>
                      <m:jc m:val="centerGroup"/>
                    </m:oMathParaPr>
                    <m:oMath xmlns:m="http://schemas.openxmlformats.org/officeDocument/2006/math">
                      <m:func>
                        <m:func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uncPr>
                        <m:fName>
                          <m:limLow>
                            <m:limLow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limLowPr>
                            <m:e>
                              <m:r>
                                <m:rPr>
                                  <m:sty m:val="p"/>
                                </m:rP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min</m:t>
                              </m:r>
                            </m:e>
                            <m:lim>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≥0</m:t>
                              </m:r>
                            </m:lim>
                          </m:limLow>
                        </m:fName>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d>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sSup>
                            <m:sSup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p>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3</m:t>
                              </m:r>
                            </m:sup>
                          </m:sSup>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e>
                      </m:func>
                    </m:oMath>
                  </m:oMathPara>
                </a14:m>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lvl="1" indent="266700" algn="just">
                  <a:lnSpc>
                    <a:spcPct val="130000"/>
                  </a:lnSpc>
                </a:pP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的搜索区间，要求选取</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h</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=1</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，步长加步倍数为</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2</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a:t>
                </a:r>
                <a:endParaRPr lang="en-US" altLang="zh-CN" sz="2400" kern="100" dirty="0">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30000"/>
                  </a:lnSpc>
                </a:pPr>
                <a:r>
                  <a:rPr lang="zh-CN" altLang="zh-CN" sz="2400" b="1" kern="100" dirty="0">
                    <a:solidFill>
                      <a:schemeClr val="accent1"/>
                    </a:solidFill>
                    <a:effectLst/>
                    <a:latin typeface="等线" panose="02010600030101010101" pitchFamily="2" charset="-122"/>
                    <a:ea typeface="宋体" panose="02010600030101010101" pitchFamily="2" charset="-122"/>
                    <a:cs typeface="Times New Roman" panose="02020603050405020304" pitchFamily="18" charset="0"/>
                  </a:rPr>
                  <a:t>解</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 </a:t>
                </a:r>
                <a:r>
                  <a:rPr lang="en-US" altLang="zh-CN" sz="2400" kern="100" dirty="0">
                    <a:effectLst/>
                    <a:latin typeface="等线" panose="02010600030101010101" pitchFamily="2" charset="-122"/>
                    <a:ea typeface="宋体" panose="02010600030101010101" pitchFamily="2" charset="-122"/>
                    <a:cs typeface="Times New Roman" panose="02020603050405020304" pitchFamily="18" charset="0"/>
                  </a:rPr>
                  <a:t> </a:t>
                </a: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取</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，令</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h</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=1</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，计算函数值并作比较</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lvl="1" indent="266700" algn="just">
                  <a:lnSpc>
                    <a:spcPct val="130000"/>
                  </a:lnSpc>
                </a:pPr>
                <a14:m>
                  <m:oMathPara xmlns:m="http://schemas.openxmlformats.org/officeDocument/2006/math">
                    <m:oMathParaPr>
                      <m:jc m:val="centerGroup"/>
                    </m:oMathParaPr>
                    <m:oMath xmlns:m="http://schemas.openxmlformats.org/officeDocument/2006/math">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=0&lt;</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1</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=1</m:t>
                      </m:r>
                    </m:oMath>
                  </m:oMathPara>
                </a14:m>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lvl="1" indent="266700" algn="just">
                  <a:lnSpc>
                    <a:spcPct val="130000"/>
                  </a:lnSpc>
                </a:pP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说明走的方向正确；取</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3</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h</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=3</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，计算并比较</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lvl="1" indent="266700" algn="just">
                  <a:lnSpc>
                    <a:spcPct val="130000"/>
                  </a:lnSpc>
                </a:pPr>
                <a14:m>
                  <m:oMathPara xmlns:m="http://schemas.openxmlformats.org/officeDocument/2006/math">
                    <m:oMathParaPr>
                      <m:jc m:val="centerGroup"/>
                    </m:oMathParaPr>
                    <m:oMath xmlns:m="http://schemas.openxmlformats.org/officeDocument/2006/math">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3</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=22&gt;</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=0</m:t>
                      </m:r>
                    </m:oMath>
                  </m:oMathPara>
                </a14:m>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lvl="1" indent="266700" algn="just">
                  <a:lnSpc>
                    <a:spcPct val="130000"/>
                  </a:lnSpc>
                </a:pP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找到了满足“两头大中间小”的三点</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oMath>
                </a14:m>
                <a:r>
                  <a:rPr lang="en-US" altLang="zh-CN" sz="2400" kern="100" dirty="0">
                    <a:effectLst/>
                    <a:latin typeface="宋体" panose="02010600030101010101" pitchFamily="2" charset="-122"/>
                    <a:ea typeface="等线" panose="02010600030101010101" pitchFamily="2" charset="-122"/>
                    <a:cs typeface="Times New Roman" panose="02020603050405020304" pitchFamily="18" charset="0"/>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723900" lvl="1" indent="266700" algn="just">
                  <a:lnSpc>
                    <a:spcPct val="130000"/>
                  </a:lnSpc>
                </a:pP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然后，在</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和</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3</m:t>
                        </m:r>
                      </m:sub>
                    </m:sSub>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之间插入</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4</m:t>
                        </m:r>
                      </m:sub>
                    </m:sSub>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723900" lvl="1" indent="266700" algn="just">
                  <a:lnSpc>
                    <a:spcPct val="130000"/>
                  </a:lnSpc>
                </a:pPr>
                <a14:m>
                  <m:oMathPara xmlns:m="http://schemas.openxmlformats.org/officeDocument/2006/math">
                    <m:oMathParaPr>
                      <m:jc m:val="centerGroup"/>
                    </m:oMathParaPr>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4</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den>
                      </m:f>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3</m:t>
                              </m:r>
                            </m:sub>
                          </m:sSub>
                        </m:e>
                      </m:d>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oMath>
                  </m:oMathPara>
                </a14:m>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lvl="1" indent="266700" algn="just">
                  <a:lnSpc>
                    <a:spcPct val="130000"/>
                  </a:lnSpc>
                </a:pP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计算并比较</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lvl="1" algn="just">
                  <a:lnSpc>
                    <a:spcPct val="130000"/>
                  </a:lnSpc>
                </a:pPr>
                <a14:m>
                  <m:oMathPara xmlns:m="http://schemas.openxmlformats.org/officeDocument/2006/math">
                    <m:oMathParaPr>
                      <m:jc m:val="centerGroup"/>
                    </m:oMathParaPr>
                    <m:oMath xmlns:m="http://schemas.openxmlformats.org/officeDocument/2006/math">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4</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=5&gt;</m:t>
                      </m:r>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solidFill>
                                    <a:srgbClr val="FF0000"/>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400" i="1" kern="100">
                          <a:solidFill>
                            <a:srgbClr val="FF0000"/>
                          </a:solidFill>
                          <a:effectLst/>
                          <a:latin typeface="Cambria Math" panose="02040503050406030204" pitchFamily="18" charset="0"/>
                          <a:ea typeface="宋体" panose="02010600030101010101" pitchFamily="2" charset="-122"/>
                          <a:cs typeface="Times New Roman" panose="02020603050405020304" pitchFamily="18" charset="0"/>
                        </a:rPr>
                        <m:t>=0</m:t>
                      </m:r>
                    </m:oMath>
                  </m:oMathPara>
                </a14:m>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lvl="1" indent="266700" algn="just">
                  <a:lnSpc>
                    <a:spcPct val="130000"/>
                  </a:lnSpc>
                </a:pPr>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可见</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𝑓</m:t>
                    </m:r>
                    <m:d>
                      <m:d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=0</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为最小值，因此</a:t>
                </a:r>
                <a14:m>
                  <m:oMath xmlns:m="http://schemas.openxmlformats.org/officeDocument/2006/math">
                    <m:d>
                      <m:dPr>
                        <m:begChr m:val="["/>
                        <m:endChr m:val="]"/>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𝑥</m:t>
                            </m:r>
                          </m:e>
                          <m:sub>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4</m:t>
                            </m:r>
                          </m:sub>
                        </m:sSub>
                      </m:e>
                    </m:d>
                    <m:r>
                      <a:rPr lang="en-US" altLang="zh-CN" sz="2400" i="1" kern="100">
                        <a:effectLst/>
                        <a:latin typeface="Cambria Math" panose="02040503050406030204" pitchFamily="18" charset="0"/>
                        <a:ea typeface="宋体" panose="02010600030101010101" pitchFamily="2" charset="-122"/>
                        <a:cs typeface="Times New Roman" panose="02020603050405020304" pitchFamily="18" charset="0"/>
                      </a:rPr>
                      <m:t>=[0,2]</m:t>
                    </m:r>
                  </m:oMath>
                </a14:m>
                <a:r>
                  <a:rPr lang="zh-CN" altLang="zh-CN" sz="2400" kern="100" dirty="0">
                    <a:effectLst/>
                    <a:latin typeface="等线" panose="02010600030101010101" pitchFamily="2" charset="-122"/>
                    <a:ea typeface="宋体" panose="02010600030101010101" pitchFamily="2" charset="-122"/>
                    <a:cs typeface="Times New Roman" panose="02020603050405020304" pitchFamily="18" charset="0"/>
                  </a:rPr>
                  <a:t>为所求搜索区间。</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85380A7A-7157-2317-07E2-DF2EBCC060B4}"/>
                  </a:ext>
                </a:extLst>
              </p:cNvPr>
              <p:cNvSpPr txBox="1">
                <a:spLocks noRot="1" noChangeAspect="1" noMove="1" noResize="1" noEditPoints="1" noAdjustHandles="1" noChangeArrowheads="1" noChangeShapeType="1" noTextEdit="1"/>
              </p:cNvSpPr>
              <p:nvPr/>
            </p:nvSpPr>
            <p:spPr>
              <a:xfrm>
                <a:off x="695400" y="-5738"/>
                <a:ext cx="10369152" cy="6863738"/>
              </a:xfrm>
              <a:prstGeom prst="rect">
                <a:avLst/>
              </a:prstGeom>
              <a:blipFill>
                <a:blip r:embed="rId2"/>
                <a:stretch>
                  <a:fillRect t="-89" b="-710"/>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18DD7B32-0DB6-3F6E-547F-3AD06CF840F5}"/>
              </a:ext>
            </a:extLst>
          </p:cNvPr>
          <p:cNvSpPr txBox="1"/>
          <p:nvPr/>
        </p:nvSpPr>
        <p:spPr>
          <a:xfrm>
            <a:off x="608400" y="6273839"/>
            <a:ext cx="6094520" cy="461665"/>
          </a:xfrm>
          <a:prstGeom prst="rect">
            <a:avLst/>
          </a:prstGeom>
          <a:noFill/>
        </p:spPr>
        <p:txBody>
          <a:bodyPr wrap="square">
            <a:spAutoFit/>
          </a:bodyPr>
          <a:lstStyle/>
          <a:p>
            <a:r>
              <a:rPr lang="en-US" altLang="zh-CN" sz="2400" dirty="0">
                <a:solidFill>
                  <a:schemeClr val="bg1">
                    <a:lumMod val="65000"/>
                  </a:schemeClr>
                </a:solidFill>
              </a:rPr>
              <a:t>SCUTHANLE</a:t>
            </a:r>
            <a:endParaRPr lang="zh-CN" altLang="en-US" sz="2400" dirty="0">
              <a:solidFill>
                <a:schemeClr val="bg1">
                  <a:lumMod val="65000"/>
                </a:schemeClr>
              </a:solidFill>
            </a:endParaRPr>
          </a:p>
        </p:txBody>
      </p:sp>
    </p:spTree>
    <p:extLst>
      <p:ext uri="{BB962C8B-B14F-4D97-AF65-F5344CB8AC3E}">
        <p14:creationId xmlns:p14="http://schemas.microsoft.com/office/powerpoint/2010/main" val="2059628"/>
      </p:ext>
    </p:extLst>
  </p:cSld>
  <p:clrMapOvr>
    <a:masterClrMapping/>
  </p:clrMapOvr>
  <p:transition>
    <p:rand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3392" y="548680"/>
            <a:ext cx="6872140" cy="584775"/>
          </a:xfrm>
          <a:prstGeom prst="rect">
            <a:avLst/>
          </a:prstGeom>
          <a:noFill/>
        </p:spPr>
        <p:txBody>
          <a:bodyPr wrap="square">
            <a:spAutoFit/>
          </a:bodyPr>
          <a:lstStyle/>
          <a:p>
            <a:pPr algn="just">
              <a:spcBef>
                <a:spcPts val="600"/>
              </a:spcBef>
              <a:spcAft>
                <a:spcPts val="600"/>
              </a:spcAft>
            </a:pPr>
            <a:r>
              <a:rPr lang="zh-CN" altLang="en-US" sz="3200" kern="100" dirty="0">
                <a:latin typeface="Times New Roman" panose="02020603050405020304" pitchFamily="18" charset="0"/>
                <a:ea typeface="黑体" panose="02010609060101010101" pitchFamily="49" charset="-122"/>
              </a:rPr>
              <a:t>三、小结</a:t>
            </a:r>
            <a:endParaRPr lang="zh-CN" altLang="zh-CN" sz="3200" kern="100" dirty="0">
              <a:effectLst/>
              <a:latin typeface="Times New Roman" panose="02020603050405020304" pitchFamily="18" charset="0"/>
              <a:ea typeface="宋体" panose="02010600030101010101" pitchFamily="2" charset="-122"/>
            </a:endParaRPr>
          </a:p>
        </p:txBody>
      </p:sp>
      <p:sp>
        <p:nvSpPr>
          <p:cNvPr id="6" name="文本框 5"/>
          <p:cNvSpPr txBox="1"/>
          <p:nvPr/>
        </p:nvSpPr>
        <p:spPr>
          <a:xfrm>
            <a:off x="1199456" y="1916832"/>
            <a:ext cx="10081120" cy="3222998"/>
          </a:xfrm>
          <a:prstGeom prst="rect">
            <a:avLst/>
          </a:prstGeom>
          <a:noFill/>
        </p:spPr>
        <p:txBody>
          <a:bodyPr wrap="square" rtlCol="0">
            <a:spAutoFit/>
          </a:bodyPr>
          <a:lstStyle/>
          <a:p>
            <a:pPr marL="457200" indent="-457200" fontAlgn="auto">
              <a:lnSpc>
                <a:spcPct val="150000"/>
              </a:lnSpc>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cs typeface="宋体" panose="02010600030101010101" pitchFamily="2" charset="-122"/>
              </a:rPr>
              <a:t>外推内插法实际上分为外推和内插两个阶段</a:t>
            </a:r>
            <a:endParaRPr lang="en-US" altLang="zh-CN" sz="2800" dirty="0">
              <a:latin typeface="宋体" panose="02010600030101010101" pitchFamily="2" charset="-122"/>
              <a:ea typeface="宋体" panose="02010600030101010101" pitchFamily="2" charset="-122"/>
              <a:cs typeface="宋体" panose="02010600030101010101" pitchFamily="2" charset="-122"/>
            </a:endParaRPr>
          </a:p>
          <a:p>
            <a:pPr marL="457200" indent="-457200" fontAlgn="auto">
              <a:lnSpc>
                <a:spcPct val="150000"/>
              </a:lnSpc>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cs typeface="宋体" panose="02010600030101010101" pitchFamily="2" charset="-122"/>
              </a:rPr>
              <a:t>外推内插法产生的区间让函数值呈现“高</a:t>
            </a:r>
            <a:r>
              <a:rPr lang="en-US" altLang="zh-CN" sz="2800" dirty="0">
                <a:latin typeface="宋体" panose="02010600030101010101" pitchFamily="2" charset="-122"/>
                <a:ea typeface="宋体" panose="02010600030101010101" pitchFamily="2" charset="-122"/>
                <a:cs typeface="宋体" panose="02010600030101010101" pitchFamily="2" charset="-122"/>
              </a:rPr>
              <a:t>—</a:t>
            </a:r>
            <a:r>
              <a:rPr lang="zh-CN" altLang="en-US" sz="2800" dirty="0">
                <a:latin typeface="宋体" panose="02010600030101010101" pitchFamily="2" charset="-122"/>
                <a:ea typeface="宋体" panose="02010600030101010101" pitchFamily="2" charset="-122"/>
                <a:cs typeface="宋体" panose="02010600030101010101" pitchFamily="2" charset="-122"/>
              </a:rPr>
              <a:t>低</a:t>
            </a:r>
            <a:r>
              <a:rPr lang="en-US" altLang="zh-CN" sz="2800" dirty="0">
                <a:latin typeface="宋体" panose="02010600030101010101" pitchFamily="2" charset="-122"/>
                <a:ea typeface="宋体" panose="02010600030101010101" pitchFamily="2" charset="-122"/>
                <a:cs typeface="宋体" panose="02010600030101010101" pitchFamily="2" charset="-122"/>
              </a:rPr>
              <a:t>—</a:t>
            </a:r>
            <a:r>
              <a:rPr lang="zh-CN" altLang="en-US" sz="2800" dirty="0">
                <a:latin typeface="宋体" panose="02010600030101010101" pitchFamily="2" charset="-122"/>
                <a:ea typeface="宋体" panose="02010600030101010101" pitchFamily="2" charset="-122"/>
                <a:cs typeface="宋体" panose="02010600030101010101" pitchFamily="2" charset="-122"/>
              </a:rPr>
              <a:t>高”的走势，可以作为黄金分割法和抛物线逼近法的初始区间。</a:t>
            </a:r>
            <a:endParaRPr lang="en-US" altLang="zh-CN" sz="2800" dirty="0">
              <a:latin typeface="宋体" panose="02010600030101010101" pitchFamily="2" charset="-122"/>
              <a:ea typeface="宋体" panose="02010600030101010101" pitchFamily="2" charset="-122"/>
              <a:cs typeface="宋体" panose="02010600030101010101" pitchFamily="2" charset="-122"/>
            </a:endParaRPr>
          </a:p>
          <a:p>
            <a:pPr marL="457200" indent="-457200" fontAlgn="auto">
              <a:lnSpc>
                <a:spcPct val="150000"/>
              </a:lnSpc>
              <a:buFont typeface="Wingdings" panose="05000000000000000000" pitchFamily="2" charset="2"/>
              <a:buChar char="Ø"/>
            </a:pPr>
            <a:r>
              <a:rPr lang="zh-CN" altLang="en-US" sz="2800" dirty="0">
                <a:latin typeface="宋体" panose="02010600030101010101" pitchFamily="2" charset="-122"/>
                <a:ea typeface="宋体" panose="02010600030101010101" pitchFamily="2" charset="-122"/>
                <a:cs typeface="宋体" panose="02010600030101010101" pitchFamily="2" charset="-122"/>
              </a:rPr>
              <a:t>外推内插</a:t>
            </a:r>
            <a:r>
              <a:rPr lang="en-US" altLang="zh-CN" sz="2800" dirty="0">
                <a:latin typeface="宋体" panose="02010600030101010101" pitchFamily="2" charset="-122"/>
                <a:ea typeface="宋体" panose="02010600030101010101" pitchFamily="2" charset="-122"/>
                <a:cs typeface="宋体" panose="02010600030101010101" pitchFamily="2" charset="-122"/>
              </a:rPr>
              <a:t>+</a:t>
            </a:r>
            <a:r>
              <a:rPr lang="zh-CN" altLang="en-US" sz="2800" dirty="0">
                <a:latin typeface="宋体" panose="02010600030101010101" pitchFamily="2" charset="-122"/>
                <a:ea typeface="宋体" panose="02010600030101010101" pitchFamily="2" charset="-122"/>
                <a:cs typeface="宋体" panose="02010600030101010101" pitchFamily="2" charset="-122"/>
              </a:rPr>
              <a:t>黄金分割、外推内插</a:t>
            </a:r>
            <a:r>
              <a:rPr lang="en-US" altLang="zh-CN" sz="2800" dirty="0">
                <a:latin typeface="宋体" panose="02010600030101010101" pitchFamily="2" charset="-122"/>
                <a:ea typeface="宋体" panose="02010600030101010101" pitchFamily="2" charset="-122"/>
                <a:cs typeface="宋体" panose="02010600030101010101" pitchFamily="2" charset="-122"/>
              </a:rPr>
              <a:t>+</a:t>
            </a:r>
            <a:r>
              <a:rPr lang="zh-CN" altLang="en-US" sz="2800" dirty="0">
                <a:latin typeface="宋体" panose="02010600030101010101" pitchFamily="2" charset="-122"/>
                <a:ea typeface="宋体" panose="02010600030101010101" pitchFamily="2" charset="-122"/>
                <a:cs typeface="宋体" panose="02010600030101010101" pitchFamily="2" charset="-122"/>
              </a:rPr>
              <a:t>抛物线逼近则可以用来求解一维搜索问题。</a:t>
            </a:r>
          </a:p>
        </p:txBody>
      </p:sp>
    </p:spTree>
  </p:cSld>
  <p:clrMapOvr>
    <a:masterClrMapping/>
  </p:clrMapOvr>
  <p:transition>
    <p:random/>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7853</TotalTime>
  <Words>3680</Words>
  <Application>Microsoft Office PowerPoint</Application>
  <PresentationFormat>宽屏</PresentationFormat>
  <Paragraphs>345</Paragraphs>
  <Slides>41</Slides>
  <Notes>0</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41</vt:i4>
      </vt:variant>
    </vt:vector>
  </HeadingPairs>
  <TitlesOfParts>
    <vt:vector size="55" baseType="lpstr">
      <vt:lpstr>MS Mincho</vt:lpstr>
      <vt:lpstr>等线</vt:lpstr>
      <vt:lpstr>等线 Light</vt:lpstr>
      <vt:lpstr>黑体</vt:lpstr>
      <vt:lpstr>宋体</vt:lpstr>
      <vt:lpstr>Arial</vt:lpstr>
      <vt:lpstr>Calibri</vt:lpstr>
      <vt:lpstr>Cambria Math</vt:lpstr>
      <vt:lpstr>Courier New</vt:lpstr>
      <vt:lpstr>Symbol</vt:lpstr>
      <vt:lpstr>Times New Roman</vt:lpstr>
      <vt:lpstr>Wingdings</vt:lpstr>
      <vt:lpstr>Office 主题​​</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j2mv9-jyyq6-jm44k-qmyth-8rb2w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工程优化设计中的数学方法  硕士研究生课程</dc:title>
  <dc:creator>user</dc:creator>
  <cp:lastModifiedBy>Wei Zhang</cp:lastModifiedBy>
  <cp:revision>336</cp:revision>
  <cp:lastPrinted>2013-10-29T09:29:59Z</cp:lastPrinted>
  <dcterms:created xsi:type="dcterms:W3CDTF">2006-08-18T03:57:43Z</dcterms:created>
  <dcterms:modified xsi:type="dcterms:W3CDTF">2025-11-03T08:04:29Z</dcterms:modified>
</cp:coreProperties>
</file>