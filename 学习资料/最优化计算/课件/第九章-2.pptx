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569" r:id="rId3"/>
    <p:sldId id="570" r:id="rId4"/>
    <p:sldId id="571" r:id="rId5"/>
    <p:sldId id="261" r:id="rId6"/>
    <p:sldId id="561" r:id="rId7"/>
    <p:sldId id="275" r:id="rId8"/>
    <p:sldId id="572" r:id="rId9"/>
    <p:sldId id="573" r:id="rId10"/>
    <p:sldId id="466" r:id="rId11"/>
    <p:sldId id="281" r:id="rId12"/>
    <p:sldId id="568" r:id="rId13"/>
    <p:sldId id="277" r:id="rId14"/>
    <p:sldId id="283" r:id="rId15"/>
    <p:sldId id="282" r:id="rId16"/>
    <p:sldId id="285" r:id="rId17"/>
    <p:sldId id="286" r:id="rId18"/>
    <p:sldId id="562" r:id="rId19"/>
    <p:sldId id="563" r:id="rId20"/>
    <p:sldId id="564" r:id="rId21"/>
    <p:sldId id="565" r:id="rId22"/>
    <p:sldId id="566" r:id="rId23"/>
    <p:sldId id="567" r:id="rId24"/>
    <p:sldId id="268" r:id="rId25"/>
    <p:sldId id="574" r:id="rId26"/>
    <p:sldId id="472" r:id="rId27"/>
    <p:sldId id="575" r:id="rId28"/>
    <p:sldId id="470" r:id="rId29"/>
    <p:sldId id="576" r:id="rId30"/>
    <p:sldId id="471" r:id="rId31"/>
    <p:sldId id="473" r:id="rId32"/>
    <p:sldId id="468" r:id="rId33"/>
    <p:sldId id="581" r:id="rId34"/>
    <p:sldId id="582" r:id="rId35"/>
    <p:sldId id="258" r:id="rId36"/>
    <p:sldId id="259" r:id="rId37"/>
    <p:sldId id="260" r:id="rId38"/>
    <p:sldId id="583" r:id="rId39"/>
    <p:sldId id="584" r:id="rId41"/>
    <p:sldId id="287" r:id="rId42"/>
    <p:sldId id="262" r:id="rId43"/>
    <p:sldId id="475" r:id="rId44"/>
    <p:sldId id="585" r:id="rId45"/>
    <p:sldId id="288" r:id="rId46"/>
    <p:sldId id="290" r:id="rId47"/>
    <p:sldId id="586" r:id="rId48"/>
    <p:sldId id="587" r:id="rId49"/>
    <p:sldId id="577" r:id="rId50"/>
    <p:sldId id="295" r:id="rId51"/>
    <p:sldId id="578" r:id="rId52"/>
    <p:sldId id="469" r:id="rId53"/>
    <p:sldId id="579" r:id="rId54"/>
    <p:sldId id="477" r:id="rId55"/>
    <p:sldId id="269" r:id="rId56"/>
    <p:sldId id="478" r:id="rId57"/>
    <p:sldId id="479" r:id="rId58"/>
    <p:sldId id="297" r:id="rId59"/>
    <p:sldId id="580" r:id="rId60"/>
    <p:sldId id="474" r:id="rId61"/>
    <p:sldId id="476" r:id="rId62"/>
    <p:sldId id="588" r:id="rId63"/>
  </p:sldIdLst>
  <p:sldSz cx="9144000" cy="6858000" type="screen4x3"/>
  <p:notesSz cx="6858000" cy="9144000"/>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2" d="100"/>
          <a:sy n="62" d="100"/>
        </p:scale>
        <p:origin x="1212" y="4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7" Type="http://schemas.openxmlformats.org/officeDocument/2006/relationships/tags" Target="tags/tag3.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notesMaster" Target="notesMasters/notesMaster1.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F96A7A-F92B-41DF-80DE-77ED0E55E2A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D5B288-C3A6-4570-95A7-9A8D2425F32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37B1DEC-80E2-4180-987C-2412BBEE05B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6847DE9-B3C7-466E-8D1B-FEAA1941230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34B80E7-A9E2-4803-A97B-3EE04E899B8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40"/>
            <a:ext cx="8229600" cy="58515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页脚占位符 3"/>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5225"/>
            <a:ext cx="2133600" cy="476250"/>
          </a:xfrm>
        </p:spPr>
        <p:txBody>
          <a:bodyPr/>
          <a:lstStyle>
            <a:lvl1pPr>
              <a:defRPr/>
            </a:lvl1pPr>
          </a:lstStyle>
          <a:p>
            <a:fld id="{1514072A-17B3-41A2-BE00-99954BA88FE7}"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847DE9-B3C7-466E-8D1B-FEAA19412309}"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4B80E7-A9E2-4803-A97B-3EE04E899B8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2.bin"/><Relationship Id="rId7" Type="http://schemas.openxmlformats.org/officeDocument/2006/relationships/image" Target="../media/image26.wmf"/><Relationship Id="rId6" Type="http://schemas.openxmlformats.org/officeDocument/2006/relationships/oleObject" Target="../embeddings/oleObject1.bin"/><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2" Type="http://schemas.openxmlformats.org/officeDocument/2006/relationships/vmlDrawing" Target="../drawings/vmlDrawing1.vml"/><Relationship Id="rId21" Type="http://schemas.openxmlformats.org/officeDocument/2006/relationships/slideLayout" Target="../slideLayouts/slideLayout2.xml"/><Relationship Id="rId20" Type="http://schemas.openxmlformats.org/officeDocument/2006/relationships/image" Target="../media/image31.png"/><Relationship Id="rId2" Type="http://schemas.openxmlformats.org/officeDocument/2006/relationships/image" Target="../media/image22.png"/><Relationship Id="rId19" Type="http://schemas.openxmlformats.org/officeDocument/2006/relationships/oleObject" Target="../embeddings/oleObject9.bin"/><Relationship Id="rId18" Type="http://schemas.openxmlformats.org/officeDocument/2006/relationships/oleObject" Target="../embeddings/oleObject8.bin"/><Relationship Id="rId17" Type="http://schemas.openxmlformats.org/officeDocument/2006/relationships/oleObject" Target="../embeddings/oleObject7.bin"/><Relationship Id="rId16" Type="http://schemas.openxmlformats.org/officeDocument/2006/relationships/oleObject" Target="../embeddings/oleObject6.bin"/><Relationship Id="rId15" Type="http://schemas.openxmlformats.org/officeDocument/2006/relationships/image" Target="../media/image30.png"/><Relationship Id="rId14" Type="http://schemas.openxmlformats.org/officeDocument/2006/relationships/oleObject" Target="../embeddings/oleObject5.bin"/><Relationship Id="rId13" Type="http://schemas.openxmlformats.org/officeDocument/2006/relationships/image" Target="../media/image29.wmf"/><Relationship Id="rId12" Type="http://schemas.openxmlformats.org/officeDocument/2006/relationships/oleObject" Target="../embeddings/oleObject4.bin"/><Relationship Id="rId11" Type="http://schemas.openxmlformats.org/officeDocument/2006/relationships/image" Target="../media/image28.wmf"/><Relationship Id="rId10" Type="http://schemas.openxmlformats.org/officeDocument/2006/relationships/oleObject" Target="../embeddings/oleObject3.bin"/><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1.bin"/><Relationship Id="rId7" Type="http://schemas.openxmlformats.org/officeDocument/2006/relationships/image" Target="../media/image26.wmf"/><Relationship Id="rId6" Type="http://schemas.openxmlformats.org/officeDocument/2006/relationships/oleObject" Target="../embeddings/oleObject10.bin"/><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2" Type="http://schemas.openxmlformats.org/officeDocument/2006/relationships/vmlDrawing" Target="../drawings/vmlDrawing2.vml"/><Relationship Id="rId21" Type="http://schemas.openxmlformats.org/officeDocument/2006/relationships/slideLayout" Target="../slideLayouts/slideLayout2.xml"/><Relationship Id="rId20" Type="http://schemas.openxmlformats.org/officeDocument/2006/relationships/image" Target="../media/image33.png"/><Relationship Id="rId2" Type="http://schemas.openxmlformats.org/officeDocument/2006/relationships/image" Target="../media/image22.png"/><Relationship Id="rId19" Type="http://schemas.openxmlformats.org/officeDocument/2006/relationships/oleObject" Target="../embeddings/oleObject18.bin"/><Relationship Id="rId18" Type="http://schemas.openxmlformats.org/officeDocument/2006/relationships/oleObject" Target="../embeddings/oleObject17.bin"/><Relationship Id="rId17" Type="http://schemas.openxmlformats.org/officeDocument/2006/relationships/oleObject" Target="../embeddings/oleObject16.bin"/><Relationship Id="rId16" Type="http://schemas.openxmlformats.org/officeDocument/2006/relationships/oleObject" Target="../embeddings/oleObject15.bin"/><Relationship Id="rId15" Type="http://schemas.openxmlformats.org/officeDocument/2006/relationships/image" Target="../media/image32.png"/><Relationship Id="rId14" Type="http://schemas.openxmlformats.org/officeDocument/2006/relationships/oleObject" Target="../embeddings/oleObject14.bin"/><Relationship Id="rId13" Type="http://schemas.openxmlformats.org/officeDocument/2006/relationships/image" Target="../media/image29.wmf"/><Relationship Id="rId12" Type="http://schemas.openxmlformats.org/officeDocument/2006/relationships/oleObject" Target="../embeddings/oleObject13.bin"/><Relationship Id="rId11" Type="http://schemas.openxmlformats.org/officeDocument/2006/relationships/image" Target="../media/image28.wmf"/><Relationship Id="rId10" Type="http://schemas.openxmlformats.org/officeDocument/2006/relationships/oleObject" Target="../embeddings/oleObject12.bin"/><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9.png"/></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5.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8.png"/></Relationships>
</file>

<file path=ppt/slides/_rels/slide44.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51.png"/><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50.png"/><Relationship Id="rId1" Type="http://schemas.openxmlformats.org/officeDocument/2006/relationships/image" Target="../media/image4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6.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0.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2.png"/><Relationship Id="rId1" Type="http://schemas.openxmlformats.org/officeDocument/2006/relationships/image" Target="../media/image61.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552" y="980728"/>
            <a:ext cx="8280920" cy="3883755"/>
          </a:xfrm>
          <a:prstGeom prst="rect">
            <a:avLst/>
          </a:prstGeom>
          <a:noFill/>
        </p:spPr>
        <p:txBody>
          <a:bodyPr wrap="square" rtlCol="0">
            <a:spAutoFit/>
          </a:bodyPr>
          <a:lstStyle/>
          <a:p>
            <a:pPr algn="just" fontAlgn="auto">
              <a:lnSpc>
                <a:spcPct val="150000"/>
              </a:lnSpc>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对于约束优化问题，利用</a:t>
            </a:r>
            <a:r>
              <a:rPr lang="en-US" altLang="zh-CN" sz="2400" dirty="0">
                <a:latin typeface="宋体" panose="02010600030101010101" pitchFamily="2" charset="-122"/>
                <a:ea typeface="宋体" panose="02010600030101010101" pitchFamily="2" charset="-122"/>
              </a:rPr>
              <a:t>KKT</a:t>
            </a:r>
            <a:r>
              <a:rPr lang="zh-CN" altLang="en-US" sz="2400" dirty="0">
                <a:latin typeface="宋体" panose="02010600030101010101" pitchFamily="2" charset="-122"/>
                <a:ea typeface="宋体" panose="02010600030101010101" pitchFamily="2" charset="-122"/>
              </a:rPr>
              <a:t>条件来求极小点是很困难的。因此带有约束的非线性规划问题仍以迭代算法为主要的求解算法。</a:t>
            </a:r>
            <a:endParaRPr lang="en-US" altLang="zh-CN" sz="2400" dirty="0">
              <a:latin typeface="宋体" panose="02010600030101010101" pitchFamily="2" charset="-122"/>
              <a:ea typeface="宋体" panose="02010600030101010101" pitchFamily="2" charset="-122"/>
            </a:endParaRPr>
          </a:p>
          <a:p>
            <a:pPr algn="just" fontAlgn="auto">
              <a:lnSpc>
                <a:spcPct val="150000"/>
              </a:lnSpc>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可行方向法是一类直接处理约束优化问题的迭代算法，其基本思想是要求每一步迭代产生的搜索方向不仅对目标函数是</a:t>
            </a:r>
            <a:r>
              <a:rPr lang="zh-CN" altLang="en-US" sz="2400" b="1" dirty="0">
                <a:latin typeface="宋体" panose="02010600030101010101" pitchFamily="2" charset="-122"/>
                <a:ea typeface="宋体" panose="02010600030101010101" pitchFamily="2" charset="-122"/>
              </a:rPr>
              <a:t>下降方向</a:t>
            </a:r>
            <a:r>
              <a:rPr lang="zh-CN" altLang="en-US" sz="2400" dirty="0">
                <a:latin typeface="宋体" panose="02010600030101010101" pitchFamily="2" charset="-122"/>
                <a:ea typeface="宋体" panose="02010600030101010101" pitchFamily="2" charset="-122"/>
              </a:rPr>
              <a:t>，而且对约束函数来说是</a:t>
            </a:r>
            <a:r>
              <a:rPr lang="zh-CN" altLang="en-US" sz="2400" b="1" dirty="0">
                <a:latin typeface="宋体" panose="02010600030101010101" pitchFamily="2" charset="-122"/>
                <a:ea typeface="宋体" panose="02010600030101010101" pitchFamily="2" charset="-122"/>
              </a:rPr>
              <a:t>可行方向</a:t>
            </a:r>
            <a:r>
              <a:rPr lang="zh-CN" altLang="en-US" sz="2400" dirty="0">
                <a:latin typeface="宋体" panose="02010600030101010101" pitchFamily="2" charset="-122"/>
                <a:ea typeface="宋体" panose="02010600030101010101" pitchFamily="2" charset="-122"/>
              </a:rPr>
              <a:t>，即迭代点总是满足所有的约束条件。</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9185" y="2726829"/>
            <a:ext cx="5344733" cy="600164"/>
          </a:xfrm>
          <a:prstGeom prst="rect">
            <a:avLst/>
          </a:prstGeom>
        </p:spPr>
        <p:txBody>
          <a:bodyPr wrap="none">
            <a:spAutoFit/>
          </a:bodyPr>
          <a:lstStyle/>
          <a:p>
            <a:pPr algn="ctr"/>
            <a:r>
              <a:rPr lang="en-US" altLang="zh-CN" sz="3300" b="1" dirty="0"/>
              <a:t>   9.3 </a:t>
            </a:r>
            <a:r>
              <a:rPr lang="zh-CN" altLang="en-US" sz="3300" b="1" dirty="0"/>
              <a:t>可行下降方向判断条件</a:t>
            </a:r>
            <a:endParaRPr lang="zh-CN" altLang="en-US" sz="33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51520" y="476672"/>
            <a:ext cx="2916324"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一、基本定义</a:t>
            </a:r>
            <a:endParaRPr lang="zh-CN" altLang="en-US" sz="2400" b="1"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7" name="Rectangle 3"/>
              <p:cNvSpPr txBox="1">
                <a:spLocks noChangeArrowheads="1"/>
              </p:cNvSpPr>
              <p:nvPr/>
            </p:nvSpPr>
            <p:spPr>
              <a:xfrm>
                <a:off x="109103" y="3613903"/>
                <a:ext cx="8925793" cy="16759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50000"/>
                  </a:lnSpc>
                  <a:spcBef>
                    <a:spcPts val="0"/>
                  </a:spcBef>
                  <a:buNone/>
                </a:pPr>
                <a:r>
                  <a:rPr lang="zh-CN" altLang="en-US" sz="2400" b="1" dirty="0">
                    <a:solidFill>
                      <a:schemeClr val="accent1"/>
                    </a:solidFill>
                    <a:latin typeface="宋体" panose="02010600030101010101" pitchFamily="2" charset="-122"/>
                    <a:ea typeface="宋体" panose="02010600030101010101" pitchFamily="2" charset="-122"/>
                  </a:rPr>
                  <a:t>定义</a:t>
                </a:r>
                <a:r>
                  <a:rPr lang="zh-CN" altLang="en-US" sz="2400" dirty="0">
                    <a:latin typeface="宋体" panose="02010600030101010101" pitchFamily="2" charset="-122"/>
                    <a:ea typeface="宋体" panose="02010600030101010101" pitchFamily="2" charset="-122"/>
                  </a:rPr>
                  <a:t>（</a:t>
                </a:r>
                <a:r>
                  <a:rPr lang="zh-CN" altLang="en-US" sz="2400" b="1" dirty="0">
                    <a:solidFill>
                      <a:srgbClr val="FF0000"/>
                    </a:solidFill>
                    <a:latin typeface="宋体" panose="02010600030101010101" pitchFamily="2" charset="-122"/>
                    <a:ea typeface="宋体" panose="02010600030101010101" pitchFamily="2" charset="-122"/>
                  </a:rPr>
                  <a:t>可行下降方向</a:t>
                </a:r>
                <a:r>
                  <a:rPr lang="zh-CN" altLang="en-US" sz="2400" dirty="0">
                    <a:latin typeface="宋体" panose="02010600030101010101" pitchFamily="2" charset="-122"/>
                    <a:ea typeface="宋体" panose="02010600030101010101" pitchFamily="2" charset="-122"/>
                  </a:rPr>
                  <a:t>）：设</a:t>
                </a:r>
                <a14:m>
                  <m:oMath xmlns:m="http://schemas.openxmlformats.org/officeDocument/2006/math">
                    <m:acc>
                      <m:accPr>
                        <m:chr m:val="̅"/>
                        <m:ctrlPr>
                          <a:rPr lang="zh-CN" altLang="en-US" sz="2400" i="1">
                            <a:latin typeface="Cambria Math" panose="02040503050406030204" pitchFamily="18" charset="0"/>
                            <a:ea typeface="宋体" panose="02010600030101010101" pitchFamily="2" charset="-122"/>
                          </a:rPr>
                        </m:ctrlPr>
                      </m:accPr>
                      <m:e>
                        <m:r>
                          <a:rPr lang="zh-CN" altLang="en-US" sz="2400">
                            <a:latin typeface="Cambria Math" panose="02040503050406030204" pitchFamily="18" charset="0"/>
                            <a:ea typeface="宋体" panose="02010600030101010101" pitchFamily="2" charset="-122"/>
                          </a:rPr>
                          <m:t>𝑥</m:t>
                        </m:r>
                      </m:e>
                    </m:acc>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𝐻</m:t>
                    </m:r>
                  </m:oMath>
                </a14:m>
                <a:r>
                  <a:rPr lang="zh-CN" altLang="en-US" sz="2400" dirty="0">
                    <a:latin typeface="宋体" panose="02010600030101010101" pitchFamily="2" charset="-122"/>
                    <a:ea typeface="宋体" panose="02010600030101010101" pitchFamily="2" charset="-122"/>
                  </a:rPr>
                  <a:t>, </a:t>
                </a:r>
                <a14:m>
                  <m:oMath xmlns:m="http://schemas.openxmlformats.org/officeDocument/2006/math">
                    <m:r>
                      <a:rPr lang="zh-CN" altLang="en-US" sz="2400">
                        <a:latin typeface="Cambria Math" panose="02040503050406030204" pitchFamily="18" charset="0"/>
                        <a:ea typeface="宋体" panose="02010600030101010101" pitchFamily="2" charset="-122"/>
                      </a:rPr>
                      <m:t>𝑑</m:t>
                    </m:r>
                    <m:r>
                      <a:rPr lang="zh-CN" altLang="en-US" sz="2400">
                        <a:latin typeface="Cambria Math" panose="02040503050406030204" pitchFamily="18" charset="0"/>
                        <a:ea typeface="宋体" panose="02010600030101010101" pitchFamily="2" charset="-122"/>
                      </a:rPr>
                      <m:t>∈</m:t>
                    </m:r>
                    <m:sSup>
                      <m:sSupPr>
                        <m:ctrlPr>
                          <a:rPr lang="zh-CN" altLang="en-US" sz="2400" i="1">
                            <a:latin typeface="Cambria Math" panose="02040503050406030204" pitchFamily="18" charset="0"/>
                            <a:ea typeface="宋体" panose="02010600030101010101" pitchFamily="2" charset="-122"/>
                          </a:rPr>
                        </m:ctrlPr>
                      </m:sSupPr>
                      <m:e>
                        <m:r>
                          <a:rPr lang="zh-CN" altLang="en-US" sz="2400">
                            <a:latin typeface="Cambria Math" panose="02040503050406030204" pitchFamily="18" charset="0"/>
                            <a:ea typeface="宋体" panose="02010600030101010101" pitchFamily="2" charset="-122"/>
                          </a:rPr>
                          <m:t>𝑅</m:t>
                        </m:r>
                      </m:e>
                      <m:sup>
                        <m:r>
                          <a:rPr lang="zh-CN" altLang="en-US" sz="2400">
                            <a:latin typeface="Cambria Math" panose="02040503050406030204" pitchFamily="18" charset="0"/>
                            <a:ea typeface="宋体" panose="02010600030101010101" pitchFamily="2" charset="-122"/>
                          </a:rPr>
                          <m:t>𝑛</m:t>
                        </m:r>
                      </m:sup>
                    </m:sSup>
                  </m:oMath>
                </a14:m>
                <a:r>
                  <a:rPr lang="zh-CN" altLang="en-US" sz="2400" dirty="0">
                    <a:latin typeface="宋体" panose="02010600030101010101" pitchFamily="2" charset="-122"/>
                    <a:ea typeface="宋体" panose="02010600030101010101" pitchFamily="2" charset="-122"/>
                  </a:rPr>
                  <a:t>, </a:t>
                </a:r>
                <a14:m>
                  <m:oMath xmlns:m="http://schemas.openxmlformats.org/officeDocument/2006/math">
                    <m:r>
                      <a:rPr lang="zh-CN" altLang="en-US" sz="2400">
                        <a:latin typeface="Cambria Math" panose="02040503050406030204" pitchFamily="18" charset="0"/>
                        <a:ea typeface="宋体" panose="02010600030101010101" pitchFamily="2" charset="-122"/>
                      </a:rPr>
                      <m:t>𝑑</m:t>
                    </m:r>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0</m:t>
                    </m:r>
                    <m:r>
                      <a:rPr lang="zh-CN" altLang="en-US" sz="240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若存在</a:t>
                </a:r>
                <a14:m>
                  <m:oMath xmlns:m="http://schemas.openxmlformats.org/officeDocument/2006/math">
                    <m:r>
                      <a:rPr lang="zh-CN" altLang="en-US" sz="2400">
                        <a:latin typeface="Cambria Math" panose="02040503050406030204" pitchFamily="18" charset="0"/>
                        <a:ea typeface="宋体" panose="02010600030101010101" pitchFamily="2" charset="-122"/>
                      </a:rPr>
                      <m:t>𝛿</m:t>
                    </m:r>
                    <m:r>
                      <a:rPr lang="zh-CN" altLang="en-US" sz="2400">
                        <a:latin typeface="Cambria Math" panose="02040503050406030204" pitchFamily="18" charset="0"/>
                        <a:ea typeface="宋体" panose="02010600030101010101" pitchFamily="2" charset="-122"/>
                      </a:rPr>
                      <m:t>&gt;</m:t>
                    </m:r>
                    <m:r>
                      <a:rPr lang="zh-CN" altLang="en-US" sz="2400">
                        <a:latin typeface="Cambria Math" panose="02040503050406030204" pitchFamily="18" charset="0"/>
                        <a:ea typeface="宋体" panose="02010600030101010101" pitchFamily="2" charset="-122"/>
                      </a:rPr>
                      <m:t>0</m:t>
                    </m:r>
                  </m:oMath>
                </a14:m>
                <a:endParaRPr lang="en-US" altLang="zh-CN" sz="2400" dirty="0">
                  <a:latin typeface="宋体" panose="02010600030101010101" pitchFamily="2" charset="-122"/>
                  <a:ea typeface="宋体" panose="02010600030101010101" pitchFamily="2" charset="-122"/>
                </a:endParaRPr>
              </a:p>
              <a:p>
                <a:pPr algn="just">
                  <a:lnSpc>
                    <a:spcPct val="150000"/>
                  </a:lnSpc>
                  <a:spcBef>
                    <a:spcPts val="0"/>
                  </a:spcBef>
                  <a:buNone/>
                </a:pPr>
                <a:r>
                  <a:rPr lang="zh-CN" altLang="en-US" sz="2400" dirty="0">
                    <a:latin typeface="宋体" panose="02010600030101010101" pitchFamily="2" charset="-122"/>
                    <a:ea typeface="宋体" panose="02010600030101010101" pitchFamily="2" charset="-122"/>
                  </a:rPr>
                  <a:t>使</a:t>
                </a:r>
                <a14:m>
                  <m:oMath xmlns:m="http://schemas.openxmlformats.org/officeDocument/2006/math">
                    <m:acc>
                      <m:accPr>
                        <m:chr m:val="̅"/>
                        <m:ctrlPr>
                          <a:rPr lang="zh-CN" altLang="en-US" sz="2400" i="1">
                            <a:latin typeface="Cambria Math" panose="02040503050406030204" pitchFamily="18" charset="0"/>
                            <a:ea typeface="宋体" panose="02010600030101010101" pitchFamily="2" charset="-122"/>
                          </a:rPr>
                        </m:ctrlPr>
                      </m:accPr>
                      <m:e>
                        <m:r>
                          <a:rPr lang="zh-CN" altLang="en-US" sz="2400">
                            <a:latin typeface="Cambria Math" panose="02040503050406030204" pitchFamily="18" charset="0"/>
                            <a:ea typeface="宋体" panose="02010600030101010101" pitchFamily="2" charset="-122"/>
                          </a:rPr>
                          <m:t>𝑥</m:t>
                        </m:r>
                      </m:e>
                    </m:acc>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𝜆</m:t>
                    </m:r>
                    <m:r>
                      <a:rPr lang="zh-CN" altLang="en-US" sz="2400">
                        <a:latin typeface="Cambria Math" panose="02040503050406030204" pitchFamily="18" charset="0"/>
                        <a:ea typeface="宋体" panose="02010600030101010101" pitchFamily="2" charset="-122"/>
                      </a:rPr>
                      <m:t>𝑑</m:t>
                    </m:r>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𝐻</m:t>
                    </m:r>
                    <m:r>
                      <a:rPr lang="zh-CN" altLang="en-US" sz="2400">
                        <a:latin typeface="Cambria Math" panose="02040503050406030204" pitchFamily="18" charset="0"/>
                        <a:ea typeface="宋体" panose="02010600030101010101" pitchFamily="2" charset="-122"/>
                      </a:rPr>
                      <m:t>, ∀</m:t>
                    </m:r>
                    <m:r>
                      <a:rPr lang="zh-CN" altLang="en-US" sz="2400">
                        <a:latin typeface="Cambria Math" panose="02040503050406030204" pitchFamily="18" charset="0"/>
                        <a:ea typeface="宋体" panose="02010600030101010101" pitchFamily="2" charset="-122"/>
                      </a:rPr>
                      <m:t>𝜆</m:t>
                    </m:r>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0</m:t>
                    </m:r>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𝛿</m:t>
                    </m:r>
                    <m:r>
                      <a:rPr lang="zh-CN" altLang="en-US" sz="240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，称</a:t>
                </a:r>
                <a14:m>
                  <m:oMath xmlns:m="http://schemas.openxmlformats.org/officeDocument/2006/math">
                    <m:r>
                      <a:rPr lang="zh-CN" altLang="en-US" sz="2400">
                        <a:latin typeface="Cambria Math" panose="02040503050406030204" pitchFamily="18" charset="0"/>
                        <a:ea typeface="宋体" panose="02010600030101010101" pitchFamily="2" charset="-122"/>
                      </a:rPr>
                      <m:t>𝑑</m:t>
                    </m:r>
                  </m:oMath>
                </a14:m>
                <a:r>
                  <a:rPr lang="zh-CN" altLang="en-US" sz="2400" dirty="0">
                    <a:latin typeface="宋体" panose="02010600030101010101" pitchFamily="2" charset="-122"/>
                    <a:ea typeface="宋体" panose="02010600030101010101" pitchFamily="2" charset="-122"/>
                  </a:rPr>
                  <a:t>为</a:t>
                </a:r>
                <a14:m>
                  <m:oMath xmlns:m="http://schemas.openxmlformats.org/officeDocument/2006/math">
                    <m:acc>
                      <m:accPr>
                        <m:chr m:val="̅"/>
                        <m:ctrlPr>
                          <a:rPr lang="zh-CN" altLang="en-US" sz="2400" i="1">
                            <a:latin typeface="Cambria Math" panose="02040503050406030204" pitchFamily="18" charset="0"/>
                            <a:ea typeface="宋体" panose="02010600030101010101" pitchFamily="2" charset="-122"/>
                          </a:rPr>
                        </m:ctrlPr>
                      </m:accPr>
                      <m:e>
                        <m:r>
                          <a:rPr lang="zh-CN" altLang="en-US" sz="2400">
                            <a:latin typeface="Cambria Math" panose="02040503050406030204" pitchFamily="18" charset="0"/>
                            <a:ea typeface="宋体" panose="02010600030101010101" pitchFamily="2" charset="-122"/>
                          </a:rPr>
                          <m:t>𝑥</m:t>
                        </m:r>
                      </m:e>
                    </m:acc>
                  </m:oMath>
                </a14:m>
                <a:r>
                  <a:rPr lang="zh-CN" altLang="en-US" sz="2400" dirty="0">
                    <a:latin typeface="宋体" panose="02010600030101010101" pitchFamily="2" charset="-122"/>
                    <a:ea typeface="宋体" panose="02010600030101010101" pitchFamily="2" charset="-122"/>
                  </a:rPr>
                  <a:t>点处的可行方向；如果还满足</a:t>
                </a:r>
                <a:endParaRPr lang="en-US" altLang="zh-CN" sz="2400" dirty="0">
                  <a:latin typeface="宋体" panose="02010600030101010101" pitchFamily="2" charset="-122"/>
                  <a:ea typeface="宋体" panose="02010600030101010101" pitchFamily="2" charset="-122"/>
                </a:endParaRPr>
              </a:p>
              <a:p>
                <a:pPr algn="ctr">
                  <a:lnSpc>
                    <a:spcPct val="150000"/>
                  </a:lnSpc>
                  <a:spcBef>
                    <a:spcPts val="0"/>
                  </a:spcBef>
                  <a:buNone/>
                </a:pPr>
                <a14:m>
                  <m:oMath xmlns:m="http://schemas.openxmlformats.org/officeDocument/2006/math">
                    <m:r>
                      <a:rPr lang="zh-CN" altLang="en-US" sz="2400">
                        <a:latin typeface="Cambria Math" panose="02040503050406030204" pitchFamily="18" charset="0"/>
                        <a:ea typeface="宋体" panose="02010600030101010101" pitchFamily="2" charset="-122"/>
                      </a:rPr>
                      <m:t>𝑓</m:t>
                    </m:r>
                    <m:d>
                      <m:dPr>
                        <m:ctrlPr>
                          <a:rPr lang="zh-CN" altLang="en-US" sz="2400" i="1">
                            <a:latin typeface="Cambria Math" panose="02040503050406030204" pitchFamily="18" charset="0"/>
                            <a:ea typeface="宋体" panose="02010600030101010101" pitchFamily="2" charset="-122"/>
                          </a:rPr>
                        </m:ctrlPr>
                      </m:dPr>
                      <m:e>
                        <m:acc>
                          <m:accPr>
                            <m:chr m:val="̅"/>
                            <m:ctrlPr>
                              <a:rPr lang="zh-CN" altLang="en-US" sz="2400" i="1">
                                <a:latin typeface="Cambria Math" panose="02040503050406030204" pitchFamily="18" charset="0"/>
                                <a:ea typeface="宋体" panose="02010600030101010101" pitchFamily="2" charset="-122"/>
                              </a:rPr>
                            </m:ctrlPr>
                          </m:accPr>
                          <m:e>
                            <m:r>
                              <a:rPr lang="zh-CN" altLang="en-US" sz="2400">
                                <a:latin typeface="Cambria Math" panose="02040503050406030204" pitchFamily="18" charset="0"/>
                                <a:ea typeface="宋体" panose="02010600030101010101" pitchFamily="2" charset="-122"/>
                              </a:rPr>
                              <m:t>𝑥</m:t>
                            </m:r>
                          </m:e>
                        </m:acc>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𝜆</m:t>
                        </m:r>
                        <m:r>
                          <a:rPr lang="zh-CN" altLang="en-US" sz="2400">
                            <a:latin typeface="Cambria Math" panose="02040503050406030204" pitchFamily="18" charset="0"/>
                            <a:ea typeface="宋体" panose="02010600030101010101" pitchFamily="2" charset="-122"/>
                          </a:rPr>
                          <m:t>𝑑</m:t>
                        </m:r>
                      </m:e>
                    </m:d>
                    <m:r>
                      <a:rPr lang="zh-CN" altLang="en-US" sz="2400">
                        <a:latin typeface="Cambria Math" panose="02040503050406030204" pitchFamily="18" charset="0"/>
                        <a:ea typeface="宋体" panose="02010600030101010101" pitchFamily="2" charset="-122"/>
                      </a:rPr>
                      <m:t>&lt;</m:t>
                    </m:r>
                    <m:r>
                      <a:rPr lang="zh-CN" altLang="en-US" sz="2400">
                        <a:latin typeface="Cambria Math" panose="02040503050406030204" pitchFamily="18" charset="0"/>
                        <a:ea typeface="宋体" panose="02010600030101010101" pitchFamily="2" charset="-122"/>
                      </a:rPr>
                      <m:t>𝑓</m:t>
                    </m:r>
                    <m:d>
                      <m:dPr>
                        <m:ctrlPr>
                          <a:rPr lang="zh-CN" altLang="en-US" sz="2400" i="1">
                            <a:latin typeface="Cambria Math" panose="02040503050406030204" pitchFamily="18" charset="0"/>
                            <a:ea typeface="宋体" panose="02010600030101010101" pitchFamily="2" charset="-122"/>
                          </a:rPr>
                        </m:ctrlPr>
                      </m:dPr>
                      <m:e>
                        <m:acc>
                          <m:accPr>
                            <m:chr m:val="̅"/>
                            <m:ctrlPr>
                              <a:rPr lang="zh-CN" altLang="en-US" sz="2400" i="1">
                                <a:latin typeface="Cambria Math" panose="02040503050406030204" pitchFamily="18" charset="0"/>
                                <a:ea typeface="宋体" panose="02010600030101010101" pitchFamily="2" charset="-122"/>
                              </a:rPr>
                            </m:ctrlPr>
                          </m:accPr>
                          <m:e>
                            <m:r>
                              <a:rPr lang="zh-CN" altLang="en-US" sz="2400">
                                <a:latin typeface="Cambria Math" panose="02040503050406030204" pitchFamily="18" charset="0"/>
                                <a:ea typeface="宋体" panose="02010600030101010101" pitchFamily="2" charset="-122"/>
                              </a:rPr>
                              <m:t>𝑥</m:t>
                            </m:r>
                          </m:e>
                        </m:acc>
                      </m:e>
                    </m:d>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gn="just">
                  <a:lnSpc>
                    <a:spcPct val="150000"/>
                  </a:lnSpc>
                  <a:spcBef>
                    <a:spcPts val="0"/>
                  </a:spcBef>
                  <a:buNone/>
                </a:pPr>
                <a:r>
                  <a:rPr lang="zh-CN" altLang="en-US" sz="2400" dirty="0">
                    <a:latin typeface="宋体" panose="02010600030101010101" pitchFamily="2" charset="-122"/>
                    <a:ea typeface="宋体" panose="02010600030101010101" pitchFamily="2" charset="-122"/>
                  </a:rPr>
                  <a:t>则称</a:t>
                </a:r>
                <a14:m>
                  <m:oMath xmlns:m="http://schemas.openxmlformats.org/officeDocument/2006/math">
                    <m:r>
                      <a:rPr lang="zh-CN" altLang="en-US" sz="2400">
                        <a:latin typeface="Cambria Math" panose="02040503050406030204" pitchFamily="18" charset="0"/>
                        <a:ea typeface="宋体" panose="02010600030101010101" pitchFamily="2" charset="-122"/>
                      </a:rPr>
                      <m:t>𝑑</m:t>
                    </m:r>
                  </m:oMath>
                </a14:m>
                <a:r>
                  <a:rPr lang="zh-CN" altLang="en-US" sz="2400" dirty="0">
                    <a:latin typeface="宋体" panose="02010600030101010101" pitchFamily="2" charset="-122"/>
                    <a:ea typeface="宋体" panose="02010600030101010101" pitchFamily="2" charset="-122"/>
                  </a:rPr>
                  <a:t>为</a:t>
                </a:r>
                <a14:m>
                  <m:oMath xmlns:m="http://schemas.openxmlformats.org/officeDocument/2006/math">
                    <m:acc>
                      <m:accPr>
                        <m:chr m:val="̅"/>
                        <m:ctrlPr>
                          <a:rPr lang="zh-CN" altLang="en-US" sz="2400" i="1">
                            <a:latin typeface="Cambria Math" panose="02040503050406030204" pitchFamily="18" charset="0"/>
                            <a:ea typeface="宋体" panose="02010600030101010101" pitchFamily="2" charset="-122"/>
                          </a:rPr>
                        </m:ctrlPr>
                      </m:accPr>
                      <m:e>
                        <m:r>
                          <a:rPr lang="zh-CN" altLang="en-US" sz="2400">
                            <a:latin typeface="Cambria Math" panose="02040503050406030204" pitchFamily="18" charset="0"/>
                            <a:ea typeface="宋体" panose="02010600030101010101" pitchFamily="2" charset="-122"/>
                          </a:rPr>
                          <m:t>𝑥</m:t>
                        </m:r>
                      </m:e>
                    </m:acc>
                  </m:oMath>
                </a14:m>
                <a:r>
                  <a:rPr lang="zh-CN" altLang="en-US" sz="2400" dirty="0">
                    <a:latin typeface="宋体" panose="02010600030101010101" pitchFamily="2" charset="-122"/>
                    <a:ea typeface="宋体" panose="02010600030101010101" pitchFamily="2" charset="-122"/>
                  </a:rPr>
                  <a:t>点处的可行下降方向。</a:t>
                </a:r>
                <a:endParaRPr lang="zh-CN" altLang="en-US" sz="2400" dirty="0">
                  <a:latin typeface="宋体" panose="02010600030101010101" pitchFamily="2" charset="-122"/>
                  <a:ea typeface="宋体" panose="02010600030101010101" pitchFamily="2" charset="-122"/>
                </a:endParaRPr>
              </a:p>
              <a:p>
                <a:pPr algn="just">
                  <a:lnSpc>
                    <a:spcPct val="150000"/>
                  </a:lnSpc>
                  <a:buFont typeface="Wingdings" panose="05000000000000000000" pitchFamily="2" charset="2"/>
                  <a:buNone/>
                </a:pPr>
                <a:endParaRPr lang="zh-CN" altLang="en-US" sz="2400" dirty="0">
                  <a:latin typeface="宋体" panose="02010600030101010101" pitchFamily="2" charset="-122"/>
                  <a:ea typeface="宋体" panose="02010600030101010101" pitchFamily="2" charset="-122"/>
                </a:endParaRPr>
              </a:p>
              <a:p>
                <a:pPr algn="just">
                  <a:lnSpc>
                    <a:spcPct val="15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p:txBody>
          </p:sp>
        </mc:Choice>
        <mc:Fallback>
          <p:sp>
            <p:nvSpPr>
              <p:cNvPr id="7" name="Rectangle 3"/>
              <p:cNvSpPr txBox="1">
                <a:spLocks noRot="1" noChangeAspect="1" noMove="1" noResize="1" noEditPoints="1" noAdjustHandles="1" noChangeArrowheads="1" noChangeShapeType="1" noTextEdit="1"/>
              </p:cNvSpPr>
              <p:nvPr/>
            </p:nvSpPr>
            <p:spPr>
              <a:xfrm>
                <a:off x="109103" y="3613903"/>
                <a:ext cx="8925793" cy="1675924"/>
              </a:xfrm>
              <a:prstGeom prst="rect">
                <a:avLst/>
              </a:prstGeom>
              <a:blipFill rotWithShape="1">
                <a:blip r:embed="rId1"/>
                <a:stretch>
                  <a:fillRect l="-6" t="-7" r="1" b="-1078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554355" y="896404"/>
                <a:ext cx="8035290" cy="2347694"/>
              </a:xfrm>
              <a:prstGeom prst="rect">
                <a:avLst/>
              </a:prstGeom>
              <a:noFill/>
            </p:spPr>
            <p:txBody>
              <a:bodyPr wrap="square" rtlCol="0">
                <a:spAutoFit/>
              </a:bodyPr>
              <a:lstStyle/>
              <a:p>
                <a:pPr fontAlgn="auto">
                  <a:lnSpc>
                    <a:spcPct val="150000"/>
                  </a:lnSpc>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考虑非线性规划问题（</a:t>
                </a:r>
                <a:r>
                  <a:rPr lang="en-US" altLang="zh-CN" sz="2400" dirty="0">
                    <a:latin typeface="宋体" panose="02010600030101010101" pitchFamily="2" charset="-122"/>
                    <a:ea typeface="宋体" panose="02010600030101010101" pitchFamily="2" charset="-122"/>
                  </a:rPr>
                  <a:t>P</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𝑡</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2</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r>
                  <a:rPr lang="zh-CN" altLang="en-US" sz="2400" dirty="0">
                    <a:latin typeface="宋体" panose="02010600030101010101" pitchFamily="2" charset="-122"/>
                    <a:ea typeface="宋体" panose="02010600030101010101" pitchFamily="2" charset="-122"/>
                  </a:rPr>
                  <a:t>记可行域为</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𝐻</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2</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𝑛</m:t>
                        </m:r>
                      </m:sup>
                    </m:sSup>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554355" y="896404"/>
                <a:ext cx="8035290" cy="2347694"/>
              </a:xfrm>
              <a:prstGeom prst="rect">
                <a:avLst/>
              </a:prstGeom>
              <a:blipFill rotWithShape="1">
                <a:blip r:embed="rId2"/>
                <a:stretch>
                  <a:fillRect t="-18" b="22"/>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203" y="836712"/>
            <a:ext cx="2916324"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二、判定条件</a:t>
            </a:r>
            <a:endParaRPr lang="zh-CN" altLang="en-US" sz="2400" b="1" dirty="0">
              <a:latin typeface="黑体" panose="02010609060101010101" pitchFamily="49" charset="-122"/>
              <a:ea typeface="黑体" panose="02010609060101010101" pitchFamily="49" charset="-122"/>
            </a:endParaRPr>
          </a:p>
        </p:txBody>
      </p:sp>
      <p:sp>
        <p:nvSpPr>
          <p:cNvPr id="7" name="Rectangle 5"/>
          <p:cNvSpPr>
            <a:spLocks noChangeArrowheads="1"/>
          </p:cNvSpPr>
          <p:nvPr/>
        </p:nvSpPr>
        <p:spPr bwMode="auto">
          <a:xfrm>
            <a:off x="1489817" y="1909211"/>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2400"/>
          </a:p>
        </p:txBody>
      </p:sp>
      <mc:AlternateContent xmlns:mc="http://schemas.openxmlformats.org/markup-compatibility/2006">
        <mc:Choice xmlns:a14="http://schemas.microsoft.com/office/drawing/2010/main" Requires="a14">
          <p:sp>
            <p:nvSpPr>
              <p:cNvPr id="11" name="文本框 10"/>
              <p:cNvSpPr txBox="1"/>
              <p:nvPr/>
            </p:nvSpPr>
            <p:spPr>
              <a:xfrm>
                <a:off x="598664" y="1592628"/>
                <a:ext cx="8578691" cy="4386329"/>
              </a:xfrm>
              <a:prstGeom prst="rect">
                <a:avLst/>
              </a:prstGeom>
              <a:noFill/>
            </p:spPr>
            <p:txBody>
              <a:bodyPr wrap="square" rtlCol="0">
                <a:spAutoFit/>
              </a:bodyPr>
              <a:lstStyle/>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，定义集合</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e>
                        <m:e>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为</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点所有起作用约束的下标的集合。</a:t>
                </a:r>
                <a:endParaRPr lang="zh-CN" altLang="en-US" sz="2400"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400" dirty="0">
                    <a:latin typeface="Cambria Math" panose="02040503050406030204" pitchFamily="18" charset="0"/>
                    <a:ea typeface="宋体" panose="02010600030101010101" pitchFamily="2" charset="-122"/>
                    <a:cs typeface="Cambria Math" panose="02040503050406030204" pitchFamily="18" charset="0"/>
                  </a:rPr>
                  <a:t>        由定义知若存在步长</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&gt;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，方向</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𝑛</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使得</a:t>
                </a:r>
                <a:endParaRPr lang="zh-CN" altLang="en-US" sz="2400"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𝐻</m:t>
                              </m:r>
                            </m:e>
                            <m:e>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&lt;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        </m:t>
                              </m:r>
                            </m:e>
                          </m:eqArr>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400" dirty="0">
                    <a:latin typeface="Cambria Math" panose="02040503050406030204" pitchFamily="18" charset="0"/>
                    <a:ea typeface="宋体" panose="02010600030101010101" pitchFamily="2" charset="-122"/>
                    <a:cs typeface="Cambria Math" panose="02040503050406030204" pitchFamily="18" charset="0"/>
                  </a:rPr>
                  <a:t>则有</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为可行下降方向。</a:t>
                </a:r>
                <a:endParaRPr lang="zh-CN" altLang="en-US" sz="24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98664" y="1592628"/>
                <a:ext cx="8578691" cy="4386329"/>
              </a:xfrm>
              <a:prstGeom prst="rect">
                <a:avLst/>
              </a:prstGeom>
              <a:blipFill rotWithShape="1">
                <a:blip r:embed="rId1"/>
                <a:stretch>
                  <a:fillRect l="-6" t="-1" r="4" b="10"/>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95536" y="969512"/>
                <a:ext cx="8260556" cy="4918975"/>
              </a:xfrm>
              <a:prstGeom prst="rect">
                <a:avLst/>
              </a:prstGeom>
              <a:noFill/>
            </p:spPr>
            <p:txBody>
              <a:bodyPr wrap="square">
                <a:spAutoFit/>
              </a:bodyPr>
              <a:lstStyle/>
              <a:p>
                <a:pPr algn="just">
                  <a:lnSpc>
                    <a:spcPct val="150000"/>
                  </a:lnSpc>
                  <a:spcBef>
                    <a:spcPts val="450"/>
                  </a:spcBef>
                  <a:spcAft>
                    <a:spcPts val="450"/>
                  </a:spcAft>
                </a:pPr>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r>
                  <a:rPr lang="zh-CN" altLang="en-US" sz="2000" kern="100" dirty="0">
                    <a:latin typeface="宋体" panose="02010600030101010101" pitchFamily="2" charset="-122"/>
                    <a:ea typeface="宋体" panose="02010600030101010101" pitchFamily="2" charset="-122"/>
                    <a:cs typeface="宋体" panose="02010600030101010101" pitchFamily="2" charset="-122"/>
                  </a:rPr>
                  <a:t>由泰勒公式</a:t>
                </a:r>
                <a:endParaRPr lang="en-US" altLang="zh-CN" sz="2000" i="1"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spcBef>
                    <a:spcPts val="450"/>
                  </a:spcBef>
                  <a:spcAft>
                    <a:spcPts val="450"/>
                  </a:spcAft>
                </a:pPr>
                <a14:m>
                  <m:oMathPara xmlns:m="http://schemas.openxmlformats.org/officeDocument/2006/math">
                    <m:oMathParaPr>
                      <m:jc m:val="centerGroup"/>
                    </m:oMathParaPr>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e>
                      </m:d>
                      <m:r>
                        <a:rPr lang="en-US" altLang="zh-CN" sz="20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e>
                        <m:sup>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𝑇</m:t>
                          </m:r>
                        </m:sup>
                      </m:sSup>
                      <m:r>
                        <m:rPr>
                          <m:sty m:val="p"/>
                        </m:rPr>
                        <a:rPr lang="en-US" altLang="zh-CN" sz="2000" kern="100">
                          <a:latin typeface="Cambria Math" panose="02040503050406030204" pitchFamily="18" charset="0"/>
                          <a:ea typeface="宋体" panose="02010600030101010101" pitchFamily="2" charset="-122"/>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kern="100">
                          <a:latin typeface="Cambria Math" panose="02040503050406030204" pitchFamily="18" charset="0"/>
                          <a:ea typeface="MS Mincho" panose="02020609040205080304" charset="-128"/>
                          <a:cs typeface="Cambria Math" panose="02040503050406030204" pitchFamily="18" charset="0"/>
                        </a:rPr>
                        <m:t>+</m:t>
                      </m:r>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𝑜</m:t>
                      </m:r>
                      <m:r>
                        <a:rPr lang="en-US" altLang="zh-CN" sz="20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kern="100">
                          <a:latin typeface="Cambria Math" panose="02040503050406030204" pitchFamily="18" charset="0"/>
                          <a:ea typeface="MS Mincho" panose="02020609040205080304" charset="-128"/>
                          <a:cs typeface="Cambria Math" panose="02040503050406030204" pitchFamily="18" charset="0"/>
                        </a:rPr>
                        <m:t>)</m:t>
                      </m:r>
                    </m:oMath>
                  </m:oMathPara>
                </a14:m>
                <a:endParaRPr lang="zh-CN" altLang="zh-CN" sz="2000"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spcBef>
                    <a:spcPts val="450"/>
                  </a:spcBef>
                  <a:spcAft>
                    <a:spcPts val="450"/>
                  </a:spcAft>
                </a:pPr>
                <a:r>
                  <a:rPr lang="zh-CN" altLang="en-US" sz="2000" kern="100" dirty="0">
                    <a:latin typeface="宋体" panose="02010600030101010101" pitchFamily="2" charset="-122"/>
                    <a:ea typeface="宋体" panose="02010600030101010101" pitchFamily="2" charset="-122"/>
                    <a:cs typeface="宋体" panose="02010600030101010101" pitchFamily="2" charset="-122"/>
                  </a:rPr>
                  <a:t>知：</a:t>
                </a:r>
                <a:r>
                  <a:rPr lang="zh-CN" altLang="zh-CN" sz="2000" kern="100" dirty="0">
                    <a:latin typeface="宋体" panose="02010600030101010101" pitchFamily="2" charset="-122"/>
                    <a:ea typeface="宋体" panose="02010600030101010101" pitchFamily="2" charset="-122"/>
                    <a:cs typeface="宋体" panose="02010600030101010101" pitchFamily="2" charset="-122"/>
                  </a:rPr>
                  <a:t>若</a:t>
                </a:r>
                <a14:m>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kern="100">
                        <a:latin typeface="Cambria Math" panose="02040503050406030204" pitchFamily="18" charset="0"/>
                        <a:ea typeface="MS Mincho" panose="02020609040205080304" charset="-128"/>
                        <a:cs typeface="Cambria Math" panose="02040503050406030204" pitchFamily="18" charset="0"/>
                      </a:rPr>
                      <m: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r>
                  <a:rPr lang="zh-CN" altLang="zh-CN" sz="2000" kern="100" dirty="0">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kern="100">
                        <a:latin typeface="Cambria Math" panose="02040503050406030204" pitchFamily="18" charset="0"/>
                        <a:ea typeface="MS Mincho" panose="02020609040205080304" charset="-128"/>
                        <a:cs typeface="Cambria Math" panose="02040503050406030204" pitchFamily="18" charset="0"/>
                      </a:rPr>
                      <m:t>&gt;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r>
                  <a:rPr lang="zh-CN" altLang="zh-CN" sz="2000" kern="100" dirty="0">
                    <a:latin typeface="宋体" panose="02010600030101010101" pitchFamily="2" charset="-122"/>
                    <a:ea typeface="宋体" panose="02010600030101010101" pitchFamily="2" charset="-122"/>
                    <a:cs typeface="宋体" panose="02010600030101010101" pitchFamily="2" charset="-122"/>
                  </a:rPr>
                  <a:t>足够小时，只要</a:t>
                </a:r>
                <a14:m>
                  <m:oMath xmlns:m="http://schemas.openxmlformats.org/officeDocument/2006/math">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e>
                      <m:sup>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𝑇</m:t>
                        </m:r>
                      </m:sup>
                    </m:sSup>
                    <m:r>
                      <m:rPr>
                        <m:sty m:val="p"/>
                      </m:rPr>
                      <a:rPr lang="en-US" altLang="zh-CN" sz="2000" kern="100">
                        <a:latin typeface="Cambria Math" panose="02040503050406030204" pitchFamily="18" charset="0"/>
                        <a:ea typeface="宋体" panose="02010600030101010101" pitchFamily="2" charset="-122"/>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kern="100">
                        <a:latin typeface="Cambria Math" panose="02040503050406030204" pitchFamily="18" charset="0"/>
                        <a:ea typeface="MS Mincho" panose="02020609040205080304" charset="-128"/>
                        <a:cs typeface="Cambria Math" panose="02040503050406030204" pitchFamily="18" charset="0"/>
                      </a:rPr>
                      <m:t>&gt;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r>
                  <a:rPr lang="zh-CN" altLang="zh-CN" sz="2000" kern="100" dirty="0">
                    <a:latin typeface="宋体" panose="02010600030101010101" pitchFamily="2" charset="-122"/>
                    <a:ea typeface="宋体" panose="02010600030101010101" pitchFamily="2" charset="-122"/>
                    <a:cs typeface="宋体" panose="02010600030101010101" pitchFamily="2" charset="-122"/>
                  </a:rPr>
                  <a:t>就有</a:t>
                </a:r>
                <a:endParaRPr lang="en-US" altLang="zh-CN" sz="2000"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spcBef>
                    <a:spcPts val="450"/>
                  </a:spcBef>
                  <a:spcAft>
                    <a:spcPts val="450"/>
                  </a:spcAft>
                </a:pPr>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e>
                    </m:d>
                    <m:r>
                      <a:rPr lang="en-US" altLang="zh-CN" sz="2000" i="1" kern="100">
                        <a:latin typeface="Cambria Math" panose="02040503050406030204" pitchFamily="18" charset="0"/>
                        <a:ea typeface="MS Mincho" panose="02020609040205080304" charset="-128"/>
                        <a:cs typeface="Cambria Math" panose="02040503050406030204" pitchFamily="18" charset="0"/>
                      </a:rPr>
                      <m: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endParaRPr lang="zh-CN" altLang="zh-CN" sz="2000"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spcBef>
                    <a:spcPts val="450"/>
                  </a:spcBef>
                  <a:spcAft>
                    <a:spcPts val="450"/>
                  </a:spcAft>
                </a:pPr>
                <a:r>
                  <a:rPr lang="zh-CN" altLang="zh-CN" sz="2000" kern="100" dirty="0">
                    <a:latin typeface="宋体" panose="02010600030101010101" pitchFamily="2" charset="-122"/>
                    <a:ea typeface="宋体" panose="02010600030101010101" pitchFamily="2" charset="-122"/>
                    <a:cs typeface="宋体" panose="02010600030101010101" pitchFamily="2" charset="-122"/>
                  </a:rPr>
                  <a:t>若</a:t>
                </a:r>
                <a14:m>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kern="100">
                        <a:latin typeface="Cambria Math" panose="02040503050406030204" pitchFamily="18" charset="0"/>
                        <a:ea typeface="MS Mincho" panose="02020609040205080304" charset="-128"/>
                        <a:cs typeface="Cambria Math" panose="02040503050406030204" pitchFamily="18" charset="0"/>
                      </a:rPr>
                      <m:t>&gt;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r>
                  <a:rPr lang="zh-CN" altLang="zh-CN" sz="2000" kern="100" dirty="0">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kern="100">
                        <a:latin typeface="Cambria Math" panose="02040503050406030204" pitchFamily="18" charset="0"/>
                        <a:ea typeface="MS Mincho" panose="02020609040205080304" charset="-128"/>
                        <a:cs typeface="Cambria Math" panose="02040503050406030204" pitchFamily="18" charset="0"/>
                      </a:rPr>
                      <m:t>&gt;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r>
                  <a:rPr lang="zh-CN" altLang="zh-CN" sz="2000" kern="100" dirty="0">
                    <a:latin typeface="宋体" panose="02010600030101010101" pitchFamily="2" charset="-122"/>
                    <a:ea typeface="宋体" panose="02010600030101010101" pitchFamily="2" charset="-122"/>
                    <a:cs typeface="宋体" panose="02010600030101010101" pitchFamily="2" charset="-122"/>
                  </a:rPr>
                  <a:t>足够小时，由函数的连续性知</a:t>
                </a:r>
                <a:r>
                  <a:rPr lang="zh-CN" altLang="en-US" sz="2000" kern="100" dirty="0">
                    <a:latin typeface="宋体" panose="02010600030101010101" pitchFamily="2" charset="-122"/>
                    <a:ea typeface="宋体" panose="02010600030101010101" pitchFamily="2" charset="-122"/>
                    <a:cs typeface="宋体" panose="02010600030101010101" pitchFamily="2" charset="-122"/>
                  </a:rPr>
                  <a:t>对任意方向</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kern="100" dirty="0">
                    <a:latin typeface="宋体" panose="02010600030101010101" pitchFamily="2" charset="-122"/>
                    <a:ea typeface="宋体" panose="02010600030101010101" pitchFamily="2" charset="-122"/>
                    <a:cs typeface="宋体" panose="02010600030101010101" pitchFamily="2" charset="-122"/>
                  </a:rPr>
                  <a:t>均有</a:t>
                </a:r>
                <a:endParaRPr lang="en-US" altLang="zh-CN" sz="2000"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spcBef>
                    <a:spcPts val="450"/>
                  </a:spcBef>
                  <a:spcAft>
                    <a:spcPts val="450"/>
                  </a:spcAft>
                </a:pPr>
                <a:r>
                  <a:rPr lang="en-US" altLang="zh-CN" sz="2000" kern="1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MS Mincho" panose="02020609040205080304" charset="-128"/>
                                <a:cs typeface="Cambria Math" panose="02040503050406030204" pitchFamily="18" charset="0"/>
                              </a:rPr>
                              <m:t>𝜆</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e>
                    </m:d>
                    <m:r>
                      <a:rPr lang="en-US" altLang="zh-CN" sz="2000" i="1" kern="100">
                        <a:latin typeface="Cambria Math" panose="02040503050406030204" pitchFamily="18" charset="0"/>
                        <a:ea typeface="MS Mincho" panose="02020609040205080304" charset="-128"/>
                        <a:cs typeface="Cambria Math" panose="02040503050406030204" pitchFamily="18" charset="0"/>
                      </a:rPr>
                      <m: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endParaRPr lang="en-US" altLang="zh-CN" sz="2000" kern="100" dirty="0">
                  <a:latin typeface="宋体" panose="02010600030101010101" pitchFamily="2" charset="-122"/>
                  <a:ea typeface="宋体" panose="02010600030101010101" pitchFamily="2" charset="-122"/>
                  <a:cs typeface="宋体" panose="02010600030101010101" pitchFamily="2" charset="-122"/>
                </a:endParaRPr>
              </a:p>
              <a:p>
                <a:pPr algn="just">
                  <a:lnSpc>
                    <a:spcPct val="150000"/>
                  </a:lnSpc>
                  <a:spcBef>
                    <a:spcPts val="450"/>
                  </a:spcBef>
                  <a:spcAft>
                    <a:spcPts val="450"/>
                  </a:spcAft>
                </a:pPr>
                <a:r>
                  <a:rPr lang="zh-CN" altLang="en-US" sz="2000" kern="100" dirty="0">
                    <a:latin typeface="宋体" panose="02010600030101010101" pitchFamily="2" charset="-122"/>
                    <a:ea typeface="宋体" panose="02010600030101010101" pitchFamily="2" charset="-122"/>
                    <a:cs typeface="宋体" panose="02010600030101010101" pitchFamily="2" charset="-122"/>
                  </a:rPr>
                  <a:t>所以，</a:t>
                </a:r>
                <a:r>
                  <a:rPr lang="zh-CN" altLang="zh-CN" sz="2000" kern="1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e>
                      <m:sup>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𝑇</m:t>
                        </m:r>
                      </m:sup>
                    </m:sSup>
                    <m:r>
                      <m:rPr>
                        <m:sty m:val="p"/>
                      </m:rPr>
                      <a:rPr lang="en-US" altLang="zh-CN" sz="2000" kern="100">
                        <a:latin typeface="Cambria Math" panose="02040503050406030204" pitchFamily="18" charset="0"/>
                        <a:ea typeface="宋体" panose="02010600030101010101" pitchFamily="2" charset="-122"/>
                        <a:cs typeface="Cambria Math" panose="02040503050406030204" pitchFamily="18" charset="0"/>
                      </a:rPr>
                      <m:t>∇</m:t>
                    </m:r>
                    <m:sSub>
                      <m:sSub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𝑗</m:t>
                        </m:r>
                      </m:sub>
                    </m:sSub>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sSup>
                          <m:sSup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0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kern="100">
                        <a:latin typeface="Cambria Math" panose="02040503050406030204" pitchFamily="18" charset="0"/>
                        <a:ea typeface="MS Mincho" panose="02020609040205080304" charset="-128"/>
                        <a:cs typeface="Cambria Math" panose="02040503050406030204" pitchFamily="18" charset="0"/>
                      </a:rPr>
                      <m:t>&gt;</m:t>
                    </m:r>
                    <m:r>
                      <a:rPr lang="en-US" altLang="zh-CN" sz="2000" i="1" kern="100">
                        <a:latin typeface="Cambria Math" panose="02040503050406030204" pitchFamily="18" charset="0"/>
                        <a:ea typeface="MS Mincho" panose="02020609040205080304" charset="-128"/>
                        <a:cs typeface="Cambria Math" panose="02040503050406030204" pitchFamily="18" charset="0"/>
                      </a:rPr>
                      <m:t>0</m:t>
                    </m:r>
                  </m:oMath>
                </a14:m>
                <a:r>
                  <a:rPr lang="zh-CN" altLang="en-US" sz="2000" kern="100" dirty="0">
                    <a:latin typeface="宋体" panose="02010600030101010101" pitchFamily="2" charset="-122"/>
                    <a:ea typeface="宋体" panose="02010600030101010101" pitchFamily="2" charset="-122"/>
                    <a:cs typeface="宋体" panose="02010600030101010101" pitchFamily="2" charset="-122"/>
                  </a:rPr>
                  <a:t>可以保证</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kern="100" dirty="0">
                    <a:latin typeface="宋体" panose="02010600030101010101" pitchFamily="2" charset="-122"/>
                    <a:ea typeface="宋体" panose="02010600030101010101" pitchFamily="2" charset="-122"/>
                    <a:cs typeface="宋体" panose="02010600030101010101" pitchFamily="2" charset="-122"/>
                  </a:rPr>
                  <a:t>为可行方向。</a:t>
                </a:r>
                <a:endParaRPr lang="zh-CN" altLang="zh-CN" sz="2000" kern="100" dirty="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395536" y="969512"/>
                <a:ext cx="8260556" cy="4918975"/>
              </a:xfrm>
              <a:prstGeom prst="rect">
                <a:avLst/>
              </a:prstGeom>
              <a:blipFill rotWithShape="1">
                <a:blip r:embed="rId1"/>
                <a:stretch>
                  <a:fillRect l="-7" t="-10" r="5" b="3"/>
                </a:stretch>
              </a:blipFill>
            </p:spPr>
            <p:txBody>
              <a:bodyPr/>
              <a:lstStyle/>
              <a:p>
                <a:r>
                  <a:rPr lang="zh-CN" altLang="en-US">
                    <a:noFill/>
                  </a:rPr>
                  <a:t> </a:t>
                </a:r>
              </a:p>
            </p:txBody>
          </p:sp>
        </mc:Fallback>
      </mc:AlternateContent>
      <p:sp>
        <p:nvSpPr>
          <p:cNvPr id="7" name="Rectangle 2"/>
          <p:cNvSpPr>
            <a:spLocks noChangeArrowheads="1"/>
          </p:cNvSpPr>
          <p:nvPr/>
        </p:nvSpPr>
        <p:spPr bwMode="auto">
          <a:xfrm>
            <a:off x="2123881" y="618726"/>
            <a:ext cx="138564" cy="377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61910" y="2726922"/>
            <a:ext cx="1350150" cy="2700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Rectangle 150"/>
          <p:cNvSpPr>
            <a:spLocks noChangeArrowheads="1"/>
          </p:cNvSpPr>
          <p:nvPr/>
        </p:nvSpPr>
        <p:spPr bwMode="auto">
          <a:xfrm>
            <a:off x="1143001" y="637960"/>
            <a:ext cx="138564"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2400"/>
          </a:p>
        </p:txBody>
      </p:sp>
      <p:sp>
        <p:nvSpPr>
          <p:cNvPr id="12" name="箭头: 右 11"/>
          <p:cNvSpPr/>
          <p:nvPr/>
        </p:nvSpPr>
        <p:spPr>
          <a:xfrm>
            <a:off x="4356359" y="2187074"/>
            <a:ext cx="756084"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mc:AlternateContent xmlns:mc="http://schemas.openxmlformats.org/markup-compatibility/2006">
        <mc:Choice xmlns:a14="http://schemas.microsoft.com/office/drawing/2010/main" Requires="a14">
          <p:sp>
            <p:nvSpPr>
              <p:cNvPr id="11" name="文本框 10"/>
              <p:cNvSpPr txBox="1"/>
              <p:nvPr/>
            </p:nvSpPr>
            <p:spPr>
              <a:xfrm>
                <a:off x="-55650" y="1484369"/>
                <a:ext cx="4752528" cy="114217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zh-CN" altLang="en-US" sz="2400">
                              <a:latin typeface="Cambria Math" panose="02040503050406030204" pitchFamily="18" charset="0"/>
                              <a:ea typeface="宋体" panose="02010600030101010101" pitchFamily="2" charset="-122"/>
                              <a:cs typeface="Cambria Math" panose="02040503050406030204" pitchFamily="18" charset="0"/>
                            </a:rPr>
                            <m:t> </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MS Mincho" panose="02020609040205080304" charset="-128"/>
                          <a:cs typeface="Cambria Math" panose="02040503050406030204" pitchFamily="18" charset="0"/>
                        </a:rPr>
                        <m:t>&gt;</m:t>
                      </m:r>
                      <m:r>
                        <a:rPr lang="en-US" altLang="zh-CN" sz="2400" i="1">
                          <a:latin typeface="Cambria Math" panose="02040503050406030204" pitchFamily="18" charset="0"/>
                          <a:ea typeface="MS Mincho" panose="02020609040205080304" charset="-128"/>
                          <a:cs typeface="Cambria Math" panose="02040503050406030204" pitchFamily="18" charset="0"/>
                        </a:rPr>
                        <m:t>0</m:t>
                      </m:r>
                      <m:r>
                        <a:rPr lang="en-US" altLang="zh-CN" sz="2400" i="1">
                          <a:latin typeface="Cambria Math" panose="02040503050406030204" pitchFamily="18" charset="0"/>
                          <a:ea typeface="MS Mincho" panose="02020609040205080304" charset="-128"/>
                          <a:cs typeface="Cambria Math" panose="02040503050406030204" pitchFamily="18" charset="0"/>
                        </a:rPr>
                        <m:t>   </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e>
                      </m:d>
                    </m:oMath>
                  </m:oMathPara>
                </a14:m>
                <a:endParaRPr lang="en-US" altLang="zh-CN" sz="2400" i="1"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MS Mincho" panose="02020609040205080304" charset="-128"/>
                          <a:cs typeface="Cambria Math" panose="02040503050406030204" pitchFamily="18" charset="0"/>
                        </a:rPr>
                        <m:t>&lt;</m:t>
                      </m:r>
                      <m:r>
                        <a:rPr lang="en-US" altLang="zh-CN" sz="2400" i="1">
                          <a:latin typeface="Cambria Math" panose="02040503050406030204" pitchFamily="18" charset="0"/>
                          <a:ea typeface="MS Mincho" panose="02020609040205080304" charset="-128"/>
                          <a:cs typeface="Cambria Math" panose="02040503050406030204" pitchFamily="18" charset="0"/>
                        </a:rPr>
                        <m:t>0</m:t>
                      </m:r>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55650" y="1484369"/>
                <a:ext cx="4752528" cy="1142172"/>
              </a:xfrm>
              <a:prstGeom prst="rect">
                <a:avLst/>
              </a:prstGeom>
              <a:blipFill rotWithShape="1">
                <a:blip r:embed="rId1"/>
                <a:stretch>
                  <a:fillRect l="9" t="-33" r="9"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5382102" y="1875473"/>
                <a:ext cx="3197066" cy="105157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𝐻</m:t>
                              </m:r>
                            </m:e>
                            <m:e>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&lt;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        </m:t>
                              </m:r>
                            </m:e>
                          </m:eqArr>
                        </m:e>
                      </m:d>
                    </m:oMath>
                  </m:oMathPara>
                </a14:m>
                <a:endParaRPr lang="zh-CN" altLang="en-US" sz="2400"/>
              </a:p>
            </p:txBody>
          </p:sp>
        </mc:Choice>
        <mc:Fallback>
          <p:sp>
            <p:nvSpPr>
              <p:cNvPr id="14" name="文本框 13"/>
              <p:cNvSpPr txBox="1">
                <a:spLocks noRot="1" noChangeAspect="1" noMove="1" noResize="1" noEditPoints="1" noAdjustHandles="1" noChangeArrowheads="1" noChangeShapeType="1" noTextEdit="1"/>
              </p:cNvSpPr>
              <p:nvPr/>
            </p:nvSpPr>
            <p:spPr>
              <a:xfrm>
                <a:off x="5382102" y="1875473"/>
                <a:ext cx="3197066" cy="1051570"/>
              </a:xfrm>
              <a:prstGeom prst="rect">
                <a:avLst/>
              </a:prstGeom>
              <a:blipFill rotWithShape="1">
                <a:blip r:embed="rId2"/>
                <a:stretch>
                  <a:fillRect l="-15" t="-30" r="-4241"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553979" y="3197715"/>
                <a:ext cx="8285798" cy="2702086"/>
              </a:xfrm>
              <a:prstGeom prst="rect">
                <a:avLst/>
              </a:prstGeom>
              <a:noFill/>
            </p:spPr>
            <p:txBody>
              <a:bodyPr wrap="square" rtlCol="0">
                <a:spAutoFit/>
              </a:bodyPr>
              <a:lstStyle/>
              <a:p>
                <a:pPr fontAlgn="auto">
                  <a:lnSpc>
                    <a:spcPct val="150000"/>
                  </a:lnSpc>
                </a:pPr>
                <a:r>
                  <a:rPr lang="en-US" altLang="zh-CN" sz="2400" dirty="0">
                    <a:latin typeface="宋体" panose="02010600030101010101" pitchFamily="2" charset="-122"/>
                    <a:ea typeface="宋体" panose="02010600030101010101" pitchFamily="2" charset="-122"/>
                  </a:rPr>
                  <a:t>	</a:t>
                </a:r>
                <a:r>
                  <a:rPr lang="zh-CN" altLang="en-US" sz="2400" b="1" dirty="0">
                    <a:solidFill>
                      <a:schemeClr val="accent1"/>
                    </a:solidFill>
                    <a:latin typeface="宋体" panose="02010600030101010101" pitchFamily="2" charset="-122"/>
                    <a:ea typeface="宋体" panose="02010600030101010101" pitchFamily="2" charset="-122"/>
                  </a:rPr>
                  <a:t>结论</a:t>
                </a:r>
                <a:r>
                  <a:rPr lang="zh-CN" altLang="en-US" sz="2400" dirty="0">
                    <a:latin typeface="宋体" panose="02010600030101010101" pitchFamily="2" charset="-122"/>
                    <a:ea typeface="宋体" panose="02010600030101010101" pitchFamily="2" charset="-122"/>
                  </a:rPr>
                  <a:t>：满足</a:t>
                </a:r>
                <a:endParaRPr lang="zh-CN" altLang="en-US" sz="2400" dirty="0">
                  <a:latin typeface="宋体" panose="02010600030101010101" pitchFamily="2" charset="-122"/>
                  <a:ea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zh-CN" altLang="en-US" sz="2400">
                              <a:latin typeface="Cambria Math" panose="02040503050406030204" pitchFamily="18" charset="0"/>
                              <a:ea typeface="宋体" panose="02010600030101010101" pitchFamily="2" charset="-122"/>
                              <a:cs typeface="Cambria Math" panose="02040503050406030204" pitchFamily="18" charset="0"/>
                            </a:rPr>
                            <m:t> </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MS Mincho" panose="02020609040205080304" charset="-128"/>
                          <a:cs typeface="Cambria Math" panose="02040503050406030204" pitchFamily="18" charset="0"/>
                        </a:rPr>
                        <m:t>&gt;</m:t>
                      </m:r>
                      <m:r>
                        <a:rPr lang="en-US" altLang="zh-CN" sz="2400" i="1">
                          <a:latin typeface="Cambria Math" panose="02040503050406030204" pitchFamily="18" charset="0"/>
                          <a:ea typeface="MS Mincho" panose="02020609040205080304" charset="-128"/>
                          <a:cs typeface="Cambria Math" panose="02040503050406030204" pitchFamily="18" charset="0"/>
                        </a:rPr>
                        <m:t>0</m:t>
                      </m:r>
                      <m:r>
                        <a:rPr lang="en-US" altLang="zh-CN" sz="2400" i="1">
                          <a:latin typeface="Cambria Math" panose="02040503050406030204" pitchFamily="18" charset="0"/>
                          <a:ea typeface="MS Mincho" panose="02020609040205080304" charset="-128"/>
                          <a:cs typeface="Cambria Math" panose="02040503050406030204" pitchFamily="18" charset="0"/>
                        </a:rPr>
                        <m:t>   </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e>
                      </m:d>
                    </m:oMath>
                  </m:oMathPara>
                </a14:m>
                <a:endParaRPr lang="en-US" altLang="zh-CN" sz="2400" i="1"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MS Mincho" panose="02020609040205080304" charset="-128"/>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𝑑</m:t>
                      </m:r>
                      <m:r>
                        <a:rPr lang="en-US" altLang="zh-CN" sz="2400" i="1">
                          <a:latin typeface="Cambria Math" panose="02040503050406030204" pitchFamily="18" charset="0"/>
                          <a:ea typeface="MS Mincho" panose="02020609040205080304" charset="-128"/>
                          <a:cs typeface="Cambria Math" panose="02040503050406030204" pitchFamily="18" charset="0"/>
                        </a:rPr>
                        <m:t>&lt;</m:t>
                      </m:r>
                      <m:r>
                        <a:rPr lang="en-US" altLang="zh-CN" sz="2400" i="1">
                          <a:latin typeface="Cambria Math" panose="02040503050406030204" pitchFamily="18" charset="0"/>
                          <a:ea typeface="MS Mincho" panose="02020609040205080304" charset="-128"/>
                          <a:cs typeface="Cambria Math" panose="02040503050406030204" pitchFamily="18" charset="0"/>
                        </a:rPr>
                        <m:t>0</m:t>
                      </m:r>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rPr>
                  <a:t>的方向</a:t>
                </a:r>
                <a14:m>
                  <m:oMath xmlns:m="http://schemas.openxmlformats.org/officeDocument/2006/math">
                    <m:r>
                      <a:rPr lang="en-US" altLang="zh-CN" sz="2400" i="1">
                        <a:latin typeface="Cambria Math" panose="02040503050406030204" pitchFamily="18" charset="0"/>
                        <a:cs typeface="Cambria Math" panose="02040503050406030204" pitchFamily="18" charset="0"/>
                      </a:rPr>
                      <m:t>𝑑</m:t>
                    </m:r>
                  </m:oMath>
                </a14:m>
                <a:r>
                  <a:rPr lang="zh-CN" altLang="en-US" sz="2400" dirty="0">
                    <a:latin typeface="宋体" panose="02010600030101010101" pitchFamily="2" charset="-122"/>
                    <a:ea typeface="宋体" panose="02010600030101010101" pitchFamily="2" charset="-122"/>
                    <a:cs typeface="Cambria Math" panose="02040503050406030204" pitchFamily="18" charset="0"/>
                  </a:rPr>
                  <a:t>一定是可行的下降方向。</a:t>
                </a:r>
                <a:endParaRPr lang="zh-CN" altLang="en-US" sz="24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15" name="文本框 14"/>
              <p:cNvSpPr txBox="1">
                <a:spLocks noRot="1" noChangeAspect="1" noMove="1" noResize="1" noEditPoints="1" noAdjustHandles="1" noChangeArrowheads="1" noChangeShapeType="1" noTextEdit="1"/>
              </p:cNvSpPr>
              <p:nvPr/>
            </p:nvSpPr>
            <p:spPr>
              <a:xfrm>
                <a:off x="553979" y="3197715"/>
                <a:ext cx="8285798" cy="2702086"/>
              </a:xfrm>
              <a:prstGeom prst="rect">
                <a:avLst/>
              </a:prstGeom>
              <a:blipFill rotWithShape="1">
                <a:blip r:embed="rId3"/>
                <a:stretch>
                  <a:fillRect l="-3" t="-18" r="7" b="1"/>
                </a:stretch>
              </a:blipFill>
            </p:spPr>
            <p:txBody>
              <a:bodyPr/>
              <a:lstStyle/>
              <a:p>
                <a:r>
                  <a:rPr lang="zh-CN" altLang="en-US">
                    <a:noFill/>
                  </a:rPr>
                  <a:t> </a:t>
                </a:r>
              </a:p>
            </p:txBody>
          </p:sp>
        </mc:Fallback>
      </mc:AlternateContent>
      <p:sp>
        <p:nvSpPr>
          <p:cNvPr id="5" name="文本框 4"/>
          <p:cNvSpPr txBox="1"/>
          <p:nvPr/>
        </p:nvSpPr>
        <p:spPr>
          <a:xfrm>
            <a:off x="251520" y="614877"/>
            <a:ext cx="6656104" cy="461665"/>
          </a:xfrm>
          <a:prstGeom prst="rect">
            <a:avLst/>
          </a:prstGeom>
          <a:noFill/>
        </p:spPr>
        <p:txBody>
          <a:bodyPr wrap="square">
            <a:spAutoFit/>
          </a:bodyPr>
          <a:lstStyle/>
          <a:p>
            <a:pPr indent="200025" algn="just"/>
            <a:r>
              <a:rPr lang="zh-CN" altLang="zh-CN" sz="2400" kern="100" dirty="0">
                <a:latin typeface="Times New Roman" panose="02020603050405020304" pitchFamily="18" charset="0"/>
                <a:ea typeface="宋体" panose="02010600030101010101" pitchFamily="2" charset="-122"/>
              </a:rPr>
              <a:t>结合负梯度方向是函数值下降最快的方向，有</a:t>
            </a:r>
            <a:endParaRPr lang="zh-CN" altLang="zh-CN" sz="2400" kern="100" dirty="0">
              <a:latin typeface="Times New Roman" panose="02020603050405020304" pitchFamily="18"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323528" y="620688"/>
                <a:ext cx="7830870" cy="6016262"/>
              </a:xfrm>
              <a:prstGeom prst="rect">
                <a:avLst/>
              </a:prstGeom>
              <a:noFill/>
            </p:spPr>
            <p:txBody>
              <a:bodyPr wrap="square">
                <a:spAutoFit/>
              </a:bodyPr>
              <a:lstStyle/>
              <a:p>
                <a:pPr algn="just">
                  <a:lnSpc>
                    <a:spcPct val="130000"/>
                  </a:lnSpc>
                </a:pPr>
                <a:r>
                  <a:rPr lang="zh-CN" altLang="zh-CN" sz="2000" b="1" kern="100" dirty="0">
                    <a:solidFill>
                      <a:schemeClr val="accent1"/>
                    </a:solidFill>
                    <a:latin typeface="宋体" panose="02010600030101010101" pitchFamily="2" charset="-122"/>
                    <a:ea typeface="宋体" panose="02010600030101010101" pitchFamily="2" charset="-122"/>
                  </a:rPr>
                  <a:t>例 </a:t>
                </a:r>
                <a:r>
                  <a:rPr lang="zh-CN" altLang="zh-CN" sz="2000" kern="100" dirty="0">
                    <a:latin typeface="宋体" panose="02010600030101010101" pitchFamily="2" charset="-122"/>
                    <a:ea typeface="宋体" panose="02010600030101010101" pitchFamily="2" charset="-122"/>
                  </a:rPr>
                  <a:t>考虑非线性规划问题</a:t>
                </a:r>
                <a:r>
                  <a:rPr lang="en-US" altLang="zh-CN" sz="2000" kern="100" dirty="0">
                    <a:latin typeface="宋体" panose="02010600030101010101" pitchFamily="2" charset="-122"/>
                    <a:ea typeface="宋体" panose="02010600030101010101" pitchFamily="2" charset="-122"/>
                  </a:rPr>
                  <a:t>  </a:t>
                </a:r>
                <a:endParaRPr lang="en-US" altLang="zh-CN" sz="2000" kern="100" dirty="0">
                  <a:latin typeface="宋体" panose="02010600030101010101" pitchFamily="2" charset="-122"/>
                  <a:ea typeface="宋体" panose="02010600030101010101" pitchFamily="2" charset="-122"/>
                </a:endParaRPr>
              </a:p>
              <a:p>
                <a:pPr algn="ctr"/>
                <a:r>
                  <a:rPr lang="en-US" altLang="zh-CN" sz="2000" kern="100" dirty="0">
                    <a:latin typeface="宋体" panose="02010600030101010101" pitchFamily="2" charset="-122"/>
                    <a:ea typeface="宋体" panose="02010600030101010101" pitchFamily="2" charset="-122"/>
                  </a:rPr>
                  <a:t>   </a:t>
                </a:r>
                <a14:m>
                  <m:oMath xmlns:m="http://schemas.openxmlformats.org/officeDocument/2006/math">
                    <m:m>
                      <m:mPr>
                        <m:mcs>
                          <m:mc>
                            <m:mcPr>
                              <m:count m:val="1"/>
                              <m:mcJc m:val="center"/>
                            </m:mcPr>
                          </m:mc>
                        </m:mcs>
                        <m:ctrlPr>
                          <a:rPr lang="zh-CN" altLang="zh-CN" sz="2000" i="1" kern="100">
                            <a:latin typeface="Cambria Math" panose="02040503050406030204" pitchFamily="18" charset="0"/>
                            <a:ea typeface="Cambria Math" panose="02040503050406030204" pitchFamily="18" charset="0"/>
                          </a:rPr>
                        </m:ctrlPr>
                      </m:mPr>
                      <m:mr>
                        <m:e>
                          <m:func>
                            <m:funcPr>
                              <m:ctrlPr>
                                <a:rPr lang="zh-CN" altLang="zh-CN" sz="2000" i="1" kern="100">
                                  <a:latin typeface="Cambria Math" panose="02040503050406030204" pitchFamily="18" charset="0"/>
                                  <a:ea typeface="Cambria Math" panose="02040503050406030204" pitchFamily="18" charset="0"/>
                                </a:rPr>
                              </m:ctrlPr>
                            </m:funcPr>
                            <m:fName>
                              <m:r>
                                <m:rPr>
                                  <m:sty m:val="p"/>
                                </m:rPr>
                                <a:rPr lang="en-US" altLang="zh-CN" sz="2000" kern="100">
                                  <a:latin typeface="Cambria Math" panose="02040503050406030204" pitchFamily="18" charset="0"/>
                                  <a:ea typeface="宋体" panose="02010600030101010101" pitchFamily="2" charset="-122"/>
                                </a:rPr>
                                <m:t>min</m:t>
                              </m:r>
                            </m:fName>
                            <m:e>
                              <m:r>
                                <a:rPr lang="en-US" altLang="zh-CN" sz="2000" i="1" kern="100">
                                  <a:latin typeface="Cambria Math" panose="02040503050406030204" pitchFamily="18" charset="0"/>
                                  <a:ea typeface="宋体" panose="02010600030101010101" pitchFamily="2" charset="-122"/>
                                </a:rPr>
                                <m:t>𝑓</m:t>
                              </m:r>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rPr>
                                    <m:t>𝑥</m:t>
                                  </m:r>
                                </m:e>
                              </m:d>
                              <m:r>
                                <a:rPr lang="en-US" altLang="zh-CN" sz="2000" i="1" kern="100">
                                  <a:latin typeface="Cambria Math" panose="02040503050406030204" pitchFamily="18" charset="0"/>
                                  <a:ea typeface="宋体" panose="02010600030101010101" pitchFamily="2"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6</m:t>
                                  </m:r>
                                  <m:r>
                                    <a:rPr lang="en-US" altLang="zh-CN" sz="2000" i="1" kern="100">
                                      <a:latin typeface="Cambria Math" panose="02040503050406030204" pitchFamily="18" charset="0"/>
                                      <a:ea typeface="宋体" panose="02010600030101010101" pitchFamily="2" charset="-122"/>
                                    </a:rPr>
                                    <m:t>)</m:t>
                                  </m:r>
                                </m:e>
                                <m:sup>
                                  <m:r>
                                    <a:rPr lang="en-US" altLang="zh-CN" sz="2000" i="1" kern="100">
                                      <a:latin typeface="Cambria Math" panose="02040503050406030204" pitchFamily="18" charset="0"/>
                                      <a:ea typeface="宋体" panose="02010600030101010101" pitchFamily="2" charset="-122"/>
                                    </a:rPr>
                                    <m:t>2</m:t>
                                  </m:r>
                                </m:sup>
                              </m:sSup>
                              <m:r>
                                <a:rPr lang="en-US" altLang="zh-CN" sz="2000" i="1" kern="100">
                                  <a:latin typeface="Cambria Math" panose="02040503050406030204" pitchFamily="18" charset="0"/>
                                  <a:ea typeface="宋体" panose="02010600030101010101" pitchFamily="2"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2</m:t>
                                  </m:r>
                                  <m:r>
                                    <a:rPr lang="en-US" altLang="zh-CN" sz="2000" i="1" kern="100">
                                      <a:latin typeface="Cambria Math" panose="02040503050406030204" pitchFamily="18" charset="0"/>
                                      <a:ea typeface="宋体" panose="02010600030101010101" pitchFamily="2" charset="-122"/>
                                    </a:rPr>
                                    <m:t>)</m:t>
                                  </m:r>
                                </m:e>
                                <m:sup>
                                  <m:r>
                                    <a:rPr lang="en-US" altLang="zh-CN" sz="2000" i="1" kern="100">
                                      <a:latin typeface="Cambria Math" panose="02040503050406030204" pitchFamily="18" charset="0"/>
                                      <a:ea typeface="宋体" panose="02010600030101010101" pitchFamily="2" charset="-122"/>
                                    </a:rPr>
                                    <m:t>2</m:t>
                                  </m:r>
                                </m:sup>
                              </m:sSup>
                            </m:e>
                          </m:func>
                        </m:e>
                      </m:mr>
                      <m:mr>
                        <m:e>
                          <m:r>
                            <a:rPr lang="en-US" altLang="zh-CN" sz="2000" i="1" kern="100">
                              <a:latin typeface="Cambria Math" panose="02040503050406030204" pitchFamily="18" charset="0"/>
                              <a:ea typeface="宋体" panose="02010600030101010101" pitchFamily="2" charset="-122"/>
                            </a:rPr>
                            <m:t>𝑠</m:t>
                          </m:r>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𝑡</m:t>
                          </m:r>
                          <m:r>
                            <a:rPr lang="en-US" altLang="zh-CN" sz="2000" i="1" kern="100">
                              <a:latin typeface="Cambria Math" panose="02040503050406030204" pitchFamily="18" charset="0"/>
                              <a:ea typeface="宋体" panose="02010600030101010101" pitchFamily="2" charset="-122"/>
                            </a:rPr>
                            <m:t>. </m:t>
                          </m:r>
                          <m:m>
                            <m:mPr>
                              <m:mcs>
                                <m:mc>
                                  <m:mcPr>
                                    <m:count m:val="1"/>
                                    <m:mcJc m:val="center"/>
                                  </m:mcPr>
                                </m:mc>
                              </m:mcs>
                              <m:ctrlPr>
                                <a:rPr lang="zh-CN" altLang="zh-CN" sz="2000" i="1" kern="100">
                                  <a:latin typeface="Cambria Math" panose="02040503050406030204" pitchFamily="18" charset="0"/>
                                  <a:ea typeface="Cambria Math" panose="02040503050406030204" pitchFamily="18" charset="0"/>
                                </a:rPr>
                              </m:ctrlPr>
                            </m:mPr>
                            <m:mr>
                              <m:e>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2</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4</m:t>
                                </m:r>
                              </m:e>
                            </m:mr>
                            <m:m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3</m:t>
                                    </m:r>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2</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12</m:t>
                                </m:r>
                              </m:e>
                            </m:mr>
                            <m:m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0</m:t>
                                </m:r>
                                <m:r>
                                  <a:rPr lang="en-US" altLang="zh-CN" sz="2000" i="1" kern="100">
                                    <a:latin typeface="Cambria Math" panose="02040503050406030204" pitchFamily="18" charset="0"/>
                                    <a:ea typeface="宋体" panose="02010600030101010101" pitchFamily="2" charset="-122"/>
                                  </a:rPr>
                                  <m:t>,  </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0</m:t>
                                </m:r>
                              </m:e>
                            </m:mr>
                          </m:m>
                        </m:e>
                      </m:mr>
                    </m:m>
                  </m:oMath>
                </a14:m>
                <a:endParaRPr lang="zh-CN" altLang="zh-CN" sz="2000" kern="100" dirty="0">
                  <a:latin typeface="宋体" panose="02010600030101010101" pitchFamily="2" charset="-122"/>
                  <a:ea typeface="宋体" panose="02010600030101010101" pitchFamily="2" charset="-122"/>
                </a:endParaRPr>
              </a:p>
              <a:p>
                <a:pPr algn="just">
                  <a:lnSpc>
                    <a:spcPct val="130000"/>
                  </a:lnSpc>
                </a:pPr>
                <a:r>
                  <a:rPr lang="zh-CN" altLang="zh-CN" sz="2000" kern="100" dirty="0">
                    <a:latin typeface="宋体" panose="02010600030101010101" pitchFamily="2" charset="-122"/>
                    <a:ea typeface="宋体" panose="02010600030101010101" pitchFamily="2" charset="-122"/>
                  </a:rPr>
                  <a:t>求出在点</a:t>
                </a:r>
                <a14:m>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rPr>
                        </m:ctrlPr>
                      </m:sSupPr>
                      <m:e>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0</m:t>
                        </m:r>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0</m:t>
                        </m:r>
                        <m:r>
                          <a:rPr lang="en-US" altLang="zh-CN" sz="2000" i="1" kern="100">
                            <a:latin typeface="Cambria Math" panose="02040503050406030204" pitchFamily="18" charset="0"/>
                            <a:ea typeface="宋体" panose="02010600030101010101" pitchFamily="2" charset="-122"/>
                          </a:rPr>
                          <m:t>)</m:t>
                        </m:r>
                      </m:e>
                      <m:sup>
                        <m:r>
                          <a:rPr lang="en-US" altLang="zh-CN" sz="2000" i="1" kern="100">
                            <a:latin typeface="Cambria Math" panose="02040503050406030204" pitchFamily="18" charset="0"/>
                            <a:ea typeface="宋体" panose="02010600030101010101" pitchFamily="2" charset="-122"/>
                          </a:rPr>
                          <m:t>𝑇</m:t>
                        </m:r>
                      </m:sup>
                    </m:sSup>
                  </m:oMath>
                </a14:m>
                <a:r>
                  <a:rPr lang="zh-CN" altLang="zh-CN" sz="2000" kern="100" dirty="0">
                    <a:latin typeface="宋体" panose="02010600030101010101" pitchFamily="2" charset="-122"/>
                    <a:ea typeface="宋体" panose="02010600030101010101" pitchFamily="2" charset="-122"/>
                  </a:rPr>
                  <a:t>处的一个可行下降方向。</a:t>
                </a:r>
                <a:endParaRPr lang="zh-CN" altLang="zh-CN" sz="2000" kern="100" dirty="0">
                  <a:latin typeface="宋体" panose="02010600030101010101" pitchFamily="2" charset="-122"/>
                  <a:ea typeface="宋体" panose="02010600030101010101" pitchFamily="2" charset="-122"/>
                </a:endParaRPr>
              </a:p>
              <a:p>
                <a:pPr algn="just">
                  <a:lnSpc>
                    <a:spcPct val="130000"/>
                  </a:lnSpc>
                </a:pPr>
                <a:r>
                  <a:rPr lang="zh-CN" altLang="zh-CN" sz="2000" b="1" kern="100" dirty="0">
                    <a:solidFill>
                      <a:schemeClr val="accent1"/>
                    </a:solidFill>
                    <a:latin typeface="宋体" panose="02010600030101010101" pitchFamily="2" charset="-122"/>
                    <a:ea typeface="宋体" panose="02010600030101010101" pitchFamily="2" charset="-122"/>
                  </a:rPr>
                  <a:t>解</a:t>
                </a:r>
                <a:r>
                  <a:rPr lang="zh-CN" altLang="zh-CN" sz="2000" kern="100" dirty="0">
                    <a:latin typeface="宋体" panose="02010600030101010101" pitchFamily="2" charset="-122"/>
                    <a:ea typeface="宋体" panose="02010600030101010101" pitchFamily="2" charset="-122"/>
                  </a:rPr>
                  <a:t>：目标函数</a:t>
                </a:r>
                <a14:m>
                  <m:oMath xmlns:m="http://schemas.openxmlformats.org/officeDocument/2006/math">
                    <m:r>
                      <a:rPr lang="en-US" altLang="zh-CN" sz="2000" i="1" kern="100">
                        <a:latin typeface="Cambria Math" panose="02040503050406030204" pitchFamily="18" charset="0"/>
                        <a:ea typeface="宋体" panose="02010600030101010101" pitchFamily="2" charset="-122"/>
                      </a:rPr>
                      <m:t>𝑓</m:t>
                    </m:r>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rPr>
                          <m:t>𝑥</m:t>
                        </m:r>
                      </m:e>
                    </m:d>
                  </m:oMath>
                </a14:m>
                <a:r>
                  <a:rPr lang="zh-CN" altLang="zh-CN" sz="2000" kern="100" dirty="0">
                    <a:latin typeface="宋体" panose="02010600030101010101" pitchFamily="2" charset="-122"/>
                    <a:ea typeface="宋体" panose="02010600030101010101" pitchFamily="2" charset="-122"/>
                  </a:rPr>
                  <a:t>的梯度是</a:t>
                </a:r>
                <a:endParaRPr lang="zh-CN" altLang="zh-CN" sz="2000" kern="100" dirty="0">
                  <a:latin typeface="宋体" panose="02010600030101010101" pitchFamily="2" charset="-122"/>
                  <a:ea typeface="宋体" panose="02010600030101010101" pitchFamily="2" charset="-122"/>
                </a:endParaRPr>
              </a:p>
              <a:p>
                <a:pPr algn="just">
                  <a:lnSpc>
                    <a:spcPct val="130000"/>
                  </a:lnSpc>
                </a:pPr>
                <a14:m>
                  <m:oMathPara xmlns:m="http://schemas.openxmlformats.org/officeDocument/2006/math">
                    <m:oMathParaPr>
                      <m:jc m:val="centerGroup"/>
                    </m:oMathParaPr>
                    <m:oMath xmlns:m="http://schemas.openxmlformats.org/officeDocument/2006/math">
                      <m:r>
                        <m:rPr>
                          <m:sty m:val="p"/>
                        </m:rPr>
                        <a:rPr lang="en-US" altLang="zh-CN" sz="2000"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𝑓</m:t>
                      </m:r>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rPr>
                            <m:t>𝑥</m:t>
                          </m:r>
                        </m:e>
                      </m:d>
                      <m:r>
                        <a:rPr lang="en-US" altLang="zh-CN" sz="2000" i="1" kern="100">
                          <a:latin typeface="Cambria Math" panose="02040503050406030204" pitchFamily="18" charset="0"/>
                          <a:ea typeface="宋体" panose="02010600030101010101" pitchFamily="2" charset="-122"/>
                        </a:rPr>
                        <m:t>=</m:t>
                      </m:r>
                      <m:d>
                        <m:dPr>
                          <m:ctrlPr>
                            <a:rPr lang="zh-CN" altLang="zh-CN" sz="2000" i="1" kern="100">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000" i="1" kern="100">
                                  <a:latin typeface="Cambria Math" panose="02040503050406030204" pitchFamily="18" charset="0"/>
                                  <a:ea typeface="Cambria Math" panose="02040503050406030204" pitchFamily="18" charset="0"/>
                                </a:rPr>
                              </m:ctrlPr>
                            </m:mPr>
                            <m:mr>
                              <m:e>
                                <m:r>
                                  <a:rPr lang="en-US" altLang="zh-CN" sz="2000" i="1" kern="100">
                                    <a:latin typeface="Cambria Math" panose="02040503050406030204" pitchFamily="18" charset="0"/>
                                    <a:ea typeface="宋体" panose="02010600030101010101" pitchFamily="2" charset="-122"/>
                                  </a:rPr>
                                  <m:t>2</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12</m:t>
                                </m:r>
                              </m:e>
                            </m:mr>
                            <m:mr>
                              <m:e>
                                <m:r>
                                  <a:rPr lang="en-US" altLang="zh-CN" sz="2000" i="1" kern="100">
                                    <a:latin typeface="Cambria Math" panose="02040503050406030204" pitchFamily="18" charset="0"/>
                                    <a:ea typeface="宋体" panose="02010600030101010101" pitchFamily="2" charset="-122"/>
                                  </a:rPr>
                                  <m:t>2</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4</m:t>
                                </m:r>
                              </m:e>
                            </m:mr>
                          </m:m>
                        </m:e>
                      </m:d>
                    </m:oMath>
                  </m:oMathPara>
                </a14:m>
                <a:endParaRPr lang="zh-CN" altLang="zh-CN" sz="2000" kern="100" dirty="0">
                  <a:latin typeface="宋体" panose="02010600030101010101" pitchFamily="2" charset="-122"/>
                  <a:ea typeface="宋体" panose="02010600030101010101" pitchFamily="2" charset="-122"/>
                </a:endParaRPr>
              </a:p>
              <a:p>
                <a:pPr algn="just">
                  <a:lnSpc>
                    <a:spcPct val="130000"/>
                  </a:lnSpc>
                </a:pPr>
                <a:r>
                  <a:rPr lang="zh-CN" altLang="zh-CN" sz="2000" kern="100" dirty="0">
                    <a:latin typeface="宋体" panose="02010600030101010101" pitchFamily="2" charset="-122"/>
                    <a:ea typeface="宋体" panose="02010600030101010101" pitchFamily="2" charset="-122"/>
                  </a:rPr>
                  <a:t>故</a:t>
                </a:r>
                <a14:m>
                  <m:oMath xmlns:m="http://schemas.openxmlformats.org/officeDocument/2006/math">
                    <m:r>
                      <m:rPr>
                        <m:sty m:val="p"/>
                      </m:rPr>
                      <a:rPr lang="en-US" altLang="zh-CN" sz="2000"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𝑓</m:t>
                    </m:r>
                    <m:d>
                      <m:dPr>
                        <m:ctrlPr>
                          <a:rPr lang="zh-CN" altLang="zh-CN" sz="2000" i="1" kern="100">
                            <a:latin typeface="Cambria Math" panose="02040503050406030204" pitchFamily="18" charset="0"/>
                            <a:ea typeface="Cambria Math" panose="02040503050406030204" pitchFamily="18" charset="0"/>
                          </a:rPr>
                        </m:ctrlPr>
                      </m:dPr>
                      <m:e>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e>
                    </m:d>
                    <m:r>
                      <a:rPr lang="en-US" altLang="zh-CN" sz="2000" i="1" kern="100">
                        <a:latin typeface="Cambria Math" panose="02040503050406030204" pitchFamily="18" charset="0"/>
                        <a:ea typeface="宋体" panose="02010600030101010101" pitchFamily="2"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12</m:t>
                        </m:r>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4</m:t>
                        </m:r>
                        <m:r>
                          <a:rPr lang="en-US" altLang="zh-CN" sz="2000" i="1" kern="100">
                            <a:latin typeface="Cambria Math" panose="02040503050406030204" pitchFamily="18" charset="0"/>
                            <a:ea typeface="宋体" panose="02010600030101010101" pitchFamily="2" charset="-122"/>
                          </a:rPr>
                          <m:t>)</m:t>
                        </m:r>
                      </m:e>
                      <m:sup>
                        <m:r>
                          <a:rPr lang="en-US" altLang="zh-CN" sz="2000" i="1" kern="100">
                            <a:latin typeface="Cambria Math" panose="02040503050406030204" pitchFamily="18" charset="0"/>
                            <a:ea typeface="宋体" panose="02010600030101010101" pitchFamily="2" charset="-122"/>
                          </a:rPr>
                          <m:t>𝑇</m:t>
                        </m:r>
                      </m:sup>
                    </m:sSup>
                  </m:oMath>
                </a14:m>
                <a:r>
                  <a:rPr lang="zh-CN" altLang="zh-CN" sz="2000" kern="100" dirty="0">
                    <a:latin typeface="宋体" panose="02010600030101010101" pitchFamily="2" charset="-122"/>
                    <a:ea typeface="宋体" panose="02010600030101010101" pitchFamily="2" charset="-122"/>
                  </a:rPr>
                  <a:t>。在</a:t>
                </a:r>
                <a14:m>
                  <m:oMath xmlns:m="http://schemas.openxmlformats.org/officeDocument/2006/math">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oMath>
                </a14:m>
                <a:r>
                  <a:rPr lang="zh-CN" altLang="zh-CN" sz="2000" kern="100" dirty="0">
                    <a:latin typeface="宋体" panose="02010600030101010101" pitchFamily="2" charset="-122"/>
                    <a:ea typeface="宋体" panose="02010600030101010101" pitchFamily="2" charset="-122"/>
                  </a:rPr>
                  <a:t>处的下降方向满足</a:t>
                </a:r>
                <a14:m>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rPr>
                        </m:ctrlPr>
                      </m:sSupPr>
                      <m:e>
                        <m:r>
                          <m:rPr>
                            <m:sty m:val="p"/>
                          </m:rPr>
                          <a:rPr lang="en-US" altLang="zh-CN" sz="2000"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𝑓</m:t>
                        </m:r>
                        <m:d>
                          <m:dPr>
                            <m:ctrlPr>
                              <a:rPr lang="zh-CN" altLang="zh-CN" sz="2000" i="1" kern="100">
                                <a:latin typeface="Cambria Math" panose="02040503050406030204" pitchFamily="18" charset="0"/>
                                <a:ea typeface="Cambria Math" panose="02040503050406030204" pitchFamily="18" charset="0"/>
                              </a:rPr>
                            </m:ctrlPr>
                          </m:dPr>
                          <m:e>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e>
                        </m:d>
                      </m:e>
                      <m:sup>
                        <m:r>
                          <a:rPr lang="en-US" altLang="zh-CN" sz="2000" i="1" kern="100">
                            <a:latin typeface="Cambria Math" panose="02040503050406030204" pitchFamily="18" charset="0"/>
                            <a:ea typeface="宋体" panose="02010600030101010101" pitchFamily="2" charset="-122"/>
                          </a:rPr>
                          <m:t>𝑇</m:t>
                        </m:r>
                      </m:sup>
                    </m:sSup>
                    <m:r>
                      <a:rPr lang="en-US" altLang="zh-CN" sz="2000" i="1" kern="100">
                        <a:latin typeface="Cambria Math" panose="02040503050406030204" pitchFamily="18" charset="0"/>
                        <a:ea typeface="宋体" panose="02010600030101010101" pitchFamily="2" charset="-122"/>
                      </a:rPr>
                      <m:t>𝑑</m:t>
                    </m:r>
                    <m:r>
                      <a:rPr lang="en-US" altLang="zh-CN" sz="2000" i="1" kern="100">
                        <a:latin typeface="Cambria Math" panose="02040503050406030204" pitchFamily="18" charset="0"/>
                        <a:ea typeface="宋体" panose="02010600030101010101" pitchFamily="2" charset="-122"/>
                      </a:rPr>
                      <m:t>&lt;</m:t>
                    </m:r>
                    <m:r>
                      <a:rPr lang="en-US" altLang="zh-CN" sz="2000" i="1" kern="100">
                        <a:latin typeface="Cambria Math" panose="02040503050406030204" pitchFamily="18" charset="0"/>
                        <a:ea typeface="宋体" panose="02010600030101010101" pitchFamily="2" charset="-122"/>
                      </a:rPr>
                      <m:t>0</m:t>
                    </m:r>
                  </m:oMath>
                </a14:m>
                <a:r>
                  <a:rPr lang="zh-CN" altLang="zh-CN" sz="2000" kern="100" dirty="0">
                    <a:latin typeface="宋体" panose="02010600030101010101" pitchFamily="2" charset="-122"/>
                    <a:ea typeface="宋体" panose="02010600030101010101" pitchFamily="2" charset="-122"/>
                  </a:rPr>
                  <a:t>，即</a:t>
                </a:r>
                <a:endParaRPr lang="zh-CN" altLang="zh-CN" sz="2000" kern="100" dirty="0">
                  <a:latin typeface="宋体" panose="02010600030101010101" pitchFamily="2" charset="-122"/>
                  <a:ea typeface="宋体" panose="02010600030101010101" pitchFamily="2" charset="-122"/>
                </a:endParaRPr>
              </a:p>
              <a:p>
                <a:pPr algn="just">
                  <a:lnSpc>
                    <a:spcPct val="130000"/>
                  </a:lnSpc>
                </a:pPr>
                <a14:m>
                  <m:oMathPara xmlns:m="http://schemas.openxmlformats.org/officeDocument/2006/math">
                    <m:oMathParaPr>
                      <m:jc m:val="centerGroup"/>
                    </m:oMathParaPr>
                    <m:oMath xmlns:m="http://schemas.openxmlformats.org/officeDocument/2006/math">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12</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𝑑</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4</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𝑑</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&lt;</m:t>
                      </m:r>
                      <m:r>
                        <a:rPr lang="en-US" altLang="zh-CN" sz="2000" i="1" kern="100">
                          <a:latin typeface="Cambria Math" panose="02040503050406030204" pitchFamily="18" charset="0"/>
                          <a:ea typeface="宋体" panose="02010600030101010101" pitchFamily="2" charset="-122"/>
                        </a:rPr>
                        <m:t>0</m:t>
                      </m:r>
                    </m:oMath>
                  </m:oMathPara>
                </a14:m>
                <a:endParaRPr lang="zh-CN" altLang="zh-CN" sz="2000" kern="100" dirty="0">
                  <a:latin typeface="宋体" panose="02010600030101010101" pitchFamily="2" charset="-122"/>
                  <a:ea typeface="宋体" panose="02010600030101010101" pitchFamily="2" charset="-122"/>
                </a:endParaRPr>
              </a:p>
              <a:p>
                <a:pPr algn="just">
                  <a:lnSpc>
                    <a:spcPct val="130000"/>
                  </a:lnSpc>
                </a:pPr>
                <a:r>
                  <a:rPr lang="en-US" altLang="zh-CN" sz="2000" kern="100" dirty="0">
                    <a:latin typeface="宋体" panose="02010600030101010101" pitchFamily="2" charset="-122"/>
                    <a:ea typeface="宋体" panose="02010600030101010101" pitchFamily="2" charset="-122"/>
                  </a:rPr>
                  <a:t>	</a:t>
                </a:r>
                <a:r>
                  <a:rPr lang="zh-CN" altLang="zh-CN" sz="2000" kern="100" dirty="0">
                    <a:latin typeface="宋体" panose="02010600030101010101" pitchFamily="2" charset="-122"/>
                    <a:ea typeface="宋体" panose="02010600030101010101" pitchFamily="2" charset="-122"/>
                  </a:rPr>
                  <a:t>在</a:t>
                </a:r>
                <a14:m>
                  <m:oMath xmlns:m="http://schemas.openxmlformats.org/officeDocument/2006/math">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oMath>
                </a14:m>
                <a:r>
                  <a:rPr lang="zh-CN" altLang="zh-CN" sz="2000" kern="100" dirty="0">
                    <a:latin typeface="宋体" panose="02010600030101010101" pitchFamily="2" charset="-122"/>
                    <a:ea typeface="宋体" panose="02010600030101010101" pitchFamily="2" charset="-122"/>
                  </a:rPr>
                  <a:t>处起作用约束有</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0</m:t>
                    </m:r>
                    <m:r>
                      <a:rPr lang="en-US" altLang="zh-CN" sz="2000" i="1" kern="100">
                        <a:latin typeface="Cambria Math" panose="02040503050406030204" pitchFamily="18" charset="0"/>
                        <a:ea typeface="宋体" panose="02010600030101010101" pitchFamily="2" charset="-122"/>
                      </a:rPr>
                      <m:t>,  </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𝑥</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0</m:t>
                    </m:r>
                  </m:oMath>
                </a14:m>
                <a:r>
                  <a:rPr lang="zh-CN" altLang="zh-CN" sz="2000" kern="100" dirty="0">
                    <a:latin typeface="宋体" panose="02010600030101010101" pitchFamily="2" charset="-122"/>
                    <a:ea typeface="宋体" panose="02010600030101010101" pitchFamily="2" charset="-122"/>
                  </a:rPr>
                  <a:t>，所以在</a:t>
                </a:r>
                <a14:m>
                  <m:oMath xmlns:m="http://schemas.openxmlformats.org/officeDocument/2006/math">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oMath>
                </a14:m>
                <a:r>
                  <a:rPr lang="zh-CN" altLang="zh-CN" sz="2000" kern="100" dirty="0">
                    <a:latin typeface="宋体" panose="02010600030101010101" pitchFamily="2" charset="-122"/>
                    <a:ea typeface="宋体" panose="02010600030101010101" pitchFamily="2" charset="-122"/>
                  </a:rPr>
                  <a:t>处可行方向满足下列条件</a:t>
                </a:r>
                <a:endParaRPr lang="zh-CN" altLang="zh-CN" sz="2000" kern="100" dirty="0">
                  <a:latin typeface="宋体" panose="02010600030101010101" pitchFamily="2" charset="-122"/>
                  <a:ea typeface="宋体" panose="02010600030101010101" pitchFamily="2" charset="-122"/>
                </a:endParaRPr>
              </a:p>
              <a:p>
                <a:pPr algn="just">
                  <a:lnSpc>
                    <a:spcPct val="130000"/>
                  </a:lnSpc>
                </a:pPr>
                <a14:m>
                  <m:oMathPara xmlns:m="http://schemas.openxmlformats.org/officeDocument/2006/math">
                    <m:oMathParaPr>
                      <m:jc m:val="centerGroup"/>
                    </m:oMathParaPr>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𝑑</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&gt;</m:t>
                      </m:r>
                      <m:r>
                        <a:rPr lang="en-US" altLang="zh-CN" sz="2000" i="1" kern="100">
                          <a:latin typeface="Cambria Math" panose="02040503050406030204" pitchFamily="18" charset="0"/>
                          <a:ea typeface="宋体" panose="02010600030101010101" pitchFamily="2" charset="-122"/>
                        </a:rPr>
                        <m:t>0</m:t>
                      </m:r>
                      <m:r>
                        <a:rPr lang="en-US" altLang="zh-CN" sz="2000" i="1" kern="100">
                          <a:latin typeface="Cambria Math" panose="02040503050406030204" pitchFamily="18" charset="0"/>
                          <a:ea typeface="宋体" panose="02010600030101010101" pitchFamily="2" charset="-122"/>
                        </a:rPr>
                        <m:t>,  </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𝑑</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&gt;</m:t>
                      </m:r>
                      <m:r>
                        <a:rPr lang="en-US" altLang="zh-CN" sz="2000" i="1" kern="100">
                          <a:latin typeface="Cambria Math" panose="02040503050406030204" pitchFamily="18" charset="0"/>
                          <a:ea typeface="宋体" panose="02010600030101010101" pitchFamily="2" charset="-122"/>
                        </a:rPr>
                        <m:t>0</m:t>
                      </m:r>
                    </m:oMath>
                  </m:oMathPara>
                </a14:m>
                <a:endParaRPr lang="zh-CN" altLang="zh-CN" sz="2000" kern="100" dirty="0">
                  <a:latin typeface="宋体" panose="02010600030101010101" pitchFamily="2" charset="-122"/>
                  <a:ea typeface="宋体" panose="02010600030101010101" pitchFamily="2" charset="-122"/>
                </a:endParaRPr>
              </a:p>
              <a:p>
                <a:pPr algn="just">
                  <a:lnSpc>
                    <a:spcPct val="130000"/>
                  </a:lnSpc>
                </a:pPr>
                <a:r>
                  <a:rPr lang="zh-CN" altLang="zh-CN" sz="2000" kern="100" dirty="0">
                    <a:latin typeface="宋体" panose="02010600030101010101" pitchFamily="2" charset="-122"/>
                    <a:ea typeface="宋体" panose="02010600030101010101" pitchFamily="2" charset="-122"/>
                  </a:rPr>
                  <a:t>同时满足上述三个条件的方向就是</a:t>
                </a:r>
                <a14:m>
                  <m:oMath xmlns:m="http://schemas.openxmlformats.org/officeDocument/2006/math">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𝑥</m:t>
                        </m:r>
                      </m:e>
                    </m:acc>
                  </m:oMath>
                </a14:m>
                <a:r>
                  <a:rPr lang="zh-CN" altLang="zh-CN" sz="2000" kern="100" dirty="0">
                    <a:latin typeface="宋体" panose="02010600030101010101" pitchFamily="2" charset="-122"/>
                    <a:ea typeface="宋体" panose="02010600030101010101" pitchFamily="2" charset="-122"/>
                  </a:rPr>
                  <a:t>处的可行下降方向，如</a:t>
                </a:r>
                <a14:m>
                  <m:oMath xmlns:m="http://schemas.openxmlformats.org/officeDocument/2006/math">
                    <m:r>
                      <a:rPr lang="en-US" altLang="zh-CN" sz="2000" i="1" kern="100">
                        <a:latin typeface="Cambria Math" panose="02040503050406030204" pitchFamily="18" charset="0"/>
                        <a:ea typeface="宋体" panose="02010600030101010101" pitchFamily="2" charset="-122"/>
                      </a:rPr>
                      <m:t>𝑑</m:t>
                    </m:r>
                    <m:r>
                      <a:rPr lang="en-US" altLang="zh-CN" sz="2000" i="1" kern="100">
                        <a:latin typeface="Cambria Math" panose="02040503050406030204" pitchFamily="18" charset="0"/>
                        <a:ea typeface="宋体" panose="02010600030101010101" pitchFamily="2" charset="-122"/>
                      </a:rPr>
                      <m:t>=</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1</m:t>
                        </m:r>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1</m:t>
                        </m:r>
                        <m:r>
                          <a:rPr lang="en-US" altLang="zh-CN" sz="2000" i="1" kern="100">
                            <a:latin typeface="Cambria Math" panose="02040503050406030204" pitchFamily="18" charset="0"/>
                            <a:ea typeface="宋体" panose="02010600030101010101" pitchFamily="2" charset="-122"/>
                          </a:rPr>
                          <m:t>)</m:t>
                        </m:r>
                      </m:e>
                      <m:sup>
                        <m:r>
                          <a:rPr lang="en-US" altLang="zh-CN" sz="2000" i="1" kern="100">
                            <a:latin typeface="Cambria Math" panose="02040503050406030204" pitchFamily="18" charset="0"/>
                            <a:ea typeface="宋体" panose="02010600030101010101" pitchFamily="2" charset="-122"/>
                          </a:rPr>
                          <m:t>𝑇</m:t>
                        </m:r>
                      </m:sup>
                    </m:sSup>
                  </m:oMath>
                </a14:m>
                <a:r>
                  <a:rPr lang="en-US" altLang="zh-CN" sz="2000" kern="100" dirty="0">
                    <a:latin typeface="宋体" panose="02010600030101010101" pitchFamily="2" charset="-122"/>
                    <a:ea typeface="宋体" panose="02010600030101010101" pitchFamily="2" charset="-122"/>
                  </a:rPr>
                  <a:t>.</a:t>
                </a:r>
                <a:endParaRPr lang="zh-CN" altLang="zh-CN" sz="2000" kern="100" dirty="0">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23528" y="620688"/>
                <a:ext cx="7830870" cy="6016262"/>
              </a:xfrm>
              <a:prstGeom prst="rect">
                <a:avLst/>
              </a:prstGeom>
              <a:blipFill rotWithShape="1">
                <a:blip r:embed="rId1"/>
                <a:stretch>
                  <a:fillRect l="-4" t="-5" r="-231" b="9"/>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21837" y="1323053"/>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a typeface="宋体" panose="02010600030101010101" pitchFamily="2" charset="-122"/>
            </a:endParaRPr>
          </a:p>
        </p:txBody>
      </p:sp>
      <p:sp>
        <p:nvSpPr>
          <p:cNvPr id="7" name="文本框 6"/>
          <p:cNvSpPr txBox="1"/>
          <p:nvPr/>
        </p:nvSpPr>
        <p:spPr>
          <a:xfrm>
            <a:off x="656325" y="1970746"/>
            <a:ext cx="7830870" cy="277576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sz="2400" dirty="0">
                <a:solidFill>
                  <a:srgbClr val="333333"/>
                </a:solidFill>
                <a:latin typeface="宋体" panose="02010600030101010101" pitchFamily="2" charset="-122"/>
                <a:ea typeface="宋体" panose="02010600030101010101" pitchFamily="2" charset="-122"/>
              </a:rPr>
              <a:t>对约束优化问题的最小值点，一个显然的结论是该点处没有可行下降方向</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400" dirty="0">
                <a:solidFill>
                  <a:srgbClr val="333333"/>
                </a:solidFill>
                <a:latin typeface="宋体" panose="02010600030101010101" pitchFamily="2" charset="-122"/>
                <a:ea typeface="宋体" panose="02010600030101010101" pitchFamily="2" charset="-122"/>
              </a:rPr>
              <a:t>由于一个等式约束可以等价地表示成两个不等式约束，为此，相关结论可以推广到既有不等式约束又有等式约束的情形</a:t>
            </a:r>
            <a:r>
              <a:rPr lang="zh-CN" altLang="en-US" sz="2400" dirty="0">
                <a:solidFill>
                  <a:srgbClr val="121212"/>
                </a:solidFill>
                <a:latin typeface="宋体" panose="02010600030101010101" pitchFamily="2" charset="-122"/>
                <a:ea typeface="宋体" panose="02010600030101010101" pitchFamily="2" charset="-122"/>
              </a:rPr>
              <a:t>。</a:t>
            </a:r>
            <a:endParaRPr lang="en-US" altLang="zh-CN" sz="2400" dirty="0">
              <a:solidFill>
                <a:srgbClr val="121212"/>
              </a:solidFill>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17145" y="2834938"/>
            <a:ext cx="3228769" cy="600164"/>
          </a:xfrm>
          <a:prstGeom prst="rect">
            <a:avLst/>
          </a:prstGeom>
        </p:spPr>
        <p:txBody>
          <a:bodyPr wrap="none">
            <a:spAutoFit/>
          </a:bodyPr>
          <a:lstStyle/>
          <a:p>
            <a:pPr algn="ctr"/>
            <a:r>
              <a:rPr lang="en-US" altLang="zh-CN" sz="3300" b="1" dirty="0"/>
              <a:t>   9.3</a:t>
            </a:r>
            <a:r>
              <a:rPr lang="zh-CN" altLang="en-US" sz="3300" b="1" dirty="0"/>
              <a:t> 可行方向法</a:t>
            </a:r>
            <a:endParaRPr lang="zh-CN" altLang="en-US" sz="33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6875" y="399707"/>
            <a:ext cx="2268252" cy="400110"/>
          </a:xfrm>
          <a:prstGeom prst="rect">
            <a:avLst/>
          </a:prstGeom>
          <a:noFill/>
        </p:spPr>
        <p:txBody>
          <a:bodyPr wrap="square" rtlCol="0">
            <a:spAutoFit/>
          </a:bodyPr>
          <a:lstStyle/>
          <a:p>
            <a:r>
              <a:rPr lang="zh-CN" altLang="en-US" sz="2000" b="1" dirty="0">
                <a:latin typeface="黑体" panose="02010609060101010101" pitchFamily="49" charset="-122"/>
                <a:ea typeface="黑体" panose="02010609060101010101" pitchFamily="49" charset="-122"/>
              </a:rPr>
              <a:t>一、基本思想</a:t>
            </a:r>
            <a:endParaRPr lang="zh-CN" altLang="en-US" sz="2000" b="1"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 name="文本框 2"/>
              <p:cNvSpPr txBox="1"/>
              <p:nvPr/>
            </p:nvSpPr>
            <p:spPr>
              <a:xfrm>
                <a:off x="401002" y="885258"/>
                <a:ext cx="8341995" cy="5087483"/>
              </a:xfrm>
              <a:prstGeom prst="rect">
                <a:avLst/>
              </a:prstGeom>
              <a:noFill/>
            </p:spPr>
            <p:txBody>
              <a:bodyPr wrap="square" rtlCol="0">
                <a:spAutoFit/>
              </a:bodyPr>
              <a:lstStyle/>
              <a:p>
                <a:pPr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   考虑非线性规划问题：</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MS Mincho" panose="02020609040205080304" charset="-128"/>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en-US" altLang="zh-CN" sz="2000" i="1"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𝑠</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r>
                        <a:rPr lang="en-US" altLang="zh-CN" sz="2000" i="1">
                          <a:latin typeface="Cambria Math" panose="02040503050406030204" pitchFamily="18" charset="0"/>
                          <a:ea typeface="MS Mincho" panose="02020609040205080304" charset="-128"/>
                          <a:cs typeface="Cambria Math" panose="02040503050406030204" pitchFamily="18" charset="0"/>
                        </a:rPr>
                        <m:t>.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0</m:t>
                      </m:r>
                      <m:r>
                        <a:rPr lang="en-US" altLang="zh-CN" sz="2000" i="1">
                          <a:latin typeface="Cambria Math" panose="02040503050406030204" pitchFamily="18" charset="0"/>
                          <a:ea typeface="MS Mincho" panose="02020609040205080304" charset="-128"/>
                          <a:cs typeface="Cambria Math" panose="02040503050406030204" pitchFamily="18" charset="0"/>
                        </a:rPr>
                        <m:t> </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1</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2</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𝑙</m:t>
                          </m:r>
                        </m:e>
                      </m:d>
                    </m:oMath>
                  </m:oMathPara>
                </a14:m>
                <a:endParaRPr lang="en-US" altLang="zh-CN" sz="2000" i="1"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记可行域为</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。设</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是它的一个可行点，但并不是所要求的极小点。为了求得极小点或近似极小点，应在</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的可行下降方向中选取某一方向</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为搜索方向，然后确定该方向上的步长</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，使</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eqArr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e>
                            <m:e>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qArr>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若满足精度要求，停止迭代，</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就是所要求的点；否则，从</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出发继续迭代，直到满足要求为止。上述方法称为可行方向法。</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01002" y="885258"/>
                <a:ext cx="8341995" cy="5087483"/>
              </a:xfrm>
              <a:prstGeom prst="rect">
                <a:avLst/>
              </a:prstGeom>
              <a:blipFill rotWithShape="1">
                <a:blip r:embed="rId1"/>
                <a:stretch>
                  <a:fillRect l="-4" t="-1" r="-811" b="11"/>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606266" y="1052736"/>
            <a:ext cx="7931468" cy="4437753"/>
          </a:xfrm>
          <a:prstGeom prst="rect">
            <a:avLst/>
          </a:prstGeom>
          <a:noFill/>
        </p:spPr>
        <p:txBody>
          <a:bodyPr wrap="square">
            <a:spAutoFit/>
          </a:bodyPr>
          <a:lstStyle/>
          <a:p>
            <a:pPr algn="just" fontAlgn="auto">
              <a:lnSpc>
                <a:spcPct val="150000"/>
              </a:lnSpc>
            </a:pPr>
            <a:r>
              <a:rPr lang="zh-CN" altLang="en-US" sz="2400" kern="100" dirty="0">
                <a:latin typeface="宋体" panose="02010600030101010101" pitchFamily="2" charset="-122"/>
                <a:ea typeface="宋体" panose="02010600030101010101" pitchFamily="2" charset="-122"/>
              </a:rPr>
              <a:t>    可行方向法</a:t>
            </a:r>
            <a:r>
              <a:rPr lang="zh-CN" altLang="zh-CN" sz="2400" kern="100" dirty="0">
                <a:latin typeface="宋体" panose="02010600030101010101" pitchFamily="2" charset="-122"/>
                <a:ea typeface="宋体" panose="02010600030101010101" pitchFamily="2" charset="-122"/>
              </a:rPr>
              <a:t>具有下述特点：迭代过程中所采用的搜索方向为可行</a:t>
            </a:r>
            <a:r>
              <a:rPr lang="zh-CN" altLang="en-US" sz="2400" kern="100" dirty="0">
                <a:latin typeface="宋体" panose="02010600030101010101" pitchFamily="2" charset="-122"/>
                <a:ea typeface="宋体" panose="02010600030101010101" pitchFamily="2" charset="-122"/>
              </a:rPr>
              <a:t>下降</a:t>
            </a:r>
            <a:r>
              <a:rPr lang="zh-CN" altLang="zh-CN" sz="2400" kern="100" dirty="0">
                <a:latin typeface="宋体" panose="02010600030101010101" pitchFamily="2" charset="-122"/>
                <a:ea typeface="宋体" panose="02010600030101010101" pitchFamily="2" charset="-122"/>
              </a:rPr>
              <a:t>方向，所产生的迭代点列始终在可行域内，目标函数值单调下降</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这是一类算法，由不同的规则产生出的可行方向作为搜索方向形成了不同的可行方向法，这类方法可以看作无约束非线性规划问题下降迭代类算法的自然推广</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但通常说的可行方向法，指的是</a:t>
            </a:r>
            <a:r>
              <a:rPr lang="en-US" altLang="zh-CN" sz="2400" kern="100" dirty="0" err="1">
                <a:latin typeface="宋体" panose="02010600030101010101" pitchFamily="2" charset="-122"/>
                <a:ea typeface="宋体" panose="02010600030101010101" pitchFamily="2" charset="-122"/>
              </a:rPr>
              <a:t>Zoutendijk</a:t>
            </a:r>
            <a:r>
              <a:rPr lang="zh-CN" altLang="zh-CN" sz="2400" kern="100" dirty="0">
                <a:latin typeface="宋体" panose="02010600030101010101" pitchFamily="2" charset="-122"/>
                <a:ea typeface="宋体" panose="02010600030101010101" pitchFamily="2" charset="-122"/>
              </a:rPr>
              <a:t>在</a:t>
            </a:r>
            <a:r>
              <a:rPr lang="en-US" altLang="zh-CN" sz="2400" kern="100" dirty="0">
                <a:latin typeface="宋体" panose="02010600030101010101" pitchFamily="2" charset="-122"/>
                <a:ea typeface="宋体" panose="02010600030101010101" pitchFamily="2" charset="-122"/>
              </a:rPr>
              <a:t>1960</a:t>
            </a:r>
            <a:r>
              <a:rPr lang="zh-CN" altLang="zh-CN" sz="2400" kern="100" dirty="0">
                <a:latin typeface="宋体" panose="02010600030101010101" pitchFamily="2" charset="-122"/>
                <a:ea typeface="宋体" panose="02010600030101010101" pitchFamily="2" charset="-122"/>
              </a:rPr>
              <a:t>年提出的算法及其变形，下面介绍</a:t>
            </a:r>
            <a:r>
              <a:rPr lang="en-US" altLang="zh-CN" sz="2400" kern="100" dirty="0" err="1">
                <a:latin typeface="宋体" panose="02010600030101010101" pitchFamily="2" charset="-122"/>
                <a:ea typeface="宋体" panose="02010600030101010101" pitchFamily="2" charset="-122"/>
              </a:rPr>
              <a:t>Zoutendijk</a:t>
            </a:r>
            <a:r>
              <a:rPr lang="zh-CN" altLang="zh-CN" sz="2400" kern="100" dirty="0">
                <a:latin typeface="宋体" panose="02010600030101010101" pitchFamily="2" charset="-122"/>
                <a:ea typeface="宋体" panose="02010600030101010101" pitchFamily="2" charset="-122"/>
              </a:rPr>
              <a:t>可行方向法</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这是一种线性化方法</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44557" y="548680"/>
            <a:ext cx="8999443" cy="625793"/>
          </a:xfrm>
        </p:spPr>
        <p:txBody>
          <a:bodyPr/>
          <a:lstStyle/>
          <a:p>
            <a:pPr marL="838200" indent="-838200"/>
            <a:r>
              <a:rPr lang="zh-CN" altLang="en-US" sz="2000" b="1" dirty="0">
                <a:latin typeface="黑体" panose="02010609060101010101" pitchFamily="49" charset="-122"/>
                <a:ea typeface="黑体" panose="02010609060101010101" pitchFamily="49" charset="-122"/>
                <a:cs typeface="黑体" panose="02010609060101010101" pitchFamily="49" charset="-122"/>
              </a:rPr>
              <a:t>二、算法步骤</a:t>
            </a:r>
            <a:endParaRPr lang="zh-CN" altLang="en-US" sz="2000" b="1" dirty="0">
              <a:latin typeface="黑体" panose="02010609060101010101" pitchFamily="49" charset="-122"/>
              <a:ea typeface="黑体" panose="02010609060101010101" pitchFamily="49" charset="-122"/>
              <a:cs typeface="黑体" panose="02010609060101010101" pitchFamily="49" charset="-122"/>
            </a:endParaRPr>
          </a:p>
        </p:txBody>
      </p:sp>
      <mc:AlternateContent xmlns:mc="http://schemas.openxmlformats.org/markup-compatibility/2006">
        <mc:Choice xmlns:a14="http://schemas.microsoft.com/office/drawing/2010/main" Requires="a14">
          <p:sp>
            <p:nvSpPr>
              <p:cNvPr id="6" name="文本框 5"/>
              <p:cNvSpPr txBox="1"/>
              <p:nvPr/>
            </p:nvSpPr>
            <p:spPr>
              <a:xfrm>
                <a:off x="0" y="1299378"/>
                <a:ext cx="9144000" cy="4259243"/>
              </a:xfrm>
              <a:prstGeom prst="rect">
                <a:avLst/>
              </a:prstGeom>
              <a:noFill/>
            </p:spPr>
            <p:txBody>
              <a:bodyPr wrap="square" rtlCol="0">
                <a:spAutoFit/>
              </a:bodyPr>
              <a:lstStyle/>
              <a:p>
                <a:pPr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1.</a:t>
                </a:r>
                <a:r>
                  <a:rPr lang="zh-CN" altLang="en-US" sz="2000" dirty="0">
                    <a:latin typeface="宋体" panose="02010600030101010101" pitchFamily="2" charset="-122"/>
                    <a:ea typeface="宋体" panose="02010600030101010101" pitchFamily="2" charset="-122"/>
                    <a:cs typeface="宋体" panose="02010600030101010101" pitchFamily="2" charset="-122"/>
                  </a:rPr>
                  <a:t>给定初始可行点</a:t>
                </a:r>
                <a14:m>
                  <m:oMath xmlns:m="http://schemas.openxmlformats.org/officeDocument/2006/math">
                    <m:sSup>
                      <m:sSupPr>
                        <m:ctrlPr>
                          <a:rPr lang="zh-CN" altLang="en-US"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en-US"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MS Mincho" panose="02020609040205080304" charset="-128"/>
                                <a:cs typeface="Cambria Math" panose="02040503050406030204" pitchFamily="18" charset="0"/>
                              </a:rPr>
                              <m:t>1</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，允许误差</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&gt;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&gt;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oMath>
                </a14:m>
                <a:r>
                  <a:rPr lang="en-US" altLang="zh-CN" sz="2000" dirty="0">
                    <a:latin typeface="宋体" panose="02010600030101010101" pitchFamily="2" charset="-122"/>
                    <a:ea typeface="宋体" panose="02010600030101010101" pitchFamily="2" charset="-122"/>
                    <a:cs typeface="Cambria Math" panose="02040503050406030204" pitchFamily="18" charset="0"/>
                  </a:rPr>
                  <a:t>,</a:t>
                </a:r>
                <a:r>
                  <a:rPr lang="zh-CN" altLang="en-US" sz="2000" dirty="0">
                    <a:latin typeface="宋体" panose="02010600030101010101" pitchFamily="2" charset="-122"/>
                    <a:ea typeface="宋体" panose="02010600030101010101" pitchFamily="2" charset="-122"/>
                    <a:cs typeface="Cambria Math" panose="02040503050406030204" pitchFamily="18" charset="0"/>
                  </a:rPr>
                  <a:t>并置</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2.</a:t>
                </a:r>
                <a:r>
                  <a:rPr lang="zh-CN" altLang="en-US" sz="2000" dirty="0">
                    <a:latin typeface="宋体" panose="02010600030101010101" pitchFamily="2" charset="-122"/>
                    <a:ea typeface="宋体" panose="02010600030101010101" pitchFamily="2" charset="-122"/>
                    <a:cs typeface="Cambria Math" panose="02040503050406030204" pitchFamily="18" charset="0"/>
                  </a:rPr>
                  <a:t>确定</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点处的起作用约束下标集</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e>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𝑙</m:t>
                          </m:r>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(1)</a:t>
                </a:r>
                <a:r>
                  <a:rPr lang="zh-CN" altLang="en-US" sz="2000" dirty="0">
                    <a:latin typeface="宋体" panose="02010600030101010101" pitchFamily="2" charset="-122"/>
                    <a:ea typeface="宋体" panose="02010600030101010101" pitchFamily="2" charset="-122"/>
                    <a:cs typeface="Cambria Math" panose="02040503050406030204" pitchFamily="18" charset="0"/>
                  </a:rPr>
                  <a:t>若</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（空集），而且</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d>
                      </m:e>
                      <m:sub>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&lt;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，则停止迭代，得到近似  </a:t>
                </a:r>
                <a:endParaRPr lang="en-US" altLang="zh-CN"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a:t>
                </a:r>
                <a:r>
                  <a:rPr lang="zh-CN" altLang="en-US" sz="2000" dirty="0">
                    <a:latin typeface="宋体" panose="02010600030101010101" pitchFamily="2" charset="-122"/>
                    <a:ea typeface="宋体" panose="02010600030101010101" pitchFamily="2" charset="-122"/>
                    <a:cs typeface="Cambria Math" panose="02040503050406030204" pitchFamily="18" charset="0"/>
                  </a:rPr>
                  <a:t>极小点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(2)</a:t>
                </a:r>
                <a:r>
                  <a:rPr lang="zh-CN" altLang="en-US" sz="2000" dirty="0">
                    <a:latin typeface="宋体" panose="02010600030101010101" pitchFamily="2" charset="-122"/>
                    <a:ea typeface="宋体" panose="02010600030101010101" pitchFamily="2" charset="-122"/>
                    <a:cs typeface="Cambria Math" panose="02040503050406030204" pitchFamily="18" charset="0"/>
                  </a:rPr>
                  <a:t>若</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，但</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d>
                      </m:e>
                      <m:sub>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，则取搜索方向</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 </a:t>
                </a:r>
                <a:endParaRPr lang="en-US" altLang="zh-CN"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a:t>
                </a:r>
                <a:r>
                  <a:rPr lang="zh-CN" altLang="en-US" sz="2000" dirty="0">
                    <a:latin typeface="宋体" panose="02010600030101010101" pitchFamily="2" charset="-122"/>
                    <a:ea typeface="宋体" panose="02010600030101010101" pitchFamily="2" charset="-122"/>
                    <a:cs typeface="Cambria Math" panose="02040503050406030204" pitchFamily="18" charset="0"/>
                  </a:rPr>
                  <a:t>然后转第</a:t>
                </a:r>
                <a:r>
                  <a:rPr lang="en-US" altLang="zh-CN" sz="2000" dirty="0">
                    <a:latin typeface="宋体" panose="02010600030101010101" pitchFamily="2" charset="-122"/>
                    <a:ea typeface="宋体" panose="02010600030101010101" pitchFamily="2" charset="-122"/>
                    <a:cs typeface="Cambria Math" panose="02040503050406030204" pitchFamily="18" charset="0"/>
                  </a:rPr>
                  <a:t>5</a:t>
                </a:r>
                <a:r>
                  <a:rPr lang="zh-CN" altLang="en-US" sz="2000" dirty="0">
                    <a:latin typeface="宋体" panose="02010600030101010101" pitchFamily="2" charset="-122"/>
                    <a:ea typeface="宋体" panose="02010600030101010101" pitchFamily="2" charset="-122"/>
                    <a:cs typeface="Cambria Math" panose="02040503050406030204" pitchFamily="18" charset="0"/>
                  </a:rPr>
                  <a:t>步。</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(3)</a:t>
                </a:r>
                <a:r>
                  <a:rPr lang="zh-CN" altLang="en-US" sz="2000" dirty="0">
                    <a:latin typeface="宋体" panose="02010600030101010101" pitchFamily="2" charset="-122"/>
                    <a:ea typeface="宋体" panose="02010600030101010101" pitchFamily="2" charset="-122"/>
                    <a:cs typeface="Cambria Math" panose="02040503050406030204" pitchFamily="18" charset="0"/>
                  </a:rPr>
                  <a:t>若</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，转第</a:t>
                </a:r>
                <a:r>
                  <a:rPr lang="en-US" altLang="zh-CN" sz="2000" dirty="0">
                    <a:latin typeface="宋体" panose="02010600030101010101" pitchFamily="2" charset="-122"/>
                    <a:ea typeface="宋体" panose="02010600030101010101" pitchFamily="2" charset="-122"/>
                    <a:cs typeface="Cambria Math" panose="02040503050406030204" pitchFamily="18" charset="0"/>
                  </a:rPr>
                  <a:t>3</a:t>
                </a:r>
                <a:r>
                  <a:rPr lang="zh-CN" altLang="en-US" sz="2000" dirty="0">
                    <a:latin typeface="宋体" panose="02010600030101010101" pitchFamily="2" charset="-122"/>
                    <a:ea typeface="宋体" panose="02010600030101010101" pitchFamily="2" charset="-122"/>
                    <a:cs typeface="Cambria Math" panose="02040503050406030204" pitchFamily="18" charset="0"/>
                  </a:rPr>
                  <a:t>步。</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0" y="1299378"/>
                <a:ext cx="9144000" cy="4259243"/>
              </a:xfrm>
              <a:prstGeom prst="rect">
                <a:avLst/>
              </a:prstGeom>
              <a:blipFill rotWithShape="1">
                <a:blip r:embed="rId1"/>
                <a:stretch>
                  <a:fillRect t="-4" b="11"/>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文本框 8"/>
              <p:cNvSpPr txBox="1"/>
              <p:nvPr/>
            </p:nvSpPr>
            <p:spPr>
              <a:xfrm>
                <a:off x="251520" y="918954"/>
                <a:ext cx="8454866" cy="5020092"/>
              </a:xfrm>
              <a:prstGeom prst="rect">
                <a:avLst/>
              </a:prstGeom>
              <a:noFill/>
            </p:spPr>
            <p:txBody>
              <a:bodyPr wrap="square" rtlCol="0">
                <a:spAutoFit/>
              </a:bodyPr>
              <a:lstStyle/>
              <a:p>
                <a:pPr fontAlgn="auto">
                  <a:lnSpc>
                    <a:spcPct val="12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3.</a:t>
                </a:r>
                <a:r>
                  <a:rPr lang="zh-CN" altLang="en-US" sz="2000" dirty="0">
                    <a:latin typeface="宋体" panose="02010600030101010101" pitchFamily="2" charset="-122"/>
                    <a:ea typeface="宋体" panose="02010600030101010101" pitchFamily="2" charset="-122"/>
                    <a:cs typeface="宋体" panose="02010600030101010101" pitchFamily="2" charset="-122"/>
                  </a:rPr>
                  <a:t>求解线性规划问题，得最优解</a:t>
                </a:r>
                <a14:m>
                  <m:oMath xmlns:m="http://schemas.openxmlformats.org/officeDocument/2006/math">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𝜂</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e>
                    </m:d>
                  </m:oMath>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zh-CN" altLang="en-US" sz="2000">
                                      <a:latin typeface="Cambria Math" panose="02040503050406030204" pitchFamily="18" charset="0"/>
                                      <a:ea typeface="宋体" panose="02010600030101010101" pitchFamily="2" charset="-122"/>
                                      <a:cs typeface="Cambria Math" panose="02040503050406030204" pitchFamily="18" charset="0"/>
                                    </a:rPr>
                                    <m:t> </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qArr>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2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4.</a:t>
                </a:r>
                <a:r>
                  <a:rPr lang="zh-CN" altLang="en-US" sz="2000" dirty="0">
                    <a:latin typeface="宋体" panose="02010600030101010101" pitchFamily="2" charset="-122"/>
                    <a:ea typeface="宋体" panose="02010600030101010101" pitchFamily="2" charset="-122"/>
                    <a:cs typeface="宋体" panose="02010600030101010101" pitchFamily="2" charset="-122"/>
                  </a:rPr>
                  <a:t>判断精度</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lvl="1">
                  <a:lnSpc>
                    <a:spcPct val="12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若满足</a:t>
                </a:r>
                <a14:m>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，则停止迭代，得到点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。因为</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，说明</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点找不到可行下降方向，因此</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是一个</a:t>
                </a:r>
                <a:r>
                  <a:rPr lang="en-US" altLang="zh-CN" sz="2000" dirty="0">
                    <a:latin typeface="宋体" panose="02010600030101010101" pitchFamily="2" charset="-122"/>
                    <a:ea typeface="宋体" panose="02010600030101010101" pitchFamily="2" charset="-122"/>
                    <a:cs typeface="Cambria Math" panose="02040503050406030204" pitchFamily="18" charset="0"/>
                  </a:rPr>
                  <a:t>KKT</a:t>
                </a:r>
                <a:r>
                  <a:rPr lang="zh-CN" altLang="en-US" sz="2000" dirty="0">
                    <a:latin typeface="宋体" panose="02010600030101010101" pitchFamily="2" charset="-122"/>
                    <a:ea typeface="宋体" panose="02010600030101010101" pitchFamily="2" charset="-122"/>
                    <a:cs typeface="Cambria Math" panose="02040503050406030204" pitchFamily="18" charset="0"/>
                  </a:rPr>
                  <a:t>点（假定</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是一个正则点）；否则以</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为搜索方向，转第</a:t>
                </a:r>
                <a:r>
                  <a:rPr lang="en-US" altLang="zh-CN" sz="2000" dirty="0">
                    <a:latin typeface="宋体" panose="02010600030101010101" pitchFamily="2" charset="-122"/>
                    <a:ea typeface="宋体" panose="02010600030101010101" pitchFamily="2" charset="-122"/>
                    <a:cs typeface="Cambria Math" panose="02040503050406030204" pitchFamily="18" charset="0"/>
                  </a:rPr>
                  <a:t>5</a:t>
                </a:r>
                <a:r>
                  <a:rPr lang="zh-CN" altLang="en-US" sz="2000" dirty="0">
                    <a:latin typeface="宋体" panose="02010600030101010101" pitchFamily="2" charset="-122"/>
                    <a:ea typeface="宋体" panose="02010600030101010101" pitchFamily="2" charset="-122"/>
                    <a:cs typeface="Cambria Math" panose="02040503050406030204" pitchFamily="18" charset="0"/>
                  </a:rPr>
                  <a:t>步。</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2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5.</a:t>
                </a:r>
                <a:r>
                  <a:rPr lang="zh-CN" altLang="en-US" sz="2000" dirty="0">
                    <a:latin typeface="宋体" panose="02010600030101010101" pitchFamily="2" charset="-122"/>
                    <a:ea typeface="宋体" panose="02010600030101010101" pitchFamily="2" charset="-122"/>
                    <a:cs typeface="Cambria Math" panose="02040503050406030204" pitchFamily="18" charset="0"/>
                  </a:rPr>
                  <a:t>在搜索方向上，确定可行的最优步长</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lvl="1">
                  <a:lnSpc>
                    <a:spcPct val="12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的选择，除了要使目标函数尽可能地减小外（在</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方向上），还要保证</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点的可行性。</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251520" y="918954"/>
                <a:ext cx="8454866" cy="5020092"/>
              </a:xfrm>
              <a:prstGeom prst="rect">
                <a:avLst/>
              </a:prstGeom>
              <a:blipFill rotWithShape="1">
                <a:blip r:embed="rId1"/>
                <a:stretch>
                  <a:fillRect l="-1" t="-2" r="6" b="10"/>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94385" y="1625917"/>
            <a:ext cx="5560219" cy="400110"/>
          </a:xfrm>
          <a:prstGeom prst="rect">
            <a:avLst/>
          </a:prstGeom>
          <a:noFill/>
        </p:spPr>
        <p:txBody>
          <a:bodyPr wrap="square" rtlCol="0">
            <a:spAutoFit/>
          </a:bodyPr>
          <a:lstStyle/>
          <a:p>
            <a:endParaRPr lang="zh-CN" altLang="en-US" sz="2000"/>
          </a:p>
        </p:txBody>
      </p:sp>
      <mc:AlternateContent xmlns:mc="http://schemas.openxmlformats.org/markup-compatibility/2006">
        <mc:Choice xmlns:a14="http://schemas.microsoft.com/office/drawing/2010/main" Requires="a14">
          <p:sp>
            <p:nvSpPr>
              <p:cNvPr id="2" name="文本框 1"/>
              <p:cNvSpPr txBox="1"/>
              <p:nvPr/>
            </p:nvSpPr>
            <p:spPr>
              <a:xfrm>
                <a:off x="776762" y="1430779"/>
                <a:ext cx="7990046" cy="3146311"/>
              </a:xfrm>
              <a:prstGeom prst="rect">
                <a:avLst/>
              </a:prstGeom>
              <a:noFill/>
            </p:spPr>
            <p:txBody>
              <a:bodyPr wrap="square" rtlCol="0">
                <a:spAutoFit/>
              </a:bodyPr>
              <a:lstStyle/>
              <a:p>
                <a:pPr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因此先要找出使点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的</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的上限</a:t>
                </a:r>
                <a14:m>
                  <m:oMath xmlns:m="http://schemas.openxmlformats.org/officeDocument/2006/math">
                    <m:acc>
                      <m:accPr>
                        <m: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accPr>
                      <m:e>
                        <m:r>
                          <a:rPr lang="en-US" altLang="zh-CN" sz="2000" i="1">
                            <a:latin typeface="Cambria Math" panose="02040503050406030204" pitchFamily="18" charset="0"/>
                            <a:ea typeface="MS Mincho" panose="02020609040205080304" charset="-128"/>
                            <a:cs typeface="Cambria Math" panose="02040503050406030204" pitchFamily="18" charset="0"/>
                          </a:rPr>
                          <m:t>𝜆</m:t>
                        </m:r>
                      </m:e>
                    </m:acc>
                  </m:oMath>
                </a14:m>
                <a:r>
                  <a:rPr lang="zh-CN" altLang="en-US" sz="2000" dirty="0">
                    <a:latin typeface="宋体" panose="02010600030101010101" pitchFamily="2" charset="-122"/>
                    <a:ea typeface="宋体" panose="02010600030101010101" pitchFamily="2" charset="-122"/>
                    <a:cs typeface="宋体" panose="02010600030101010101" pitchFamily="2" charset="-122"/>
                  </a:rPr>
                  <a:t>，然后在</a:t>
                </a:r>
                <a14:m>
                  <m:oMath xmlns:m="http://schemas.openxmlformats.org/officeDocument/2006/math">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𝜆</m:t>
                        </m:r>
                      </m:e>
                    </m:acc>
                    <m:r>
                      <a:rPr lang="en-US" altLang="zh-CN" sz="2000" i="1">
                        <a:latin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范围内选择</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，即</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func>
                        <m:func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limLowPr>
                            <m:e>
                              <m:r>
                                <m:rPr>
                                  <m:sty m:val="p"/>
                                </m:rPr>
                                <a:rPr lang="en-US" altLang="zh-CN" sz="2000">
                                  <a:latin typeface="Cambria Math" panose="02040503050406030204" pitchFamily="18" charset="0"/>
                                  <a:ea typeface="宋体" panose="02010600030101010101" pitchFamily="2" charset="-122"/>
                                  <a:cs typeface="Cambria Math" panose="02040503050406030204" pitchFamily="18" charset="0"/>
                                </a:rPr>
                                <m:t>min</m:t>
                              </m:r>
                            </m:e>
                            <m:lim>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acc>
                                <m:accPr>
                                  <m: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acc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acc>
                            </m:lim>
                          </m:limLow>
                        </m:fName>
                        <m:e>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func>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zh-CN" altLang="en-US" sz="2000" dirty="0">
                    <a:latin typeface="宋体" panose="02010600030101010101" pitchFamily="2" charset="-122"/>
                    <a:ea typeface="宋体" panose="02010600030101010101" pitchFamily="2" charset="-122"/>
                    <a:cs typeface="Cambria Math" panose="02040503050406030204" pitchFamily="18" charset="0"/>
                  </a:rPr>
                  <a:t>其中</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acc>
                        <m:accPr>
                          <m: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acc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acc>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𝑚𝑎𝑥</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𝐻</m:t>
                          </m:r>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6.</a:t>
                </a:r>
                <a:r>
                  <a:rPr lang="zh-CN" altLang="en-US" sz="2000" dirty="0">
                    <a:latin typeface="宋体" panose="02010600030101010101" pitchFamily="2" charset="-122"/>
                    <a:ea typeface="宋体" panose="02010600030101010101" pitchFamily="2" charset="-122"/>
                    <a:cs typeface="Cambria Math" panose="02040503050406030204" pitchFamily="18" charset="0"/>
                  </a:rPr>
                  <a:t>令</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，置</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，返回第</a:t>
                </a:r>
                <a:r>
                  <a:rPr lang="en-US" altLang="zh-CN" sz="2000" dirty="0">
                    <a:latin typeface="宋体" panose="02010600030101010101" pitchFamily="2" charset="-122"/>
                    <a:ea typeface="宋体" panose="02010600030101010101" pitchFamily="2" charset="-122"/>
                    <a:cs typeface="Cambria Math" panose="02040503050406030204" pitchFamily="18" charset="0"/>
                  </a:rPr>
                  <a:t>2</a:t>
                </a:r>
                <a:r>
                  <a:rPr lang="zh-CN" altLang="en-US" sz="2000" dirty="0">
                    <a:latin typeface="宋体" panose="02010600030101010101" pitchFamily="2" charset="-122"/>
                    <a:ea typeface="宋体" panose="02010600030101010101" pitchFamily="2" charset="-122"/>
                    <a:cs typeface="Cambria Math" panose="02040503050406030204" pitchFamily="18" charset="0"/>
                  </a:rPr>
                  <a:t>步。</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776762" y="1430779"/>
                <a:ext cx="7990046" cy="3146311"/>
              </a:xfrm>
              <a:prstGeom prst="rect">
                <a:avLst/>
              </a:prstGeom>
              <a:blipFill rotWithShape="1">
                <a:blip r:embed="rId1"/>
                <a:stretch>
                  <a:fillRect l="-2" t="-4" r="8" b="-302"/>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467544" y="1009179"/>
                <a:ext cx="8286274" cy="4992521"/>
              </a:xfrm>
              <a:prstGeom prst="rect">
                <a:avLst/>
              </a:prstGeom>
              <a:noFill/>
            </p:spPr>
            <p:txBody>
              <a:bodyPr wrap="square" rtlCol="0">
                <a:spAutoFit/>
              </a:bodyPr>
              <a:lstStyle/>
              <a:p>
                <a:pPr fontAlgn="auto">
                  <a:lnSpc>
                    <a:spcPct val="130000"/>
                  </a:lnSpc>
                </a:pPr>
                <a:r>
                  <a:rPr lang="zh-CN" altLang="en-US" sz="2000" b="1" dirty="0"/>
                  <a:t>详解步骤</a:t>
                </a:r>
                <a:r>
                  <a:rPr lang="en-US" altLang="zh-CN" sz="2000" b="1" dirty="0"/>
                  <a:t>3</a:t>
                </a:r>
                <a:endParaRPr lang="zh-CN" altLang="en-US" sz="2000" b="1" dirty="0"/>
              </a:p>
              <a:p>
                <a:pPr fontAlgn="auto">
                  <a:lnSpc>
                    <a:spcPct val="130000"/>
                  </a:lnSpc>
                </a:pPr>
                <a:r>
                  <a:rPr lang="en-US" altLang="zh-CN" sz="2000" dirty="0"/>
                  <a:t>	</a:t>
                </a:r>
                <a:r>
                  <a:rPr lang="zh-CN" altLang="en-US" sz="2000" dirty="0"/>
                  <a:t>当</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时，</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点在可行域的边界上，不是所有的方向都是可行下降方向</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zh-CN" altLang="en-US"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需要寻找方向</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满足可行下降方向判定条件 </a:t>
                </a:r>
                <a:endParaRPr lang="en-US" altLang="zh-CN"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MS Mincho" panose="02020609040205080304" charset="-128"/>
                                  <a:cs typeface="Cambria Math" panose="02040503050406030204" pitchFamily="18" charset="0"/>
                                </a:rPr>
                                <m:t>&lt;</m:t>
                              </m:r>
                              <m:r>
                                <a:rPr lang="en-US" altLang="zh-CN" sz="2000" i="1">
                                  <a:latin typeface="Cambria Math" panose="02040503050406030204" pitchFamily="18" charset="0"/>
                                  <a:ea typeface="MS Mincho" panose="02020609040205080304" charset="-128"/>
                                  <a:cs typeface="Cambria Math" panose="02040503050406030204" pitchFamily="18" charset="0"/>
                                </a:rPr>
                                <m:t>0</m:t>
                              </m:r>
                              <m:r>
                                <a:rPr lang="zh-CN" altLang="en-US" sz="2000">
                                  <a:latin typeface="Cambria Math" panose="02040503050406030204" pitchFamily="18" charset="0"/>
                                  <a:ea typeface="宋体" panose="02010600030101010101" pitchFamily="2" charset="-122"/>
                                  <a:cs typeface="宋体" panose="02010600030101010101" pitchFamily="2" charset="-122"/>
                                </a:rPr>
                                <m:t> </m:t>
                              </m:r>
                            </m:e>
                            <m:e>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zh-CN" altLang="en-US" sz="2000">
                                      <a:latin typeface="Cambria Math" panose="02040503050406030204" pitchFamily="18" charset="0"/>
                                      <a:ea typeface="宋体" panose="02010600030101010101" pitchFamily="2" charset="-122"/>
                                      <a:cs typeface="Cambria Math" panose="02040503050406030204" pitchFamily="18" charset="0"/>
                                    </a:rPr>
                                    <m:t> </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MS Mincho" panose="02020609040205080304" charset="-128"/>
                                  <a:cs typeface="Cambria Math" panose="02040503050406030204" pitchFamily="18" charset="0"/>
                                </a:rPr>
                                <m:t>&gt;</m:t>
                              </m:r>
                              <m:r>
                                <a:rPr lang="en-US" altLang="zh-CN" sz="2000" i="1">
                                  <a:latin typeface="Cambria Math" panose="02040503050406030204" pitchFamily="18" charset="0"/>
                                  <a:ea typeface="MS Mincho" panose="02020609040205080304" charset="-128"/>
                                  <a:cs typeface="Cambria Math" panose="02040503050406030204" pitchFamily="18" charset="0"/>
                                </a:rPr>
                                <m:t>0</m:t>
                              </m:r>
                              <m:r>
                                <a:rPr lang="en-US" altLang="zh-CN" sz="2000" i="1">
                                  <a:latin typeface="Cambria Math" panose="02040503050406030204" pitchFamily="18" charset="0"/>
                                  <a:ea typeface="MS Mincho" panose="02020609040205080304" charset="-128"/>
                                  <a:cs typeface="Cambria Math" panose="02040503050406030204" pitchFamily="18" charset="0"/>
                                </a:rPr>
                                <m:t>   </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d>
                            </m:e>
                          </m:eqArr>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上述方程等价于下述不等式组求向量</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与实数</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e>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zh-CN" altLang="en-US" sz="2000">
                                      <a:latin typeface="Cambria Math" panose="02040503050406030204" pitchFamily="18" charset="0"/>
                                      <a:ea typeface="宋体" panose="02010600030101010101" pitchFamily="2" charset="-122"/>
                                      <a:cs typeface="Cambria Math" panose="02040503050406030204" pitchFamily="18" charset="0"/>
                                    </a:rPr>
                                    <m:t> </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e>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e>
                          </m:eqArr>
                        </m:e>
                      </m:d>
                    </m:oMath>
                  </m:oMathPara>
                </a14:m>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67544" y="1009179"/>
                <a:ext cx="8286274" cy="4992521"/>
              </a:xfrm>
              <a:prstGeom prst="rect">
                <a:avLst/>
              </a:prstGeom>
              <a:blipFill rotWithShape="1">
                <a:blip r:embed="rId1"/>
                <a:stretch>
                  <a:fillRect l="-2" t="-3" r="4" b="6"/>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446485" y="1214754"/>
                <a:ext cx="8251031" cy="5065617"/>
              </a:xfrm>
              <a:prstGeom prst="rect">
                <a:avLst/>
              </a:prstGeom>
              <a:noFill/>
            </p:spPr>
            <p:txBody>
              <a:bodyPr wrap="square" rtlCol="0">
                <a:spAutoFit/>
              </a:bodyPr>
              <a:lstStyle/>
              <a:p>
                <a:pPr algn="just"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因为满足上述不等式组的可行下降方向</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与实数</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𝜂</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一般有很多个，而我们希望求出能使目标函数值下降最快的方向</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。因此将问题转化为对</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𝜂</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求极小的一个线性规划问题。此外，求一个向量</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只需知道该向量各分量之间的相对大小，就可确定该向量的方向。为此，对向量</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的各分量增加一个约束，要求其各分量</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的绝对值不超过1。若不加此约束，线性规划就可能得出无界的解。故求下述线性规划：</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zh-CN" altLang="en-US" sz="2000">
                                      <a:latin typeface="Cambria Math" panose="02040503050406030204" pitchFamily="18" charset="0"/>
                                      <a:ea typeface="宋体" panose="02010600030101010101" pitchFamily="2" charset="-122"/>
                                      <a:cs typeface="Cambria Math" panose="02040503050406030204" pitchFamily="18" charset="0"/>
                                    </a:rPr>
                                    <m:t> </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e>
                          </m:eqArr>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的最优解</a:t>
                </a:r>
                <a14:m>
                  <m:oMath xmlns:m="http://schemas.openxmlformats.org/officeDocument/2006/math">
                    <m:r>
                      <a:rPr lang="zh-CN" altLang="en-US" sz="2000" i="1" dirty="0">
                        <a:latin typeface="Cambria Math" panose="02040503050406030204" pitchFamily="18" charset="0"/>
                        <a:ea typeface="宋体" panose="02010600030101010101" pitchFamily="2" charset="-122"/>
                        <a:cs typeface="Cambria Math" panose="02040503050406030204" pitchFamily="18" charset="0"/>
                      </a:rPr>
                      <m:t>即可</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得到一个可行下降方向。</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446485" y="1214754"/>
                <a:ext cx="8251031" cy="5065617"/>
              </a:xfrm>
              <a:prstGeom prst="rect">
                <a:avLst/>
              </a:prstGeom>
              <a:blipFill rotWithShape="1">
                <a:blip r:embed="rId1"/>
                <a:stretch>
                  <a:fillRect l="-1" t="-13" r="7" b="4"/>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305753" y="998696"/>
                <a:ext cx="8663940" cy="5960927"/>
              </a:xfrm>
              <a:prstGeom prst="rect">
                <a:avLst/>
              </a:prstGeom>
              <a:noFill/>
            </p:spPr>
            <p:txBody>
              <a:bodyPr wrap="square" rtlCol="0">
                <a:spAutoFit/>
              </a:bodyPr>
              <a:lstStyle/>
              <a:p>
                <a:pPr fontAlgn="auto">
                  <a:lnSpc>
                    <a:spcPct val="140000"/>
                  </a:lnSpc>
                </a:pPr>
                <a:r>
                  <a:rPr lang="zh-CN" altLang="en-US" sz="2000" b="1" dirty="0">
                    <a:solidFill>
                      <a:schemeClr val="accent1"/>
                    </a:solidFill>
                    <a:latin typeface="宋体" panose="02010600030101010101" pitchFamily="2" charset="-122"/>
                    <a:ea typeface="宋体" panose="02010600030101010101" pitchFamily="2" charset="-122"/>
                    <a:cs typeface="黑体" panose="02010609060101010101" pitchFamily="49" charset="-122"/>
                  </a:rPr>
                  <a:t>例</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用可行方向法求解以下非线性规划问题：</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fontAlgn="auto">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b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bSup>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𝑠</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3</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    给定初始点</a:t>
                </a:r>
                <a14:m>
                  <m:oMath xmlns:m="http://schemas.openxmlformats.org/officeDocument/2006/math">
                    <m:sSup>
                      <m:sSupPr>
                        <m:ctrlPr>
                          <a:rPr lang="zh-CN" altLang="en-US"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en-US"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MS Mincho" panose="02020609040205080304" charset="-128"/>
                                <a:cs typeface="Cambria Math" panose="02040503050406030204" pitchFamily="18" charset="0"/>
                              </a:rPr>
                              <m:t>1</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MS Mincho" panose="02020609040205080304" charset="-128"/>
                            <a:cs typeface="Cambria Math" panose="02040503050406030204" pitchFamily="18" charset="0"/>
                          </a:rPr>
                        </m:ctrlPr>
                      </m:sSupPr>
                      <m:e>
                        <m:d>
                          <m:dPr>
                            <m:ctrlPr>
                              <a:rPr lang="en-US" altLang="zh-CN" sz="2000" i="1">
                                <a:latin typeface="Cambria Math" panose="02040503050406030204" pitchFamily="18" charset="0"/>
                                <a:ea typeface="MS Mincho" panose="02020609040205080304" charset="-128"/>
                                <a:cs typeface="Cambria Math" panose="02040503050406030204" pitchFamily="18" charset="0"/>
                              </a:rPr>
                            </m:ctrlPr>
                          </m:dPr>
                          <m:e>
                            <m:r>
                              <a:rPr lang="en-US" altLang="zh-CN" sz="2000" i="1">
                                <a:latin typeface="Cambria Math" panose="02040503050406030204" pitchFamily="18" charset="0"/>
                                <a:ea typeface="MS Mincho" panose="02020609040205080304" charset="-128"/>
                                <a:cs typeface="Cambria Math" panose="02040503050406030204" pitchFamily="18" charset="0"/>
                              </a:rPr>
                              <m:t>0</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0</m:t>
                            </m:r>
                          </m:e>
                        </m:d>
                      </m:e>
                      <m:sup>
                        <m:r>
                          <a:rPr lang="en-US" altLang="zh-CN" sz="2000" i="1">
                            <a:latin typeface="Cambria Math" panose="02040503050406030204" pitchFamily="18" charset="0"/>
                            <a:ea typeface="MS Mincho" panose="02020609040205080304" charset="-128"/>
                            <a:cs typeface="Cambria Math" panose="02040503050406030204" pitchFamily="18" charset="0"/>
                          </a:rPr>
                          <m:t>𝑇</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MS Mincho" panose="02020609040205080304" charset="-128"/>
                            <a:cs typeface="Cambria Math" panose="02040503050406030204" pitchFamily="18" charset="0"/>
                          </a:rPr>
                        </m:ctrlPr>
                      </m:sSupPr>
                      <m:e>
                        <m:r>
                          <a:rPr lang="en-US" altLang="zh-CN" sz="2000" i="1">
                            <a:latin typeface="Cambria Math" panose="02040503050406030204" pitchFamily="18" charset="0"/>
                            <a:ea typeface="MS Mincho" panose="02020609040205080304" charset="-128"/>
                            <a:cs typeface="Cambria Math" panose="02040503050406030204" pitchFamily="18" charset="0"/>
                          </a:rPr>
                          <m:t>10</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3</m:t>
                        </m:r>
                      </m:sup>
                    </m:sSup>
                    <m:r>
                      <a:rPr lang="en-US" altLang="zh-CN" sz="2000" i="1">
                        <a:latin typeface="Cambria Math" panose="02040503050406030204" pitchFamily="18" charset="0"/>
                        <a:ea typeface="MS Mincho" panose="02020609040205080304" charset="-128"/>
                        <a:cs typeface="Cambria Math" panose="02040503050406030204" pitchFamily="18" charset="0"/>
                      </a:rPr>
                      <m:t> </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r>
                  <a:rPr lang="zh-CN" altLang="en-US" sz="2000" b="1" dirty="0">
                    <a:solidFill>
                      <a:schemeClr val="accent1"/>
                    </a:solidFill>
                    <a:latin typeface="宋体" panose="02010600030101010101" pitchFamily="2" charset="-122"/>
                    <a:ea typeface="宋体" panose="02010600030101010101" pitchFamily="2" charset="-122"/>
                    <a:cs typeface="Cambria Math" panose="02040503050406030204" pitchFamily="18" charset="0"/>
                  </a:rPr>
                  <a:t>解  </a:t>
                </a:r>
                <a:r>
                  <a:rPr lang="zh-CN" altLang="en-US" sz="2000" dirty="0">
                    <a:latin typeface="宋体" panose="02010600030101010101" pitchFamily="2" charset="-122"/>
                    <a:ea typeface="宋体" panose="02010600030101010101" pitchFamily="2" charset="-122"/>
                    <a:cs typeface="Cambria Math" panose="02040503050406030204" pitchFamily="18" charset="0"/>
                  </a:rPr>
                  <a:t>计算可得</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den>
                          </m:f>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den>
                          </m:f>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4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den>
                          </m:f>
                        </m:e>
                      </m:d>
                    </m:oMath>
                  </m:oMathPara>
                </a14:m>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05753" y="998696"/>
                <a:ext cx="8663940" cy="5960927"/>
              </a:xfrm>
              <a:prstGeom prst="rect">
                <a:avLst/>
              </a:prstGeom>
              <a:blipFill rotWithShape="1">
                <a:blip r:embed="rId1"/>
                <a:stretch>
                  <a:fillRect l="-4" t="-8" r="4"/>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467201" y="1214914"/>
                <a:ext cx="8554403" cy="5025863"/>
              </a:xfrm>
              <a:prstGeom prst="rect">
                <a:avLst/>
              </a:prstGeom>
              <a:noFill/>
            </p:spPr>
            <p:txBody>
              <a:bodyPr wrap="square" rtlCol="0">
                <a:spAutoFit/>
              </a:bodyPr>
              <a:lstStyle/>
              <a:p>
                <a:pPr fontAlgn="auto">
                  <a:lnSpc>
                    <a:spcPct val="12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因为</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MS Mincho" panose="02020609040205080304" charset="-128"/>
                            <a:cs typeface="Cambria Math" panose="02040503050406030204" pitchFamily="18" charset="0"/>
                          </a:rPr>
                          <m:t>1</m:t>
                        </m:r>
                      </m:sub>
                    </m:sSub>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1</m:t>
                            </m:r>
                            <m:r>
                              <a:rPr lang="en-US" altLang="zh-CN" sz="2000" i="1">
                                <a:latin typeface="Cambria Math" panose="02040503050406030204" pitchFamily="18" charset="0"/>
                                <a:ea typeface="MS Mincho" panose="02020609040205080304" charset="-128"/>
                                <a:cs typeface="Cambria Math" panose="02040503050406030204" pitchFamily="18" charset="0"/>
                              </a:rPr>
                              <m:t>)</m:t>
                            </m:r>
                          </m:sup>
                        </m:sSup>
                      </m:e>
                    </m:d>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3</m:t>
                    </m:r>
                    <m:r>
                      <a:rPr lang="en-US" altLang="zh-CN" sz="2000" i="1">
                        <a:latin typeface="Cambria Math" panose="02040503050406030204" pitchFamily="18" charset="0"/>
                        <a:ea typeface="MS Mincho" panose="02020609040205080304" charset="-128"/>
                        <a:cs typeface="Cambria Math" panose="02040503050406030204" pitchFamily="18" charset="0"/>
                      </a:rPr>
                      <m:t>&gt;</m:t>
                    </m:r>
                    <m:r>
                      <a:rPr lang="en-US" altLang="zh-CN" sz="2000" i="1">
                        <a:latin typeface="Cambria Math" panose="02040503050406030204" pitchFamily="18" charset="0"/>
                        <a:ea typeface="MS Mincho" panose="02020609040205080304" charset="-128"/>
                        <a:cs typeface="Cambria Math" panose="02040503050406030204" pitchFamily="18" charset="0"/>
                      </a:rPr>
                      <m:t>0</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，故</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MS Mincho" panose="02020609040205080304" charset="-128"/>
                                    <a:cs typeface="Cambria Math" panose="02040503050406030204" pitchFamily="18" charset="0"/>
                                  </a:rPr>
                                  <m:t>1</m:t>
                                </m:r>
                              </m:e>
                            </m:d>
                          </m:sup>
                        </m:sSup>
                      </m:e>
                    </m:d>
                    <m:r>
                      <a:rPr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，又因为</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fontAlgn="auto">
                  <a:lnSpc>
                    <a:spcPct val="120000"/>
                  </a:lnSpc>
                </a:pPr>
                <a14:m>
                  <m:oMathPara xmlns:m="http://schemas.openxmlformats.org/officeDocument/2006/math">
                    <m:oMathParaPr>
                      <m:jc m:val="centerGroup"/>
                    </m:oMathParaPr>
                    <m:oMath xmlns:m="http://schemas.openxmlformats.org/officeDocument/2006/math">
                      <m:sSubSup>
                        <m:sSubSupPr>
                          <m:ctrlPr>
                            <a:rPr lang="en-US" altLang="zh-CN" sz="2000" i="1">
                              <a:latin typeface="Cambria Math" panose="02040503050406030204" pitchFamily="18" charset="0"/>
                              <a:ea typeface="宋体" panose="02010600030101010101" pitchFamily="2" charset="-122"/>
                            </a:rPr>
                          </m:ctrlPr>
                        </m:sSubSupPr>
                        <m:e>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e>
                              </m:d>
                            </m:e>
                          </m:d>
                        </m:e>
                        <m:sub>
                          <m:r>
                            <a:rPr lang="en-US" altLang="zh-CN" sz="2000" i="1">
                              <a:latin typeface="Cambria Math" panose="02040503050406030204" pitchFamily="18" charset="0"/>
                              <a:ea typeface="宋体" panose="02010600030101010101" pitchFamily="2" charset="-122"/>
                            </a:rPr>
                            <m:t>2</m:t>
                          </m:r>
                        </m:sub>
                        <m:sup>
                          <m:r>
                            <a:rPr lang="en-US" altLang="zh-CN" sz="2000" i="1">
                              <a:latin typeface="Cambria Math" panose="02040503050406030204" pitchFamily="18" charset="0"/>
                              <a:ea typeface="宋体" panose="02010600030101010101" pitchFamily="2" charset="-122"/>
                            </a:rPr>
                            <m:t>2</m:t>
                          </m:r>
                        </m:sup>
                      </m:sSub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32</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故</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不是极小点。现取搜索方向</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20000"/>
                  </a:lnSpc>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4</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20000"/>
                  </a:lnSpc>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假设</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20000"/>
                  </a:lnSpc>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0</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0</m:t>
                              </m:r>
                            </m:den>
                          </m:f>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4</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4</m:t>
                              </m:r>
                            </m:den>
                          </m:f>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4</m:t>
                              </m:r>
                              <m:r>
                                <a:rPr lang="en-US" altLang="zh-CN" sz="2000" i="1">
                                  <a:latin typeface="Cambria Math" panose="02040503050406030204" pitchFamily="18" charset="0"/>
                                  <a:ea typeface="MS Mincho" panose="02020609040205080304" charset="-128"/>
                                  <a:cs typeface="Cambria Math" panose="02040503050406030204" pitchFamily="18" charset="0"/>
                                </a:rPr>
                                <m:t>𝜆</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4</m:t>
                              </m:r>
                              <m:r>
                                <a:rPr lang="en-US" altLang="zh-CN" sz="2000" i="1">
                                  <a:latin typeface="Cambria Math" panose="02040503050406030204" pitchFamily="18" charset="0"/>
                                  <a:ea typeface="MS Mincho" panose="02020609040205080304" charset="-128"/>
                                  <a:cs typeface="Cambria Math" panose="02040503050406030204" pitchFamily="18" charset="0"/>
                                </a:rPr>
                                <m:t>𝜆</m:t>
                              </m:r>
                            </m:den>
                          </m:f>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2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为保证</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是可行点，应有</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，即</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2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4</m:t>
                      </m:r>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8</m:t>
                      </m:r>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3</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0</m:t>
                      </m:r>
                    </m:oMath>
                  </m:oMathPara>
                </a14:m>
                <a:endParaRPr lang="en-US" altLang="zh-CN" sz="20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2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f>
                        <m:fPr>
                          <m:ctrlPr>
                            <a:rPr lang="en-US" altLang="zh-CN" sz="2000" i="1">
                              <a:latin typeface="Cambria Math" panose="02040503050406030204" pitchFamily="18" charset="0"/>
                              <a:ea typeface="MS Mincho" panose="02020609040205080304" charset="-128"/>
                              <a:cs typeface="Cambria Math" panose="02040503050406030204" pitchFamily="18" charset="0"/>
                            </a:rPr>
                          </m:ctrlPr>
                        </m:fPr>
                        <m:num>
                          <m:r>
                            <a:rPr lang="en-US" altLang="zh-CN" sz="2000" i="1">
                              <a:latin typeface="Cambria Math" panose="02040503050406030204" pitchFamily="18" charset="0"/>
                              <a:ea typeface="MS Mincho" panose="02020609040205080304" charset="-128"/>
                              <a:cs typeface="Cambria Math" panose="02040503050406030204" pitchFamily="18" charset="0"/>
                            </a:rPr>
                            <m:t>1</m:t>
                          </m:r>
                        </m:num>
                        <m:den>
                          <m:r>
                            <a:rPr lang="en-US" altLang="zh-CN" sz="2000" i="1">
                              <a:latin typeface="Cambria Math" panose="02040503050406030204" pitchFamily="18" charset="0"/>
                              <a:ea typeface="MS Mincho" panose="02020609040205080304" charset="-128"/>
                              <a:cs typeface="Cambria Math" panose="02040503050406030204" pitchFamily="18" charset="0"/>
                            </a:rPr>
                            <m:t>4</m:t>
                          </m:r>
                        </m:den>
                      </m:f>
                    </m:oMath>
                  </m:oMathPara>
                </a14:m>
                <a:endParaRPr lang="en-US" altLang="zh-CN" sz="20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2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即满足约束条件的步长</a:t>
                </a:r>
                <a14:m>
                  <m:oMath xmlns:m="http://schemas.openxmlformats.org/officeDocument/2006/math">
                    <m:r>
                      <a:rPr lang="en-US" altLang="zh-CN" sz="2000" i="1">
                        <a:latin typeface="Cambria Math" panose="02040503050406030204" pitchFamily="18" charset="0"/>
                        <a:ea typeface="MS Mincho" panose="02020609040205080304" charset="-128"/>
                        <a:cs typeface="Cambria Math" panose="02040503050406030204" pitchFamily="18" charset="0"/>
                      </a:rPr>
                      <m:t>𝜆</m:t>
                    </m:r>
                  </m:oMath>
                </a14:m>
                <a:r>
                  <a:rPr lang="zh-CN" altLang="en-US" sz="2000" dirty="0">
                    <a:latin typeface="Cambria Math" panose="02040503050406030204" pitchFamily="18" charset="0"/>
                    <a:ea typeface="MS Mincho" panose="02020609040205080304" charset="-128"/>
                    <a:cs typeface="Cambria Math" panose="02040503050406030204" pitchFamily="18" charset="0"/>
                  </a:rPr>
                  <a:t>的上限</a:t>
                </a:r>
                <a14:m>
                  <m:oMath xmlns:m="http://schemas.openxmlformats.org/officeDocument/2006/math">
                    <m:acc>
                      <m:accPr>
                        <m:chr m:val="̅"/>
                        <m:ctrlPr>
                          <a:rPr lang="en-US" altLang="zh-CN" sz="2000" i="1">
                            <a:latin typeface="Cambria Math" panose="02040503050406030204" pitchFamily="18" charset="0"/>
                            <a:ea typeface="MS Mincho" panose="02020609040205080304" charset="-128"/>
                            <a:cs typeface="Cambria Math" panose="02040503050406030204" pitchFamily="18" charset="0"/>
                          </a:rPr>
                        </m:ctrlPr>
                      </m:accPr>
                      <m:e>
                        <m:sSub>
                          <m:sSubPr>
                            <m:ctrlPr>
                              <a:rPr lang="en-US" altLang="zh-CN" sz="2000" i="1">
                                <a:latin typeface="Cambria Math" panose="02040503050406030204" pitchFamily="18" charset="0"/>
                                <a:ea typeface="MS Mincho" panose="02020609040205080304" charset="-128"/>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MS Mincho" panose="02020609040205080304" charset="-128"/>
                                <a:cs typeface="Cambria Math" panose="02040503050406030204" pitchFamily="18" charset="0"/>
                              </a:rPr>
                              <m:t>1</m:t>
                            </m:r>
                          </m:sub>
                        </m:sSub>
                      </m:e>
                    </m:acc>
                    <m:r>
                      <a:rPr lang="en-US" altLang="zh-CN" sz="2000" i="1">
                        <a:latin typeface="Cambria Math" panose="02040503050406030204" pitchFamily="18" charset="0"/>
                        <a:ea typeface="MS Mincho" panose="02020609040205080304" charset="-128"/>
                        <a:cs typeface="Cambria Math" panose="02040503050406030204" pitchFamily="18" charset="0"/>
                      </a:rPr>
                      <m:t>=</m:t>
                    </m:r>
                    <m:f>
                      <m:fPr>
                        <m:ctrlPr>
                          <a:rPr lang="en-US" altLang="zh-CN" sz="2000" i="1">
                            <a:latin typeface="Cambria Math" panose="02040503050406030204" pitchFamily="18" charset="0"/>
                            <a:ea typeface="MS Mincho" panose="02020609040205080304" charset="-128"/>
                            <a:cs typeface="Cambria Math" panose="02040503050406030204" pitchFamily="18" charset="0"/>
                          </a:rPr>
                        </m:ctrlPr>
                      </m:fPr>
                      <m:num>
                        <m:r>
                          <a:rPr lang="en-US" altLang="zh-CN" sz="2000" i="1">
                            <a:latin typeface="Cambria Math" panose="02040503050406030204" pitchFamily="18" charset="0"/>
                            <a:ea typeface="MS Mincho" panose="02020609040205080304" charset="-128"/>
                            <a:cs typeface="Cambria Math" panose="02040503050406030204" pitchFamily="18" charset="0"/>
                          </a:rPr>
                          <m:t>1</m:t>
                        </m:r>
                      </m:num>
                      <m:den>
                        <m:r>
                          <a:rPr lang="en-US" altLang="zh-CN" sz="2000" i="1">
                            <a:latin typeface="Cambria Math" panose="02040503050406030204" pitchFamily="18" charset="0"/>
                            <a:ea typeface="MS Mincho" panose="02020609040205080304" charset="-128"/>
                            <a:cs typeface="Cambria Math" panose="02040503050406030204" pitchFamily="18" charset="0"/>
                          </a:rPr>
                          <m:t>4</m:t>
                        </m:r>
                      </m:den>
                    </m:f>
                    <m:r>
                      <a:rPr lang="zh-CN" altLang="en-US" sz="2000" i="1">
                        <a:latin typeface="Cambria Math" panose="02040503050406030204" pitchFamily="18" charset="0"/>
                        <a:ea typeface="MS Mincho" panose="02020609040205080304" charset="-128"/>
                        <a:cs typeface="Cambria Math" panose="02040503050406030204" pitchFamily="18" charset="0"/>
                      </a:rPr>
                      <m:t>。</m:t>
                    </m:r>
                  </m:oMath>
                </a14:m>
                <a:endParaRPr lang="zh-CN" altLang="en-US" sz="2000" dirty="0">
                  <a:latin typeface="Cambria Math" panose="02040503050406030204" pitchFamily="18" charset="0"/>
                  <a:ea typeface="MS Mincho" panose="02020609040205080304" charset="-128"/>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467201" y="1214914"/>
                <a:ext cx="8554403" cy="5025863"/>
              </a:xfrm>
              <a:prstGeom prst="rect">
                <a:avLst/>
              </a:prstGeom>
              <a:blipFill rotWithShape="1">
                <a:blip r:embed="rId1"/>
                <a:stretch>
                  <a:fillRect l="-6" t="-3" r="2" b="13"/>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413862" y="1161097"/>
                <a:ext cx="8472964" cy="5524333"/>
              </a:xfrm>
              <a:prstGeom prst="rect">
                <a:avLst/>
              </a:prstGeom>
              <a:noFill/>
            </p:spPr>
            <p:txBody>
              <a:bodyPr wrap="square" rtlCol="0">
                <a:spAutoFit/>
              </a:bodyPr>
              <a:lstStyle/>
              <a:p>
                <a:pPr fontAlgn="auto">
                  <a:lnSpc>
                    <a:spcPct val="100000"/>
                  </a:lnSpc>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将</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代入目标函数，有</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16</m:t>
                      </m:r>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16</m:t>
                      </m:r>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16</m:t>
                      </m:r>
                      <m:sSup>
                        <m:sSupPr>
                          <m:ctrlPr>
                            <a:rPr lang="en-US" altLang="zh-CN" sz="2000" i="1">
                              <a:latin typeface="Cambria Math" panose="02040503050406030204" pitchFamily="18" charset="0"/>
                              <a:ea typeface="MS Mincho" panose="02020609040205080304" charset="-128"/>
                              <a:cs typeface="Cambria Math" panose="02040503050406030204" pitchFamily="18" charset="0"/>
                            </a:rPr>
                          </m:ctrlPr>
                        </m:s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p>
                          <m:r>
                            <a:rPr lang="en-US" altLang="zh-CN" sz="2000" i="1">
                              <a:latin typeface="Cambria Math" panose="02040503050406030204" pitchFamily="18" charset="0"/>
                              <a:ea typeface="MS Mincho" panose="02020609040205080304" charset="-128"/>
                              <a:cs typeface="Cambria Math" panose="02040503050406030204" pitchFamily="18" charset="0"/>
                            </a:rPr>
                            <m:t>2</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16</m:t>
                      </m:r>
                      <m:sSup>
                        <m:sSupPr>
                          <m:ctrlPr>
                            <a:rPr lang="en-US" altLang="zh-CN" sz="2000" i="1">
                              <a:latin typeface="Cambria Math" panose="02040503050406030204" pitchFamily="18" charset="0"/>
                              <a:ea typeface="MS Mincho" panose="02020609040205080304" charset="-128"/>
                              <a:cs typeface="Cambria Math" panose="02040503050406030204" pitchFamily="18" charset="0"/>
                            </a:rPr>
                          </m:ctrlPr>
                        </m:s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p>
                          <m:r>
                            <a:rPr lang="en-US" altLang="zh-CN" sz="2000" i="1">
                              <a:latin typeface="Cambria Math" panose="02040503050406030204" pitchFamily="18" charset="0"/>
                              <a:ea typeface="MS Mincho" panose="02020609040205080304" charset="-128"/>
                              <a:cs typeface="Cambria Math" panose="02040503050406030204" pitchFamily="18" charset="0"/>
                            </a:rPr>
                            <m:t>2</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32</m:t>
                      </m:r>
                      <m:sSup>
                        <m:sSupPr>
                          <m:ctrlPr>
                            <a:rPr lang="en-US" altLang="zh-CN" sz="2000" i="1">
                              <a:latin typeface="Cambria Math" panose="02040503050406030204" pitchFamily="18" charset="0"/>
                              <a:ea typeface="MS Mincho" panose="02020609040205080304" charset="-128"/>
                              <a:cs typeface="Cambria Math" panose="02040503050406030204" pitchFamily="18" charset="0"/>
                            </a:rPr>
                          </m:ctrlPr>
                        </m:s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p>
                          <m:r>
                            <a:rPr lang="en-US" altLang="zh-CN" sz="2000" i="1">
                              <a:latin typeface="Cambria Math" panose="02040503050406030204" pitchFamily="18" charset="0"/>
                              <a:ea typeface="MS Mincho" panose="02020609040205080304" charset="-128"/>
                              <a:cs typeface="Cambria Math" panose="02040503050406030204" pitchFamily="18" charset="0"/>
                            </a:rPr>
                            <m:t>2</m:t>
                          </m:r>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32</m:t>
                      </m:r>
                      <m:r>
                        <a:rPr lang="en-US" altLang="zh-CN" sz="2000" i="1">
                          <a:latin typeface="Cambria Math" panose="02040503050406030204" pitchFamily="18" charset="0"/>
                          <a:ea typeface="MS Mincho" panose="02020609040205080304" charset="-128"/>
                          <a:cs typeface="Cambria Math" panose="02040503050406030204" pitchFamily="18" charset="0"/>
                        </a:rPr>
                        <m:t>𝜆</m:t>
                      </m:r>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r>
                  <a:rPr lang="zh-CN" altLang="en-US" sz="2000" dirty="0">
                    <a:latin typeface="宋体" panose="02010600030101010101" pitchFamily="2" charset="-122"/>
                    <a:ea typeface="宋体" panose="02010600030101010101" pitchFamily="2" charset="-122"/>
                    <a:cs typeface="Cambria Math" panose="02040503050406030204" pitchFamily="18" charset="0"/>
                  </a:rPr>
                  <a:t>令</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14:m>
                  <m:oMathPara xmlns:m="http://schemas.openxmlformats.org/officeDocument/2006/math">
                    <m:oMathParaPr>
                      <m:jc m:val="centerGroup"/>
                    </m:oMathParaPr>
                    <m:oMath xmlns:m="http://schemas.openxmlformats.org/officeDocument/2006/math">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𝑑𝑓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e>
                          </m:d>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MS Mincho" panose="02020609040205080304" charset="-128"/>
                              <a:cs typeface="Cambria Math" panose="02040503050406030204" pitchFamily="18" charset="0"/>
                            </a:rPr>
                            <m:t>𝜆</m:t>
                          </m:r>
                        </m:den>
                      </m:f>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64</m:t>
                      </m:r>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32</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0</m:t>
                      </m:r>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r>
                  <a:rPr lang="zh-CN" altLang="en-US" sz="2000" dirty="0">
                    <a:latin typeface="宋体" panose="02010600030101010101" pitchFamily="2" charset="-122"/>
                    <a:ea typeface="宋体" panose="02010600030101010101" pitchFamily="2" charset="-122"/>
                    <a:cs typeface="Cambria Math" panose="02040503050406030204" pitchFamily="18" charset="0"/>
                  </a:rPr>
                  <a:t>可得</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14:m>
                  <m:oMathPara xmlns:m="http://schemas.openxmlformats.org/officeDocument/2006/math">
                    <m:oMathParaPr>
                      <m:jc m:val="centerGroup"/>
                    </m:oMathParaPr>
                    <m:oMath xmlns:m="http://schemas.openxmlformats.org/officeDocument/2006/math">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2</m:t>
                          </m:r>
                        </m:den>
                      </m:f>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a:t>
                </a:r>
                <a:r>
                  <a:rPr lang="zh-CN" altLang="en-US" sz="2000" dirty="0">
                    <a:latin typeface="宋体" panose="02010600030101010101" pitchFamily="2" charset="-122"/>
                    <a:ea typeface="宋体" panose="02010600030101010101" pitchFamily="2" charset="-122"/>
                    <a:cs typeface="Cambria Math" panose="02040503050406030204" pitchFamily="18" charset="0"/>
                  </a:rPr>
                  <a:t>因为</a:t>
                </a:r>
                <a14:m>
                  <m:oMath xmlns:m="http://schemas.openxmlformats.org/officeDocument/2006/math">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000" i="1">
                        <a:latin typeface="Cambria Math" panose="02040503050406030204" pitchFamily="18" charset="0"/>
                        <a:ea typeface="宋体" panose="02010600030101010101" pitchFamily="2" charset="-122"/>
                        <a:cs typeface="Cambria Math" panose="02040503050406030204" pitchFamily="18" charset="0"/>
                      </a:rPr>
                      <m:t>&gt;</m:t>
                    </m:r>
                    <m:acc>
                      <m:accPr>
                        <m: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acc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e>
                    </m:acc>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，故舍去</a:t>
                </a:r>
                <a14:m>
                  <m:oMath xmlns:m="http://schemas.openxmlformats.org/officeDocument/2006/math">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。求满足</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14:m>
                  <m:oMathPara xmlns:m="http://schemas.openxmlformats.org/officeDocument/2006/math">
                    <m:oMathParaPr>
                      <m:jc m:val="centerGroup"/>
                    </m:oMathParaPr>
                    <m:oMath xmlns:m="http://schemas.openxmlformats.org/officeDocument/2006/math">
                      <m:func>
                        <m:func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limLowPr>
                            <m:e>
                              <m:r>
                                <m:rPr>
                                  <m:sty m:val="p"/>
                                </m:rPr>
                                <a:rPr lang="en-US" altLang="zh-CN" sz="2000">
                                  <a:latin typeface="Cambria Math" panose="02040503050406030204" pitchFamily="18" charset="0"/>
                                  <a:ea typeface="宋体" panose="02010600030101010101" pitchFamily="2" charset="-122"/>
                                  <a:cs typeface="Cambria Math" panose="02040503050406030204" pitchFamily="18" charset="0"/>
                                </a:rPr>
                                <m:t>min</m:t>
                              </m:r>
                            </m:e>
                            <m:lim>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acc>
                                <m:accPr>
                                  <m: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acc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e>
                              </m:acc>
                            </m:lim>
                          </m:limLow>
                        </m:fName>
                        <m:e>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e>
                      </m:func>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r>
                  <a:rPr lang="zh-CN" altLang="en-US" sz="2000" dirty="0">
                    <a:latin typeface="宋体" panose="02010600030101010101" pitchFamily="2" charset="-122"/>
                    <a:ea typeface="宋体" panose="02010600030101010101" pitchFamily="2" charset="-122"/>
                    <a:cs typeface="Cambria Math" panose="02040503050406030204" pitchFamily="18" charset="0"/>
                  </a:rPr>
                  <a:t>的</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值，有</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4</m:t>
                        </m:r>
                      </m:den>
                    </m:f>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。故</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1</m:t>
                              </m:r>
                            </m:den>
                          </m:f>
                        </m:e>
                      </m:d>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fontAlgn="auto">
                  <a:lnSpc>
                    <a:spcPct val="10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f>
                            <m:fPr>
                              <m:type m:val="noBa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den>
                          </m:f>
                        </m:e>
                      </m:d>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6</m:t>
                      </m:r>
                    </m:oMath>
                  </m:oMathPara>
                </a14:m>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413862" y="1161097"/>
                <a:ext cx="8472964" cy="5524333"/>
              </a:xfrm>
              <a:prstGeom prst="rect">
                <a:avLst/>
              </a:prstGeom>
              <a:blipFill rotWithShape="1">
                <a:blip r:embed="rId1"/>
                <a:stretch>
                  <a:fillRect l="-6" t="-6" b="3"/>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467544" y="1052736"/>
                <a:ext cx="8103870" cy="5796972"/>
              </a:xfrm>
              <a:prstGeom prst="rect">
                <a:avLst/>
              </a:prstGeom>
              <a:noFill/>
            </p:spPr>
            <p:txBody>
              <a:bodyPr wrap="square" rtlCol="0">
                <a:spAutoFit/>
              </a:bodyPr>
              <a:lstStyle/>
              <a:p>
                <a:pPr fontAlgn="auto">
                  <a:lnSpc>
                    <a:spcPct val="15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MS Mincho" panose="02020609040205080304" charset="-128"/>
                              <a:cs typeface="Cambria Math" panose="02040503050406030204" pitchFamily="18" charset="0"/>
                            </a:rPr>
                            <m:t>1</m:t>
                          </m:r>
                        </m:sub>
                      </m:sSub>
                      <m:r>
                        <a:rPr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MS Mincho" panose="02020609040205080304" charset="-128"/>
                                  <a:cs typeface="Cambria Math" panose="02040503050406030204" pitchFamily="18" charset="0"/>
                                </a:rPr>
                                <m:t>2</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0</m:t>
                      </m:r>
                    </m:oMath>
                  </m:oMathPara>
                </a14:m>
                <a:endParaRPr lang="en-US" altLang="zh-CN" sz="2000" i="1"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现构成下述线性规划问题</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𝑠</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求解以上线性规划的结果为</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𝜂</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2</m:t>
                          </m:r>
                        </m:den>
                      </m:f>
                      <m:r>
                        <a:rPr lang="en-US" altLang="zh-CN" sz="2000" i="1">
                          <a:latin typeface="Cambria Math" panose="02040503050406030204" pitchFamily="18" charset="0"/>
                          <a:ea typeface="宋体" panose="02010600030101010101" pitchFamily="2" charset="-122"/>
                          <a:cs typeface="Cambria Math" panose="02040503050406030204" pitchFamily="18" charset="0"/>
                        </a:rPr>
                        <m:t>, </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3</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4</m:t>
                                  </m:r>
                                </m:den>
                              </m:f>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14:m>
                  <m:oMath xmlns:m="http://schemas.openxmlformats.org/officeDocument/2006/math">
                    <m:r>
                      <m:rPr>
                        <m:sty m:val="p"/>
                      </m:rPr>
                      <a:rPr lang="en-US" altLang="zh-CN" sz="2000" kern="100">
                        <a:latin typeface="Cambria Math" panose="02040503050406030204" pitchFamily="18" charset="0"/>
                        <a:ea typeface="宋体" panose="02010600030101010101" pitchFamily="2" charset="-122"/>
                        <a:cs typeface="Times New Roman" panose="02020603050405020304" pitchFamily="18" charset="0"/>
                      </a:rPr>
                      <m:t>η</m:t>
                    </m:r>
                  </m:oMath>
                </a14:m>
                <a:r>
                  <a:rPr lang="zh-CN" altLang="en-US" sz="2000" dirty="0">
                    <a:latin typeface="宋体" panose="02010600030101010101" pitchFamily="2" charset="-122"/>
                    <a:ea typeface="宋体" panose="02010600030101010101" pitchFamily="2" charset="-122"/>
                  </a:rPr>
                  <a:t>不满足精度要求，需要继续迭代。</a:t>
                </a:r>
                <a:endParaRPr lang="zh-CN" altLang="en-US" sz="2000" dirty="0">
                  <a:latin typeface="宋体" panose="02010600030101010101" pitchFamily="2" charset="-122"/>
                  <a:ea typeface="宋体" panose="02010600030101010101" pitchFamily="2" charset="-122"/>
                </a:endParaRPr>
              </a:p>
              <a:p>
                <a:pPr fontAlgn="auto">
                  <a:lnSpc>
                    <a:spcPct val="150000"/>
                  </a:lnSpc>
                </a:pPr>
                <a:endParaRPr lang="en-US" altLang="zh-CN" sz="2000" dirty="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467544" y="1052736"/>
                <a:ext cx="8103870" cy="5796972"/>
              </a:xfrm>
              <a:prstGeom prst="rect">
                <a:avLst/>
              </a:prstGeom>
              <a:blipFill rotWithShape="1">
                <a:blip r:embed="rId1"/>
                <a:stretch>
                  <a:fillRect l="-2" t="-9" r="2" b="10"/>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359532" y="1106805"/>
                <a:ext cx="8784467" cy="5119030"/>
              </a:xfrm>
              <a:prstGeom prst="rect">
                <a:avLst/>
              </a:prstGeom>
              <a:noFill/>
            </p:spPr>
            <p:txBody>
              <a:bodyPr wrap="square" rtlCol="0">
                <a:spAutoFit/>
              </a:bodyPr>
              <a:lstStyle/>
              <a:p>
                <a:pPr fontAlgn="auto">
                  <a:lnSpc>
                    <a:spcPct val="130000"/>
                  </a:lnSpc>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假设</a:t>
                </a:r>
                <a:endParaRPr lang="zh-CN" altLang="en-US" sz="2000" dirty="0">
                  <a:latin typeface="宋体" panose="02010600030101010101" pitchFamily="2" charset="-122"/>
                  <a:ea typeface="宋体" panose="02010600030101010101" pitchFamily="2" charset="-122"/>
                </a:endParaRPr>
              </a:p>
              <a:p>
                <a:pPr fontAlgn="auto">
                  <a:lnSpc>
                    <a:spcPct val="130000"/>
                  </a:lnSpc>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 </m:t>
                              </m:r>
                              <m:r>
                                <a:rPr lang="en-US" altLang="zh-CN" sz="2000" i="1">
                                  <a:latin typeface="Cambria Math" panose="02040503050406030204" pitchFamily="18" charset="0"/>
                                  <a:ea typeface="MS Mincho" panose="02020609040205080304" charset="-128"/>
                                  <a:cs typeface="Cambria Math" panose="02040503050406030204" pitchFamily="18" charset="0"/>
                                </a:rPr>
                                <m:t>1</m:t>
                              </m:r>
                              <m:r>
                                <a:rPr lang="en-US" altLang="zh-CN" sz="2000" i="1">
                                  <a:latin typeface="Cambria Math" panose="02040503050406030204" pitchFamily="18" charset="0"/>
                                  <a:ea typeface="MS Mincho" panose="02020609040205080304" charset="-128"/>
                                  <a:cs typeface="Cambria Math" panose="02040503050406030204" pitchFamily="18" charset="0"/>
                                </a:rPr>
                                <m:t>−</m:t>
                              </m:r>
                              <m:f>
                                <m:fPr>
                                  <m:ctrlPr>
                                    <a:rPr lang="en-US" altLang="zh-CN" sz="2000" i="1">
                                      <a:latin typeface="Cambria Math" panose="02040503050406030204" pitchFamily="18" charset="0"/>
                                      <a:ea typeface="MS Mincho" panose="02020609040205080304" charset="-128"/>
                                      <a:cs typeface="Cambria Math" panose="02040503050406030204" pitchFamily="18" charset="0"/>
                                    </a:rPr>
                                  </m:ctrlPr>
                                </m:fPr>
                                <m:num>
                                  <m:r>
                                    <a:rPr lang="en-US" altLang="zh-CN" sz="2000" i="1">
                                      <a:latin typeface="Cambria Math" panose="02040503050406030204" pitchFamily="18" charset="0"/>
                                      <a:ea typeface="MS Mincho" panose="02020609040205080304" charset="-128"/>
                                      <a:cs typeface="Cambria Math" panose="02040503050406030204" pitchFamily="18" charset="0"/>
                                    </a:rPr>
                                    <m:t>3</m:t>
                                  </m:r>
                                </m:num>
                                <m:den>
                                  <m:r>
                                    <a:rPr lang="en-US" altLang="zh-CN" sz="2000" i="1">
                                      <a:latin typeface="Cambria Math" panose="02040503050406030204" pitchFamily="18" charset="0"/>
                                      <a:ea typeface="MS Mincho" panose="02020609040205080304" charset="-128"/>
                                      <a:cs typeface="Cambria Math" panose="02040503050406030204" pitchFamily="18" charset="0"/>
                                    </a:rPr>
                                    <m:t>4</m:t>
                                  </m:r>
                                </m:den>
                              </m:f>
                              <m:r>
                                <a:rPr lang="en-US" altLang="zh-CN" sz="2000" i="1">
                                  <a:latin typeface="Cambria Math" panose="02040503050406030204" pitchFamily="18" charset="0"/>
                                  <a:ea typeface="MS Mincho" panose="02020609040205080304" charset="-128"/>
                                  <a:cs typeface="Cambria Math" panose="02040503050406030204" pitchFamily="18" charset="0"/>
                                </a:rPr>
                                <m:t>𝜆</m:t>
                              </m:r>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这里可以先</a:t>
                </a:r>
                <a:r>
                  <a:rPr lang="zh-CN" altLang="en-US" sz="2000" kern="100" dirty="0">
                    <a:ea typeface="宋体" panose="02010600030101010101" pitchFamily="2" charset="-122"/>
                    <a:cs typeface="Times New Roman" panose="02020603050405020304" pitchFamily="18" charset="0"/>
                  </a:rPr>
                  <a:t>利用</a:t>
                </a:r>
                <a14:m>
                  <m:oMath xmlns:m="http://schemas.openxmlformats.org/officeDocument/2006/math">
                    <m:sSub>
                      <m:sSubPr>
                        <m:ctrlPr>
                          <a:rPr lang="zh-CN" altLang="zh-CN" sz="2000" i="1">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000" i="1">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e>
                      <m:sup>
                        <m:d>
                          <m:dPr>
                            <m:ctrlPr>
                              <a:rPr lang="zh-CN" altLang="zh-CN" sz="2000" i="1">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3</m:t>
                            </m:r>
                          </m:e>
                        </m:d>
                      </m:sup>
                    </m:sSup>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0</m:t>
                    </m:r>
                  </m:oMath>
                </a14:m>
                <a:r>
                  <a:rPr lang="zh-CN" altLang="en-US" sz="2000" kern="100" dirty="0">
                    <a:ea typeface="宋体" panose="02010600030101010101" pitchFamily="2" charset="-122"/>
                    <a:cs typeface="Times New Roman" panose="02020603050405020304" pitchFamily="18" charset="0"/>
                  </a:rPr>
                  <a:t>，求得</a:t>
                </a:r>
                <a:r>
                  <a:rPr lang="zh-CN" altLang="zh-CN" sz="2000" kern="100" dirty="0">
                    <a:ea typeface="宋体" panose="02010600030101010101" pitchFamily="2" charset="-122"/>
                    <a:cs typeface="Times New Roman" panose="02020603050405020304" pitchFamily="18" charset="0"/>
                  </a:rPr>
                  <a:t>保证</a:t>
                </a:r>
                <a14:m>
                  <m:oMath xmlns:m="http://schemas.openxmlformats.org/officeDocument/2006/math">
                    <m:sSup>
                      <m:sSupPr>
                        <m:ctrlPr>
                          <a:rPr lang="zh-CN" altLang="zh-CN" sz="2000" i="1">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e>
                      <m:sup>
                        <m:d>
                          <m:dPr>
                            <m:ctrlPr>
                              <a:rPr lang="zh-CN" altLang="zh-CN" sz="2000" i="1">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3</m:t>
                            </m:r>
                          </m:e>
                        </m:d>
                      </m:sup>
                    </m:sSup>
                  </m:oMath>
                </a14:m>
                <a:r>
                  <a:rPr lang="zh-CN" altLang="zh-CN" sz="2000" kern="100" dirty="0">
                    <a:ea typeface="宋体" panose="02010600030101010101" pitchFamily="2" charset="-122"/>
                    <a:cs typeface="Times New Roman" panose="02020603050405020304" pitchFamily="18" charset="0"/>
                  </a:rPr>
                  <a:t>是可行点</a:t>
                </a:r>
                <a:r>
                  <a:rPr lang="zh-CN" altLang="en-US" sz="2000" kern="100" dirty="0">
                    <a:ea typeface="宋体" panose="02010600030101010101" pitchFamily="2" charset="-122"/>
                    <a:cs typeface="Times New Roman" panose="02020603050405020304" pitchFamily="18" charset="0"/>
                  </a:rPr>
                  <a:t>的</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𝜆</m:t>
                    </m:r>
                    <m:r>
                      <a:rPr lang="zh-CN" altLang="en-US" sz="20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也可以先略过此步，</a:t>
                </a:r>
                <a:endParaRPr lang="en-US" altLang="zh-CN"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r>
                  <a:rPr lang="zh-CN" altLang="en-US" sz="2000" dirty="0">
                    <a:latin typeface="宋体" panose="02010600030101010101" pitchFamily="2" charset="-122"/>
                    <a:ea typeface="宋体" panose="02010600030101010101" pitchFamily="2" charset="-122"/>
                  </a:rPr>
                  <a:t>将</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代入目标函数，有</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25</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16</m:t>
                          </m:r>
                        </m:den>
                      </m:f>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2</m:t>
                          </m:r>
                        </m:den>
                      </m:f>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6</m:t>
                      </m:r>
                    </m:oMath>
                  </m:oMathPara>
                </a14:m>
                <a:endParaRPr lang="en-US" altLang="zh-CN" sz="20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3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令</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14:m>
                  <m:oMathPara xmlns:m="http://schemas.openxmlformats.org/officeDocument/2006/math">
                    <m:oMathParaPr>
                      <m:jc m:val="centerGroup"/>
                    </m:oMathParaPr>
                    <m:oMath xmlns:m="http://schemas.openxmlformats.org/officeDocument/2006/math">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𝑑𝑓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e>
                          </m:d>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r>
                            <a:rPr lang="en-US" altLang="zh-CN" sz="2000" i="1">
                              <a:latin typeface="Cambria Math" panose="02040503050406030204" pitchFamily="18" charset="0"/>
                              <a:ea typeface="MS Mincho" panose="02020609040205080304" charset="-128"/>
                              <a:cs typeface="Cambria Math" panose="02040503050406030204" pitchFamily="18" charset="0"/>
                            </a:rPr>
                            <m:t>𝜆</m:t>
                          </m:r>
                        </m:den>
                      </m:f>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25</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8</m:t>
                          </m:r>
                        </m:den>
                      </m:f>
                      <m:r>
                        <a:rPr lang="en-US" altLang="zh-CN" sz="2000" i="1">
                          <a:latin typeface="Cambria Math" panose="02040503050406030204" pitchFamily="18" charset="0"/>
                          <a:ea typeface="MS Mincho" panose="02020609040205080304" charset="-128"/>
                          <a:cs typeface="Cambria Math" panose="02040503050406030204" pitchFamily="18" charset="0"/>
                        </a:rPr>
                        <m:t>𝜆</m:t>
                      </m:r>
                      <m:r>
                        <a:rPr lang="en-US" altLang="zh-CN" sz="2000" i="1">
                          <a:latin typeface="Cambria Math" panose="02040503050406030204" pitchFamily="18" charset="0"/>
                          <a:ea typeface="MS Mincho" panose="02020609040205080304" charset="-128"/>
                          <a:cs typeface="Cambria Math" panose="02040503050406030204" pitchFamily="18" charset="0"/>
                        </a:rPr>
                        <m:t>−</m:t>
                      </m:r>
                      <m:f>
                        <m:fPr>
                          <m:ctrlPr>
                            <a:rPr lang="en-US" altLang="zh-CN" sz="2000" i="1">
                              <a:latin typeface="Cambria Math" panose="02040503050406030204" pitchFamily="18" charset="0"/>
                              <a:ea typeface="MS Mincho" panose="02020609040205080304" charset="-128"/>
                              <a:cs typeface="Cambria Math" panose="02040503050406030204" pitchFamily="18" charset="0"/>
                            </a:rPr>
                          </m:ctrlPr>
                        </m:fPr>
                        <m:num>
                          <m:r>
                            <a:rPr lang="en-US" altLang="zh-CN" sz="2000" i="1">
                              <a:latin typeface="Cambria Math" panose="02040503050406030204" pitchFamily="18" charset="0"/>
                              <a:ea typeface="MS Mincho" panose="02020609040205080304" charset="-128"/>
                              <a:cs typeface="Cambria Math" panose="02040503050406030204" pitchFamily="18" charset="0"/>
                            </a:rPr>
                            <m:t>1</m:t>
                          </m:r>
                        </m:num>
                        <m:den>
                          <m:r>
                            <a:rPr lang="en-US" altLang="zh-CN" sz="2000" i="1">
                              <a:latin typeface="Cambria Math" panose="02040503050406030204" pitchFamily="18" charset="0"/>
                              <a:ea typeface="MS Mincho" panose="02020609040205080304" charset="-128"/>
                              <a:cs typeface="Cambria Math" panose="02040503050406030204" pitchFamily="18" charset="0"/>
                            </a:rPr>
                            <m:t>2</m:t>
                          </m:r>
                        </m:den>
                      </m:f>
                      <m:r>
                        <a:rPr lang="en-US" altLang="zh-CN" sz="2000" i="1">
                          <a:latin typeface="Cambria Math" panose="02040503050406030204" pitchFamily="18" charset="0"/>
                          <a:ea typeface="MS Mincho" panose="02020609040205080304" charset="-128"/>
                          <a:cs typeface="Cambria Math" panose="02040503050406030204" pitchFamily="18" charset="0"/>
                        </a:rPr>
                        <m:t>=</m:t>
                      </m:r>
                      <m:r>
                        <a:rPr lang="en-US" altLang="zh-CN" sz="2000" i="1">
                          <a:latin typeface="Cambria Math" panose="02040503050406030204" pitchFamily="18" charset="0"/>
                          <a:ea typeface="MS Mincho" panose="02020609040205080304" charset="-128"/>
                          <a:cs typeface="Cambria Math" panose="02040503050406030204" pitchFamily="18" charset="0"/>
                        </a:rPr>
                        <m:t>0</m:t>
                      </m:r>
                    </m:oMath>
                  </m:oMathPara>
                </a14:m>
                <a:endParaRPr lang="en-US" altLang="zh-CN" sz="2000" i="1" dirty="0">
                  <a:latin typeface="Cambria Math" panose="02040503050406030204" pitchFamily="18" charset="0"/>
                  <a:ea typeface="MS Mincho" panose="02020609040205080304" charset="-128"/>
                  <a:cs typeface="Cambria Math" panose="02040503050406030204" pitchFamily="18" charset="0"/>
                </a:endParaRPr>
              </a:p>
              <a:p>
                <a:pPr fontAlgn="auto">
                  <a:lnSpc>
                    <a:spcPct val="13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可得</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fontAlgn="auto">
                  <a:lnSpc>
                    <a:spcPct val="130000"/>
                  </a:lnSpc>
                </a:pPr>
                <a14:m>
                  <m:oMathPara xmlns:m="http://schemas.openxmlformats.org/officeDocument/2006/math">
                    <m:oMathParaPr>
                      <m:jc m:val="centerGroup"/>
                    </m:oMathParaPr>
                    <m:oMath xmlns:m="http://schemas.openxmlformats.org/officeDocument/2006/math">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16</m:t>
                      </m:r>
                    </m:oMath>
                  </m:oMathPara>
                </a14:m>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359532" y="1106805"/>
                <a:ext cx="8784467" cy="5119030"/>
              </a:xfrm>
              <a:prstGeom prst="rect">
                <a:avLst/>
              </a:prstGeom>
              <a:blipFill rotWithShape="1">
                <a:blip r:embed="rId1"/>
                <a:stretch>
                  <a:fillRect l="-1" r="-578" b="6"/>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521494" y="1538764"/>
                <a:ext cx="8058150" cy="3414204"/>
              </a:xfrm>
              <a:prstGeom prst="rect">
                <a:avLst/>
              </a:prstGeom>
              <a:noFill/>
            </p:spPr>
            <p:txBody>
              <a:bodyPr wrap="square" rtlCol="0">
                <a:spAutoFit/>
              </a:bodyPr>
              <a:lstStyle/>
              <a:p>
                <a:pPr algn="just"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现暂定可行的最优步长</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MS Mincho" panose="02020609040205080304" charset="-128"/>
                            <a:cs typeface="Cambria Math" panose="02040503050406030204" pitchFamily="18" charset="0"/>
                          </a:rPr>
                          <m:t>2</m:t>
                        </m:r>
                      </m:sub>
                    </m:sSub>
                    <m:r>
                      <a:rPr lang="en-US" altLang="zh-CN" sz="2000" i="1">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MS Mincho" panose="02020609040205080304" charset="-128"/>
                            <a:cs typeface="Cambria Math" panose="02040503050406030204" pitchFamily="18" charset="0"/>
                          </a:rPr>
                          <m:t>2</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，则有</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50000"/>
                  </a:lnSpc>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MS Mincho" panose="02020609040205080304" charset="-128"/>
                              <a:cs typeface="Cambria Math" panose="02040503050406030204" pitchFamily="18" charset="0"/>
                            </a:rPr>
                            <m:t>2</m:t>
                          </m:r>
                        </m:sub>
                      </m:sSub>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𝑑</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2</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16</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88</m:t>
                              </m:r>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50000"/>
                  </a:lnSpc>
                </a:pPr>
                <a:r>
                  <a:rPr lang="zh-CN" altLang="en-US" sz="2000" dirty="0">
                    <a:latin typeface="宋体" panose="02010600030101010101" pitchFamily="2" charset="-122"/>
                    <a:ea typeface="宋体" panose="02010600030101010101" pitchFamily="2" charset="-122"/>
                    <a:cs typeface="Cambria Math" panose="02040503050406030204" pitchFamily="18" charset="0"/>
                  </a:rPr>
                  <a:t>将</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代入约束条件，有</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50000"/>
                  </a:lnSpc>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08</m:t>
                      </m:r>
                      <m:r>
                        <a:rPr lang="en-US" altLang="zh-CN" sz="2000" i="1">
                          <a:latin typeface="Cambria Math" panose="02040503050406030204" pitchFamily="18" charset="0"/>
                          <a:ea typeface="宋体" panose="02010600030101010101" pitchFamily="2" charset="-122"/>
                          <a:cs typeface="Cambria Math" panose="02040503050406030204" pitchFamily="18" charset="0"/>
                        </a:rPr>
                        <m:t>&gt;</m:t>
                      </m:r>
                      <m:r>
                        <a:rPr lang="en-US" altLang="zh-CN" sz="2000" i="1">
                          <a:latin typeface="Cambria Math" panose="02040503050406030204" pitchFamily="18" charset="0"/>
                          <a:ea typeface="宋体" panose="02010600030101010101" pitchFamily="2" charset="-122"/>
                          <a:cs typeface="Cambria Math" panose="02040503050406030204" pitchFamily="18" charset="0"/>
                        </a:rPr>
                        <m:t>0</m:t>
                      </m:r>
                    </m:oMath>
                  </m:oMathPara>
                </a14:m>
                <a:endParaRPr lang="en-US" altLang="zh-CN" sz="2000" i="1"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50000"/>
                  </a:lnSpc>
                </a:pPr>
                <a:r>
                  <a:rPr lang="zh-CN" altLang="en-US" sz="2000" dirty="0">
                    <a:latin typeface="宋体" panose="02010600030101010101" pitchFamily="2" charset="-122"/>
                    <a:ea typeface="宋体" panose="02010600030101010101" pitchFamily="2" charset="-122"/>
                    <a:cs typeface="Cambria Math" panose="02040503050406030204" pitchFamily="18" charset="0"/>
                  </a:rPr>
                  <a:t>故</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为可行点，即选取</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MS Mincho" panose="02020609040205080304" charset="-128"/>
                            <a:cs typeface="Cambria Math" panose="02040503050406030204" pitchFamily="18" charset="0"/>
                          </a:rPr>
                          <m:t>2</m:t>
                        </m:r>
                      </m:sub>
                    </m:sSub>
                    <m:r>
                      <a:rPr lang="en-US" altLang="zh-CN" sz="2000" i="1">
                        <a:latin typeface="Cambria Math" panose="02040503050406030204" pitchFamily="18" charset="0"/>
                        <a:ea typeface="MS Mincho" panose="02020609040205080304" charset="-128"/>
                        <a:cs typeface="Cambria Math" panose="02040503050406030204" pitchFamily="18" charset="0"/>
                      </a:rPr>
                      <m:t>=</m:t>
                    </m:r>
                    <m:sSubSup>
                      <m:sSub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000" i="1">
                            <a:latin typeface="Cambria Math" panose="02040503050406030204" pitchFamily="18" charset="0"/>
                            <a:ea typeface="MS Mincho" panose="02020609040205080304" charset="-128"/>
                            <a:cs typeface="Cambria Math" panose="02040503050406030204" pitchFamily="18" charset="0"/>
                          </a:rPr>
                          <m:t>𝜆</m:t>
                        </m:r>
                      </m:e>
                      <m:sub>
                        <m:r>
                          <a:rPr lang="en-US" altLang="zh-CN" sz="2000" i="1">
                            <a:latin typeface="Cambria Math" panose="02040503050406030204" pitchFamily="18" charset="0"/>
                            <a:ea typeface="MS Mincho" panose="02020609040205080304" charset="-128"/>
                            <a:cs typeface="Cambria Math" panose="02040503050406030204" pitchFamily="18" charset="0"/>
                          </a:rPr>
                          <m:t>2</m:t>
                        </m:r>
                      </m:sub>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oMath>
                </a14:m>
                <a:r>
                  <a:rPr lang="en-US" altLang="zh-CN" sz="2000" dirty="0">
                    <a:latin typeface="宋体" panose="02010600030101010101" pitchFamily="2" charset="-122"/>
                    <a:ea typeface="宋体" panose="02010600030101010101" pitchFamily="2" charset="-122"/>
                    <a:cs typeface="Cambria Math" panose="02040503050406030204" pitchFamily="18" charset="0"/>
                  </a:rPr>
                  <a:t>=0.16</a:t>
                </a:r>
                <a:r>
                  <a:rPr lang="zh-CN" altLang="en-US" sz="2000" dirty="0">
                    <a:latin typeface="宋体" panose="02010600030101010101" pitchFamily="2" charset="-122"/>
                    <a:ea typeface="宋体" panose="02010600030101010101" pitchFamily="2" charset="-122"/>
                    <a:cs typeface="Cambria Math" panose="02040503050406030204" pitchFamily="18" charset="0"/>
                  </a:rPr>
                  <a:t>是正确的，有</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3</m:t>
                                </m:r>
                              </m:e>
                            </m:d>
                          </m:sup>
                        </m:sSup>
                      </m:e>
                    </m:d>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6</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04</m:t>
                    </m:r>
                  </m:oMath>
                </a14:m>
                <a:r>
                  <a:rPr lang="zh-CN" altLang="en-US" sz="2000" dirty="0">
                    <a:latin typeface="宋体" panose="02010600030101010101" pitchFamily="2" charset="-122"/>
                    <a:ea typeface="宋体" panose="02010600030101010101" pitchFamily="2" charset="-122"/>
                    <a:cs typeface="Cambria Math" panose="02040503050406030204" pitchFamily="18" charset="0"/>
                  </a:rPr>
                  <a:t>。</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a:p>
                <a:pPr algn="just" fontAlgn="auto">
                  <a:lnSpc>
                    <a:spcPct val="150000"/>
                  </a:lnSpc>
                </a:pPr>
                <a:r>
                  <a:rPr lang="en-US" altLang="zh-CN" sz="2000" dirty="0">
                    <a:latin typeface="宋体" panose="02010600030101010101" pitchFamily="2" charset="-122"/>
                    <a:ea typeface="宋体" panose="02010600030101010101" pitchFamily="2" charset="-122"/>
                    <a:cs typeface="Cambria Math" panose="02040503050406030204" pitchFamily="18" charset="0"/>
                  </a:rPr>
                  <a:t>	</a:t>
                </a:r>
                <a:r>
                  <a:rPr lang="zh-CN" altLang="en-US" sz="2000" dirty="0">
                    <a:latin typeface="宋体" panose="02010600030101010101" pitchFamily="2" charset="-122"/>
                    <a:ea typeface="宋体" panose="02010600030101010101" pitchFamily="2" charset="-122"/>
                    <a:cs typeface="Cambria Math" panose="02040503050406030204" pitchFamily="18" charset="0"/>
                  </a:rPr>
                  <a:t>如此继续迭代下去，一定可得最优解。限于篇幅，后面的过程不再列出。</a:t>
                </a:r>
                <a:endParaRPr lang="zh-CN" altLang="en-US" sz="2000" dirty="0">
                  <a:latin typeface="宋体" panose="02010600030101010101" pitchFamily="2" charset="-122"/>
                  <a:ea typeface="宋体" panose="02010600030101010101" pitchFamily="2" charset="-122"/>
                  <a:cs typeface="Cambria Math" panose="02040503050406030204" pitchFamily="18"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521494" y="1538764"/>
                <a:ext cx="8058150" cy="3414204"/>
              </a:xfrm>
              <a:prstGeom prst="rect">
                <a:avLst/>
              </a:prstGeom>
              <a:blipFill rotWithShape="1">
                <a:blip r:embed="rId1"/>
                <a:stretch>
                  <a:fillRect l="-2" t="-5" r="2" b="18"/>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836712"/>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a typeface="宋体" panose="02010600030101010101" pitchFamily="2" charset="-122"/>
            </a:endParaRPr>
          </a:p>
        </p:txBody>
      </p:sp>
      <p:sp>
        <p:nvSpPr>
          <p:cNvPr id="7" name="文本框 6"/>
          <p:cNvSpPr txBox="1"/>
          <p:nvPr/>
        </p:nvSpPr>
        <p:spPr>
          <a:xfrm>
            <a:off x="656801" y="1539173"/>
            <a:ext cx="7830870" cy="4437753"/>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sz="2400" dirty="0">
                <a:solidFill>
                  <a:srgbClr val="505050"/>
                </a:solidFill>
                <a:latin typeface="宋体" panose="02010600030101010101" pitchFamily="2" charset="-122"/>
                <a:ea typeface="宋体" panose="02010600030101010101" pitchFamily="2" charset="-122"/>
              </a:rPr>
              <a:t>可行方向法是求解非线性规划问题的常用方法。其典型策略是</a:t>
            </a:r>
            <a:r>
              <a:rPr lang="en-US" altLang="zh-CN" sz="2400" dirty="0">
                <a:solidFill>
                  <a:srgbClr val="505050"/>
                </a:solidFill>
                <a:latin typeface="宋体" panose="02010600030101010101" pitchFamily="2" charset="-122"/>
                <a:ea typeface="宋体" panose="02010600030101010101" pitchFamily="2" charset="-122"/>
              </a:rPr>
              <a:t>,</a:t>
            </a:r>
            <a:r>
              <a:rPr lang="zh-CN" altLang="en-US" sz="2400" dirty="0">
                <a:solidFill>
                  <a:srgbClr val="505050"/>
                </a:solidFill>
                <a:latin typeface="宋体" panose="02010600030101010101" pitchFamily="2" charset="-122"/>
                <a:ea typeface="宋体" panose="02010600030101010101" pitchFamily="2" charset="-122"/>
              </a:rPr>
              <a:t>从可行点出发</a:t>
            </a:r>
            <a:r>
              <a:rPr lang="en-US" altLang="zh-CN" sz="2400" dirty="0">
                <a:solidFill>
                  <a:srgbClr val="505050"/>
                </a:solidFill>
                <a:latin typeface="宋体" panose="02010600030101010101" pitchFamily="2" charset="-122"/>
                <a:ea typeface="宋体" panose="02010600030101010101" pitchFamily="2" charset="-122"/>
              </a:rPr>
              <a:t>,</a:t>
            </a:r>
            <a:r>
              <a:rPr lang="zh-CN" altLang="en-US" sz="2400" dirty="0">
                <a:solidFill>
                  <a:srgbClr val="505050"/>
                </a:solidFill>
                <a:latin typeface="宋体" panose="02010600030101010101" pitchFamily="2" charset="-122"/>
                <a:ea typeface="宋体" panose="02010600030101010101" pitchFamily="2" charset="-122"/>
              </a:rPr>
              <a:t>沿着下降的可行方向进行搜索</a:t>
            </a:r>
            <a:r>
              <a:rPr lang="en-US" altLang="zh-CN" sz="2400" dirty="0">
                <a:solidFill>
                  <a:srgbClr val="505050"/>
                </a:solidFill>
                <a:latin typeface="宋体" panose="02010600030101010101" pitchFamily="2" charset="-122"/>
                <a:ea typeface="宋体" panose="02010600030101010101" pitchFamily="2" charset="-122"/>
              </a:rPr>
              <a:t>,</a:t>
            </a:r>
            <a:r>
              <a:rPr lang="zh-CN" altLang="en-US" sz="2400" dirty="0">
                <a:solidFill>
                  <a:srgbClr val="505050"/>
                </a:solidFill>
                <a:latin typeface="宋体" panose="02010600030101010101" pitchFamily="2" charset="-122"/>
                <a:ea typeface="宋体" panose="02010600030101010101" pitchFamily="2" charset="-122"/>
              </a:rPr>
              <a:t>求出使目标函数值下降的新的可行点。</a:t>
            </a:r>
            <a:endParaRPr lang="en-US" altLang="zh-CN" sz="2400" dirty="0">
              <a:solidFill>
                <a:srgbClr val="505050"/>
              </a:solidFill>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400" dirty="0">
                <a:solidFill>
                  <a:srgbClr val="505050"/>
                </a:solidFill>
                <a:latin typeface="宋体" panose="02010600030101010101" pitchFamily="2" charset="-122"/>
                <a:ea typeface="宋体" panose="02010600030101010101" pitchFamily="2" charset="-122"/>
              </a:rPr>
              <a:t>算法的主要步骤是选择搜索方向和确定沿此方向的步长</a:t>
            </a:r>
            <a:r>
              <a:rPr lang="en-US" altLang="zh-CN" sz="2400" dirty="0">
                <a:solidFill>
                  <a:srgbClr val="505050"/>
                </a:solidFill>
                <a:latin typeface="宋体" panose="02010600030101010101" pitchFamily="2" charset="-122"/>
                <a:ea typeface="宋体" panose="02010600030101010101" pitchFamily="2" charset="-122"/>
              </a:rPr>
              <a:t>,</a:t>
            </a:r>
            <a:r>
              <a:rPr lang="zh-CN" altLang="en-US" sz="2400" dirty="0">
                <a:solidFill>
                  <a:srgbClr val="505050"/>
                </a:solidFill>
                <a:latin typeface="宋体" panose="02010600030101010101" pitchFamily="2" charset="-122"/>
                <a:ea typeface="宋体" panose="02010600030101010101" pitchFamily="2" charset="-122"/>
              </a:rPr>
              <a:t>搜索方向的选择形式不同就形成了不同的可行方向法。</a:t>
            </a:r>
            <a:endParaRPr lang="en-US" altLang="zh-CN" sz="2400" dirty="0">
              <a:solidFill>
                <a:srgbClr val="505050"/>
              </a:solidFill>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400" dirty="0">
                <a:solidFill>
                  <a:srgbClr val="505050"/>
                </a:solidFill>
                <a:latin typeface="宋体" panose="02010600030101010101" pitchFamily="2" charset="-122"/>
                <a:ea typeface="宋体" panose="02010600030101010101" pitchFamily="2" charset="-122"/>
              </a:rPr>
              <a:t>逐次线性近似法、</a:t>
            </a:r>
            <a:r>
              <a:rPr lang="en-US" altLang="zh-CN" sz="2400" dirty="0" err="1">
                <a:solidFill>
                  <a:srgbClr val="505050"/>
                </a:solidFill>
                <a:latin typeface="宋体" panose="02010600030101010101" pitchFamily="2" charset="-122"/>
                <a:ea typeface="宋体" panose="02010600030101010101" pitchFamily="2" charset="-122"/>
              </a:rPr>
              <a:t>Zoutendijk</a:t>
            </a:r>
            <a:r>
              <a:rPr lang="zh-CN" altLang="en-US" sz="2400" dirty="0">
                <a:solidFill>
                  <a:srgbClr val="505050"/>
                </a:solidFill>
                <a:latin typeface="宋体" panose="02010600030101010101" pitchFamily="2" charset="-122"/>
                <a:ea typeface="宋体" panose="02010600030101010101" pitchFamily="2" charset="-122"/>
              </a:rPr>
              <a:t>可行方向法、</a:t>
            </a:r>
            <a:r>
              <a:rPr lang="en-US" altLang="zh-CN" sz="2400" dirty="0">
                <a:solidFill>
                  <a:srgbClr val="505050"/>
                </a:solidFill>
                <a:latin typeface="宋体" panose="02010600030101010101" pitchFamily="2" charset="-122"/>
                <a:ea typeface="宋体" panose="02010600030101010101" pitchFamily="2" charset="-122"/>
              </a:rPr>
              <a:t>Frank-Wolfe</a:t>
            </a:r>
            <a:r>
              <a:rPr lang="zh-CN" altLang="en-US" sz="2400" dirty="0">
                <a:solidFill>
                  <a:srgbClr val="505050"/>
                </a:solidFill>
                <a:latin typeface="宋体" panose="02010600030101010101" pitchFamily="2" charset="-122"/>
                <a:ea typeface="宋体" panose="02010600030101010101" pitchFamily="2" charset="-122"/>
              </a:rPr>
              <a:t>方法、</a:t>
            </a:r>
            <a:r>
              <a:rPr lang="en-US" altLang="zh-CN" sz="2400" dirty="0">
                <a:solidFill>
                  <a:srgbClr val="505050"/>
                </a:solidFill>
                <a:latin typeface="宋体" panose="02010600030101010101" pitchFamily="2" charset="-122"/>
                <a:ea typeface="宋体" panose="02010600030101010101" pitchFamily="2" charset="-122"/>
              </a:rPr>
              <a:t>Wolfe</a:t>
            </a:r>
            <a:r>
              <a:rPr lang="zh-CN" altLang="en-US" sz="2400" dirty="0">
                <a:solidFill>
                  <a:srgbClr val="505050"/>
                </a:solidFill>
                <a:latin typeface="宋体" panose="02010600030101010101" pitchFamily="2" charset="-122"/>
                <a:ea typeface="宋体" panose="02010600030101010101" pitchFamily="2" charset="-122"/>
              </a:rPr>
              <a:t>既约梯度法等是常用的可行方向法。</a:t>
            </a: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78200" y="2564904"/>
            <a:ext cx="2723823" cy="1107996"/>
          </a:xfrm>
          <a:prstGeom prst="rect">
            <a:avLst/>
          </a:prstGeom>
        </p:spPr>
        <p:txBody>
          <a:bodyPr wrap="none">
            <a:spAutoFit/>
          </a:bodyPr>
          <a:lstStyle/>
          <a:p>
            <a:pPr algn="ctr"/>
            <a:r>
              <a:rPr lang="en-US" altLang="zh-CN" sz="3300" b="1" dirty="0"/>
              <a:t>   9.4 </a:t>
            </a:r>
            <a:endParaRPr lang="en-US" altLang="zh-CN" sz="3300" b="1" dirty="0"/>
          </a:p>
          <a:p>
            <a:pPr algn="ctr"/>
            <a:r>
              <a:rPr lang="zh-CN" altLang="en-US" sz="3300" b="1" dirty="0"/>
              <a:t>罚函数法概述</a:t>
            </a:r>
            <a:endParaRPr lang="zh-CN" altLang="en-US" sz="33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1215" y="1916832"/>
            <a:ext cx="8262918" cy="3474477"/>
          </a:xfrm>
          <a:prstGeom prst="rect">
            <a:avLst/>
          </a:prstGeom>
          <a:noFill/>
        </p:spPr>
        <p:txBody>
          <a:bodyPr wrap="square">
            <a:spAutoFit/>
          </a:bodyPr>
          <a:lstStyle/>
          <a:p>
            <a:pPr indent="200025" algn="just">
              <a:lnSpc>
                <a:spcPct val="150000"/>
              </a:lnSpc>
              <a:spcBef>
                <a:spcPts val="450"/>
              </a:spcBef>
              <a:spcAft>
                <a:spcPts val="450"/>
              </a:spcAf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因为无约束</a:t>
            </a:r>
            <a:r>
              <a:rPr lang="zh-CN" altLang="en-US" sz="2400" kern="100" dirty="0">
                <a:latin typeface="Times New Roman" panose="02020603050405020304" pitchFamily="18" charset="0"/>
                <a:ea typeface="宋体" panose="02010600030101010101" pitchFamily="2" charset="-122"/>
              </a:rPr>
              <a:t>优化</a:t>
            </a:r>
            <a:r>
              <a:rPr lang="zh-CN" altLang="zh-CN" sz="2400" kern="100" dirty="0">
                <a:latin typeface="Times New Roman" panose="02020603050405020304" pitchFamily="18" charset="0"/>
                <a:ea typeface="宋体" panose="02010600030101010101" pitchFamily="2" charset="-122"/>
              </a:rPr>
              <a:t>问题已有较好的求解方法，如</a:t>
            </a:r>
            <a:r>
              <a:rPr lang="en-US" altLang="zh-CN" sz="2400" kern="100" dirty="0">
                <a:latin typeface="Times New Roman" panose="02020603050405020304" pitchFamily="18" charset="0"/>
                <a:ea typeface="宋体" panose="02010600030101010101" pitchFamily="2" charset="-122"/>
              </a:rPr>
              <a:t>BFGS</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DFP</a:t>
            </a:r>
            <a:r>
              <a:rPr lang="zh-CN" altLang="en-US" sz="2400" kern="100" dirty="0">
                <a:latin typeface="Times New Roman" panose="02020603050405020304" pitchFamily="18" charset="0"/>
                <a:ea typeface="宋体" panose="02010600030101010101" pitchFamily="2" charset="-122"/>
              </a:rPr>
              <a:t>等</a:t>
            </a:r>
            <a:r>
              <a:rPr lang="zh-CN" altLang="zh-CN" sz="2400" kern="100" dirty="0">
                <a:latin typeface="Times New Roman" panose="02020603050405020304" pitchFamily="18" charset="0"/>
                <a:ea typeface="宋体" panose="02010600030101010101" pitchFamily="2" charset="-122"/>
              </a:rPr>
              <a:t>，</a:t>
            </a:r>
            <a:r>
              <a:rPr lang="zh-CN" altLang="en-US" sz="2400" kern="100" dirty="0">
                <a:latin typeface="Times New Roman" panose="02020603050405020304" pitchFamily="18" charset="0"/>
                <a:ea typeface="宋体" panose="02010600030101010101" pitchFamily="2" charset="-122"/>
              </a:rPr>
              <a:t>那么，将约束优化问题</a:t>
            </a:r>
            <a:r>
              <a:rPr lang="zh-CN" altLang="zh-CN" sz="2400" kern="100" dirty="0">
                <a:latin typeface="Times New Roman" panose="02020603050405020304" pitchFamily="18" charset="0"/>
                <a:ea typeface="宋体" panose="02010600030101010101" pitchFamily="2" charset="-122"/>
              </a:rPr>
              <a:t>转化为无约束问题</a:t>
            </a:r>
            <a:r>
              <a:rPr lang="zh-CN" altLang="en-US" sz="2400" kern="100" dirty="0">
                <a:latin typeface="Times New Roman" panose="02020603050405020304" pitchFamily="18" charset="0"/>
                <a:ea typeface="宋体" panose="02010600030101010101" pitchFamily="2" charset="-122"/>
              </a:rPr>
              <a:t>，就可以利用已有的无约束优化算法。</a:t>
            </a:r>
            <a:endParaRPr lang="en-US" altLang="zh-CN" sz="2400" kern="100" dirty="0">
              <a:latin typeface="Times New Roman" panose="02020603050405020304" pitchFamily="18" charset="0"/>
              <a:ea typeface="宋体" panose="02010600030101010101" pitchFamily="2" charset="-122"/>
            </a:endParaRPr>
          </a:p>
          <a:p>
            <a:pPr indent="200025" algn="just">
              <a:lnSpc>
                <a:spcPct val="150000"/>
              </a:lnSpc>
              <a:spcBef>
                <a:spcPts val="450"/>
              </a:spcBef>
              <a:spcAft>
                <a:spcPts val="450"/>
              </a:spcAft>
            </a:pPr>
            <a:r>
              <a:rPr lang="en-US" altLang="zh-CN" sz="2400" kern="100" dirty="0">
                <a:latin typeface="Times New Roman" panose="02020603050405020304" pitchFamily="18" charset="0"/>
                <a:ea typeface="宋体" panose="02010600030101010101" pitchFamily="2" charset="-122"/>
              </a:rPr>
              <a:t>	</a:t>
            </a:r>
            <a:r>
              <a:rPr lang="zh-CN" altLang="en-US" sz="2400" b="1" kern="100" dirty="0">
                <a:latin typeface="Times New Roman" panose="02020603050405020304" pitchFamily="18" charset="0"/>
                <a:ea typeface="宋体" panose="02010600030101010101" pitchFamily="2" charset="-122"/>
              </a:rPr>
              <a:t>罚函数法</a:t>
            </a:r>
            <a:r>
              <a:rPr lang="zh-CN" altLang="en-US" sz="2400" kern="100" dirty="0">
                <a:latin typeface="Times New Roman" panose="02020603050405020304" pitchFamily="18" charset="0"/>
                <a:ea typeface="宋体" panose="02010600030101010101" pitchFamily="2" charset="-122"/>
              </a:rPr>
              <a:t>就是</a:t>
            </a:r>
            <a:r>
              <a:rPr lang="zh-CN" altLang="zh-CN" sz="2400" kern="100" dirty="0">
                <a:latin typeface="Times New Roman" panose="02020603050405020304" pitchFamily="18" charset="0"/>
                <a:ea typeface="宋体" panose="02010600030101010101" pitchFamily="2" charset="-122"/>
              </a:rPr>
              <a:t>将</a:t>
            </a:r>
            <a:r>
              <a:rPr lang="zh-CN" altLang="en-US" sz="2400" kern="100" dirty="0">
                <a:latin typeface="Times New Roman" panose="02020603050405020304" pitchFamily="18" charset="0"/>
                <a:ea typeface="宋体" panose="02010600030101010101" pitchFamily="2" charset="-122"/>
              </a:rPr>
              <a:t>约束优化问题的</a:t>
            </a:r>
            <a:r>
              <a:rPr lang="zh-CN" altLang="zh-CN" sz="2400" kern="100" dirty="0">
                <a:latin typeface="Times New Roman" panose="02020603050405020304" pitchFamily="18" charset="0"/>
                <a:ea typeface="宋体" panose="02010600030101010101" pitchFamily="2" charset="-122"/>
              </a:rPr>
              <a:t>约束条件按一定的规则转换到目标函数上，然后对转换后得到的新的无约束问题求解，</a:t>
            </a:r>
            <a:r>
              <a:rPr lang="zh-CN" altLang="en-US" sz="2400" kern="100" dirty="0">
                <a:latin typeface="Times New Roman" panose="02020603050405020304" pitchFamily="18" charset="0"/>
                <a:ea typeface="宋体" panose="02010600030101010101" pitchFamily="2" charset="-122"/>
              </a:rPr>
              <a:t>再</a:t>
            </a:r>
            <a:r>
              <a:rPr lang="zh-CN" altLang="zh-CN" sz="2400" kern="100" dirty="0">
                <a:latin typeface="Times New Roman" panose="02020603050405020304" pitchFamily="18" charset="0"/>
                <a:ea typeface="宋体" panose="02010600030101010101" pitchFamily="2" charset="-122"/>
              </a:rPr>
              <a:t>将求解的结果反映到原问题</a:t>
            </a:r>
            <a:r>
              <a:rPr lang="zh-CN" altLang="en-US" sz="2400" kern="100" dirty="0">
                <a:latin typeface="Times New Roman" panose="02020603050405020304" pitchFamily="18" charset="0"/>
                <a:ea typeface="宋体" panose="02010600030101010101" pitchFamily="2" charset="-122"/>
              </a:rPr>
              <a:t>的方法。</a:t>
            </a:r>
            <a:endParaRPr lang="zh-CN" altLang="zh-CN" sz="2400" kern="100" dirty="0">
              <a:latin typeface="Times New Roman" panose="02020603050405020304" pitchFamily="18" charset="0"/>
              <a:ea typeface="宋体" panose="02010600030101010101" pitchFamily="2" charset="-122"/>
            </a:endParaRPr>
          </a:p>
        </p:txBody>
      </p:sp>
      <p:sp>
        <p:nvSpPr>
          <p:cNvPr id="4" name="文本框 3"/>
          <p:cNvSpPr txBox="1"/>
          <p:nvPr/>
        </p:nvSpPr>
        <p:spPr>
          <a:xfrm>
            <a:off x="467544" y="1268760"/>
            <a:ext cx="3429000" cy="461665"/>
          </a:xfrm>
          <a:prstGeom prst="rect">
            <a:avLst/>
          </a:prstGeom>
          <a:noFill/>
        </p:spPr>
        <p:txBody>
          <a:bodyPr>
            <a:spAutoFit/>
          </a:bodyPr>
          <a:lstStyle/>
          <a:p>
            <a:pPr eaLnBrk="1" hangingPunct="1">
              <a:defRPr/>
            </a:pPr>
            <a:r>
              <a:rPr lang="zh-CN" altLang="en-US" sz="2400" b="1" dirty="0">
                <a:solidFill>
                  <a:schemeClr val="accent6"/>
                </a:solidFill>
              </a:rPr>
              <a:t>罚函数法 </a:t>
            </a:r>
            <a:endParaRPr lang="zh-CN" altLang="en-US" sz="2400" b="1" dirty="0">
              <a:solidFill>
                <a:schemeClr val="accent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4"/>
          <p:cNvSpPr txBox="1">
            <a:spLocks noChangeArrowheads="1"/>
          </p:cNvSpPr>
          <p:nvPr/>
        </p:nvSpPr>
        <p:spPr bwMode="auto">
          <a:xfrm>
            <a:off x="639312" y="1862826"/>
            <a:ext cx="7893128" cy="33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pPr>
            <a:r>
              <a:rPr lang="zh-CN" altLang="en-US" kern="100" dirty="0"/>
              <a:t>        在罚函数法中，</a:t>
            </a:r>
            <a:r>
              <a:rPr lang="zh-CN" altLang="zh-CN" kern="100" dirty="0"/>
              <a:t>将</a:t>
            </a:r>
            <a:r>
              <a:rPr lang="zh-CN" altLang="en-US" kern="100" dirty="0"/>
              <a:t>约束优化问题的</a:t>
            </a:r>
            <a:r>
              <a:rPr lang="zh-CN" altLang="zh-CN" kern="100" dirty="0"/>
              <a:t>约束条件按一定的规则转换到目标函数上，得到的新的无约束问题</a:t>
            </a:r>
            <a:r>
              <a:rPr lang="zh-CN" altLang="en-US" dirty="0"/>
              <a:t>的目标函数称为罚函数。</a:t>
            </a:r>
            <a:endParaRPr lang="en-US" altLang="zh-CN" dirty="0"/>
          </a:p>
          <a:p>
            <a:pPr algn="just" eaLnBrk="1" hangingPunct="1">
              <a:lnSpc>
                <a:spcPct val="150000"/>
              </a:lnSpc>
            </a:pPr>
            <a:r>
              <a:rPr lang="en-US" altLang="zh-CN" dirty="0"/>
              <a:t>	</a:t>
            </a:r>
            <a:r>
              <a:rPr lang="zh-CN" altLang="en-US" dirty="0"/>
              <a:t>罚函数的功能是对非可行点或企图穿越边界而逃离可行域的点赋予一个极大的值，将有约束最优化问题转化为求解无约束最优化问题。</a:t>
            </a:r>
            <a:endParaRPr lang="zh-CN" altLang="en-US" dirty="0"/>
          </a:p>
        </p:txBody>
      </p:sp>
      <p:sp>
        <p:nvSpPr>
          <p:cNvPr id="7" name="文本框 6"/>
          <p:cNvSpPr txBox="1"/>
          <p:nvPr/>
        </p:nvSpPr>
        <p:spPr>
          <a:xfrm>
            <a:off x="629562" y="1322766"/>
            <a:ext cx="3429000" cy="461665"/>
          </a:xfrm>
          <a:prstGeom prst="rect">
            <a:avLst/>
          </a:prstGeom>
          <a:noFill/>
        </p:spPr>
        <p:txBody>
          <a:bodyPr>
            <a:spAutoFit/>
          </a:bodyPr>
          <a:lstStyle/>
          <a:p>
            <a:pPr eaLnBrk="1" hangingPunct="1">
              <a:defRPr/>
            </a:pPr>
            <a:r>
              <a:rPr lang="zh-CN" altLang="en-US" sz="2400" b="1" dirty="0">
                <a:solidFill>
                  <a:schemeClr val="accent6"/>
                </a:solidFill>
              </a:rPr>
              <a:t>罚函数 </a:t>
            </a:r>
            <a:endParaRPr lang="zh-CN" altLang="en-US" sz="2400" b="1" dirty="0">
              <a:solidFill>
                <a:schemeClr val="accent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29562" y="1754814"/>
            <a:ext cx="7236804" cy="2221762"/>
          </a:xfrm>
          <a:prstGeom prst="rect">
            <a:avLst/>
          </a:prstGeom>
          <a:noFill/>
        </p:spPr>
        <p:txBody>
          <a:bodyPr wrap="square">
            <a:spAutoFit/>
          </a:bodyPr>
          <a:lstStyle>
            <a:defPPr>
              <a:defRPr lang="en-US"/>
            </a:defPPr>
            <a:lvl1pPr algn="just" eaLnBrk="1" hangingPunct="1">
              <a:lnSpc>
                <a:spcPct val="150000"/>
              </a:lnSpc>
              <a:defRPr sz="2400">
                <a:latin typeface="宋体" panose="02010600030101010101" pitchFamily="2" charset="-122"/>
                <a:ea typeface="宋体" panose="02010600030101010101" pitchFamily="2" charset="-122"/>
              </a:defRPr>
            </a:lvl1pPr>
          </a:lstStyle>
          <a:p>
            <a:pPr marL="257175" indent="-257175">
              <a:buFont typeface="Wingdings" panose="05000000000000000000" pitchFamily="2" charset="2"/>
              <a:buChar char="Ø"/>
            </a:pPr>
            <a:r>
              <a:rPr lang="zh-CN" altLang="en-US" dirty="0"/>
              <a:t>传统的罚函数法一般分为外部罚函数法和内部罚函数法。</a:t>
            </a:r>
            <a:endParaRPr lang="en-US" altLang="zh-CN" dirty="0"/>
          </a:p>
          <a:p>
            <a:pPr marL="257175" indent="-257175">
              <a:buFont typeface="Wingdings" panose="05000000000000000000" pitchFamily="2" charset="2"/>
              <a:buChar char="Ø"/>
            </a:pPr>
            <a:r>
              <a:rPr lang="zh-CN" altLang="en-US" dirty="0"/>
              <a:t>外部罚函数法是从非可行解出发逐渐移动到可行区域的方法。例如</a:t>
            </a:r>
            <a:endParaRPr lang="en-US" altLang="zh-CN" dirty="0"/>
          </a:p>
        </p:txBody>
      </p:sp>
      <p:sp>
        <p:nvSpPr>
          <p:cNvPr id="5" name="文本框 4"/>
          <p:cNvSpPr txBox="1"/>
          <p:nvPr/>
        </p:nvSpPr>
        <p:spPr>
          <a:xfrm>
            <a:off x="251520" y="1214754"/>
            <a:ext cx="3429000" cy="461665"/>
          </a:xfrm>
          <a:prstGeom prst="rect">
            <a:avLst/>
          </a:prstGeom>
          <a:noFill/>
        </p:spPr>
        <p:txBody>
          <a:bodyPr>
            <a:spAutoFit/>
          </a:bodyPr>
          <a:lstStyle/>
          <a:p>
            <a:pPr eaLnBrk="1" hangingPunct="1">
              <a:defRPr/>
            </a:pPr>
            <a:r>
              <a:rPr lang="zh-CN" altLang="en-US" sz="2400" b="1" dirty="0">
                <a:solidFill>
                  <a:schemeClr val="accent6"/>
                </a:solidFill>
              </a:rPr>
              <a:t>罚函数法的分类 </a:t>
            </a:r>
            <a:endParaRPr lang="zh-CN" altLang="en-US" sz="2400" b="1" dirty="0">
              <a:solidFill>
                <a:schemeClr val="accent6"/>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5450020" y="733221"/>
            <a:ext cx="3383111" cy="2834559"/>
            <a:chOff x="7266693" y="-165372"/>
            <a:chExt cx="4510814" cy="3779412"/>
          </a:xfrm>
        </p:grpSpPr>
        <p:sp>
          <p:nvSpPr>
            <p:cNvPr id="4" name="Oval 20"/>
            <p:cNvSpPr>
              <a:spLocks noChangeArrowheads="1"/>
            </p:cNvSpPr>
            <p:nvPr/>
          </p:nvSpPr>
          <p:spPr bwMode="auto">
            <a:xfrm>
              <a:off x="7266693" y="878040"/>
              <a:ext cx="2736000" cy="2736000"/>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buFontTx/>
                <a:buNone/>
              </a:pPr>
              <a:endParaRPr lang="zh-CN" altLang="en-US" sz="2400"/>
            </a:p>
          </p:txBody>
        </p:sp>
        <p:sp>
          <p:nvSpPr>
            <p:cNvPr id="6" name="Oval 9"/>
            <p:cNvSpPr>
              <a:spLocks noChangeArrowheads="1"/>
            </p:cNvSpPr>
            <p:nvPr/>
          </p:nvSpPr>
          <p:spPr bwMode="auto">
            <a:xfrm>
              <a:off x="7852226" y="1570422"/>
              <a:ext cx="1490140" cy="147188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buFontTx/>
                <a:buNone/>
              </a:pPr>
              <a:endParaRPr lang="zh-CN" altLang="en-US" sz="2400"/>
            </a:p>
          </p:txBody>
        </p:sp>
        <p:sp>
          <p:nvSpPr>
            <p:cNvPr id="7" name="Line 12"/>
            <p:cNvSpPr>
              <a:spLocks noChangeShapeType="1"/>
            </p:cNvSpPr>
            <p:nvPr/>
          </p:nvSpPr>
          <p:spPr bwMode="auto">
            <a:xfrm flipV="1">
              <a:off x="8397974" y="2295252"/>
              <a:ext cx="2938460" cy="269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 name="Line 13"/>
            <p:cNvSpPr>
              <a:spLocks noChangeShapeType="1"/>
            </p:cNvSpPr>
            <p:nvPr/>
          </p:nvSpPr>
          <p:spPr bwMode="auto">
            <a:xfrm flipH="1" flipV="1">
              <a:off x="8555810" y="25128"/>
              <a:ext cx="40288" cy="24114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 name="Line 18"/>
            <p:cNvSpPr>
              <a:spLocks noChangeShapeType="1"/>
            </p:cNvSpPr>
            <p:nvPr/>
          </p:nvSpPr>
          <p:spPr bwMode="auto">
            <a:xfrm>
              <a:off x="8367811" y="148956"/>
              <a:ext cx="2583719" cy="23034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12" name="Object 22"/>
            <p:cNvGraphicFramePr>
              <a:graphicFrameLocks noChangeAspect="1"/>
            </p:cNvGraphicFramePr>
            <p:nvPr/>
          </p:nvGraphicFramePr>
          <p:xfrm>
            <a:off x="8488461" y="2176190"/>
            <a:ext cx="258762" cy="260350"/>
          </p:xfrm>
          <a:graphic>
            <a:graphicData uri="http://schemas.openxmlformats.org/presentationml/2006/ole">
              <mc:AlternateContent xmlns:mc="http://schemas.openxmlformats.org/markup-compatibility/2006">
                <mc:Choice xmlns:v="urn:schemas-microsoft-com:vml" Requires="v">
                  <p:oleObj spid="_x0000_s0" name="Equation" r:id="rId6" imgW="76200" imgH="76200" progId="Equation.3">
                    <p:embed/>
                  </p:oleObj>
                </mc:Choice>
                <mc:Fallback>
                  <p:oleObj name="Equation" r:id="rId6" imgW="76200" imgH="76200" progId="Equation.3">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88461" y="2176190"/>
                          <a:ext cx="258762"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24"/>
            <p:cNvSpPr txBox="1">
              <a:spLocks noChangeArrowheads="1"/>
            </p:cNvSpPr>
            <p:nvPr/>
          </p:nvSpPr>
          <p:spPr bwMode="auto">
            <a:xfrm>
              <a:off x="8436074" y="2246040"/>
              <a:ext cx="228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dirty="0">
                  <a:latin typeface="宋体" panose="02010600030101010101" pitchFamily="2" charset="-122"/>
                </a:rPr>
                <a:t>o</a:t>
              </a:r>
              <a:endParaRPr lang="en-US" altLang="zh-CN" sz="2400" dirty="0">
                <a:latin typeface="宋体" panose="02010600030101010101" pitchFamily="2" charset="-122"/>
              </a:endParaRPr>
            </a:p>
          </p:txBody>
        </p:sp>
        <p:sp>
          <p:nvSpPr>
            <p:cNvPr id="16" name="Text Box 27"/>
            <p:cNvSpPr txBox="1">
              <a:spLocks noChangeArrowheads="1"/>
            </p:cNvSpPr>
            <p:nvPr/>
          </p:nvSpPr>
          <p:spPr bwMode="auto">
            <a:xfrm>
              <a:off x="10613617" y="2306365"/>
              <a:ext cx="228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dirty="0">
                  <a:latin typeface="宋体" panose="02010600030101010101" pitchFamily="2" charset="-122"/>
                </a:rPr>
                <a:t>2</a:t>
              </a:r>
              <a:endParaRPr lang="en-US" altLang="zh-CN" sz="2400" b="1" dirty="0">
                <a:latin typeface="宋体" panose="02010600030101010101" pitchFamily="2" charset="-122"/>
              </a:endParaRPr>
            </a:p>
          </p:txBody>
        </p:sp>
        <p:sp>
          <p:nvSpPr>
            <p:cNvPr id="17" name="Text Box 28"/>
            <p:cNvSpPr txBox="1">
              <a:spLocks noChangeArrowheads="1"/>
            </p:cNvSpPr>
            <p:nvPr/>
          </p:nvSpPr>
          <p:spPr bwMode="auto">
            <a:xfrm>
              <a:off x="8250401" y="275952"/>
              <a:ext cx="228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dirty="0">
                  <a:latin typeface="宋体" panose="02010600030101010101" pitchFamily="2" charset="-122"/>
                </a:rPr>
                <a:t>2</a:t>
              </a:r>
              <a:endParaRPr lang="en-US" altLang="zh-CN" sz="2400" b="1" dirty="0">
                <a:latin typeface="宋体" panose="02010600030101010101" pitchFamily="2" charset="-122"/>
              </a:endParaRPr>
            </a:p>
          </p:txBody>
        </p:sp>
        <p:graphicFrame>
          <p:nvGraphicFramePr>
            <p:cNvPr id="18" name="Object 29"/>
            <p:cNvGraphicFramePr>
              <a:graphicFrameLocks noChangeAspect="1"/>
            </p:cNvGraphicFramePr>
            <p:nvPr/>
          </p:nvGraphicFramePr>
          <p:xfrm>
            <a:off x="11344120" y="2012677"/>
            <a:ext cx="433387" cy="619125"/>
          </p:xfrm>
          <a:graphic>
            <a:graphicData uri="http://schemas.openxmlformats.org/presentationml/2006/ole">
              <mc:AlternateContent xmlns:mc="http://schemas.openxmlformats.org/markup-compatibility/2006">
                <mc:Choice xmlns:v="urn:schemas-microsoft-com:vml" Requires="v">
                  <p:oleObj spid="_x0000_s2" name="Equation" r:id="rId8" imgW="152400" imgH="215900" progId="Equation.3">
                    <p:embed/>
                  </p:oleObj>
                </mc:Choice>
                <mc:Fallback>
                  <p:oleObj name="Equation" r:id="rId8" imgW="152400" imgH="215900" progId="Equation.3">
                    <p:embed/>
                    <p:pic>
                      <p:nvPicPr>
                        <p:cNvPr id="0"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44120" y="2012677"/>
                          <a:ext cx="433387"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30"/>
            <p:cNvGraphicFramePr>
              <a:graphicFrameLocks noChangeAspect="1"/>
            </p:cNvGraphicFramePr>
            <p:nvPr/>
          </p:nvGraphicFramePr>
          <p:xfrm>
            <a:off x="8532912" y="-165372"/>
            <a:ext cx="436562" cy="533400"/>
          </p:xfrm>
          <a:graphic>
            <a:graphicData uri="http://schemas.openxmlformats.org/presentationml/2006/ole">
              <mc:AlternateContent xmlns:mc="http://schemas.openxmlformats.org/markup-compatibility/2006">
                <mc:Choice xmlns:v="urn:schemas-microsoft-com:vml" Requires="v">
                  <p:oleObj spid="_x0000_s3" name="Equation" r:id="rId10" imgW="177800" imgH="215900" progId="Equation.3">
                    <p:embed/>
                  </p:oleObj>
                </mc:Choice>
                <mc:Fallback>
                  <p:oleObj name="Equation" r:id="rId10" imgW="177800" imgH="215900" progId="Equation.3">
                    <p:embed/>
                    <p:pic>
                      <p:nvPicPr>
                        <p:cNvPr id="0"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32912" y="-165372"/>
                          <a:ext cx="43656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33"/>
            <p:cNvGraphicFramePr>
              <a:graphicFrameLocks noChangeAspect="1"/>
            </p:cNvGraphicFramePr>
            <p:nvPr/>
          </p:nvGraphicFramePr>
          <p:xfrm>
            <a:off x="10553004" y="645840"/>
            <a:ext cx="566737" cy="379413"/>
          </p:xfrm>
          <a:graphic>
            <a:graphicData uri="http://schemas.openxmlformats.org/presentationml/2006/ole">
              <mc:AlternateContent xmlns:mc="http://schemas.openxmlformats.org/markup-compatibility/2006">
                <mc:Choice xmlns:v="urn:schemas-microsoft-com:vml" Requires="v">
                  <p:oleObj spid="_x0000_s5" name="Equation" r:id="rId12" imgW="7315200" imgH="4876800" progId="Equation.DSMT4">
                    <p:embed/>
                  </p:oleObj>
                </mc:Choice>
                <mc:Fallback>
                  <p:oleObj name="Equation" r:id="rId12" imgW="7315200" imgH="4876800" progId="Equation.DSMT4">
                    <p:embed/>
                    <p:pic>
                      <p:nvPicPr>
                        <p:cNvPr id="0" name="Object 33"/>
                        <p:cNvPicPr>
                          <a:picLocks noChangeAspect="1" noChangeArrowheads="1"/>
                        </p:cNvPicPr>
                        <p:nvPr/>
                      </p:nvPicPr>
                      <p:blipFill>
                        <a:blip r:embed="rId13"/>
                        <a:srcRect/>
                        <a:stretch>
                          <a:fillRect/>
                        </a:stretch>
                      </p:blipFill>
                      <p:spPr bwMode="auto">
                        <a:xfrm>
                          <a:off x="10553004" y="645840"/>
                          <a:ext cx="56673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34"/>
            <p:cNvGraphicFramePr>
              <a:graphicFrameLocks noChangeAspect="1"/>
            </p:cNvGraphicFramePr>
            <p:nvPr/>
          </p:nvGraphicFramePr>
          <p:xfrm>
            <a:off x="9515052" y="1170510"/>
            <a:ext cx="258762" cy="260350"/>
          </p:xfrm>
          <a:graphic>
            <a:graphicData uri="http://schemas.openxmlformats.org/presentationml/2006/ole">
              <mc:AlternateContent xmlns:mc="http://schemas.openxmlformats.org/markup-compatibility/2006">
                <mc:Choice xmlns:v="urn:schemas-microsoft-com:vml" Requires="v">
                  <p:oleObj spid="_x0000_s9" name="Equation" r:id="rId14" imgW="76200" imgH="76200" progId="Equation.3">
                    <p:embed/>
                  </p:oleObj>
                </mc:Choice>
                <mc:Fallback>
                  <p:oleObj name="Equation" r:id="rId14"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15052" y="1170510"/>
                          <a:ext cx="258762"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Line 35"/>
            <p:cNvSpPr>
              <a:spLocks noChangeShapeType="1"/>
            </p:cNvSpPr>
            <p:nvPr/>
          </p:nvSpPr>
          <p:spPr bwMode="auto">
            <a:xfrm flipV="1">
              <a:off x="9638473" y="958982"/>
              <a:ext cx="892203" cy="35242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mc:AlternateContent xmlns:mc="http://schemas.openxmlformats.org/markup-compatibility/2006">
        <mc:Choice xmlns:a14="http://schemas.microsoft.com/office/drawing/2010/main" Requires="a14">
          <p:sp>
            <p:nvSpPr>
              <p:cNvPr id="23" name="文本框 22"/>
              <p:cNvSpPr txBox="1"/>
              <p:nvPr/>
            </p:nvSpPr>
            <p:spPr>
              <a:xfrm>
                <a:off x="285712" y="241722"/>
                <a:ext cx="4968761" cy="4909677"/>
              </a:xfrm>
              <a:prstGeom prst="rect">
                <a:avLst/>
              </a:prstGeom>
              <a:noFill/>
            </p:spPr>
            <p:txBody>
              <a:bodyPr wrap="square">
                <a:spAutoFit/>
              </a:bodyPr>
              <a:lstStyle/>
              <a:p>
                <a:pPr algn="just">
                  <a:lnSpc>
                    <a:spcPct val="150000"/>
                  </a:lnSpc>
                  <a:spcBef>
                    <a:spcPts val="450"/>
                  </a:spcBef>
                  <a:spcAft>
                    <a:spcPts val="450"/>
                  </a:spcAft>
                </a:pPr>
                <a14:m>
                  <m:oMathPara xmlns:m="http://schemas.openxmlformats.org/officeDocument/2006/math">
                    <m:oMathParaPr>
                      <m:jc m:val="centerGroup"/>
                    </m:oMathParaPr>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rPr>
                          </m:ctrlPr>
                        </m:funcPr>
                        <m:fName>
                          <m:limLow>
                            <m:limLowPr>
                              <m:ctrlPr>
                                <a:rPr lang="zh-CN" altLang="zh-CN" sz="2400" i="1" kern="100">
                                  <a:latin typeface="Cambria Math" panose="02040503050406030204" pitchFamily="18" charset="0"/>
                                  <a:ea typeface="Cambria Math" panose="02040503050406030204" pitchFamily="18" charset="0"/>
                                </a:rPr>
                              </m:ctrlPr>
                            </m:limLowPr>
                            <m:e>
                              <m:r>
                                <m:rPr>
                                  <m:sty m:val="p"/>
                                </m:rPr>
                                <a:rPr lang="en-US" altLang="zh-CN" sz="2400" kern="100">
                                  <a:latin typeface="Cambria Math" panose="02040503050406030204" pitchFamily="18" charset="0"/>
                                  <a:ea typeface="宋体" panose="02010600030101010101" pitchFamily="2" charset="-122"/>
                                </a:rPr>
                                <m:t>min</m:t>
                              </m:r>
                            </m:e>
                            <m:lim>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rPr>
                                <m:t>0</m:t>
                              </m:r>
                            </m:lim>
                          </m:limLow>
                        </m:fName>
                        <m:e>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e>
                      </m:func>
                    </m:oMath>
                  </m:oMathPara>
                </a14:m>
                <a:endParaRPr lang="zh-CN"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r>
                  <a:rPr lang="zh-CN" altLang="zh-CN" sz="2400" kern="100" dirty="0">
                    <a:latin typeface="Times New Roman" panose="02020603050405020304" pitchFamily="18" charset="0"/>
                    <a:ea typeface="宋体" panose="02010600030101010101" pitchFamily="2" charset="-122"/>
                  </a:rPr>
                  <a:t>由图解法可见最优解在</a:t>
                </a:r>
                <a:r>
                  <a:rPr lang="en-US" altLang="zh-CN" sz="2400" kern="100" dirty="0">
                    <a:latin typeface="Times New Roman" panose="02020603050405020304" pitchFamily="18" charset="0"/>
                    <a:ea typeface="宋体" panose="02010600030101010101" pitchFamily="2" charset="-122"/>
                  </a:rPr>
                  <a:t>(1,1)</a:t>
                </a:r>
                <a:r>
                  <a:rPr lang="zh-CN" altLang="zh-CN" sz="2400" kern="100" dirty="0">
                    <a:latin typeface="Times New Roman" panose="02020603050405020304" pitchFamily="18" charset="0"/>
                    <a:ea typeface="宋体" panose="02010600030101010101" pitchFamily="2" charset="-122"/>
                  </a:rPr>
                  <a:t>。将这个问题改造为一个无约束问题如下：</a:t>
                </a:r>
                <a:endParaRPr lang="zh-CN"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r>
                  <a:rPr lang="en-US" altLang="zh-CN" sz="2400" kern="100" dirty="0">
                    <a:ea typeface="Cambria Math" panose="02040503050406030204" pitchFamily="18" charset="0"/>
                  </a:rPr>
                  <a:t>        </a:t>
                </a:r>
                <a14:m>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rPr>
                        </m:ctrlPr>
                      </m:funcPr>
                      <m:fName>
                        <m:r>
                          <m:rPr>
                            <m:sty m:val="p"/>
                          </m:rPr>
                          <a:rPr lang="en-US" altLang="zh-CN" sz="2400" kern="100">
                            <a:latin typeface="Cambria Math" panose="02040503050406030204" pitchFamily="18" charset="0"/>
                            <a:ea typeface="宋体" panose="02010600030101010101" pitchFamily="2" charset="-122"/>
                          </a:rPr>
                          <m:t>min</m:t>
                        </m:r>
                      </m:fName>
                      <m:e>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e>
                    </m:func>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𝑀</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2</m:t>
                        </m:r>
                      </m:sup>
                    </m:sSup>
                  </m:oMath>
                </a14:m>
                <a:r>
                  <a:rPr lang="en-US" altLang="zh-CN" sz="2400" kern="100" dirty="0">
                    <a:latin typeface="宋体" panose="02010600030101010101" pitchFamily="2" charset="-122"/>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𝑀</m:t>
                    </m:r>
                    <m:r>
                      <a:rPr lang="en-US" altLang="zh-CN" sz="2400" i="1" kern="100">
                        <a:latin typeface="Cambria Math" panose="02040503050406030204" pitchFamily="18" charset="0"/>
                        <a:ea typeface="宋体" panose="02010600030101010101" pitchFamily="2" charset="-122"/>
                      </a:rPr>
                      <m:t>&gt;</m:t>
                    </m:r>
                    <m:r>
                      <a:rPr lang="en-US" altLang="zh-CN" sz="2400" i="1" kern="100">
                        <a:latin typeface="Cambria Math" panose="02040503050406030204" pitchFamily="18" charset="0"/>
                        <a:ea typeface="宋体" panose="02010600030101010101" pitchFamily="2" charset="-122"/>
                      </a:rPr>
                      <m:t>0</m:t>
                    </m:r>
                  </m:oMath>
                </a14:m>
                <a:endParaRPr lang="zh-CN"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r>
                  <a:rPr lang="zh-CN" altLang="zh-CN" sz="2400" kern="100" dirty="0">
                    <a:latin typeface="Times New Roman" panose="02020603050405020304" pitchFamily="18" charset="0"/>
                    <a:ea typeface="宋体" panose="02010600030101010101" pitchFamily="2" charset="-122"/>
                  </a:rPr>
                  <a:t>无约束问题的最优解为</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宋体" panose="02010600030101010101" pitchFamily="2" charset="-122"/>
                          </a:rPr>
                          <m:t>𝑀</m:t>
                        </m:r>
                      </m:num>
                      <m:den>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宋体" panose="02010600030101010101" pitchFamily="2" charset="-122"/>
                          </a:rPr>
                          <m:t>𝑀</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m:t>
                        </m:r>
                      </m:den>
                    </m:f>
                    <m:r>
                      <a:rPr lang="en-US" altLang="zh-CN" sz="2400" i="1" kern="100">
                        <a:latin typeface="Cambria Math" panose="02040503050406030204" pitchFamily="18" charset="0"/>
                        <a:ea typeface="宋体" panose="02010600030101010101" pitchFamily="2" charset="-122"/>
                      </a:rPr>
                      <m:t>, </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宋体" panose="02010600030101010101" pitchFamily="2" charset="-122"/>
                          </a:rPr>
                          <m:t>𝑀</m:t>
                        </m:r>
                      </m:num>
                      <m:den>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宋体" panose="02010600030101010101" pitchFamily="2" charset="-122"/>
                          </a:rPr>
                          <m:t>𝑀</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m:t>
                        </m:r>
                      </m:den>
                    </m:f>
                    <m:r>
                      <a:rPr lang="en-US" altLang="zh-CN" sz="2400" i="1" kern="100">
                        <a:latin typeface="Cambria Math" panose="02040503050406030204" pitchFamily="18" charset="0"/>
                        <a:ea typeface="宋体" panose="02010600030101010101" pitchFamily="2" charset="-122"/>
                      </a:rPr>
                      <m:t>)</m:t>
                    </m:r>
                  </m:oMath>
                </a14:m>
                <a:r>
                  <a:rPr lang="zh-CN" altLang="en-US"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endParaRPr lang="zh-CN" altLang="zh-CN" sz="2400" kern="100" dirty="0">
                  <a:latin typeface="Times New Roman" panose="02020603050405020304" pitchFamily="18" charset="0"/>
                  <a:ea typeface="宋体" panose="02010600030101010101" pitchFamily="2"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285712" y="241722"/>
                <a:ext cx="4968761" cy="4909677"/>
              </a:xfrm>
              <a:prstGeom prst="rect">
                <a:avLst/>
              </a:prstGeom>
              <a:blipFill rotWithShape="1">
                <a:blip r:embed="rId15"/>
                <a:stretch>
                  <a:fillRect l="-12" t="-9" r="10" b="-10277"/>
                </a:stretch>
              </a:blipFill>
            </p:spPr>
            <p:txBody>
              <a:bodyPr/>
              <a:lstStyle/>
              <a:p>
                <a:r>
                  <a:rPr lang="zh-CN" altLang="en-US">
                    <a:noFill/>
                  </a:rPr>
                  <a:t> </a:t>
                </a:r>
              </a:p>
            </p:txBody>
          </p:sp>
        </mc:Fallback>
      </mc:AlternateContent>
      <p:graphicFrame>
        <p:nvGraphicFramePr>
          <p:cNvPr id="26" name="Object 34"/>
          <p:cNvGraphicFramePr>
            <a:graphicFrameLocks noChangeAspect="1"/>
          </p:cNvGraphicFramePr>
          <p:nvPr/>
        </p:nvGraphicFramePr>
        <p:xfrm>
          <a:off x="6504270" y="2357074"/>
          <a:ext cx="194072" cy="195263"/>
        </p:xfrm>
        <a:graphic>
          <a:graphicData uri="http://schemas.openxmlformats.org/presentationml/2006/ole">
            <mc:AlternateContent xmlns:mc="http://schemas.openxmlformats.org/markup-compatibility/2006">
              <mc:Choice xmlns:v="urn:schemas-microsoft-com:vml" Requires="v">
                <p:oleObj spid="_x0000_s10" name="Equation" r:id="rId16" imgW="76200" imgH="76200" progId="Equation.3">
                  <p:embed/>
                </p:oleObj>
              </mc:Choice>
              <mc:Fallback>
                <p:oleObj name="Equation" r:id="rId16"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4270" y="2357074"/>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34"/>
          <p:cNvGraphicFramePr>
            <a:graphicFrameLocks noChangeAspect="1"/>
          </p:cNvGraphicFramePr>
          <p:nvPr/>
        </p:nvGraphicFramePr>
        <p:xfrm>
          <a:off x="6810342" y="2068114"/>
          <a:ext cx="194072" cy="195263"/>
        </p:xfrm>
        <a:graphic>
          <a:graphicData uri="http://schemas.openxmlformats.org/presentationml/2006/ole">
            <mc:AlternateContent xmlns:mc="http://schemas.openxmlformats.org/markup-compatibility/2006">
              <mc:Choice xmlns:v="urn:schemas-microsoft-com:vml" Requires="v">
                <p:oleObj spid="_x0000_s14" name="Equation" r:id="rId17" imgW="76200" imgH="76200" progId="Equation.3">
                  <p:embed/>
                </p:oleObj>
              </mc:Choice>
              <mc:Fallback>
                <p:oleObj name="Equation" r:id="rId17"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10342" y="2068114"/>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34"/>
          <p:cNvGraphicFramePr>
            <a:graphicFrameLocks noChangeAspect="1"/>
          </p:cNvGraphicFramePr>
          <p:nvPr/>
        </p:nvGraphicFramePr>
        <p:xfrm>
          <a:off x="6970457" y="1928635"/>
          <a:ext cx="194072" cy="195263"/>
        </p:xfrm>
        <a:graphic>
          <a:graphicData uri="http://schemas.openxmlformats.org/presentationml/2006/ole">
            <mc:AlternateContent xmlns:mc="http://schemas.openxmlformats.org/markup-compatibility/2006">
              <mc:Choice xmlns:v="urn:schemas-microsoft-com:vml" Requires="v">
                <p:oleObj spid="_x0000_s15" name="Equation" r:id="rId18" imgW="76200" imgH="76200" progId="Equation.3">
                  <p:embed/>
                </p:oleObj>
              </mc:Choice>
              <mc:Fallback>
                <p:oleObj name="Equation" r:id="rId18"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0457" y="1928635"/>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34"/>
          <p:cNvGraphicFramePr>
            <a:graphicFrameLocks noChangeAspect="1"/>
          </p:cNvGraphicFramePr>
          <p:nvPr/>
        </p:nvGraphicFramePr>
        <p:xfrm>
          <a:off x="7062756" y="1819072"/>
          <a:ext cx="194072" cy="195263"/>
        </p:xfrm>
        <a:graphic>
          <a:graphicData uri="http://schemas.openxmlformats.org/presentationml/2006/ole">
            <mc:AlternateContent xmlns:mc="http://schemas.openxmlformats.org/markup-compatibility/2006">
              <mc:Choice xmlns:v="urn:schemas-microsoft-com:vml" Requires="v">
                <p:oleObj spid="_x0000_s24" name="Equation" r:id="rId19" imgW="76200" imgH="76200" progId="Equation.3">
                  <p:embed/>
                </p:oleObj>
              </mc:Choice>
              <mc:Fallback>
                <p:oleObj name="Equation" r:id="rId19"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62756" y="1819072"/>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6" name="文本框 35"/>
              <p:cNvSpPr txBox="1"/>
              <p:nvPr/>
            </p:nvSpPr>
            <p:spPr>
              <a:xfrm>
                <a:off x="413538" y="4509121"/>
                <a:ext cx="6146879" cy="1667764"/>
              </a:xfrm>
              <a:prstGeom prst="rect">
                <a:avLst/>
              </a:prstGeom>
              <a:noFill/>
            </p:spPr>
            <p:txBody>
              <a:bodyPr wrap="square">
                <a:spAutoFit/>
              </a:bodyPr>
              <a:lstStyle/>
              <a:p>
                <a:pPr algn="just">
                  <a:lnSpc>
                    <a:spcPct val="150000"/>
                  </a:lnSpc>
                  <a:spcBef>
                    <a:spcPts val="450"/>
                  </a:spcBef>
                  <a:spcAft>
                    <a:spcPts val="450"/>
                  </a:spcAft>
                </a:pP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当</a:t>
                </a:r>
                <a14:m>
                  <m:oMath xmlns:m="http://schemas.openxmlformats.org/officeDocument/2006/math">
                    <m:r>
                      <a:rPr lang="en-US" altLang="zh-CN" sz="2400" i="1">
                        <a:latin typeface="Cambria Math" panose="02040503050406030204" pitchFamily="18" charset="0"/>
                      </a:rPr>
                      <m:t>𝑀</m:t>
                    </m:r>
                  </m:oMath>
                </a14:m>
                <a:r>
                  <a:rPr lang="zh-CN" altLang="zh-CN" sz="2400" dirty="0">
                    <a:latin typeface="宋体" panose="02010600030101010101" pitchFamily="2" charset="-122"/>
                    <a:ea typeface="宋体" panose="02010600030101010101" pitchFamily="2" charset="-122"/>
                  </a:rPr>
                  <a:t>取</a:t>
                </a:r>
                <a:r>
                  <a:rPr lang="en-US" altLang="zh-CN" sz="2400" dirty="0">
                    <a:latin typeface="宋体" panose="02010600030101010101" pitchFamily="2" charset="-122"/>
                    <a:ea typeface="宋体" panose="02010600030101010101" pitchFamily="2" charset="-122"/>
                  </a:rPr>
                  <a:t>0.1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zh-CN"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a:t>
                </a:r>
                <a:r>
                  <a:rPr lang="zh-CN" altLang="zh-CN" sz="2400" dirty="0">
                    <a:latin typeface="宋体" panose="02010600030101010101" pitchFamily="2" charset="-122"/>
                    <a:ea typeface="宋体" panose="02010600030101010101" pitchFamily="2" charset="-122"/>
                  </a:rPr>
                  <a:t>时，相应的无约束优化问题的最优解在可行域</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2</m:t>
                    </m:r>
                  </m:oMath>
                </a14:m>
                <a:r>
                  <a:rPr lang="zh-CN" altLang="zh-CN" sz="2400" dirty="0">
                    <a:latin typeface="宋体" panose="02010600030101010101" pitchFamily="2" charset="-122"/>
                    <a:ea typeface="宋体" panose="02010600030101010101" pitchFamily="2" charset="-122"/>
                  </a:rPr>
                  <a:t>的外部逼近原问题的最优解。</a:t>
                </a:r>
                <a:endParaRPr lang="zh-CN" altLang="zh-CN" sz="2400" dirty="0">
                  <a:latin typeface="宋体" panose="02010600030101010101" pitchFamily="2" charset="-122"/>
                  <a:ea typeface="宋体" panose="02010600030101010101" pitchFamily="2" charset="-122"/>
                </a:endParaRPr>
              </a:p>
            </p:txBody>
          </p:sp>
        </mc:Choice>
        <mc:Fallback>
          <p:sp>
            <p:nvSpPr>
              <p:cNvPr id="36" name="文本框 35"/>
              <p:cNvSpPr txBox="1">
                <a:spLocks noRot="1" noChangeAspect="1" noMove="1" noResize="1" noEditPoints="1" noAdjustHandles="1" noChangeArrowheads="1" noChangeShapeType="1" noTextEdit="1"/>
              </p:cNvSpPr>
              <p:nvPr/>
            </p:nvSpPr>
            <p:spPr>
              <a:xfrm>
                <a:off x="413538" y="4509121"/>
                <a:ext cx="6146879" cy="1667764"/>
              </a:xfrm>
              <a:prstGeom prst="rect">
                <a:avLst/>
              </a:prstGeom>
              <a:blipFill rotWithShape="1">
                <a:blip r:embed="rId20"/>
                <a:stretch>
                  <a:fillRect l="-2" t="-37" r="4" b="-139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83568" y="1430779"/>
            <a:ext cx="7236804" cy="2221762"/>
          </a:xfrm>
          <a:prstGeom prst="rect">
            <a:avLst/>
          </a:prstGeom>
          <a:noFill/>
        </p:spPr>
        <p:txBody>
          <a:bodyPr wrap="square">
            <a:spAutoFit/>
          </a:bodyPr>
          <a:lstStyle>
            <a:defPPr>
              <a:defRPr lang="en-US"/>
            </a:defPPr>
            <a:lvl1pPr algn="just" eaLnBrk="1" hangingPunct="1">
              <a:lnSpc>
                <a:spcPct val="150000"/>
              </a:lnSpc>
              <a:defRPr sz="2400">
                <a:latin typeface="宋体" panose="02010600030101010101" pitchFamily="2" charset="-122"/>
                <a:ea typeface="宋体" panose="02010600030101010101" pitchFamily="2" charset="-122"/>
              </a:defRPr>
            </a:lvl1pPr>
          </a:lstStyle>
          <a:p>
            <a:pPr marL="257175" indent="-257175">
              <a:buFont typeface="Wingdings" panose="05000000000000000000" pitchFamily="2" charset="2"/>
              <a:buChar char="Ø"/>
            </a:pPr>
            <a:r>
              <a:rPr lang="zh-CN" altLang="en-US" dirty="0"/>
              <a:t>内部罚函数法也称为障碍罚函数法，这种方法是在可行域内部进行搜索，约束边界起到类似围墙的作用，如果当前解远离约束边界时，则罚函数值是非常小的，否则罚函数值接近无穷大的方法。例如</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流程图: 数据 31"/>
          <p:cNvSpPr/>
          <p:nvPr/>
        </p:nvSpPr>
        <p:spPr>
          <a:xfrm rot="2466599">
            <a:off x="6554675" y="1192720"/>
            <a:ext cx="2155758" cy="824347"/>
          </a:xfrm>
          <a:prstGeom prst="flowChartInputOutp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2400"/>
          </a:p>
        </p:txBody>
      </p:sp>
      <p:grpSp>
        <p:nvGrpSpPr>
          <p:cNvPr id="25" name="组合 24"/>
          <p:cNvGrpSpPr/>
          <p:nvPr/>
        </p:nvGrpSpPr>
        <p:grpSpPr>
          <a:xfrm>
            <a:off x="5450020" y="733221"/>
            <a:ext cx="3383111" cy="2834559"/>
            <a:chOff x="7266693" y="-165372"/>
            <a:chExt cx="4510814" cy="3779412"/>
          </a:xfrm>
        </p:grpSpPr>
        <p:sp>
          <p:nvSpPr>
            <p:cNvPr id="4" name="Oval 20"/>
            <p:cNvSpPr>
              <a:spLocks noChangeArrowheads="1"/>
            </p:cNvSpPr>
            <p:nvPr/>
          </p:nvSpPr>
          <p:spPr bwMode="auto">
            <a:xfrm>
              <a:off x="7266693" y="878040"/>
              <a:ext cx="2736000" cy="2736000"/>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buFontTx/>
                <a:buNone/>
              </a:pPr>
              <a:endParaRPr lang="zh-CN" altLang="en-US" sz="2400"/>
            </a:p>
          </p:txBody>
        </p:sp>
        <p:sp>
          <p:nvSpPr>
            <p:cNvPr id="6" name="Oval 9"/>
            <p:cNvSpPr>
              <a:spLocks noChangeArrowheads="1"/>
            </p:cNvSpPr>
            <p:nvPr/>
          </p:nvSpPr>
          <p:spPr bwMode="auto">
            <a:xfrm>
              <a:off x="7852226" y="1570422"/>
              <a:ext cx="1490140" cy="1471885"/>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buFontTx/>
                <a:buNone/>
              </a:pPr>
              <a:endParaRPr lang="zh-CN" altLang="en-US" sz="2400"/>
            </a:p>
          </p:txBody>
        </p:sp>
        <p:sp>
          <p:nvSpPr>
            <p:cNvPr id="7" name="Line 12"/>
            <p:cNvSpPr>
              <a:spLocks noChangeShapeType="1"/>
            </p:cNvSpPr>
            <p:nvPr/>
          </p:nvSpPr>
          <p:spPr bwMode="auto">
            <a:xfrm flipV="1">
              <a:off x="8397974" y="2295252"/>
              <a:ext cx="2938460" cy="2698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8" name="Line 13"/>
            <p:cNvSpPr>
              <a:spLocks noChangeShapeType="1"/>
            </p:cNvSpPr>
            <p:nvPr/>
          </p:nvSpPr>
          <p:spPr bwMode="auto">
            <a:xfrm flipH="1" flipV="1">
              <a:off x="8555810" y="25128"/>
              <a:ext cx="40288" cy="24114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sp>
          <p:nvSpPr>
            <p:cNvPr id="11" name="Line 18"/>
            <p:cNvSpPr>
              <a:spLocks noChangeShapeType="1"/>
            </p:cNvSpPr>
            <p:nvPr/>
          </p:nvSpPr>
          <p:spPr bwMode="auto">
            <a:xfrm>
              <a:off x="8367811" y="148956"/>
              <a:ext cx="2583719" cy="230345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aphicFrame>
          <p:nvGraphicFramePr>
            <p:cNvPr id="12" name="Object 22"/>
            <p:cNvGraphicFramePr>
              <a:graphicFrameLocks noChangeAspect="1"/>
            </p:cNvGraphicFramePr>
            <p:nvPr/>
          </p:nvGraphicFramePr>
          <p:xfrm>
            <a:off x="8488461" y="2176190"/>
            <a:ext cx="258762" cy="260350"/>
          </p:xfrm>
          <a:graphic>
            <a:graphicData uri="http://schemas.openxmlformats.org/presentationml/2006/ole">
              <mc:AlternateContent xmlns:mc="http://schemas.openxmlformats.org/markup-compatibility/2006">
                <mc:Choice xmlns:v="urn:schemas-microsoft-com:vml" Requires="v">
                  <p:oleObj spid="_x0000_s0" name="Equation" r:id="rId6" imgW="76200" imgH="76200" progId="Equation.3">
                    <p:embed/>
                  </p:oleObj>
                </mc:Choice>
                <mc:Fallback>
                  <p:oleObj name="Equation" r:id="rId6" imgW="76200" imgH="76200" progId="Equation.3">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88461" y="2176190"/>
                          <a:ext cx="258762"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24"/>
            <p:cNvSpPr txBox="1">
              <a:spLocks noChangeArrowheads="1"/>
            </p:cNvSpPr>
            <p:nvPr/>
          </p:nvSpPr>
          <p:spPr bwMode="auto">
            <a:xfrm>
              <a:off x="8436074" y="2246040"/>
              <a:ext cx="228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dirty="0">
                  <a:latin typeface="宋体" panose="02010600030101010101" pitchFamily="2" charset="-122"/>
                </a:rPr>
                <a:t>o</a:t>
              </a:r>
              <a:endParaRPr lang="en-US" altLang="zh-CN" sz="2400" dirty="0">
                <a:latin typeface="宋体" panose="02010600030101010101" pitchFamily="2" charset="-122"/>
              </a:endParaRPr>
            </a:p>
          </p:txBody>
        </p:sp>
        <p:sp>
          <p:nvSpPr>
            <p:cNvPr id="16" name="Text Box 27"/>
            <p:cNvSpPr txBox="1">
              <a:spLocks noChangeArrowheads="1"/>
            </p:cNvSpPr>
            <p:nvPr/>
          </p:nvSpPr>
          <p:spPr bwMode="auto">
            <a:xfrm>
              <a:off x="10613617" y="2306365"/>
              <a:ext cx="228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dirty="0">
                  <a:latin typeface="宋体" panose="02010600030101010101" pitchFamily="2" charset="-122"/>
                </a:rPr>
                <a:t>2</a:t>
              </a:r>
              <a:endParaRPr lang="en-US" altLang="zh-CN" sz="2400" b="1" dirty="0">
                <a:latin typeface="宋体" panose="02010600030101010101" pitchFamily="2" charset="-122"/>
              </a:endParaRPr>
            </a:p>
          </p:txBody>
        </p:sp>
        <p:sp>
          <p:nvSpPr>
            <p:cNvPr id="17" name="Text Box 28"/>
            <p:cNvSpPr txBox="1">
              <a:spLocks noChangeArrowheads="1"/>
            </p:cNvSpPr>
            <p:nvPr/>
          </p:nvSpPr>
          <p:spPr bwMode="auto">
            <a:xfrm>
              <a:off x="8250401" y="275952"/>
              <a:ext cx="2286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SzPct val="90000"/>
                <a:buBlip>
                  <a:blip r:embed="rId1"/>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80000"/>
                <a:buBlip>
                  <a:blip r:embed="rId2"/>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SzPct val="70000"/>
                <a:buBlip>
                  <a:blip r:embed="rId3"/>
                </a:buBlip>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SzPct val="70000"/>
                <a:buBlip>
                  <a:blip r:embed="rId4"/>
                </a:buBlip>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SzPct val="70000"/>
                <a:buBlip>
                  <a:blip r:embed="rId5"/>
                </a:buBlip>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SzPct val="70000"/>
                <a:buBlip>
                  <a:blip r:embed="rId5"/>
                </a:buBlip>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50000"/>
                </a:spcBef>
                <a:buFontTx/>
                <a:buNone/>
              </a:pPr>
              <a:r>
                <a:rPr lang="en-US" altLang="zh-CN" sz="2400" b="1" dirty="0">
                  <a:latin typeface="宋体" panose="02010600030101010101" pitchFamily="2" charset="-122"/>
                </a:rPr>
                <a:t>2</a:t>
              </a:r>
              <a:endParaRPr lang="en-US" altLang="zh-CN" sz="2400" b="1" dirty="0">
                <a:latin typeface="宋体" panose="02010600030101010101" pitchFamily="2" charset="-122"/>
              </a:endParaRPr>
            </a:p>
          </p:txBody>
        </p:sp>
        <p:graphicFrame>
          <p:nvGraphicFramePr>
            <p:cNvPr id="18" name="Object 29"/>
            <p:cNvGraphicFramePr>
              <a:graphicFrameLocks noChangeAspect="1"/>
            </p:cNvGraphicFramePr>
            <p:nvPr/>
          </p:nvGraphicFramePr>
          <p:xfrm>
            <a:off x="11344120" y="2012677"/>
            <a:ext cx="433387" cy="619125"/>
          </p:xfrm>
          <a:graphic>
            <a:graphicData uri="http://schemas.openxmlformats.org/presentationml/2006/ole">
              <mc:AlternateContent xmlns:mc="http://schemas.openxmlformats.org/markup-compatibility/2006">
                <mc:Choice xmlns:v="urn:schemas-microsoft-com:vml" Requires="v">
                  <p:oleObj spid="_x0000_s2" name="Equation" r:id="rId8" imgW="152400" imgH="215900" progId="Equation.3">
                    <p:embed/>
                  </p:oleObj>
                </mc:Choice>
                <mc:Fallback>
                  <p:oleObj name="Equation" r:id="rId8" imgW="152400" imgH="215900" progId="Equation.3">
                    <p:embed/>
                    <p:pic>
                      <p:nvPicPr>
                        <p:cNvPr id="0" name="Object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44120" y="2012677"/>
                          <a:ext cx="433387"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30"/>
            <p:cNvGraphicFramePr>
              <a:graphicFrameLocks noChangeAspect="1"/>
            </p:cNvGraphicFramePr>
            <p:nvPr/>
          </p:nvGraphicFramePr>
          <p:xfrm>
            <a:off x="8532912" y="-165372"/>
            <a:ext cx="436562" cy="533400"/>
          </p:xfrm>
          <a:graphic>
            <a:graphicData uri="http://schemas.openxmlformats.org/presentationml/2006/ole">
              <mc:AlternateContent xmlns:mc="http://schemas.openxmlformats.org/markup-compatibility/2006">
                <mc:Choice xmlns:v="urn:schemas-microsoft-com:vml" Requires="v">
                  <p:oleObj spid="_x0000_s3" name="Equation" r:id="rId10" imgW="177800" imgH="215900" progId="Equation.3">
                    <p:embed/>
                  </p:oleObj>
                </mc:Choice>
                <mc:Fallback>
                  <p:oleObj name="Equation" r:id="rId10" imgW="177800" imgH="215900" progId="Equation.3">
                    <p:embed/>
                    <p:pic>
                      <p:nvPicPr>
                        <p:cNvPr id="0"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32912" y="-165372"/>
                          <a:ext cx="43656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33"/>
            <p:cNvGraphicFramePr>
              <a:graphicFrameLocks noChangeAspect="1"/>
            </p:cNvGraphicFramePr>
            <p:nvPr/>
          </p:nvGraphicFramePr>
          <p:xfrm>
            <a:off x="10553004" y="645840"/>
            <a:ext cx="566737" cy="379413"/>
          </p:xfrm>
          <a:graphic>
            <a:graphicData uri="http://schemas.openxmlformats.org/presentationml/2006/ole">
              <mc:AlternateContent xmlns:mc="http://schemas.openxmlformats.org/markup-compatibility/2006">
                <mc:Choice xmlns:v="urn:schemas-microsoft-com:vml" Requires="v">
                  <p:oleObj spid="_x0000_s5" name="Equation" r:id="rId12" imgW="7315200" imgH="4876800" progId="Equation.DSMT4">
                    <p:embed/>
                  </p:oleObj>
                </mc:Choice>
                <mc:Fallback>
                  <p:oleObj name="Equation" r:id="rId12" imgW="7315200" imgH="4876800" progId="Equation.DSMT4">
                    <p:embed/>
                    <p:pic>
                      <p:nvPicPr>
                        <p:cNvPr id="0" name="Object 33"/>
                        <p:cNvPicPr>
                          <a:picLocks noChangeAspect="1" noChangeArrowheads="1"/>
                        </p:cNvPicPr>
                        <p:nvPr/>
                      </p:nvPicPr>
                      <p:blipFill>
                        <a:blip r:embed="rId13"/>
                        <a:srcRect/>
                        <a:stretch>
                          <a:fillRect/>
                        </a:stretch>
                      </p:blipFill>
                      <p:spPr bwMode="auto">
                        <a:xfrm>
                          <a:off x="10553004" y="645840"/>
                          <a:ext cx="566737"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 name="Object 34"/>
            <p:cNvGraphicFramePr>
              <a:graphicFrameLocks noChangeAspect="1"/>
            </p:cNvGraphicFramePr>
            <p:nvPr/>
          </p:nvGraphicFramePr>
          <p:xfrm>
            <a:off x="9515052" y="1170510"/>
            <a:ext cx="258762" cy="260350"/>
          </p:xfrm>
          <a:graphic>
            <a:graphicData uri="http://schemas.openxmlformats.org/presentationml/2006/ole">
              <mc:AlternateContent xmlns:mc="http://schemas.openxmlformats.org/markup-compatibility/2006">
                <mc:Choice xmlns:v="urn:schemas-microsoft-com:vml" Requires="v">
                  <p:oleObj spid="_x0000_s9" name="Equation" r:id="rId14" imgW="76200" imgH="76200" progId="Equation.3">
                    <p:embed/>
                  </p:oleObj>
                </mc:Choice>
                <mc:Fallback>
                  <p:oleObj name="Equation" r:id="rId14"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15052" y="1170510"/>
                          <a:ext cx="258762"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Line 35"/>
            <p:cNvSpPr>
              <a:spLocks noChangeShapeType="1"/>
            </p:cNvSpPr>
            <p:nvPr/>
          </p:nvSpPr>
          <p:spPr bwMode="auto">
            <a:xfrm flipV="1">
              <a:off x="9638473" y="958982"/>
              <a:ext cx="892203" cy="35242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p>
          </p:txBody>
        </p:sp>
      </p:grpSp>
      <mc:AlternateContent xmlns:mc="http://schemas.openxmlformats.org/markup-compatibility/2006">
        <mc:Choice xmlns:a14="http://schemas.microsoft.com/office/drawing/2010/main" Requires="a14">
          <p:sp>
            <p:nvSpPr>
              <p:cNvPr id="23" name="文本框 22"/>
              <p:cNvSpPr txBox="1"/>
              <p:nvPr/>
            </p:nvSpPr>
            <p:spPr>
              <a:xfrm>
                <a:off x="286047" y="-67562"/>
                <a:ext cx="4780844" cy="4868640"/>
              </a:xfrm>
              <a:prstGeom prst="rect">
                <a:avLst/>
              </a:prstGeom>
              <a:noFill/>
            </p:spPr>
            <p:txBody>
              <a:bodyPr wrap="square">
                <a:spAutoFit/>
              </a:bodyPr>
              <a:lstStyle/>
              <a:p>
                <a:pPr algn="just">
                  <a:lnSpc>
                    <a:spcPct val="150000"/>
                  </a:lnSpc>
                  <a:spcBef>
                    <a:spcPts val="450"/>
                  </a:spcBef>
                  <a:spcAft>
                    <a:spcPts val="450"/>
                  </a:spcAft>
                </a:pPr>
                <a14:m>
                  <m:oMathPara xmlns:m="http://schemas.openxmlformats.org/officeDocument/2006/math">
                    <m:oMathParaPr>
                      <m:jc m:val="centerGroup"/>
                    </m:oMathParaPr>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rPr>
                          </m:ctrlPr>
                        </m:funcPr>
                        <m:fName>
                          <m:limLow>
                            <m:limLowPr>
                              <m:ctrlPr>
                                <a:rPr lang="zh-CN" altLang="zh-CN" sz="2400" i="1" kern="100">
                                  <a:latin typeface="Cambria Math" panose="02040503050406030204" pitchFamily="18" charset="0"/>
                                  <a:ea typeface="Cambria Math" panose="02040503050406030204" pitchFamily="18" charset="0"/>
                                </a:rPr>
                              </m:ctrlPr>
                            </m:limLowPr>
                            <m:e>
                              <m:r>
                                <m:rPr>
                                  <m:sty m:val="p"/>
                                </m:rPr>
                                <a:rPr lang="en-US" altLang="zh-CN" sz="2400" kern="100">
                                  <a:latin typeface="Cambria Math" panose="02040503050406030204" pitchFamily="18" charset="0"/>
                                  <a:ea typeface="宋体" panose="02010600030101010101" pitchFamily="2" charset="-122"/>
                                </a:rPr>
                                <m:t>min</m:t>
                              </m:r>
                            </m:e>
                            <m:lim>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rPr>
                                <m:t>0</m:t>
                              </m:r>
                            </m:lim>
                          </m:limLow>
                        </m:fName>
                        <m:e>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e>
                      </m:func>
                    </m:oMath>
                  </m:oMathPara>
                </a14:m>
                <a:endParaRPr lang="zh-CN"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r>
                  <a:rPr lang="zh-CN" altLang="zh-CN" sz="2400" kern="100" dirty="0">
                    <a:latin typeface="Times New Roman" panose="02020603050405020304" pitchFamily="18" charset="0"/>
                    <a:ea typeface="宋体" panose="02010600030101010101" pitchFamily="2" charset="-122"/>
                  </a:rPr>
                  <a:t>由图解法可见最优解在</a:t>
                </a:r>
                <a:r>
                  <a:rPr lang="en-US" altLang="zh-CN" sz="2400" kern="100" dirty="0">
                    <a:latin typeface="Times New Roman" panose="02020603050405020304" pitchFamily="18" charset="0"/>
                    <a:ea typeface="宋体" panose="02010600030101010101" pitchFamily="2" charset="-122"/>
                  </a:rPr>
                  <a:t>(1,1)</a:t>
                </a:r>
                <a:r>
                  <a:rPr lang="zh-CN" altLang="zh-CN" sz="2400" kern="100" dirty="0">
                    <a:latin typeface="Times New Roman" panose="02020603050405020304" pitchFamily="18" charset="0"/>
                    <a:ea typeface="宋体" panose="02010600030101010101" pitchFamily="2" charset="-122"/>
                  </a:rPr>
                  <a:t>。将这个问题改造为一个无约束问题如下：</a:t>
                </a:r>
                <a:endParaRPr lang="zh-CN"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r>
                  <a:rPr lang="en-US" altLang="zh-CN" sz="2400" kern="100" dirty="0">
                    <a:ea typeface="Cambria Math" panose="02040503050406030204" pitchFamily="18" charset="0"/>
                  </a:rPr>
                  <a:t>        </a:t>
                </a:r>
                <a14:m>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rPr>
                        </m:ctrlPr>
                      </m:funcPr>
                      <m:fName>
                        <m:r>
                          <m:rPr>
                            <m:sty m:val="p"/>
                          </m:rPr>
                          <a:rPr lang="en-US" altLang="zh-CN" sz="2400" kern="100">
                            <a:latin typeface="Cambria Math" panose="02040503050406030204" pitchFamily="18" charset="0"/>
                            <a:ea typeface="宋体" panose="02010600030101010101" pitchFamily="2" charset="-122"/>
                          </a:rPr>
                          <m:t>min</m:t>
                        </m:r>
                      </m:fName>
                      <m:e>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e>
                    </m:func>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𝑟𝑙𝑛</m:t>
                    </m:r>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2</m:t>
                    </m:r>
                    <m:r>
                      <a:rPr lang="en-US" altLang="zh-CN" sz="2400" i="1" kern="100">
                        <a:latin typeface="Cambria Math" panose="02040503050406030204" pitchFamily="18" charset="0"/>
                        <a:ea typeface="宋体" panose="02010600030101010101" pitchFamily="2" charset="-122"/>
                      </a:rPr>
                      <m:t>)</m:t>
                    </m:r>
                  </m:oMath>
                </a14:m>
                <a:r>
                  <a:rPr lang="en-US" altLang="zh-CN" sz="2400" kern="100" dirty="0">
                    <a:latin typeface="宋体" panose="02010600030101010101" pitchFamily="2" charset="-122"/>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𝑟</m:t>
                    </m:r>
                    <m:r>
                      <a:rPr lang="en-US" altLang="zh-CN" sz="2400" i="1" kern="100">
                        <a:latin typeface="Cambria Math" panose="02040503050406030204" pitchFamily="18" charset="0"/>
                        <a:ea typeface="宋体" panose="02010600030101010101" pitchFamily="2" charset="-122"/>
                      </a:rPr>
                      <m:t>&gt;</m:t>
                    </m:r>
                    <m:r>
                      <a:rPr lang="en-US" altLang="zh-CN" sz="2400" i="1" kern="100">
                        <a:latin typeface="Cambria Math" panose="02040503050406030204" pitchFamily="18" charset="0"/>
                        <a:ea typeface="宋体" panose="02010600030101010101" pitchFamily="2" charset="-122"/>
                      </a:rPr>
                      <m:t>0</m:t>
                    </m:r>
                  </m:oMath>
                </a14:m>
                <a:endParaRPr lang="zh-CN" altLang="zh-CN" sz="2400" kern="100" dirty="0">
                  <a:latin typeface="Times New Roman" panose="02020603050405020304" pitchFamily="18" charset="0"/>
                  <a:ea typeface="宋体" panose="02010600030101010101" pitchFamily="2" charset="-122"/>
                </a:endParaRPr>
              </a:p>
              <a:p>
                <a:pPr algn="just">
                  <a:lnSpc>
                    <a:spcPct val="150000"/>
                  </a:lnSpc>
                  <a:spcBef>
                    <a:spcPts val="450"/>
                  </a:spcBef>
                  <a:spcAft>
                    <a:spcPts val="450"/>
                  </a:spcAft>
                </a:pPr>
                <a:r>
                  <a:rPr lang="zh-CN" altLang="zh-CN" sz="2400" kern="100" dirty="0">
                    <a:latin typeface="Times New Roman" panose="02020603050405020304" pitchFamily="18" charset="0"/>
                    <a:ea typeface="宋体" panose="02010600030101010101" pitchFamily="2" charset="-122"/>
                  </a:rPr>
                  <a:t>无约束问题的最优解为</a:t>
                </a:r>
                <a14:m>
                  <m:oMath xmlns:m="http://schemas.openxmlformats.org/officeDocument/2006/math">
                    <m:r>
                      <a:rPr lang="en-US" altLang="zh-CN"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rad>
                          <m:radPr>
                            <m:degHide m:val="on"/>
                            <m:ctrlPr>
                              <a:rPr lang="en-US" altLang="zh-CN" sz="2400" i="1" kern="100">
                                <a:latin typeface="Cambria Math" panose="02040503050406030204" pitchFamily="18" charset="0"/>
                                <a:ea typeface="宋体" panose="02010600030101010101" pitchFamily="2" charset="-122"/>
                              </a:rPr>
                            </m:ctrlPr>
                          </m:radPr>
                          <m:deg/>
                          <m:e>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𝑟</m:t>
                            </m:r>
                          </m:e>
                        </m:rad>
                      </m:num>
                      <m:den>
                        <m:r>
                          <a:rPr lang="en-US" altLang="zh-CN" sz="2400" i="1" kern="100">
                            <a:latin typeface="Cambria Math" panose="02040503050406030204" pitchFamily="18" charset="0"/>
                            <a:ea typeface="宋体" panose="02010600030101010101" pitchFamily="2" charset="-122"/>
                          </a:rPr>
                          <m:t>2</m:t>
                        </m:r>
                      </m:den>
                    </m:f>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rad>
                          <m:radPr>
                            <m:degHide m:val="on"/>
                            <m:ctrlPr>
                              <a:rPr lang="en-US" altLang="zh-CN" sz="2400" i="1" kern="100">
                                <a:latin typeface="Cambria Math" panose="02040503050406030204" pitchFamily="18" charset="0"/>
                                <a:ea typeface="宋体" panose="02010600030101010101" pitchFamily="2" charset="-122"/>
                              </a:rPr>
                            </m:ctrlPr>
                          </m:radPr>
                          <m:deg/>
                          <m:e>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𝑟</m:t>
                            </m:r>
                          </m:e>
                        </m:rad>
                      </m:num>
                      <m:den>
                        <m:r>
                          <a:rPr lang="en-US" altLang="zh-CN" sz="2400" i="1" kern="100">
                            <a:latin typeface="Cambria Math" panose="02040503050406030204" pitchFamily="18" charset="0"/>
                            <a:ea typeface="宋体" panose="02010600030101010101" pitchFamily="2" charset="-122"/>
                          </a:rPr>
                          <m:t>2</m:t>
                        </m:r>
                      </m:den>
                    </m:f>
                    <m:r>
                      <a:rPr lang="en-US" altLang="zh-CN" sz="2400" i="1" kern="100">
                        <a:latin typeface="Cambria Math" panose="02040503050406030204" pitchFamily="18" charset="0"/>
                        <a:ea typeface="宋体" panose="02010600030101010101" pitchFamily="2" charset="-122"/>
                      </a:rPr>
                      <m:t>)</m:t>
                    </m:r>
                  </m:oMath>
                </a14:m>
                <a:r>
                  <a:rPr lang="zh-CN" altLang="en-US" sz="2400" kern="100" dirty="0">
                    <a:latin typeface="Times New Roman" panose="02020603050405020304" pitchFamily="18" charset="0"/>
                    <a:ea typeface="宋体" panose="02010600030101010101" pitchFamily="2" charset="-122"/>
                  </a:rPr>
                  <a:t>，负值舍去。</a:t>
                </a:r>
                <a:endParaRPr lang="zh-CN" altLang="zh-CN" sz="2400" kern="100" dirty="0">
                  <a:latin typeface="Times New Roman" panose="02020603050405020304" pitchFamily="18" charset="0"/>
                  <a:ea typeface="宋体" panose="02010600030101010101" pitchFamily="2"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286047" y="-67562"/>
                <a:ext cx="4780844" cy="4868640"/>
              </a:xfrm>
              <a:prstGeom prst="rect">
                <a:avLst/>
              </a:prstGeom>
              <a:blipFill rotWithShape="1">
                <a:blip r:embed="rId15"/>
                <a:stretch>
                  <a:fillRect l="-6" t="5" r="-3914" b="10"/>
                </a:stretch>
              </a:blipFill>
            </p:spPr>
            <p:txBody>
              <a:bodyPr/>
              <a:lstStyle/>
              <a:p>
                <a:r>
                  <a:rPr lang="zh-CN" altLang="en-US">
                    <a:noFill/>
                  </a:rPr>
                  <a:t> </a:t>
                </a:r>
              </a:p>
            </p:txBody>
          </p:sp>
        </mc:Fallback>
      </mc:AlternateContent>
      <p:graphicFrame>
        <p:nvGraphicFramePr>
          <p:cNvPr id="26" name="Object 34"/>
          <p:cNvGraphicFramePr>
            <a:graphicFrameLocks noChangeAspect="1"/>
          </p:cNvGraphicFramePr>
          <p:nvPr/>
        </p:nvGraphicFramePr>
        <p:xfrm>
          <a:off x="7766140" y="1051700"/>
          <a:ext cx="194072" cy="195263"/>
        </p:xfrm>
        <a:graphic>
          <a:graphicData uri="http://schemas.openxmlformats.org/presentationml/2006/ole">
            <mc:AlternateContent xmlns:mc="http://schemas.openxmlformats.org/markup-compatibility/2006">
              <mc:Choice xmlns:v="urn:schemas-microsoft-com:vml" Requires="v">
                <p:oleObj spid="_x0000_s10" name="Equation" r:id="rId16" imgW="76200" imgH="76200" progId="Equation.3">
                  <p:embed/>
                </p:oleObj>
              </mc:Choice>
              <mc:Fallback>
                <p:oleObj name="Equation" r:id="rId16"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66140" y="1051700"/>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34"/>
          <p:cNvGraphicFramePr>
            <a:graphicFrameLocks noChangeAspect="1"/>
          </p:cNvGraphicFramePr>
          <p:nvPr/>
        </p:nvGraphicFramePr>
        <p:xfrm>
          <a:off x="7493041" y="1357115"/>
          <a:ext cx="194072" cy="195263"/>
        </p:xfrm>
        <a:graphic>
          <a:graphicData uri="http://schemas.openxmlformats.org/presentationml/2006/ole">
            <mc:AlternateContent xmlns:mc="http://schemas.openxmlformats.org/markup-compatibility/2006">
              <mc:Choice xmlns:v="urn:schemas-microsoft-com:vml" Requires="v">
                <p:oleObj spid="_x0000_s14" name="Equation" r:id="rId17" imgW="76200" imgH="76200" progId="Equation.3">
                  <p:embed/>
                </p:oleObj>
              </mc:Choice>
              <mc:Fallback>
                <p:oleObj name="Equation" r:id="rId17"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3041" y="1357115"/>
                        <a:ext cx="194072" cy="195263"/>
                      </a:xfrm>
                      <a:prstGeom prst="rect">
                        <a:avLst/>
                      </a:prstGeom>
                      <a:noFill/>
                      <a:ln>
                        <a:noFill/>
                      </a:ln>
                      <a:effectLst/>
                    </p:spPr>
                  </p:pic>
                </p:oleObj>
              </mc:Fallback>
            </mc:AlternateContent>
          </a:graphicData>
        </a:graphic>
      </p:graphicFrame>
      <p:graphicFrame>
        <p:nvGraphicFramePr>
          <p:cNvPr id="28" name="Object 34"/>
          <p:cNvGraphicFramePr>
            <a:graphicFrameLocks noChangeAspect="1"/>
          </p:cNvGraphicFramePr>
          <p:nvPr/>
        </p:nvGraphicFramePr>
        <p:xfrm>
          <a:off x="7315678" y="1572619"/>
          <a:ext cx="194072" cy="195263"/>
        </p:xfrm>
        <a:graphic>
          <a:graphicData uri="http://schemas.openxmlformats.org/presentationml/2006/ole">
            <mc:AlternateContent xmlns:mc="http://schemas.openxmlformats.org/markup-compatibility/2006">
              <mc:Choice xmlns:v="urn:schemas-microsoft-com:vml" Requires="v">
                <p:oleObj spid="_x0000_s15" name="Equation" r:id="rId18" imgW="76200" imgH="76200" progId="Equation.3">
                  <p:embed/>
                </p:oleObj>
              </mc:Choice>
              <mc:Fallback>
                <p:oleObj name="Equation" r:id="rId18"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5678" y="1572619"/>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34"/>
          <p:cNvGraphicFramePr>
            <a:graphicFrameLocks noChangeAspect="1"/>
          </p:cNvGraphicFramePr>
          <p:nvPr/>
        </p:nvGraphicFramePr>
        <p:xfrm>
          <a:off x="7222119" y="1649407"/>
          <a:ext cx="194072" cy="195263"/>
        </p:xfrm>
        <a:graphic>
          <a:graphicData uri="http://schemas.openxmlformats.org/presentationml/2006/ole">
            <mc:AlternateContent xmlns:mc="http://schemas.openxmlformats.org/markup-compatibility/2006">
              <mc:Choice xmlns:v="urn:schemas-microsoft-com:vml" Requires="v">
                <p:oleObj spid="_x0000_s24" name="Equation" r:id="rId19" imgW="76200" imgH="76200" progId="Equation.3">
                  <p:embed/>
                </p:oleObj>
              </mc:Choice>
              <mc:Fallback>
                <p:oleObj name="Equation" r:id="rId19" imgW="76200" imgH="76200"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22119" y="1649407"/>
                        <a:ext cx="194072" cy="195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0" name="文本框 29"/>
              <p:cNvSpPr txBox="1"/>
              <p:nvPr/>
            </p:nvSpPr>
            <p:spPr>
              <a:xfrm>
                <a:off x="285087" y="4959743"/>
                <a:ext cx="6146879" cy="1667764"/>
              </a:xfrm>
              <a:prstGeom prst="rect">
                <a:avLst/>
              </a:prstGeom>
              <a:noFill/>
            </p:spPr>
            <p:txBody>
              <a:bodyPr wrap="square">
                <a:spAutoFit/>
              </a:bodyPr>
              <a:lstStyle/>
              <a:p>
                <a:pPr algn="just">
                  <a:lnSpc>
                    <a:spcPct val="150000"/>
                  </a:lnSpc>
                  <a:spcBef>
                    <a:spcPts val="450"/>
                  </a:spcBef>
                  <a:spcAft>
                    <a:spcPts val="450"/>
                  </a:spcAft>
                </a:pP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当</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𝑟</m:t>
                    </m:r>
                    <m:r>
                      <a:rPr lang="en-US" altLang="zh-CN"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ea typeface="Cambria Math" panose="02040503050406030204" pitchFamily="18" charset="0"/>
                      </a:rPr>
                      <m:t>0</m:t>
                    </m:r>
                  </m:oMath>
                </a14:m>
                <a:r>
                  <a:rPr lang="zh-CN" altLang="zh-CN" sz="2400" dirty="0">
                    <a:latin typeface="宋体" panose="02010600030101010101" pitchFamily="2" charset="-122"/>
                    <a:ea typeface="宋体" panose="02010600030101010101" pitchFamily="2" charset="-122"/>
                  </a:rPr>
                  <a:t>时，相应的无约束优化问题的最优解在可行域</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2</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rPr>
                      <m:t>2</m:t>
                    </m:r>
                  </m:oMath>
                </a14:m>
                <a:r>
                  <a:rPr lang="zh-CN" altLang="zh-CN" sz="2400" dirty="0">
                    <a:latin typeface="宋体" panose="02010600030101010101" pitchFamily="2" charset="-122"/>
                    <a:ea typeface="宋体" panose="02010600030101010101" pitchFamily="2" charset="-122"/>
                  </a:rPr>
                  <a:t>的</a:t>
                </a:r>
                <a:r>
                  <a:rPr lang="zh-CN" altLang="en-US" sz="2400" dirty="0">
                    <a:latin typeface="宋体" panose="02010600030101010101" pitchFamily="2" charset="-122"/>
                    <a:ea typeface="宋体" panose="02010600030101010101" pitchFamily="2" charset="-122"/>
                  </a:rPr>
                  <a:t>内部</a:t>
                </a:r>
                <a:r>
                  <a:rPr lang="zh-CN" altLang="zh-CN" sz="2400" dirty="0">
                    <a:latin typeface="宋体" panose="02010600030101010101" pitchFamily="2" charset="-122"/>
                    <a:ea typeface="宋体" panose="02010600030101010101" pitchFamily="2" charset="-122"/>
                  </a:rPr>
                  <a:t>逼近原问题的最优解。</a:t>
                </a:r>
                <a:endParaRPr lang="zh-CN" altLang="zh-CN" sz="2400" dirty="0">
                  <a:latin typeface="宋体" panose="02010600030101010101" pitchFamily="2" charset="-122"/>
                  <a:ea typeface="宋体" panose="02010600030101010101" pitchFamily="2" charset="-122"/>
                </a:endParaRPr>
              </a:p>
            </p:txBody>
          </p:sp>
        </mc:Choice>
        <mc:Fallback>
          <p:sp>
            <p:nvSpPr>
              <p:cNvPr id="30" name="文本框 29"/>
              <p:cNvSpPr txBox="1">
                <a:spLocks noRot="1" noChangeAspect="1" noMove="1" noResize="1" noEditPoints="1" noAdjustHandles="1" noChangeArrowheads="1" noChangeShapeType="1" noTextEdit="1"/>
              </p:cNvSpPr>
              <p:nvPr/>
            </p:nvSpPr>
            <p:spPr>
              <a:xfrm>
                <a:off x="285087" y="4959743"/>
                <a:ext cx="6146879" cy="1667764"/>
              </a:xfrm>
              <a:prstGeom prst="rect">
                <a:avLst/>
              </a:prstGeom>
              <a:blipFill rotWithShape="1">
                <a:blip r:embed="rId20"/>
                <a:stretch>
                  <a:fillRect l="-10" t="-24" r="1" b="-140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3528" y="54868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小结</a:t>
            </a:r>
            <a:endParaRPr lang="zh-CN" altLang="zh-CN" sz="2400" kern="100" dirty="0">
              <a:latin typeface="Times New Roman" panose="02020603050405020304" pitchFamily="18" charset="0"/>
              <a:ea typeface="宋体" panose="02010600030101010101" pitchFamily="2" charset="-122"/>
            </a:endParaRPr>
          </a:p>
        </p:txBody>
      </p:sp>
      <p:sp>
        <p:nvSpPr>
          <p:cNvPr id="4" name="文本框 3"/>
          <p:cNvSpPr txBox="1"/>
          <p:nvPr/>
        </p:nvSpPr>
        <p:spPr>
          <a:xfrm>
            <a:off x="395536" y="1268760"/>
            <a:ext cx="7920880" cy="5545749"/>
          </a:xfrm>
          <a:prstGeom prst="rect">
            <a:avLst/>
          </a:prstGeom>
          <a:noFill/>
        </p:spPr>
        <p:txBody>
          <a:bodyPr wrap="square">
            <a:spAutoFit/>
          </a:bodyPr>
          <a:lstStyle/>
          <a:p>
            <a:pPr marL="257175" indent="-257175" algn="just" eaLnBrk="1" hangingPunct="1">
              <a:lnSpc>
                <a:spcPct val="150000"/>
              </a:lnSpc>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依据如何将目标函数和约束函数进行组合，人们导出了许多不同形式的罚函数。</a:t>
            </a:r>
            <a:endParaRPr lang="en-US" altLang="zh-CN" sz="2400" dirty="0">
              <a:latin typeface="宋体" panose="02010600030101010101" pitchFamily="2" charset="-122"/>
              <a:ea typeface="宋体" panose="02010600030101010101" pitchFamily="2" charset="-122"/>
            </a:endParaRPr>
          </a:p>
          <a:p>
            <a:pPr marL="257175" indent="-257175" algn="just" eaLnBrk="1" hangingPunct="1">
              <a:lnSpc>
                <a:spcPct val="150000"/>
              </a:lnSpc>
              <a:buFont typeface="Wingdings" panose="05000000000000000000" pitchFamily="2" charset="2"/>
              <a:buChar char="Ø"/>
              <a:defRPr/>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由于这些早期方法均需要求解一系列无约束的罚函数极小化问题，故通常称之为序列无约束极小化方法</a:t>
            </a:r>
            <a:r>
              <a:rPr lang="en-US" altLang="zh-CN" sz="2400" dirty="0">
                <a:latin typeface="宋体" panose="02010600030101010101" pitchFamily="2" charset="-122"/>
                <a:ea typeface="宋体" panose="02010600030101010101" pitchFamily="2" charset="-122"/>
              </a:rPr>
              <a:t>(Sequential Unconstrained Minimization Technique</a:t>
            </a:r>
            <a:r>
              <a:rPr lang="zh-CN" altLang="en-US" sz="2400" dirty="0">
                <a:latin typeface="宋体" panose="02010600030101010101" pitchFamily="2" charset="-122"/>
                <a:ea typeface="宋体" panose="02010600030101010101" pitchFamily="2" charset="-122"/>
              </a:rPr>
              <a:t>，简称</a:t>
            </a:r>
            <a:r>
              <a:rPr lang="en-US" altLang="zh-CN" sz="2400" dirty="0">
                <a:latin typeface="宋体" panose="02010600030101010101" pitchFamily="2" charset="-122"/>
                <a:ea typeface="宋体" panose="02010600030101010101" pitchFamily="2" charset="-122"/>
              </a:rPr>
              <a:t>SUMT</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257175" indent="-257175" algn="just" eaLnBrk="1" hangingPunct="1">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罚函数法可以分为：外点罚函数法（简称外点法）、内点罚函数法（简称内点法）、混合罚函数法（简称混合法）。</a:t>
            </a:r>
            <a:endParaRPr lang="en-US" altLang="zh-CN" sz="2400" dirty="0">
              <a:latin typeface="宋体" panose="02010600030101010101" pitchFamily="2" charset="-122"/>
              <a:ea typeface="宋体" panose="02010600030101010101" pitchFamily="2" charset="-122"/>
            </a:endParaRPr>
          </a:p>
          <a:p>
            <a:pPr algn="just" eaLnBrk="1" hangingPunct="1">
              <a:lnSpc>
                <a:spcPct val="150000"/>
              </a:lnSpc>
              <a:defRPr/>
            </a:pPr>
            <a:endParaRPr lang="en-US" altLang="zh-CN" sz="2400" dirty="0">
              <a:latin typeface="宋体" panose="02010600030101010101" pitchFamily="2" charset="-122"/>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4854" y="2834938"/>
            <a:ext cx="2213250" cy="1107996"/>
          </a:xfrm>
          <a:prstGeom prst="rect">
            <a:avLst/>
          </a:prstGeom>
        </p:spPr>
        <p:txBody>
          <a:bodyPr wrap="square">
            <a:spAutoFit/>
          </a:bodyPr>
          <a:lstStyle/>
          <a:p>
            <a:pPr algn="ctr"/>
            <a:r>
              <a:rPr lang="en-US" altLang="zh-CN" sz="3300" b="1" dirty="0"/>
              <a:t>   9.4</a:t>
            </a:r>
            <a:endParaRPr lang="en-US" altLang="zh-CN" sz="3300" b="1" dirty="0"/>
          </a:p>
          <a:p>
            <a:pPr algn="ctr"/>
            <a:r>
              <a:rPr lang="en-US" altLang="zh-CN" sz="3300" b="1" dirty="0"/>
              <a:t> </a:t>
            </a:r>
            <a:r>
              <a:rPr lang="zh-CN" altLang="en-US" sz="3300" b="1" dirty="0"/>
              <a:t>外点法</a:t>
            </a:r>
            <a:endParaRPr lang="zh-CN" altLang="en-US" sz="33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32220" y="3861048"/>
            <a:ext cx="8056203" cy="2775760"/>
          </a:xfrm>
          <a:prstGeom prst="rect">
            <a:avLst/>
          </a:prstGeom>
          <a:noFill/>
        </p:spPr>
        <p:txBody>
          <a:bodyPr wrap="square">
            <a:spAutoFit/>
          </a:bodyPr>
          <a:lstStyle/>
          <a:p>
            <a:pPr algn="just" eaLnBrk="1" latinLnBrk="0" hangingPunct="1">
              <a:lnSpc>
                <a:spcPct val="150000"/>
              </a:lnSpc>
              <a:defRPr/>
            </a:pPr>
            <a:r>
              <a:rPr lang="en-US" altLang="zh-CN" sz="2400" kern="100" dirty="0">
                <a:latin typeface="宋体" panose="02010600030101010101" pitchFamily="2" charset="-122"/>
                <a:ea typeface="宋体" panose="02010600030101010101" pitchFamily="2" charset="-122"/>
              </a:rPr>
              <a:t>	  </a:t>
            </a:r>
            <a:r>
              <a:rPr lang="zh-CN" altLang="en-US" sz="2400" kern="100" dirty="0">
                <a:latin typeface="宋体" panose="02010600030101010101" pitchFamily="2" charset="-122"/>
                <a:ea typeface="宋体" panose="02010600030101010101" pitchFamily="2" charset="-122"/>
              </a:rPr>
              <a:t>当约束优化</a:t>
            </a:r>
            <a:r>
              <a:rPr lang="zh-CN" altLang="zh-CN" sz="2400" kern="100" dirty="0">
                <a:latin typeface="宋体" panose="02010600030101010101" pitchFamily="2" charset="-122"/>
                <a:ea typeface="宋体" panose="02010600030101010101" pitchFamily="2" charset="-122"/>
              </a:rPr>
              <a:t>问题的约束为非线性</a:t>
            </a:r>
            <a:r>
              <a:rPr lang="zh-CN" altLang="en-US" sz="2400" kern="100" dirty="0">
                <a:latin typeface="宋体" panose="02010600030101010101" pitchFamily="2" charset="-122"/>
                <a:ea typeface="宋体" panose="02010600030101010101" pitchFamily="2" charset="-122"/>
              </a:rPr>
              <a:t>时</a:t>
            </a:r>
            <a:r>
              <a:rPr lang="zh-CN" altLang="zh-CN" sz="2400" kern="100" dirty="0">
                <a:latin typeface="宋体" panose="02010600030101010101" pitchFamily="2" charset="-122"/>
                <a:ea typeface="宋体" panose="02010600030101010101" pitchFamily="2" charset="-122"/>
              </a:rPr>
              <a:t>，不能用消元法将该问题化为无约束问题，而在求解时必须同时考虑既使目标函数值下降又要满足约束条件</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为此可以通过构造一个由目标函数与约束函数组成的罚函数的办法</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对罚函数实行极小化来实现这一目的</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p:txBody>
      </p:sp>
      <p:sp>
        <p:nvSpPr>
          <p:cNvPr id="2" name="文本框 1"/>
          <p:cNvSpPr txBox="1"/>
          <p:nvPr/>
        </p:nvSpPr>
        <p:spPr>
          <a:xfrm>
            <a:off x="179512" y="476672"/>
            <a:ext cx="2754306"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一、基本原理</a:t>
            </a:r>
            <a:endParaRPr lang="zh-CN" altLang="en-US" sz="2400" b="1"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6" name="文本框 5"/>
              <p:cNvSpPr txBox="1"/>
              <p:nvPr/>
            </p:nvSpPr>
            <p:spPr>
              <a:xfrm>
                <a:off x="340619" y="1016900"/>
                <a:ext cx="8407845" cy="2901692"/>
              </a:xfrm>
              <a:prstGeom prst="rect">
                <a:avLst/>
              </a:prstGeom>
              <a:noFill/>
            </p:spPr>
            <p:txBody>
              <a:bodyPr wrap="square" rtlCol="0">
                <a:spAutoFit/>
              </a:bodyPr>
              <a:lstStyle/>
              <a:p>
                <a:pPr latinLnBrk="0">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考虑非线性规划问题</a:t>
                </a:r>
                <a:r>
                  <a:rPr lang="en-US" altLang="zh-CN" sz="2400" dirty="0">
                    <a:latin typeface="宋体" panose="02010600030101010101" pitchFamily="2" charset="-122"/>
                    <a:ea typeface="宋体" panose="02010600030101010101" pitchFamily="2" charset="-122"/>
                    <a:cs typeface="宋体" panose="02010600030101010101" pitchFamily="2" charset="-122"/>
                  </a:rPr>
                  <a:t>:</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just" fontAlgn="auto" latinLnBrk="0">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latinLnBrk="0">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𝑡</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ℎ</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2</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𝑚</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       </m:t>
                      </m:r>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0</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2</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𝑙</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ℎ</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和</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是</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𝑛</m:t>
                        </m:r>
                      </m:sup>
                    </m:sSup>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上的连续函数，记</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为可行域。</a:t>
                </a:r>
                <a:endParaRPr lang="zh-CN" altLang="en-US" sz="24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340619" y="1016900"/>
                <a:ext cx="8407845" cy="2901692"/>
              </a:xfrm>
              <a:prstGeom prst="rect">
                <a:avLst/>
              </a:prstGeom>
              <a:blipFill rotWithShape="1">
                <a:blip r:embed="rId1"/>
                <a:stretch>
                  <a:fillRect l="-3" t="-9" r="1"/>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323528" y="541382"/>
                <a:ext cx="8126867" cy="5775235"/>
              </a:xfrm>
              <a:prstGeom prst="rect">
                <a:avLst/>
              </a:prstGeom>
              <a:noFill/>
            </p:spPr>
            <p:txBody>
              <a:bodyPr wrap="square" rtlCol="0">
                <a:spAutoFit/>
              </a:bodyPr>
              <a:lstStyle/>
              <a:p>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先考虑只含有不等式约束的</a:t>
                </a:r>
                <a:r>
                  <a:rPr lang="zh-CN" altLang="en-US" sz="2200" b="1" dirty="0">
                    <a:latin typeface="宋体" panose="02010600030101010101" pitchFamily="2" charset="-122"/>
                    <a:ea typeface="宋体" panose="02010600030101010101" pitchFamily="2" charset="-122"/>
                    <a:cs typeface="宋体" panose="02010600030101010101" pitchFamily="2" charset="-122"/>
                  </a:rPr>
                  <a:t>问题</a:t>
                </a:r>
                <a14:m>
                  <m:oMath xmlns:m="http://schemas.openxmlformats.org/officeDocument/2006/math">
                    <m:d>
                      <m:dPr>
                        <m:ctrlPr>
                          <a:rPr lang="en-US" altLang="zh-CN" sz="2200" b="1"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b="1" i="1">
                            <a:latin typeface="Cambria Math" panose="02040503050406030204" pitchFamily="18" charset="0"/>
                            <a:ea typeface="宋体" panose="02010600030101010101" pitchFamily="2" charset="-122"/>
                            <a:cs typeface="Cambria Math" panose="02040503050406030204" pitchFamily="18" charset="0"/>
                          </a:rPr>
                          <m:t>𝑬𝑷</m:t>
                        </m:r>
                      </m:e>
                    </m:d>
                    <m:r>
                      <a:rPr lang="en-US" altLang="zh-CN" sz="2200" b="1" i="1">
                        <a:latin typeface="Cambria Math" panose="02040503050406030204" pitchFamily="18" charset="0"/>
                        <a:ea typeface="宋体" panose="02010600030101010101" pitchFamily="2" charset="-122"/>
                        <a:cs typeface="Cambria Math" panose="02040503050406030204" pitchFamily="18" charset="0"/>
                      </a:rPr>
                      <m:t> </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a:t>
                </a:r>
                <a:endParaRPr lang="zh-CN" altLang="en-US" sz="2200" dirty="0"/>
              </a:p>
              <a:p>
                <a:pPr algn="just" fontAlgn="auto" latinLnBrk="0">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latinLnBrk="0">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𝑠</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𝑗</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𝑙</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构造一个函数</a:t>
                </a:r>
                <a14:m>
                  <m:oMath xmlns:m="http://schemas.openxmlformats.org/officeDocument/2006/math">
                    <m:r>
                      <a:rPr lang="zh-CN" altLang="en-US" sz="2200">
                        <a:latin typeface="Cambria Math" panose="02040503050406030204" pitchFamily="18" charset="0"/>
                        <a:ea typeface="宋体" panose="02010600030101010101" pitchFamily="2" charset="-122"/>
                        <a:cs typeface="宋体" panose="02010600030101010101" pitchFamily="2" charset="-122"/>
                      </a:rPr>
                      <m:t>𝜓</m:t>
                    </m:r>
                    <m:d>
                      <m:dPr>
                        <m:ctrlPr>
                          <a:rPr lang="zh-CN" altLang="en-US" sz="2200" i="1">
                            <a:latin typeface="Cambria Math" panose="02040503050406030204" pitchFamily="18" charset="0"/>
                            <a:ea typeface="宋体" panose="02010600030101010101" pitchFamily="2" charset="-122"/>
                            <a:cs typeface="宋体" panose="02010600030101010101" pitchFamily="2" charset="-122"/>
                          </a:rPr>
                        </m:ctrlPr>
                      </m:dPr>
                      <m:e>
                        <m:r>
                          <a:rPr lang="zh-CN" altLang="en-US" sz="2200">
                            <a:latin typeface="Cambria Math" panose="02040503050406030204" pitchFamily="18" charset="0"/>
                            <a:ea typeface="宋体" panose="02010600030101010101" pitchFamily="2" charset="-122"/>
                            <a:cs typeface="宋体" panose="02010600030101010101" pitchFamily="2" charset="-122"/>
                          </a:rPr>
                          <m:t>𝑡</m:t>
                        </m:r>
                      </m:e>
                    </m:d>
                  </m:oMath>
                </a14:m>
                <a:r>
                  <a:rPr lang="zh-CN" altLang="en-US" sz="2200" dirty="0">
                    <a:latin typeface="宋体" panose="02010600030101010101" pitchFamily="2" charset="-122"/>
                    <a:ea typeface="宋体" panose="02010600030101010101" pitchFamily="2" charset="-122"/>
                    <a:cs typeface="宋体" panose="02010600030101010101" pitchFamily="2" charset="-122"/>
                  </a:rPr>
                  <a:t>：</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cs typeface="Cambria Math" panose="02040503050406030204" pitchFamily="18" charset="0"/>
                        </a:rPr>
                        <m:t>𝜓</m:t>
                      </m:r>
                      <m:d>
                        <m:dPr>
                          <m:ctrlPr>
                            <a:rPr lang="en-US" altLang="zh-CN" sz="2200" i="1">
                              <a:latin typeface="Cambria Math" panose="02040503050406030204" pitchFamily="18" charset="0"/>
                              <a:cs typeface="Cambria Math" panose="02040503050406030204" pitchFamily="18" charset="0"/>
                            </a:rPr>
                          </m:ctrlPr>
                        </m:dPr>
                        <m:e>
                          <m:r>
                            <a:rPr lang="en-US" altLang="zh-CN" sz="2200" i="1">
                              <a:latin typeface="Cambria Math" panose="02040503050406030204" pitchFamily="18" charset="0"/>
                              <a:cs typeface="Cambria Math" panose="02040503050406030204" pitchFamily="18" charset="0"/>
                            </a:rPr>
                            <m:t>𝑡</m:t>
                          </m:r>
                        </m:e>
                      </m:d>
                      <m:r>
                        <a:rPr lang="en-US" altLang="zh-CN" sz="2200" i="1">
                          <a:latin typeface="Cambria Math" panose="02040503050406030204" pitchFamily="18" charset="0"/>
                          <a:cs typeface="Cambria Math" panose="02040503050406030204" pitchFamily="18" charset="0"/>
                        </a:rPr>
                        <m:t>=</m:t>
                      </m:r>
                      <m:d>
                        <m:dPr>
                          <m:begChr m:val="{"/>
                          <m:endChr m:val=""/>
                          <m:ctrlPr>
                            <a:rPr lang="en-US" altLang="zh-CN" sz="2200" i="1">
                              <a:latin typeface="Cambria Math" panose="02040503050406030204" pitchFamily="18" charset="0"/>
                              <a:cs typeface="Cambria Math" panose="02040503050406030204" pitchFamily="18" charset="0"/>
                            </a:rPr>
                          </m:ctrlPr>
                        </m:dPr>
                        <m:e>
                          <m:eqArr>
                            <m:eqArrPr>
                              <m:ctrlPr>
                                <a:rPr lang="en-US" altLang="zh-CN" sz="2200" i="1">
                                  <a:latin typeface="Cambria Math" panose="02040503050406030204" pitchFamily="18" charset="0"/>
                                  <a:cs typeface="Cambria Math" panose="02040503050406030204" pitchFamily="18" charset="0"/>
                                </a:rPr>
                              </m:ctrlPr>
                            </m:eqArrPr>
                            <m:e>
                              <m:r>
                                <a:rPr lang="en-US" altLang="zh-CN" sz="2200" i="1">
                                  <a:latin typeface="Cambria Math" panose="02040503050406030204" pitchFamily="18" charset="0"/>
                                  <a:cs typeface="Cambria Math" panose="02040503050406030204" pitchFamily="18" charset="0"/>
                                </a:rPr>
                                <m:t>0</m:t>
                              </m:r>
                              <m:r>
                                <a:rPr lang="en-US" altLang="zh-CN" sz="2200" i="1">
                                  <a:latin typeface="Cambria Math" panose="02040503050406030204" pitchFamily="18" charset="0"/>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r>
                                <a:rPr lang="en-US" altLang="zh-CN" sz="2200" i="1">
                                  <a:latin typeface="Cambria Math" panose="02040503050406030204" pitchFamily="18" charset="0"/>
                                  <a:ea typeface="MS Mincho" panose="02020609040205080304" charset="-128"/>
                                  <a:cs typeface="Cambria Math" panose="02040503050406030204" pitchFamily="18" charset="0"/>
                                </a:rPr>
                                <m:t>𝑡</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0</m:t>
                              </m:r>
                            </m:e>
                            <m:e>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r>
                                <a:rPr lang="en-US" altLang="zh-CN" sz="2200" i="1">
                                  <a:latin typeface="Cambria Math" panose="02040503050406030204" pitchFamily="18" charset="0"/>
                                  <a:cs typeface="Cambria Math" panose="02040503050406030204" pitchFamily="18" charset="0"/>
                                </a:rPr>
                                <m:t> </m:t>
                              </m:r>
                              <m:r>
                                <a:rPr lang="en-US" altLang="zh-CN" sz="2200" i="1">
                                  <a:latin typeface="Cambria Math" panose="02040503050406030204" pitchFamily="18" charset="0"/>
                                  <a:cs typeface="Cambria Math" panose="02040503050406030204" pitchFamily="18" charset="0"/>
                                </a:rPr>
                                <m:t>𝑡</m:t>
                              </m:r>
                              <m:r>
                                <a:rPr lang="en-US" altLang="zh-CN" sz="2200" i="1">
                                  <a:latin typeface="Cambria Math" panose="02040503050406030204" pitchFamily="18" charset="0"/>
                                  <a:cs typeface="Cambria Math" panose="02040503050406030204" pitchFamily="18" charset="0"/>
                                </a:rPr>
                                <m:t>&lt;</m:t>
                              </m:r>
                              <m:r>
                                <a:rPr lang="en-US" altLang="zh-CN" sz="2200" i="1">
                                  <a:latin typeface="Cambria Math" panose="02040503050406030204" pitchFamily="18" charset="0"/>
                                  <a:cs typeface="Cambria Math" panose="02040503050406030204" pitchFamily="18" charset="0"/>
                                </a:rPr>
                                <m:t>0</m:t>
                              </m:r>
                            </m:e>
                          </m:eqArr>
                        </m:e>
                      </m:d>
                    </m:oMath>
                  </m:oMathPara>
                </a14:m>
                <a:endParaRPr lang="en-US" altLang="zh-CN" sz="2200" i="1" dirty="0">
                  <a:latin typeface="Cambria Math" panose="02040503050406030204" pitchFamily="18" charset="0"/>
                  <a:cs typeface="Cambria Math" panose="02040503050406030204" pitchFamily="18" charset="0"/>
                </a:endParaRPr>
              </a:p>
              <a:p>
                <a:r>
                  <a:rPr lang="zh-CN" altLang="en-US" sz="2200" dirty="0">
                    <a:latin typeface="宋体" panose="02010600030101010101" pitchFamily="2" charset="-122"/>
                    <a:ea typeface="宋体" panose="02010600030101010101" pitchFamily="2" charset="-122"/>
                    <a:cs typeface="宋体" panose="02010600030101010101" pitchFamily="2" charset="-122"/>
                  </a:rPr>
                  <a:t>显然当</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时，</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d>
                      </m:e>
                    </m:d>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0</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𝑗</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1</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2</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𝑙</m:t>
                    </m:r>
                    <m:r>
                      <a:rPr lang="en-US" altLang="zh-CN" sz="2200" i="1">
                        <a:latin typeface="Cambria Math" panose="02040503050406030204" pitchFamily="18" charset="0"/>
                        <a:ea typeface="MS Mincho" panose="02020609040205080304" charset="-128"/>
                        <a:cs typeface="Cambria Math" panose="02040503050406030204" pitchFamily="18" charset="0"/>
                      </a:rPr>
                      <m:t>)</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时，</a:t>
                </a:r>
                <a14:m>
                  <m:oMath xmlns:m="http://schemas.openxmlformats.org/officeDocument/2006/math">
                    <m:r>
                      <a:rPr lang="en-US" altLang="zh-CN" sz="2200" i="1">
                        <a:latin typeface="Cambria Math" panose="02040503050406030204" pitchFamily="18" charset="0"/>
                        <a:ea typeface="MS Mincho" panose="02020609040205080304" charset="-128"/>
                        <a:cs typeface="Cambria Math" panose="02040503050406030204" pitchFamily="18" charset="0"/>
                      </a:rPr>
                      <m:t>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𝑔</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𝑗</m:t>
                            </m:r>
                          </m:sub>
                        </m:sSub>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d>
                      </m:e>
                    </m:d>
                    <m:r>
                      <a:rPr lang="en-US" altLang="zh-CN" sz="2200" i="1">
                        <a:latin typeface="Cambria Math" panose="02040503050406030204" pitchFamily="18" charset="0"/>
                        <a:ea typeface="MS Mincho" panose="02020609040205080304" charset="-128"/>
                        <a:cs typeface="Cambria Math" panose="02040503050406030204" pitchFamily="18" charset="0"/>
                      </a:rPr>
                      <m:t>=+∞</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。再构造函数</a:t>
                </a:r>
                <a14:m>
                  <m:oMath xmlns:m="http://schemas.openxmlformats.org/officeDocument/2006/math">
                    <m:r>
                      <a:rPr lang="en-US" altLang="zh-CN" sz="2200" i="1">
                        <a:latin typeface="Cambria Math" panose="02040503050406030204" pitchFamily="18" charset="0"/>
                        <a:ea typeface="MS Mincho" panose="02020609040205080304" charset="-128"/>
                        <a:cs typeface="Cambria Math" panose="02040503050406030204" pitchFamily="18" charset="0"/>
                      </a:rPr>
                      <m:t>𝜑</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200" dirty="0">
                    <a:latin typeface="宋体" panose="02010600030101010101" pitchFamily="2" charset="-122"/>
                    <a:ea typeface="宋体" panose="02010600030101010101" pitchFamily="2" charset="-122"/>
                    <a:cs typeface="宋体" panose="02010600030101010101" pitchFamily="2" charset="-122"/>
                  </a:rPr>
                  <a:t>：</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cs typeface="Cambria Math" panose="02040503050406030204" pitchFamily="18" charset="0"/>
                        </a:rPr>
                        <m:t>𝜑</m:t>
                      </m:r>
                      <m:d>
                        <m:dPr>
                          <m:ctrlPr>
                            <a:rPr lang="en-US" altLang="zh-CN" sz="2200" i="1">
                              <a:latin typeface="Cambria Math" panose="02040503050406030204" pitchFamily="18" charset="0"/>
                              <a:cs typeface="Cambria Math" panose="02040503050406030204" pitchFamily="18" charset="0"/>
                            </a:rPr>
                          </m:ctrlPr>
                        </m:dPr>
                        <m:e>
                          <m:r>
                            <a:rPr lang="en-US" altLang="zh-CN" sz="2200" i="1">
                              <a:latin typeface="Cambria Math" panose="02040503050406030204" pitchFamily="18" charset="0"/>
                              <a:cs typeface="Cambria Math" panose="02040503050406030204" pitchFamily="18" charset="0"/>
                            </a:rPr>
                            <m:t>𝑥</m:t>
                          </m:r>
                        </m:e>
                      </m:d>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𝑓</m:t>
                      </m:r>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𝑥</m:t>
                      </m:r>
                      <m:r>
                        <a:rPr lang="en-US" altLang="zh-CN" sz="2200" i="1">
                          <a:latin typeface="Cambria Math" panose="02040503050406030204" pitchFamily="18" charset="0"/>
                          <a:cs typeface="Cambria Math" panose="02040503050406030204" pitchFamily="18" charset="0"/>
                        </a:rPr>
                        <m:t>)+</m:t>
                      </m:r>
                      <m:nary>
                        <m:naryPr>
                          <m:chr m:val="∑"/>
                          <m:limLoc m:val="undOvr"/>
                          <m:ctrlPr>
                            <a:rPr lang="en-US" altLang="zh-CN" sz="2200" i="1">
                              <a:latin typeface="Cambria Math" panose="02040503050406030204" pitchFamily="18" charset="0"/>
                              <a:cs typeface="Cambria Math" panose="02040503050406030204" pitchFamily="18" charset="0"/>
                            </a:rPr>
                          </m:ctrlPr>
                        </m:naryPr>
                        <m:sub>
                          <m:r>
                            <a:rPr lang="en-US" altLang="zh-CN" sz="2200" i="1">
                              <a:latin typeface="Cambria Math" panose="02040503050406030204" pitchFamily="18" charset="0"/>
                              <a:cs typeface="Cambria Math" panose="02040503050406030204" pitchFamily="18" charset="0"/>
                            </a:rPr>
                            <m:t>𝑗</m:t>
                          </m:r>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1</m:t>
                          </m:r>
                        </m:sub>
                        <m:sup>
                          <m:r>
                            <a:rPr lang="en-US" altLang="zh-CN" sz="2200" i="1">
                              <a:latin typeface="Cambria Math" panose="02040503050406030204" pitchFamily="18" charset="0"/>
                              <a:cs typeface="Cambria Math" panose="02040503050406030204" pitchFamily="18" charset="0"/>
                            </a:rPr>
                            <m:t>𝑙</m:t>
                          </m:r>
                        </m:sup>
                        <m:e>
                          <m:r>
                            <a:rPr lang="en-US" altLang="zh-CN" sz="2200" i="1">
                              <a:latin typeface="Cambria Math" panose="02040503050406030204" pitchFamily="18" charset="0"/>
                              <a:cs typeface="Cambria Math" panose="02040503050406030204" pitchFamily="18" charset="0"/>
                            </a:rPr>
                            <m:t>𝜓</m:t>
                          </m:r>
                          <m:d>
                            <m:dPr>
                              <m:ctrlPr>
                                <a:rPr lang="en-US" altLang="zh-CN" sz="2200" i="1">
                                  <a:latin typeface="Cambria Math" panose="02040503050406030204" pitchFamily="18" charset="0"/>
                                  <a:cs typeface="Cambria Math" panose="02040503050406030204" pitchFamily="18" charset="0"/>
                                </a:rPr>
                              </m:ctrlPr>
                            </m:dPr>
                            <m:e>
                              <m:sSub>
                                <m:sSubPr>
                                  <m:ctrlPr>
                                    <a:rPr lang="en-US" altLang="zh-CN" sz="2200" i="1">
                                      <a:latin typeface="Cambria Math" panose="02040503050406030204" pitchFamily="18" charset="0"/>
                                      <a:cs typeface="Cambria Math" panose="02040503050406030204" pitchFamily="18" charset="0"/>
                                    </a:rPr>
                                  </m:ctrlPr>
                                </m:sSubPr>
                                <m:e>
                                  <m:r>
                                    <a:rPr lang="en-US" altLang="zh-CN" sz="2200" i="1">
                                      <a:latin typeface="Cambria Math" panose="02040503050406030204" pitchFamily="18" charset="0"/>
                                      <a:cs typeface="Cambria Math" panose="02040503050406030204" pitchFamily="18" charset="0"/>
                                    </a:rPr>
                                    <m:t>𝑔</m:t>
                                  </m:r>
                                </m:e>
                                <m:sub>
                                  <m:r>
                                    <a:rPr lang="en-US" altLang="zh-CN" sz="2200" i="1">
                                      <a:latin typeface="Cambria Math" panose="02040503050406030204" pitchFamily="18" charset="0"/>
                                      <a:cs typeface="Cambria Math" panose="02040503050406030204" pitchFamily="18" charset="0"/>
                                    </a:rPr>
                                    <m:t>𝑗</m:t>
                                  </m:r>
                                </m:sub>
                              </m:sSub>
                              <m:d>
                                <m:dPr>
                                  <m:ctrlPr>
                                    <a:rPr lang="en-US" altLang="zh-CN" sz="2200" i="1">
                                      <a:latin typeface="Cambria Math" panose="02040503050406030204" pitchFamily="18" charset="0"/>
                                      <a:cs typeface="Cambria Math" panose="02040503050406030204" pitchFamily="18" charset="0"/>
                                    </a:rPr>
                                  </m:ctrlPr>
                                </m:dPr>
                                <m:e>
                                  <m:r>
                                    <a:rPr lang="en-US" altLang="zh-CN" sz="2200" i="1">
                                      <a:latin typeface="Cambria Math" panose="02040503050406030204" pitchFamily="18" charset="0"/>
                                      <a:cs typeface="Cambria Math" panose="02040503050406030204" pitchFamily="18" charset="0"/>
                                    </a:rPr>
                                    <m:t>𝑥</m:t>
                                  </m:r>
                                </m:e>
                              </m:d>
                            </m:e>
                          </m:d>
                        </m:e>
                      </m:nary>
                    </m:oMath>
                  </m:oMathPara>
                </a14:m>
                <a:endParaRPr lang="en-US" altLang="zh-CN" sz="2200" i="1" dirty="0">
                  <a:latin typeface="Cambria Math" panose="02040503050406030204" pitchFamily="18" charset="0"/>
                  <a:cs typeface="Cambria Math" panose="02040503050406030204" pitchFamily="18" charset="0"/>
                </a:endParaRPr>
              </a:p>
              <a:p>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求解无约束问题</a:t>
                </a:r>
                <a:endParaRPr lang="en-US" altLang="zh-CN" sz="22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cs typeface="Cambria Math" panose="02040503050406030204" pitchFamily="18" charset="0"/>
                        </a:rPr>
                        <m:t>𝑚𝑖𝑛</m:t>
                      </m:r>
                      <m:r>
                        <a:rPr lang="en-US" altLang="zh-CN" sz="2200" i="1">
                          <a:latin typeface="Cambria Math" panose="02040503050406030204" pitchFamily="18" charset="0"/>
                          <a:cs typeface="Cambria Math" panose="02040503050406030204" pitchFamily="18" charset="0"/>
                        </a:rPr>
                        <m:t> </m:t>
                      </m:r>
                      <m:r>
                        <a:rPr lang="en-US" altLang="zh-CN" sz="2200" i="1">
                          <a:latin typeface="Cambria Math" panose="02040503050406030204" pitchFamily="18" charset="0"/>
                          <a:cs typeface="Cambria Math" panose="02040503050406030204" pitchFamily="18" charset="0"/>
                        </a:rPr>
                        <m:t>𝜑</m:t>
                      </m:r>
                      <m:d>
                        <m:dPr>
                          <m:ctrlPr>
                            <a:rPr lang="en-US" altLang="zh-CN" sz="2200" i="1">
                              <a:latin typeface="Cambria Math" panose="02040503050406030204" pitchFamily="18" charset="0"/>
                              <a:cs typeface="Cambria Math" panose="02040503050406030204" pitchFamily="18" charset="0"/>
                            </a:rPr>
                          </m:ctrlPr>
                        </m:dPr>
                        <m:e>
                          <m:r>
                            <a:rPr lang="en-US" altLang="zh-CN" sz="2200" i="1">
                              <a:latin typeface="Cambria Math" panose="02040503050406030204" pitchFamily="18" charset="0"/>
                              <a:cs typeface="Cambria Math" panose="02040503050406030204" pitchFamily="18" charset="0"/>
                            </a:rPr>
                            <m:t>𝑥</m:t>
                          </m:r>
                        </m:e>
                      </m:d>
                    </m:oMath>
                  </m:oMathPara>
                </a14:m>
                <a:endParaRPr lang="en-US" altLang="zh-CN" sz="2200" i="1" dirty="0">
                  <a:latin typeface="Cambria Math" panose="02040503050406030204" pitchFamily="18" charset="0"/>
                  <a:cs typeface="Cambria Math" panose="02040503050406030204" pitchFamily="18" charset="0"/>
                </a:endParaRPr>
              </a:p>
              <a:p>
                <a:r>
                  <a:rPr lang="zh-CN" altLang="en-US" sz="2200" dirty="0">
                    <a:latin typeface="宋体" panose="02010600030101010101" pitchFamily="2" charset="-122"/>
                    <a:ea typeface="宋体" panose="02010600030101010101" pitchFamily="2" charset="-122"/>
                    <a:cs typeface="宋体" panose="02010600030101010101" pitchFamily="2" charset="-122"/>
                  </a:rPr>
                  <a:t>若问题有解，设其最优解为</a:t>
                </a:r>
                <a14:m>
                  <m:oMath xmlns:m="http://schemas.openxmlformats.org/officeDocument/2006/math">
                    <m:sSup>
                      <m:sSupPr>
                        <m:ctrlPr>
                          <a:rPr lang="zh-CN" altLang="en-US" sz="2200" i="1">
                            <a:latin typeface="Cambria Math" panose="02040503050406030204" pitchFamily="18" charset="0"/>
                            <a:ea typeface="宋体" panose="02010600030101010101" pitchFamily="2" charset="-122"/>
                            <a:cs typeface="宋体" panose="02010600030101010101" pitchFamily="2" charset="-122"/>
                          </a:rPr>
                        </m:ctrlPr>
                      </m:sSupPr>
                      <m:e>
                        <m:r>
                          <a:rPr lang="zh-CN" altLang="en-US" sz="2200">
                            <a:latin typeface="Cambria Math" panose="02040503050406030204" pitchFamily="18" charset="0"/>
                            <a:ea typeface="宋体" panose="02010600030101010101" pitchFamily="2" charset="-122"/>
                            <a:cs typeface="宋体" panose="02010600030101010101" pitchFamily="2" charset="-122"/>
                          </a:rPr>
                          <m:t>𝑥</m:t>
                        </m:r>
                      </m:e>
                      <m:sup>
                        <m:r>
                          <a:rPr lang="zh-CN" altLang="en-US" sz="2200">
                            <a:latin typeface="Cambria Math" panose="02040503050406030204" pitchFamily="18" charset="0"/>
                            <a:ea typeface="宋体" panose="02010600030101010101" pitchFamily="2" charset="-122"/>
                            <a:cs typeface="宋体" panose="02010600030101010101" pitchFamily="2" charset="-122"/>
                          </a:rPr>
                          <m:t>∗</m:t>
                        </m:r>
                      </m:sup>
                    </m:sSup>
                  </m:oMath>
                </a14:m>
                <a:r>
                  <a:rPr lang="zh-CN" altLang="en-US" sz="2200" dirty="0">
                    <a:latin typeface="宋体" panose="02010600030101010101" pitchFamily="2" charset="-122"/>
                    <a:ea typeface="宋体" panose="02010600030101010101" pitchFamily="2" charset="-122"/>
                    <a:cs typeface="宋体" panose="02010600030101010101" pitchFamily="2" charset="-122"/>
                  </a:rPr>
                  <a:t>，则有</a:t>
                </a:r>
                <a14:m>
                  <m:oMath xmlns:m="http://schemas.openxmlformats.org/officeDocument/2006/math">
                    <m:r>
                      <a:rPr lang="en-US" altLang="zh-CN" sz="2200" i="1">
                        <a:latin typeface="Cambria Math" panose="02040503050406030204" pitchFamily="18" charset="0"/>
                        <a:cs typeface="Cambria Math" panose="02040503050406030204" pitchFamily="18" charset="0"/>
                      </a:rPr>
                      <m:t>𝜓</m:t>
                    </m:r>
                    <m:d>
                      <m:dPr>
                        <m:ctrlPr>
                          <a:rPr lang="en-US" altLang="zh-CN" sz="2200" i="1">
                            <a:latin typeface="Cambria Math" panose="02040503050406030204" pitchFamily="18" charset="0"/>
                            <a:cs typeface="Cambria Math" panose="02040503050406030204" pitchFamily="18" charset="0"/>
                          </a:rPr>
                        </m:ctrlPr>
                      </m:dPr>
                      <m:e>
                        <m:sSub>
                          <m:sSubPr>
                            <m:ctrlPr>
                              <a:rPr lang="en-US" altLang="zh-CN" sz="2200" i="1">
                                <a:latin typeface="Cambria Math" panose="02040503050406030204" pitchFamily="18" charset="0"/>
                                <a:cs typeface="Cambria Math" panose="02040503050406030204" pitchFamily="18" charset="0"/>
                              </a:rPr>
                            </m:ctrlPr>
                          </m:sSubPr>
                          <m:e>
                            <m:r>
                              <a:rPr lang="en-US" altLang="zh-CN" sz="2200" i="1">
                                <a:latin typeface="Cambria Math" panose="02040503050406030204" pitchFamily="18" charset="0"/>
                                <a:cs typeface="Cambria Math" panose="02040503050406030204" pitchFamily="18" charset="0"/>
                              </a:rPr>
                              <m:t>𝑔</m:t>
                            </m:r>
                          </m:e>
                          <m:sub>
                            <m:r>
                              <a:rPr lang="en-US" altLang="zh-CN" sz="2200" i="1">
                                <a:latin typeface="Cambria Math" panose="02040503050406030204" pitchFamily="18" charset="0"/>
                                <a:cs typeface="Cambria Math" panose="02040503050406030204" pitchFamily="18" charset="0"/>
                              </a:rPr>
                              <m:t>𝑗</m:t>
                            </m:r>
                          </m:sub>
                        </m:sSub>
                        <m:d>
                          <m:dPr>
                            <m:ctrlPr>
                              <a:rPr lang="en-US" altLang="zh-CN" sz="2200" i="1">
                                <a:latin typeface="Cambria Math" panose="02040503050406030204" pitchFamily="18" charset="0"/>
                                <a:cs typeface="Cambria Math" panose="02040503050406030204" pitchFamily="18" charset="0"/>
                              </a:rPr>
                            </m:ctrlPr>
                          </m:dPr>
                          <m:e>
                            <m:sSup>
                              <m:sSupPr>
                                <m:ctrlPr>
                                  <a:rPr lang="en-US" altLang="zh-CN" sz="2200" i="1">
                                    <a:latin typeface="Cambria Math" panose="02040503050406030204" pitchFamily="18" charset="0"/>
                                    <a:cs typeface="Cambria Math" panose="02040503050406030204" pitchFamily="18" charset="0"/>
                                  </a:rPr>
                                </m:ctrlPr>
                              </m:sSupPr>
                              <m:e>
                                <m:r>
                                  <a:rPr lang="en-US" altLang="zh-CN" sz="2200" i="1">
                                    <a:latin typeface="Cambria Math" panose="02040503050406030204" pitchFamily="18" charset="0"/>
                                    <a:cs typeface="Cambria Math" panose="02040503050406030204" pitchFamily="18" charset="0"/>
                                  </a:rPr>
                                  <m:t>𝑥</m:t>
                                </m:r>
                              </m:e>
                              <m:sup>
                                <m:r>
                                  <a:rPr lang="en-US" altLang="zh-CN" sz="2200" i="1">
                                    <a:latin typeface="Cambria Math" panose="02040503050406030204" pitchFamily="18" charset="0"/>
                                    <a:cs typeface="Cambria Math" panose="02040503050406030204" pitchFamily="18" charset="0"/>
                                  </a:rPr>
                                  <m:t>∗</m:t>
                                </m:r>
                              </m:sup>
                            </m:sSup>
                          </m:e>
                        </m:d>
                      </m:e>
                    </m:d>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0</m:t>
                    </m:r>
                  </m:oMath>
                </a14:m>
                <a:r>
                  <a:rPr lang="zh-CN" altLang="en-US" sz="2200" dirty="0">
                    <a:latin typeface="Cambria Math" panose="02040503050406030204" pitchFamily="18" charset="0"/>
                    <a:cs typeface="Cambria Math" panose="02040503050406030204" pitchFamily="18" charset="0"/>
                  </a:rPr>
                  <a:t>，即</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𝐻</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oMath>
                </a14:m>
                <a:r>
                  <a:rPr lang="zh-CN" altLang="en-US" sz="2200" dirty="0">
                    <a:latin typeface="Cambria Math" panose="02040503050406030204" pitchFamily="18" charset="0"/>
                    <a:cs typeface="Cambria Math" panose="02040503050406030204" pitchFamily="18" charset="0"/>
                  </a:rPr>
                  <a:t>。</a:t>
                </a:r>
                <a:endParaRPr lang="zh-CN" altLang="en-US" sz="2200" dirty="0">
                  <a:latin typeface="Cambria Math" panose="02040503050406030204" pitchFamily="18" charset="0"/>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323528" y="541382"/>
                <a:ext cx="8126867" cy="5775235"/>
              </a:xfrm>
              <a:prstGeom prst="rect">
                <a:avLst/>
              </a:prstGeom>
              <a:blipFill rotWithShape="1">
                <a:blip r:embed="rId1"/>
                <a:stretch>
                  <a:fillRect l="-4" t="-6" r="6" b="5"/>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296525" y="404664"/>
                <a:ext cx="8550949" cy="6276718"/>
              </a:xfrm>
              <a:prstGeom prst="rect">
                <a:avLst/>
              </a:prstGeom>
              <a:noFill/>
            </p:spPr>
            <p:txBody>
              <a:bodyPr wrap="square" rtlCol="0">
                <a:spAutoFit/>
              </a:bodyPr>
              <a:lstStyle/>
              <a:p>
                <a:pPr latinLnBrk="0">
                  <a:lnSpc>
                    <a:spcPct val="150000"/>
                  </a:lnSpc>
                </a:pPr>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因此</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MS Mincho" panose="02020609040205080304" charset="-128"/>
                            <a:cs typeface="Cambria Math" panose="02040503050406030204" pitchFamily="18" charset="0"/>
                          </a:rPr>
                          <m:t>∗</m:t>
                        </m:r>
                      </m:sup>
                    </m:sSup>
                  </m:oMath>
                </a14:m>
                <a:r>
                  <a:rPr lang="zh-CN" altLang="en-US" sz="2200" dirty="0">
                    <a:latin typeface="宋体" panose="02010600030101010101" pitchFamily="2" charset="-122"/>
                    <a:ea typeface="宋体" panose="02010600030101010101" pitchFamily="2" charset="-122"/>
                    <a:cs typeface="宋体" panose="02010600030101010101" pitchFamily="2" charset="-122"/>
                  </a:rPr>
                  <a:t>不仅是无约束问题的极小解，它也是约束问题</a:t>
                </a:r>
                <a14:m>
                  <m:oMath xmlns:m="http://schemas.openxmlformats.org/officeDocument/2006/math">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𝐸𝑃</m:t>
                        </m:r>
                      </m:e>
                    </m:d>
                  </m:oMath>
                </a14:m>
                <a:r>
                  <a:rPr lang="zh-CN" altLang="en-US" sz="2200" dirty="0">
                    <a:latin typeface="宋体" panose="02010600030101010101" pitchFamily="2" charset="-122"/>
                    <a:ea typeface="宋体" panose="02010600030101010101" pitchFamily="2" charset="-122"/>
                    <a:cs typeface="宋体" panose="02010600030101010101" pitchFamily="2" charset="-122"/>
                  </a:rPr>
                  <a:t>的极小解，因此我们就将约束问题</a:t>
                </a:r>
                <a14:m>
                  <m:oMath xmlns:m="http://schemas.openxmlformats.org/officeDocument/2006/math">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𝐸𝑃</m:t>
                        </m:r>
                      </m:e>
                    </m:d>
                  </m:oMath>
                </a14:m>
                <a:r>
                  <a:rPr lang="zh-CN" altLang="en-US" sz="2200" dirty="0">
                    <a:latin typeface="宋体" panose="02010600030101010101" pitchFamily="2" charset="-122"/>
                    <a:ea typeface="宋体" panose="02010600030101010101" pitchFamily="2" charset="-122"/>
                    <a:cs typeface="宋体" panose="02010600030101010101" pitchFamily="2" charset="-122"/>
                  </a:rPr>
                  <a:t>的求解化为无约束问题的求解。</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pPr latinLnBrk="0">
                  <a:lnSpc>
                    <a:spcPct val="150000"/>
                  </a:lnSpc>
                </a:pPr>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但是上述函数</a:t>
                </a:r>
                <a14:m>
                  <m:oMath xmlns:m="http://schemas.openxmlformats.org/officeDocument/2006/math">
                    <m:r>
                      <a:rPr lang="zh-CN" altLang="en-US" sz="2200">
                        <a:latin typeface="Cambria Math" panose="02040503050406030204" pitchFamily="18" charset="0"/>
                        <a:ea typeface="宋体" panose="02010600030101010101" pitchFamily="2" charset="-122"/>
                        <a:cs typeface="宋体" panose="02010600030101010101" pitchFamily="2" charset="-122"/>
                      </a:rPr>
                      <m:t>𝜓</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的性态不好，它在</a:t>
                </a:r>
                <a14:m>
                  <m:oMath xmlns:m="http://schemas.openxmlformats.org/officeDocument/2006/math">
                    <m:r>
                      <a:rPr lang="en-US" altLang="zh-CN" sz="2200" i="1">
                        <a:latin typeface="Cambria Math" panose="02040503050406030204" pitchFamily="18" charset="0"/>
                        <a:ea typeface="MS Mincho" panose="02020609040205080304" charset="-128"/>
                        <a:cs typeface="Cambria Math" panose="02040503050406030204" pitchFamily="18" charset="0"/>
                      </a:rPr>
                      <m:t>𝑡</m:t>
                    </m:r>
                    <m:r>
                      <a:rPr lang="en-US" altLang="zh-CN" sz="2200">
                        <a:latin typeface="Cambria Math" panose="02040503050406030204" pitchFamily="18" charset="0"/>
                        <a:ea typeface="宋体" panose="02010600030101010101" pitchFamily="2" charset="-122"/>
                        <a:cs typeface="Cambria Math" panose="02040503050406030204" pitchFamily="18" charset="0"/>
                      </a:rPr>
                      <m:t>=</m:t>
                    </m:r>
                    <m:r>
                      <a:rPr lang="en-US" altLang="zh-CN" sz="2200">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点不连续，也没有导数。我们希望构造出一个在任意点处具有连续导数的辅助函数。为此，我们选择如下的函数：</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pPr latinLnBrk="0">
                  <a:lnSpc>
                    <a:spcPct val="12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cs typeface="Cambria Math" panose="02040503050406030204" pitchFamily="18" charset="0"/>
                        </a:rPr>
                        <m:t>𝜓</m:t>
                      </m:r>
                      <m:d>
                        <m:dPr>
                          <m:ctrlPr>
                            <a:rPr lang="en-US" altLang="zh-CN" sz="2200" i="1">
                              <a:latin typeface="Cambria Math" panose="02040503050406030204" pitchFamily="18" charset="0"/>
                              <a:cs typeface="Cambria Math" panose="02040503050406030204" pitchFamily="18" charset="0"/>
                            </a:rPr>
                          </m:ctrlPr>
                        </m:dPr>
                        <m:e>
                          <m:r>
                            <a:rPr lang="en-US" altLang="zh-CN" sz="2200" i="1">
                              <a:latin typeface="Cambria Math" panose="02040503050406030204" pitchFamily="18" charset="0"/>
                              <a:cs typeface="Cambria Math" panose="02040503050406030204" pitchFamily="18" charset="0"/>
                            </a:rPr>
                            <m:t>𝑡</m:t>
                          </m:r>
                        </m:e>
                      </m:d>
                      <m:r>
                        <a:rPr lang="en-US" altLang="zh-CN" sz="2200" i="1">
                          <a:latin typeface="Cambria Math" panose="02040503050406030204" pitchFamily="18" charset="0"/>
                          <a:cs typeface="Cambria Math" panose="02040503050406030204" pitchFamily="18" charset="0"/>
                        </a:rPr>
                        <m:t>=</m:t>
                      </m:r>
                      <m:d>
                        <m:dPr>
                          <m:begChr m:val="{"/>
                          <m:endChr m:val=""/>
                          <m:ctrlPr>
                            <a:rPr lang="en-US" altLang="zh-CN" sz="2200" i="1">
                              <a:latin typeface="Cambria Math" panose="02040503050406030204" pitchFamily="18" charset="0"/>
                              <a:cs typeface="Cambria Math" panose="02040503050406030204" pitchFamily="18" charset="0"/>
                            </a:rPr>
                          </m:ctrlPr>
                        </m:dPr>
                        <m:e>
                          <m:eqArr>
                            <m:eqArrPr>
                              <m:ctrlPr>
                                <a:rPr lang="en-US" altLang="zh-CN" sz="2200" i="1">
                                  <a:latin typeface="Cambria Math" panose="02040503050406030204" pitchFamily="18" charset="0"/>
                                  <a:cs typeface="Cambria Math" panose="02040503050406030204" pitchFamily="18" charset="0"/>
                                </a:rPr>
                              </m:ctrlPr>
                            </m:eqArrPr>
                            <m:e>
                              <m:r>
                                <a:rPr lang="en-US" altLang="zh-CN" sz="2200" i="1">
                                  <a:latin typeface="Cambria Math" panose="02040503050406030204" pitchFamily="18" charset="0"/>
                                  <a:cs typeface="Cambria Math" panose="02040503050406030204" pitchFamily="18" charset="0"/>
                                </a:rPr>
                                <m:t>0</m:t>
                              </m:r>
                              <m:r>
                                <a:rPr lang="en-US" altLang="zh-CN" sz="2200" i="1">
                                  <a:latin typeface="Cambria Math" panose="02040503050406030204" pitchFamily="18" charset="0"/>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r>
                                <a:rPr lang="en-US" altLang="zh-CN" sz="2200" i="1">
                                  <a:latin typeface="Cambria Math" panose="02040503050406030204" pitchFamily="18" charset="0"/>
                                  <a:ea typeface="MS Mincho" panose="02020609040205080304" charset="-128"/>
                                  <a:cs typeface="Cambria Math" panose="02040503050406030204" pitchFamily="18" charset="0"/>
                                </a:rPr>
                                <m:t>𝑡</m:t>
                              </m:r>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0</m:t>
                              </m:r>
                            </m:e>
                            <m:e>
                              <m:sSup>
                                <m:sSupPr>
                                  <m:ctrlPr>
                                    <a:rPr lang="en-US" altLang="zh-CN" sz="2200" i="1">
                                      <a:latin typeface="Cambria Math" panose="02040503050406030204" pitchFamily="18" charset="0"/>
                                      <a:ea typeface="MS Mincho" panose="02020609040205080304" charset="-128"/>
                                      <a:cs typeface="Cambria Math" panose="02040503050406030204" pitchFamily="18" charset="0"/>
                                    </a:rPr>
                                  </m:ctrlPr>
                                </m:sSupPr>
                                <m:e>
                                  <m:r>
                                    <a:rPr lang="en-US" altLang="zh-CN" sz="2200" i="1">
                                      <a:latin typeface="Cambria Math" panose="02040503050406030204" pitchFamily="18" charset="0"/>
                                      <a:ea typeface="MS Mincho" panose="02020609040205080304" charset="-128"/>
                                      <a:cs typeface="Cambria Math" panose="02040503050406030204" pitchFamily="18" charset="0"/>
                                    </a:rPr>
                                    <m:t>𝑡</m:t>
                                  </m:r>
                                </m:e>
                                <m:sup>
                                  <m:r>
                                    <a:rPr lang="en-US" altLang="zh-CN" sz="2200" i="1">
                                      <a:latin typeface="Cambria Math" panose="02040503050406030204" pitchFamily="18" charset="0"/>
                                      <a:ea typeface="MS Mincho" panose="02020609040205080304" charset="-128"/>
                                      <a:cs typeface="Cambria Math" panose="02040503050406030204" pitchFamily="18" charset="0"/>
                                    </a:rPr>
                                    <m:t>2</m:t>
                                  </m:r>
                                </m:sup>
                              </m:sSup>
                              <m:r>
                                <a:rPr lang="en-US" altLang="zh-CN" sz="2200" i="1">
                                  <a:latin typeface="Cambria Math" panose="02040503050406030204" pitchFamily="18" charset="0"/>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r>
                                <a:rPr lang="en-US" altLang="zh-CN" sz="2200" i="1">
                                  <a:latin typeface="Cambria Math" panose="02040503050406030204" pitchFamily="18" charset="0"/>
                                  <a:cs typeface="Cambria Math" panose="02040503050406030204" pitchFamily="18" charset="0"/>
                                </a:rPr>
                                <m:t> </m:t>
                              </m:r>
                              <m:r>
                                <a:rPr lang="en-US" altLang="zh-CN" sz="2200" i="1">
                                  <a:latin typeface="Cambria Math" panose="02040503050406030204" pitchFamily="18" charset="0"/>
                                  <a:cs typeface="Cambria Math" panose="02040503050406030204" pitchFamily="18" charset="0"/>
                                </a:rPr>
                                <m:t>𝑡</m:t>
                              </m:r>
                              <m:r>
                                <a:rPr lang="en-US" altLang="zh-CN" sz="2200" i="1">
                                  <a:latin typeface="Cambria Math" panose="02040503050406030204" pitchFamily="18" charset="0"/>
                                  <a:cs typeface="Cambria Math" panose="02040503050406030204" pitchFamily="18" charset="0"/>
                                </a:rPr>
                                <m:t>&lt;</m:t>
                              </m:r>
                              <m:r>
                                <a:rPr lang="en-US" altLang="zh-CN" sz="2200" i="1">
                                  <a:latin typeface="Cambria Math" panose="02040503050406030204" pitchFamily="18" charset="0"/>
                                  <a:cs typeface="Cambria Math" panose="02040503050406030204" pitchFamily="18" charset="0"/>
                                </a:rPr>
                                <m:t>0</m:t>
                              </m:r>
                            </m:e>
                          </m:eqArr>
                        </m:e>
                      </m:d>
                    </m:oMath>
                  </m:oMathPara>
                </a14:m>
                <a:endParaRPr lang="en-US" altLang="zh-CN" sz="2200" i="1" dirty="0">
                  <a:latin typeface="Cambria Math" panose="02040503050406030204" pitchFamily="18" charset="0"/>
                  <a:cs typeface="Cambria Math" panose="02040503050406030204" pitchFamily="18" charset="0"/>
                </a:endParaRPr>
              </a:p>
              <a:p>
                <a:pPr latinLnBrk="0">
                  <a:lnSpc>
                    <a:spcPct val="120000"/>
                  </a:lnSpc>
                </a:pPr>
                <a14:m>
                  <m:oMath xmlns:m="http://schemas.openxmlformats.org/officeDocument/2006/math">
                    <m:r>
                      <a:rPr lang="zh-CN" altLang="en-US" sz="2200">
                        <a:latin typeface="Cambria Math" panose="02040503050406030204" pitchFamily="18" charset="0"/>
                        <a:ea typeface="宋体" panose="02010600030101010101" pitchFamily="2" charset="-122"/>
                        <a:cs typeface="宋体" panose="02010600030101010101" pitchFamily="2" charset="-122"/>
                      </a:rPr>
                      <m:t>𝜓</m:t>
                    </m:r>
                    <m:d>
                      <m:dPr>
                        <m:ctrlPr>
                          <a:rPr lang="zh-CN" altLang="en-US" sz="2200" i="1">
                            <a:latin typeface="Cambria Math" panose="02040503050406030204" pitchFamily="18" charset="0"/>
                            <a:ea typeface="宋体" panose="02010600030101010101" pitchFamily="2" charset="-122"/>
                            <a:cs typeface="宋体" panose="02010600030101010101" pitchFamily="2" charset="-122"/>
                          </a:rPr>
                        </m:ctrlPr>
                      </m:dPr>
                      <m:e>
                        <m:r>
                          <a:rPr lang="zh-CN" altLang="en-US" sz="2200">
                            <a:latin typeface="Cambria Math" panose="02040503050406030204" pitchFamily="18" charset="0"/>
                            <a:ea typeface="宋体" panose="02010600030101010101" pitchFamily="2" charset="-122"/>
                            <a:cs typeface="宋体" panose="02010600030101010101" pitchFamily="2" charset="-122"/>
                          </a:rPr>
                          <m:t>𝑡</m:t>
                        </m:r>
                      </m:e>
                    </m:d>
                  </m:oMath>
                </a14:m>
                <a:r>
                  <a:rPr lang="zh-CN" altLang="en-US" sz="2200" dirty="0">
                    <a:latin typeface="宋体" panose="02010600030101010101" pitchFamily="2" charset="-122"/>
                    <a:ea typeface="宋体" panose="02010600030101010101" pitchFamily="2" charset="-122"/>
                    <a:cs typeface="宋体" panose="02010600030101010101" pitchFamily="2" charset="-122"/>
                  </a:rPr>
                  <a:t>与</a:t>
                </a:r>
                <a14:m>
                  <m:oMath xmlns:m="http://schemas.openxmlformats.org/officeDocument/2006/math">
                    <m:sSup>
                      <m:sSupPr>
                        <m:ctrlPr>
                          <a:rPr lang="zh-CN" altLang="en-US" sz="2200" i="1">
                            <a:latin typeface="Cambria Math" panose="02040503050406030204" pitchFamily="18" charset="0"/>
                            <a:ea typeface="宋体" panose="02010600030101010101" pitchFamily="2" charset="-122"/>
                            <a:cs typeface="宋体" panose="02010600030101010101" pitchFamily="2" charset="-122"/>
                          </a:rPr>
                        </m:ctrlPr>
                      </m:sSupPr>
                      <m:e>
                        <m:r>
                          <a:rPr lang="zh-CN" altLang="en-US" sz="2200">
                            <a:latin typeface="Cambria Math" panose="02040503050406030204" pitchFamily="18" charset="0"/>
                            <a:ea typeface="宋体" panose="02010600030101010101" pitchFamily="2" charset="-122"/>
                            <a:cs typeface="宋体" panose="02010600030101010101" pitchFamily="2" charset="-122"/>
                          </a:rPr>
                          <m:t>𝜓</m:t>
                        </m:r>
                      </m:e>
                      <m:sup>
                        <m:r>
                          <a:rPr lang="en-US" altLang="zh-CN" sz="2200" i="1">
                            <a:latin typeface="Cambria Math" panose="02040503050406030204" pitchFamily="18" charset="0"/>
                            <a:ea typeface="宋体" panose="02010600030101010101" pitchFamily="2" charset="-122"/>
                            <a:cs typeface="宋体" panose="02010600030101010101" pitchFamily="2" charset="-122"/>
                          </a:rPr>
                          <m:t>′</m:t>
                        </m:r>
                      </m:sup>
                    </m:sSup>
                    <m:r>
                      <a:rPr lang="zh-CN" altLang="en-US" sz="2200">
                        <a:latin typeface="Cambria Math" panose="02040503050406030204" pitchFamily="18" charset="0"/>
                        <a:ea typeface="宋体" panose="02010600030101010101" pitchFamily="2" charset="-122"/>
                        <a:cs typeface="宋体" panose="02010600030101010101" pitchFamily="2" charset="-122"/>
                      </a:rPr>
                      <m:t>(</m:t>
                    </m:r>
                    <m:r>
                      <a:rPr lang="zh-CN" altLang="en-US" sz="2200">
                        <a:latin typeface="Cambria Math" panose="02040503050406030204" pitchFamily="18" charset="0"/>
                        <a:ea typeface="宋体" panose="02010600030101010101" pitchFamily="2" charset="-122"/>
                        <a:cs typeface="宋体" panose="02010600030101010101" pitchFamily="2" charset="-122"/>
                      </a:rPr>
                      <m:t>𝑡</m:t>
                    </m:r>
                    <m:r>
                      <a:rPr lang="zh-CN" altLang="en-US" sz="2200">
                        <a:latin typeface="Cambria Math" panose="02040503050406030204" pitchFamily="18" charset="0"/>
                        <a:ea typeface="宋体" panose="02010600030101010101" pitchFamily="2" charset="-122"/>
                        <a:cs typeface="宋体" panose="02010600030101010101" pitchFamily="2" charset="-122"/>
                      </a:rPr>
                      <m:t>)</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都连续，且当</a:t>
                </a:r>
                <a14:m>
                  <m:oMath xmlns:m="http://schemas.openxmlformats.org/officeDocument/2006/math">
                    <m:r>
                      <a:rPr lang="zh-CN" altLang="en-US" sz="2200">
                        <a:latin typeface="Cambria Math" panose="02040503050406030204" pitchFamily="18" charset="0"/>
                        <a:ea typeface="宋体" panose="02010600030101010101" pitchFamily="2" charset="-122"/>
                        <a:cs typeface="宋体" panose="02010600030101010101" pitchFamily="2" charset="-122"/>
                      </a:rPr>
                      <m:t>𝑥</m:t>
                    </m:r>
                    <m:r>
                      <a:rPr lang="zh-CN" altLang="en-US" sz="2200">
                        <a:latin typeface="Cambria Math" panose="02040503050406030204" pitchFamily="18" charset="0"/>
                        <a:ea typeface="宋体" panose="02010600030101010101" pitchFamily="2" charset="-122"/>
                        <a:cs typeface="宋体" panose="02010600030101010101" pitchFamily="2" charset="-122"/>
                      </a:rPr>
                      <m:t>∈</m:t>
                    </m:r>
                    <m:r>
                      <a:rPr lang="zh-CN" altLang="en-US" sz="2200">
                        <a:latin typeface="Cambria Math" panose="02040503050406030204" pitchFamily="18" charset="0"/>
                        <a:ea typeface="宋体" panose="02010600030101010101" pitchFamily="2" charset="-122"/>
                        <a:cs typeface="宋体" panose="02010600030101010101" pitchFamily="2" charset="-122"/>
                      </a:rPr>
                      <m:t>𝐻</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时有</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nary>
                        <m:naryPr>
                          <m:chr m:val="∑"/>
                          <m:limLoc m:val="undOvr"/>
                          <m:ctrlPr>
                            <a:rPr lang="zh-CN" altLang="en-US" sz="2200" i="1">
                              <a:latin typeface="Cambria Math" panose="02040503050406030204" pitchFamily="18" charset="0"/>
                              <a:ea typeface="宋体" panose="02010600030101010101" pitchFamily="2" charset="-122"/>
                              <a:cs typeface="宋体" panose="02010600030101010101" pitchFamily="2" charset="-122"/>
                            </a:rPr>
                          </m:ctrlPr>
                        </m:naryPr>
                        <m:sub>
                          <m:r>
                            <a:rPr lang="zh-CN" altLang="en-US" sz="2200">
                              <a:latin typeface="Cambria Math" panose="02040503050406030204" pitchFamily="18" charset="0"/>
                              <a:ea typeface="宋体" panose="02010600030101010101" pitchFamily="2" charset="-122"/>
                              <a:cs typeface="宋体" panose="02010600030101010101" pitchFamily="2" charset="-122"/>
                            </a:rPr>
                            <m:t>𝑗</m:t>
                          </m:r>
                          <m:r>
                            <a:rPr lang="zh-CN" altLang="en-US" sz="2200">
                              <a:latin typeface="Cambria Math" panose="02040503050406030204" pitchFamily="18" charset="0"/>
                              <a:ea typeface="宋体" panose="02010600030101010101" pitchFamily="2" charset="-122"/>
                              <a:cs typeface="宋体" panose="02010600030101010101" pitchFamily="2" charset="-122"/>
                            </a:rPr>
                            <m:t>=</m:t>
                          </m:r>
                          <m:r>
                            <a:rPr lang="zh-CN" altLang="en-US" sz="2200">
                              <a:latin typeface="Cambria Math" panose="02040503050406030204" pitchFamily="18" charset="0"/>
                              <a:ea typeface="宋体" panose="02010600030101010101" pitchFamily="2" charset="-122"/>
                              <a:cs typeface="宋体" panose="02010600030101010101" pitchFamily="2" charset="-122"/>
                            </a:rPr>
                            <m:t>1</m:t>
                          </m:r>
                        </m:sub>
                        <m:sup>
                          <m:r>
                            <a:rPr lang="zh-CN" altLang="en-US" sz="2200">
                              <a:latin typeface="Cambria Math" panose="02040503050406030204" pitchFamily="18" charset="0"/>
                              <a:ea typeface="宋体" panose="02010600030101010101" pitchFamily="2" charset="-122"/>
                              <a:cs typeface="宋体" panose="02010600030101010101" pitchFamily="2" charset="-122"/>
                            </a:rPr>
                            <m:t>𝑙</m:t>
                          </m:r>
                        </m:sup>
                        <m:e>
                          <m:r>
                            <a:rPr lang="zh-CN" altLang="en-US" sz="2200">
                              <a:latin typeface="Cambria Math" panose="02040503050406030204" pitchFamily="18" charset="0"/>
                              <a:ea typeface="宋体" panose="02010600030101010101" pitchFamily="2" charset="-122"/>
                              <a:cs typeface="宋体" panose="02010600030101010101" pitchFamily="2" charset="-122"/>
                            </a:rPr>
                            <m:t>𝜓</m:t>
                          </m:r>
                          <m:d>
                            <m:dPr>
                              <m:ctrlPr>
                                <a:rPr lang="zh-CN" altLang="en-US" sz="2200" i="1">
                                  <a:latin typeface="Cambria Math" panose="02040503050406030204" pitchFamily="18" charset="0"/>
                                  <a:ea typeface="宋体" panose="02010600030101010101" pitchFamily="2" charset="-122"/>
                                  <a:cs typeface="宋体" panose="02010600030101010101" pitchFamily="2" charset="-122"/>
                                </a:rPr>
                              </m:ctrlPr>
                            </m:dPr>
                            <m:e>
                              <m:sSub>
                                <m:sSubPr>
                                  <m:ctrlPr>
                                    <a:rPr lang="zh-CN" altLang="en-US" sz="2200" i="1">
                                      <a:latin typeface="Cambria Math" panose="02040503050406030204" pitchFamily="18" charset="0"/>
                                      <a:ea typeface="宋体" panose="02010600030101010101" pitchFamily="2" charset="-122"/>
                                      <a:cs typeface="宋体" panose="02010600030101010101" pitchFamily="2" charset="-122"/>
                                    </a:rPr>
                                  </m:ctrlPr>
                                </m:sSubPr>
                                <m:e>
                                  <m:r>
                                    <a:rPr lang="zh-CN" altLang="en-US" sz="2200">
                                      <a:latin typeface="Cambria Math" panose="02040503050406030204" pitchFamily="18" charset="0"/>
                                      <a:ea typeface="宋体" panose="02010600030101010101" pitchFamily="2" charset="-122"/>
                                      <a:cs typeface="宋体" panose="02010600030101010101" pitchFamily="2" charset="-122"/>
                                    </a:rPr>
                                    <m:t>𝑔</m:t>
                                  </m:r>
                                </m:e>
                                <m:sub>
                                  <m:r>
                                    <a:rPr lang="zh-CN" altLang="en-US" sz="2200">
                                      <a:latin typeface="Cambria Math" panose="02040503050406030204" pitchFamily="18" charset="0"/>
                                      <a:ea typeface="宋体" panose="02010600030101010101" pitchFamily="2" charset="-122"/>
                                      <a:cs typeface="宋体" panose="02010600030101010101" pitchFamily="2" charset="-122"/>
                                    </a:rPr>
                                    <m:t>𝑗</m:t>
                                  </m:r>
                                </m:sub>
                              </m:sSub>
                              <m:d>
                                <m:dPr>
                                  <m:ctrlPr>
                                    <a:rPr lang="zh-CN" altLang="en-US" sz="2200" i="1">
                                      <a:latin typeface="Cambria Math" panose="02040503050406030204" pitchFamily="18" charset="0"/>
                                      <a:ea typeface="宋体" panose="02010600030101010101" pitchFamily="2" charset="-122"/>
                                      <a:cs typeface="宋体" panose="02010600030101010101" pitchFamily="2" charset="-122"/>
                                    </a:rPr>
                                  </m:ctrlPr>
                                </m:dPr>
                                <m:e>
                                  <m:r>
                                    <a:rPr lang="zh-CN" altLang="en-US" sz="2200">
                                      <a:latin typeface="Cambria Math" panose="02040503050406030204" pitchFamily="18" charset="0"/>
                                      <a:ea typeface="宋体" panose="02010600030101010101" pitchFamily="2" charset="-122"/>
                                      <a:cs typeface="宋体" panose="02010600030101010101" pitchFamily="2" charset="-122"/>
                                    </a:rPr>
                                    <m:t>𝑥</m:t>
                                  </m:r>
                                </m:e>
                              </m:d>
                            </m:e>
                          </m:d>
                        </m:e>
                      </m:nary>
                      <m:r>
                        <a:rPr lang="zh-CN" altLang="en-US" sz="2200">
                          <a:latin typeface="Cambria Math" panose="02040503050406030204" pitchFamily="18" charset="0"/>
                          <a:ea typeface="宋体" panose="02010600030101010101" pitchFamily="2" charset="-122"/>
                          <a:cs typeface="宋体" panose="02010600030101010101" pitchFamily="2" charset="-122"/>
                        </a:rPr>
                        <m:t>=</m:t>
                      </m:r>
                      <m:r>
                        <a:rPr lang="zh-CN" altLang="en-US" sz="2200">
                          <a:latin typeface="Cambria Math" panose="02040503050406030204" pitchFamily="18" charset="0"/>
                          <a:ea typeface="宋体" panose="02010600030101010101" pitchFamily="2" charset="-122"/>
                          <a:cs typeface="宋体" panose="02010600030101010101" pitchFamily="2" charset="-122"/>
                        </a:rPr>
                        <m:t>0</m:t>
                      </m:r>
                    </m:oMath>
                  </m:oMathPara>
                </a14:m>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r>
                  <a:rPr lang="zh-CN" altLang="en-US" sz="2200" dirty="0">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r>
                      <a:rPr lang="zh-CN" altLang="en-US" sz="2200">
                        <a:latin typeface="Cambria Math" panose="02040503050406030204" pitchFamily="18" charset="0"/>
                        <a:ea typeface="宋体" panose="02010600030101010101" pitchFamily="2" charset="-122"/>
                        <a:cs typeface="宋体" panose="02010600030101010101" pitchFamily="2" charset="-122"/>
                      </a:rPr>
                      <m:t>𝑥</m:t>
                    </m:r>
                    <m:r>
                      <a:rPr lang="zh-CN" altLang="en-US" sz="2200">
                        <a:latin typeface="Cambria Math" panose="02040503050406030204" pitchFamily="18" charset="0"/>
                        <a:ea typeface="宋体" panose="02010600030101010101" pitchFamily="2" charset="-122"/>
                        <a:cs typeface="宋体" panose="02010600030101010101" pitchFamily="2" charset="-122"/>
                      </a:rPr>
                      <m:t>∉</m:t>
                    </m:r>
                    <m:r>
                      <a:rPr lang="zh-CN" altLang="en-US" sz="2200">
                        <a:latin typeface="Cambria Math" panose="02040503050406030204" pitchFamily="18" charset="0"/>
                        <a:ea typeface="宋体" panose="02010600030101010101" pitchFamily="2" charset="-122"/>
                        <a:cs typeface="宋体" panose="02010600030101010101" pitchFamily="2" charset="-122"/>
                      </a:rPr>
                      <m:t>𝐻</m:t>
                    </m:r>
                  </m:oMath>
                </a14:m>
                <a:r>
                  <a:rPr lang="zh-CN" altLang="en-US" sz="2200" dirty="0">
                    <a:latin typeface="宋体" panose="02010600030101010101" pitchFamily="2" charset="-122"/>
                    <a:ea typeface="宋体" panose="02010600030101010101" pitchFamily="2" charset="-122"/>
                    <a:cs typeface="宋体" panose="02010600030101010101" pitchFamily="2" charset="-122"/>
                  </a:rPr>
                  <a:t>时</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cs typeface="Cambria Math" panose="02040503050406030204" pitchFamily="18" charset="0"/>
                        </a:rPr>
                        <m:t>0</m:t>
                      </m:r>
                      <m:r>
                        <a:rPr lang="en-US" altLang="zh-CN" sz="2200" i="1">
                          <a:latin typeface="Cambria Math" panose="02040503050406030204" pitchFamily="18" charset="0"/>
                          <a:cs typeface="Cambria Math" panose="02040503050406030204" pitchFamily="18" charset="0"/>
                        </a:rPr>
                        <m:t>&lt;</m:t>
                      </m:r>
                      <m:nary>
                        <m:naryPr>
                          <m:chr m:val="∑"/>
                          <m:limLoc m:val="undOvr"/>
                          <m:ctrlPr>
                            <a:rPr lang="en-US" altLang="zh-CN" sz="2200" i="1">
                              <a:latin typeface="Cambria Math" panose="02040503050406030204" pitchFamily="18" charset="0"/>
                              <a:cs typeface="Cambria Math" panose="02040503050406030204" pitchFamily="18" charset="0"/>
                            </a:rPr>
                          </m:ctrlPr>
                        </m:naryPr>
                        <m:sub>
                          <m:r>
                            <a:rPr lang="en-US" altLang="zh-CN" sz="2200" i="1">
                              <a:latin typeface="Cambria Math" panose="02040503050406030204" pitchFamily="18" charset="0"/>
                              <a:cs typeface="Cambria Math" panose="02040503050406030204" pitchFamily="18" charset="0"/>
                            </a:rPr>
                            <m:t>𝑗</m:t>
                          </m:r>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1</m:t>
                          </m:r>
                        </m:sub>
                        <m:sup>
                          <m:r>
                            <a:rPr lang="en-US" altLang="zh-CN" sz="2200" i="1">
                              <a:latin typeface="Cambria Math" panose="02040503050406030204" pitchFamily="18" charset="0"/>
                              <a:cs typeface="Cambria Math" panose="02040503050406030204" pitchFamily="18" charset="0"/>
                            </a:rPr>
                            <m:t>𝑙</m:t>
                          </m:r>
                        </m:sup>
                        <m:e>
                          <m:r>
                            <a:rPr lang="en-US" altLang="zh-CN" sz="2200" i="1">
                              <a:latin typeface="Cambria Math" panose="02040503050406030204" pitchFamily="18" charset="0"/>
                              <a:cs typeface="Cambria Math" panose="02040503050406030204" pitchFamily="18" charset="0"/>
                            </a:rPr>
                            <m:t>𝜓</m:t>
                          </m:r>
                          <m:d>
                            <m:dPr>
                              <m:ctrlPr>
                                <a:rPr lang="en-US" altLang="zh-CN" sz="2200" i="1">
                                  <a:latin typeface="Cambria Math" panose="02040503050406030204" pitchFamily="18" charset="0"/>
                                  <a:cs typeface="Cambria Math" panose="02040503050406030204" pitchFamily="18" charset="0"/>
                                </a:rPr>
                              </m:ctrlPr>
                            </m:dPr>
                            <m:e>
                              <m:sSub>
                                <m:sSubPr>
                                  <m:ctrlPr>
                                    <a:rPr lang="en-US" altLang="zh-CN" sz="2200" i="1">
                                      <a:latin typeface="Cambria Math" panose="02040503050406030204" pitchFamily="18" charset="0"/>
                                      <a:cs typeface="Cambria Math" panose="02040503050406030204" pitchFamily="18" charset="0"/>
                                    </a:rPr>
                                  </m:ctrlPr>
                                </m:sSubPr>
                                <m:e>
                                  <m:r>
                                    <a:rPr lang="en-US" altLang="zh-CN" sz="2200" i="1">
                                      <a:latin typeface="Cambria Math" panose="02040503050406030204" pitchFamily="18" charset="0"/>
                                      <a:cs typeface="Cambria Math" panose="02040503050406030204" pitchFamily="18" charset="0"/>
                                    </a:rPr>
                                    <m:t>𝑔</m:t>
                                  </m:r>
                                </m:e>
                                <m:sub>
                                  <m:r>
                                    <a:rPr lang="en-US" altLang="zh-CN" sz="2200" i="1">
                                      <a:latin typeface="Cambria Math" panose="02040503050406030204" pitchFamily="18" charset="0"/>
                                      <a:cs typeface="Cambria Math" panose="02040503050406030204" pitchFamily="18" charset="0"/>
                                    </a:rPr>
                                    <m:t>𝑗</m:t>
                                  </m:r>
                                </m:sub>
                              </m:sSub>
                              <m:d>
                                <m:dPr>
                                  <m:ctrlPr>
                                    <a:rPr lang="en-US" altLang="zh-CN" sz="2200" i="1">
                                      <a:latin typeface="Cambria Math" panose="02040503050406030204" pitchFamily="18" charset="0"/>
                                      <a:cs typeface="Cambria Math" panose="02040503050406030204" pitchFamily="18" charset="0"/>
                                    </a:rPr>
                                  </m:ctrlPr>
                                </m:dPr>
                                <m:e>
                                  <m:r>
                                    <a:rPr lang="en-US" altLang="zh-CN" sz="2200" i="1">
                                      <a:latin typeface="Cambria Math" panose="02040503050406030204" pitchFamily="18" charset="0"/>
                                      <a:cs typeface="Cambria Math" panose="02040503050406030204" pitchFamily="18" charset="0"/>
                                    </a:rPr>
                                    <m:t>𝑥</m:t>
                                  </m:r>
                                </m:e>
                              </m:d>
                            </m:e>
                          </m:d>
                        </m:e>
                      </m:nary>
                      <m:r>
                        <a:rPr lang="en-US" altLang="zh-CN" sz="2200" i="1">
                          <a:latin typeface="Cambria Math" panose="02040503050406030204" pitchFamily="18" charset="0"/>
                          <a:cs typeface="Cambria Math" panose="02040503050406030204" pitchFamily="18" charset="0"/>
                        </a:rPr>
                        <m:t>&lt;+∞</m:t>
                      </m:r>
                    </m:oMath>
                  </m:oMathPara>
                </a14:m>
                <a:endParaRPr lang="zh-CN" altLang="en-US" sz="2200" dirty="0">
                  <a:latin typeface="Cambria Math" panose="02040503050406030204" pitchFamily="18" charset="0"/>
                  <a:cs typeface="Cambria Math" panose="020405030504060302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296525" y="404664"/>
                <a:ext cx="8550949" cy="6276718"/>
              </a:xfrm>
              <a:prstGeom prst="rect">
                <a:avLst/>
              </a:prstGeom>
              <a:blipFill rotWithShape="1">
                <a:blip r:embed="rId1"/>
                <a:stretch>
                  <a:fillRect l="-7" t="-3" b="9"/>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284559" y="548680"/>
                <a:ext cx="8574881" cy="5683928"/>
              </a:xfrm>
              <a:prstGeom prst="rect">
                <a:avLst/>
              </a:prstGeom>
              <a:noFill/>
            </p:spPr>
            <p:txBody>
              <a:bodyPr wrap="square" rtlCol="0">
                <a:spAutoFit/>
              </a:bodyPr>
              <a:lstStyle/>
              <a:p>
                <a:r>
                  <a:rPr lang="en-US" altLang="zh-CN" sz="2300" dirty="0">
                    <a:latin typeface="宋体" panose="02010600030101010101" pitchFamily="2" charset="-122"/>
                    <a:ea typeface="宋体" panose="02010600030101010101" pitchFamily="2" charset="-122"/>
                    <a:cs typeface="宋体" panose="02010600030101010101" pitchFamily="2" charset="-122"/>
                  </a:rPr>
                  <a:t>	</a:t>
                </a:r>
                <a:r>
                  <a:rPr lang="zh-CN" altLang="en-US" sz="2300" dirty="0">
                    <a:latin typeface="宋体" panose="02010600030101010101" pitchFamily="2" charset="-122"/>
                    <a:ea typeface="宋体" panose="02010600030101010101" pitchFamily="2" charset="-122"/>
                    <a:cs typeface="宋体" panose="02010600030101010101" pitchFamily="2" charset="-122"/>
                  </a:rPr>
                  <a:t>引入一个充分大的正数</a:t>
                </a:r>
                <a14:m>
                  <m:oMath xmlns:m="http://schemas.openxmlformats.org/officeDocument/2006/math">
                    <m:r>
                      <a:rPr lang="en-US" altLang="zh-CN" sz="2300" i="1">
                        <a:latin typeface="Cambria Math" panose="02040503050406030204" pitchFamily="18" charset="0"/>
                        <a:cs typeface="Cambria Math" panose="02040503050406030204" pitchFamily="18" charset="0"/>
                      </a:rPr>
                      <m:t>𝑀</m:t>
                    </m:r>
                    <m:r>
                      <a:rPr lang="zh-CN" altLang="en-US" sz="2300">
                        <a:latin typeface="Cambria Math" panose="02040503050406030204" pitchFamily="18" charset="0"/>
                        <a:ea typeface="宋体" panose="02010600030101010101" pitchFamily="2" charset="-122"/>
                        <a:cs typeface="宋体" panose="02010600030101010101" pitchFamily="2" charset="-122"/>
                      </a:rPr>
                      <m:t>(</m:t>
                    </m:r>
                    <m:r>
                      <a:rPr lang="en-US" altLang="zh-CN" sz="2300" i="1">
                        <a:latin typeface="Cambria Math" panose="02040503050406030204" pitchFamily="18" charset="0"/>
                        <a:cs typeface="Cambria Math" panose="02040503050406030204" pitchFamily="18" charset="0"/>
                      </a:rPr>
                      <m:t>𝑀</m:t>
                    </m:r>
                    <m:r>
                      <a:rPr lang="zh-CN" altLang="en-US" sz="2300">
                        <a:latin typeface="Cambria Math" panose="02040503050406030204" pitchFamily="18" charset="0"/>
                        <a:ea typeface="宋体" panose="02010600030101010101" pitchFamily="2" charset="-122"/>
                        <a:cs typeface="宋体" panose="02010600030101010101" pitchFamily="2" charset="-122"/>
                      </a:rPr>
                      <m:t>&gt;</m:t>
                    </m:r>
                    <m:r>
                      <a:rPr lang="zh-CN" altLang="en-US" sz="2300">
                        <a:latin typeface="Cambria Math" panose="02040503050406030204" pitchFamily="18" charset="0"/>
                        <a:ea typeface="宋体" panose="02010600030101010101" pitchFamily="2" charset="-122"/>
                        <a:cs typeface="宋体" panose="02010600030101010101" pitchFamily="2" charset="-122"/>
                      </a:rPr>
                      <m:t>0</m:t>
                    </m:r>
                    <m:r>
                      <a:rPr lang="zh-CN" altLang="en-US" sz="2300">
                        <a:latin typeface="Cambria Math" panose="02040503050406030204" pitchFamily="18" charset="0"/>
                        <a:ea typeface="宋体" panose="02010600030101010101" pitchFamily="2" charset="-122"/>
                        <a:cs typeface="宋体" panose="02010600030101010101" pitchFamily="2" charset="-122"/>
                      </a:rPr>
                      <m:t>)</m:t>
                    </m:r>
                  </m:oMath>
                </a14:m>
                <a:r>
                  <a:rPr lang="zh-CN" altLang="en-US" sz="2300" dirty="0">
                    <a:latin typeface="宋体" panose="02010600030101010101" pitchFamily="2" charset="-122"/>
                    <a:ea typeface="宋体" panose="02010600030101010101" pitchFamily="2" charset="-122"/>
                    <a:cs typeface="宋体" panose="02010600030101010101" pitchFamily="2" charset="-122"/>
                  </a:rPr>
                  <a:t>，修改</a:t>
                </a:r>
                <a14:m>
                  <m:oMath xmlns:m="http://schemas.openxmlformats.org/officeDocument/2006/math">
                    <m:r>
                      <a:rPr lang="zh-CN" altLang="en-US" sz="2300">
                        <a:latin typeface="Cambria Math" panose="02040503050406030204" pitchFamily="18" charset="0"/>
                        <a:ea typeface="宋体" panose="02010600030101010101" pitchFamily="2" charset="-122"/>
                        <a:cs typeface="宋体" panose="02010600030101010101" pitchFamily="2" charset="-122"/>
                      </a:rPr>
                      <m:t>𝜑</m:t>
                    </m:r>
                    <m:d>
                      <m:dPr>
                        <m:ctrlPr>
                          <a:rPr lang="zh-CN" altLang="en-US" sz="2300" i="1">
                            <a:latin typeface="Cambria Math" panose="02040503050406030204" pitchFamily="18" charset="0"/>
                            <a:ea typeface="宋体" panose="02010600030101010101" pitchFamily="2" charset="-122"/>
                            <a:cs typeface="宋体" panose="02010600030101010101" pitchFamily="2" charset="-122"/>
                          </a:rPr>
                        </m:ctrlPr>
                      </m:dPr>
                      <m:e>
                        <m:r>
                          <a:rPr lang="zh-CN" altLang="en-US" sz="2300">
                            <a:latin typeface="Cambria Math" panose="02040503050406030204" pitchFamily="18" charset="0"/>
                            <a:ea typeface="宋体" panose="02010600030101010101" pitchFamily="2" charset="-122"/>
                            <a:cs typeface="宋体" panose="02010600030101010101" pitchFamily="2" charset="-122"/>
                          </a:rPr>
                          <m:t>𝑥</m:t>
                        </m:r>
                      </m:e>
                    </m:d>
                  </m:oMath>
                </a14:m>
                <a:r>
                  <a:rPr lang="zh-CN" altLang="en-US" sz="2300" dirty="0">
                    <a:latin typeface="宋体" panose="02010600030101010101" pitchFamily="2" charset="-122"/>
                    <a:ea typeface="宋体" panose="02010600030101010101" pitchFamily="2" charset="-122"/>
                    <a:cs typeface="宋体" panose="02010600030101010101" pitchFamily="2" charset="-122"/>
                  </a:rPr>
                  <a:t>为：</a:t>
                </a:r>
                <a:endParaRPr lang="zh-CN" altLang="en-US" sz="23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cs typeface="Cambria Math" panose="02040503050406030204" pitchFamily="18" charset="0"/>
                        </a:rPr>
                        <m:t>𝑝</m:t>
                      </m:r>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𝑀</m:t>
                          </m:r>
                        </m:e>
                      </m:d>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𝑓</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𝑀</m:t>
                      </m:r>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𝑗</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𝑙</m:t>
                          </m:r>
                        </m:sup>
                        <m:e>
                          <m:r>
                            <a:rPr lang="en-US" altLang="zh-CN" sz="2300" i="1">
                              <a:latin typeface="Cambria Math" panose="02040503050406030204" pitchFamily="18" charset="0"/>
                              <a:cs typeface="Cambria Math" panose="02040503050406030204" pitchFamily="18" charset="0"/>
                            </a:rPr>
                            <m:t>𝜓</m:t>
                          </m:r>
                          <m:d>
                            <m:dPr>
                              <m:ctrlPr>
                                <a:rPr lang="en-US" altLang="zh-CN" sz="2300" i="1">
                                  <a:latin typeface="Cambria Math" panose="02040503050406030204" pitchFamily="18" charset="0"/>
                                  <a:cs typeface="Cambria Math" panose="02040503050406030204" pitchFamily="18" charset="0"/>
                                </a:rPr>
                              </m:ctrlPr>
                            </m:dPr>
                            <m:e>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𝑔</m:t>
                                  </m:r>
                                </m:e>
                                <m:sub>
                                  <m:r>
                                    <a:rPr lang="en-US" altLang="zh-CN" sz="2300" i="1">
                                      <a:latin typeface="Cambria Math" panose="02040503050406030204" pitchFamily="18" charset="0"/>
                                      <a:cs typeface="Cambria Math" panose="02040503050406030204" pitchFamily="18" charset="0"/>
                                    </a:rPr>
                                    <m:t>𝑗</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e>
                          </m:d>
                        </m:e>
                      </m:nary>
                    </m:oMath>
                  </m:oMathPara>
                </a14:m>
                <a:endParaRPr lang="en-US" altLang="zh-CN" sz="2300" i="1" dirty="0">
                  <a:latin typeface="Cambria Math" panose="02040503050406030204" pitchFamily="18" charset="0"/>
                  <a:cs typeface="Cambria Math" panose="02040503050406030204" pitchFamily="18" charset="0"/>
                </a:endParaRPr>
              </a:p>
              <a:p>
                <a:pPr algn="l">
                  <a:buClrTx/>
                  <a:buSzTx/>
                  <a:buFontTx/>
                </a:pPr>
                <a:r>
                  <a:rPr lang="zh-CN" altLang="en-US" sz="2300" dirty="0">
                    <a:latin typeface="宋体" panose="02010600030101010101" pitchFamily="2" charset="-122"/>
                    <a:ea typeface="宋体" panose="02010600030101010101" pitchFamily="2" charset="-122"/>
                    <a:cs typeface="宋体" panose="02010600030101010101" pitchFamily="2" charset="-122"/>
                  </a:rPr>
                  <a:t>或等价地</a:t>
                </a:r>
                <a:endParaRPr lang="zh-CN" altLang="en-US" sz="2300" dirty="0">
                  <a:latin typeface="宋体" panose="02010600030101010101" pitchFamily="2" charset="-122"/>
                  <a:ea typeface="宋体" panose="02010600030101010101" pitchFamily="2" charset="-122"/>
                  <a:cs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cs typeface="Cambria Math" panose="02040503050406030204" pitchFamily="18" charset="0"/>
                        </a:rPr>
                        <m:t>𝑝</m:t>
                      </m:r>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𝑀</m:t>
                          </m:r>
                        </m:e>
                      </m:d>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𝑓</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𝑀</m:t>
                      </m:r>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𝑗</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𝑙</m:t>
                          </m:r>
                        </m:sup>
                        <m:e>
                          <m:sSup>
                            <m:sSupPr>
                              <m:ctrlPr>
                                <a:rPr lang="en-US" altLang="zh-CN" sz="2300" i="1">
                                  <a:latin typeface="Cambria Math" panose="02040503050406030204" pitchFamily="18" charset="0"/>
                                  <a:cs typeface="Cambria Math" panose="02040503050406030204" pitchFamily="18" charset="0"/>
                                </a:rPr>
                              </m:ctrlPr>
                            </m:sSupPr>
                            <m:e>
                              <m:d>
                                <m:dPr>
                                  <m:begChr m:val="["/>
                                  <m:endChr m:val="]"/>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𝑚𝑖𝑛</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0</m:t>
                                  </m:r>
                                  <m:r>
                                    <a:rPr lang="en-US" altLang="zh-CN" sz="2300" i="1">
                                      <a:latin typeface="Cambria Math" panose="02040503050406030204" pitchFamily="18" charset="0"/>
                                      <a:cs typeface="Cambria Math" panose="02040503050406030204" pitchFamily="18" charset="0"/>
                                    </a:rPr>
                                    <m:t>,</m:t>
                                  </m:r>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𝑔</m:t>
                                      </m:r>
                                    </m:e>
                                    <m:sub>
                                      <m:r>
                                        <a:rPr lang="en-US" altLang="zh-CN" sz="2300" i="1">
                                          <a:latin typeface="Cambria Math" panose="02040503050406030204" pitchFamily="18" charset="0"/>
                                          <a:cs typeface="Cambria Math" panose="02040503050406030204" pitchFamily="18" charset="0"/>
                                        </a:rPr>
                                        <m:t>𝑗</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r>
                                    <a:rPr lang="en-US" altLang="zh-CN" sz="2300" i="1">
                                      <a:latin typeface="Cambria Math" panose="02040503050406030204" pitchFamily="18" charset="0"/>
                                      <a:cs typeface="Cambria Math" panose="02040503050406030204" pitchFamily="18" charset="0"/>
                                    </a:rPr>
                                    <m:t>)</m:t>
                                  </m:r>
                                </m:e>
                              </m:d>
                            </m:e>
                            <m:sup>
                              <m:r>
                                <a:rPr lang="en-US" altLang="zh-CN" sz="2300" i="1">
                                  <a:latin typeface="Cambria Math" panose="02040503050406030204" pitchFamily="18" charset="0"/>
                                  <a:cs typeface="Cambria Math" panose="02040503050406030204" pitchFamily="18" charset="0"/>
                                </a:rPr>
                                <m:t>2</m:t>
                              </m:r>
                            </m:sup>
                          </m:sSup>
                        </m:e>
                      </m:nary>
                    </m:oMath>
                  </m:oMathPara>
                </a14:m>
                <a:endParaRPr lang="en-US" altLang="zh-CN" sz="2300" i="1" dirty="0">
                  <a:latin typeface="Cambria Math" panose="02040503050406030204" pitchFamily="18" charset="0"/>
                  <a:cs typeface="Cambria Math" panose="02040503050406030204" pitchFamily="18" charset="0"/>
                </a:endParaRPr>
              </a:p>
              <a:p>
                <a:pPr>
                  <a:lnSpc>
                    <a:spcPct val="150000"/>
                  </a:lnSpc>
                </a:pPr>
                <a:r>
                  <a:rPr lang="zh-CN" altLang="en-US" sz="2300" dirty="0">
                    <a:latin typeface="宋体" panose="02010600030101010101" pitchFamily="2" charset="-122"/>
                    <a:ea typeface="宋体" panose="02010600030101010101" pitchFamily="2" charset="-122"/>
                    <a:cs typeface="宋体" panose="02010600030101010101" pitchFamily="2" charset="-122"/>
                  </a:rPr>
                  <a:t>称函数</a:t>
                </a:r>
                <a14:m>
                  <m:oMath xmlns:m="http://schemas.openxmlformats.org/officeDocument/2006/math">
                    <m:r>
                      <a:rPr lang="zh-CN" altLang="en-US" sz="2300">
                        <a:latin typeface="Cambria Math" panose="02040503050406030204" pitchFamily="18" charset="0"/>
                        <a:ea typeface="宋体" panose="02010600030101010101" pitchFamily="2" charset="-122"/>
                        <a:cs typeface="宋体" panose="02010600030101010101" pitchFamily="2" charset="-122"/>
                      </a:rPr>
                      <m:t>𝑝</m:t>
                    </m:r>
                    <m:d>
                      <m:dPr>
                        <m:ctrlPr>
                          <a:rPr lang="zh-CN" altLang="en-US" sz="2300" i="1">
                            <a:latin typeface="Cambria Math" panose="02040503050406030204" pitchFamily="18" charset="0"/>
                            <a:ea typeface="宋体" panose="02010600030101010101" pitchFamily="2" charset="-122"/>
                            <a:cs typeface="宋体" panose="02010600030101010101" pitchFamily="2" charset="-122"/>
                          </a:rPr>
                        </m:ctrlPr>
                      </m:dPr>
                      <m:e>
                        <m:r>
                          <a:rPr lang="zh-CN" altLang="en-US" sz="2300">
                            <a:latin typeface="Cambria Math" panose="02040503050406030204" pitchFamily="18" charset="0"/>
                            <a:ea typeface="宋体" panose="02010600030101010101" pitchFamily="2" charset="-122"/>
                            <a:cs typeface="宋体" panose="02010600030101010101" pitchFamily="2" charset="-122"/>
                          </a:rPr>
                          <m:t>𝑥</m:t>
                        </m:r>
                        <m:r>
                          <a:rPr lang="zh-CN" altLang="en-US" sz="2300">
                            <a:latin typeface="Cambria Math" panose="02040503050406030204" pitchFamily="18" charset="0"/>
                            <a:ea typeface="宋体" panose="02010600030101010101" pitchFamily="2" charset="-122"/>
                            <a:cs typeface="宋体" panose="02010600030101010101" pitchFamily="2" charset="-122"/>
                          </a:rPr>
                          <m:t>,</m:t>
                        </m:r>
                        <m:r>
                          <a:rPr lang="zh-CN" altLang="en-US" sz="2300">
                            <a:latin typeface="Cambria Math" panose="02040503050406030204" pitchFamily="18" charset="0"/>
                            <a:ea typeface="宋体" panose="02010600030101010101" pitchFamily="2" charset="-122"/>
                            <a:cs typeface="宋体" panose="02010600030101010101" pitchFamily="2" charset="-122"/>
                          </a:rPr>
                          <m:t>𝑀</m:t>
                        </m:r>
                      </m:e>
                    </m:d>
                  </m:oMath>
                </a14:m>
                <a:r>
                  <a:rPr lang="zh-CN" altLang="en-US" sz="2300" dirty="0">
                    <a:latin typeface="宋体" panose="02010600030101010101" pitchFamily="2" charset="-122"/>
                    <a:ea typeface="宋体" panose="02010600030101010101" pitchFamily="2" charset="-122"/>
                    <a:cs typeface="宋体" panose="02010600030101010101" pitchFamily="2" charset="-122"/>
                  </a:rPr>
                  <a:t>为惩罚函数（或罚函数），其中第二项</a:t>
                </a:r>
                <a14:m>
                  <m:oMath xmlns:m="http://schemas.openxmlformats.org/officeDocument/2006/math">
                    <m:r>
                      <a:rPr lang="zh-CN" altLang="en-US" sz="2300">
                        <a:latin typeface="Cambria Math" panose="02040503050406030204" pitchFamily="18" charset="0"/>
                        <a:ea typeface="宋体" panose="02010600030101010101" pitchFamily="2" charset="-122"/>
                        <a:cs typeface="宋体" panose="02010600030101010101" pitchFamily="2" charset="-122"/>
                      </a:rPr>
                      <m:t>𝑀</m:t>
                    </m:r>
                    <m:nary>
                      <m:naryPr>
                        <m:chr m:val="∑"/>
                        <m:limLoc m:val="undOvr"/>
                        <m:ctrlPr>
                          <a:rPr lang="zh-CN" altLang="en-US" sz="2300" i="1">
                            <a:latin typeface="Cambria Math" panose="02040503050406030204" pitchFamily="18" charset="0"/>
                            <a:ea typeface="宋体" panose="02010600030101010101" pitchFamily="2" charset="-122"/>
                            <a:cs typeface="宋体" panose="02010600030101010101" pitchFamily="2" charset="-122"/>
                          </a:rPr>
                        </m:ctrlPr>
                      </m:naryPr>
                      <m:sub>
                        <m:r>
                          <a:rPr lang="zh-CN" altLang="en-US" sz="2300">
                            <a:latin typeface="Cambria Math" panose="02040503050406030204" pitchFamily="18" charset="0"/>
                            <a:ea typeface="宋体" panose="02010600030101010101" pitchFamily="2" charset="-122"/>
                            <a:cs typeface="宋体" panose="02010600030101010101" pitchFamily="2" charset="-122"/>
                          </a:rPr>
                          <m:t>𝑗</m:t>
                        </m:r>
                        <m:r>
                          <a:rPr lang="zh-CN" altLang="en-US" sz="2300">
                            <a:latin typeface="Cambria Math" panose="02040503050406030204" pitchFamily="18" charset="0"/>
                            <a:ea typeface="宋体" panose="02010600030101010101" pitchFamily="2" charset="-122"/>
                            <a:cs typeface="宋体" panose="02010600030101010101" pitchFamily="2" charset="-122"/>
                          </a:rPr>
                          <m:t>=</m:t>
                        </m:r>
                        <m:r>
                          <a:rPr lang="zh-CN" altLang="en-US" sz="2300">
                            <a:latin typeface="Cambria Math" panose="02040503050406030204" pitchFamily="18" charset="0"/>
                            <a:ea typeface="宋体" panose="02010600030101010101" pitchFamily="2" charset="-122"/>
                            <a:cs typeface="宋体" panose="02010600030101010101" pitchFamily="2" charset="-122"/>
                          </a:rPr>
                          <m:t>1</m:t>
                        </m:r>
                      </m:sub>
                      <m:sup>
                        <m:r>
                          <a:rPr lang="zh-CN" altLang="en-US" sz="2300">
                            <a:latin typeface="Cambria Math" panose="02040503050406030204" pitchFamily="18" charset="0"/>
                            <a:ea typeface="宋体" panose="02010600030101010101" pitchFamily="2" charset="-122"/>
                            <a:cs typeface="宋体" panose="02010600030101010101" pitchFamily="2" charset="-122"/>
                          </a:rPr>
                          <m:t>𝑙</m:t>
                        </m:r>
                      </m:sup>
                      <m:e>
                        <m:sSup>
                          <m:sSupPr>
                            <m:ctrlPr>
                              <a:rPr lang="zh-CN" altLang="en-US" sz="2300" i="1">
                                <a:latin typeface="Cambria Math" panose="02040503050406030204" pitchFamily="18" charset="0"/>
                                <a:ea typeface="宋体" panose="02010600030101010101" pitchFamily="2" charset="-122"/>
                                <a:cs typeface="宋体" panose="02010600030101010101" pitchFamily="2" charset="-122"/>
                              </a:rPr>
                            </m:ctrlPr>
                          </m:sSupPr>
                          <m:e>
                            <m:d>
                              <m:dPr>
                                <m:begChr m:val="["/>
                                <m:endChr m:val="]"/>
                                <m:ctrlPr>
                                  <a:rPr lang="zh-CN" altLang="en-US" sz="2300" i="1">
                                    <a:latin typeface="Cambria Math" panose="02040503050406030204" pitchFamily="18" charset="0"/>
                                    <a:ea typeface="宋体" panose="02010600030101010101" pitchFamily="2" charset="-122"/>
                                    <a:cs typeface="宋体" panose="02010600030101010101" pitchFamily="2" charset="-122"/>
                                  </a:rPr>
                                </m:ctrlPr>
                              </m:dPr>
                              <m:e>
                                <m:r>
                                  <a:rPr lang="zh-CN" altLang="en-US" sz="2300">
                                    <a:latin typeface="Cambria Math" panose="02040503050406030204" pitchFamily="18" charset="0"/>
                                    <a:ea typeface="宋体" panose="02010600030101010101" pitchFamily="2" charset="-122"/>
                                    <a:cs typeface="宋体" panose="02010600030101010101" pitchFamily="2" charset="-122"/>
                                  </a:rPr>
                                  <m:t>𝑚𝑖𝑛</m:t>
                                </m:r>
                                <m:r>
                                  <a:rPr lang="zh-CN" altLang="en-US" sz="2300">
                                    <a:latin typeface="Cambria Math" panose="02040503050406030204" pitchFamily="18" charset="0"/>
                                    <a:ea typeface="宋体" panose="02010600030101010101" pitchFamily="2" charset="-122"/>
                                    <a:cs typeface="宋体" panose="02010600030101010101" pitchFamily="2" charset="-122"/>
                                  </a:rPr>
                                  <m:t>(</m:t>
                                </m:r>
                                <m:r>
                                  <a:rPr lang="zh-CN" altLang="en-US" sz="2300">
                                    <a:latin typeface="Cambria Math" panose="02040503050406030204" pitchFamily="18" charset="0"/>
                                    <a:ea typeface="宋体" panose="02010600030101010101" pitchFamily="2" charset="-122"/>
                                    <a:cs typeface="宋体" panose="02010600030101010101" pitchFamily="2" charset="-122"/>
                                  </a:rPr>
                                  <m:t>0</m:t>
                                </m:r>
                                <m:r>
                                  <a:rPr lang="zh-CN" altLang="en-US" sz="2300">
                                    <a:latin typeface="Cambria Math" panose="02040503050406030204" pitchFamily="18" charset="0"/>
                                    <a:ea typeface="宋体" panose="02010600030101010101" pitchFamily="2" charset="-122"/>
                                    <a:cs typeface="宋体" panose="02010600030101010101" pitchFamily="2" charset="-122"/>
                                  </a:rPr>
                                  <m:t>,</m:t>
                                </m:r>
                                <m:sSub>
                                  <m:sSubPr>
                                    <m:ctrlPr>
                                      <a:rPr lang="zh-CN" altLang="en-US" sz="2300" i="1">
                                        <a:latin typeface="Cambria Math" panose="02040503050406030204" pitchFamily="18" charset="0"/>
                                        <a:ea typeface="宋体" panose="02010600030101010101" pitchFamily="2" charset="-122"/>
                                        <a:cs typeface="宋体" panose="02010600030101010101" pitchFamily="2" charset="-122"/>
                                      </a:rPr>
                                    </m:ctrlPr>
                                  </m:sSubPr>
                                  <m:e>
                                    <m:r>
                                      <a:rPr lang="zh-CN" altLang="en-US" sz="2300">
                                        <a:latin typeface="Cambria Math" panose="02040503050406030204" pitchFamily="18" charset="0"/>
                                        <a:ea typeface="宋体" panose="02010600030101010101" pitchFamily="2" charset="-122"/>
                                        <a:cs typeface="宋体" panose="02010600030101010101" pitchFamily="2" charset="-122"/>
                                      </a:rPr>
                                      <m:t>𝑔</m:t>
                                    </m:r>
                                  </m:e>
                                  <m:sub>
                                    <m:r>
                                      <a:rPr lang="zh-CN" altLang="en-US" sz="2300">
                                        <a:latin typeface="Cambria Math" panose="02040503050406030204" pitchFamily="18" charset="0"/>
                                        <a:ea typeface="宋体" panose="02010600030101010101" pitchFamily="2" charset="-122"/>
                                        <a:cs typeface="宋体" panose="02010600030101010101" pitchFamily="2" charset="-122"/>
                                      </a:rPr>
                                      <m:t>𝑗</m:t>
                                    </m:r>
                                  </m:sub>
                                </m:sSub>
                                <m:d>
                                  <m:dPr>
                                    <m:ctrlPr>
                                      <a:rPr lang="zh-CN" altLang="en-US" sz="2300" i="1">
                                        <a:latin typeface="Cambria Math" panose="02040503050406030204" pitchFamily="18" charset="0"/>
                                        <a:ea typeface="宋体" panose="02010600030101010101" pitchFamily="2" charset="-122"/>
                                        <a:cs typeface="宋体" panose="02010600030101010101" pitchFamily="2" charset="-122"/>
                                      </a:rPr>
                                    </m:ctrlPr>
                                  </m:dPr>
                                  <m:e>
                                    <m:r>
                                      <a:rPr lang="zh-CN" altLang="en-US" sz="2300">
                                        <a:latin typeface="Cambria Math" panose="02040503050406030204" pitchFamily="18" charset="0"/>
                                        <a:ea typeface="宋体" panose="02010600030101010101" pitchFamily="2" charset="-122"/>
                                        <a:cs typeface="宋体" panose="02010600030101010101" pitchFamily="2" charset="-122"/>
                                      </a:rPr>
                                      <m:t>𝑥</m:t>
                                    </m:r>
                                  </m:e>
                                </m:d>
                                <m:r>
                                  <a:rPr lang="zh-CN" altLang="en-US" sz="2300">
                                    <a:latin typeface="Cambria Math" panose="02040503050406030204" pitchFamily="18" charset="0"/>
                                    <a:ea typeface="宋体" panose="02010600030101010101" pitchFamily="2" charset="-122"/>
                                    <a:cs typeface="宋体" panose="02010600030101010101" pitchFamily="2" charset="-122"/>
                                  </a:rPr>
                                  <m:t>)</m:t>
                                </m:r>
                              </m:e>
                            </m:d>
                          </m:e>
                          <m:sup>
                            <m:r>
                              <a:rPr lang="zh-CN" altLang="en-US" sz="2300">
                                <a:latin typeface="Cambria Math" panose="02040503050406030204" pitchFamily="18" charset="0"/>
                                <a:ea typeface="宋体" panose="02010600030101010101" pitchFamily="2" charset="-122"/>
                                <a:cs typeface="宋体" panose="02010600030101010101" pitchFamily="2" charset="-122"/>
                              </a:rPr>
                              <m:t>2</m:t>
                            </m:r>
                          </m:sup>
                        </m:sSup>
                      </m:e>
                    </m:nary>
                  </m:oMath>
                </a14:m>
                <a:r>
                  <a:rPr lang="zh-CN" altLang="en-US" sz="2300" dirty="0">
                    <a:latin typeface="宋体" panose="02010600030101010101" pitchFamily="2" charset="-122"/>
                    <a:ea typeface="宋体" panose="02010600030101010101" pitchFamily="2" charset="-122"/>
                    <a:cs typeface="宋体" panose="02010600030101010101" pitchFamily="2" charset="-122"/>
                  </a:rPr>
                  <a:t>为惩罚项，称</a:t>
                </a:r>
                <a14:m>
                  <m:oMath xmlns:m="http://schemas.openxmlformats.org/officeDocument/2006/math">
                    <m:r>
                      <a:rPr lang="en-US" altLang="zh-CN" sz="2300" i="1">
                        <a:latin typeface="Cambria Math" panose="02040503050406030204" pitchFamily="18" charset="0"/>
                        <a:cs typeface="Cambria Math" panose="02040503050406030204" pitchFamily="18" charset="0"/>
                      </a:rPr>
                      <m:t>𝑀</m:t>
                    </m:r>
                  </m:oMath>
                </a14:m>
                <a:r>
                  <a:rPr lang="zh-CN" altLang="en-US" sz="2300" dirty="0">
                    <a:latin typeface="宋体" panose="02010600030101010101" pitchFamily="2" charset="-122"/>
                    <a:ea typeface="宋体" panose="02010600030101010101" pitchFamily="2" charset="-122"/>
                    <a:cs typeface="宋体" panose="02010600030101010101" pitchFamily="2" charset="-122"/>
                  </a:rPr>
                  <a:t>为罚因子。</a:t>
                </a:r>
                <a:endParaRPr lang="zh-CN" altLang="en-US" sz="2300" dirty="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2300" dirty="0">
                    <a:latin typeface="宋体" panose="02010600030101010101" pitchFamily="2" charset="-122"/>
                    <a:ea typeface="宋体" panose="02010600030101010101" pitchFamily="2" charset="-122"/>
                    <a:cs typeface="宋体" panose="02010600030101010101" pitchFamily="2" charset="-122"/>
                  </a:rPr>
                  <a:t>	 惩罚函数只对不满足约束条件的点实行惩罚。当</a:t>
                </a:r>
                <a14:m>
                  <m:oMath xmlns:m="http://schemas.openxmlformats.org/officeDocument/2006/math">
                    <m:r>
                      <a:rPr lang="zh-CN" altLang="en-US" sz="2300">
                        <a:latin typeface="Cambria Math" panose="02040503050406030204" pitchFamily="18" charset="0"/>
                        <a:ea typeface="宋体" panose="02010600030101010101" pitchFamily="2" charset="-122"/>
                        <a:cs typeface="宋体" panose="02010600030101010101" pitchFamily="2" charset="-122"/>
                      </a:rPr>
                      <m:t>𝑥</m:t>
                    </m:r>
                    <m:r>
                      <a:rPr lang="zh-CN" altLang="en-US" sz="2300">
                        <a:latin typeface="Cambria Math" panose="02040503050406030204" pitchFamily="18" charset="0"/>
                        <a:ea typeface="宋体" panose="02010600030101010101" pitchFamily="2" charset="-122"/>
                        <a:cs typeface="宋体" panose="02010600030101010101" pitchFamily="2" charset="-122"/>
                      </a:rPr>
                      <m:t>∈</m:t>
                    </m:r>
                    <m:r>
                      <a:rPr lang="zh-CN" altLang="en-US" sz="2300">
                        <a:latin typeface="Cambria Math" panose="02040503050406030204" pitchFamily="18" charset="0"/>
                        <a:ea typeface="宋体" panose="02010600030101010101" pitchFamily="2" charset="-122"/>
                        <a:cs typeface="宋体" panose="02010600030101010101" pitchFamily="2" charset="-122"/>
                      </a:rPr>
                      <m:t>𝐻</m:t>
                    </m:r>
                  </m:oMath>
                </a14:m>
                <a:r>
                  <a:rPr lang="zh-CN" altLang="en-US" sz="2300" dirty="0">
                    <a:latin typeface="宋体" panose="02010600030101010101" pitchFamily="2" charset="-122"/>
                    <a:ea typeface="宋体" panose="02010600030101010101" pitchFamily="2" charset="-122"/>
                    <a:cs typeface="宋体" panose="02010600030101010101" pitchFamily="2" charset="-122"/>
                  </a:rPr>
                  <a:t>时，所有的约束不等式都成立，惩罚项等于0；当</a:t>
                </a:r>
                <a14:m>
                  <m:oMath xmlns:m="http://schemas.openxmlformats.org/officeDocument/2006/math">
                    <m:r>
                      <a:rPr lang="zh-CN" altLang="en-US" sz="2300">
                        <a:latin typeface="Cambria Math" panose="02040503050406030204" pitchFamily="18" charset="0"/>
                        <a:ea typeface="宋体" panose="02010600030101010101" pitchFamily="2" charset="-122"/>
                        <a:cs typeface="宋体" panose="02010600030101010101" pitchFamily="2" charset="-122"/>
                      </a:rPr>
                      <m:t>𝑥</m:t>
                    </m:r>
                    <m:r>
                      <a:rPr lang="zh-CN" altLang="en-US" sz="2300">
                        <a:latin typeface="Cambria Math" panose="02040503050406030204" pitchFamily="18" charset="0"/>
                        <a:ea typeface="宋体" panose="02010600030101010101" pitchFamily="2" charset="-122"/>
                        <a:cs typeface="宋体" panose="02010600030101010101" pitchFamily="2" charset="-122"/>
                      </a:rPr>
                      <m:t>∉</m:t>
                    </m:r>
                    <m:r>
                      <a:rPr lang="zh-CN" altLang="en-US" sz="2300">
                        <a:latin typeface="Cambria Math" panose="02040503050406030204" pitchFamily="18" charset="0"/>
                        <a:ea typeface="宋体" panose="02010600030101010101" pitchFamily="2" charset="-122"/>
                        <a:cs typeface="宋体" panose="02010600030101010101" pitchFamily="2" charset="-122"/>
                      </a:rPr>
                      <m:t>𝐻</m:t>
                    </m:r>
                  </m:oMath>
                </a14:m>
                <a:r>
                  <a:rPr lang="zh-CN" altLang="en-US" sz="2300" dirty="0">
                    <a:latin typeface="宋体" panose="02010600030101010101" pitchFamily="2" charset="-122"/>
                    <a:ea typeface="宋体" panose="02010600030101010101" pitchFamily="2" charset="-122"/>
                    <a:cs typeface="宋体" panose="02010600030101010101" pitchFamily="2" charset="-122"/>
                  </a:rPr>
                  <a:t>时，至少有一个约束不等式不成立，惩罚项大于0。</a:t>
                </a:r>
                <a:endParaRPr lang="en-US" altLang="zh-CN" sz="2300" dirty="0"/>
              </a:p>
            </p:txBody>
          </p:sp>
        </mc:Choice>
        <mc:Fallback>
          <p:sp>
            <p:nvSpPr>
              <p:cNvPr id="3" name="文本框 2"/>
              <p:cNvSpPr txBox="1">
                <a:spLocks noRot="1" noChangeAspect="1" noMove="1" noResize="1" noEditPoints="1" noAdjustHandles="1" noChangeArrowheads="1" noChangeShapeType="1" noTextEdit="1"/>
              </p:cNvSpPr>
              <p:nvPr/>
            </p:nvSpPr>
            <p:spPr>
              <a:xfrm>
                <a:off x="284559" y="548680"/>
                <a:ext cx="8574881" cy="5683928"/>
              </a:xfrm>
              <a:prstGeom prst="rect">
                <a:avLst/>
              </a:prstGeom>
              <a:blipFill rotWithShape="1">
                <a:blip r:embed="rId1"/>
                <a:stretch>
                  <a:fillRect l="-1" t="-1" r="6" b="-479"/>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251520" y="217896"/>
                <a:ext cx="8415338" cy="6422207"/>
              </a:xfrm>
              <a:prstGeom prst="rect">
                <a:avLst/>
              </a:prstGeom>
              <a:noFill/>
            </p:spPr>
            <p:txBody>
              <a:bodyPr wrap="square" rtlCol="0">
                <a:spAutoFit/>
              </a:bodyPr>
              <a:lstStyle/>
              <a:p>
                <a:pPr latinLnBrk="0">
                  <a:lnSpc>
                    <a:spcPct val="150000"/>
                  </a:lnSpc>
                </a:pPr>
                <a:r>
                  <a:rPr lang="en-US" altLang="zh-CN" sz="2300" dirty="0">
                    <a:latin typeface="宋体" panose="02010600030101010101" pitchFamily="2" charset="-122"/>
                    <a:ea typeface="宋体" panose="02010600030101010101" pitchFamily="2" charset="-122"/>
                  </a:rPr>
                  <a:t>	</a:t>
                </a:r>
                <a:r>
                  <a:rPr lang="zh-CN" altLang="en-US" sz="2300" dirty="0">
                    <a:latin typeface="宋体" panose="02010600030101010101" pitchFamily="2" charset="-122"/>
                    <a:ea typeface="宋体" panose="02010600030101010101" pitchFamily="2" charset="-122"/>
                  </a:rPr>
                  <a:t>对于只含有等式约束的非线性规划问题：</a:t>
                </a:r>
                <a:endParaRPr lang="zh-CN" altLang="en-US" sz="2300" dirty="0">
                  <a:latin typeface="宋体" panose="02010600030101010101" pitchFamily="2" charset="-122"/>
                  <a:ea typeface="宋体" panose="02010600030101010101" pitchFamily="2" charset="-122"/>
                </a:endParaRPr>
              </a:p>
              <a:p>
                <a:pPr algn="just" fontAlgn="auto" latinLnBrk="0">
                  <a:lnSpc>
                    <a:spcPct val="150000"/>
                  </a:lnSpc>
                </a:pPr>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300" i="1">
                          <a:latin typeface="Cambria Math" panose="02040503050406030204" pitchFamily="18" charset="0"/>
                          <a:ea typeface="宋体" panose="02010600030101010101" pitchFamily="2" charset="-122"/>
                          <a:cs typeface="Cambria Math" panose="02040503050406030204" pitchFamily="18" charset="0"/>
                        </a:rPr>
                        <m:t>  </m:t>
                      </m:r>
                      <m:r>
                        <a:rPr lang="en-US" altLang="zh-CN" sz="23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e>
                      </m:d>
                    </m:oMath>
                  </m:oMathPara>
                </a14:m>
                <a:endParaRPr lang="en-US" altLang="zh-CN" sz="23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𝑠</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𝑡</m:t>
                      </m:r>
                      <m:r>
                        <a:rPr lang="en-US" altLang="zh-CN" sz="23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   </m:t>
                          </m:r>
                          <m:r>
                            <a:rPr lang="en-US" altLang="zh-CN" sz="2300" i="1">
                              <a:latin typeface="Cambria Math" panose="02040503050406030204" pitchFamily="18" charset="0"/>
                              <a:ea typeface="宋体" panose="02010600030101010101" pitchFamily="2" charset="-122"/>
                              <a:cs typeface="Cambria Math" panose="02040503050406030204" pitchFamily="18" charset="0"/>
                            </a:rPr>
                            <m:t>ℎ</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𝑖</m:t>
                          </m:r>
                        </m:sub>
                      </m:sSub>
                      <m:d>
                        <m:d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e>
                      </m:d>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0</m:t>
                      </m:r>
                      <m:d>
                        <m:d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300" i="1">
                              <a:latin typeface="Cambria Math" panose="02040503050406030204" pitchFamily="18" charset="0"/>
                              <a:ea typeface="宋体" panose="02010600030101010101" pitchFamily="2" charset="-122"/>
                              <a:cs typeface="Cambria Math" panose="02040503050406030204" pitchFamily="18" charset="0"/>
                            </a:rPr>
                            <m:t>𝑖</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1</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2</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𝑚</m:t>
                          </m:r>
                        </m:e>
                      </m:d>
                    </m:oMath>
                  </m:oMathPara>
                </a14:m>
                <a:endParaRPr lang="en-US" altLang="zh-CN" sz="23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r>
                  <a:rPr lang="zh-CN" altLang="en-US" sz="2300" dirty="0">
                    <a:latin typeface="宋体" panose="02010600030101010101" pitchFamily="2" charset="-122"/>
                    <a:ea typeface="宋体" panose="02010600030101010101" pitchFamily="2" charset="-122"/>
                  </a:rPr>
                  <a:t>可以定义罚函数为</a:t>
                </a:r>
                <a:endParaRPr lang="en-US" altLang="zh-CN" sz="23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𝑝</m:t>
                      </m:r>
                      <m:d>
                        <m:d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d>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𝑓</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𝑀</m:t>
                      </m:r>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𝑖</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𝑚</m:t>
                          </m:r>
                        </m:sup>
                        <m:e>
                          <m:sSup>
                            <m:sSupPr>
                              <m:ctrlPr>
                                <a:rPr lang="en-US" altLang="zh-CN" sz="2300" i="1">
                                  <a:latin typeface="Cambria Math" panose="02040503050406030204" pitchFamily="18" charset="0"/>
                                  <a:cs typeface="Cambria Math" panose="02040503050406030204" pitchFamily="18" charset="0"/>
                                </a:rPr>
                              </m:ctrlPr>
                            </m:sSupPr>
                            <m:e>
                              <m:d>
                                <m:dPr>
                                  <m:begChr m:val="["/>
                                  <m:endChr m:val="]"/>
                                  <m:ctrlPr>
                                    <a:rPr lang="en-US" altLang="zh-CN" sz="2300" i="1">
                                      <a:latin typeface="Cambria Math" panose="02040503050406030204" pitchFamily="18" charset="0"/>
                                      <a:cs typeface="Cambria Math" panose="02040503050406030204" pitchFamily="18" charset="0"/>
                                    </a:rPr>
                                  </m:ctrlPr>
                                </m:dPr>
                                <m:e>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ℎ</m:t>
                                      </m:r>
                                    </m:e>
                                    <m:sub>
                                      <m:r>
                                        <a:rPr lang="en-US" altLang="zh-CN" sz="2300" i="1">
                                          <a:latin typeface="Cambria Math" panose="02040503050406030204" pitchFamily="18" charset="0"/>
                                          <a:cs typeface="Cambria Math" panose="02040503050406030204" pitchFamily="18" charset="0"/>
                                        </a:rPr>
                                        <m:t>𝑖</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e>
                              </m:d>
                            </m:e>
                            <m:sup>
                              <m:r>
                                <a:rPr lang="en-US" altLang="zh-CN" sz="2300" i="1">
                                  <a:latin typeface="Cambria Math" panose="02040503050406030204" pitchFamily="18" charset="0"/>
                                  <a:cs typeface="Cambria Math" panose="02040503050406030204" pitchFamily="18" charset="0"/>
                                </a:rPr>
                                <m:t>2</m:t>
                              </m:r>
                            </m:sup>
                          </m:sSup>
                        </m:e>
                      </m:nary>
                    </m:oMath>
                  </m:oMathPara>
                </a14:m>
                <a:endParaRPr lang="en-US" altLang="zh-CN" sz="2300" i="1" dirty="0">
                  <a:latin typeface="Cambria Math" panose="02040503050406030204" pitchFamily="18" charset="0"/>
                  <a:cs typeface="Cambria Math" panose="02040503050406030204" pitchFamily="18" charset="0"/>
                </a:endParaRPr>
              </a:p>
              <a:p>
                <a:pPr latinLnBrk="0">
                  <a:lnSpc>
                    <a:spcPct val="150000"/>
                  </a:lnSpc>
                </a:pPr>
                <a:r>
                  <a:rPr lang="en-US" altLang="zh-CN" sz="2300" dirty="0">
                    <a:latin typeface="宋体" panose="02010600030101010101" pitchFamily="2" charset="-122"/>
                    <a:ea typeface="宋体" panose="02010600030101010101" pitchFamily="2" charset="-122"/>
                  </a:rPr>
                  <a:t>	</a:t>
                </a:r>
                <a:r>
                  <a:rPr lang="zh-CN" altLang="en-US" sz="2300" dirty="0">
                    <a:latin typeface="宋体" panose="02010600030101010101" pitchFamily="2" charset="-122"/>
                    <a:ea typeface="宋体" panose="02010600030101010101" pitchFamily="2" charset="-122"/>
                  </a:rPr>
                  <a:t>对于同时含有等式与不等式约束的非线性规划，可以定义罚函数为：</a:t>
                </a:r>
                <a:endParaRPr lang="zh-CN" altLang="en-US" sz="2300" dirty="0">
                  <a:latin typeface="宋体" panose="02010600030101010101" pitchFamily="2" charset="-122"/>
                  <a:ea typeface="宋体" panose="02010600030101010101" pitchFamily="2" charset="-122"/>
                </a:endParaRPr>
              </a:p>
              <a:p>
                <a:pPr latinLnBrk="0">
                  <a:lnSpc>
                    <a:spcPct val="150000"/>
                  </a:lnSpc>
                </a:pPr>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𝑝</m:t>
                      </m:r>
                      <m:d>
                        <m:d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d>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𝑓</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𝑀</m:t>
                      </m:r>
                      <m:d>
                        <m:dPr>
                          <m:begChr m:val="{"/>
                          <m:endChr m:val="}"/>
                          <m:ctrlPr>
                            <a:rPr lang="en-US" altLang="zh-CN" sz="2300" i="1">
                              <a:latin typeface="Cambria Math" panose="02040503050406030204" pitchFamily="18" charset="0"/>
                              <a:cs typeface="Cambria Math" panose="02040503050406030204" pitchFamily="18" charset="0"/>
                            </a:rPr>
                          </m:ctrlPr>
                        </m:dPr>
                        <m:e>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𝑗</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𝑙</m:t>
                              </m:r>
                            </m:sup>
                            <m:e>
                              <m:sSup>
                                <m:sSupPr>
                                  <m:ctrlPr>
                                    <a:rPr lang="en-US" altLang="zh-CN" sz="2300" i="1">
                                      <a:latin typeface="Cambria Math" panose="02040503050406030204" pitchFamily="18" charset="0"/>
                                      <a:cs typeface="Cambria Math" panose="02040503050406030204" pitchFamily="18" charset="0"/>
                                    </a:rPr>
                                  </m:ctrlPr>
                                </m:sSupPr>
                                <m:e>
                                  <m:d>
                                    <m:dPr>
                                      <m:begChr m:val="["/>
                                      <m:endChr m:val="]"/>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𝑚𝑖𝑛</m:t>
                                      </m:r>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0</m:t>
                                          </m:r>
                                          <m:r>
                                            <a:rPr lang="en-US" altLang="zh-CN" sz="2300" i="1">
                                              <a:latin typeface="Cambria Math" panose="02040503050406030204" pitchFamily="18" charset="0"/>
                                              <a:cs typeface="Cambria Math" panose="02040503050406030204" pitchFamily="18" charset="0"/>
                                            </a:rPr>
                                            <m:t>, </m:t>
                                          </m:r>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𝑔</m:t>
                                              </m:r>
                                            </m:e>
                                            <m:sub>
                                              <m:r>
                                                <a:rPr lang="en-US" altLang="zh-CN" sz="2300" i="1">
                                                  <a:latin typeface="Cambria Math" panose="02040503050406030204" pitchFamily="18" charset="0"/>
                                                  <a:cs typeface="Cambria Math" panose="02040503050406030204" pitchFamily="18" charset="0"/>
                                                </a:rPr>
                                                <m:t>𝑗</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e>
                                      </m:d>
                                    </m:e>
                                  </m:d>
                                </m:e>
                                <m:sup>
                                  <m:r>
                                    <a:rPr lang="en-US" altLang="zh-CN" sz="2300" i="1">
                                      <a:latin typeface="Cambria Math" panose="02040503050406030204" pitchFamily="18" charset="0"/>
                                      <a:cs typeface="Cambria Math" panose="02040503050406030204" pitchFamily="18" charset="0"/>
                                    </a:rPr>
                                    <m:t>2</m:t>
                                  </m:r>
                                </m:sup>
                              </m:sSup>
                            </m:e>
                          </m:nary>
                          <m:r>
                            <a:rPr lang="en-US" altLang="zh-CN" sz="2300" i="1">
                              <a:latin typeface="Cambria Math" panose="02040503050406030204" pitchFamily="18" charset="0"/>
                              <a:cs typeface="Cambria Math" panose="02040503050406030204" pitchFamily="18" charset="0"/>
                            </a:rPr>
                            <m:t>+</m:t>
                          </m:r>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𝑖</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𝑚</m:t>
                              </m:r>
                            </m:sup>
                            <m:e>
                              <m:sSup>
                                <m:sSupPr>
                                  <m:ctrlPr>
                                    <a:rPr lang="en-US" altLang="zh-CN" sz="2300" i="1">
                                      <a:latin typeface="Cambria Math" panose="02040503050406030204" pitchFamily="18" charset="0"/>
                                      <a:cs typeface="Cambria Math" panose="02040503050406030204" pitchFamily="18" charset="0"/>
                                    </a:rPr>
                                  </m:ctrlPr>
                                </m:sSupPr>
                                <m:e>
                                  <m:d>
                                    <m:dPr>
                                      <m:begChr m:val="["/>
                                      <m:endChr m:val="]"/>
                                      <m:ctrlPr>
                                        <a:rPr lang="en-US" altLang="zh-CN" sz="2300" i="1">
                                          <a:latin typeface="Cambria Math" panose="02040503050406030204" pitchFamily="18" charset="0"/>
                                          <a:cs typeface="Cambria Math" panose="02040503050406030204" pitchFamily="18" charset="0"/>
                                        </a:rPr>
                                      </m:ctrlPr>
                                    </m:dPr>
                                    <m:e>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ℎ</m:t>
                                          </m:r>
                                        </m:e>
                                        <m:sub>
                                          <m:r>
                                            <a:rPr lang="en-US" altLang="zh-CN" sz="2300" i="1">
                                              <a:latin typeface="Cambria Math" panose="02040503050406030204" pitchFamily="18" charset="0"/>
                                              <a:cs typeface="Cambria Math" panose="02040503050406030204" pitchFamily="18" charset="0"/>
                                            </a:rPr>
                                            <m:t>𝑖</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e>
                                  </m:d>
                                </m:e>
                                <m:sup>
                                  <m:r>
                                    <a:rPr lang="en-US" altLang="zh-CN" sz="2300" i="1">
                                      <a:latin typeface="Cambria Math" panose="02040503050406030204" pitchFamily="18" charset="0"/>
                                      <a:cs typeface="Cambria Math" panose="02040503050406030204" pitchFamily="18" charset="0"/>
                                    </a:rPr>
                                    <m:t>2</m:t>
                                  </m:r>
                                </m:sup>
                              </m:sSup>
                            </m:e>
                          </m:nary>
                        </m:e>
                      </m:d>
                    </m:oMath>
                  </m:oMathPara>
                </a14:m>
                <a:endParaRPr lang="zh-CN" altLang="en-US" sz="2300" dirty="0">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251520" y="217896"/>
                <a:ext cx="8415338" cy="6422207"/>
              </a:xfrm>
              <a:prstGeom prst="rect">
                <a:avLst/>
              </a:prstGeom>
              <a:blipFill rotWithShape="1">
                <a:blip r:embed="rId1"/>
                <a:stretch>
                  <a:fillRect l="-1" t="-1" r="4" b="8"/>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5536" y="476672"/>
            <a:ext cx="2754306" cy="461665"/>
          </a:xfrm>
          <a:prstGeom prst="rect">
            <a:avLst/>
          </a:prstGeom>
          <a:noFill/>
        </p:spPr>
        <p:txBody>
          <a:bodyPr wrap="square" rtlCol="0">
            <a:spAutoFit/>
          </a:bodyPr>
          <a:lstStyle/>
          <a:p>
            <a:pPr lvl="0" algn="l">
              <a:buClrTx/>
              <a:buSzTx/>
              <a:buFontTx/>
            </a:pPr>
            <a:r>
              <a:rPr lang="zh-CN" altLang="en-US" sz="2400" b="1" dirty="0">
                <a:latin typeface="黑体" panose="02010609060101010101" pitchFamily="49" charset="-122"/>
                <a:ea typeface="黑体" panose="02010609060101010101" pitchFamily="49" charset="-122"/>
                <a:sym typeface="+mn-ea"/>
              </a:rPr>
              <a:t>二、计算步骤</a:t>
            </a:r>
            <a:endParaRPr lang="zh-CN" altLang="en-US" sz="2400" b="1" dirty="0">
              <a:latin typeface="黑体" panose="02010609060101010101" pitchFamily="49" charset="-122"/>
              <a:ea typeface="黑体" panose="02010609060101010101" pitchFamily="49" charset="-122"/>
              <a:sym typeface="+mn-ea"/>
            </a:endParaRPr>
          </a:p>
        </p:txBody>
      </p:sp>
      <mc:AlternateContent xmlns:mc="http://schemas.openxmlformats.org/markup-compatibility/2006">
        <mc:Choice xmlns:a14="http://schemas.microsoft.com/office/drawing/2010/main" Requires="a14">
          <p:sp>
            <p:nvSpPr>
              <p:cNvPr id="7" name="文本框 6"/>
              <p:cNvSpPr txBox="1"/>
              <p:nvPr/>
            </p:nvSpPr>
            <p:spPr>
              <a:xfrm>
                <a:off x="251520" y="1484784"/>
                <a:ext cx="8154906" cy="4370812"/>
              </a:xfrm>
              <a:prstGeom prst="rect">
                <a:avLst/>
              </a:prstGeom>
              <a:noFill/>
            </p:spPr>
            <p:txBody>
              <a:bodyPr wrap="square">
                <a:spAutoFit/>
              </a:bodyPr>
              <a:lstStyle/>
              <a:p>
                <a:pPr indent="254635" algn="just">
                  <a:lnSpc>
                    <a:spcPct val="150000"/>
                  </a:lnSpc>
                </a:pPr>
                <a:r>
                  <a:rPr lang="en-US" altLang="zh-CN" sz="2400" kern="1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在实际计算中，罚因子</a:t>
                </a:r>
                <a14:m>
                  <m:oMath xmlns:m="http://schemas.openxmlformats.org/officeDocument/2006/math">
                    <m:r>
                      <a:rPr lang="zh-CN" altLang="en-US" sz="2400">
                        <a:latin typeface="Cambria Math" panose="02040503050406030204" pitchFamily="18" charset="0"/>
                        <a:ea typeface="宋体" panose="02010600030101010101" pitchFamily="2" charset="-122"/>
                      </a:rPr>
                      <m:t>𝑀</m:t>
                    </m:r>
                  </m:oMath>
                </a14:m>
                <a:r>
                  <a:rPr lang="zh-CN" altLang="en-US" sz="2400" dirty="0">
                    <a:latin typeface="宋体" panose="02010600030101010101" pitchFamily="2" charset="-122"/>
                    <a:ea typeface="宋体" panose="02010600030101010101" pitchFamily="2" charset="-122"/>
                  </a:rPr>
                  <a:t>的值选得过小或过大都不好。先来看一个例子：</a:t>
                </a:r>
                <a:endParaRPr lang="zh-CN" altLang="en-US" sz="2400" dirty="0">
                  <a:latin typeface="宋体" panose="02010600030101010101" pitchFamily="2" charset="-122"/>
                  <a:ea typeface="宋体" panose="02010600030101010101" pitchFamily="2" charset="-122"/>
                </a:endParaRPr>
              </a:p>
              <a:p>
                <a:pPr indent="254635" algn="ctr">
                  <a:lnSpc>
                    <a:spcPct val="150000"/>
                  </a:lnSpc>
                </a:pPr>
                <a14:m>
                  <m:oMath xmlns:m="http://schemas.openxmlformats.org/officeDocument/2006/math">
                    <m:r>
                      <a:rPr lang="en-US" altLang="zh-CN" sz="2400" i="1" kern="100">
                        <a:latin typeface="Cambria Math" panose="02040503050406030204" pitchFamily="18" charset="0"/>
                        <a:ea typeface="宋体" panose="02010600030101010101" pitchFamily="2" charset="-122"/>
                      </a:rPr>
                      <m:t>𝑚𝑖𝑛</m:t>
                    </m:r>
                    <m:r>
                      <a:rPr lang="en-US" altLang="zh-CN" sz="2400" i="1" kern="100">
                        <a:latin typeface="Cambria Math" panose="02040503050406030204" pitchFamily="18" charset="0"/>
                        <a:ea typeface="宋体" panose="02010600030101010101" pitchFamily="2" charset="-122"/>
                      </a:rPr>
                      <m:t> </m:t>
                    </m:r>
                    <m:sSub>
                      <m:sSubPr>
                        <m:ctrlPr>
                          <a:rPr lang="en-US" altLang="zh-CN" sz="2400" i="1" kern="100">
                            <a:latin typeface="Cambria Math" panose="02040503050406030204" pitchFamily="18" charset="0"/>
                            <a:ea typeface="宋体" panose="02010600030101010101" pitchFamily="2" charset="-122"/>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sSub>
                      <m:sSubPr>
                        <m:ctrlPr>
                          <a:rPr lang="en-US" altLang="zh-CN" sz="2400" i="1" kern="100">
                            <a:latin typeface="Cambria Math" panose="02040503050406030204" pitchFamily="18" charset="0"/>
                            <a:ea typeface="宋体" panose="02010600030101010101" pitchFamily="2" charset="-122"/>
                          </a:rPr>
                        </m:ctrlPr>
                      </m:sSubPr>
                      <m:e>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oMath>
                </a14:m>
                <a:r>
                  <a:rPr lang="en-US" altLang="zh-CN" sz="2400" i="1" kern="100" dirty="0">
                    <a:latin typeface="Cambria Math" panose="02040503050406030204" pitchFamily="18" charset="0"/>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 </m:t>
                    </m:r>
                    <m:r>
                      <a:rPr lang="en-US" altLang="zh-CN" sz="2400" i="1" kern="100">
                        <a:latin typeface="Cambria Math" panose="02040503050406030204" pitchFamily="18" charset="0"/>
                        <a:ea typeface="宋体" panose="02010600030101010101" pitchFamily="2" charset="-122"/>
                      </a:rPr>
                      <m:t>𝑠𝑢𝑏𝑗𝑒𝑐𝑡</m:t>
                    </m:r>
                    <m:r>
                      <a:rPr lang="en-US" altLang="zh-CN" sz="2400" i="1" kern="100">
                        <a:latin typeface="Cambria Math" panose="02040503050406030204" pitchFamily="18" charset="0"/>
                        <a:ea typeface="宋体" panose="02010600030101010101" pitchFamily="2" charset="-122"/>
                      </a:rPr>
                      <m:t> </m:t>
                    </m:r>
                    <m:r>
                      <a:rPr lang="en-US" altLang="zh-CN" sz="2400" i="1" kern="100">
                        <a:latin typeface="Cambria Math" panose="02040503050406030204" pitchFamily="18" charset="0"/>
                        <a:ea typeface="宋体" panose="02010600030101010101" pitchFamily="2" charset="-122"/>
                      </a:rPr>
                      <m:t>𝑡𝑜</m:t>
                    </m:r>
                    <m:r>
                      <a:rPr lang="en-US" altLang="zh-CN" sz="2400" i="1" kern="100">
                        <a:latin typeface="Cambria Math" panose="02040503050406030204" pitchFamily="18" charset="0"/>
                        <a:ea typeface="宋体" panose="02010600030101010101" pitchFamily="2" charset="-122"/>
                      </a:rPr>
                      <m:t> </m:t>
                    </m:r>
                    <m:sSubSup>
                      <m:sSubSupPr>
                        <m:ctrlPr>
                          <a:rPr lang="en-US" altLang="zh-CN" sz="2400" i="1" kern="100">
                            <a:latin typeface="Cambria Math" panose="02040503050406030204" pitchFamily="18" charset="0"/>
                            <a:ea typeface="宋体" panose="02010600030101010101" pitchFamily="2" charset="-122"/>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Sup>
                      <m:sSubSupPr>
                        <m:ctrlPr>
                          <a:rPr lang="en-US" altLang="zh-CN" sz="2400" i="1" kern="100">
                            <a:latin typeface="Cambria Math" panose="02040503050406030204" pitchFamily="18" charset="0"/>
                            <a:ea typeface="宋体" panose="02010600030101010101" pitchFamily="2" charset="-122"/>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r>
                      <a:rPr lang="en-US" altLang="zh-CN" sz="2400" kern="100">
                        <a:latin typeface="Cambria Math" panose="02040503050406030204" pitchFamily="18" charset="0"/>
                        <a:ea typeface="宋体" panose="02010600030101010101" pitchFamily="2" charset="-122"/>
                      </a:rPr>
                      <m:t>2</m:t>
                    </m:r>
                  </m:oMath>
                </a14:m>
                <a:r>
                  <a:rPr lang="en-US" altLang="zh-CN" sz="2400" kern="100" dirty="0">
                    <a:latin typeface="Cambria Math" panose="02040503050406030204" pitchFamily="18" charset="0"/>
                    <a:ea typeface="宋体" panose="02010600030101010101" pitchFamily="2" charset="-122"/>
                  </a:rPr>
                  <a:t>=0</a:t>
                </a:r>
                <a:endParaRPr lang="en-US" altLang="zh-CN" sz="2400" kern="100" dirty="0">
                  <a:latin typeface="Cambria Math" panose="02040503050406030204" pitchFamily="18" charset="0"/>
                  <a:ea typeface="宋体" panose="02010600030101010101" pitchFamily="2" charset="-122"/>
                </a:endParaRPr>
              </a:p>
              <a:p>
                <a:pPr indent="254635" algn="just">
                  <a:lnSpc>
                    <a:spcPct val="150000"/>
                  </a:lnSpc>
                </a:pPr>
                <a:r>
                  <a:rPr lang="zh-CN" altLang="en-US" sz="2400" dirty="0">
                    <a:latin typeface="宋体" panose="02010600030101010101" pitchFamily="2" charset="-122"/>
                    <a:ea typeface="宋体" panose="02010600030101010101" pitchFamily="2" charset="-122"/>
                  </a:rPr>
                  <a:t>显然，最优解是</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 </m:t>
                    </m:r>
                  </m:oMath>
                </a14:m>
                <a:r>
                  <a:rPr lang="zh-CN" altLang="en-US" sz="2400" dirty="0">
                    <a:latin typeface="宋体" panose="02010600030101010101" pitchFamily="2" charset="-122"/>
                    <a:ea typeface="宋体" panose="02010600030101010101" pitchFamily="2" charset="-122"/>
                  </a:rPr>
                  <a:t>，构造外点二次罚函数</a:t>
                </a:r>
                <a:endParaRPr lang="zh-CN" altLang="en-US" sz="2400" dirty="0">
                  <a:latin typeface="宋体" panose="02010600030101010101" pitchFamily="2" charset="-122"/>
                  <a:ea typeface="宋体" panose="02010600030101010101" pitchFamily="2" charset="-122"/>
                </a:endParaRPr>
              </a:p>
              <a:p>
                <a:pPr indent="254635"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rPr>
                        <m:t>𝑝</m:t>
                      </m:r>
                      <m:d>
                        <m:dPr>
                          <m:ctrlPr>
                            <a:rPr lang="en-US" altLang="zh-CN" sz="2400" i="1" kern="100">
                              <a:latin typeface="Cambria Math" panose="02040503050406030204" pitchFamily="18" charset="0"/>
                              <a:ea typeface="宋体" panose="02010600030101010101" pitchFamily="2" charset="-122"/>
                            </a:rPr>
                          </m:ctrlPr>
                        </m:dPr>
                        <m:e>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𝑀</m:t>
                          </m:r>
                        </m:e>
                      </m:d>
                      <m:r>
                        <a:rPr lang="en-US" altLang="zh-CN" sz="2400" i="1" kern="100">
                          <a:latin typeface="Cambria Math" panose="02040503050406030204" pitchFamily="18" charset="0"/>
                          <a:ea typeface="宋体" panose="02010600030101010101" pitchFamily="2" charset="-122"/>
                        </a:rPr>
                        <m:t>=</m:t>
                      </m:r>
                      <m:sSub>
                        <m:sSubPr>
                          <m:ctrlPr>
                            <a:rPr lang="en-US" altLang="zh-CN" sz="2400" i="1" kern="100">
                              <a:latin typeface="Cambria Math" panose="02040503050406030204" pitchFamily="18" charset="0"/>
                              <a:ea typeface="宋体" panose="02010600030101010101" pitchFamily="2" charset="-122"/>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en-US" altLang="zh-CN" sz="2400" i="1" kern="100">
                              <a:latin typeface="Cambria Math" panose="02040503050406030204" pitchFamily="18" charset="0"/>
                              <a:ea typeface="宋体" panose="02010600030101010101" pitchFamily="2" charset="-122"/>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f>
                        <m:fPr>
                          <m:ctrlPr>
                            <a:rPr lang="en-US" altLang="zh-CN" sz="2400" i="1" kern="100">
                              <a:latin typeface="Cambria Math" panose="02040503050406030204" pitchFamily="18" charset="0"/>
                              <a:ea typeface="宋体" panose="02010600030101010101" pitchFamily="2" charset="-122"/>
                            </a:rPr>
                          </m:ctrlPr>
                        </m:fPr>
                        <m:num>
                          <m:r>
                            <a:rPr lang="en-US" altLang="zh-CN" sz="2400" i="1" kern="100">
                              <a:latin typeface="Cambria Math" panose="02040503050406030204" pitchFamily="18" charset="0"/>
                              <a:ea typeface="宋体" panose="02010600030101010101" pitchFamily="2" charset="-122"/>
                            </a:rPr>
                            <m:t>𝑀</m:t>
                          </m:r>
                        </m:num>
                        <m:den>
                          <m:r>
                            <a:rPr lang="en-US" altLang="zh-CN" sz="2400" i="1" kern="100">
                              <a:latin typeface="Cambria Math" panose="02040503050406030204" pitchFamily="18" charset="0"/>
                              <a:ea typeface="宋体" panose="02010600030101010101" pitchFamily="2" charset="-122"/>
                            </a:rPr>
                            <m:t>2</m:t>
                          </m:r>
                        </m:den>
                      </m:f>
                      <m:sSup>
                        <m:sSupPr>
                          <m:ctrlPr>
                            <a:rPr lang="en-US" altLang="zh-CN" sz="2400" i="1" kern="100">
                              <a:latin typeface="Cambria Math" panose="02040503050406030204" pitchFamily="18" charset="0"/>
                              <a:ea typeface="宋体" panose="02010600030101010101" pitchFamily="2" charset="-122"/>
                            </a:rPr>
                          </m:ctrlPr>
                        </m:sSupPr>
                        <m:e>
                          <m:d>
                            <m:dPr>
                              <m:ctrlPr>
                                <a:rPr lang="en-US" altLang="zh-CN" sz="2400" i="1" kern="100">
                                  <a:latin typeface="Cambria Math" panose="02040503050406030204" pitchFamily="18" charset="0"/>
                                  <a:ea typeface="宋体" panose="02010600030101010101" pitchFamily="2" charset="-122"/>
                                </a:rPr>
                              </m:ctrlPr>
                            </m:dPr>
                            <m:e>
                              <m:sSubSup>
                                <m:sSubSupPr>
                                  <m:ctrlPr>
                                    <a:rPr lang="en-US" altLang="zh-CN" sz="2400" i="1" kern="100">
                                      <a:latin typeface="Cambria Math" panose="02040503050406030204" pitchFamily="18" charset="0"/>
                                      <a:ea typeface="宋体" panose="02010600030101010101" pitchFamily="2" charset="-122"/>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Sup>
                                <m:sSubSupPr>
                                  <m:ctrlPr>
                                    <a:rPr lang="en-US" altLang="zh-CN" sz="2400" i="1" kern="100">
                                      <a:latin typeface="Cambria Math" panose="02040503050406030204" pitchFamily="18" charset="0"/>
                                      <a:ea typeface="宋体" panose="02010600030101010101" pitchFamily="2" charset="-122"/>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2</m:t>
                              </m:r>
                            </m:e>
                          </m:d>
                        </m:e>
                        <m:sup>
                          <m:r>
                            <a:rPr lang="en-US" altLang="zh-CN" sz="2400" i="1" kern="100">
                              <a:latin typeface="Cambria Math" panose="02040503050406030204" pitchFamily="18" charset="0"/>
                              <a:ea typeface="宋体" panose="02010600030101010101" pitchFamily="2" charset="-122"/>
                            </a:rPr>
                            <m:t>2</m:t>
                          </m:r>
                        </m:sup>
                      </m:sSup>
                    </m:oMath>
                  </m:oMathPara>
                </a14:m>
                <a:endParaRPr lang="en-US" altLang="zh-CN" sz="2400" kern="100" dirty="0">
                  <a:latin typeface="宋体" panose="02010600030101010101" pitchFamily="2" charset="-122"/>
                  <a:ea typeface="宋体" panose="02010600030101010101" pitchFamily="2" charset="-122"/>
                </a:endParaRPr>
              </a:p>
              <a:p>
                <a:pPr indent="254635" algn="just">
                  <a:lnSpc>
                    <a:spcPct val="150000"/>
                  </a:lnSpc>
                </a:pPr>
                <a:r>
                  <a:rPr lang="zh-CN" altLang="en-US" sz="2400" dirty="0">
                    <a:latin typeface="宋体" panose="02010600030101010101" pitchFamily="2" charset="-122"/>
                    <a:ea typeface="宋体" panose="02010600030101010101" pitchFamily="2" charset="-122"/>
                  </a:rPr>
                  <a:t>罚因子</a:t>
                </a:r>
                <a14:m>
                  <m:oMath xmlns:m="http://schemas.openxmlformats.org/officeDocument/2006/math">
                    <m:r>
                      <a:rPr lang="zh-CN" altLang="en-US" sz="2400">
                        <a:latin typeface="Cambria Math" panose="02040503050406030204" pitchFamily="18" charset="0"/>
                        <a:ea typeface="宋体" panose="02010600030101010101" pitchFamily="2" charset="-122"/>
                        <a:cs typeface="宋体" panose="02010600030101010101" pitchFamily="2" charset="-122"/>
                      </a:rPr>
                      <m:t>𝑀</m:t>
                    </m:r>
                    <m:r>
                      <a:rPr lang="zh-CN" altLang="en-US" sz="2400">
                        <a:latin typeface="Cambria Math" panose="02040503050406030204" pitchFamily="18" charset="0"/>
                        <a:ea typeface="宋体" panose="02010600030101010101" pitchFamily="2" charset="-122"/>
                        <a:cs typeface="宋体" panose="02010600030101010101" pitchFamily="2" charset="-122"/>
                      </a:rPr>
                      <m:t>=</m:t>
                    </m:r>
                    <m:r>
                      <a:rPr lang="zh-CN" altLang="en-US" sz="2400">
                        <a:latin typeface="Cambria Math" panose="02040503050406030204" pitchFamily="18" charset="0"/>
                        <a:ea typeface="宋体" panose="02010600030101010101" pitchFamily="2" charset="-122"/>
                        <a:cs typeface="宋体" panose="02010600030101010101" pitchFamily="2" charset="-122"/>
                      </a:rPr>
                      <m:t>1</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r>
                      <a:rPr lang="zh-CN" altLang="en-US" sz="2400">
                        <a:latin typeface="Cambria Math" panose="02040503050406030204" pitchFamily="18" charset="0"/>
                        <a:ea typeface="宋体" panose="02010600030101010101" pitchFamily="2" charset="-122"/>
                        <a:cs typeface="宋体" panose="02010600030101010101" pitchFamily="2" charset="-122"/>
                      </a:rPr>
                      <m:t>𝑀</m:t>
                    </m:r>
                    <m:r>
                      <a:rPr lang="zh-CN" altLang="en-US" sz="2400">
                        <a:latin typeface="Cambria Math" panose="02040503050406030204" pitchFamily="18" charset="0"/>
                        <a:ea typeface="宋体" panose="02010600030101010101" pitchFamily="2" charset="-122"/>
                        <a:cs typeface="宋体" panose="02010600030101010101" pitchFamily="2" charset="-122"/>
                      </a:rPr>
                      <m:t>=</m:t>
                    </m:r>
                    <m:r>
                      <a:rPr lang="zh-CN" altLang="en-US" sz="2400">
                        <a:latin typeface="Cambria Math" panose="02040503050406030204" pitchFamily="18" charset="0"/>
                        <a:ea typeface="宋体" panose="02010600030101010101" pitchFamily="2" charset="-122"/>
                        <a:cs typeface="宋体" panose="02010600030101010101" pitchFamily="2" charset="-122"/>
                      </a:rPr>
                      <m:t>10</m:t>
                    </m:r>
                  </m:oMath>
                </a14:m>
                <a:r>
                  <a:rPr lang="zh-CN" altLang="en-US" sz="2400" dirty="0">
                    <a:latin typeface="宋体" panose="02010600030101010101" pitchFamily="2" charset="-122"/>
                    <a:ea typeface="宋体" panose="02010600030101010101" pitchFamily="2" charset="-122"/>
                  </a:rPr>
                  <a:t>时，</a:t>
                </a:r>
                <a14:m>
                  <m:oMath xmlns:m="http://schemas.openxmlformats.org/officeDocument/2006/math">
                    <m:r>
                      <a:rPr lang="zh-CN" altLang="en-US" sz="2400">
                        <a:latin typeface="Cambria Math" panose="02040503050406030204" pitchFamily="18" charset="0"/>
                        <a:ea typeface="宋体" panose="02010600030101010101" pitchFamily="2" charset="-122"/>
                      </a:rPr>
                      <m:t>𝑝</m:t>
                    </m:r>
                    <m:d>
                      <m:dPr>
                        <m:ctrlPr>
                          <a:rPr lang="zh-CN" altLang="en-US" sz="2400" i="1">
                            <a:latin typeface="Cambria Math" panose="02040503050406030204" pitchFamily="18" charset="0"/>
                            <a:ea typeface="宋体" panose="02010600030101010101" pitchFamily="2" charset="-122"/>
                          </a:rPr>
                        </m:ctrlPr>
                      </m:dPr>
                      <m:e>
                        <m:r>
                          <a:rPr lang="zh-CN" altLang="en-US" sz="2400">
                            <a:latin typeface="Cambria Math" panose="02040503050406030204" pitchFamily="18" charset="0"/>
                            <a:ea typeface="宋体" panose="02010600030101010101" pitchFamily="2" charset="-122"/>
                          </a:rPr>
                          <m:t>𝑥</m:t>
                        </m:r>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𝑀</m:t>
                        </m:r>
                      </m:e>
                    </m:d>
                  </m:oMath>
                </a14:m>
                <a:r>
                  <a:rPr lang="zh-CN" altLang="en-US" sz="2400" dirty="0">
                    <a:latin typeface="宋体" panose="02010600030101010101" pitchFamily="2" charset="-122"/>
                    <a:ea typeface="宋体" panose="02010600030101010101" pitchFamily="2" charset="-122"/>
                  </a:rPr>
                  <a:t>的等高线图如下</a:t>
                </a:r>
                <a:endParaRPr lang="zh-CN" altLang="en-US" sz="2400" dirty="0">
                  <a:latin typeface="宋体" panose="02010600030101010101" pitchFamily="2" charset="-122"/>
                  <a:ea typeface="宋体" panose="02010600030101010101" pitchFamily="2" charset="-122"/>
                </a:endParaRPr>
              </a:p>
              <a:p>
                <a:pPr indent="254635" algn="just">
                  <a:lnSpc>
                    <a:spcPct val="150000"/>
                  </a:lnSpc>
                </a:pPr>
                <a:endParaRPr lang="en-US" altLang="zh-CN" sz="2400" kern="100" dirty="0">
                  <a:latin typeface="宋体" panose="02010600030101010101" pitchFamily="2" charset="-122"/>
                  <a:ea typeface="宋体" panose="0201060003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251520" y="1484784"/>
                <a:ext cx="8154906" cy="4370812"/>
              </a:xfrm>
              <a:prstGeom prst="rect">
                <a:avLst/>
              </a:prstGeom>
              <a:blipFill rotWithShape="1">
                <a:blip r:embed="rId1"/>
                <a:stretch>
                  <a:fillRect l="-1" t="-4" r="4" b="6"/>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6"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739" y="1357477"/>
            <a:ext cx="3319463" cy="2568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0248" name="文本框 14"/>
              <p:cNvSpPr txBox="1">
                <a:spLocks noChangeArrowheads="1"/>
              </p:cNvSpPr>
              <p:nvPr/>
            </p:nvSpPr>
            <p:spPr bwMode="auto">
              <a:xfrm>
                <a:off x="657739" y="1052685"/>
                <a:ext cx="34730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Cambria Math" panose="02040503050406030204" pitchFamily="18" charset="0"/>
                        </a:rPr>
                        <m:t>𝑀</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1</m:t>
                      </m:r>
                    </m:oMath>
                  </m:oMathPara>
                </a14:m>
                <a:endParaRPr kumimoji="0" lang="zh-CN" altLang="en-US" sz="1800">
                  <a:latin typeface="宋体" panose="02010600030101010101" pitchFamily="2" charset="-122"/>
                </a:endParaRPr>
              </a:p>
            </p:txBody>
          </p:sp>
        </mc:Choice>
        <mc:Fallback>
          <p:sp>
            <p:nvSpPr>
              <p:cNvPr id="10248" name="文本框 14"/>
              <p:cNvSpPr txBox="1">
                <a:spLocks noRot="1" noChangeAspect="1" noMove="1" noResize="1" noEditPoints="1" noAdjustHandles="1" noChangeArrowheads="1" noChangeShapeType="1" noTextEdit="1"/>
              </p:cNvSpPr>
              <p:nvPr/>
            </p:nvSpPr>
            <p:spPr bwMode="auto">
              <a:xfrm>
                <a:off x="657739" y="1052685"/>
                <a:ext cx="3473054" cy="369332"/>
              </a:xfrm>
              <a:prstGeom prst="rect">
                <a:avLst/>
              </a:prstGeom>
              <a:blipFill rotWithShape="1">
                <a:blip r:embed="rId2"/>
                <a:stretch>
                  <a:fillRect l="-15" t="-133" r="3" b="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0249" name="图片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331686"/>
            <a:ext cx="3246835" cy="2568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10250" name="文本框 18"/>
              <p:cNvSpPr txBox="1">
                <a:spLocks noChangeArrowheads="1"/>
              </p:cNvSpPr>
              <p:nvPr/>
            </p:nvSpPr>
            <p:spPr bwMode="auto">
              <a:xfrm>
                <a:off x="4625701" y="1052397"/>
                <a:ext cx="34730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Tx/>
                  <a:buSzTx/>
                  <a:buFontTx/>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Cambria Math" panose="02040503050406030204" pitchFamily="18" charset="0"/>
                        </a:rPr>
                        <m:t>𝑀</m:t>
                      </m:r>
                      <m:r>
                        <a:rPr lang="en-US" altLang="zh-CN" sz="1800" i="1">
                          <a:latin typeface="Cambria Math" panose="02040503050406030204" pitchFamily="18" charset="0"/>
                          <a:cs typeface="Cambria Math" panose="02040503050406030204" pitchFamily="18" charset="0"/>
                        </a:rPr>
                        <m:t>=</m:t>
                      </m:r>
                      <m:r>
                        <a:rPr lang="en-US" altLang="zh-CN" sz="1800" i="1">
                          <a:latin typeface="Cambria Math" panose="02040503050406030204" pitchFamily="18" charset="0"/>
                          <a:cs typeface="Cambria Math" panose="02040503050406030204" pitchFamily="18" charset="0"/>
                        </a:rPr>
                        <m:t>10</m:t>
                      </m:r>
                    </m:oMath>
                  </m:oMathPara>
                </a14:m>
                <a:endParaRPr kumimoji="0" lang="zh-CN" altLang="en-US" sz="1800">
                  <a:latin typeface="宋体" panose="02010600030101010101" pitchFamily="2" charset="-122"/>
                </a:endParaRPr>
              </a:p>
            </p:txBody>
          </p:sp>
        </mc:Choice>
        <mc:Fallback>
          <p:sp>
            <p:nvSpPr>
              <p:cNvPr id="10250" name="文本框 18"/>
              <p:cNvSpPr txBox="1">
                <a:spLocks noRot="1" noChangeAspect="1" noMove="1" noResize="1" noEditPoints="1" noAdjustHandles="1" noChangeArrowheads="1" noChangeShapeType="1" noTextEdit="1"/>
              </p:cNvSpPr>
              <p:nvPr/>
            </p:nvSpPr>
            <p:spPr bwMode="auto">
              <a:xfrm>
                <a:off x="4625701" y="1052397"/>
                <a:ext cx="3473054" cy="369332"/>
              </a:xfrm>
              <a:prstGeom prst="rect">
                <a:avLst/>
              </a:prstGeom>
              <a:blipFill rotWithShape="1">
                <a:blip r:embed="rId4"/>
                <a:stretch>
                  <a:fillRect l="-10" t="-55" r="17" b="16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278524" y="4509120"/>
                <a:ext cx="8154906" cy="1127296"/>
              </a:xfrm>
              <a:prstGeom prst="rect">
                <a:avLst/>
              </a:prstGeom>
              <a:noFill/>
            </p:spPr>
            <p:txBody>
              <a:bodyPr wrap="square">
                <a:spAutoFit/>
              </a:bodyPr>
              <a:lstStyle/>
              <a:p>
                <a:pPr indent="254635" algn="just">
                  <a:lnSpc>
                    <a:spcPct val="150000"/>
                  </a:lnSpc>
                </a:pPr>
                <a:r>
                  <a:rPr lang="en-US" altLang="zh-CN" sz="2400" kern="1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可以看出， </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𝑀</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10</m:t>
                    </m:r>
                  </m:oMath>
                </a14:m>
                <a:r>
                  <a:rPr lang="zh-CN" altLang="en-US" sz="2400" dirty="0">
                    <a:latin typeface="宋体" panose="02010600030101010101" pitchFamily="2" charset="-122"/>
                    <a:ea typeface="宋体" panose="02010600030101010101" pitchFamily="2" charset="-122"/>
                  </a:rPr>
                  <a:t>时找到罚函数</a:t>
                </a:r>
                <a14:m>
                  <m:oMath xmlns:m="http://schemas.openxmlformats.org/officeDocument/2006/math">
                    <m:r>
                      <a:rPr lang="zh-CN" altLang="en-US" sz="2400">
                        <a:latin typeface="Cambria Math" panose="02040503050406030204" pitchFamily="18" charset="0"/>
                        <a:ea typeface="宋体" panose="02010600030101010101" pitchFamily="2" charset="-122"/>
                      </a:rPr>
                      <m:t>𝑝</m:t>
                    </m:r>
                    <m:d>
                      <m:dPr>
                        <m:ctrlPr>
                          <a:rPr lang="zh-CN" altLang="en-US" sz="2400" i="1">
                            <a:latin typeface="Cambria Math" panose="02040503050406030204" pitchFamily="18" charset="0"/>
                            <a:ea typeface="宋体" panose="02010600030101010101" pitchFamily="2" charset="-122"/>
                          </a:rPr>
                        </m:ctrlPr>
                      </m:dPr>
                      <m:e>
                        <m:r>
                          <a:rPr lang="zh-CN" altLang="en-US" sz="2400">
                            <a:latin typeface="Cambria Math" panose="02040503050406030204" pitchFamily="18" charset="0"/>
                            <a:ea typeface="宋体" panose="02010600030101010101" pitchFamily="2" charset="-122"/>
                          </a:rPr>
                          <m:t>𝑥</m:t>
                        </m:r>
                        <m:r>
                          <a:rPr lang="zh-CN" altLang="en-US" sz="2400">
                            <a:latin typeface="Cambria Math" panose="02040503050406030204" pitchFamily="18" charset="0"/>
                            <a:ea typeface="宋体" panose="02010600030101010101" pitchFamily="2" charset="-122"/>
                          </a:rPr>
                          <m:t>,</m:t>
                        </m:r>
                        <m:r>
                          <a:rPr lang="zh-CN" altLang="en-US" sz="2400">
                            <a:latin typeface="Cambria Math" panose="02040503050406030204" pitchFamily="18" charset="0"/>
                            <a:ea typeface="宋体" panose="02010600030101010101" pitchFamily="2" charset="-122"/>
                          </a:rPr>
                          <m:t>𝑀</m:t>
                        </m:r>
                      </m:e>
                    </m:d>
                    <m:r>
                      <a:rPr lang="zh-CN" altLang="en-US" sz="2400">
                        <a:latin typeface="Cambria Math" panose="02040503050406030204" pitchFamily="18" charset="0"/>
                        <a:ea typeface="宋体" panose="02010600030101010101" pitchFamily="2" charset="-122"/>
                      </a:rPr>
                      <m:t>极小</m:t>
                    </m:r>
                  </m:oMath>
                </a14:m>
                <a:r>
                  <a:rPr lang="zh-CN" altLang="en-US" sz="2400" dirty="0">
                    <a:latin typeface="宋体" panose="02010600030101010101" pitchFamily="2" charset="-122"/>
                    <a:ea typeface="宋体" panose="02010600030101010101" pitchFamily="2" charset="-122"/>
                  </a:rPr>
                  <a:t>点</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m:t>
                    </m:r>
                  </m:oMath>
                </a14:m>
                <a:r>
                  <a:rPr lang="zh-CN" altLang="en-US" sz="2400" dirty="0">
                    <a:latin typeface="宋体" panose="02010600030101010101" pitchFamily="2" charset="-122"/>
                    <a:ea typeface="宋体" panose="02010600030101010101" pitchFamily="2" charset="-122"/>
                  </a:rPr>
                  <a:t>计算上有困难。</a:t>
                </a:r>
                <a:endParaRPr lang="zh-CN" altLang="en-US" sz="2400" dirty="0">
                  <a:latin typeface="宋体" panose="02010600030101010101" pitchFamily="2" charset="-122"/>
                  <a:ea typeface="宋体" panose="02010600030101010101" pitchFamily="2"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278524" y="4509120"/>
                <a:ext cx="8154906" cy="1127296"/>
              </a:xfrm>
              <a:prstGeom prst="rect">
                <a:avLst/>
              </a:prstGeom>
              <a:blipFill rotWithShape="1">
                <a:blip r:embed="rId5"/>
                <a:stretch>
                  <a:fillRect l="-5" t="-55" r="8" b="-2746"/>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359532" y="376305"/>
                <a:ext cx="8676964" cy="6105389"/>
              </a:xfrm>
              <a:prstGeom prst="rect">
                <a:avLst/>
              </a:prstGeom>
              <a:noFill/>
            </p:spPr>
            <p:txBody>
              <a:bodyPr wrap="square" rtlCol="0">
                <a:spAutoFit/>
              </a:bodyPr>
              <a:lstStyle/>
              <a:p>
                <a:pPr>
                  <a:lnSpc>
                    <a:spcPct val="150000"/>
                  </a:lnSpc>
                </a:pPr>
                <a:r>
                  <a:rPr lang="en-US" altLang="zh-CN" sz="2300" dirty="0">
                    <a:latin typeface="宋体" panose="02010600030101010101" pitchFamily="2" charset="-122"/>
                    <a:ea typeface="宋体" panose="02010600030101010101" pitchFamily="2" charset="-122"/>
                  </a:rPr>
                  <a:t>	</a:t>
                </a:r>
                <a:r>
                  <a:rPr lang="zh-CN" altLang="en-US" sz="2300" dirty="0">
                    <a:latin typeface="宋体" panose="02010600030101010101" pitchFamily="2" charset="-122"/>
                    <a:ea typeface="宋体" panose="02010600030101010101" pitchFamily="2" charset="-122"/>
                  </a:rPr>
                  <a:t>因此，一般策略是取一个趋向无穷大的严格递增正数列</a:t>
                </a:r>
                <a14:m>
                  <m:oMath xmlns:m="http://schemas.openxmlformats.org/officeDocument/2006/math">
                    <m:d>
                      <m:dPr>
                        <m:begChr m:val="{"/>
                        <m:endChr m:val="}"/>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sub>
                        </m:sSub>
                      </m:e>
                    </m:d>
                  </m:oMath>
                </a14:m>
                <a:r>
                  <a:rPr lang="zh-CN" altLang="en-US" sz="2300" dirty="0">
                    <a:latin typeface="宋体" panose="02010600030101010101" pitchFamily="2" charset="-122"/>
                    <a:ea typeface="宋体" panose="02010600030101010101" pitchFamily="2" charset="-122"/>
                  </a:rPr>
                  <a:t>，从</a:t>
                </a:r>
                <a14:m>
                  <m:oMath xmlns:m="http://schemas.openxmlformats.org/officeDocument/2006/math">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300" dirty="0">
                    <a:latin typeface="宋体" panose="02010600030101010101" pitchFamily="2" charset="-122"/>
                    <a:ea typeface="宋体" panose="02010600030101010101" pitchFamily="2" charset="-122"/>
                  </a:rPr>
                  <a:t>开始，对每个</a:t>
                </a:r>
                <a14:m>
                  <m:oMath xmlns:m="http://schemas.openxmlformats.org/officeDocument/2006/math">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300" dirty="0">
                    <a:latin typeface="宋体" panose="02010600030101010101" pitchFamily="2" charset="-122"/>
                    <a:ea typeface="宋体" panose="02010600030101010101" pitchFamily="2" charset="-122"/>
                  </a:rPr>
                  <a:t>极小化罚函数：</a:t>
                </a:r>
                <a:endParaRPr lang="zh-CN" altLang="en-US" sz="2300" dirty="0">
                  <a:latin typeface="宋体" panose="02010600030101010101" pitchFamily="2" charset="-122"/>
                  <a:ea typeface="宋体" panose="02010600030101010101" pitchFamily="2" charset="-122"/>
                </a:endParaRPr>
              </a:p>
              <a:p>
                <a:pPr>
                  <a:lnSpc>
                    <a:spcPct val="150000"/>
                  </a:lnSpc>
                </a:pPr>
                <a14:m>
                  <m:oMathPara xmlns:m="http://schemas.openxmlformats.org/officeDocument/2006/math">
                    <m:oMathParaPr>
                      <m:jc m:val="centerGroup"/>
                    </m:oMathParaPr>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𝑝</m:t>
                      </m:r>
                      <m:d>
                        <m:d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sub>
                          </m:sSub>
                        </m:e>
                      </m:d>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𝑓</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𝑥</m:t>
                      </m:r>
                      <m:r>
                        <a:rPr lang="en-US" altLang="zh-CN" sz="2300" i="1">
                          <a:latin typeface="Cambria Math" panose="02040503050406030204" pitchFamily="18" charset="0"/>
                          <a:cs typeface="Cambria Math" panose="02040503050406030204" pitchFamily="18" charset="0"/>
                        </a:rPr>
                        <m:t>)+</m:t>
                      </m:r>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sub>
                      </m:sSub>
                      <m:d>
                        <m:dPr>
                          <m:begChr m:val="{"/>
                          <m:endChr m:val="}"/>
                          <m:ctrlPr>
                            <a:rPr lang="en-US" altLang="zh-CN" sz="2300" i="1">
                              <a:latin typeface="Cambria Math" panose="02040503050406030204" pitchFamily="18" charset="0"/>
                              <a:cs typeface="Cambria Math" panose="02040503050406030204" pitchFamily="18" charset="0"/>
                            </a:rPr>
                          </m:ctrlPr>
                        </m:dPr>
                        <m:e>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𝑗</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𝑙</m:t>
                              </m:r>
                            </m:sup>
                            <m:e>
                              <m:sSup>
                                <m:sSupPr>
                                  <m:ctrlPr>
                                    <a:rPr lang="en-US" altLang="zh-CN" sz="2300" i="1">
                                      <a:latin typeface="Cambria Math" panose="02040503050406030204" pitchFamily="18" charset="0"/>
                                      <a:cs typeface="Cambria Math" panose="02040503050406030204" pitchFamily="18" charset="0"/>
                                    </a:rPr>
                                  </m:ctrlPr>
                                </m:sSupPr>
                                <m:e>
                                  <m:d>
                                    <m:dPr>
                                      <m:begChr m:val="["/>
                                      <m:endChr m:val="]"/>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𝑚𝑖𝑛</m:t>
                                      </m:r>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0</m:t>
                                          </m:r>
                                          <m:r>
                                            <a:rPr lang="en-US" altLang="zh-CN" sz="2300" i="1">
                                              <a:latin typeface="Cambria Math" panose="02040503050406030204" pitchFamily="18" charset="0"/>
                                              <a:cs typeface="Cambria Math" panose="02040503050406030204" pitchFamily="18" charset="0"/>
                                            </a:rPr>
                                            <m:t>, </m:t>
                                          </m:r>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𝑔</m:t>
                                              </m:r>
                                            </m:e>
                                            <m:sub>
                                              <m:r>
                                                <a:rPr lang="en-US" altLang="zh-CN" sz="2300" i="1">
                                                  <a:latin typeface="Cambria Math" panose="02040503050406030204" pitchFamily="18" charset="0"/>
                                                  <a:cs typeface="Cambria Math" panose="02040503050406030204" pitchFamily="18" charset="0"/>
                                                </a:rPr>
                                                <m:t>𝑗</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e>
                                      </m:d>
                                    </m:e>
                                  </m:d>
                                </m:e>
                                <m:sup>
                                  <m:r>
                                    <a:rPr lang="en-US" altLang="zh-CN" sz="2300" i="1">
                                      <a:latin typeface="Cambria Math" panose="02040503050406030204" pitchFamily="18" charset="0"/>
                                      <a:cs typeface="Cambria Math" panose="02040503050406030204" pitchFamily="18" charset="0"/>
                                    </a:rPr>
                                    <m:t>2</m:t>
                                  </m:r>
                                </m:sup>
                              </m:sSup>
                            </m:e>
                          </m:nary>
                          <m:r>
                            <a:rPr lang="en-US" altLang="zh-CN" sz="2300" i="1">
                              <a:latin typeface="Cambria Math" panose="02040503050406030204" pitchFamily="18" charset="0"/>
                              <a:cs typeface="Cambria Math" panose="02040503050406030204" pitchFamily="18" charset="0"/>
                            </a:rPr>
                            <m:t>+</m:t>
                          </m:r>
                          <m:nary>
                            <m:naryPr>
                              <m:chr m:val="∑"/>
                              <m:limLoc m:val="undOvr"/>
                              <m:ctrlPr>
                                <a:rPr lang="en-US" altLang="zh-CN" sz="2300" i="1">
                                  <a:latin typeface="Cambria Math" panose="02040503050406030204" pitchFamily="18" charset="0"/>
                                  <a:cs typeface="Cambria Math" panose="02040503050406030204" pitchFamily="18" charset="0"/>
                                </a:rPr>
                              </m:ctrlPr>
                            </m:naryPr>
                            <m:sub>
                              <m:r>
                                <a:rPr lang="en-US" altLang="zh-CN" sz="2300" i="1">
                                  <a:latin typeface="Cambria Math" panose="02040503050406030204" pitchFamily="18" charset="0"/>
                                  <a:cs typeface="Cambria Math" panose="02040503050406030204" pitchFamily="18" charset="0"/>
                                </a:rPr>
                                <m:t>𝑖</m:t>
                              </m:r>
                              <m:r>
                                <a:rPr lang="en-US" altLang="zh-CN" sz="2300" i="1">
                                  <a:latin typeface="Cambria Math" panose="02040503050406030204" pitchFamily="18" charset="0"/>
                                  <a:cs typeface="Cambria Math" panose="02040503050406030204" pitchFamily="18" charset="0"/>
                                </a:rPr>
                                <m:t>=</m:t>
                              </m:r>
                              <m:r>
                                <a:rPr lang="en-US" altLang="zh-CN" sz="2300" i="1">
                                  <a:latin typeface="Cambria Math" panose="02040503050406030204" pitchFamily="18" charset="0"/>
                                  <a:cs typeface="Cambria Math" panose="02040503050406030204" pitchFamily="18" charset="0"/>
                                </a:rPr>
                                <m:t>1</m:t>
                              </m:r>
                            </m:sub>
                            <m:sup>
                              <m:r>
                                <a:rPr lang="en-US" altLang="zh-CN" sz="2300" i="1">
                                  <a:latin typeface="Cambria Math" panose="02040503050406030204" pitchFamily="18" charset="0"/>
                                  <a:cs typeface="Cambria Math" panose="02040503050406030204" pitchFamily="18" charset="0"/>
                                </a:rPr>
                                <m:t>𝑚</m:t>
                              </m:r>
                            </m:sup>
                            <m:e>
                              <m:sSup>
                                <m:sSupPr>
                                  <m:ctrlPr>
                                    <a:rPr lang="en-US" altLang="zh-CN" sz="2300" i="1">
                                      <a:latin typeface="Cambria Math" panose="02040503050406030204" pitchFamily="18" charset="0"/>
                                      <a:cs typeface="Cambria Math" panose="02040503050406030204" pitchFamily="18" charset="0"/>
                                    </a:rPr>
                                  </m:ctrlPr>
                                </m:sSupPr>
                                <m:e>
                                  <m:d>
                                    <m:dPr>
                                      <m:begChr m:val="["/>
                                      <m:endChr m:val="]"/>
                                      <m:ctrlPr>
                                        <a:rPr lang="en-US" altLang="zh-CN" sz="2300" i="1">
                                          <a:latin typeface="Cambria Math" panose="02040503050406030204" pitchFamily="18" charset="0"/>
                                          <a:cs typeface="Cambria Math" panose="02040503050406030204" pitchFamily="18" charset="0"/>
                                        </a:rPr>
                                      </m:ctrlPr>
                                    </m:dPr>
                                    <m:e>
                                      <m:sSub>
                                        <m:sSubPr>
                                          <m:ctrlPr>
                                            <a:rPr lang="en-US" altLang="zh-CN" sz="2300" i="1">
                                              <a:latin typeface="Cambria Math" panose="02040503050406030204" pitchFamily="18" charset="0"/>
                                              <a:cs typeface="Cambria Math" panose="02040503050406030204" pitchFamily="18" charset="0"/>
                                            </a:rPr>
                                          </m:ctrlPr>
                                        </m:sSubPr>
                                        <m:e>
                                          <m:r>
                                            <a:rPr lang="en-US" altLang="zh-CN" sz="2300" i="1">
                                              <a:latin typeface="Cambria Math" panose="02040503050406030204" pitchFamily="18" charset="0"/>
                                              <a:cs typeface="Cambria Math" panose="02040503050406030204" pitchFamily="18" charset="0"/>
                                            </a:rPr>
                                            <m:t>ℎ</m:t>
                                          </m:r>
                                        </m:e>
                                        <m:sub>
                                          <m:r>
                                            <a:rPr lang="en-US" altLang="zh-CN" sz="2300" i="1">
                                              <a:latin typeface="Cambria Math" panose="02040503050406030204" pitchFamily="18" charset="0"/>
                                              <a:cs typeface="Cambria Math" panose="02040503050406030204" pitchFamily="18" charset="0"/>
                                            </a:rPr>
                                            <m:t>𝑖</m:t>
                                          </m:r>
                                        </m:sub>
                                      </m:sSub>
                                      <m:d>
                                        <m:dPr>
                                          <m:ctrlPr>
                                            <a:rPr lang="en-US" altLang="zh-CN" sz="2300" i="1">
                                              <a:latin typeface="Cambria Math" panose="02040503050406030204" pitchFamily="18" charset="0"/>
                                              <a:cs typeface="Cambria Math" panose="02040503050406030204" pitchFamily="18" charset="0"/>
                                            </a:rPr>
                                          </m:ctrlPr>
                                        </m:dPr>
                                        <m:e>
                                          <m:r>
                                            <a:rPr lang="en-US" altLang="zh-CN" sz="2300" i="1">
                                              <a:latin typeface="Cambria Math" panose="02040503050406030204" pitchFamily="18" charset="0"/>
                                              <a:cs typeface="Cambria Math" panose="02040503050406030204" pitchFamily="18" charset="0"/>
                                            </a:rPr>
                                            <m:t>𝑥</m:t>
                                          </m:r>
                                        </m:e>
                                      </m:d>
                                    </m:e>
                                  </m:d>
                                </m:e>
                                <m:sup>
                                  <m:r>
                                    <a:rPr lang="en-US" altLang="zh-CN" sz="2300" i="1">
                                      <a:latin typeface="Cambria Math" panose="02040503050406030204" pitchFamily="18" charset="0"/>
                                      <a:cs typeface="Cambria Math" panose="02040503050406030204" pitchFamily="18" charset="0"/>
                                    </a:rPr>
                                    <m:t>2</m:t>
                                  </m:r>
                                </m:sup>
                              </m:sSup>
                            </m:e>
                          </m:nary>
                        </m:e>
                      </m:d>
                    </m:oMath>
                  </m:oMathPara>
                </a14:m>
                <a:endParaRPr lang="zh-CN" altLang="en-US" sz="2300" dirty="0">
                  <a:latin typeface="宋体" panose="02010600030101010101" pitchFamily="2" charset="-122"/>
                  <a:ea typeface="宋体" panose="02010600030101010101" pitchFamily="2" charset="-122"/>
                </a:endParaRPr>
              </a:p>
              <a:p>
                <a:pPr>
                  <a:lnSpc>
                    <a:spcPct val="150000"/>
                  </a:lnSpc>
                </a:pPr>
                <a:r>
                  <a:rPr lang="zh-CN" altLang="en-US" sz="2300" dirty="0">
                    <a:latin typeface="宋体" panose="02010600030101010101" pitchFamily="2" charset="-122"/>
                    <a:ea typeface="宋体" panose="02010600030101010101" pitchFamily="2" charset="-122"/>
                  </a:rPr>
                  <a:t>		    </a:t>
                </a:r>
                <a:endParaRPr lang="zh-CN" altLang="en-US" sz="2300" dirty="0">
                  <a:latin typeface="宋体" panose="02010600030101010101" pitchFamily="2" charset="-122"/>
                  <a:ea typeface="宋体" panose="02010600030101010101" pitchFamily="2" charset="-122"/>
                </a:endParaRPr>
              </a:p>
              <a:p>
                <a:pPr>
                  <a:lnSpc>
                    <a:spcPct val="150000"/>
                  </a:lnSpc>
                </a:pPr>
                <a:r>
                  <a:rPr lang="zh-CN" altLang="en-US" sz="2300" dirty="0">
                    <a:latin typeface="宋体" panose="02010600030101010101" pitchFamily="2" charset="-122"/>
                    <a:ea typeface="宋体" panose="02010600030101010101" pitchFamily="2" charset="-122"/>
                  </a:rPr>
                  <a:t>随着</a:t>
                </a:r>
                <a14:m>
                  <m:oMath xmlns:m="http://schemas.openxmlformats.org/officeDocument/2006/math">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300" dirty="0">
                    <a:latin typeface="宋体" panose="02010600030101010101" pitchFamily="2" charset="-122"/>
                    <a:ea typeface="宋体" panose="02010600030101010101" pitchFamily="2" charset="-122"/>
                  </a:rPr>
                  <a:t>的增加，对远离可行域</a:t>
                </a:r>
                <a14:m>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300" dirty="0">
                    <a:latin typeface="宋体" panose="02010600030101010101" pitchFamily="2" charset="-122"/>
                    <a:ea typeface="宋体" panose="02010600030101010101" pitchFamily="2" charset="-122"/>
                  </a:rPr>
                  <a:t>的点惩罚越来越重，这就迫使罚函数的极小点</a:t>
                </a:r>
                <a14:m>
                  <m:oMath xmlns:m="http://schemas.openxmlformats.org/officeDocument/2006/math">
                    <m:sSup>
                      <m:sSup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300" dirty="0">
                    <a:latin typeface="宋体" panose="02010600030101010101" pitchFamily="2" charset="-122"/>
                    <a:ea typeface="宋体" panose="02010600030101010101" pitchFamily="2" charset="-122"/>
                  </a:rPr>
                  <a:t>与可行域</a:t>
                </a:r>
                <a14:m>
                  <m:oMath xmlns:m="http://schemas.openxmlformats.org/officeDocument/2006/math">
                    <m:r>
                      <a:rPr lang="en-US" altLang="zh-CN" sz="2300" i="1">
                        <a:latin typeface="Cambria Math" panose="02040503050406030204" pitchFamily="18" charset="0"/>
                        <a:ea typeface="宋体" panose="02010600030101010101" pitchFamily="2" charset="-122"/>
                        <a:cs typeface="Cambria Math" panose="02040503050406030204" pitchFamily="18" charset="0"/>
                      </a:rPr>
                      <m:t>𝐻</m:t>
                    </m:r>
                  </m:oMath>
                </a14:m>
                <a:r>
                  <a:rPr lang="zh-CN" altLang="en-US" sz="2300" dirty="0">
                    <a:latin typeface="宋体" panose="02010600030101010101" pitchFamily="2" charset="-122"/>
                    <a:ea typeface="宋体" panose="02010600030101010101" pitchFamily="2" charset="-122"/>
                  </a:rPr>
                  <a:t>的“距离”越来越近。当</a:t>
                </a:r>
                <a14:m>
                  <m:oMath xmlns:m="http://schemas.openxmlformats.org/officeDocument/2006/math">
                    <m:sSub>
                      <m:sSub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3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300" dirty="0">
                    <a:latin typeface="宋体" panose="02010600030101010101" pitchFamily="2" charset="-122"/>
                    <a:ea typeface="宋体" panose="02010600030101010101" pitchFamily="2" charset="-122"/>
                  </a:rPr>
                  <a:t>趋向于正无穷大时，点列</a:t>
                </a:r>
                <a14:m>
                  <m:oMath xmlns:m="http://schemas.openxmlformats.org/officeDocument/2006/math">
                    <m:d>
                      <m:dPr>
                        <m:begChr m:val="{"/>
                        <m:endChr m:val="}"/>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sup>
                        </m:sSup>
                      </m:e>
                    </m:d>
                  </m:oMath>
                </a14:m>
                <a:r>
                  <a:rPr lang="zh-CN" altLang="en-US" sz="2300" dirty="0">
                    <a:latin typeface="宋体" panose="02010600030101010101" pitchFamily="2" charset="-122"/>
                    <a:ea typeface="宋体" panose="02010600030101010101" pitchFamily="2" charset="-122"/>
                  </a:rPr>
                  <a:t>就从可行域外部趋于原问题的极小点（可以证明，在适当条件下，这个点列</a:t>
                </a:r>
                <a14:m>
                  <m:oMath xmlns:m="http://schemas.openxmlformats.org/officeDocument/2006/math">
                    <m:d>
                      <m:dPr>
                        <m:begChr m:val="{"/>
                        <m:endChr m:val="}"/>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3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3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300" i="1">
                                <a:latin typeface="Cambria Math" panose="02040503050406030204" pitchFamily="18" charset="0"/>
                                <a:ea typeface="宋体" panose="02010600030101010101" pitchFamily="2" charset="-122"/>
                                <a:cs typeface="Cambria Math" panose="02040503050406030204" pitchFamily="18" charset="0"/>
                              </a:rPr>
                              <m:t>(</m:t>
                            </m:r>
                            <m:r>
                              <a:rPr lang="en-US" altLang="zh-CN" sz="2300" i="1">
                                <a:latin typeface="Cambria Math" panose="02040503050406030204" pitchFamily="18" charset="0"/>
                                <a:ea typeface="宋体" panose="02010600030101010101" pitchFamily="2" charset="-122"/>
                                <a:cs typeface="Cambria Math" panose="02040503050406030204" pitchFamily="18" charset="0"/>
                              </a:rPr>
                              <m:t>𝑘</m:t>
                            </m:r>
                            <m:r>
                              <a:rPr lang="en-US" altLang="zh-CN" sz="2300" i="1">
                                <a:latin typeface="Cambria Math" panose="02040503050406030204" pitchFamily="18" charset="0"/>
                                <a:ea typeface="宋体" panose="02010600030101010101" pitchFamily="2" charset="-122"/>
                                <a:cs typeface="Cambria Math" panose="02040503050406030204" pitchFamily="18" charset="0"/>
                              </a:rPr>
                              <m:t>)</m:t>
                            </m:r>
                          </m:sup>
                        </m:sSup>
                      </m:e>
                    </m:d>
                  </m:oMath>
                </a14:m>
                <a:r>
                  <a:rPr lang="zh-CN" altLang="en-US" sz="2300" dirty="0">
                    <a:latin typeface="宋体" panose="02010600030101010101" pitchFamily="2" charset="-122"/>
                    <a:ea typeface="宋体" panose="02010600030101010101" pitchFamily="2" charset="-122"/>
                  </a:rPr>
                  <a:t>收敛于约束问题的最优解），“外点法”正是因此而得名。</a:t>
                </a:r>
                <a:endParaRPr lang="zh-CN" altLang="en-US" sz="2300" dirty="0">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59532" y="376305"/>
                <a:ext cx="8676964" cy="6105389"/>
              </a:xfrm>
              <a:prstGeom prst="rect">
                <a:avLst/>
              </a:prstGeom>
              <a:blipFill rotWithShape="1">
                <a:blip r:embed="rId1"/>
                <a:stretch>
                  <a:fillRect l="-1" t="-6" r="5" b="4"/>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224630" y="322604"/>
                <a:ext cx="8919370" cy="5704960"/>
              </a:xfrm>
              <a:prstGeom prst="rect">
                <a:avLst/>
              </a:prstGeom>
              <a:noFill/>
            </p:spPr>
            <p:txBody>
              <a:bodyPr wrap="square" rtlCol="0">
                <a:spAutoFit/>
              </a:bodyPr>
              <a:lstStyle/>
              <a:p>
                <a:pPr algn="just">
                  <a:lnSpc>
                    <a:spcPct val="150000"/>
                  </a:lnSpc>
                </a:pPr>
                <a:r>
                  <a:rPr lang="zh-CN" altLang="en-US" sz="2200" b="1" dirty="0">
                    <a:solidFill>
                      <a:schemeClr val="accent1"/>
                    </a:solidFill>
                    <a:latin typeface="宋体" panose="02010600030101010101" pitchFamily="2" charset="-122"/>
                    <a:ea typeface="宋体" panose="02010600030101010101" pitchFamily="2" charset="-122"/>
                  </a:rPr>
                  <a:t>外点法</a:t>
                </a:r>
                <a:r>
                  <a:rPr lang="en-US" altLang="zh-CN" sz="2200" dirty="0">
                    <a:latin typeface="宋体" panose="02010600030101010101" pitchFamily="2" charset="-122"/>
                    <a:ea typeface="宋体" panose="02010600030101010101" pitchFamily="2" charset="-122"/>
                  </a:rPr>
                  <a:t>	</a:t>
                </a:r>
                <a:endParaRPr lang="en-US" altLang="zh-CN" sz="2200" dirty="0">
                  <a:latin typeface="宋体" panose="02010600030101010101" pitchFamily="2" charset="-122"/>
                  <a:ea typeface="宋体" panose="02010600030101010101" pitchFamily="2" charset="-122"/>
                </a:endParaRPr>
              </a:p>
              <a:p>
                <a:pPr algn="just" latinLnBrk="0">
                  <a:lnSpc>
                    <a:spcPct val="150000"/>
                  </a:lnSpc>
                </a:pPr>
                <a:r>
                  <a:rPr lang="en-US" altLang="zh-CN" sz="2200" dirty="0">
                    <a:latin typeface="宋体" panose="02010600030101010101" pitchFamily="2" charset="-122"/>
                    <a:ea typeface="宋体" panose="02010600030101010101" pitchFamily="2" charset="-122"/>
                  </a:rPr>
                  <a:t>1.</a:t>
                </a:r>
                <a:r>
                  <a:rPr lang="zh-CN" altLang="en-US" sz="2200" dirty="0">
                    <a:latin typeface="宋体" panose="02010600030101010101" pitchFamily="2" charset="-122"/>
                    <a:ea typeface="宋体" panose="02010600030101010101" pitchFamily="2" charset="-122"/>
                  </a:rPr>
                  <a:t>给定初始点</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200" dirty="0">
                    <a:latin typeface="宋体" panose="02010600030101010101" pitchFamily="2" charset="-122"/>
                    <a:ea typeface="宋体" panose="02010600030101010101" pitchFamily="2" charset="-122"/>
                  </a:rPr>
                  <a:t>，初始罚因子</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200" dirty="0">
                    <a:latin typeface="宋体" panose="02010600030101010101" pitchFamily="2" charset="-122"/>
                    <a:ea typeface="宋体" panose="02010600030101010101" pitchFamily="2" charset="-122"/>
                  </a:rPr>
                  <a:t>，放大系数</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𝛽</m:t>
                    </m:r>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oMath>
                </a14:m>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允许误差</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𝜀</m:t>
                    </m:r>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200" dirty="0">
                    <a:latin typeface="宋体" panose="02010600030101010101" pitchFamily="2" charset="-122"/>
                    <a:ea typeface="宋体" panose="02010600030101010101" pitchFamily="2" charset="-122"/>
                  </a:rPr>
                  <a:t>，  </a:t>
                </a:r>
                <a:endParaRPr lang="en-US" altLang="zh-CN" sz="2200" dirty="0">
                  <a:latin typeface="宋体" panose="02010600030101010101" pitchFamily="2" charset="-122"/>
                  <a:ea typeface="宋体" panose="02010600030101010101" pitchFamily="2" charset="-122"/>
                </a:endParaRPr>
              </a:p>
              <a:p>
                <a:pPr algn="just" latinLnBrk="0">
                  <a:lnSpc>
                    <a:spcPct val="150000"/>
                  </a:lnSpc>
                </a:pP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令</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zh-CN" altLang="en-US" sz="2200">
                        <a:latin typeface="Cambria Math" panose="02040503050406030204" pitchFamily="18" charset="0"/>
                        <a:ea typeface="宋体" panose="02010600030101010101" pitchFamily="2" charset="-122"/>
                      </a:rPr>
                      <m:t>=</m:t>
                    </m:r>
                    <m:r>
                      <a:rPr lang="zh-CN" altLang="en-US" sz="2200">
                        <a:latin typeface="Cambria Math" panose="02040503050406030204" pitchFamily="18" charset="0"/>
                        <a:ea typeface="宋体" panose="02010600030101010101" pitchFamily="2" charset="-122"/>
                      </a:rPr>
                      <m:t>1</m:t>
                    </m:r>
                  </m:oMath>
                </a14:m>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a:p>
                <a:pPr algn="just">
                  <a:lnSpc>
                    <a:spcPct val="150000"/>
                  </a:lnSpc>
                </a:pP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以</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200" dirty="0">
                    <a:latin typeface="宋体" panose="02010600030101010101" pitchFamily="2" charset="-122"/>
                    <a:ea typeface="宋体" panose="02010600030101010101" pitchFamily="2" charset="-122"/>
                  </a:rPr>
                  <a:t>为初始点，选择适当的方法求解罚问题</a:t>
                </a:r>
                <a14:m>
                  <m:oMath xmlns:m="http://schemas.openxmlformats.org/officeDocument/2006/math">
                    <m:func>
                      <m:funcPr>
                        <m:ctrlPr>
                          <a:rPr lang="en-US" altLang="zh-CN" sz="2200" i="1">
                            <a:latin typeface="Cambria Math" panose="02040503050406030204" pitchFamily="18" charset="0"/>
                            <a:cs typeface="Cambria Math" panose="02040503050406030204" pitchFamily="18" charset="0"/>
                          </a:rPr>
                        </m:ctrlPr>
                      </m:funcPr>
                      <m:fName>
                        <m:r>
                          <m:rPr>
                            <m:sty m:val="p"/>
                          </m:rPr>
                          <a:rPr lang="en-US" altLang="zh-CN" sz="2200">
                            <a:latin typeface="Cambria Math" panose="02040503050406030204" pitchFamily="18" charset="0"/>
                            <a:cs typeface="Cambria Math" panose="02040503050406030204" pitchFamily="18" charset="0"/>
                          </a:rPr>
                          <m:t>min</m:t>
                        </m:r>
                      </m:fName>
                      <m:e>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e>
                        </m:d>
                      </m:e>
                    </m:func>
                    <m:r>
                      <a:rPr lang="en-US" altLang="zh-CN" sz="2200" i="1">
                        <a:latin typeface="Cambria Math" panose="02040503050406030204" pitchFamily="18" charset="0"/>
                        <a:ea typeface="宋体" panose="02010600030101010101" pitchFamily="2" charset="-122"/>
                        <a:cs typeface="Cambria Math" panose="02040503050406030204" pitchFamily="18" charset="0"/>
                      </a:rPr>
                      <m:t> </m:t>
                    </m:r>
                  </m:oMath>
                </a14:m>
                <a:r>
                  <a:rPr lang="zh-CN" altLang="en-US" sz="2200" dirty="0">
                    <a:latin typeface="宋体" panose="02010600030101010101" pitchFamily="2" charset="-122"/>
                    <a:ea typeface="宋体" panose="02010600030101010101" pitchFamily="2" charset="-122"/>
                  </a:rPr>
                  <a:t>，得其</a:t>
                </a:r>
                <a:endParaRPr lang="en-US" altLang="zh-CN" sz="2200" dirty="0">
                  <a:latin typeface="宋体" panose="02010600030101010101" pitchFamily="2" charset="-122"/>
                  <a:ea typeface="宋体" panose="02010600030101010101" pitchFamily="2" charset="-122"/>
                </a:endParaRPr>
              </a:p>
              <a:p>
                <a:pPr algn="just">
                  <a:lnSpc>
                    <a:spcPct val="150000"/>
                  </a:lnSpc>
                </a:pP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极小点</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a:p>
                <a:pPr algn="just" latinLnBrk="0">
                  <a:lnSpc>
                    <a:spcPct val="150000"/>
                  </a:lnSpc>
                </a:pPr>
                <a:r>
                  <a:rPr lang="en-US" altLang="zh-CN" sz="2200" dirty="0">
                    <a:latin typeface="宋体" panose="02010600030101010101" pitchFamily="2" charset="-122"/>
                    <a:ea typeface="宋体" panose="02010600030101010101" pitchFamily="2" charset="-122"/>
                  </a:rPr>
                  <a:t>3.</a:t>
                </a:r>
                <a:r>
                  <a:rPr lang="zh-CN" altLang="en-US" sz="2200" dirty="0">
                    <a:latin typeface="宋体" panose="02010600030101010101" pitchFamily="2" charset="-122"/>
                    <a:ea typeface="宋体" panose="02010600030101010101" pitchFamily="2" charset="-122"/>
                  </a:rPr>
                  <a:t>判断精度。</a:t>
                </a:r>
                <a:endParaRPr lang="zh-CN" altLang="en-US" sz="2200" dirty="0">
                  <a:latin typeface="宋体" panose="02010600030101010101" pitchFamily="2" charset="-122"/>
                  <a:ea typeface="宋体" panose="02010600030101010101" pitchFamily="2" charset="-122"/>
                </a:endParaRPr>
              </a:p>
              <a:p>
                <a:pPr algn="just">
                  <a:lnSpc>
                    <a:spcPct val="150000"/>
                  </a:lnSpc>
                </a:pP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在</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200" dirty="0">
                    <a:latin typeface="宋体" panose="02010600030101010101" pitchFamily="2" charset="-122"/>
                    <a:ea typeface="宋体" panose="02010600030101010101" pitchFamily="2" charset="-122"/>
                  </a:rPr>
                  <a:t>点，若罚项小于</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𝜀</m:t>
                    </m:r>
                  </m:oMath>
                </a14:m>
                <a:r>
                  <a:rPr lang="zh-CN" altLang="en-US" sz="2200" dirty="0">
                    <a:latin typeface="宋体" panose="02010600030101010101" pitchFamily="2" charset="-122"/>
                    <a:ea typeface="宋体" panose="02010600030101010101" pitchFamily="2" charset="-122"/>
                  </a:rPr>
                  <a:t>，则停止计算，得到原问题的近似极小点</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200" dirty="0">
                    <a:latin typeface="宋体" panose="02010600030101010101" pitchFamily="2" charset="-122"/>
                    <a:ea typeface="宋体" panose="02010600030101010101" pitchFamily="2" charset="-122"/>
                  </a:rPr>
                  <a:t>；否则令</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𝛽</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200" dirty="0">
                    <a:latin typeface="宋体" panose="02010600030101010101" pitchFamily="2" charset="-122"/>
                    <a:ea typeface="宋体" panose="02010600030101010101" pitchFamily="2" charset="-122"/>
                  </a:rPr>
                  <a:t>，令</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a:latin typeface="Cambria Math" panose="02040503050406030204" pitchFamily="18" charset="0"/>
                        <a:ea typeface="宋体" panose="02010600030101010101" pitchFamily="2" charset="-122"/>
                        <a:cs typeface="Cambria Math" panose="02040503050406030204" pitchFamily="18" charset="0"/>
                      </a:rPr>
                      <m:t>+</m:t>
                    </m:r>
                    <m:r>
                      <a:rPr lang="en-US" altLang="zh-CN" sz="2200">
                        <a:latin typeface="Cambria Math" panose="02040503050406030204" pitchFamily="18" charset="0"/>
                        <a:ea typeface="宋体" panose="02010600030101010101" pitchFamily="2" charset="-122"/>
                        <a:cs typeface="Cambria Math" panose="02040503050406030204" pitchFamily="18" charset="0"/>
                      </a:rPr>
                      <m:t>1</m:t>
                    </m:r>
                  </m:oMath>
                </a14:m>
                <a:r>
                  <a:rPr lang="zh-CN" altLang="en-US" sz="2200" dirty="0">
                    <a:latin typeface="宋体" panose="02010600030101010101" pitchFamily="2" charset="-122"/>
                    <a:ea typeface="宋体" panose="02010600030101010101" pitchFamily="2" charset="-122"/>
                  </a:rPr>
                  <a:t>，返回第</a:t>
                </a:r>
                <a:r>
                  <a:rPr lang="en-US" altLang="zh-CN" sz="2200" dirty="0">
                    <a:latin typeface="宋体" panose="02010600030101010101" pitchFamily="2" charset="-122"/>
                    <a:ea typeface="宋体" panose="02010600030101010101" pitchFamily="2" charset="-122"/>
                  </a:rPr>
                  <a:t>2</a:t>
                </a:r>
                <a:r>
                  <a:rPr lang="zh-CN" altLang="en-US" sz="2200" dirty="0">
                    <a:latin typeface="宋体" panose="02010600030101010101" pitchFamily="2" charset="-122"/>
                    <a:ea typeface="宋体" panose="02010600030101010101" pitchFamily="2" charset="-122"/>
                  </a:rPr>
                  <a:t>步。</a:t>
                </a:r>
                <a:endParaRPr lang="zh-CN" altLang="en-US" sz="2200" dirty="0">
                  <a:latin typeface="宋体" panose="02010600030101010101" pitchFamily="2" charset="-122"/>
                  <a:ea typeface="宋体" panose="02010600030101010101" pitchFamily="2" charset="-122"/>
                </a:endParaRPr>
              </a:p>
              <a:p>
                <a:pPr algn="just" latinLnBrk="0">
                  <a:lnSpc>
                    <a:spcPct val="150000"/>
                  </a:lnSpc>
                </a:pPr>
                <a:r>
                  <a:rPr lang="en-US" altLang="zh-CN" sz="2200" dirty="0">
                    <a:latin typeface="宋体" panose="02010600030101010101" pitchFamily="2" charset="-122"/>
                    <a:ea typeface="宋体" panose="02010600030101010101" pitchFamily="2" charset="-122"/>
                  </a:rPr>
                  <a:t>	</a:t>
                </a:r>
                <a:endParaRPr lang="en-US" altLang="zh-CN" sz="2200" dirty="0">
                  <a:latin typeface="宋体" panose="02010600030101010101" pitchFamily="2" charset="-122"/>
                  <a:ea typeface="宋体" panose="02010600030101010101" pitchFamily="2" charset="-122"/>
                </a:endParaRPr>
              </a:p>
              <a:p>
                <a:pPr algn="just" latinLnBrk="0">
                  <a:lnSpc>
                    <a:spcPct val="150000"/>
                  </a:lnSpc>
                </a:pPr>
                <a:r>
                  <a:rPr lang="zh-CN" altLang="en-US" sz="2200" b="1" dirty="0">
                    <a:solidFill>
                      <a:schemeClr val="accent1"/>
                    </a:solidFill>
                    <a:latin typeface="宋体" panose="02010600030101010101" pitchFamily="2" charset="-122"/>
                    <a:ea typeface="宋体" panose="02010600030101010101" pitchFamily="2" charset="-122"/>
                  </a:rPr>
                  <a:t>注</a:t>
                </a:r>
                <a:r>
                  <a:rPr lang="zh-CN" altLang="en-US" sz="2200" dirty="0">
                    <a:latin typeface="宋体" panose="02010600030101010101" pitchFamily="2" charset="-122"/>
                    <a:ea typeface="宋体" panose="02010600030101010101" pitchFamily="2" charset="-122"/>
                  </a:rPr>
                  <a:t>：外点法是对罚函数</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e>
                    </m:d>
                  </m:oMath>
                </a14:m>
                <a:r>
                  <a:rPr lang="zh-CN" altLang="en-US" sz="2200" dirty="0">
                    <a:latin typeface="宋体" panose="02010600030101010101" pitchFamily="2" charset="-122"/>
                    <a:ea typeface="宋体" panose="02010600030101010101" pitchFamily="2" charset="-122"/>
                  </a:rPr>
                  <a:t>在整个空间</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𝑛</m:t>
                        </m:r>
                      </m:sup>
                    </m:sSup>
                  </m:oMath>
                </a14:m>
                <a:r>
                  <a:rPr lang="zh-CN" altLang="en-US" sz="2200" dirty="0">
                    <a:latin typeface="宋体" panose="02010600030101010101" pitchFamily="2" charset="-122"/>
                    <a:ea typeface="宋体" panose="02010600030101010101" pitchFamily="2" charset="-122"/>
                  </a:rPr>
                  <a:t>内进行优化，因此，初始点可以任意给定，它给计算提供了方便，这也是外点法的另一优点。</a:t>
                </a:r>
                <a:endParaRPr lang="zh-CN" altLang="en-US" sz="2200" dirty="0">
                  <a:latin typeface="宋体" panose="02010600030101010101" pitchFamily="2" charset="-122"/>
                  <a:ea typeface="宋体" panose="0201060003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224630" y="322604"/>
                <a:ext cx="8919370" cy="5704960"/>
              </a:xfrm>
              <a:prstGeom prst="rect">
                <a:avLst/>
              </a:prstGeom>
              <a:blipFill rotWithShape="1">
                <a:blip r:embed="rId1"/>
                <a:stretch>
                  <a:fillRect l="-5" r="-1431" b="3"/>
                </a:stretch>
              </a:blipFill>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280273" y="476672"/>
                <a:ext cx="8108152" cy="5408532"/>
              </a:xfrm>
              <a:prstGeom prst="rect">
                <a:avLst/>
              </a:prstGeom>
              <a:noFill/>
            </p:spPr>
            <p:txBody>
              <a:bodyPr wrap="square" rtlCol="0">
                <a:spAutoFit/>
              </a:bodyPr>
              <a:lstStyle/>
              <a:p>
                <a:pPr latinLnBrk="0">
                  <a:lnSpc>
                    <a:spcPct val="150000"/>
                  </a:lnSpc>
                </a:pPr>
                <a:r>
                  <a:rPr lang="zh-CN" altLang="en-US" sz="2200" b="1" dirty="0">
                    <a:solidFill>
                      <a:schemeClr val="accent1"/>
                    </a:solidFill>
                    <a:latin typeface="宋体" panose="02010600030101010101" pitchFamily="2" charset="-122"/>
                    <a:ea typeface="宋体" panose="02010600030101010101" pitchFamily="2" charset="-122"/>
                    <a:cs typeface="宋体" panose="02010600030101010101" pitchFamily="2" charset="-122"/>
                  </a:rPr>
                  <a:t>例</a:t>
                </a:r>
                <a:r>
                  <a:rPr lang="zh-CN" altLang="en-US" sz="2200" dirty="0">
                    <a:latin typeface="宋体" panose="02010600030101010101" pitchFamily="2" charset="-122"/>
                    <a:ea typeface="宋体" panose="02010600030101010101" pitchFamily="2" charset="-122"/>
                    <a:cs typeface="宋体" panose="02010600030101010101" pitchFamily="2" charset="-122"/>
                  </a:rPr>
                  <a:t> 试用外点法求解非线性规划</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pPr latinLnBrk="0">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bSup>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𝑠</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en-US" altLang="zh-CN" sz="2200" i="1">
                          <a:latin typeface="Cambria Math" panose="02040503050406030204" pitchFamily="18" charset="0"/>
                          <a:ea typeface="宋体" panose="02010600030101010101" pitchFamily="2" charset="-122"/>
                          <a:cs typeface="Cambria Math" panose="02040503050406030204" pitchFamily="18" charset="0"/>
                        </a:rPr>
                        <m:t>𝑔</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r>
                  <a:rPr lang="zh-CN" altLang="en-US" sz="2200" b="1" dirty="0">
                    <a:solidFill>
                      <a:schemeClr val="accent1"/>
                    </a:solidFill>
                    <a:latin typeface="宋体" panose="02010600030101010101" pitchFamily="2" charset="-122"/>
                    <a:ea typeface="宋体" panose="02010600030101010101" pitchFamily="2" charset="-122"/>
                    <a:cs typeface="宋体" panose="02010600030101010101" pitchFamily="2" charset="-122"/>
                  </a:rPr>
                  <a:t>解</a:t>
                </a:r>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构造罚函数</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a:p>
                <a:pPr latinLnBrk="0">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𝑓</m:t>
                      </m:r>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𝑥</m:t>
                      </m:r>
                      <m:r>
                        <a:rPr lang="en-US" altLang="zh-CN" sz="2200" i="1">
                          <a:latin typeface="Cambria Math" panose="02040503050406030204" pitchFamily="18" charset="0"/>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begChr m:val="["/>
                              <m:endChr m:val="]"/>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𝑔</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r>
                  <a:rPr lang="en-US" altLang="zh-CN" sz="2200" dirty="0">
                    <a:latin typeface="Cambria Math" panose="02040503050406030204" pitchFamily="18" charset="0"/>
                    <a:ea typeface="宋体" panose="02010600030101010101" pitchFamily="2" charset="-122"/>
                    <a:cs typeface="Cambria Math" panose="02040503050406030204" pitchFamily="18" charset="0"/>
                  </a:rPr>
                  <a:t>          </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                                   =</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b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begChr m:val="["/>
                            <m:endChr m:val="]"/>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oMath>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algn="ctr" latinLnBrk="0">
                  <a:lnSpc>
                    <a:spcPct val="150000"/>
                  </a:lnSpc>
                </a:pPr>
                <a:r>
                  <a:rPr lang="en-US" altLang="zh-CN" sz="2200" dirty="0">
                    <a:ea typeface="宋体" panose="02010600030101010101" pitchFamily="2" charset="-122"/>
                    <a:cs typeface="Cambria Math" panose="02040503050406030204" pitchFamily="18" charset="0"/>
                  </a:rPr>
                  <a:t>=</a:t>
                </a:r>
                <a14:m>
                  <m:oMath xmlns:m="http://schemas.openxmlformats.org/officeDocument/2006/math">
                    <m:d>
                      <m:dPr>
                        <m:begChr m:val="{"/>
                        <m:endChr m:val=""/>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eqArrPr>
                          <m:e>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bSup>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sSub>
                              <m:sSubPr>
                                <m:ctrlPr>
                                  <a:rPr lang="zh-CN" altLang="en-US" sz="2200" i="1">
                                    <a:latin typeface="Cambria Math" panose="02040503050406030204" pitchFamily="18" charset="0"/>
                                    <a:ea typeface="MS Mincho" panose="02020609040205080304" charset="-128"/>
                                    <a:cs typeface="Cambria Math" panose="02040503050406030204" pitchFamily="18" charset="0"/>
                                  </a:rPr>
                                </m:ctrlPr>
                              </m:sSubPr>
                              <m:e>
                                <m:r>
                                  <a:rPr lang="en-US" altLang="zh-CN" sz="2200" i="1">
                                    <a:latin typeface="Cambria Math" panose="02040503050406030204" pitchFamily="18" charset="0"/>
                                    <a:ea typeface="MS Mincho" panose="02020609040205080304" charset="-128"/>
                                    <a:cs typeface="Cambria Math" panose="02040503050406030204" pitchFamily="18" charset="0"/>
                                  </a:rPr>
                                  <m:t>𝑥</m:t>
                                </m:r>
                              </m:e>
                              <m:sub>
                                <m:r>
                                  <a:rPr lang="en-US" altLang="zh-CN" sz="2200" i="1">
                                    <a:latin typeface="Cambria Math" panose="02040503050406030204" pitchFamily="18" charset="0"/>
                                    <a:ea typeface="MS Mincho" panose="02020609040205080304" charset="-128"/>
                                    <a:cs typeface="Cambria Math" panose="02040503050406030204" pitchFamily="18" charset="0"/>
                                  </a:rPr>
                                  <m:t>2</m:t>
                                </m:r>
                              </m:sub>
                            </m:sSub>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1</m:t>
                            </m:r>
                          </m:e>
                          <m:e>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Sup>
                              <m:sSub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b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sSub>
                              <m:sSubPr>
                                <m:ctrlPr>
                                  <a:rPr lang="zh-CN" altLang="en-US" sz="2200" i="1">
                                    <a:latin typeface="Cambria Math" panose="02040503050406030204" pitchFamily="18" charset="0"/>
                                    <a:ea typeface="MS Mincho" panose="02020609040205080304" charset="-128"/>
                                    <a:cs typeface="Cambria Math" panose="02040503050406030204" pitchFamily="18" charset="0"/>
                                  </a:rPr>
                                </m:ctrlPr>
                              </m:sSubPr>
                              <m:e>
                                <m:r>
                                  <a:rPr lang="en-US" altLang="zh-CN" sz="2200" i="1">
                                    <a:latin typeface="Cambria Math" panose="02040503050406030204" pitchFamily="18" charset="0"/>
                                    <a:ea typeface="MS Mincho" panose="02020609040205080304" charset="-128"/>
                                    <a:cs typeface="Cambria Math" panose="02040503050406030204" pitchFamily="18" charset="0"/>
                                  </a:rPr>
                                  <m:t>𝑥</m:t>
                                </m:r>
                              </m:e>
                              <m:sub>
                                <m:r>
                                  <a:rPr lang="en-US" altLang="zh-CN" sz="2200" i="1">
                                    <a:latin typeface="Cambria Math" panose="02040503050406030204" pitchFamily="18" charset="0"/>
                                    <a:ea typeface="MS Mincho" panose="02020609040205080304" charset="-128"/>
                                    <a:cs typeface="Cambria Math" panose="02040503050406030204" pitchFamily="18" charset="0"/>
                                  </a:rPr>
                                  <m:t>2</m:t>
                                </m:r>
                              </m:sub>
                            </m:sSub>
                            <m:r>
                              <a:rPr lang="en-US" altLang="zh-CN" sz="2200" i="1">
                                <a:latin typeface="Cambria Math" panose="02040503050406030204" pitchFamily="18" charset="0"/>
                                <a:ea typeface="MS Mincho" panose="02020609040205080304" charset="-128"/>
                                <a:cs typeface="Cambria Math" panose="02040503050406030204" pitchFamily="18" charset="0"/>
                              </a:rPr>
                              <m:t>&lt;</m:t>
                            </m:r>
                            <m:r>
                              <a:rPr lang="en-US" altLang="zh-CN" sz="2200" i="1">
                                <a:latin typeface="Cambria Math" panose="02040503050406030204" pitchFamily="18" charset="0"/>
                                <a:ea typeface="MS Mincho" panose="02020609040205080304" charset="-128"/>
                                <a:cs typeface="Cambria Math" panose="02040503050406030204" pitchFamily="18" charset="0"/>
                              </a:rPr>
                              <m:t>1</m:t>
                            </m:r>
                          </m:e>
                        </m:eqArr>
                      </m:e>
                    </m:d>
                  </m:oMath>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latinLnBrk="0">
                  <a:lnSpc>
                    <a:spcPct val="150000"/>
                  </a:lnSpc>
                </a:pPr>
                <a:r>
                  <a:rPr lang="zh-CN" altLang="en-US" sz="2200" dirty="0">
                    <a:latin typeface="宋体" panose="02010600030101010101" pitchFamily="2" charset="-122"/>
                    <a:ea typeface="宋体" panose="02010600030101010101" pitchFamily="2" charset="-122"/>
                    <a:cs typeface="宋体" panose="02010600030101010101" pitchFamily="2" charset="-122"/>
                  </a:rPr>
                  <a:t>   </a:t>
                </a:r>
                <a:endParaRPr lang="en-US" altLang="zh-CN" sz="2200" dirty="0">
                  <a:latin typeface="宋体" panose="02010600030101010101" pitchFamily="2" charset="-122"/>
                  <a:ea typeface="宋体" panose="02010600030101010101" pitchFamily="2" charset="-122"/>
                  <a:cs typeface="宋体" panose="02010600030101010101" pitchFamily="2" charset="-122"/>
                </a:endParaRPr>
              </a:p>
              <a:p>
                <a:pPr latinLnBrk="0">
                  <a:lnSpc>
                    <a:spcPct val="150000"/>
                  </a:lnSpc>
                </a:pPr>
                <a:r>
                  <a:rPr lang="zh-CN" altLang="en-US" sz="2200" dirty="0">
                    <a:latin typeface="宋体" panose="02010600030101010101" pitchFamily="2" charset="-122"/>
                    <a:ea typeface="宋体" panose="02010600030101010101" pitchFamily="2" charset="-122"/>
                    <a:cs typeface="宋体" panose="02010600030101010101" pitchFamily="2" charset="-122"/>
                  </a:rPr>
                  <a:t>用解析法求罚函数的极小点：</a:t>
                </a:r>
                <a:endParaRPr lang="zh-CN" altLang="en-US" sz="2200" dirty="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280273" y="476672"/>
                <a:ext cx="8108152" cy="5408532"/>
              </a:xfrm>
              <a:prstGeom prst="rect">
                <a:avLst/>
              </a:prstGeom>
              <a:blipFill rotWithShape="1">
                <a:blip r:embed="rId1"/>
                <a:stretch>
                  <a:fillRect l="-3" t="-8" r="1"/>
                </a:stretch>
              </a:blipFill>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521550" y="1214755"/>
                <a:ext cx="8401050" cy="5059718"/>
              </a:xfrm>
              <a:prstGeom prst="rect">
                <a:avLst/>
              </a:prstGeom>
              <a:noFill/>
            </p:spPr>
            <p:txBody>
              <a:bodyPr wrap="square" rtlCol="0">
                <a:spAutoFit/>
              </a:bodyPr>
              <a:lstStyle/>
              <a:p>
                <a:r>
                  <a:rPr lang="zh-CN" altLang="en-US" sz="2200" dirty="0">
                    <a:latin typeface="宋体" panose="02010600030101010101" pitchFamily="2" charset="-122"/>
                    <a:ea typeface="宋体" panose="02010600030101010101" pitchFamily="2" charset="-122"/>
                  </a:rPr>
                  <a:t>因为</a:t>
                </a:r>
                <a:endParaRPr lang="en-US" altLang="zh-CN" sz="2200" dirty="0">
                  <a:latin typeface="宋体" panose="02010600030101010101" pitchFamily="2" charset="-122"/>
                  <a:ea typeface="宋体" panose="02010600030101010101" pitchFamily="2" charset="-122"/>
                </a:endParaRPr>
              </a:p>
              <a:p>
                <a14:m>
                  <m:oMathPara xmlns:m="http://schemas.openxmlformats.org/officeDocument/2006/math">
                    <m:oMathParaPr>
                      <m:jc m:val="centerGroup"/>
                    </m:oMathParaPr>
                    <m:oMath xmlns:m="http://schemas.openxmlformats.org/officeDocument/2006/math">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den>
                      </m:f>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oMath>
                  </m:oMathPara>
                </a14:m>
                <a:endParaRPr lang="en-US" altLang="zh-CN" sz="2200" i="1" dirty="0">
                  <a:latin typeface="宋体" panose="02010600030101010101" pitchFamily="2" charset="-122"/>
                  <a:ea typeface="宋体" panose="02010600030101010101" pitchFamily="2" charset="-122"/>
                  <a:cs typeface="Cambria Math" panose="02040503050406030204" pitchFamily="18" charset="0"/>
                </a:endParaRPr>
              </a:p>
              <a:p>
                <a14:m>
                  <m:oMathPara xmlns:m="http://schemas.openxmlformats.org/officeDocument/2006/math">
                    <m:oMathParaPr>
                      <m:jc m:val="centerGroup"/>
                    </m:oMathParaPr>
                    <m:oMath xmlns:m="http://schemas.openxmlformats.org/officeDocument/2006/math">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den>
                      </m:f>
                      <m:r>
                        <a:rPr lang="en-US" altLang="zh-CN" sz="2200" i="1">
                          <a:latin typeface="Cambria Math" panose="02040503050406030204" pitchFamily="18" charset="0"/>
                          <a:ea typeface="宋体" panose="02010600030101010101" pitchFamily="2" charset="-122"/>
                          <a:cs typeface="Cambria Math" panose="02040503050406030204" pitchFamily="18" charset="0"/>
                        </a:rPr>
                        <m:t>=</m:t>
                      </m:r>
                      <m:d>
                        <m:dPr>
                          <m:begChr m:val="{"/>
                          <m:endChr m:val=""/>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eqArrPr>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sSub>
                                <m:sSubPr>
                                  <m:ctrlPr>
                                    <a:rPr lang="zh-CN" altLang="en-US" sz="2200" i="1">
                                      <a:latin typeface="Cambria Math" panose="02040503050406030204" pitchFamily="18" charset="0"/>
                                      <a:ea typeface="MS Mincho" panose="02020609040205080304" charset="-128"/>
                                      <a:cs typeface="Cambria Math" panose="02040503050406030204" pitchFamily="18" charset="0"/>
                                    </a:rPr>
                                  </m:ctrlPr>
                                </m:sSubPr>
                                <m:e>
                                  <m:r>
                                    <a:rPr lang="en-US" altLang="zh-CN" sz="2200" i="1">
                                      <a:latin typeface="Cambria Math" panose="02040503050406030204" pitchFamily="18" charset="0"/>
                                      <a:ea typeface="MS Mincho" panose="02020609040205080304" charset="-128"/>
                                      <a:cs typeface="Cambria Math" panose="02040503050406030204" pitchFamily="18" charset="0"/>
                                    </a:rPr>
                                    <m:t>𝑥</m:t>
                                  </m:r>
                                </m:e>
                                <m:sub>
                                  <m:r>
                                    <a:rPr lang="en-US" altLang="zh-CN" sz="2200" i="1">
                                      <a:latin typeface="Cambria Math" panose="02040503050406030204" pitchFamily="18" charset="0"/>
                                      <a:ea typeface="MS Mincho" panose="02020609040205080304" charset="-128"/>
                                      <a:cs typeface="Cambria Math" panose="02040503050406030204" pitchFamily="18" charset="0"/>
                                    </a:rPr>
                                    <m:t>2</m:t>
                                  </m:r>
                                </m:sub>
                              </m:sSub>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1</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e>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2</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e>
                              </m:d>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zh-CN" altLang="en-US" sz="2200" i="1">
                                  <a:latin typeface="Cambria Math" panose="02040503050406030204" pitchFamily="18" charset="0"/>
                                  <a:ea typeface="MS Mincho" panose="02020609040205080304" charset="-128"/>
                                  <a:cs typeface="Cambria Math" panose="02040503050406030204" pitchFamily="18" charset="0"/>
                                </a:rPr>
                                <m:t>当</m:t>
                              </m:r>
                              <m:sSub>
                                <m:sSubPr>
                                  <m:ctrlPr>
                                    <a:rPr lang="zh-CN" altLang="en-US" sz="2200" i="1">
                                      <a:latin typeface="Cambria Math" panose="02040503050406030204" pitchFamily="18" charset="0"/>
                                      <a:ea typeface="MS Mincho" panose="02020609040205080304" charset="-128"/>
                                      <a:cs typeface="Cambria Math" panose="02040503050406030204" pitchFamily="18" charset="0"/>
                                    </a:rPr>
                                  </m:ctrlPr>
                                </m:sSubPr>
                                <m:e>
                                  <m:r>
                                    <a:rPr lang="en-US" altLang="zh-CN" sz="2200" i="1">
                                      <a:latin typeface="Cambria Math" panose="02040503050406030204" pitchFamily="18" charset="0"/>
                                      <a:ea typeface="MS Mincho" panose="02020609040205080304" charset="-128"/>
                                      <a:cs typeface="Cambria Math" panose="02040503050406030204" pitchFamily="18" charset="0"/>
                                    </a:rPr>
                                    <m:t>𝑥</m:t>
                                  </m:r>
                                </m:e>
                                <m:sub>
                                  <m:r>
                                    <a:rPr lang="en-US" altLang="zh-CN" sz="2200" i="1">
                                      <a:latin typeface="Cambria Math" panose="02040503050406030204" pitchFamily="18" charset="0"/>
                                      <a:ea typeface="MS Mincho" panose="02020609040205080304" charset="-128"/>
                                      <a:cs typeface="Cambria Math" panose="02040503050406030204" pitchFamily="18" charset="0"/>
                                    </a:rPr>
                                    <m:t>2</m:t>
                                  </m:r>
                                </m:sub>
                              </m:sSub>
                              <m:r>
                                <a:rPr lang="en-US" altLang="zh-CN" sz="2200" i="1">
                                  <a:latin typeface="Cambria Math" panose="02040503050406030204" pitchFamily="18" charset="0"/>
                                  <a:ea typeface="MS Mincho" panose="02020609040205080304" charset="-128"/>
                                  <a:cs typeface="Cambria Math" panose="02040503050406030204" pitchFamily="18" charset="0"/>
                                </a:rPr>
                                <m:t>&lt;</m:t>
                              </m:r>
                              <m:r>
                                <a:rPr lang="en-US" altLang="zh-CN" sz="2200" i="1">
                                  <a:latin typeface="Cambria Math" panose="02040503050406030204" pitchFamily="18" charset="0"/>
                                  <a:ea typeface="MS Mincho" panose="02020609040205080304" charset="-128"/>
                                  <a:cs typeface="Cambria Math" panose="02040503050406030204" pitchFamily="18" charset="0"/>
                                </a:rPr>
                                <m:t>1</m:t>
                              </m:r>
                            </m:e>
                          </m:eqArr>
                        </m:e>
                      </m:d>
                    </m:oMath>
                  </m:oMathPara>
                </a14:m>
                <a:endParaRPr lang="en-US" altLang="zh-CN" sz="2200" i="1" dirty="0">
                  <a:latin typeface="宋体" panose="02010600030101010101" pitchFamily="2" charset="-122"/>
                  <a:ea typeface="宋体" panose="02010600030101010101" pitchFamily="2" charset="-122"/>
                  <a:cs typeface="Cambria Math" panose="02040503050406030204" pitchFamily="18" charset="0"/>
                </a:endParaRPr>
              </a:p>
              <a:p>
                <a:r>
                  <a:rPr lang="zh-CN" altLang="en-US" sz="2200" dirty="0">
                    <a:latin typeface="宋体" panose="02010600030101010101" pitchFamily="2" charset="-122"/>
                    <a:ea typeface="宋体" panose="02010600030101010101" pitchFamily="2" charset="-122"/>
                  </a:rPr>
                  <a:t>令</a:t>
                </a:r>
                <a:endParaRPr lang="zh-CN" altLang="en-US" sz="2200" dirty="0">
                  <a:latin typeface="宋体" panose="02010600030101010101" pitchFamily="2" charset="-122"/>
                  <a:ea typeface="宋体" panose="02010600030101010101" pitchFamily="2" charset="-122"/>
                </a:endParaRPr>
              </a:p>
              <a:p>
                <a14:m>
                  <m:oMathPara xmlns:m="http://schemas.openxmlformats.org/officeDocument/2006/math">
                    <m:oMathParaPr>
                      <m:jc m:val="centerGroup"/>
                    </m:oMathParaPr>
                    <m:oMath xmlns:m="http://schemas.openxmlformats.org/officeDocument/2006/math">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den>
                      </m:f>
                      <m:r>
                        <a:rPr lang="en-US" altLang="zh-CN" sz="22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𝑝</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den>
                      </m:f>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0</m:t>
                      </m:r>
                    </m:oMath>
                  </m:oMathPara>
                </a14:m>
                <a:endParaRPr lang="en-US" altLang="zh-CN" sz="2200" i="1" dirty="0">
                  <a:latin typeface="宋体" panose="02010600030101010101" pitchFamily="2" charset="-122"/>
                  <a:ea typeface="宋体" panose="02010600030101010101" pitchFamily="2" charset="-122"/>
                  <a:cs typeface="Cambria Math" panose="02040503050406030204" pitchFamily="18" charset="0"/>
                </a:endParaRPr>
              </a:p>
              <a:p>
                <a:r>
                  <a:rPr lang="zh-CN" altLang="en-US" sz="2200" dirty="0">
                    <a:latin typeface="宋体" panose="02010600030101010101" pitchFamily="2" charset="-122"/>
                    <a:ea typeface="宋体" panose="02010600030101010101" pitchFamily="2" charset="-122"/>
                  </a:rPr>
                  <a:t>解得第</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oMath>
                </a14:m>
                <a:r>
                  <a:rPr lang="zh-CN" altLang="en-US" sz="2200" dirty="0">
                    <a:latin typeface="宋体" panose="02010600030101010101" pitchFamily="2" charset="-122"/>
                    <a:ea typeface="宋体" panose="02010600030101010101" pitchFamily="2" charset="-122"/>
                  </a:rPr>
                  <a:t>个罚问题的最优解</a:t>
                </a:r>
                <a:endParaRPr lang="zh-CN" altLang="en-US" sz="2200" dirty="0">
                  <a:latin typeface="宋体" panose="02010600030101010101" pitchFamily="2" charset="-122"/>
                  <a:ea typeface="宋体" panose="02010600030101010101" pitchFamily="2" charset="-122"/>
                </a:endParaRPr>
              </a:p>
              <a:p>
                <a14:m>
                  <m:oMathPara xmlns:m="http://schemas.openxmlformats.org/officeDocument/2006/math">
                    <m:oMathParaPr>
                      <m:jc m:val="centerGroup"/>
                    </m:oMathParaPr>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1</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𝑀</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𝑘</m:t>
                                      </m:r>
                                    </m:sub>
                                  </m:sSub>
                                </m:den>
                              </m:f>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en-US" altLang="zh-CN" sz="2200" dirty="0">
                  <a:latin typeface="宋体" panose="02010600030101010101" pitchFamily="2" charset="-122"/>
                  <a:ea typeface="宋体" panose="02010600030101010101" pitchFamily="2" charset="-122"/>
                </a:endParaRPr>
              </a:p>
              <a:p>
                <a:pPr latinLnBrk="0">
                  <a:lnSpc>
                    <a:spcPct val="150000"/>
                  </a:lnSpc>
                </a:pPr>
                <a:r>
                  <a:rPr lang="zh-CN" altLang="en-US" sz="2200" dirty="0">
                    <a:latin typeface="宋体" panose="02010600030101010101" pitchFamily="2" charset="-122"/>
                    <a:ea typeface="宋体" panose="02010600030101010101" pitchFamily="2" charset="-122"/>
                  </a:rPr>
                  <a:t>令</a:t>
                </a:r>
                <a14:m>
                  <m:oMath xmlns:m="http://schemas.openxmlformats.org/officeDocument/2006/math">
                    <m:sSub>
                      <m:sSubPr>
                        <m:ctrlPr>
                          <a:rPr lang="en-US" altLang="zh-CN" sz="2200" i="1">
                            <a:latin typeface="Cambria Math" panose="02040503050406030204" pitchFamily="18" charset="0"/>
                            <a:cs typeface="Cambria Math" panose="02040503050406030204" pitchFamily="18" charset="0"/>
                          </a:rPr>
                        </m:ctrlPr>
                      </m:sSubPr>
                      <m:e>
                        <m:r>
                          <a:rPr lang="en-US" altLang="zh-CN" sz="2200" i="1">
                            <a:latin typeface="Cambria Math" panose="02040503050406030204" pitchFamily="18" charset="0"/>
                            <a:cs typeface="Cambria Math" panose="02040503050406030204" pitchFamily="18" charset="0"/>
                          </a:rPr>
                          <m:t>𝑀</m:t>
                        </m:r>
                      </m:e>
                      <m:sub>
                        <m:r>
                          <a:rPr lang="en-US" altLang="zh-CN" sz="2200" i="1">
                            <a:latin typeface="Cambria Math" panose="02040503050406030204" pitchFamily="18" charset="0"/>
                            <a:cs typeface="Cambria Math" panose="02040503050406030204" pitchFamily="18" charset="0"/>
                          </a:rPr>
                          <m:t>𝑘</m:t>
                        </m:r>
                      </m:sub>
                    </m:sSub>
                    <m:r>
                      <a:rPr lang="en-US" altLang="zh-CN" sz="2200" i="1">
                        <a:latin typeface="Cambria Math" panose="02040503050406030204" pitchFamily="18" charset="0"/>
                        <a:cs typeface="Cambria Math" panose="02040503050406030204" pitchFamily="18" charset="0"/>
                      </a:rPr>
                      <m:t>→+∞</m:t>
                    </m:r>
                  </m:oMath>
                </a14:m>
                <a:r>
                  <a:rPr lang="zh-CN" altLang="en-US" sz="2200" dirty="0">
                    <a:latin typeface="宋体" panose="02010600030101010101" pitchFamily="2" charset="-122"/>
                    <a:ea typeface="宋体" panose="02010600030101010101" pitchFamily="2" charset="-122"/>
                    <a:cs typeface="Cambria Math" panose="02040503050406030204" pitchFamily="18" charset="0"/>
                  </a:rPr>
                  <a:t>，得</a:t>
                </a:r>
                <a14:m>
                  <m:oMath xmlns:m="http://schemas.openxmlformats.org/officeDocument/2006/math">
                    <m:sSup>
                      <m:sSupPr>
                        <m:ctrlPr>
                          <a:rPr lang="en-US" altLang="zh-CN" sz="2200" i="1">
                            <a:latin typeface="Cambria Math" panose="02040503050406030204" pitchFamily="18" charset="0"/>
                            <a:cs typeface="Cambria Math" panose="02040503050406030204" pitchFamily="18" charset="0"/>
                          </a:rPr>
                        </m:ctrlPr>
                      </m:sSupPr>
                      <m:e>
                        <m:r>
                          <a:rPr lang="en-US" altLang="zh-CN" sz="2200" i="1">
                            <a:latin typeface="Cambria Math" panose="02040503050406030204" pitchFamily="18" charset="0"/>
                            <a:cs typeface="Cambria Math" panose="02040503050406030204" pitchFamily="18" charset="0"/>
                          </a:rPr>
                          <m:t>𝑥</m:t>
                        </m:r>
                      </m:e>
                      <m:sup>
                        <m:r>
                          <a:rPr lang="en-US" altLang="zh-CN" sz="2200" i="1">
                            <a:latin typeface="Cambria Math" panose="02040503050406030204" pitchFamily="18" charset="0"/>
                            <a:cs typeface="Cambria Math" panose="02040503050406030204" pitchFamily="18" charset="0"/>
                          </a:rPr>
                          <m:t>∗</m:t>
                        </m:r>
                      </m:sup>
                    </m:sSup>
                    <m:r>
                      <a:rPr lang="en-US" altLang="zh-CN" sz="2200" i="1">
                        <a:latin typeface="Cambria Math" panose="02040503050406030204" pitchFamily="18" charset="0"/>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en-US" altLang="zh-CN" sz="2200" i="1">
                                <a:latin typeface="Cambria Math" panose="02040503050406030204" pitchFamily="18" charset="0"/>
                                <a:ea typeface="宋体" panose="02010600030101010101" pitchFamily="2" charset="-122"/>
                                <a:cs typeface="Cambria Math" panose="02040503050406030204" pitchFamily="18" charset="0"/>
                              </a:rPr>
                              <m:t>1</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en-US" altLang="zh-CN" sz="2200" i="1" dirty="0">
                    <a:latin typeface="宋体" panose="02010600030101010101" pitchFamily="2" charset="-122"/>
                    <a:ea typeface="宋体" panose="02010600030101010101" pitchFamily="2" charset="-122"/>
                    <a:cs typeface="Cambria Math" panose="02040503050406030204" pitchFamily="18" charset="0"/>
                  </a:rPr>
                  <a:t>,</a:t>
                </a:r>
                <a14:m>
                  <m:oMath xmlns:m="http://schemas.openxmlformats.org/officeDocument/2006/math">
                    <m:r>
                      <a:rPr lang="en-US" altLang="zh-CN" sz="2200" i="1">
                        <a:latin typeface="Cambria Math" panose="02040503050406030204" pitchFamily="18" charset="0"/>
                        <a:cs typeface="Cambria Math" panose="02040503050406030204" pitchFamily="18" charset="0"/>
                      </a:rPr>
                      <m:t>𝑓</m:t>
                    </m:r>
                    <m:r>
                      <a:rPr lang="en-US" altLang="zh-CN" sz="2200" i="1">
                        <a:latin typeface="Cambria Math" panose="02040503050406030204" pitchFamily="18" charset="0"/>
                        <a:cs typeface="Cambria Math" panose="02040503050406030204" pitchFamily="18" charset="0"/>
                      </a:rPr>
                      <m:t>(</m:t>
                    </m:r>
                    <m:sSup>
                      <m:sSupPr>
                        <m:ctrlPr>
                          <a:rPr lang="en-US" altLang="zh-CN" sz="2200" i="1">
                            <a:latin typeface="Cambria Math" panose="02040503050406030204" pitchFamily="18" charset="0"/>
                            <a:cs typeface="Cambria Math" panose="02040503050406030204" pitchFamily="18" charset="0"/>
                          </a:rPr>
                        </m:ctrlPr>
                      </m:sSupPr>
                      <m:e>
                        <m:r>
                          <a:rPr lang="en-US" altLang="zh-CN" sz="2200" i="1">
                            <a:latin typeface="Cambria Math" panose="02040503050406030204" pitchFamily="18" charset="0"/>
                            <a:cs typeface="Cambria Math" panose="02040503050406030204" pitchFamily="18" charset="0"/>
                          </a:rPr>
                          <m:t>𝑥</m:t>
                        </m:r>
                      </m:e>
                      <m:sup>
                        <m:r>
                          <a:rPr lang="en-US" altLang="zh-CN" sz="2200" i="1">
                            <a:latin typeface="Cambria Math" panose="02040503050406030204" pitchFamily="18" charset="0"/>
                            <a:cs typeface="Cambria Math" panose="02040503050406030204" pitchFamily="18" charset="0"/>
                          </a:rPr>
                          <m:t>∗</m:t>
                        </m:r>
                      </m:sup>
                    </m:sSup>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1</m:t>
                    </m:r>
                  </m:oMath>
                </a14:m>
                <a:r>
                  <a:rPr lang="zh-CN" altLang="en-US" sz="2200" dirty="0">
                    <a:latin typeface="宋体" panose="02010600030101010101" pitchFamily="2" charset="-122"/>
                    <a:ea typeface="宋体" panose="02010600030101010101" pitchFamily="2" charset="-122"/>
                    <a:cs typeface="Cambria Math" panose="02040503050406030204" pitchFamily="18" charset="0"/>
                  </a:rPr>
                  <a:t>。</a:t>
                </a:r>
                <a:endParaRPr lang="zh-CN" altLang="en-US" sz="2200" dirty="0">
                  <a:latin typeface="宋体" panose="02010600030101010101" pitchFamily="2" charset="-122"/>
                  <a:ea typeface="宋体" panose="02010600030101010101" pitchFamily="2" charset="-122"/>
                  <a:cs typeface="Cambria Math" panose="02040503050406030204" pitchFamily="18" charset="0"/>
                </a:endParaRPr>
              </a:p>
              <a:p>
                <a:endParaRPr lang="zh-CN" altLang="en-US" sz="2200" dirty="0">
                  <a:latin typeface="宋体" panose="02010600030101010101" pitchFamily="2" charset="-122"/>
                  <a:ea typeface="宋体" panose="0201060003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521550" y="1214755"/>
                <a:ext cx="8401050" cy="5059718"/>
              </a:xfrm>
              <a:prstGeom prst="rect">
                <a:avLst/>
              </a:prstGeom>
              <a:blipFill rotWithShape="1">
                <a:blip r:embed="rId1"/>
                <a:stretch>
                  <a:fillRect l="-3" r="3" b="1"/>
                </a:stretch>
              </a:blipFill>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文本框 12"/>
              <p:cNvSpPr txBox="1"/>
              <p:nvPr/>
            </p:nvSpPr>
            <p:spPr>
              <a:xfrm>
                <a:off x="953598" y="3226429"/>
                <a:ext cx="7626668" cy="1028680"/>
              </a:xfrm>
              <a:prstGeom prst="rect">
                <a:avLst/>
              </a:prstGeom>
              <a:noFill/>
            </p:spPr>
            <p:txBody>
              <a:bodyPr wrap="square">
                <a:spAutoFit/>
              </a:bodyPr>
              <a:lstStyle/>
              <a:p>
                <a:pPr algn="just">
                  <a:lnSpc>
                    <a:spcPct val="150000"/>
                  </a:lnSpc>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当</a:t>
                </a:r>
                <a14:m>
                  <m:oMath xmlns:m="http://schemas.openxmlformats.org/officeDocument/2006/math">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𝑀</m:t>
                        </m:r>
                      </m:e>
                      <m:sub>
                        <m:r>
                          <a:rPr lang="en-US" altLang="zh-CN" sz="2200" i="1">
                            <a:latin typeface="Cambria Math" panose="02040503050406030204" pitchFamily="18" charset="0"/>
                          </a:rPr>
                          <m:t>𝑘</m:t>
                        </m:r>
                      </m:sub>
                    </m:sSub>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趋向于正无穷大时，点列从可行域外部趋于原问题的极小点</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且</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这个点列收敛于约束问题的最优解</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200" dirty="0">
                  <a:latin typeface="宋体" panose="02010600030101010101" pitchFamily="2" charset="-122"/>
                  <a:ea typeface="宋体" panose="02010600030101010101" pitchFamily="2"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953598" y="3226429"/>
                <a:ext cx="7626668" cy="1028680"/>
              </a:xfrm>
              <a:prstGeom prst="rect">
                <a:avLst/>
              </a:prstGeom>
              <a:blipFill rotWithShape="1">
                <a:blip r:embed="rId1"/>
                <a:stretch>
                  <a:fillRect l="-6" t="-61" r="2" b="-21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845820" y="1323023"/>
                <a:ext cx="2767489" cy="430887"/>
              </a:xfrm>
              <a:prstGeom prst="rect">
                <a:avLst/>
              </a:prstGeom>
              <a:noFill/>
            </p:spPr>
            <p:txBody>
              <a:bodyPr wrap="square" rtlCol="0">
                <a:spAutoFit/>
              </a:bodyPr>
              <a:lstStyle/>
              <a:p>
                <a:r>
                  <a:rPr lang="zh-CN" altLang="en-US" sz="2200" dirty="0">
                    <a:latin typeface="宋体" panose="02010600030101010101" pitchFamily="2" charset="-122"/>
                    <a:ea typeface="宋体" panose="02010600030101010101" pitchFamily="2" charset="-122"/>
                    <a:cs typeface="宋体" panose="02010600030101010101" pitchFamily="2" charset="-122"/>
                  </a:rPr>
                  <a:t>可行域：</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200" i="1">
                            <a:latin typeface="Cambria Math" panose="02040503050406030204" pitchFamily="18" charset="0"/>
                            <a:ea typeface="MS Mincho" panose="02020609040205080304" charset="-128"/>
                            <a:cs typeface="Cambria Math" panose="02040503050406030204" pitchFamily="18" charset="0"/>
                          </a:rPr>
                          <m:t>2</m:t>
                        </m:r>
                      </m:sub>
                    </m:sSub>
                    <m:r>
                      <a:rPr lang="en-US" altLang="zh-CN" sz="2200" i="1">
                        <a:latin typeface="Cambria Math" panose="02040503050406030204" pitchFamily="18" charset="0"/>
                        <a:ea typeface="MS Mincho" panose="02020609040205080304" charset="-128"/>
                        <a:cs typeface="Cambria Math" panose="02040503050406030204" pitchFamily="18" charset="0"/>
                      </a:rPr>
                      <m:t>≥</m:t>
                    </m:r>
                    <m:r>
                      <a:rPr lang="en-US" altLang="zh-CN" sz="2200" i="1">
                        <a:latin typeface="Cambria Math" panose="02040503050406030204" pitchFamily="18" charset="0"/>
                        <a:ea typeface="MS Mincho" panose="02020609040205080304" charset="-128"/>
                        <a:cs typeface="Cambria Math" panose="02040503050406030204" pitchFamily="18" charset="0"/>
                      </a:rPr>
                      <m:t>1</m:t>
                    </m:r>
                  </m:oMath>
                </a14:m>
                <a:endParaRPr lang="zh-CN" altLang="en-US" sz="2200" dirty="0">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845820" y="1323023"/>
                <a:ext cx="2767489" cy="430887"/>
              </a:xfrm>
              <a:prstGeom prst="rect">
                <a:avLst/>
              </a:prstGeom>
              <a:blipFill rotWithShape="1">
                <a:blip r:embed="rId2"/>
                <a:stretch>
                  <a:fillRect t="-74" r="6" b="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8" name="表格 7"/>
              <p:cNvGraphicFramePr/>
              <p:nvPr>
                <p:custDataLst>
                  <p:tags r:id="rId3"/>
                </p:custDataLst>
              </p:nvPr>
            </p:nvGraphicFramePr>
            <p:xfrm>
              <a:off x="1223962" y="1916907"/>
              <a:ext cx="6687506" cy="1064418"/>
            </p:xfrm>
            <a:graphic>
              <a:graphicData uri="http://schemas.openxmlformats.org/drawingml/2006/table">
                <a:tbl>
                  <a:tblPr firstRow="1" bandRow="1">
                    <a:tableStyleId>{5C22544A-7EE6-4342-B048-85BDC9FD1C3A}</a:tableStyleId>
                  </a:tblPr>
                  <a:tblGrid>
                    <a:gridCol w="955358"/>
                    <a:gridCol w="955358"/>
                    <a:gridCol w="955358"/>
                    <a:gridCol w="955358"/>
                    <a:gridCol w="955358"/>
                    <a:gridCol w="955358"/>
                    <a:gridCol w="955358"/>
                  </a:tblGrid>
                  <a:tr h="366236">
                    <a:tc>
                      <a:txBody>
                        <a:bodyPr/>
                        <a:lstStyle/>
                        <a:p>
                          <a:pPr>
                            <a:buNone/>
                          </a:pPr>
                          <a14:m>
                            <m:oMathPara xmlns:m="http://schemas.openxmlformats.org/officeDocument/2006/math">
                              <m:oMathParaPr>
                                <m:jc m:val="centerGroup"/>
                              </m:oMathParaPr>
                              <m:oMath xmlns:m="http://schemas.openxmlformats.org/officeDocument/2006/math">
                                <m:sSub>
                                  <m:sSubPr>
                                    <m:ctrlPr>
                                      <a:rPr lang="en-US" altLang="zh-CN" sz="1400" b="0" i="1" smtClean="0">
                                        <a:solidFill>
                                          <a:schemeClr val="tx1"/>
                                        </a:solidFill>
                                        <a:latin typeface="Cambria Math" panose="02040503050406030204" pitchFamily="18" charset="0"/>
                                        <a:cs typeface="Cambria Math" panose="02040503050406030204" pitchFamily="18" charset="0"/>
                                      </a:rPr>
                                    </m:ctrlPr>
                                  </m:sSubPr>
                                  <m:e>
                                    <m:r>
                                      <m:rPr>
                                        <m:sty m:val="p"/>
                                      </m:rPr>
                                      <a:rPr lang="en-US" altLang="zh-CN" sz="1400" b="0">
                                        <a:solidFill>
                                          <a:schemeClr val="tx1"/>
                                        </a:solidFill>
                                        <a:latin typeface="Cambria Math" panose="02040503050406030204" pitchFamily="18" charset="0"/>
                                        <a:cs typeface="Cambria Math" panose="02040503050406030204" pitchFamily="18" charset="0"/>
                                      </a:rPr>
                                      <m:t>M</m:t>
                                    </m:r>
                                  </m:e>
                                  <m:sub>
                                    <m:r>
                                      <m:rPr>
                                        <m:sty m:val="p"/>
                                      </m:rPr>
                                      <a:rPr lang="en-US" altLang="zh-CN" sz="1400" b="0">
                                        <a:solidFill>
                                          <a:schemeClr val="tx1"/>
                                        </a:solidFill>
                                        <a:latin typeface="Cambria Math" panose="02040503050406030204" pitchFamily="18" charset="0"/>
                                        <a:cs typeface="Cambria Math" panose="02040503050406030204" pitchFamily="18" charset="0"/>
                                      </a:rPr>
                                      <m:t>k</m:t>
                                    </m:r>
                                  </m:sub>
                                </m:sSub>
                              </m:oMath>
                            </m:oMathPara>
                          </a14:m>
                          <a:endParaRPr lang="en-US" altLang="zh-CN" sz="1400" dirty="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1000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10000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en-US" altLang="zh-CN" sz="1400" b="0" i="1">
                                        <a:solidFill>
                                          <a:schemeClr val="tx1"/>
                                        </a:solidFill>
                                        <a:latin typeface="Cambria Math" panose="02040503050406030204" pitchFamily="18" charset="0"/>
                                        <a:cs typeface="Cambria Math" panose="02040503050406030204" pitchFamily="18" charset="0"/>
                                      </a:rPr>
                                    </m:ctrlPr>
                                  </m:sSubPr>
                                  <m:e>
                                    <m:r>
                                      <m:rPr>
                                        <m:sty m:val="p"/>
                                      </m:rPr>
                                      <a:rPr lang="en-US" altLang="zh-CN" sz="1400" b="0">
                                        <a:solidFill>
                                          <a:schemeClr val="tx1"/>
                                        </a:solidFill>
                                        <a:latin typeface="Cambria Math" panose="02040503050406030204" pitchFamily="18" charset="0"/>
                                        <a:cs typeface="Cambria Math" panose="02040503050406030204" pitchFamily="18" charset="0"/>
                                      </a:rPr>
                                      <m:t>M</m:t>
                                    </m:r>
                                  </m:e>
                                  <m:sub>
                                    <m:r>
                                      <m:rPr>
                                        <m:sty m:val="p"/>
                                      </m:rPr>
                                      <a:rPr lang="en-US" altLang="zh-CN" sz="1400" b="0">
                                        <a:solidFill>
                                          <a:schemeClr val="tx1"/>
                                        </a:solidFill>
                                        <a:latin typeface="Cambria Math" panose="02040503050406030204" pitchFamily="18" charset="0"/>
                                        <a:cs typeface="Cambria Math" panose="02040503050406030204" pitchFamily="18" charset="0"/>
                                      </a:rPr>
                                      <m:t>k</m:t>
                                    </m:r>
                                  </m:sub>
                                </m:sSub>
                                <m:r>
                                  <a:rPr lang="en-US" altLang="zh-CN" sz="1400" b="0">
                                    <a:solidFill>
                                      <a:schemeClr val="tx1"/>
                                    </a:solidFill>
                                    <a:latin typeface="Cambria Math" panose="02040503050406030204" pitchFamily="18" charset="0"/>
                                    <a:cs typeface="Cambria Math" panose="02040503050406030204" pitchFamily="18" charset="0"/>
                                  </a:rPr>
                                  <m:t>→+∞</m:t>
                                </m:r>
                              </m:oMath>
                            </m:oMathPara>
                          </a14:m>
                          <a:endParaRPr lang="zh-CN" altLang="en-US"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49091">
                    <a:tc>
                      <a:txBody>
                        <a:bodyPr/>
                        <a:lstStyle/>
                        <a:p>
                          <a:pPr>
                            <a:buNone/>
                          </a:pPr>
                          <a14:m>
                            <m:oMathPara xmlns:m="http://schemas.openxmlformats.org/officeDocument/2006/math">
                              <m:oMathParaPr>
                                <m:jc m:val="centerGroup"/>
                              </m:oMathParaPr>
                              <m:oMath xmlns:m="http://schemas.openxmlformats.org/officeDocument/2006/math">
                                <m:sSub>
                                  <m:sSubPr>
                                    <m:ctrlPr>
                                      <a:rPr lang="en-US" altLang="zh-CN" sz="1400" i="1">
                                        <a:solidFill>
                                          <a:schemeClr val="tx1"/>
                                        </a:solidFill>
                                        <a:latin typeface="Cambria Math" panose="02040503050406030204" pitchFamily="18" charset="0"/>
                                        <a:cs typeface="Cambria Math" panose="02040503050406030204" pitchFamily="18" charset="0"/>
                                      </a:rPr>
                                    </m:ctrlPr>
                                  </m:sSubPr>
                                  <m:e>
                                    <m:r>
                                      <a:rPr lang="en-US" altLang="zh-CN" sz="1400" i="1">
                                        <a:solidFill>
                                          <a:schemeClr val="tx1"/>
                                        </a:solidFill>
                                        <a:latin typeface="Cambria Math" panose="02040503050406030204" pitchFamily="18" charset="0"/>
                                        <a:cs typeface="Cambria Math" panose="02040503050406030204" pitchFamily="18" charset="0"/>
                                      </a:rPr>
                                      <m:t>𝑥</m:t>
                                    </m:r>
                                  </m:e>
                                  <m:sub>
                                    <m:r>
                                      <a:rPr lang="en-US" altLang="zh-CN" sz="1400" i="1">
                                        <a:solidFill>
                                          <a:schemeClr val="tx1"/>
                                        </a:solidFill>
                                        <a:latin typeface="Cambria Math" panose="02040503050406030204" pitchFamily="18" charset="0"/>
                                        <a:cs typeface="Cambria Math" panose="02040503050406030204" pitchFamily="18" charset="0"/>
                                      </a:rPr>
                                      <m:t>1</m:t>
                                    </m:r>
                                  </m:sub>
                                </m:sSub>
                              </m:oMath>
                            </m:oMathPara>
                          </a14:m>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49091">
                    <a:tc>
                      <a:txBody>
                        <a:bodyPr/>
                        <a:lstStyle/>
                        <a:p>
                          <a:pPr>
                            <a:buNone/>
                          </a:pPr>
                          <a14:m>
                            <m:oMathPara xmlns:m="http://schemas.openxmlformats.org/officeDocument/2006/math">
                              <m:oMathParaPr>
                                <m:jc m:val="centerGroup"/>
                              </m:oMathParaPr>
                              <m:oMath xmlns:m="http://schemas.openxmlformats.org/officeDocument/2006/math">
                                <m:sSub>
                                  <m:sSubPr>
                                    <m:ctrlPr>
                                      <a:rPr lang="en-US" altLang="zh-CN" sz="1400" i="1">
                                        <a:solidFill>
                                          <a:schemeClr val="tx1"/>
                                        </a:solidFill>
                                        <a:latin typeface="Cambria Math" panose="02040503050406030204" pitchFamily="18" charset="0"/>
                                        <a:cs typeface="Cambria Math" panose="02040503050406030204" pitchFamily="18" charset="0"/>
                                      </a:rPr>
                                    </m:ctrlPr>
                                  </m:sSubPr>
                                  <m:e>
                                    <m:r>
                                      <a:rPr lang="en-US" altLang="zh-CN" sz="1400" i="1">
                                        <a:solidFill>
                                          <a:schemeClr val="tx1"/>
                                        </a:solidFill>
                                        <a:latin typeface="Cambria Math" panose="02040503050406030204" pitchFamily="18" charset="0"/>
                                        <a:cs typeface="Cambria Math" panose="02040503050406030204" pitchFamily="18" charset="0"/>
                                      </a:rPr>
                                      <m:t>𝑥</m:t>
                                    </m:r>
                                  </m:e>
                                  <m:sub>
                                    <m:r>
                                      <a:rPr lang="en-US" altLang="zh-CN" sz="1400" i="1">
                                        <a:solidFill>
                                          <a:schemeClr val="tx1"/>
                                        </a:solidFill>
                                        <a:latin typeface="Cambria Math" panose="02040503050406030204" pitchFamily="18" charset="0"/>
                                        <a:cs typeface="Cambria Math" panose="02040503050406030204" pitchFamily="18" charset="0"/>
                                      </a:rPr>
                                      <m:t>2</m:t>
                                    </m:r>
                                  </m:sub>
                                </m:sSub>
                              </m:oMath>
                            </m:oMathPara>
                          </a14:m>
                          <a:endParaRPr lang="zh-CN" altLang="en-US"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0.5</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0.909</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0.990</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0.999</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0.9999</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dirty="0">
                              <a:solidFill>
                                <a:schemeClr val="tx1"/>
                              </a:solidFill>
                            </a:rPr>
                            <a:t>         1</a:t>
                          </a:r>
                          <a:endParaRPr lang="en-US" altLang="zh-CN" sz="1400" dirty="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mc:Choice>
        <mc:Fallback xmlns="">
          <p:graphicFrame>
            <p:nvGraphicFramePr>
              <p:cNvPr id="8" name="表格 7"/>
              <p:cNvGraphicFramePr/>
              <p:nvPr>
                <p:custDataLst>
                  <p:tags r:id="rId4"/>
                </p:custDataLst>
              </p:nvPr>
            </p:nvGraphicFramePr>
            <p:xfrm>
              <a:off x="1223962" y="1916907"/>
              <a:ext cx="6687506" cy="1064418"/>
            </p:xfrm>
            <a:graphic>
              <a:graphicData uri="http://schemas.openxmlformats.org/drawingml/2006/table">
                <a:tbl>
                  <a:tblPr firstRow="1" bandRow="1">
                    <a:tableStyleId>{5C22544A-7EE6-4342-B048-85BDC9FD1C3A}</a:tableStyleId>
                  </a:tblPr>
                  <a:tblGrid>
                    <a:gridCol w="955358"/>
                    <a:gridCol w="955358"/>
                    <a:gridCol w="955358"/>
                    <a:gridCol w="955358"/>
                    <a:gridCol w="955358"/>
                    <a:gridCol w="955358"/>
                    <a:gridCol w="955358"/>
                  </a:tblGrid>
                  <a:tr h="366395">
                    <a:tc>
                      <a:txBody>
                        <a:bodyPr/>
                        <a:lstStyle/>
                        <a:p>
                          <a:endParaRPr lang="zh-CN"/>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pPr>
                            <a:buNone/>
                          </a:pPr>
                          <a:r>
                            <a:rPr lang="en-US" altLang="zh-CN" sz="1400">
                              <a:solidFill>
                                <a:schemeClr val="tx1"/>
                              </a:solidFill>
                            </a:rPr>
                            <a:t>         </a:t>
                          </a:r>
                          <a:r>
                            <a:rPr lang="en-US" altLang="zh-CN" sz="1400" b="0">
                              <a:solidFill>
                                <a:schemeClr val="tx1"/>
                              </a:solidFill>
                            </a:rPr>
                            <a:t>1</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1000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a:t>
                          </a:r>
                          <a:r>
                            <a:rPr lang="en-US" altLang="zh-CN" sz="1400" b="0">
                              <a:solidFill>
                                <a:schemeClr val="tx1"/>
                              </a:solidFill>
                            </a:rPr>
                            <a:t>10000</a:t>
                          </a:r>
                          <a:endParaRPr lang="en-US" altLang="zh-CN" sz="1400" b="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endParaRPr lang="zh-CN"/>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r>
                  <a:tr h="348615">
                    <a:tc>
                      <a:txBody>
                        <a:bodyPr/>
                        <a:lstStyle/>
                        <a:p>
                          <a:endParaRPr lang="zh-CN"/>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2</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49250">
                    <a:tc>
                      <a:txBody>
                        <a:bodyPr/>
                        <a:lstStyle/>
                        <a:p>
                          <a:endParaRPr lang="zh-CN"/>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blipFill>
                          <a:blip r:embed="rId5"/>
                        </a:blipFill>
                      </a:tcPr>
                    </a:tc>
                    <a:tc>
                      <a:txBody>
                        <a:bodyPr/>
                        <a:lstStyle/>
                        <a:p>
                          <a:pPr>
                            <a:buNone/>
                          </a:pPr>
                          <a:r>
                            <a:rPr lang="en-US" altLang="zh-CN" sz="1400">
                              <a:solidFill>
                                <a:schemeClr val="tx1"/>
                              </a:solidFill>
                            </a:rPr>
                            <a:t>       0.5</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0.909</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0.990</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0.999</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a:solidFill>
                                <a:schemeClr val="tx1"/>
                              </a:solidFill>
                            </a:rPr>
                            <a:t>    0.9999</a:t>
                          </a:r>
                          <a:endParaRPr lang="en-US" altLang="zh-CN" sz="140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lstStyle/>
                        <a:p>
                          <a:pPr>
                            <a:buNone/>
                          </a:pPr>
                          <a:r>
                            <a:rPr lang="en-US" altLang="zh-CN" sz="1400" dirty="0">
                              <a:solidFill>
                                <a:schemeClr val="tx1"/>
                              </a:solidFill>
                            </a:rPr>
                            <a:t>         1</a:t>
                          </a:r>
                          <a:endParaRPr lang="en-US" altLang="zh-CN" sz="1400" dirty="0">
                            <a:solidFill>
                              <a:schemeClr val="tx1"/>
                            </a:solidFill>
                          </a:endParaRPr>
                        </a:p>
                      </a:txBody>
                      <a:tcPr marL="68580" marR="68580" marT="34290" marB="3429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1268760"/>
            <a:ext cx="5154105" cy="461665"/>
          </a:xfrm>
          <a:prstGeom prst="rect">
            <a:avLst/>
          </a:prstGeom>
          <a:noFill/>
        </p:spPr>
        <p:txBody>
          <a:bodyPr wrap="square">
            <a:spAutoFit/>
          </a:bodyPr>
          <a:lstStyle/>
          <a:p>
            <a:pPr algn="just">
              <a:spcBef>
                <a:spcPts val="450"/>
              </a:spcBef>
              <a:spcAft>
                <a:spcPts val="450"/>
              </a:spcAft>
            </a:pPr>
            <a:r>
              <a:rPr lang="zh-CN" altLang="en-US" sz="2400" b="1" kern="100" dirty="0">
                <a:latin typeface="Times New Roman" panose="02020603050405020304" pitchFamily="18" charset="0"/>
                <a:ea typeface="黑体" panose="02010609060101010101" pitchFamily="49" charset="-122"/>
              </a:rPr>
              <a:t>三、小结</a:t>
            </a:r>
            <a:endParaRPr lang="zh-CN" altLang="zh-CN" sz="2400" b="1" kern="100" dirty="0">
              <a:latin typeface="Times New Roman" panose="02020603050405020304" pitchFamily="18" charset="0"/>
              <a:ea typeface="宋体" panose="02010600030101010101" pitchFamily="2" charset="-122"/>
            </a:endParaRPr>
          </a:p>
        </p:txBody>
      </p:sp>
      <p:sp>
        <p:nvSpPr>
          <p:cNvPr id="7" name="文本框 6"/>
          <p:cNvSpPr txBox="1"/>
          <p:nvPr/>
        </p:nvSpPr>
        <p:spPr>
          <a:xfrm>
            <a:off x="656801" y="2025038"/>
            <a:ext cx="7830870" cy="1130246"/>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zh-CN" sz="2400" kern="100" dirty="0">
                <a:latin typeface="Times New Roman" panose="02020603050405020304" pitchFamily="18" charset="0"/>
                <a:ea typeface="宋体" panose="02010600030101010101" pitchFamily="2" charset="-122"/>
              </a:rPr>
              <a:t>罚函数的形式不是唯一的</a:t>
            </a:r>
            <a:r>
              <a:rPr lang="zh-CN" altLang="en-US"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400" kern="100" dirty="0">
                <a:latin typeface="宋体" panose="02010600030101010101" pitchFamily="2" charset="-122"/>
                <a:ea typeface="宋体" panose="02010600030101010101" pitchFamily="2" charset="-122"/>
              </a:rPr>
              <a:t>外点法的初始点可以任意取。</a:t>
            </a:r>
            <a:endParaRPr lang="zh-CN" altLang="zh-CN" sz="2400" kern="100" dirty="0">
              <a:latin typeface="Times New Roman" panose="02020603050405020304" pitchFamily="18"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6559" y="476672"/>
            <a:ext cx="9144000" cy="145305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12990" y="2564904"/>
            <a:ext cx="1454244" cy="1107996"/>
          </a:xfrm>
          <a:prstGeom prst="rect">
            <a:avLst/>
          </a:prstGeom>
        </p:spPr>
        <p:txBody>
          <a:bodyPr wrap="none">
            <a:spAutoFit/>
          </a:bodyPr>
          <a:lstStyle/>
          <a:p>
            <a:pPr algn="ctr"/>
            <a:r>
              <a:rPr lang="en-US" altLang="zh-CN" sz="3300" b="1" dirty="0"/>
              <a:t>  9.4 </a:t>
            </a:r>
            <a:endParaRPr lang="en-US" altLang="zh-CN" sz="3300" b="1" dirty="0"/>
          </a:p>
          <a:p>
            <a:pPr algn="ctr"/>
            <a:r>
              <a:rPr lang="zh-CN" altLang="en-US" sz="3300" b="1" dirty="0"/>
              <a:t>内点法</a:t>
            </a:r>
            <a:endParaRPr lang="zh-CN" altLang="en-US" sz="33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21550" y="1808820"/>
            <a:ext cx="7722858" cy="1667764"/>
          </a:xfrm>
          <a:prstGeom prst="rect">
            <a:avLst/>
          </a:prstGeom>
          <a:noFill/>
        </p:spPr>
        <p:txBody>
          <a:bodyPr wrap="square">
            <a:spAutoFit/>
          </a:bodyPr>
          <a:lstStyle/>
          <a:p>
            <a:pPr algn="just">
              <a:lnSpc>
                <a:spcPct val="150000"/>
              </a:lnSpc>
            </a:pPr>
            <a:r>
              <a:rPr lang="zh-CN" altLang="en-US" sz="2400" b="1" dirty="0">
                <a:solidFill>
                  <a:schemeClr val="accent2"/>
                </a:solidFill>
                <a:latin typeface="宋体" panose="02010600030101010101" pitchFamily="2" charset="-122"/>
                <a:ea typeface="宋体" panose="02010600030101010101" pitchFamily="2" charset="-122"/>
              </a:rPr>
              <a:t>   内点法，</a:t>
            </a:r>
            <a:r>
              <a:rPr lang="zh-CN" altLang="en-US" sz="2400" dirty="0">
                <a:latin typeface="宋体" panose="02010600030101010101" pitchFamily="2" charset="-122"/>
                <a:ea typeface="宋体" panose="02010600030101010101" pitchFamily="2" charset="-122"/>
              </a:rPr>
              <a:t>也称内罚函数法，主要思想是在可行域边界筑起高墙让目标函数无法穿过，把目标函数挡在可行域内。</a:t>
            </a:r>
            <a:endParaRPr lang="zh-CN" altLang="en-US" sz="2400" dirty="0">
              <a:latin typeface="宋体" panose="02010600030101010101" pitchFamily="2" charset="-122"/>
              <a:ea typeface="宋体" panose="02010600030101010101" pitchFamily="2" charset="-122"/>
            </a:endParaRPr>
          </a:p>
        </p:txBody>
      </p:sp>
      <p:pic>
        <p:nvPicPr>
          <p:cNvPr id="8" name="图片 7"/>
          <p:cNvPicPr>
            <a:picLocks noChangeAspect="1"/>
          </p:cNvPicPr>
          <p:nvPr/>
        </p:nvPicPr>
        <p:blipFill>
          <a:blip r:embed="rId1"/>
          <a:stretch>
            <a:fillRect/>
          </a:stretch>
        </p:blipFill>
        <p:spPr>
          <a:xfrm>
            <a:off x="4997985" y="3915054"/>
            <a:ext cx="3365935" cy="191808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692696"/>
            <a:ext cx="2430270"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一、基本原理</a:t>
            </a:r>
            <a:endParaRPr lang="zh-CN" altLang="en-US" sz="2400" b="1"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1007604" y="1628800"/>
                <a:ext cx="7128792" cy="4060214"/>
              </a:xfrm>
              <a:prstGeom prst="rect">
                <a:avLst/>
              </a:prstGeom>
              <a:noFill/>
            </p:spPr>
            <p:txBody>
              <a:bodyPr wrap="square" rtlCol="0">
                <a:spAutoFit/>
              </a:bodyPr>
              <a:lstStyle/>
              <a:p>
                <a:pPr indent="200025" algn="just">
                  <a:lnSpc>
                    <a:spcPct val="150000"/>
                  </a:lnSpc>
                </a:pPr>
                <a:r>
                  <a:rPr lang="en-US" altLang="zh-CN" sz="2400" kern="100" dirty="0">
                    <a:latin typeface="宋体" panose="02010600030101010101" pitchFamily="2" charset="-122"/>
                    <a:ea typeface="等线" panose="02010600030101010101" charset="-122"/>
                    <a:cs typeface="Times New Roman" panose="02020603050405020304" pitchFamily="18" charset="0"/>
                  </a:rPr>
                  <a:t>	</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考虑非线性规划</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问题（</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NP</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indent="200025" algn="just">
                  <a:lnSpc>
                    <a:spcPct val="150000"/>
                  </a:lnSpc>
                </a:pPr>
                <a14:m>
                  <m:oMathPara xmlns:m="http://schemas.openxmlformats.org/officeDocument/2006/math">
                    <m:oMathParaPr>
                      <m:jc m:val="centerGroup"/>
                    </m:oMathParaPr>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uncPr>
                        <m:fName>
                          <m:r>
                            <a:rPr lang="en-US" altLang="zh-CN" sz="2400" i="1" kern="100">
                              <a:latin typeface="Cambria Math" panose="02040503050406030204" pitchFamily="18" charset="0"/>
                              <a:ea typeface="等线" panose="02010600030101010101" charset="-122"/>
                              <a:cs typeface="Times New Roman" panose="02020603050405020304" pitchFamily="18" charset="0"/>
                            </a:rPr>
                            <m:t>𝑚𝑖𝑛</m:t>
                          </m:r>
                        </m:fName>
                        <m:e>
                          <m:r>
                            <a:rPr lang="en-US" altLang="zh-CN" sz="2400" i="1" kern="100">
                              <a:latin typeface="Cambria Math" panose="02040503050406030204" pitchFamily="18" charset="0"/>
                              <a:ea typeface="等线" panose="02010600030101010101" charset="-122"/>
                              <a:cs typeface="Times New Roman" panose="02020603050405020304" pitchFamily="18" charset="0"/>
                            </a:rPr>
                            <m:t> </m:t>
                          </m:r>
                        </m:e>
                      </m:func>
                      <m:r>
                        <a:rPr lang="en-US" altLang="zh-CN" sz="2400" i="1" kern="100">
                          <a:latin typeface="Cambria Math" panose="02040503050406030204" pitchFamily="18" charset="0"/>
                          <a:ea typeface="等线" panose="02010600030101010101" charset="-122"/>
                          <a:cs typeface="Times New Roman" panose="02020603050405020304" pitchFamily="18" charset="0"/>
                        </a:rPr>
                        <m:t>𝑓</m:t>
                      </m:r>
                      <m:d>
                        <m:dPr>
                          <m:ctrlPr>
                            <a:rPr lang="en-US" altLang="zh-CN" sz="2400" i="1" kern="100">
                              <a:latin typeface="Cambria Math" panose="02040503050406030204" pitchFamily="18" charset="0"/>
                              <a:ea typeface="等线" panose="02010600030101010101" charset="-122"/>
                              <a:cs typeface="Times New Roman" panose="02020603050405020304" pitchFamily="18" charset="0"/>
                            </a:rPr>
                          </m:ctrlPr>
                        </m:dPr>
                        <m:e>
                          <m:r>
                            <a:rPr lang="en-US" altLang="zh-CN" sz="2400" i="1" kern="100">
                              <a:latin typeface="Cambria Math" panose="02040503050406030204" pitchFamily="18" charset="0"/>
                              <a:ea typeface="等线" panose="02010600030101010101" charset="-122"/>
                              <a:cs typeface="Times New Roman" panose="02020603050405020304" pitchFamily="18" charset="0"/>
                            </a:rPr>
                            <m:t>𝑥</m:t>
                          </m:r>
                        </m:e>
                      </m:d>
                    </m:oMath>
                  </m:oMathPara>
                </a14:m>
                <a:endParaRPr lang="en-US" altLang="zh-CN" sz="2400" i="1" kern="100" dirty="0">
                  <a:latin typeface="Cambria Math" panose="02040503050406030204" pitchFamily="18" charset="0"/>
                  <a:ea typeface="等线" panose="02010600030101010101" charset="-122"/>
                  <a:cs typeface="Times New Roman" panose="02020603050405020304" pitchFamily="18" charset="0"/>
                </a:endParaRPr>
              </a:p>
              <a:p>
                <a:pPr indent="200025" algn="ctr">
                  <a:lnSpc>
                    <a:spcPct val="150000"/>
                  </a:lnSpc>
                </a:pPr>
                <a14:m>
                  <m:oMath xmlns:m="http://schemas.openxmlformats.org/officeDocument/2006/math">
                    <m:r>
                      <a:rPr lang="en-US" altLang="zh-CN" sz="2400" i="1" kern="100">
                        <a:latin typeface="Cambria Math" panose="02040503050406030204" pitchFamily="18" charset="0"/>
                        <a:ea typeface="等线" panose="02010600030101010101" charset="-122"/>
                        <a:cs typeface="Times New Roman" panose="02020603050405020304" pitchFamily="18" charset="0"/>
                      </a:rPr>
                      <m:t>𝑠</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𝑡</m:t>
                    </m:r>
                    <m:r>
                      <a:rPr lang="en-US" altLang="zh-CN" sz="2400" i="1" kern="100">
                        <a:latin typeface="Cambria Math" panose="02040503050406030204" pitchFamily="18" charset="0"/>
                        <a:ea typeface="等线" panose="02010600030101010101"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charset="-122"/>
                            <a:cs typeface="Times New Roman" panose="02020603050405020304" pitchFamily="18" charset="0"/>
                          </a:rPr>
                          <m:t>𝑔</m:t>
                        </m:r>
                      </m:e>
                      <m:sub>
                        <m:r>
                          <a:rPr lang="en-US" altLang="zh-CN" sz="2400" i="1" kern="100">
                            <a:latin typeface="Cambria Math" panose="02040503050406030204" pitchFamily="18" charset="0"/>
                            <a:ea typeface="等线" panose="02010600030101010101" charset="-122"/>
                            <a:cs typeface="Times New Roman" panose="02020603050405020304" pitchFamily="18" charset="0"/>
                          </a:rPr>
                          <m:t>𝑗</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𝑥</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0</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𝑗</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2</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𝑙</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oMath>
                </a14:m>
                <a:r>
                  <a:rPr lang="en-US" altLang="zh-CN" sz="2400" kern="100" dirty="0">
                    <a:latin typeface="等线" panose="02010600030101010101" charset="-122"/>
                    <a:ea typeface="等线" panose="02010600030101010101" charset="-122"/>
                    <a:cs typeface="Times New Roman" panose="02020603050405020304" pitchFamily="18" charset="0"/>
                  </a:rPr>
                  <a:t>			</a:t>
                </a:r>
                <a:endParaRPr lang="zh-CN" altLang="zh-CN" sz="2400" kern="100" dirty="0">
                  <a:latin typeface="等线" panose="02010600030101010101" charset="-122"/>
                  <a:ea typeface="等线" panose="02010600030101010101" charset="-122"/>
                  <a:cs typeface="Times New Roman" panose="02020603050405020304" pitchFamily="18" charset="0"/>
                </a:endParaRPr>
              </a:p>
              <a:p>
                <a:pPr algn="just">
                  <a:lnSpc>
                    <a:spcPct val="150000"/>
                  </a:lnSpc>
                </a:pP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记</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400" kern="100" dirty="0">
                    <a:latin typeface="宋体" panose="02010600030101010101" pitchFamily="2" charset="-122"/>
                    <a:ea typeface="等线" panose="02010600030101010101" charset="-122"/>
                    <a:cs typeface="Times New Roman" panose="020206030504050203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charset="-122"/>
                            <a:cs typeface="Times New Roman" panose="02020603050405020304" pitchFamily="18" charset="0"/>
                          </a:rPr>
                          <m:t>𝐻</m:t>
                        </m:r>
                      </m:e>
                      <m:sub>
                        <m:r>
                          <a:rPr lang="en-US" altLang="zh-CN" sz="2400" i="1" kern="100">
                            <a:latin typeface="Cambria Math" panose="02040503050406030204" pitchFamily="18" charset="0"/>
                            <a:ea typeface="等线" panose="02010600030101010101"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𝑥</m:t>
                    </m:r>
                    <m:d>
                      <m:dPr>
                        <m:begChr m:val="|"/>
                        <m:end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charset="-122"/>
                                <a:cs typeface="Times New Roman" panose="02020603050405020304" pitchFamily="18" charset="0"/>
                              </a:rPr>
                              <m:t>𝑔</m:t>
                            </m:r>
                          </m:e>
                          <m:sub>
                            <m:r>
                              <a:rPr lang="en-US" altLang="zh-CN" sz="2400" i="1" kern="100">
                                <a:latin typeface="Cambria Math" panose="02040503050406030204" pitchFamily="18" charset="0"/>
                                <a:ea typeface="等线" panose="02010600030101010101" charset="-122"/>
                                <a:cs typeface="Times New Roman" panose="02020603050405020304" pitchFamily="18" charset="0"/>
                              </a:rPr>
                              <m:t>𝑗</m:t>
                            </m:r>
                          </m:sub>
                        </m:sSub>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𝑥</m:t>
                        </m:r>
                        <m:r>
                          <a:rPr lang="en-US" altLang="zh-CN" sz="2400" i="1" kern="100">
                            <a:latin typeface="Cambria Math" panose="02040503050406030204" pitchFamily="18" charset="0"/>
                            <a:ea typeface="等线" panose="02010600030101010101" charset="-122"/>
                            <a:cs typeface="Times New Roman" panose="02020603050405020304" pitchFamily="18" charset="0"/>
                          </a:rPr>
                          <m:t>)&gt;</m:t>
                        </m:r>
                        <m:r>
                          <a:rPr lang="en-US" altLang="zh-CN" sz="2400" i="1" kern="100">
                            <a:latin typeface="Cambria Math" panose="02040503050406030204" pitchFamily="18" charset="0"/>
                            <a:ea typeface="等线" panose="02010600030101010101" charset="-122"/>
                            <a:cs typeface="Times New Roman" panose="02020603050405020304" pitchFamily="18" charset="0"/>
                          </a:rPr>
                          <m:t>0</m:t>
                        </m:r>
                      </m:e>
                    </m:d>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𝑗</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1</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2</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r>
                      <a:rPr lang="en-US" altLang="zh-CN" sz="2400" i="1" kern="100">
                        <a:latin typeface="Cambria Math" panose="02040503050406030204" pitchFamily="18" charset="0"/>
                        <a:ea typeface="等线" panose="02010600030101010101" charset="-122"/>
                        <a:cs typeface="Times New Roman" panose="02020603050405020304" pitchFamily="18" charset="0"/>
                      </a:rPr>
                      <m:t>𝑙</m:t>
                    </m:r>
                    <m:r>
                      <a:rPr lang="en-US" altLang="zh-CN" sz="2400" i="1" kern="100">
                        <a:latin typeface="Cambria Math" panose="02040503050406030204" pitchFamily="18" charset="0"/>
                        <a:ea typeface="等线" panose="02010600030101010101" charset="-122"/>
                        <a:cs typeface="Times New Roman" panose="02020603050405020304" pitchFamily="18" charset="0"/>
                      </a:rPr>
                      <m:t>}</m:t>
                    </m:r>
                  </m:oMath>
                </a14:m>
                <a:r>
                  <a:rPr lang="en-US" altLang="zh-CN" sz="2400" kern="100" dirty="0">
                    <a:latin typeface="宋体" panose="02010600030101010101" pitchFamily="2" charset="-122"/>
                    <a:ea typeface="等线" panose="02010600030101010101" charset="-122"/>
                    <a:cs typeface="Times New Roman" panose="02020603050405020304" pitchFamily="18" charset="0"/>
                  </a:rPr>
                  <a:t>			</a:t>
                </a:r>
                <a:endParaRPr lang="zh-CN" altLang="zh-CN" sz="2400" kern="100" dirty="0">
                  <a:latin typeface="等线" panose="02010600030101010101" charset="-122"/>
                  <a:ea typeface="等线" panose="02010600030101010101" charset="-122"/>
                  <a:cs typeface="Times New Roman" panose="02020603050405020304" pitchFamily="18" charset="0"/>
                </a:endParaRPr>
              </a:p>
              <a:p>
                <a:pPr algn="just">
                  <a:lnSpc>
                    <a:spcPct val="150000"/>
                  </a:lnSpc>
                </a:pP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为可行域内部（或说是严格内点集合）。</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sz="2400" dirty="0"/>
              </a:p>
            </p:txBody>
          </p:sp>
        </mc:Choice>
        <mc:Fallback>
          <p:sp>
            <p:nvSpPr>
              <p:cNvPr id="2" name="文本框 1"/>
              <p:cNvSpPr txBox="1">
                <a:spLocks noRot="1" noChangeAspect="1" noMove="1" noResize="1" noEditPoints="1" noAdjustHandles="1" noChangeArrowheads="1" noChangeShapeType="1" noTextEdit="1"/>
              </p:cNvSpPr>
              <p:nvPr/>
            </p:nvSpPr>
            <p:spPr>
              <a:xfrm>
                <a:off x="1007604" y="1628800"/>
                <a:ext cx="7128792" cy="4060214"/>
              </a:xfrm>
              <a:prstGeom prst="rect">
                <a:avLst/>
              </a:prstGeom>
              <a:blipFill rotWithShape="1">
                <a:blip r:embed="rId1"/>
                <a:stretch>
                  <a:fillRect l="-7" t="-1" r="2" b="1"/>
                </a:stretch>
              </a:blipFill>
            </p:spPr>
            <p:txBody>
              <a:bodyPr/>
              <a:lstStyle/>
              <a:p>
                <a:r>
                  <a:rPr lang="zh-CN" altLang="en-US">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139261" y="188640"/>
                <a:ext cx="8865477" cy="6962099"/>
              </a:xfrm>
              <a:prstGeom prst="rect">
                <a:avLst/>
              </a:prstGeom>
              <a:noFill/>
            </p:spPr>
            <p:txBody>
              <a:bodyPr wrap="square" rtlCol="0">
                <a:spAutoFit/>
              </a:bodyPr>
              <a:lstStyle/>
              <a:p>
                <a:pPr algn="just">
                  <a:lnSpc>
                    <a:spcPct val="150000"/>
                  </a:lnSpc>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内点法也用目标函数叠加一个惩罚项来构成罚函数，在内点法中称为障碍函数。障碍函数具备这样的功能：在可行域内部离边界面较远之处，障碍函数与原目标函数尽可能地接近，而在接近边界面时，可以变成很大的值。</a:t>
                </a:r>
                <a:endParaRPr lang="en-US"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对问题（</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NP</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构造障碍函数</a:t>
                </a:r>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𝑝</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nary>
                      <m:naryPr>
                        <m: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200" i="1" kern="100">
                            <a:latin typeface="Cambria Math" panose="02040503050406030204" pitchFamily="18" charset="0"/>
                            <a:ea typeface="等线" panose="02010600030101010101" charset="-122"/>
                            <a:cs typeface="Times New Roman" panose="02020603050405020304" pitchFamily="18" charset="0"/>
                          </a:rPr>
                          <m:t>𝑙</m:t>
                        </m:r>
                      </m:sup>
                      <m:e>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1</m:t>
                            </m:r>
                          </m:num>
                          <m:den>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𝑔</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den>
                        </m:f>
                      </m:e>
                    </m:nary>
                  </m:oMath>
                </a14:m>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或</a:t>
                </a:r>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𝑝</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nary>
                      <m:naryPr>
                        <m: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200" i="1" kern="100">
                            <a:latin typeface="Cambria Math" panose="02040503050406030204" pitchFamily="18" charset="0"/>
                            <a:ea typeface="等线" panose="02010600030101010101" charset="-122"/>
                            <a:cs typeface="Times New Roman" panose="02020603050405020304" pitchFamily="18" charset="0"/>
                          </a:rPr>
                          <m:t>𝑙</m:t>
                        </m:r>
                      </m:sup>
                      <m:e>
                        <m:func>
                          <m:func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uncPr>
                          <m:fName>
                            <m:r>
                              <a:rPr lang="en-US" altLang="zh-CN" sz="2200" i="1" kern="100">
                                <a:latin typeface="Cambria Math" panose="02040503050406030204" pitchFamily="18" charset="0"/>
                                <a:ea typeface="等线" panose="02010600030101010101" charset="-122"/>
                                <a:cs typeface="Times New Roman" panose="02020603050405020304" pitchFamily="18" charset="0"/>
                              </a:rPr>
                              <m:t>𝑙𝑛</m:t>
                            </m:r>
                          </m:fName>
                          <m:e>
                            <m:r>
                              <a:rPr lang="en-US" altLang="zh-CN" sz="2200" i="1" kern="100">
                                <a:latin typeface="Cambria Math" panose="02040503050406030204" pitchFamily="18" charset="0"/>
                                <a:ea typeface="等线" panose="02010600030101010101" charset="-122"/>
                                <a:cs typeface="Times New Roman" panose="02020603050405020304" pitchFamily="18" charset="0"/>
                              </a:rPr>
                              <m:t>(</m:t>
                            </m:r>
                          </m:e>
                        </m:func>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𝑔</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e>
                    </m:nary>
                  </m:oMath>
                </a14:m>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其中，</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是很小的正数</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通常称</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为障碍因子，称</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nary>
                      <m:naryPr>
                        <m: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200" i="1" kern="100">
                            <a:latin typeface="Cambria Math" panose="02040503050406030204" pitchFamily="18" charset="0"/>
                            <a:ea typeface="等线" panose="02010600030101010101" charset="-122"/>
                            <a:cs typeface="Times New Roman" panose="02020603050405020304" pitchFamily="18" charset="0"/>
                          </a:rPr>
                          <m:t>𝑙</m:t>
                        </m:r>
                      </m:sup>
                      <m:e>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1</m:t>
                            </m:r>
                          </m:num>
                          <m:den>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𝑔</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den>
                        </m:f>
                      </m:e>
                    </m:nary>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或</a:t>
                </a:r>
                <a14:m>
                  <m:oMath xmlns:m="http://schemas.openxmlformats.org/officeDocument/2006/math">
                    <m:r>
                      <a:rPr lang="zh-CN" altLang="en-US" sz="2200" i="1" kern="100">
                        <a:latin typeface="Cambria Math" panose="02040503050406030204" pitchFamily="18" charset="0"/>
                        <a:ea typeface="微软雅黑" panose="020B0503020204020204" charset="-122"/>
                        <a:cs typeface="微软雅黑" panose="020B0503020204020204" charset="-122"/>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𝑟</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𝑘</m:t>
                        </m:r>
                      </m:sub>
                    </m:sSub>
                    <m:nary>
                      <m:naryPr>
                        <m: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1</m:t>
                        </m:r>
                      </m:sub>
                      <m:sup>
                        <m:r>
                          <a:rPr lang="en-US" altLang="zh-CN" sz="2200" i="1" kern="100">
                            <a:latin typeface="Cambria Math" panose="02040503050406030204" pitchFamily="18" charset="0"/>
                            <a:ea typeface="等线" panose="02010600030101010101" charset="-122"/>
                            <a:cs typeface="Times New Roman" panose="02020603050405020304" pitchFamily="18" charset="0"/>
                          </a:rPr>
                          <m:t>𝑙</m:t>
                        </m:r>
                      </m:sup>
                      <m:e>
                        <m:func>
                          <m:func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uncPr>
                          <m:fName>
                            <m:r>
                              <a:rPr lang="en-US" altLang="zh-CN" sz="2200" i="1" kern="100">
                                <a:latin typeface="Cambria Math" panose="02040503050406030204" pitchFamily="18" charset="0"/>
                                <a:ea typeface="等线" panose="02010600030101010101" charset="-122"/>
                                <a:cs typeface="Times New Roman" panose="02020603050405020304" pitchFamily="18" charset="0"/>
                              </a:rPr>
                              <m:t>𝑙𝑛</m:t>
                            </m:r>
                          </m:fName>
                          <m:e>
                            <m:r>
                              <a:rPr lang="en-US" altLang="zh-CN" sz="2200" i="1" kern="100">
                                <a:latin typeface="Cambria Math" panose="02040503050406030204" pitchFamily="18" charset="0"/>
                                <a:ea typeface="等线" panose="02010600030101010101" charset="-122"/>
                                <a:cs typeface="Times New Roman" panose="02020603050405020304" pitchFamily="18" charset="0"/>
                              </a:rPr>
                              <m:t>(</m:t>
                            </m:r>
                          </m:e>
                        </m:func>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charset="-122"/>
                                <a:cs typeface="Times New Roman" panose="02020603050405020304" pitchFamily="18" charset="0"/>
                              </a:rPr>
                              <m:t>𝑔</m:t>
                            </m:r>
                          </m:e>
                          <m:sub>
                            <m:r>
                              <a:rPr lang="en-US" altLang="zh-CN" sz="2200" i="1" kern="100">
                                <a:latin typeface="Cambria Math" panose="02040503050406030204" pitchFamily="18" charset="0"/>
                                <a:ea typeface="等线" panose="02010600030101010101" charset="-122"/>
                                <a:cs typeface="Times New Roman" panose="02020603050405020304" pitchFamily="18" charset="0"/>
                              </a:rPr>
                              <m:t>𝑗</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e>
                    </m:nary>
                  </m:oMath>
                </a14:m>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为障碍项</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障碍函数极小</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点</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显然不会在可行域的边界上达到</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endParaRPr lang="zh-CN" altLang="en-US" sz="2200" dirty="0">
                  <a:latin typeface="宋体" panose="02010600030101010101" pitchFamily="2" charset="-122"/>
                  <a:ea typeface="宋体" panose="0201060003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39261" y="188640"/>
                <a:ext cx="8865477" cy="6962099"/>
              </a:xfrm>
              <a:prstGeom prst="rect">
                <a:avLst/>
              </a:prstGeom>
              <a:blipFill rotWithShape="1">
                <a:blip r:embed="rId1"/>
                <a:stretch>
                  <a:fillRect l="-2" t="-1" r="5" b="-1934"/>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413538" y="1327298"/>
                <a:ext cx="8406934" cy="3433761"/>
              </a:xfrm>
              <a:prstGeom prst="rect">
                <a:avLst/>
              </a:prstGeom>
              <a:noFill/>
            </p:spPr>
            <p:txBody>
              <a:bodyPr wrap="square" rtlCol="0">
                <a:spAutoFit/>
              </a:bodyPr>
              <a:lstStyle/>
              <a:p>
                <a:pPr algn="just">
                  <a:lnSpc>
                    <a:spcPct val="150000"/>
                  </a:lnSpc>
                </a:pPr>
                <a:r>
                  <a:rPr lang="en-US" altLang="zh-CN" sz="2400" kern="100" dirty="0">
                    <a:latin typeface="Cambria Math" panose="02040503050406030204" pitchFamily="18" charset="0"/>
                    <a:ea typeface="宋体" panose="02010600030101010101" pitchFamily="2" charset="-122"/>
                    <a:cs typeface="Times New Roman" panose="02020603050405020304" pitchFamily="18" charset="0"/>
                  </a:rPr>
                  <a:t>	  </a:t>
                </a:r>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在可行域内部距离边界较远的地方，</a:t>
                </a:r>
                <a:r>
                  <a:rPr lang="zh-CN" altLang="en-US" sz="2400" kern="100" dirty="0">
                    <a:latin typeface="Cambria Math" panose="02040503050406030204" pitchFamily="18" charset="0"/>
                    <a:ea typeface="宋体" panose="02010600030101010101" pitchFamily="2" charset="-122"/>
                    <a:cs typeface="Times New Roman" panose="02020603050405020304" pitchFamily="18" charset="0"/>
                  </a:rPr>
                  <a:t>即</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𝑔</m:t>
                        </m:r>
                      </m:e>
                      <m:sub>
                        <m:r>
                          <a:rPr lang="en-US" altLang="zh-CN" sz="2400" i="1" kern="100">
                            <a:latin typeface="Cambria Math" panose="02040503050406030204" pitchFamily="18" charset="0"/>
                            <a:cs typeface="Times New Roman" panose="02020603050405020304" pitchFamily="18" charset="0"/>
                          </a:rPr>
                          <m:t>𝑗</m:t>
                        </m:r>
                      </m:sub>
                    </m:sSub>
                    <m:d>
                      <m:dPr>
                        <m:ctrlPr>
                          <a:rPr lang="en-US" altLang="zh-CN" sz="2400" i="1" kern="100">
                            <a:latin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cs typeface="Times New Roman" panose="02020603050405020304" pitchFamily="18" charset="0"/>
                          </a:rPr>
                          <m:t>𝑥</m:t>
                        </m:r>
                      </m:e>
                    </m:d>
                    <m:r>
                      <a:rPr lang="en-US" altLang="zh-CN" sz="2400" i="1" kern="100">
                        <a:latin typeface="Cambria Math" panose="02040503050406030204" pitchFamily="18" charset="0"/>
                        <a:cs typeface="Times New Roman" panose="02020603050405020304" pitchFamily="18" charset="0"/>
                      </a:rPr>
                      <m:t>&gt;</m:t>
                    </m:r>
                    <m:r>
                      <a:rPr lang="en-US" altLang="zh-CN" sz="2400" i="1" kern="100">
                        <a:latin typeface="Cambria Math" panose="02040503050406030204" pitchFamily="18" charset="0"/>
                        <a:cs typeface="Times New Roman" panose="02020603050405020304" pitchFamily="18" charset="0"/>
                      </a:rPr>
                      <m:t>0</m:t>
                    </m:r>
                  </m:oMath>
                </a14:m>
                <a:r>
                  <a:rPr lang="zh-CN" altLang="en-US" sz="2400" kern="100" dirty="0">
                    <a:latin typeface="Cambria Math" panose="02040503050406030204" pitchFamily="18" charset="0"/>
                    <a:ea typeface="宋体" panose="02010600030101010101" pitchFamily="2" charset="-122"/>
                    <a:cs typeface="Times New Roman" panose="02020603050405020304" pitchFamily="18" charset="0"/>
                  </a:rPr>
                  <a:t>，若</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en-US" sz="2400" kern="100" dirty="0">
                    <a:latin typeface="Cambria Math" panose="02040503050406030204" pitchFamily="18" charset="0"/>
                    <a:ea typeface="宋体" panose="02010600030101010101" pitchFamily="2" charset="-122"/>
                    <a:cs typeface="Times New Roman" panose="02020603050405020304" pitchFamily="18" charset="0"/>
                  </a:rPr>
                  <a:t>很小，则</a:t>
                </a:r>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障碍函数与目标函数</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的值可以很接近；当</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oMath>
                </a14:m>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趋于边界时，至少有一个</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趋于</a:t>
                </a:r>
                <a:r>
                  <a:rPr lang="en-US" altLang="zh-CN" sz="2400" kern="100" dirty="0">
                    <a:latin typeface="Cambria Math" panose="02040503050406030204" pitchFamily="18" charset="0"/>
                    <a:ea typeface="宋体" panose="02010600030101010101" pitchFamily="2" charset="-122"/>
                    <a:cs typeface="Times New Roman" panose="02020603050405020304" pitchFamily="18" charset="0"/>
                  </a:rPr>
                  <a:t>0</a:t>
                </a:r>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，障碍函数</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趋于正无穷大</a:t>
                </a:r>
                <a:r>
                  <a:rPr lang="zh-CN" altLang="en-US" sz="2400" kern="100" dirty="0">
                    <a:latin typeface="Cambria Math" panose="02040503050406030204" pitchFamily="18" charset="0"/>
                    <a:ea typeface="宋体" panose="02010600030101010101" pitchFamily="2" charset="-122"/>
                    <a:cs typeface="Times New Roman" panose="02020603050405020304" pitchFamily="18" charset="0"/>
                  </a:rPr>
                  <a:t>。所以，</a:t>
                </a:r>
                <a:r>
                  <a:rPr lang="zh-CN" altLang="en-US" sz="2400" kern="100" dirty="0">
                    <a:latin typeface="宋体" panose="02010600030101010101" pitchFamily="2" charset="-122"/>
                    <a:ea typeface="宋体" panose="02010600030101010101" pitchFamily="2" charset="-122"/>
                  </a:rPr>
                  <a:t>内点法</a:t>
                </a:r>
                <a:r>
                  <a:rPr lang="zh-CN" altLang="zh-CN" sz="2400" kern="100" dirty="0">
                    <a:latin typeface="宋体" panose="02010600030101010101" pitchFamily="2" charset="-122"/>
                    <a:ea typeface="宋体" panose="02010600030101010101" pitchFamily="2" charset="-122"/>
                  </a:rPr>
                  <a:t>在可行域边界上设置一道“障碍”，以阻止搜索点到可行域边界上去，一旦接近可行域边界时，就要受到很大的惩罚，迫使迭代点始终留在可行域内部</a:t>
                </a:r>
                <a:r>
                  <a:rPr lang="zh-CN" altLang="en-US" sz="2400" kern="100" dirty="0">
                    <a:latin typeface="宋体" panose="02010600030101010101" pitchFamily="2" charset="-122"/>
                    <a:ea typeface="宋体" panose="02010600030101010101" pitchFamily="2" charset="-122"/>
                  </a:rPr>
                  <a:t>。</a:t>
                </a:r>
                <a:endParaRPr lang="en-US" altLang="zh-CN" sz="2400" kern="100" dirty="0">
                  <a:latin typeface="Cambria Math" panose="02040503050406030204" pitchFamily="18" charset="0"/>
                  <a:ea typeface="宋体" panose="0201060003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413538" y="1327298"/>
                <a:ext cx="8406934" cy="3433761"/>
              </a:xfrm>
              <a:prstGeom prst="rect">
                <a:avLst/>
              </a:prstGeom>
              <a:blipFill rotWithShape="1">
                <a:blip r:embed="rId1"/>
                <a:stretch>
                  <a:fillRect l="-2" t="-4" r="4" b="14"/>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文本框 6"/>
              <p:cNvSpPr txBox="1"/>
              <p:nvPr/>
            </p:nvSpPr>
            <p:spPr>
              <a:xfrm>
                <a:off x="494547" y="764704"/>
                <a:ext cx="8154906" cy="5015540"/>
              </a:xfrm>
              <a:prstGeom prst="rect">
                <a:avLst/>
              </a:prstGeom>
              <a:noFill/>
            </p:spPr>
            <p:txBody>
              <a:bodyPr wrap="square">
                <a:spAutoFit/>
              </a:bodyPr>
              <a:lstStyle/>
              <a:p>
                <a:pPr algn="just">
                  <a:lnSpc>
                    <a:spcPct val="150000"/>
                  </a:lnSpc>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另一方面，</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障碍因子</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的值越小，障碍函数的无约束极小点越接近原问题的极小点</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但是</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的取值过小，将给障碍函数的极小化计算带来很大的困难</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因此与外点法类似，仍可采用序列无约束极小化方法，取一个严格单调递减且趋于零的障碍因子数列</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，对每一个</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值，求障碍函数的无约束极小点</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up>
                    </m:sSup>
                    <m:r>
                      <a:rPr lang="zh-CN" altLang="en-US"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当</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趋于零时，点列</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就可从可行域内部趋于原问题的极小点</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与外点法不同的是，内点法要求整个迭代过程始终在可行域内部进行，初始点也必须选一个严格内点</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494547" y="764704"/>
                <a:ext cx="8154906" cy="5015540"/>
              </a:xfrm>
              <a:prstGeom prst="rect">
                <a:avLst/>
              </a:prstGeom>
              <a:blipFill rotWithShape="1">
                <a:blip r:embed="rId1"/>
                <a:stretch>
                  <a:fillRect l="-6" t="-3" r="1" b="9"/>
                </a:stretch>
              </a:blipFill>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260648"/>
            <a:ext cx="2430270"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二、算法步骤</a:t>
            </a:r>
            <a:endParaRPr lang="zh-CN" altLang="en-US" sz="2400" b="1"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341530" y="890663"/>
                <a:ext cx="8262918" cy="4756880"/>
              </a:xfrm>
              <a:prstGeom prst="rect">
                <a:avLst/>
              </a:prstGeom>
              <a:noFill/>
            </p:spPr>
            <p:txBody>
              <a:bodyPr wrap="square" rtlCol="0">
                <a:spAutoFit/>
              </a:bodyPr>
              <a:lstStyle/>
              <a:p>
                <a:pPr algn="just">
                  <a:lnSpc>
                    <a:spcPct val="150000"/>
                  </a:lnSpc>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1.</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给定严格内点</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为初始点，初始障碍因子</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r>
                      <a:rPr lang="zh-CN" altLang="en-US"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缩小系数</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𝛽</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m>
                      <m:mPr>
                        <m:mcs>
                          <m:mc>
                            <m:mcPr>
                              <m:count m:val="2"/>
                              <m:mcJc m:val="center"/>
                            </m:mcPr>
                          </m:mc>
                        </m:mcs>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e>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e>
                      </m:mr>
                    </m:m>
                  </m:oMath>
                </a14:m>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允许误差</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𝜀</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，置</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oMath>
                </a14:m>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2.</a:t>
                </a:r>
                <a:r>
                  <a:rPr lang="zh-CN" altLang="en-US" sz="2400" dirty="0">
                    <a:latin typeface="宋体" panose="02010600030101010101" pitchFamily="2" charset="-122"/>
                    <a:ea typeface="宋体" panose="02010600030101010101" pitchFamily="2" charset="-122"/>
                  </a:rPr>
                  <a:t>以</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400" dirty="0">
                    <a:latin typeface="宋体" panose="02010600030101010101" pitchFamily="2" charset="-122"/>
                    <a:ea typeface="宋体" panose="02010600030101010101" pitchFamily="2" charset="-122"/>
                  </a:rPr>
                  <a:t>为初始点，选择适当的方法求解罚问题</a:t>
                </a:r>
                <a14:m>
                  <m:oMath xmlns:m="http://schemas.openxmlformats.org/officeDocument/2006/math">
                    <m:limLow>
                      <m:limLow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𝑚𝑖𝑛</m:t>
                        </m:r>
                      </m:e>
                      <m:li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𝐻</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lim>
                    </m:limLow>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en-US" sz="2400" dirty="0">
                    <a:latin typeface="宋体" panose="02010600030101010101" pitchFamily="2" charset="-122"/>
                    <a:ea typeface="宋体" panose="02010600030101010101" pitchFamily="2" charset="-122"/>
                  </a:rPr>
                  <a:t>，得其极小点</a:t>
                </a:r>
                <a14:m>
                  <m:oMath xmlns:m="http://schemas.openxmlformats.org/officeDocument/2006/math">
                    <m:r>
                      <a:rPr lang="en-US" altLang="zh-CN" sz="2400">
                        <a:latin typeface="Cambria Math" panose="02040503050406030204" pitchFamily="18" charset="0"/>
                        <a:ea typeface="宋体" panose="02010600030101010101" pitchFamily="2" charset="-122"/>
                        <a:cs typeface="Cambria Math" panose="02040503050406030204" pitchFamily="18" charset="0"/>
                      </a:rPr>
                      <m:t>  </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r>
                      <a:rPr lang="zh-CN" altLang="en-US" sz="24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这里，</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𝐻</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是可行域中所有严格内点的集合</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400" dirty="0">
                  <a:latin typeface="宋体" panose="02010600030101010101" pitchFamily="2" charset="-122"/>
                  <a:ea typeface="宋体" panose="02010600030101010101" pitchFamily="2" charset="-122"/>
                </a:endParaRPr>
              </a:p>
              <a:p>
                <a:pPr algn="just">
                  <a:lnSpc>
                    <a:spcPct val="150000"/>
                  </a:lnSpc>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3.</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判断精度</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若满足收敛准则，则停止迭代，以</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作为原问题的近似极小点；否则取</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𝛽</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，置</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，转第</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2</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步</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zh-CN" altLang="en-US" sz="2400" dirty="0">
                  <a:latin typeface="宋体" panose="02010600030101010101" pitchFamily="2" charset="-122"/>
                  <a:ea typeface="宋体" panose="0201060003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341530" y="890663"/>
                <a:ext cx="8262918" cy="4756880"/>
              </a:xfrm>
              <a:prstGeom prst="rect">
                <a:avLst/>
              </a:prstGeom>
              <a:blipFill rotWithShape="1">
                <a:blip r:embed="rId1"/>
                <a:stretch>
                  <a:fillRect l="-6" t="-8" r="2" b="-2312"/>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p:cNvSpPr txBox="1"/>
              <p:nvPr/>
            </p:nvSpPr>
            <p:spPr>
              <a:xfrm>
                <a:off x="611560" y="404664"/>
                <a:ext cx="7722858" cy="6237413"/>
              </a:xfrm>
              <a:prstGeom prst="rect">
                <a:avLst/>
              </a:prstGeom>
              <a:noFill/>
            </p:spPr>
            <p:txBody>
              <a:bodyPr wrap="square" rtlCol="0">
                <a:spAutoFit/>
              </a:bodyPr>
              <a:lstStyle/>
              <a:p>
                <a:pPr algn="just">
                  <a:lnSpc>
                    <a:spcPct val="150000"/>
                  </a:lnSpc>
                </a:pPr>
                <a:r>
                  <a:rPr lang="zh-CN" altLang="zh-CN" sz="2400" b="1" kern="100" dirty="0">
                    <a:solidFill>
                      <a:schemeClr val="accent1"/>
                    </a:solidFill>
                    <a:latin typeface="宋体" panose="02010600030101010101" pitchFamily="2" charset="-122"/>
                    <a:ea typeface="宋体" panose="02010600030101010101" pitchFamily="2" charset="-122"/>
                  </a:rPr>
                  <a:t>例</a:t>
                </a:r>
                <a:r>
                  <a:rPr lang="en-US" altLang="zh-CN" sz="2400" b="1" kern="100" dirty="0">
                    <a:latin typeface="宋体" panose="02010600030101010101" pitchFamily="2" charset="-122"/>
                    <a:ea typeface="宋体" panose="02010600030101010101" pitchFamily="2" charset="-122"/>
                  </a:rPr>
                  <a:t> </a:t>
                </a: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试用内点法求解非线性规划</a:t>
                </a:r>
                <a:endParaRPr lang="zh-CN" altLang="zh-CN" sz="2400" kern="100" dirty="0">
                  <a:latin typeface="宋体" panose="02010600030101010101" pitchFamily="2" charset="-122"/>
                  <a:ea typeface="宋体" panose="02010600030101010101" pitchFamily="2" charset="-122"/>
                </a:endParaRPr>
              </a:p>
              <a:p>
                <a:pPr algn="just">
                  <a:lnSpc>
                    <a:spcPct val="150000"/>
                  </a:lnSpc>
                </a:pPr>
                <a:r>
                  <a:rPr lang="en-US" altLang="zh-CN" sz="2400" kern="100" dirty="0">
                    <a:latin typeface="宋体" panose="02010600030101010101" pitchFamily="2" charset="-122"/>
                    <a:ea typeface="宋体" panose="02010600030101010101" pitchFamily="2" charset="-122"/>
                  </a:rPr>
                  <a:t>						</a:t>
                </a:r>
                <a14:m>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rPr>
                        </m:ctrlPr>
                      </m:funcPr>
                      <m:fName>
                        <m:r>
                          <a:rPr lang="en-US" altLang="zh-CN" sz="2400" i="1" kern="100">
                            <a:latin typeface="Cambria Math" panose="02040503050406030204" pitchFamily="18" charset="0"/>
                            <a:ea typeface="宋体" panose="02010600030101010101" pitchFamily="2" charset="-122"/>
                          </a:rPr>
                          <m:t>𝑚𝑖𝑛</m:t>
                        </m:r>
                      </m:fName>
                      <m:e>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 </m:t>
                        </m:r>
                      </m:e>
                    </m:func>
                    <m:r>
                      <a:rPr lang="en-US" altLang="zh-CN" sz="2400" i="1" kern="100">
                        <a:latin typeface="Cambria Math" panose="02040503050406030204" pitchFamily="18" charset="0"/>
                        <a:ea typeface="宋体" panose="02010600030101010101" pitchFamily="2" charset="-122"/>
                      </a:rPr>
                      <m:t>𝑓</m:t>
                    </m:r>
                    <m:d>
                      <m:dPr>
                        <m:ctrlPr>
                          <a:rPr lang="en-US" altLang="zh-CN" sz="2400" i="1" kern="100">
                            <a:latin typeface="Cambria Math" panose="02040503050406030204" pitchFamily="18" charset="0"/>
                            <a:ea typeface="宋体" panose="02010600030101010101" pitchFamily="2" charset="-122"/>
                          </a:rPr>
                        </m:ctrlPr>
                      </m:dPr>
                      <m:e>
                        <m:r>
                          <a:rPr lang="en-US" altLang="zh-CN" sz="2400" i="1" kern="100">
                            <a:latin typeface="Cambria Math" panose="02040503050406030204" pitchFamily="18" charset="0"/>
                            <a:ea typeface="宋体" panose="02010600030101010101" pitchFamily="2" charset="-122"/>
                          </a:rPr>
                          <m:t>𝑥</m:t>
                        </m:r>
                      </m:e>
                    </m:d>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oMath>
                </a14:m>
                <a:endParaRPr lang="en-US" altLang="zh-CN" sz="2400" i="1" kern="100" dirty="0">
                  <a:latin typeface="宋体" panose="02010600030101010101" pitchFamily="2" charset="-122"/>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rPr>
                        <m:t>𝑠</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𝑡</m:t>
                      </m:r>
                      <m:r>
                        <a:rPr lang="en-US" altLang="zh-CN" sz="2400" i="1" kern="100">
                          <a:latin typeface="Cambria Math" panose="02040503050406030204" pitchFamily="18" charset="0"/>
                          <a:ea typeface="宋体" panose="02010600030101010101" pitchFamily="2" charset="-122"/>
                        </a:rPr>
                        <m:t>. </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𝑔</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0</m:t>
                      </m:r>
                    </m:oMath>
                    <m:oMath xmlns:m="http://schemas.openxmlformats.org/officeDocument/2006/math">
                      <m:r>
                        <a:rPr lang="en-US" altLang="zh-CN" sz="2400" i="1" kern="100">
                          <a:latin typeface="Cambria Math" panose="02040503050406030204" pitchFamily="18" charset="0"/>
                          <a:ea typeface="宋体" panose="02010600030101010101" pitchFamily="2" charset="-122"/>
                        </a:rPr>
                        <m:t>     </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𝑔</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𝑥</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0</m:t>
                      </m:r>
                    </m:oMath>
                  </m:oMathPara>
                </a14:m>
                <a:endParaRPr lang="en-US" altLang="zh-CN" sz="2400" kern="100" dirty="0">
                  <a:latin typeface="宋体" panose="02010600030101010101" pitchFamily="2" charset="-122"/>
                  <a:ea typeface="宋体" panose="02010600030101010101" pitchFamily="2" charset="-122"/>
                </a:endParaRPr>
              </a:p>
              <a:p>
                <a:pPr algn="just">
                  <a:lnSpc>
                    <a:spcPct val="150000"/>
                  </a:lnSpc>
                </a:pPr>
                <a:r>
                  <a:rPr lang="zh-CN" altLang="en-US" sz="2400" b="1" kern="100" dirty="0">
                    <a:solidFill>
                      <a:schemeClr val="accent1"/>
                    </a:solidFill>
                    <a:latin typeface="宋体" panose="02010600030101010101" pitchFamily="2" charset="-122"/>
                    <a:ea typeface="宋体" panose="02010600030101010101" pitchFamily="2" charset="-122"/>
                  </a:rPr>
                  <a:t>解 </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障碍函数采用对数函数来构造</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func>
                        <m:func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latin typeface="Cambria Math" panose="02040503050406030204" pitchFamily="18" charset="0"/>
                              <a:ea typeface="宋体" panose="02010600030101010101" pitchFamily="2" charset="-122"/>
                              <a:cs typeface="Times New Roman" panose="02020603050405020304" pitchFamily="18" charset="0"/>
                            </a:rPr>
                            <m:t>ln</m:t>
                          </m:r>
                        </m:fName>
                        <m:e>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e>
                          </m:d>
                        </m:e>
                      </m:func>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𝑙𝑛</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oMath>
                  </m:oMathPara>
                </a14:m>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本例可用解析法求解</a:t>
                </a:r>
                <a:endParaRPr lang="en-US" altLang="zh-CN" sz="2400" i="1" kern="100" dirty="0">
                  <a:latin typeface="宋体" panose="02010600030101010101" pitchFamily="2" charset="-122"/>
                  <a:ea typeface="宋体" panose="02010600030101010101" pitchFamily="2" charset="-122"/>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d>
                        <m:dPr>
                          <m:begChr m:val="{"/>
                          <m:end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eqArrPr>
                            <m:e>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e>
                                  </m:d>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num>
                                <m:den>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den>
                              </m:f>
                            </m:e>
                            <m:e>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den>
                              </m:f>
                            </m:e>
                          </m:eqArr>
                        </m:e>
                      </m:d>
                    </m:oMath>
                  </m:oMathPara>
                </a14:m>
                <a:endParaRPr lang="en-US" altLang="zh-CN" sz="2400" kern="100" dirty="0">
                  <a:latin typeface="宋体" panose="02010600030101010101" pitchFamily="2" charset="-122"/>
                  <a:ea typeface="宋体" panose="02010600030101010101" pitchFamily="2" charset="-122"/>
                </a:endParaRPr>
              </a:p>
              <a:p>
                <a:pPr algn="just"/>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令</a:t>
                </a:r>
                <a14:m>
                  <m:oMath xmlns:m="http://schemas.openxmlformats.org/officeDocument/2006/math">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sub>
                        </m:sSub>
                      </m:den>
                    </m:f>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𝑝</m:t>
                        </m:r>
                      </m:num>
                      <m:den>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2</m:t>
                            </m:r>
                          </m:sub>
                        </m:sSub>
                      </m:den>
                    </m:f>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，解方程组得</a:t>
                </a:r>
                <a:endParaRPr lang="zh-CN" altLang="zh-CN" sz="2400" kern="100" dirty="0">
                  <a:latin typeface="Cambria Math" panose="02040503050406030204" pitchFamily="18" charset="0"/>
                  <a:ea typeface="宋体" panose="02010600030101010101" pitchFamily="2" charset="-122"/>
                  <a:cs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611560" y="404664"/>
                <a:ext cx="7722858" cy="6237413"/>
              </a:xfrm>
              <a:prstGeom prst="rect">
                <a:avLst/>
              </a:prstGeom>
              <a:blipFill rotWithShape="1">
                <a:blip r:embed="rId1"/>
                <a:stretch>
                  <a:fillRect l="-1" t="-3" r="1" b="10"/>
                </a:stretch>
              </a:blipFill>
            </p:spPr>
            <p:txBody>
              <a:bodyPr/>
              <a:lstStyle/>
              <a:p>
                <a:r>
                  <a:rPr lang="zh-CN" alt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1169622" y="1484784"/>
                <a:ext cx="7218802" cy="4052648"/>
              </a:xfrm>
              <a:prstGeom prst="rect">
                <a:avLst/>
              </a:prstGeom>
              <a:noFill/>
            </p:spPr>
            <p:txBody>
              <a:bodyPr wrap="square" rtlCol="0">
                <a:spAutoFit/>
              </a:bodyPr>
              <a:lstStyle/>
              <a:p>
                <a:pPr algn="ctr">
                  <a:lnSpc>
                    <a:spcPct val="150000"/>
                  </a:lnSpc>
                </a:pP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2400" kern="100">
                            <a:latin typeface="Cambria Math" panose="02040503050406030204" pitchFamily="18" charset="0"/>
                            <a:ea typeface="宋体" panose="02010600030101010101" pitchFamily="2" charset="-122"/>
                            <a:cs typeface="Times New Roman" panose="02020603050405020304" pitchFamily="18" charset="0"/>
                          </a:rPr>
                          <m:t>4</m:t>
                        </m:r>
                      </m:den>
                    </m:f>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e>
                    </m:rad>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kern="100">
                            <a:latin typeface="Cambria Math" panose="02040503050406030204" pitchFamily="18" charset="0"/>
                            <a:ea typeface="宋体" panose="02010600030101010101" pitchFamily="2" charset="-122"/>
                            <a:cs typeface="Times New Roman" panose="02020603050405020304" pitchFamily="18" charset="0"/>
                          </a:rPr>
                          <m:t>3</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num>
                      <m:den>
                        <m:r>
                          <a:rPr lang="en-US" altLang="zh-CN" sz="2400" kern="100">
                            <a:latin typeface="Cambria Math" panose="02040503050406030204" pitchFamily="18" charset="0"/>
                            <a:ea typeface="宋体" panose="02010600030101010101" pitchFamily="2" charset="-122"/>
                            <a:cs typeface="Times New Roman" panose="02020603050405020304" pitchFamily="18" charset="0"/>
                          </a:rPr>
                          <m:t>2</m:t>
                        </m:r>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e>
                        </m:rad>
                      </m:num>
                      <m:den>
                        <m:r>
                          <a:rPr lang="en-US" altLang="zh-CN" sz="2400" kern="100">
                            <a:latin typeface="Cambria Math" panose="02040503050406030204" pitchFamily="18" charset="0"/>
                            <a:ea typeface="宋体" panose="02010600030101010101" pitchFamily="2" charset="-122"/>
                            <a:cs typeface="Times New Roman" panose="02020603050405020304" pitchFamily="18" charset="0"/>
                          </a:rPr>
                          <m:t>8</m:t>
                        </m:r>
                      </m:den>
                    </m:f>
                  </m:oMath>
                </a14:m>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因此</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罚问题的最小值点</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e>
                              </m:rad>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kern="100">
                                      <a:latin typeface="Cambria Math" panose="02040503050406030204" pitchFamily="18" charset="0"/>
                                      <a:ea typeface="宋体" panose="02010600030101010101" pitchFamily="2" charset="-122"/>
                                      <a:cs typeface="Times New Roman" panose="02020603050405020304" pitchFamily="18" charset="0"/>
                                    </a:rPr>
                                    <m:t>3</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num>
                                <m:den>
                                  <m:r>
                                    <a:rPr lang="en-US" altLang="zh-CN" sz="2400" kern="100">
                                      <a:latin typeface="Cambria Math" panose="02040503050406030204" pitchFamily="18" charset="0"/>
                                      <a:ea typeface="宋体" panose="02010600030101010101" pitchFamily="2" charset="-122"/>
                                      <a:cs typeface="Times New Roman" panose="02020603050405020304" pitchFamily="18" charset="0"/>
                                    </a:rPr>
                                    <m:t>2</m:t>
                                  </m:r>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8</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e>
                                  </m:rad>
                                </m:num>
                                <m:den>
                                  <m:r>
                                    <a:rPr lang="en-US" altLang="zh-CN" sz="2400" kern="100">
                                      <a:latin typeface="Cambria Math" panose="02040503050406030204" pitchFamily="18" charset="0"/>
                                      <a:ea typeface="宋体" panose="02010600030101010101" pitchFamily="2" charset="-122"/>
                                      <a:cs typeface="Times New Roman" panose="02020603050405020304" pitchFamily="18" charset="0"/>
                                    </a:rPr>
                                    <m:t>8</m:t>
                                  </m:r>
                                </m:den>
                              </m:f>
                            </m:e>
                          </m:d>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𝑇</m:t>
                          </m:r>
                        </m:sup>
                      </m:sSup>
                    </m:oMath>
                  </m:oMathPara>
                </a14:m>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当</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时，</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趋向于原问题的最优解为</a:t>
                </a:r>
                <a:endParaRPr lang="zh-CN"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en-US" altLang="zh-CN" sz="2400" i="1" kern="100">
                              <a:latin typeface="Cambria Math" panose="02040503050406030204" pitchFamily="18" charset="0"/>
                              <a:ea typeface="宋体" panose="02010600030101010101" pitchFamily="2" charset="-122"/>
                              <a:cs typeface="Times New Roman" panose="02020603050405020304" pitchFamily="18" charset="0"/>
                            </a:rPr>
                          </m:ctrlPr>
                        </m:sSupPr>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𝑇</m:t>
                          </m:r>
                        </m:sup>
                      </m:sSup>
                    </m:oMath>
                  </m:oMathPara>
                </a14:m>
                <a:endParaRPr lang="zh-CN" altLang="en-US" sz="2400" dirty="0">
                  <a:latin typeface="宋体" panose="02010600030101010101" pitchFamily="2" charset="-122"/>
                  <a:ea typeface="宋体" panose="02010600030101010101" pitchFamily="2"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1169622" y="1484784"/>
                <a:ext cx="7218802" cy="4052648"/>
              </a:xfrm>
              <a:prstGeom prst="rect">
                <a:avLst/>
              </a:prstGeom>
              <a:blipFill rotWithShape="1">
                <a:blip r:embed="rId1"/>
                <a:stretch>
                  <a:fillRect l="-8" t="-4" r="1" b="6"/>
                </a:stretch>
              </a:blipFill>
            </p:spPr>
            <p:txBody>
              <a:bodyPr/>
              <a:lstStyle/>
              <a:p>
                <a:r>
                  <a:rPr lang="zh-CN"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文本框 8"/>
              <p:cNvSpPr txBox="1"/>
              <p:nvPr/>
            </p:nvSpPr>
            <p:spPr>
              <a:xfrm>
                <a:off x="1028115" y="463611"/>
                <a:ext cx="6210690" cy="2314801"/>
              </a:xfrm>
              <a:prstGeom prst="rect">
                <a:avLst/>
              </a:prstGeom>
              <a:noFill/>
            </p:spPr>
            <p:txBody>
              <a:bodyPr wrap="square" rtlCol="0">
                <a:spAutoFit/>
              </a:bodyPr>
              <a:lstStyle/>
              <a:p>
                <a:pPr algn="just">
                  <a:lnSpc>
                    <a:spcPct val="150000"/>
                  </a:lnSpc>
                </a:pPr>
                <a:r>
                  <a:rPr lang="zh-CN" altLang="zh-CN" sz="2400" b="1" kern="100" dirty="0">
                    <a:solidFill>
                      <a:schemeClr val="accent1"/>
                    </a:solidFill>
                    <a:latin typeface="Cambria Math" panose="02040503050406030204" pitchFamily="18" charset="0"/>
                    <a:ea typeface="宋体" panose="02010600030101010101" pitchFamily="2" charset="-122"/>
                    <a:cs typeface="Times New Roman" panose="02020603050405020304" pitchFamily="18" charset="0"/>
                  </a:rPr>
                  <a:t>例</a:t>
                </a:r>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 </a:t>
                </a:r>
                <a:r>
                  <a:rPr lang="en-US" altLang="zh-CN" sz="2400" kern="100" dirty="0">
                    <a:latin typeface="Cambria Math" panose="02040503050406030204" pitchFamily="18" charset="0"/>
                    <a:ea typeface="宋体" panose="02010600030101010101" pitchFamily="2" charset="-122"/>
                    <a:cs typeface="Times New Roman" panose="02020603050405020304" pitchFamily="18" charset="0"/>
                  </a:rPr>
                  <a:t>     </a:t>
                </a:r>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试用内点法解非线性规划</a:t>
                </a:r>
                <a:endParaRPr lang="zh-CN" altLang="zh-CN" sz="24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func>
                        <m:func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2400" kern="100">
                              <a:latin typeface="Cambria Math" panose="02040503050406030204" pitchFamily="18" charset="0"/>
                              <a:ea typeface="宋体" panose="02010600030101010101" pitchFamily="2" charset="-122"/>
                              <a:cs typeface="Times New Roman" panose="02020603050405020304" pitchFamily="18" charset="0"/>
                            </a:rPr>
                            <m:t>min</m:t>
                          </m:r>
                        </m:fName>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e>
                      </m:func>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oMath>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𝑠</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𝑡</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p>
                      </m:sSubSup>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oMath>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0</m:t>
                      </m:r>
                    </m:oMath>
                  </m:oMathPara>
                </a14:m>
                <a:endParaRPr lang="zh-CN" altLang="zh-CN" sz="2400" kern="100" dirty="0">
                  <a:latin typeface="Cambria Math" panose="02040503050406030204" pitchFamily="18" charset="0"/>
                  <a:ea typeface="宋体" panose="02010600030101010101" pitchFamily="2" charset="-122"/>
                  <a:cs typeface="Times New Roman" panose="020206030504050203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028115" y="463611"/>
                <a:ext cx="6210690" cy="2314801"/>
              </a:xfrm>
              <a:prstGeom prst="rect">
                <a:avLst/>
              </a:prstGeom>
              <a:blipFill rotWithShape="1">
                <a:blip r:embed="rId1"/>
                <a:stretch>
                  <a:fillRect l="-1" t="-3" r="7" b="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p:cNvGraphicFramePr>
                <a:graphicFrameLocks noGrp="1"/>
              </p:cNvGraphicFramePr>
              <p:nvPr/>
            </p:nvGraphicFramePr>
            <p:xfrm>
              <a:off x="1532603" y="3108918"/>
              <a:ext cx="6210692" cy="1472210"/>
            </p:xfrm>
            <a:graphic>
              <a:graphicData uri="http://schemas.openxmlformats.org/drawingml/2006/table">
                <a:tbl>
                  <a:tblPr firstRow="1" firstCol="1" bandRow="1">
                    <a:tableStyleId>{5C22544A-7EE6-4342-B048-85BDC9FD1C3A}</a:tableStyleId>
                  </a:tblPr>
                  <a:tblGrid>
                    <a:gridCol w="887137"/>
                    <a:gridCol w="887137"/>
                    <a:gridCol w="887137"/>
                    <a:gridCol w="887137"/>
                    <a:gridCol w="887137"/>
                    <a:gridCol w="887137"/>
                    <a:gridCol w="887870"/>
                  </a:tblGrid>
                  <a:tr h="508025">
                    <a:tc>
                      <a:txBody>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𝑟</m:t>
                                    </m:r>
                                  </m:e>
                                  <m:sub>
                                    <m:r>
                                      <a:rPr lang="en-US" sz="1800" kern="100">
                                        <a:effectLst/>
                                        <a:latin typeface="Cambria Math" panose="02040503050406030204" pitchFamily="18" charset="0"/>
                                      </a:rPr>
                                      <m:t>𝑘</m:t>
                                    </m:r>
                                  </m:sub>
                                </m:sSub>
                              </m:oMath>
                            </m:oMathPara>
                          </a14:m>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1.000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0.500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0.250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0.100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0.0001</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𝑟</m:t>
                                    </m:r>
                                  </m:e>
                                  <m:sub>
                                    <m:r>
                                      <a:rPr lang="en-US" sz="1800" kern="100">
                                        <a:effectLst/>
                                        <a:latin typeface="Cambria Math" panose="02040503050406030204" pitchFamily="18" charset="0"/>
                                      </a:rPr>
                                      <m:t>𝑘</m:t>
                                    </m:r>
                                  </m:sub>
                                </m:sSub>
                                <m:r>
                                  <a:rPr lang="en-US" sz="1800" kern="100">
                                    <a:effectLst/>
                                    <a:latin typeface="Cambria Math" panose="02040503050406030204" pitchFamily="18" charset="0"/>
                                  </a:rPr>
                                  <m:t>→</m:t>
                                </m:r>
                                <m:r>
                                  <a:rPr lang="en-US" sz="1800" kern="100">
                                    <a:effectLst/>
                                    <a:latin typeface="Cambria Math" panose="02040503050406030204" pitchFamily="18" charset="0"/>
                                  </a:rPr>
                                  <m:t>0</m:t>
                                </m:r>
                              </m:oMath>
                            </m:oMathPara>
                          </a14:m>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r>
                  <a:tr h="508025">
                    <a:tc>
                      <a:txBody>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𝑥</m:t>
                                    </m:r>
                                  </m:e>
                                  <m:sub>
                                    <m:r>
                                      <a:rPr lang="en-US" sz="1800" kern="100">
                                        <a:effectLst/>
                                        <a:latin typeface="Cambria Math" panose="02040503050406030204" pitchFamily="18" charset="0"/>
                                      </a:rPr>
                                      <m:t>1</m:t>
                                    </m:r>
                                  </m:sub>
                                </m:sSub>
                              </m:oMath>
                            </m:oMathPara>
                          </a14:m>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0.500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0.309</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0.183</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0.085</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0.000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r>
                  <a:tr h="456160">
                    <a:tc>
                      <a:txBody>
                        <a:bodyPr/>
                        <a:lstStyle/>
                        <a:p>
                          <a:pPr algn="ctr">
                            <a:lnSpc>
                              <a:spcPct val="150000"/>
                            </a:lnSpc>
                          </a:pPr>
                          <a14:m>
                            <m:oMathPara xmlns:m="http://schemas.openxmlformats.org/officeDocument/2006/math">
                              <m:oMathParaPr>
                                <m:jc m:val="centerGroup"/>
                              </m:oMathParaPr>
                              <m:oMath xmlns:m="http://schemas.openxmlformats.org/officeDocument/2006/math">
                                <m:sSub>
                                  <m:sSubPr>
                                    <m:ctrlPr>
                                      <a:rPr lang="zh-CN" sz="1800" i="1" kern="100">
                                        <a:effectLst/>
                                        <a:latin typeface="Cambria Math" panose="02040503050406030204" pitchFamily="18" charset="0"/>
                                      </a:rPr>
                                    </m:ctrlPr>
                                  </m:sSubPr>
                                  <m:e>
                                    <m:r>
                                      <a:rPr lang="en-US" sz="1800" kern="100">
                                        <a:effectLst/>
                                        <a:latin typeface="Cambria Math" panose="02040503050406030204" pitchFamily="18" charset="0"/>
                                      </a:rPr>
                                      <m:t>𝑥</m:t>
                                    </m:r>
                                  </m:e>
                                  <m:sub>
                                    <m:r>
                                      <a:rPr lang="en-US" sz="1800" kern="100">
                                        <a:effectLst/>
                                        <a:latin typeface="Cambria Math" panose="02040503050406030204" pitchFamily="18" charset="0"/>
                                      </a:rPr>
                                      <m:t>2</m:t>
                                    </m:r>
                                  </m:sub>
                                </m:sSub>
                              </m:oMath>
                            </m:oMathPara>
                          </a14:m>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1.250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0.595</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0.283</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0.283</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0.000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r>
                </a:tbl>
              </a:graphicData>
            </a:graphic>
          </p:graphicFrame>
        </mc:Choice>
        <mc:Fallback xmlns="">
          <p:graphicFrame>
            <p:nvGraphicFramePr>
              <p:cNvPr id="13" name="表格 12"/>
              <p:cNvGraphicFramePr>
                <a:graphicFrameLocks noGrp="1"/>
              </p:cNvGraphicFramePr>
              <p:nvPr/>
            </p:nvGraphicFramePr>
            <p:xfrm>
              <a:off x="1532603" y="3108918"/>
              <a:ext cx="6210692" cy="1472210"/>
            </p:xfrm>
            <a:graphic>
              <a:graphicData uri="http://schemas.openxmlformats.org/drawingml/2006/table">
                <a:tbl>
                  <a:tblPr firstRow="1" firstCol="1" bandRow="1">
                    <a:tableStyleId>{5C22544A-7EE6-4342-B048-85BDC9FD1C3A}</a:tableStyleId>
                  </a:tblPr>
                  <a:tblGrid>
                    <a:gridCol w="887137"/>
                    <a:gridCol w="887137"/>
                    <a:gridCol w="887137"/>
                    <a:gridCol w="887137"/>
                    <a:gridCol w="887137"/>
                    <a:gridCol w="887137"/>
                    <a:gridCol w="887870"/>
                  </a:tblGrid>
                  <a:tr h="508000">
                    <a:tc>
                      <a:txBody>
                        <a:bodyPr/>
                        <a:lstStyle/>
                        <a:p>
                          <a:endParaRPr lang="zh-CN"/>
                        </a:p>
                      </a:txBody>
                      <a:tcPr marL="51435" marR="51435" marT="0" marB="0">
                        <a:blipFill>
                          <a:blip r:embed="rId2"/>
                        </a:blipFill>
                      </a:tcPr>
                    </a:tc>
                    <a:tc>
                      <a:txBody>
                        <a:bodyPr/>
                        <a:lstStyle/>
                        <a:p>
                          <a:pPr algn="ctr">
                            <a:lnSpc>
                              <a:spcPct val="150000"/>
                            </a:lnSpc>
                          </a:pPr>
                          <a:r>
                            <a:rPr lang="en-US" sz="1800" kern="100" dirty="0">
                              <a:effectLst/>
                            </a:rPr>
                            <a:t>1.000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0.500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0.250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0.100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0.0001</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endParaRPr lang="zh-CN"/>
                        </a:p>
                      </a:txBody>
                      <a:tcPr marL="51435" marR="51435" marT="0" marB="0">
                        <a:blipFill>
                          <a:blip r:embed="rId2"/>
                        </a:blipFill>
                      </a:tcPr>
                    </a:tc>
                  </a:tr>
                  <a:tr h="508000">
                    <a:tc>
                      <a:txBody>
                        <a:bodyPr/>
                        <a:lstStyle/>
                        <a:p>
                          <a:endParaRPr lang="zh-CN"/>
                        </a:p>
                      </a:txBody>
                      <a:tcPr marL="51435" marR="51435" marT="0" marB="0">
                        <a:blipFill>
                          <a:blip r:embed="rId2"/>
                        </a:blipFill>
                      </a:tcPr>
                    </a:tc>
                    <a:tc>
                      <a:txBody>
                        <a:bodyPr/>
                        <a:lstStyle/>
                        <a:p>
                          <a:pPr algn="ctr">
                            <a:lnSpc>
                              <a:spcPct val="150000"/>
                            </a:lnSpc>
                          </a:pPr>
                          <a:r>
                            <a:rPr lang="en-US" sz="1800" kern="100" dirty="0">
                              <a:effectLst/>
                            </a:rPr>
                            <a:t>0.500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0.309</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0.183</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0.085</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0.000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a:effectLst/>
                            </a:rPr>
                            <a:t>0</a:t>
                          </a:r>
                          <a:endParaRPr lang="zh-CN" sz="1800" kern="10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r>
                  <a:tr h="455930">
                    <a:tc>
                      <a:txBody>
                        <a:bodyPr/>
                        <a:lstStyle/>
                        <a:p>
                          <a:endParaRPr lang="zh-CN"/>
                        </a:p>
                      </a:txBody>
                      <a:tcPr marL="51435" marR="51435" marT="0" marB="0">
                        <a:blipFill>
                          <a:blip r:embed="rId2"/>
                        </a:blipFill>
                      </a:tcPr>
                    </a:tc>
                    <a:tc>
                      <a:txBody>
                        <a:bodyPr/>
                        <a:lstStyle/>
                        <a:p>
                          <a:pPr algn="ctr">
                            <a:lnSpc>
                              <a:spcPct val="150000"/>
                            </a:lnSpc>
                          </a:pPr>
                          <a:r>
                            <a:rPr lang="en-US" sz="1800" kern="100" dirty="0">
                              <a:effectLst/>
                            </a:rPr>
                            <a:t>1.250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0.595</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0.283</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0.283</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0.000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c>
                      <a:txBody>
                        <a:bodyPr/>
                        <a:lstStyle/>
                        <a:p>
                          <a:pPr algn="ctr">
                            <a:lnSpc>
                              <a:spcPct val="150000"/>
                            </a:lnSpc>
                          </a:pPr>
                          <a:r>
                            <a:rPr lang="en-US" sz="1800" kern="100" dirty="0">
                              <a:effectLst/>
                            </a:rPr>
                            <a:t>0</a:t>
                          </a:r>
                          <a:endParaRPr 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txBody>
                      <a:tcPr marL="51435" marR="51435" marT="0" marB="0"/>
                    </a:tc>
                  </a:tr>
                </a:tbl>
              </a:graphicData>
            </a:graphic>
          </p:graphicFrame>
        </mc:Fallback>
      </mc:AlternateContent>
      <p:sp>
        <p:nvSpPr>
          <p:cNvPr id="14" name="文本框 13"/>
          <p:cNvSpPr txBox="1"/>
          <p:nvPr/>
        </p:nvSpPr>
        <p:spPr>
          <a:xfrm>
            <a:off x="1024709" y="4797152"/>
            <a:ext cx="7380820" cy="461665"/>
          </a:xfrm>
          <a:prstGeom prst="rect">
            <a:avLst/>
          </a:prstGeom>
          <a:noFill/>
        </p:spPr>
        <p:txBody>
          <a:bodyPr wrap="square" rtlCol="0">
            <a:spAutoFit/>
          </a:bodyPr>
          <a:lstStyle/>
          <a:p>
            <a:r>
              <a:rPr lang="zh-CN" altLang="en-US" sz="2400" kern="100" dirty="0">
                <a:latin typeface="Cambria Math" panose="02040503050406030204" pitchFamily="18" charset="0"/>
                <a:ea typeface="宋体" panose="02010600030101010101" pitchFamily="2" charset="-122"/>
                <a:cs typeface="Times New Roman" panose="02020603050405020304" pitchFamily="18" charset="0"/>
              </a:rPr>
              <a:t>观察数值</a:t>
            </a:r>
            <a:r>
              <a:rPr lang="zh-CN" altLang="zh-CN" sz="2400" kern="100" dirty="0">
                <a:latin typeface="Cambria Math" panose="02040503050406030204" pitchFamily="18" charset="0"/>
                <a:ea typeface="宋体" panose="02010600030101010101" pitchFamily="2" charset="-122"/>
                <a:cs typeface="Times New Roman" panose="02020603050405020304" pitchFamily="18" charset="0"/>
              </a:rPr>
              <a:t>结果可以看出，迭代点一直在可行域内部。</a:t>
            </a:r>
            <a:endParaRPr lang="zh-CN" altLang="zh-CN" sz="2400" kern="100" dirty="0">
              <a:latin typeface="Cambria Math" panose="020405030504060302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44557" y="332656"/>
                <a:ext cx="9127014" cy="5386475"/>
              </a:xfrm>
              <a:prstGeom prst="rect">
                <a:avLst/>
              </a:prstGeom>
              <a:noFill/>
            </p:spPr>
            <p:txBody>
              <a:bodyPr wrap="square" rtlCol="0">
                <a:spAutoFit/>
              </a:bodyPr>
              <a:lstStyle/>
              <a:p>
                <a:pPr algn="just">
                  <a:lnSpc>
                    <a:spcPct val="150000"/>
                  </a:lnSpc>
                </a:pPr>
                <a:r>
                  <a:rPr lang="zh-CN" altLang="zh-CN" sz="2200" b="1" kern="100" dirty="0">
                    <a:latin typeface="宋体" panose="02010600030101010101" pitchFamily="2" charset="-122"/>
                    <a:ea typeface="等线" panose="02010600030101010101" charset="-122"/>
                    <a:cs typeface="Times New Roman" panose="02020603050405020304" pitchFamily="18" charset="0"/>
                  </a:rPr>
                  <a:t>初始内点的求法</a:t>
                </a:r>
                <a:endParaRPr lang="zh-CN" altLang="zh-CN" sz="2200" kern="100" dirty="0">
                  <a:latin typeface="等线" panose="02010600030101010101" charset="-122"/>
                  <a:ea typeface="等线" panose="02010600030101010101" charset="-122"/>
                  <a:cs typeface="Times New Roman" panose="02020603050405020304" pitchFamily="18" charset="0"/>
                </a:endParaRPr>
              </a:p>
              <a:p>
                <a:pPr algn="just">
                  <a:lnSpc>
                    <a:spcPct val="150000"/>
                  </a:lnSpc>
                </a:pPr>
                <a:r>
                  <a:rPr lang="en-US" altLang="zh-CN" sz="2200" kern="100" dirty="0">
                    <a:latin typeface="Cambria Math" panose="02040503050406030204" pitchFamily="18" charset="0"/>
                    <a:ea typeface="宋体" panose="02010600030101010101" pitchFamily="2" charset="-122"/>
                    <a:cs typeface="Times New Roman" panose="02020603050405020304" pitchFamily="18" charset="0"/>
                  </a:rPr>
                  <a:t>	</a:t>
                </a:r>
                <a:r>
                  <a:rPr lang="zh-CN" altLang="zh-CN" sz="2200" kern="100" dirty="0">
                    <a:solidFill>
                      <a:srgbClr val="FF0000"/>
                    </a:solidFill>
                    <a:latin typeface="Cambria Math" panose="02040503050406030204" pitchFamily="18" charset="0"/>
                    <a:ea typeface="宋体" panose="02010600030101010101" pitchFamily="2" charset="-122"/>
                    <a:cs typeface="Times New Roman" panose="02020603050405020304" pitchFamily="18" charset="0"/>
                  </a:rPr>
                  <a:t>如果不能找出严格内点作为初始点，内点法就不能应用</a:t>
                </a:r>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，而求初始内点，也需要采用序列无约束最小化方法</a:t>
                </a:r>
                <a:r>
                  <a:rPr lang="zh-CN" altLang="en-US" sz="2200" kern="100" dirty="0">
                    <a:latin typeface="Cambria Math" panose="02040503050406030204" pitchFamily="18" charset="0"/>
                    <a:ea typeface="宋体" panose="02010600030101010101" pitchFamily="2" charset="-122"/>
                    <a:cs typeface="Times New Roman" panose="02020603050405020304" pitchFamily="18" charset="0"/>
                  </a:rPr>
                  <a:t>。</a:t>
                </a:r>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下面介绍求初始内点的步骤</a:t>
                </a:r>
                <a:r>
                  <a:rPr lang="zh-CN" altLang="en-US" sz="2200" kern="100" dirty="0">
                    <a:latin typeface="Cambria Math" panose="02040503050406030204" pitchFamily="18" charset="0"/>
                    <a:ea typeface="宋体" panose="02010600030101010101" pitchFamily="2" charset="-122"/>
                    <a:cs typeface="Times New Roman" panose="02020603050405020304" pitchFamily="18" charset="0"/>
                  </a:rPr>
                  <a:t>：</a:t>
                </a:r>
                <a:endParaRPr lang="zh-CN" altLang="zh-CN" sz="22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en-US" altLang="zh-CN" sz="2200" kern="100" dirty="0">
                    <a:latin typeface="Cambria Math" panose="02040503050406030204" pitchFamily="18" charset="0"/>
                    <a:ea typeface="宋体" panose="02010600030101010101" pitchFamily="2" charset="-122"/>
                    <a:cs typeface="Times New Roman" panose="02020603050405020304" pitchFamily="18" charset="0"/>
                  </a:rPr>
                  <a:t>	</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1. </a:t>
                </a:r>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任意给定初始点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𝑛</m:t>
                        </m:r>
                      </m:sup>
                    </m:sSup>
                  </m:oMath>
                </a14:m>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，初始障碍因子</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0</m:t>
                    </m:r>
                  </m:oMath>
                </a14:m>
                <a:r>
                  <a:rPr lang="en-US" altLang="zh-CN" sz="2200" kern="100" dirty="0">
                    <a:latin typeface="Cambria Math" panose="02040503050406030204" pitchFamily="18" charset="0"/>
                    <a:ea typeface="宋体" panose="02010600030101010101" pitchFamily="2" charset="-122"/>
                    <a:cs typeface="Times New Roman" panose="02020603050405020304" pitchFamily="18" charset="0"/>
                  </a:rPr>
                  <a:t>,</a:t>
                </a:r>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缩小系数</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𝛽</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m>
                      <m:mPr>
                        <m:mcs>
                          <m:mc>
                            <m:mcPr>
                              <m:count m:val="2"/>
                              <m:mcJc m:val="center"/>
                            </m:mcPr>
                          </m:mc>
                        </m:mcs>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mPr>
                      <m:m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e>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e>
                      </m:mr>
                    </m:m>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 ，令</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r>
                      <a:rPr lang="zh-CN" altLang="en-US" sz="2200" i="1" kern="100">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zh-CN" sz="22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en-US" altLang="zh-CN" sz="2200" kern="100" dirty="0">
                    <a:latin typeface="Cambria Math" panose="02040503050406030204" pitchFamily="18" charset="0"/>
                    <a:ea typeface="宋体" panose="02010600030101010101" pitchFamily="2" charset="-122"/>
                    <a:cs typeface="Times New Roman" panose="02020603050405020304" pitchFamily="18" charset="0"/>
                  </a:rPr>
                  <a:t>	</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2. </a:t>
                </a:r>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点，确定不等式约束的下标集合</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200" kern="100" dirty="0">
                    <a:latin typeface="Cambria Math" panose="02040503050406030204" pitchFamily="18" charset="0"/>
                    <a:ea typeface="宋体" panose="02010600030101010101" pitchFamily="2" charset="-122"/>
                    <a:cs typeface="Times New Roman" panose="02020603050405020304" pitchFamily="18" charset="0"/>
                  </a:rPr>
                  <a:t>及</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zh-CN" altLang="en-US" sz="2200" i="1" kern="100">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zh-CN" sz="22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𝑙</m:t>
                          </m:r>
                        </m:e>
                      </m:d>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oMath>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𝑙</m:t>
                          </m:r>
                        </m:e>
                      </m:d>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oMath>
                  </m:oMathPara>
                </a14:m>
                <a:br>
                  <a:rPr lang="en-US" altLang="zh-CN" sz="2200" i="1" kern="100" dirty="0">
                    <a:latin typeface="Cambria Math" panose="02040503050406030204" pitchFamily="18" charset="0"/>
                    <a:ea typeface="宋体" panose="02010600030101010101" pitchFamily="2" charset="-122"/>
                    <a:cs typeface="Times New Roman" panose="02020603050405020304" pitchFamily="18" charset="0"/>
                  </a:rPr>
                </a:br>
                <a:r>
                  <a:rPr lang="en-US" altLang="zh-CN" sz="2200" kern="100" dirty="0">
                    <a:latin typeface="Cambria Math" panose="02040503050406030204" pitchFamily="18" charset="0"/>
                    <a:ea typeface="宋体" panose="02010600030101010101" pitchFamily="2" charset="-122"/>
                    <a:cs typeface="Times New Roman" panose="02020603050405020304" pitchFamily="18" charset="0"/>
                  </a:rPr>
                  <a:t>	</a:t>
                </a:r>
                <a:r>
                  <a:rPr lang="en-US" altLang="zh-CN" sz="2200" kern="100" spc="-113" dirty="0">
                    <a:latin typeface="宋体" panose="02010600030101010101" pitchFamily="2" charset="-122"/>
                    <a:ea typeface="宋体" panose="02010600030101010101" pitchFamily="2" charset="-122"/>
                    <a:cs typeface="Times New Roman" panose="02020603050405020304" pitchFamily="18" charset="0"/>
                  </a:rPr>
                  <a:t>3. </a:t>
                </a:r>
                <a:r>
                  <a:rPr lang="zh-CN" altLang="zh-CN" sz="2200" kern="100" spc="-113" dirty="0">
                    <a:latin typeface="Cambria Math" panose="02040503050406030204" pitchFamily="18" charset="0"/>
                    <a:ea typeface="宋体" panose="02010600030101010101" pitchFamily="2" charset="-122"/>
                    <a:cs typeface="Times New Roman" panose="02020603050405020304" pitchFamily="18" charset="0"/>
                  </a:rPr>
                  <a:t>若</a:t>
                </a:r>
                <a14:m>
                  <m:oMath xmlns:m="http://schemas.openxmlformats.org/officeDocument/2006/math">
                    <m:sSub>
                      <m:sSubPr>
                        <m:ctrlPr>
                          <a:rPr lang="zh-CN" altLang="zh-CN" sz="2200"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𝜙</m:t>
                    </m:r>
                    <m:r>
                      <a:rPr lang="zh-CN" altLang="en-US" sz="2200" i="1" kern="100" spc="-113">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200" kern="100" spc="-113" dirty="0">
                    <a:latin typeface="Cambria Math" panose="02040503050406030204" pitchFamily="18" charset="0"/>
                    <a:ea typeface="宋体" panose="02010600030101010101" pitchFamily="2" charset="-122"/>
                    <a:cs typeface="Times New Roman" panose="02020603050405020304" pitchFamily="18" charset="0"/>
                  </a:rPr>
                  <a:t>则</a:t>
                </a:r>
                <a14:m>
                  <m:oMath xmlns:m="http://schemas.openxmlformats.org/officeDocument/2006/math">
                    <m:sSup>
                      <m:sSupPr>
                        <m:ctrlPr>
                          <a:rPr lang="zh-CN" altLang="zh-CN" sz="2200" i="1" kern="100" spc="-113">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𝑘</m:t>
                        </m:r>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200"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func>
                      <m:func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uncPr>
                      <m:fNa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𝑥</m:t>
                        </m:r>
                      </m:fName>
                      <m:e>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𝑗</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2</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𝑙</m:t>
                            </m:r>
                          </m:e>
                        </m:d>
                      </m:e>
                    </m:func>
                    <m:r>
                      <a:rPr lang="en-US" altLang="zh-CN" sz="2200" i="1" kern="100">
                        <a:latin typeface="Cambria Math" panose="02040503050406030204" pitchFamily="18" charset="0"/>
                        <a:ea typeface="宋体" panose="02010600030101010101" pitchFamily="2" charset="-122"/>
                        <a:cs typeface="Times New Roman" panose="02020603050405020304" pitchFamily="18" charset="0"/>
                      </a:rPr>
                      <m:t>}</m:t>
                    </m:r>
                    <m:r>
                      <a:rPr lang="zh-CN" altLang="en-US" sz="2200" i="1" kern="100" spc="-113">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200" i="1" kern="100" spc="-113">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𝑘</m:t>
                        </m:r>
                        <m:r>
                          <a:rPr lang="en-US" altLang="zh-CN" sz="2200" i="1" kern="100" spc="-113">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200" kern="100" spc="-113" dirty="0">
                    <a:latin typeface="Cambria Math" panose="02040503050406030204" pitchFamily="18" charset="0"/>
                    <a:ea typeface="宋体" panose="02010600030101010101" pitchFamily="2" charset="-122"/>
                    <a:cs typeface="Times New Roman" panose="02020603050405020304" pitchFamily="18" charset="0"/>
                  </a:rPr>
                  <a:t>即为初始内点，停止搜索</a:t>
                </a:r>
                <a:r>
                  <a:rPr lang="zh-CN" altLang="en-US" sz="2200" kern="100" spc="-113" dirty="0">
                    <a:latin typeface="Cambria Math" panose="02040503050406030204" pitchFamily="18" charset="0"/>
                    <a:ea typeface="宋体" panose="02010600030101010101" pitchFamily="2" charset="-122"/>
                    <a:cs typeface="Times New Roman" panose="02020603050405020304" pitchFamily="18" charset="0"/>
                  </a:rPr>
                  <a:t>，</a:t>
                </a:r>
                <a:r>
                  <a:rPr lang="zh-CN" altLang="zh-CN" sz="2200" kern="100" spc="-113" dirty="0">
                    <a:latin typeface="Cambria Math" panose="02040503050406030204" pitchFamily="18" charset="0"/>
                    <a:ea typeface="宋体" panose="02010600030101010101" pitchFamily="2" charset="-122"/>
                    <a:cs typeface="Times New Roman" panose="02020603050405020304" pitchFamily="18" charset="0"/>
                  </a:rPr>
                  <a:t>否转步骤</a:t>
                </a:r>
                <a:r>
                  <a:rPr lang="en-US" altLang="zh-CN" sz="2200" kern="100" spc="-113" dirty="0">
                    <a:latin typeface="Cambria Math" panose="02040503050406030204" pitchFamily="18" charset="0"/>
                    <a:ea typeface="宋体" panose="02010600030101010101" pitchFamily="2" charset="-122"/>
                    <a:cs typeface="Times New Roman" panose="02020603050405020304" pitchFamily="18" charset="0"/>
                  </a:rPr>
                  <a:t>4</a:t>
                </a:r>
                <a:r>
                  <a:rPr lang="zh-CN" altLang="en-US" sz="2200" kern="100" spc="-113" dirty="0">
                    <a:latin typeface="Cambria Math" panose="02040503050406030204" pitchFamily="18" charset="0"/>
                    <a:ea typeface="宋体" panose="02010600030101010101" pitchFamily="2" charset="-122"/>
                    <a:cs typeface="Times New Roman" panose="02020603050405020304" pitchFamily="18" charset="0"/>
                  </a:rPr>
                  <a:t>。</a:t>
                </a:r>
                <a:endParaRPr lang="zh-CN" altLang="en-US" sz="2200" spc="-113" dirty="0"/>
              </a:p>
            </p:txBody>
          </p:sp>
        </mc:Choice>
        <mc:Fallback>
          <p:sp>
            <p:nvSpPr>
              <p:cNvPr id="2" name="文本框 1"/>
              <p:cNvSpPr txBox="1">
                <a:spLocks noRot="1" noChangeAspect="1" noMove="1" noResize="1" noEditPoints="1" noAdjustHandles="1" noChangeArrowheads="1" noChangeShapeType="1" noTextEdit="1"/>
              </p:cNvSpPr>
              <p:nvPr/>
            </p:nvSpPr>
            <p:spPr>
              <a:xfrm>
                <a:off x="44557" y="332656"/>
                <a:ext cx="9127014" cy="5386475"/>
              </a:xfrm>
              <a:prstGeom prst="rect">
                <a:avLst/>
              </a:prstGeom>
              <a:blipFill rotWithShape="1">
                <a:blip r:embed="rId1"/>
                <a:stretch>
                  <a:fillRect l="-1" t="-10" r="3" b="-772"/>
                </a:stretch>
              </a:blipFill>
            </p:spPr>
            <p:txBody>
              <a:bodyPr/>
              <a:lstStyle/>
              <a:p>
                <a:r>
                  <a:rPr lang="zh-CN" altLang="en-US">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p:cNvSpPr txBox="1"/>
              <p:nvPr/>
            </p:nvSpPr>
            <p:spPr>
              <a:xfrm>
                <a:off x="98757" y="219339"/>
                <a:ext cx="8946486" cy="6419321"/>
              </a:xfrm>
              <a:prstGeom prst="rect">
                <a:avLst/>
              </a:prstGeom>
              <a:noFill/>
            </p:spPr>
            <p:txBody>
              <a:bodyPr wrap="square" rtlCol="0">
                <a:spAutoFit/>
              </a:bodyPr>
              <a:lstStyle/>
              <a:p>
                <a:pPr algn="just">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4. </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记</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d>
                        <m:dPr>
                          <m:begChr m:val="|"/>
                          <m:endChr m:val=""/>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e>
                      </m:d>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oMath>
                  </m:oMathPara>
                </a14:m>
                <a:br>
                  <a:rPr lang="en-US" altLang="zh-CN" sz="2000" i="1" kern="100" dirty="0">
                    <a:latin typeface="Cambria Math" panose="02040503050406030204" pitchFamily="18" charset="0"/>
                    <a:ea typeface="宋体" panose="02010600030101010101" pitchFamily="2" charset="-122"/>
                    <a:cs typeface="Times New Roman" panose="02020603050405020304" pitchFamily="18" charset="0"/>
                  </a:rPr>
                </a:b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构造障碍函数</a:t>
                </a:r>
                <a:endParaRPr lang="en-US" altLang="zh-CN" sz="2000" kern="100" dirty="0">
                  <a:latin typeface="Cambria Math" panose="02040503050406030204" pitchFamily="18" charset="0"/>
                  <a:ea typeface="宋体" panose="02010600030101010101" pitchFamily="2" charset="-122"/>
                  <a:cs typeface="Times New Roman" panose="02020603050405020304" pitchFamily="18" charset="0"/>
                </a:endParaRPr>
              </a:p>
              <a:p>
                <a:pPr algn="ctr"/>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𝑄</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nary>
                      <m:naryPr>
                        <m:chr m:val="∑"/>
                        <m:supHide m:val="on"/>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𝑆</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sub>
                      <m:sup/>
                      <m:e>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e>
                    </m:nary>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nary>
                      <m:naryPr>
                        <m:chr m:val="∑"/>
                        <m:supHide m:val="on"/>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𝑗</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𝑇</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sub>
                      <m:sup/>
                      <m:e>
                        <m:f>
                          <m:f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num>
                          <m:den>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𝑔</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𝑗</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𝑥</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den>
                        </m:f>
                      </m:e>
                    </m:nary>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&gt;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0</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oMath>
                </a14:m>
                <a:endParaRPr lang="zh-CN" altLang="zh-CN" sz="20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en-US" altLang="zh-CN" sz="2000" b="1" kern="100" spc="-113" dirty="0">
                    <a:latin typeface="Cambria Math" panose="02040503050406030204" pitchFamily="18" charset="0"/>
                    <a:ea typeface="宋体" panose="02010600030101010101" pitchFamily="2" charset="-122"/>
                    <a:cs typeface="Times New Roman" panose="02020603050405020304" pitchFamily="18" charset="0"/>
                  </a:rPr>
                  <a:t>          </a:t>
                </a:r>
                <a:r>
                  <a:rPr lang="zh-CN" altLang="zh-CN" sz="2000" b="1" kern="100" spc="-113" dirty="0">
                    <a:latin typeface="Cambria Math" panose="02040503050406030204" pitchFamily="18" charset="0"/>
                    <a:ea typeface="宋体" panose="02010600030101010101" pitchFamily="2" charset="-122"/>
                    <a:cs typeface="Times New Roman" panose="02020603050405020304" pitchFamily="18" charset="0"/>
                  </a:rPr>
                  <a:t>这里障碍函数的第一项是虚拟目标函数，它是由</a:t>
                </a:r>
                <a14:m>
                  <m:oMath xmlns:m="http://schemas.openxmlformats.org/officeDocument/2006/math">
                    <m:sSub>
                      <m:sSubPr>
                        <m:ctrlPr>
                          <a:rPr lang="zh-CN" altLang="zh-CN" sz="2000" b="1"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𝒈</m:t>
                        </m:r>
                      </m:e>
                      <m:sub>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𝒙</m:t>
                    </m:r>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000" b="1" kern="100" spc="-113" dirty="0">
                    <a:latin typeface="Cambria Math" panose="02040503050406030204" pitchFamily="18" charset="0"/>
                    <a:ea typeface="宋体" panose="02010600030101010101" pitchFamily="2" charset="-122"/>
                    <a:cs typeface="Times New Roman" panose="02020603050405020304" pitchFamily="18" charset="0"/>
                  </a:rPr>
                  <a:t>的那些约束函数的和的相反数构成，其最小值为</a:t>
                </a:r>
                <a:r>
                  <a:rPr lang="en-US" altLang="zh-CN" sz="2000" b="1" kern="100" spc="-113" dirty="0">
                    <a:latin typeface="Cambria Math" panose="02040503050406030204" pitchFamily="18" charset="0"/>
                    <a:ea typeface="宋体" panose="02010600030101010101" pitchFamily="2" charset="-122"/>
                    <a:cs typeface="Times New Roman" panose="02020603050405020304" pitchFamily="18" charset="0"/>
                  </a:rPr>
                  <a:t>0</a:t>
                </a:r>
                <a:r>
                  <a:rPr lang="zh-CN" altLang="en-US" sz="2000" b="1" kern="100" spc="-113" dirty="0">
                    <a:latin typeface="Cambria Math" panose="02040503050406030204" pitchFamily="18" charset="0"/>
                    <a:ea typeface="宋体" panose="02010600030101010101" pitchFamily="2" charset="-122"/>
                    <a:cs typeface="Times New Roman" panose="02020603050405020304" pitchFamily="18" charset="0"/>
                  </a:rPr>
                  <a:t>。</a:t>
                </a:r>
                <a:r>
                  <a:rPr lang="zh-CN" altLang="zh-CN" sz="2000" b="1" kern="100" spc="-113" dirty="0">
                    <a:latin typeface="Cambria Math" panose="02040503050406030204" pitchFamily="18" charset="0"/>
                    <a:ea typeface="宋体" panose="02010600030101010101" pitchFamily="2" charset="-122"/>
                    <a:cs typeface="Times New Roman" panose="02020603050405020304" pitchFamily="18" charset="0"/>
                  </a:rPr>
                  <a:t>第二项由虚拟约束条件即满足</a:t>
                </a:r>
                <a14:m>
                  <m:oMath xmlns:m="http://schemas.openxmlformats.org/officeDocument/2006/math">
                    <m:sSub>
                      <m:sSubPr>
                        <m:ctrlPr>
                          <a:rPr lang="zh-CN" altLang="zh-CN" sz="2000" b="1"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𝒈</m:t>
                        </m:r>
                      </m:e>
                      <m:sub>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𝒋</m:t>
                        </m:r>
                      </m:sub>
                    </m:sSub>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𝒙</m:t>
                    </m:r>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)&gt;</m:t>
                    </m:r>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000" b="1" kern="100" spc="-113" dirty="0">
                    <a:latin typeface="Cambria Math" panose="02040503050406030204" pitchFamily="18" charset="0"/>
                    <a:ea typeface="宋体" panose="02010600030101010101" pitchFamily="2" charset="-122"/>
                    <a:cs typeface="Times New Roman" panose="02020603050405020304" pitchFamily="18" charset="0"/>
                  </a:rPr>
                  <a:t>的那些约束条件构成，也就是说，在</a:t>
                </a:r>
                <a14:m>
                  <m:oMath xmlns:m="http://schemas.openxmlformats.org/officeDocument/2006/math">
                    <m:sSub>
                      <m:sSubPr>
                        <m:ctrlPr>
                          <a:rPr lang="zh-CN" altLang="zh-CN" sz="2000" b="1"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𝑹</m:t>
                        </m:r>
                      </m:e>
                      <m:sub>
                        <m:r>
                          <a:rPr lang="en-US" altLang="zh-CN" sz="2000" b="1" i="1" kern="100" spc="-113">
                            <a:latin typeface="Cambria Math" panose="02040503050406030204" pitchFamily="18" charset="0"/>
                            <a:ea typeface="宋体" panose="02010600030101010101" pitchFamily="2" charset="-122"/>
                            <a:cs typeface="Times New Roman" panose="02020603050405020304" pitchFamily="18" charset="0"/>
                          </a:rPr>
                          <m:t>𝒌</m:t>
                        </m:r>
                      </m:sub>
                    </m:sSub>
                  </m:oMath>
                </a14:m>
                <a:r>
                  <a:rPr lang="zh-CN" altLang="zh-CN" sz="2000" b="1" kern="100" spc="-113" dirty="0">
                    <a:latin typeface="Cambria Math" panose="02040503050406030204" pitchFamily="18" charset="0"/>
                    <a:ea typeface="宋体" panose="02010600030101010101" pitchFamily="2" charset="-122"/>
                    <a:cs typeface="Times New Roman" panose="02020603050405020304" pitchFamily="18" charset="0"/>
                  </a:rPr>
                  <a:t>域的边界上设置了一道“障碍”，它阻止已得到满足的约束条件再变为不满足</a:t>
                </a:r>
                <a:r>
                  <a:rPr lang="zh-CN" altLang="en-US" sz="2000" kern="100" spc="-113" dirty="0">
                    <a:latin typeface="Cambria Math" panose="02040503050406030204" pitchFamily="18" charset="0"/>
                    <a:ea typeface="宋体" panose="02010600030101010101" pitchFamily="2" charset="-122"/>
                    <a:cs typeface="Times New Roman" panose="02020603050405020304" pitchFamily="18" charset="0"/>
                  </a:rPr>
                  <a:t>。</a:t>
                </a:r>
                <a:endParaRPr lang="zh-CN" altLang="zh-CN" sz="2000" kern="100" spc="-113"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5. </a:t>
                </a:r>
                <a:r>
                  <a:rPr lang="zh-CN" altLang="zh-CN" sz="2000" kern="100" spc="-113" dirty="0">
                    <a:latin typeface="Cambria Math" panose="02040503050406030204" pitchFamily="18" charset="0"/>
                    <a:ea typeface="宋体" panose="02010600030101010101" pitchFamily="2" charset="-122"/>
                    <a:cs typeface="Times New Roman" panose="02020603050405020304" pitchFamily="18" charset="0"/>
                  </a:rPr>
                  <a:t>以</a:t>
                </a:r>
                <a14:m>
                  <m:oMath xmlns:m="http://schemas.openxmlformats.org/officeDocument/2006/math">
                    <m:sSup>
                      <m:sSupPr>
                        <m:ctrlPr>
                          <a:rPr lang="zh-CN" altLang="zh-CN" sz="2000" i="1" kern="100" spc="-113">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zh-CN" sz="2000" kern="100" spc="-113" dirty="0">
                    <a:latin typeface="Cambria Math" panose="02040503050406030204" pitchFamily="18" charset="0"/>
                    <a:ea typeface="宋体" panose="02010600030101010101" pitchFamily="2" charset="-122"/>
                    <a:cs typeface="Times New Roman" panose="02020603050405020304" pitchFamily="18" charset="0"/>
                  </a:rPr>
                  <a:t>为初始点，在</a:t>
                </a:r>
                <a14:m>
                  <m:oMath xmlns:m="http://schemas.openxmlformats.org/officeDocument/2006/math">
                    <m:sSub>
                      <m:sSubPr>
                        <m:ctrlPr>
                          <a:rPr lang="zh-CN" altLang="zh-CN" sz="2000"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000" kern="100" spc="-113" dirty="0">
                    <a:latin typeface="Cambria Math" panose="02040503050406030204" pitchFamily="18" charset="0"/>
                    <a:ea typeface="宋体" panose="02010600030101010101" pitchFamily="2" charset="-122"/>
                    <a:cs typeface="Times New Roman" panose="02020603050405020304" pitchFamily="18" charset="0"/>
                  </a:rPr>
                  <a:t>域内，求障碍函数</a:t>
                </a:r>
                <a14:m>
                  <m:oMath xmlns:m="http://schemas.openxmlformats.org/officeDocument/2006/math">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𝑄</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𝑥</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𝑘</m:t>
                        </m:r>
                      </m:sub>
                    </m:sSub>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000" kern="100" spc="-113" dirty="0">
                    <a:latin typeface="Cambria Math" panose="02040503050406030204" pitchFamily="18" charset="0"/>
                    <a:ea typeface="宋体" panose="02010600030101010101" pitchFamily="2" charset="-122"/>
                    <a:cs typeface="Times New Roman" panose="02020603050405020304" pitchFamily="18" charset="0"/>
                  </a:rPr>
                  <a:t>的极小</a:t>
                </a:r>
                <a:r>
                  <a:rPr lang="zh-CN" altLang="en-US" sz="2000" kern="100" spc="-113" dirty="0">
                    <a:latin typeface="Cambria Math" panose="02040503050406030204" pitchFamily="18" charset="0"/>
                    <a:ea typeface="宋体" panose="02010600030101010101" pitchFamily="2" charset="-122"/>
                    <a:cs typeface="Times New Roman" panose="02020603050405020304" pitchFamily="18" charset="0"/>
                  </a:rPr>
                  <a:t>点</a:t>
                </a:r>
                <a14:m>
                  <m:oMath xmlns:m="http://schemas.openxmlformats.org/officeDocument/2006/math">
                    <m:sSup>
                      <m:sSupPr>
                        <m:ctrlPr>
                          <a:rPr lang="zh-CN" altLang="zh-CN" sz="2000" i="1" kern="100" spc="-113">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1</m:t>
                        </m:r>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i="1" kern="100" spc="-113">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spc="-113">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en-US" sz="2000" kern="100" spc="-113" dirty="0">
                    <a:latin typeface="Cambria Math" panose="02040503050406030204" pitchFamily="18" charset="0"/>
                    <a:ea typeface="宋体" panose="02010600030101010101" pitchFamily="2" charset="-122"/>
                    <a:cs typeface="Times New Roman" panose="02020603050405020304" pitchFamily="18" charset="0"/>
                  </a:rPr>
                  <a:t>。</a:t>
                </a:r>
                <a:endParaRPr lang="zh-CN" altLang="zh-CN" sz="2000" kern="100" spc="-113"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6. </a:t>
                </a:r>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令</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𝛽</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，置</a:t>
                </a:r>
                <a14:m>
                  <m:oMath xmlns:m="http://schemas.openxmlformats.org/officeDocument/2006/math">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oMath>
                </a14:m>
                <a:r>
                  <a:rPr lang="zh-CN" altLang="en-US" sz="2000" kern="100" dirty="0">
                    <a:latin typeface="Cambria Math" panose="02040503050406030204" pitchFamily="18" charset="0"/>
                    <a:ea typeface="宋体" panose="02010600030101010101" pitchFamily="2" charset="-122"/>
                    <a:cs typeface="Times New Roman" panose="02020603050405020304" pitchFamily="18" charset="0"/>
                  </a:rPr>
                  <a:t>，</a:t>
                </a:r>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返回步骤</a:t>
                </a:r>
                <a:r>
                  <a:rPr lang="en-US" altLang="zh-CN" sz="2000" kern="100" dirty="0">
                    <a:latin typeface="Cambria Math" panose="02040503050406030204" pitchFamily="18" charset="0"/>
                    <a:ea typeface="宋体" panose="02010600030101010101" pitchFamily="2" charset="-122"/>
                    <a:cs typeface="Times New Roman" panose="02020603050405020304" pitchFamily="18" charset="0"/>
                  </a:rPr>
                  <a:t>2</a:t>
                </a:r>
                <a:r>
                  <a:rPr lang="zh-CN" altLang="en-US" sz="2000" kern="100" dirty="0">
                    <a:latin typeface="Cambria Math" panose="02040503050406030204" pitchFamily="18" charset="0"/>
                    <a:ea typeface="宋体" panose="02010600030101010101" pitchFamily="2" charset="-122"/>
                    <a:cs typeface="Times New Roman" panose="02020603050405020304" pitchFamily="18" charset="0"/>
                  </a:rPr>
                  <a:t>。</a:t>
                </a:r>
                <a:endParaRPr lang="zh-CN" altLang="zh-CN" sz="20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mbria Math" panose="02040503050406030204" pitchFamily="18" charset="0"/>
                    <a:ea typeface="宋体" panose="02010600030101010101" pitchFamily="2" charset="-122"/>
                    <a:cs typeface="Times New Roman" panose="02020603050405020304" pitchFamily="18" charset="0"/>
                  </a:rPr>
                  <a:t>	</a:t>
                </a:r>
                <a:endParaRPr lang="en-US" altLang="zh-CN" sz="2000" kern="100" dirty="0">
                  <a:latin typeface="Cambria Math" panose="02040503050406030204" pitchFamily="18" charset="0"/>
                  <a:ea typeface="宋体" panose="02010600030101010101" pitchFamily="2" charset="-122"/>
                  <a:cs typeface="Times New Roman" panose="02020603050405020304" pitchFamily="18" charset="0"/>
                </a:endParaRPr>
              </a:p>
              <a:p>
                <a:pPr algn="just">
                  <a:lnSpc>
                    <a:spcPct val="150000"/>
                  </a:lnSpc>
                </a:pPr>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由以上可知，求初始内点的过程，就是在</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域内，反复使用内点法的过程</a:t>
                </a:r>
                <a:r>
                  <a:rPr lang="zh-CN" altLang="en-US" sz="2000" kern="100" dirty="0">
                    <a:latin typeface="Cambria Math" panose="02040503050406030204" pitchFamily="18" charset="0"/>
                    <a:ea typeface="宋体" panose="02010600030101010101" pitchFamily="2" charset="-122"/>
                    <a:cs typeface="Times New Roman" panose="02020603050405020304" pitchFamily="18" charset="0"/>
                  </a:rPr>
                  <a:t>。</a:t>
                </a:r>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随着得到满足的约束条件的个数的增加，</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𝑘</m:t>
                        </m:r>
                      </m:sub>
                    </m:sSub>
                  </m:oMath>
                </a14:m>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域逐渐缩小以趋近于</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𝑅</m:t>
                        </m:r>
                      </m:e>
                      <m:sub>
                        <m:r>
                          <a:rPr lang="en-US" altLang="zh-CN" sz="2000" i="1" kern="100">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2000" kern="100" dirty="0">
                    <a:latin typeface="Cambria Math" panose="02040503050406030204" pitchFamily="18" charset="0"/>
                    <a:ea typeface="宋体" panose="02010600030101010101" pitchFamily="2" charset="-122"/>
                    <a:cs typeface="Times New Roman" panose="02020603050405020304" pitchFamily="18" charset="0"/>
                  </a:rPr>
                  <a:t>域</a:t>
                </a:r>
                <a:r>
                  <a:rPr lang="zh-CN" altLang="en-US" sz="2000" kern="100" dirty="0">
                    <a:latin typeface="Cambria Math" panose="02040503050406030204" pitchFamily="18" charset="0"/>
                    <a:ea typeface="宋体" panose="02010600030101010101" pitchFamily="2" charset="-122"/>
                    <a:cs typeface="Times New Roman" panose="02020603050405020304" pitchFamily="18" charset="0"/>
                  </a:rPr>
                  <a:t>。</a:t>
                </a:r>
                <a:endParaRPr lang="zh-CN" altLang="en-US" sz="2000" dirty="0"/>
              </a:p>
            </p:txBody>
          </p:sp>
        </mc:Choice>
        <mc:Fallback>
          <p:sp>
            <p:nvSpPr>
              <p:cNvPr id="2" name="文本框 1"/>
              <p:cNvSpPr txBox="1">
                <a:spLocks noRot="1" noChangeAspect="1" noMove="1" noResize="1" noEditPoints="1" noAdjustHandles="1" noChangeArrowheads="1" noChangeShapeType="1" noTextEdit="1"/>
              </p:cNvSpPr>
              <p:nvPr/>
            </p:nvSpPr>
            <p:spPr>
              <a:xfrm>
                <a:off x="98757" y="219339"/>
                <a:ext cx="8946486" cy="6419321"/>
              </a:xfrm>
              <a:prstGeom prst="rect">
                <a:avLst/>
              </a:prstGeom>
              <a:blipFill rotWithShape="1">
                <a:blip r:embed="rId1"/>
                <a:stretch>
                  <a:fillRect l="-4" t="-4" r="3" b="-3179"/>
                </a:stretch>
              </a:blipFill>
            </p:spPr>
            <p:txBody>
              <a:bodyPr/>
              <a:lstStyle/>
              <a:p>
                <a:r>
                  <a:rPr lang="zh-CN" alt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126876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a typeface="宋体" panose="02010600030101010101" pitchFamily="2" charset="-122"/>
            </a:endParaRPr>
          </a:p>
        </p:txBody>
      </p:sp>
      <p:sp>
        <p:nvSpPr>
          <p:cNvPr id="4" name="Rectangle 3"/>
          <p:cNvSpPr>
            <a:spLocks noGrp="1" noChangeArrowheads="1"/>
          </p:cNvSpPr>
          <p:nvPr>
            <p:ph idx="1"/>
          </p:nvPr>
        </p:nvSpPr>
        <p:spPr>
          <a:xfrm>
            <a:off x="539552" y="1970838"/>
            <a:ext cx="8136904" cy="2059410"/>
          </a:xfrm>
          <a:noFill/>
        </p:spPr>
        <p:txBody>
          <a:bodyPr wrap="square">
            <a:spAutoFit/>
          </a:bodyPr>
          <a:lstStyle/>
          <a:p>
            <a:pPr marL="342900" indent="-342900" algn="just" defTabSz="342900" eaLnBrk="0" hangingPunct="0">
              <a:lnSpc>
                <a:spcPct val="150000"/>
              </a:lnSpc>
              <a:spcBef>
                <a:spcPct val="0"/>
              </a:spcBef>
              <a:buFont typeface="Wingdings" panose="05000000000000000000" pitchFamily="2" charset="2"/>
              <a:buChar char="Ø"/>
            </a:pPr>
            <a:r>
              <a:rPr lang="zh-CN" altLang="en-US" sz="2200" kern="100" dirty="0">
                <a:latin typeface="Times New Roman" panose="02020603050405020304" pitchFamily="18" charset="0"/>
                <a:ea typeface="宋体" panose="02010600030101010101" pitchFamily="2" charset="-122"/>
              </a:rPr>
              <a:t>内点法的优点是：由于迭代点总是在可行域内进行，每一个中间结果都是可行解，可以作为近似解。</a:t>
            </a:r>
            <a:endParaRPr lang="en-US" altLang="zh-CN" sz="2200" kern="100" dirty="0">
              <a:latin typeface="Times New Roman" panose="02020603050405020304" pitchFamily="18" charset="0"/>
              <a:ea typeface="宋体" panose="02010600030101010101" pitchFamily="2" charset="-122"/>
            </a:endParaRPr>
          </a:p>
          <a:p>
            <a:pPr marL="342900" indent="-342900" algn="just" defTabSz="342900" eaLnBrk="0" hangingPunct="0">
              <a:lnSpc>
                <a:spcPct val="150000"/>
              </a:lnSpc>
              <a:spcBef>
                <a:spcPct val="0"/>
              </a:spcBef>
              <a:buFont typeface="Wingdings" panose="05000000000000000000" pitchFamily="2" charset="2"/>
              <a:buChar char="Ø"/>
            </a:pPr>
            <a:r>
              <a:rPr lang="zh-CN" altLang="en-US" sz="2200" kern="100" dirty="0">
                <a:latin typeface="Times New Roman" panose="02020603050405020304" pitchFamily="18" charset="0"/>
                <a:ea typeface="宋体" panose="02010600030101010101" pitchFamily="2" charset="-122"/>
              </a:rPr>
              <a:t>内点法的缺点是：选取初始可行点较困难，且只适用于含有不等式约束的非线性规划问题。 </a:t>
            </a:r>
            <a:endParaRPr lang="zh-CN" altLang="en-US" sz="2200" kern="100" dirty="0">
              <a:latin typeface="Times New Roman" panose="02020603050405020304" pitchFamily="18"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作业</a:t>
            </a:r>
            <a:endParaRPr lang="zh-CN" altLang="en-US" dirty="0"/>
          </a:p>
        </p:txBody>
      </p:sp>
      <p:sp>
        <p:nvSpPr>
          <p:cNvPr id="3" name="内容占位符 2"/>
          <p:cNvSpPr>
            <a:spLocks noGrp="1"/>
          </p:cNvSpPr>
          <p:nvPr>
            <p:ph idx="1"/>
          </p:nvPr>
        </p:nvSpPr>
        <p:spPr/>
        <p:txBody>
          <a:bodyPr/>
          <a:lstStyle/>
          <a:p>
            <a:r>
              <a:rPr lang="zh-CN" altLang="en-US" dirty="0"/>
              <a:t>完成智慧树平台相关练习</a:t>
            </a:r>
            <a:endParaRPr lang="zh-CN" altLang="en-US" dirty="0"/>
          </a:p>
        </p:txBody>
      </p:sp>
    </p:spTree>
  </p:cSld>
  <p:clrMapOvr>
    <a:masterClrMapping/>
  </p:clrMapOvr>
  <p:transition/>
</p:sld>
</file>

<file path=ppt/tags/tag1.xml><?xml version="1.0" encoding="utf-8"?>
<p:tagLst xmlns:p="http://schemas.openxmlformats.org/presentationml/2006/main">
  <p:tag name="KSO_WM_UNIT_TABLE_BEAUTIFY" val="smartTable{3eaa5261-c203-4b47-bdde-64c6e691c23b}"/>
  <p:tag name="TABLE_ENDDRAG_ORIGIN_RECT" val="702*111"/>
  <p:tag name="TABLE_ENDDRAG_RECT" val="134*105*702*111"/>
</p:tagLst>
</file>

<file path=ppt/tags/tag2.xml><?xml version="1.0" encoding="utf-8"?>
<p:tagLst xmlns:p="http://schemas.openxmlformats.org/presentationml/2006/main">
  <p:tag name="KSO_WM_UNIT_TABLE_BEAUTIFY" val="smartTable{3eaa5261-c203-4b47-bdde-64c6e691c23b}"/>
  <p:tag name="TABLE_ENDDRAG_ORIGIN_RECT" val="702*111"/>
  <p:tag name="TABLE_ENDDRAG_RECT" val="134*105*702*111"/>
</p:tagLst>
</file>

<file path=ppt/tags/tag3.xml><?xml version="1.0" encoding="utf-8"?>
<p:tagLst xmlns:p="http://schemas.openxmlformats.org/presentationml/2006/main">
  <p:tag name="COMMONDATA" val="eyJoZGlkIjoiMzRiZTljODZjNDMwNjU0MGFkZWEwZmE5ZmUxYjNmMzMifQ=="/>
  <p:tag name="commondata" val="eyJoZGlkIjoiZDk4YzFjZjIwYTQ3NTc4OWE3YjkyODNmODA1ZTVkMzE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13253</Words>
  <Application>WPS 演示</Application>
  <PresentationFormat>全屏显示(4:3)</PresentationFormat>
  <Paragraphs>506</Paragraphs>
  <Slides>60</Slides>
  <Notes>1</Notes>
  <HiddenSlides>1</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18</vt:i4>
      </vt:variant>
      <vt:variant>
        <vt:lpstr>幻灯片标题</vt:lpstr>
      </vt:variant>
      <vt:variant>
        <vt:i4>60</vt:i4>
      </vt:variant>
    </vt:vector>
  </HeadingPairs>
  <TitlesOfParts>
    <vt:vector size="95" baseType="lpstr">
      <vt:lpstr>Arial</vt:lpstr>
      <vt:lpstr>宋体</vt:lpstr>
      <vt:lpstr>Wingdings</vt:lpstr>
      <vt:lpstr>黑体</vt:lpstr>
      <vt:lpstr>Cambria Math</vt:lpstr>
      <vt:lpstr>MS Mincho</vt:lpstr>
      <vt:lpstr>Yu Gothic UI</vt:lpstr>
      <vt:lpstr>Times New Roman</vt:lpstr>
      <vt:lpstr>微软雅黑</vt:lpstr>
      <vt:lpstr>Arial Unicode MS</vt:lpstr>
      <vt:lpstr>等线 Light</vt:lpstr>
      <vt:lpstr>Calibri Light</vt:lpstr>
      <vt:lpstr>等线</vt:lpstr>
      <vt:lpstr>Calibri</vt:lpstr>
      <vt:lpstr>Tahoma</vt:lpstr>
      <vt:lpstr>MS Gothic</vt:lpstr>
      <vt:lpstr>Office 主题​​</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二、算法步骤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第9章  约束问题最优化方法</dc:title>
  <dc:creator>zl</dc:creator>
  <cp:lastModifiedBy>小威</cp:lastModifiedBy>
  <cp:revision>150</cp:revision>
  <dcterms:created xsi:type="dcterms:W3CDTF">2013-11-29T01:58:00Z</dcterms:created>
  <dcterms:modified xsi:type="dcterms:W3CDTF">2025-12-06T08:21:06Z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30F2608628D840C08BF3028C567ABF92</vt:lpwstr>
  </property>
</Properties>
</file>