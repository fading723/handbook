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66" r:id="rId2"/>
    <p:sldId id="284" r:id="rId3"/>
    <p:sldId id="293" r:id="rId4"/>
    <p:sldId id="294" r:id="rId5"/>
    <p:sldId id="295" r:id="rId6"/>
    <p:sldId id="296" r:id="rId7"/>
    <p:sldId id="282" r:id="rId8"/>
    <p:sldId id="269" r:id="rId9"/>
    <p:sldId id="270" r:id="rId10"/>
    <p:sldId id="271" r:id="rId11"/>
    <p:sldId id="272" r:id="rId12"/>
    <p:sldId id="273" r:id="rId13"/>
    <p:sldId id="300" r:id="rId14"/>
    <p:sldId id="274" r:id="rId15"/>
    <p:sldId id="275" r:id="rId16"/>
    <p:sldId id="292" r:id="rId17"/>
    <p:sldId id="301" r:id="rId18"/>
    <p:sldId id="302" r:id="rId19"/>
    <p:sldId id="277" r:id="rId20"/>
    <p:sldId id="469" r:id="rId21"/>
    <p:sldId id="470" r:id="rId22"/>
    <p:sldId id="298" r:id="rId23"/>
    <p:sldId id="279" r:id="rId24"/>
    <p:sldId id="285" r:id="rId25"/>
    <p:sldId id="280" r:id="rId26"/>
    <p:sldId id="281" r:id="rId27"/>
    <p:sldId id="471" r:id="rId28"/>
    <p:sldId id="286" r:id="rId29"/>
    <p:sldId id="473" r:id="rId30"/>
    <p:sldId id="474" r:id="rId31"/>
    <p:sldId id="475" r:id="rId32"/>
    <p:sldId id="476" r:id="rId33"/>
    <p:sldId id="287" r:id="rId34"/>
    <p:sldId id="291" r:id="rId35"/>
    <p:sldId id="299" r:id="rId3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923" autoAdjust="0"/>
  </p:normalViewPr>
  <p:slideViewPr>
    <p:cSldViewPr>
      <p:cViewPr varScale="1">
        <p:scale>
          <a:sx n="66" d="100"/>
          <a:sy n="66" d="100"/>
        </p:scale>
        <p:origin x="1092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F578C-FAAF-476B-91BE-5847A790E2D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7DD18-4BEF-4445-86AF-82D0C29787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36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7DD18-4BEF-4445-86AF-82D0C297876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783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47DD18-4BEF-4445-86AF-82D0C297876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108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67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1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01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80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62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92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6973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5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654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82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043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B066E-A57C-4220-B017-3766FBEEE3F6}" type="datetimeFigureOut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8851AF-A0DC-459C-BA7B-1647CC7D29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74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8%BF%90%E7%AD%B9%E5%AD%A6/1559" TargetMode="External"/><Relationship Id="rId7" Type="http://schemas.openxmlformats.org/officeDocument/2006/relationships/hyperlink" Target="https://baike.baidu.com/item/%E5%86%B3%E7%AD%96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aike.baidu.com/item/%E5%B7%A5%E7%A8%8B%E6%8A%80%E6%9C%AF" TargetMode="External"/><Relationship Id="rId5" Type="http://schemas.openxmlformats.org/officeDocument/2006/relationships/hyperlink" Target="https://baike.baidu.com/item/%E6%9E%81%E5%80%BC" TargetMode="External"/><Relationship Id="rId4" Type="http://schemas.openxmlformats.org/officeDocument/2006/relationships/hyperlink" Target="https://baike.baidu.com/item/%E7%BA%A6%E6%9D%9F%E6%9D%A1%E4%BB%B6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5.jpe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7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8.wmf"/><Relationship Id="rId4" Type="http://schemas.openxmlformats.org/officeDocument/2006/relationships/oleObject" Target="../embeddings/oleObject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16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140.png"/><Relationship Id="rId10" Type="http://schemas.openxmlformats.org/officeDocument/2006/relationships/image" Target="../media/image46.png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836712"/>
            <a:ext cx="7772400" cy="679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第一章	线性规划的数学模型</a:t>
            </a:r>
            <a:b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r>
              <a:rPr lang="en-US" altLang="zh-CN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            </a:t>
            </a:r>
            <a:r>
              <a:rPr lang="zh-CN" altLang="en-US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和基本性质</a:t>
            </a:r>
          </a:p>
        </p:txBody>
      </p:sp>
      <p:sp>
        <p:nvSpPr>
          <p:cNvPr id="5" name="矩形 4"/>
          <p:cNvSpPr/>
          <p:nvPr/>
        </p:nvSpPr>
        <p:spPr>
          <a:xfrm>
            <a:off x="558381" y="2060848"/>
            <a:ext cx="7920880" cy="4461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/>
              <a:t>         线性规划（</a:t>
            </a:r>
            <a:r>
              <a:rPr lang="en-US" altLang="zh-CN" sz="2400" dirty="0"/>
              <a:t>Linear programming,</a:t>
            </a:r>
            <a:r>
              <a:rPr lang="zh-CN" altLang="en-US" sz="2400" dirty="0"/>
              <a:t>简称</a:t>
            </a:r>
            <a:r>
              <a:rPr lang="en-US" altLang="zh-CN" sz="2400" dirty="0"/>
              <a:t>LP</a:t>
            </a:r>
            <a:r>
              <a:rPr lang="zh-CN" altLang="en-US" sz="2400" dirty="0"/>
              <a:t>）是</a:t>
            </a:r>
            <a:r>
              <a:rPr lang="zh-CN" altLang="en-US" sz="2400" dirty="0">
                <a:hlinkClick r:id="rId3"/>
              </a:rPr>
              <a:t>运筹学</a:t>
            </a:r>
            <a:r>
              <a:rPr lang="zh-CN" altLang="en-US" sz="2400" dirty="0"/>
              <a:t>中研究较早、发展较快、应用广泛、方法较成熟的一个重要分支，它是辅助人们进行科学管理的一种数学方法，研究线性</a:t>
            </a:r>
            <a:r>
              <a:rPr lang="zh-CN" altLang="en-US" sz="2400" dirty="0">
                <a:hlinkClick r:id="rId4"/>
              </a:rPr>
              <a:t>约束条件</a:t>
            </a:r>
            <a:r>
              <a:rPr lang="zh-CN" altLang="en-US" sz="2400" dirty="0"/>
              <a:t>下线性目标函数的</a:t>
            </a:r>
            <a:r>
              <a:rPr lang="zh-CN" altLang="en-US" sz="2400" dirty="0">
                <a:hlinkClick r:id="rId5"/>
              </a:rPr>
              <a:t>极值</a:t>
            </a:r>
            <a:r>
              <a:rPr lang="zh-CN" altLang="en-US" sz="2400" dirty="0"/>
              <a:t>问题的数学理论和方法。英文缩写</a:t>
            </a:r>
            <a:r>
              <a:rPr lang="en-US" altLang="zh-CN" sz="2400" dirty="0"/>
              <a:t>LP</a:t>
            </a:r>
            <a:r>
              <a:rPr lang="zh-CN" altLang="en-US" sz="2400" dirty="0"/>
              <a:t>。它是运筹学的一个重要分支，广泛应用于军事作战、经济分析、经营管理和</a:t>
            </a:r>
            <a:r>
              <a:rPr lang="zh-CN" altLang="en-US" sz="2400" dirty="0">
                <a:hlinkClick r:id="rId6"/>
              </a:rPr>
              <a:t>工程技术</a:t>
            </a:r>
            <a:r>
              <a:rPr lang="zh-CN" altLang="en-US" sz="2400" dirty="0"/>
              <a:t>等方面。为合理地利用有限的人力、物力、财力等资源作出最优</a:t>
            </a:r>
            <a:r>
              <a:rPr lang="zh-CN" altLang="en-US" sz="2400" dirty="0">
                <a:hlinkClick r:id="rId7"/>
              </a:rPr>
              <a:t>决策</a:t>
            </a:r>
            <a:r>
              <a:rPr lang="zh-CN" altLang="en-US" sz="2400" dirty="0"/>
              <a:t>，提供科学的依据。</a:t>
            </a:r>
          </a:p>
        </p:txBody>
      </p:sp>
    </p:spTree>
    <p:extLst>
      <p:ext uri="{BB962C8B-B14F-4D97-AF65-F5344CB8AC3E}">
        <p14:creationId xmlns:p14="http://schemas.microsoft.com/office/powerpoint/2010/main" val="198171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179388" y="1052513"/>
            <a:ext cx="41783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例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美佳公司计划制造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+mn-ea"/>
                <a:ea typeface="+mn-ea"/>
              </a:rPr>
              <a:t>II</a:t>
            </a:r>
            <a:r>
              <a:rPr lang="zh-CN" altLang="en-US" dirty="0">
                <a:solidFill>
                  <a:schemeClr val="tx1"/>
                </a:solidFill>
                <a:latin typeface="+mn-ea"/>
                <a:ea typeface="+mn-ea"/>
              </a:rPr>
              <a:t>两种产品，下表给出了单位产品所需资源及单位产品利润。 </a:t>
            </a:r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015635"/>
              </p:ext>
            </p:extLst>
          </p:nvPr>
        </p:nvGraphicFramePr>
        <p:xfrm>
          <a:off x="179388" y="2565400"/>
          <a:ext cx="3657600" cy="242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4000628" imgH="2648190" progId="Word.Document.8">
                  <p:embed/>
                </p:oleObj>
              </mc:Choice>
              <mc:Fallback>
                <p:oleObj name="文档" r:id="rId2" imgW="4000628" imgH="264819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565400"/>
                        <a:ext cx="3657600" cy="2424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6"/>
          <p:cNvSpPr txBox="1">
            <a:spLocks noChangeArrowheads="1"/>
          </p:cNvSpPr>
          <p:nvPr/>
        </p:nvSpPr>
        <p:spPr bwMode="auto">
          <a:xfrm>
            <a:off x="179388" y="4868863"/>
            <a:ext cx="41767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  <a:latin typeface="+mn-ea"/>
                <a:ea typeface="+mn-ea"/>
              </a:rPr>
              <a:t>问：应如何安排生产计划，才能使总利润最大？           </a:t>
            </a:r>
          </a:p>
        </p:txBody>
      </p:sp>
      <p:sp>
        <p:nvSpPr>
          <p:cNvPr id="506927" name="Text Box 47"/>
          <p:cNvSpPr txBox="1">
            <a:spLocks noChangeArrowheads="1"/>
          </p:cNvSpPr>
          <p:nvPr/>
        </p:nvSpPr>
        <p:spPr bwMode="auto">
          <a:xfrm>
            <a:off x="4500563" y="1196975"/>
            <a:ext cx="792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latin typeface="+mn-ea"/>
                <a:ea typeface="+mn-ea"/>
              </a:rPr>
              <a:t>解：</a:t>
            </a:r>
            <a:endParaRPr lang="zh-CN" altLang="en-US" sz="2000" b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06928" name="Text Box 48"/>
          <p:cNvSpPr txBox="1">
            <a:spLocks noChangeArrowheads="1"/>
          </p:cNvSpPr>
          <p:nvPr/>
        </p:nvSpPr>
        <p:spPr bwMode="auto">
          <a:xfrm>
            <a:off x="4500563" y="1773238"/>
            <a:ext cx="41767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1.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决策变量：设产品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II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的产量</a:t>
            </a:r>
          </a:p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           分别为  </a:t>
            </a:r>
            <a:r>
              <a:rPr lang="en-US" altLang="zh-CN" sz="2000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zh-CN" altLang="en-US" sz="2000" i="1" dirty="0">
                <a:solidFill>
                  <a:schemeClr val="tx1"/>
                </a:solidFill>
                <a:latin typeface="+mn-ea"/>
                <a:ea typeface="+mn-ea"/>
              </a:rPr>
              <a:t>、</a:t>
            </a:r>
            <a:r>
              <a:rPr lang="en-US" altLang="zh-CN" sz="2000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000" i="1" baseline="-25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</a:p>
        </p:txBody>
      </p:sp>
      <p:sp>
        <p:nvSpPr>
          <p:cNvPr id="506929" name="Text Box 49"/>
          <p:cNvSpPr txBox="1">
            <a:spLocks noChangeArrowheads="1"/>
          </p:cNvSpPr>
          <p:nvPr/>
        </p:nvSpPr>
        <p:spPr bwMode="auto">
          <a:xfrm>
            <a:off x="4504205" y="2686189"/>
            <a:ext cx="42497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2.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目标函数：设总利润为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z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，则有：</a:t>
            </a:r>
          </a:p>
          <a:p>
            <a:pPr eaLnBrk="1" hangingPunct="1"/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            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max z = 2 </a:t>
            </a:r>
            <a:r>
              <a:rPr lang="en-US" altLang="zh-CN" sz="2000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+mn-ea"/>
                <a:ea typeface="+mn-ea"/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 + </a:t>
            </a:r>
            <a:r>
              <a:rPr lang="en-US" altLang="zh-CN" sz="2000" i="1" dirty="0">
                <a:solidFill>
                  <a:schemeClr val="tx1"/>
                </a:solidFill>
                <a:ea typeface="楷体_GB2312" pitchFamily="49" charset="-122"/>
              </a:rPr>
              <a:t>x</a:t>
            </a:r>
            <a:r>
              <a:rPr lang="en-US" altLang="zh-CN" sz="2000" baseline="-25000" dirty="0">
                <a:solidFill>
                  <a:schemeClr val="tx1"/>
                </a:solidFill>
                <a:latin typeface="+mn-ea"/>
                <a:ea typeface="+mn-ea"/>
              </a:rPr>
              <a:t>2</a:t>
            </a:r>
            <a:endParaRPr lang="en-US" altLang="zh-CN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06930" name="Text Box 50"/>
          <p:cNvSpPr txBox="1">
            <a:spLocks noChangeArrowheads="1"/>
          </p:cNvSpPr>
          <p:nvPr/>
        </p:nvSpPr>
        <p:spPr bwMode="auto">
          <a:xfrm>
            <a:off x="4533484" y="3573868"/>
            <a:ext cx="30241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solidFill>
                  <a:schemeClr val="tx1"/>
                </a:solidFill>
                <a:latin typeface="+mn-ea"/>
                <a:ea typeface="+mn-ea"/>
              </a:rPr>
              <a:t>3.</a:t>
            </a:r>
            <a:r>
              <a:rPr lang="zh-CN" altLang="en-US" sz="2000" dirty="0">
                <a:solidFill>
                  <a:schemeClr val="tx1"/>
                </a:solidFill>
                <a:latin typeface="+mn-ea"/>
                <a:ea typeface="+mn-ea"/>
              </a:rPr>
              <a:t>约束条件：</a:t>
            </a:r>
          </a:p>
          <a:p>
            <a:pPr eaLnBrk="1" hangingPunct="1"/>
            <a:r>
              <a:rPr lang="zh-CN" altLang="en-US" sz="2000" b="0" dirty="0">
                <a:solidFill>
                  <a:schemeClr val="tx1"/>
                </a:solidFill>
                <a:latin typeface="+mn-ea"/>
                <a:ea typeface="+mn-ea"/>
              </a:rPr>
              <a:t>                    </a:t>
            </a:r>
          </a:p>
        </p:txBody>
      </p:sp>
      <p:grpSp>
        <p:nvGrpSpPr>
          <p:cNvPr id="2" name="Group 51"/>
          <p:cNvGrpSpPr>
            <a:grpSpLocks/>
          </p:cNvGrpSpPr>
          <p:nvPr/>
        </p:nvGrpSpPr>
        <p:grpSpPr bwMode="auto">
          <a:xfrm>
            <a:off x="5651501" y="4281487"/>
            <a:ext cx="3492501" cy="1790700"/>
            <a:chOff x="3696" y="2969"/>
            <a:chExt cx="2200" cy="1128"/>
          </a:xfrm>
        </p:grpSpPr>
        <p:sp>
          <p:nvSpPr>
            <p:cNvPr id="1036" name="Rectangle 52"/>
            <p:cNvSpPr>
              <a:spLocks noChangeArrowheads="1"/>
            </p:cNvSpPr>
            <p:nvPr/>
          </p:nvSpPr>
          <p:spPr bwMode="auto">
            <a:xfrm>
              <a:off x="3809" y="2969"/>
              <a:ext cx="2087" cy="10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i="1" dirty="0">
                  <a:solidFill>
                    <a:schemeClr val="tx1"/>
                  </a:solidFill>
                  <a:latin typeface="+mn-ea"/>
                  <a:ea typeface="+mn-ea"/>
                </a:rPr>
                <a:t>                                  </a:t>
              </a:r>
            </a:p>
            <a:p>
              <a:pPr eaLnBrk="1" hangingPunct="1"/>
              <a:r>
                <a:rPr lang="en-US" altLang="zh-CN" sz="2000" b="0" i="1" dirty="0">
                  <a:solidFill>
                    <a:schemeClr val="tx1"/>
                  </a:solidFill>
                  <a:latin typeface="+mn-ea"/>
                  <a:ea typeface="+mn-ea"/>
                </a:rPr>
                <a:t>     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5</a:t>
              </a:r>
              <a:r>
                <a:rPr lang="en-US" altLang="zh-CN" sz="2000" i="1" dirty="0">
                  <a:solidFill>
                    <a:schemeClr val="tx1"/>
                  </a:solidFill>
                  <a:latin typeface="+mn-ea"/>
                  <a:ea typeface="+mn-ea"/>
                </a:rPr>
                <a:t>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 ≤ 15</a:t>
              </a:r>
            </a:p>
            <a:p>
              <a:pPr eaLnBrk="1" hangingPunct="1"/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6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+ 2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 ≤ 24</a:t>
              </a:r>
            </a:p>
            <a:p>
              <a:pPr eaLnBrk="1" hangingPunct="1"/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    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+  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2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 ≤ 5</a:t>
              </a:r>
            </a:p>
            <a:p>
              <a:pPr eaLnBrk="1" hangingPunct="1"/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 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1</a:t>
              </a:r>
              <a:r>
                <a:rPr lang="zh-CN" altLang="en-US" sz="2000" dirty="0">
                  <a:solidFill>
                    <a:schemeClr val="tx1"/>
                  </a:solidFill>
                  <a:latin typeface="+mn-ea"/>
                  <a:ea typeface="+mn-ea"/>
                </a:rPr>
                <a:t>，  </a:t>
              </a:r>
              <a:r>
                <a:rPr lang="en-US" altLang="zh-CN" sz="2000" i="1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sz="2000" baseline="-25000" dirty="0">
                  <a:solidFill>
                    <a:schemeClr val="tx1"/>
                  </a:solidFill>
                  <a:latin typeface="+mn-ea"/>
                  <a:ea typeface="+mn-ea"/>
                </a:rPr>
                <a:t>2  </a:t>
              </a:r>
              <a:r>
                <a:rPr lang="en-US" altLang="zh-CN" sz="2000" dirty="0">
                  <a:solidFill>
                    <a:schemeClr val="tx1"/>
                  </a:solidFill>
                  <a:latin typeface="+mn-ea"/>
                  <a:ea typeface="+mn-ea"/>
                </a:rPr>
                <a:t>≥0</a:t>
              </a:r>
            </a:p>
          </p:txBody>
        </p:sp>
        <p:sp>
          <p:nvSpPr>
            <p:cNvPr id="1037" name="AutoShape 53"/>
            <p:cNvSpPr>
              <a:spLocks/>
            </p:cNvSpPr>
            <p:nvPr/>
          </p:nvSpPr>
          <p:spPr bwMode="auto">
            <a:xfrm>
              <a:off x="3696" y="3022"/>
              <a:ext cx="40" cy="1075"/>
            </a:xfrm>
            <a:prstGeom prst="leftBrace">
              <a:avLst>
                <a:gd name="adj1" fmla="val 15614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5pPr>
              <a:lvl6pPr marL="25146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6pPr>
              <a:lvl7pPr marL="29718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7pPr>
              <a:lvl8pPr marL="34290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8pPr>
              <a:lvl9pPr marL="3886200" indent="-228600" eaLnBrk="0" fontAlgn="base" hangingPunct="0">
                <a:lnSpc>
                  <a:spcPct val="120000"/>
                </a:lnSpc>
                <a:spcBef>
                  <a:spcPct val="50000"/>
                </a:spcBef>
                <a:spcAft>
                  <a:spcPct val="0"/>
                </a:spcAft>
                <a:buSzPct val="85000"/>
                <a:defRPr kumimoji="1" sz="2400" b="1">
                  <a:solidFill>
                    <a:schemeClr val="bg2"/>
                  </a:solidFill>
                  <a:latin typeface="Times New Roman" panose="02020603050405020304" pitchFamily="18" charset="0"/>
                  <a:ea typeface="华文细黑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13" name="Text Box 50"/>
          <p:cNvSpPr txBox="1">
            <a:spLocks noChangeArrowheads="1"/>
          </p:cNvSpPr>
          <p:nvPr/>
        </p:nvSpPr>
        <p:spPr bwMode="auto">
          <a:xfrm>
            <a:off x="4932363" y="4868863"/>
            <a:ext cx="863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SzPct val="85000"/>
              <a:defRPr kumimoji="1" sz="2400" b="1">
                <a:solidFill>
                  <a:schemeClr val="bg2"/>
                </a:solidFill>
                <a:latin typeface="Times New Roman" panose="02020603050405020304" pitchFamily="18" charset="0"/>
                <a:ea typeface="华文细黑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tx1"/>
                </a:solidFill>
                <a:latin typeface="+mn-ea"/>
                <a:ea typeface="+mn-ea"/>
              </a:rPr>
              <a:t>s.t.</a:t>
            </a:r>
            <a:endParaRPr lang="zh-CN" altLang="en-US" sz="2000">
              <a:solidFill>
                <a:schemeClr val="tx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000" b="0">
                <a:solidFill>
                  <a:schemeClr val="tx1"/>
                </a:solidFill>
                <a:latin typeface="+mn-ea"/>
                <a:ea typeface="+mn-ea"/>
              </a:rPr>
              <a:t>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3359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6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0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0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927" grpId="0" autoUpdateAnimBg="0"/>
      <p:bldP spid="506928" grpId="0"/>
      <p:bldP spid="506929" grpId="0" autoUpdateAnimBg="0"/>
      <p:bldP spid="506930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2AD1669-8069-4994-B947-F9A8B40D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" y="44624"/>
            <a:ext cx="9144000" cy="413539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6F7D8F7-77B9-4C11-81F0-BEFD30750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248" y="4365104"/>
            <a:ext cx="50863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59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E80EAB8-52D3-4F51-B419-D9E486FF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8680"/>
            <a:ext cx="9144000" cy="538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3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6A32BBA-3251-40E0-B114-C13259567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648"/>
            <a:ext cx="9144000" cy="21820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9F6334-CE7C-4924-9BA1-555E1D66B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3987"/>
            <a:ext cx="9144000" cy="8450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930EAA7-7EE5-4DE6-AD18-BBFCBBAA75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701" y="3861048"/>
            <a:ext cx="9144000" cy="238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37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F366A69-192D-4A6B-A6E0-0576065F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901"/>
            <a:ext cx="9144000" cy="26814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C190DF8-C5C0-4F3A-A7D7-E81080F16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52936"/>
            <a:ext cx="9144000" cy="373519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FA4BD9D-4B28-9F1B-21D8-DE0BB92BE116}"/>
              </a:ext>
            </a:extLst>
          </p:cNvPr>
          <p:cNvSpPr/>
          <p:nvPr/>
        </p:nvSpPr>
        <p:spPr>
          <a:xfrm>
            <a:off x="107504" y="2996952"/>
            <a:ext cx="648072" cy="3600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BA8451-5000-C731-12C3-ED0149035CE8}"/>
              </a:ext>
            </a:extLst>
          </p:cNvPr>
          <p:cNvSpPr txBox="1"/>
          <p:nvPr/>
        </p:nvSpPr>
        <p:spPr>
          <a:xfrm>
            <a:off x="88436" y="2873423"/>
            <a:ext cx="936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min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00021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79512" y="476672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  <a:t>线性规划的数学模型</a:t>
            </a:r>
            <a:br>
              <a:rPr lang="en-US" altLang="zh-CN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itchFamily="2" charset="-122"/>
              </a:rPr>
            </a:b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97F0639-CD62-46F2-AE3B-6261FC932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0808"/>
            <a:ext cx="9144000" cy="3825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39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404664"/>
            <a:ext cx="8534400" cy="26670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0070C0"/>
                </a:solidFill>
                <a:latin typeface="宋体" pitchFamily="2" charset="-122"/>
              </a:rPr>
              <a:t>1.</a:t>
            </a:r>
            <a:r>
              <a:rPr lang="zh-CN" altLang="en-US" sz="4000" b="1" dirty="0">
                <a:solidFill>
                  <a:srgbClr val="0070C0"/>
                </a:solidFill>
                <a:latin typeface="宋体" pitchFamily="2" charset="-122"/>
              </a:rPr>
              <a:t>图解法</a:t>
            </a:r>
            <a:endParaRPr lang="en-US" altLang="zh-CN" sz="4000" b="1" dirty="0">
              <a:solidFill>
                <a:srgbClr val="0070C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4000" b="1" dirty="0">
              <a:solidFill>
                <a:srgbClr val="0070C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 max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2x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+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3x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endParaRPr lang="en-US" altLang="zh-CN" sz="2400" b="1" baseline="-25000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  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			1x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+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2x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8           ①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  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     4x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16          ②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s.t.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4x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≤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12      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③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          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，x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≥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0</a:t>
            </a:r>
            <a:endParaRPr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7172" name="AutoShape 4"/>
          <p:cNvSpPr>
            <a:spLocks/>
          </p:cNvSpPr>
          <p:nvPr/>
        </p:nvSpPr>
        <p:spPr bwMode="auto">
          <a:xfrm>
            <a:off x="2051720" y="1981200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b="1"/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304800" y="3276600"/>
            <a:ext cx="4038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  解：</a:t>
            </a:r>
          </a:p>
          <a:p>
            <a:pPr algn="just" eaLnBrk="1" hangingPunct="1"/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    (1)建立</a:t>
            </a:r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-</a:t>
            </a:r>
            <a:r>
              <a:rPr kumimoji="1" lang="en-US" altLang="zh-CN" sz="2400" b="1">
                <a:solidFill>
                  <a:srgbClr val="000000"/>
                </a:solidFill>
              </a:rPr>
              <a:t> </a:t>
            </a:r>
            <a:r>
              <a:rPr kumimoji="1" lang="en-US" altLang="zh-CN" sz="2400" b="1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</a:rPr>
              <a:t>坐标；</a:t>
            </a:r>
          </a:p>
        </p:txBody>
      </p:sp>
      <p:grpSp>
        <p:nvGrpSpPr>
          <p:cNvPr id="12296" name="Group 8"/>
          <p:cNvGrpSpPr>
            <a:grpSpLocks/>
          </p:cNvGrpSpPr>
          <p:nvPr/>
        </p:nvGrpSpPr>
        <p:grpSpPr bwMode="auto">
          <a:xfrm>
            <a:off x="4724400" y="3505200"/>
            <a:ext cx="3733800" cy="2133600"/>
            <a:chOff x="2832" y="2208"/>
            <a:chExt cx="2352" cy="1344"/>
          </a:xfrm>
        </p:grpSpPr>
        <p:sp>
          <p:nvSpPr>
            <p:cNvPr id="7199" name="Line 9"/>
            <p:cNvSpPr>
              <a:spLocks noChangeShapeType="1"/>
            </p:cNvSpPr>
            <p:nvPr/>
          </p:nvSpPr>
          <p:spPr bwMode="auto">
            <a:xfrm>
              <a:off x="3072" y="3456"/>
              <a:ext cx="18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200" name="Line 10"/>
            <p:cNvSpPr>
              <a:spLocks noChangeShapeType="1"/>
            </p:cNvSpPr>
            <p:nvPr/>
          </p:nvSpPr>
          <p:spPr bwMode="auto">
            <a:xfrm flipV="1">
              <a:off x="3072" y="2256"/>
              <a:ext cx="0" cy="1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201" name="Rectangle 11"/>
            <p:cNvSpPr>
              <a:spLocks noChangeArrowheads="1"/>
            </p:cNvSpPr>
            <p:nvPr/>
          </p:nvSpPr>
          <p:spPr bwMode="auto">
            <a:xfrm>
              <a:off x="2832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/>
                <a:t>x</a:t>
              </a:r>
              <a:r>
                <a:rPr lang="en-US" altLang="zh-CN" sz="1400" b="1" baseline="-25000"/>
                <a:t>2</a:t>
              </a:r>
            </a:p>
          </p:txBody>
        </p:sp>
        <p:sp>
          <p:nvSpPr>
            <p:cNvPr id="7202" name="Rectangle 12"/>
            <p:cNvSpPr>
              <a:spLocks noChangeArrowheads="1"/>
            </p:cNvSpPr>
            <p:nvPr/>
          </p:nvSpPr>
          <p:spPr bwMode="auto">
            <a:xfrm>
              <a:off x="4896" y="336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 b="1"/>
                <a:t>x</a:t>
              </a:r>
              <a:r>
                <a:rPr lang="en-US" altLang="zh-CN" sz="1400" b="1" baseline="-25000"/>
                <a:t>1</a:t>
              </a:r>
            </a:p>
          </p:txBody>
        </p:sp>
      </p:grpSp>
      <p:sp>
        <p:nvSpPr>
          <p:cNvPr id="12301" name="Text Box 13"/>
          <p:cNvSpPr txBox="1">
            <a:spLocks noChangeArrowheads="1"/>
          </p:cNvSpPr>
          <p:nvPr/>
        </p:nvSpPr>
        <p:spPr bwMode="auto">
          <a:xfrm>
            <a:off x="304800" y="41148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   (2)约束条件的几何表示；</a:t>
            </a:r>
            <a:r>
              <a:rPr kumimoji="1" lang="zh-CN" altLang="en-US" sz="2400" b="1">
                <a:latin typeface="宋体" pitchFamily="2" charset="-122"/>
              </a:rPr>
              <a:t> </a:t>
            </a:r>
          </a:p>
        </p:txBody>
      </p:sp>
      <p:grpSp>
        <p:nvGrpSpPr>
          <p:cNvPr id="12312" name="Group 24"/>
          <p:cNvGrpSpPr>
            <a:grpSpLocks/>
          </p:cNvGrpSpPr>
          <p:nvPr/>
        </p:nvGrpSpPr>
        <p:grpSpPr bwMode="auto">
          <a:xfrm>
            <a:off x="5334000" y="3810000"/>
            <a:ext cx="2819400" cy="1295400"/>
            <a:chOff x="3168" y="2352"/>
            <a:chExt cx="1776" cy="816"/>
          </a:xfrm>
        </p:grpSpPr>
        <p:sp>
          <p:nvSpPr>
            <p:cNvPr id="7197" name="Line 25"/>
            <p:cNvSpPr>
              <a:spLocks noChangeShapeType="1"/>
            </p:cNvSpPr>
            <p:nvPr/>
          </p:nvSpPr>
          <p:spPr bwMode="auto">
            <a:xfrm>
              <a:off x="3168" y="2352"/>
              <a:ext cx="1632" cy="81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198" name="Rectangle 26"/>
            <p:cNvSpPr>
              <a:spLocks noChangeArrowheads="1"/>
            </p:cNvSpPr>
            <p:nvPr/>
          </p:nvSpPr>
          <p:spPr bwMode="auto">
            <a:xfrm>
              <a:off x="4560" y="2880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000" b="1"/>
                <a:t>①</a:t>
              </a:r>
            </a:p>
          </p:txBody>
        </p:sp>
      </p:grpSp>
      <p:grpSp>
        <p:nvGrpSpPr>
          <p:cNvPr id="12315" name="Group 27"/>
          <p:cNvGrpSpPr>
            <a:grpSpLocks/>
          </p:cNvGrpSpPr>
          <p:nvPr/>
        </p:nvGrpSpPr>
        <p:grpSpPr bwMode="auto">
          <a:xfrm>
            <a:off x="6934200" y="3429000"/>
            <a:ext cx="304800" cy="2362200"/>
            <a:chOff x="4224" y="2160"/>
            <a:chExt cx="192" cy="1488"/>
          </a:xfrm>
        </p:grpSpPr>
        <p:sp>
          <p:nvSpPr>
            <p:cNvPr id="7193" name="Line 28"/>
            <p:cNvSpPr>
              <a:spLocks noChangeShapeType="1"/>
            </p:cNvSpPr>
            <p:nvPr/>
          </p:nvSpPr>
          <p:spPr bwMode="auto">
            <a:xfrm>
              <a:off x="4224" y="2256"/>
              <a:ext cx="1" cy="139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194" name="Rectangle 29"/>
            <p:cNvSpPr>
              <a:spLocks noChangeArrowheads="1"/>
            </p:cNvSpPr>
            <p:nvPr/>
          </p:nvSpPr>
          <p:spPr bwMode="auto">
            <a:xfrm>
              <a:off x="4224" y="2160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000" b="1"/>
                <a:t>②</a:t>
              </a:r>
            </a:p>
          </p:txBody>
        </p:sp>
        <p:sp>
          <p:nvSpPr>
            <p:cNvPr id="7195" name="Rectangle 30"/>
            <p:cNvSpPr>
              <a:spLocks noChangeArrowheads="1"/>
            </p:cNvSpPr>
            <p:nvPr/>
          </p:nvSpPr>
          <p:spPr bwMode="auto">
            <a:xfrm>
              <a:off x="4224" y="3504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Q</a:t>
              </a:r>
              <a:r>
                <a:rPr lang="en-US" altLang="zh-CN" b="1" baseline="-25000"/>
                <a:t>1</a:t>
              </a:r>
            </a:p>
          </p:txBody>
        </p:sp>
        <p:sp>
          <p:nvSpPr>
            <p:cNvPr id="7196" name="Rectangle 31"/>
            <p:cNvSpPr>
              <a:spLocks noChangeArrowheads="1"/>
            </p:cNvSpPr>
            <p:nvPr/>
          </p:nvSpPr>
          <p:spPr bwMode="auto">
            <a:xfrm>
              <a:off x="4224" y="2736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Q</a:t>
              </a:r>
              <a:r>
                <a:rPr lang="en-US" altLang="zh-CN" b="1" baseline="-25000"/>
                <a:t>2</a:t>
              </a:r>
            </a:p>
          </p:txBody>
        </p:sp>
      </p:grpSp>
      <p:grpSp>
        <p:nvGrpSpPr>
          <p:cNvPr id="12320" name="Group 32"/>
          <p:cNvGrpSpPr>
            <a:grpSpLocks/>
          </p:cNvGrpSpPr>
          <p:nvPr/>
        </p:nvGrpSpPr>
        <p:grpSpPr bwMode="auto">
          <a:xfrm>
            <a:off x="4800600" y="3806825"/>
            <a:ext cx="3048000" cy="307975"/>
            <a:chOff x="2880" y="2400"/>
            <a:chExt cx="1920" cy="193"/>
          </a:xfrm>
        </p:grpSpPr>
        <p:sp>
          <p:nvSpPr>
            <p:cNvPr id="7189" name="Line 33"/>
            <p:cNvSpPr>
              <a:spLocks noChangeShapeType="1"/>
            </p:cNvSpPr>
            <p:nvPr/>
          </p:nvSpPr>
          <p:spPr bwMode="auto">
            <a:xfrm>
              <a:off x="2880" y="2592"/>
              <a:ext cx="1776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190" name="Rectangle 34"/>
            <p:cNvSpPr>
              <a:spLocks noChangeArrowheads="1"/>
            </p:cNvSpPr>
            <p:nvPr/>
          </p:nvSpPr>
          <p:spPr bwMode="auto">
            <a:xfrm>
              <a:off x="4608" y="2400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000" b="1"/>
                <a:t>③</a:t>
              </a:r>
            </a:p>
          </p:txBody>
        </p:sp>
        <p:sp>
          <p:nvSpPr>
            <p:cNvPr id="7191" name="Rectangle 35"/>
            <p:cNvSpPr>
              <a:spLocks noChangeArrowheads="1"/>
            </p:cNvSpPr>
            <p:nvPr/>
          </p:nvSpPr>
          <p:spPr bwMode="auto">
            <a:xfrm>
              <a:off x="3600" y="2400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Q</a:t>
              </a:r>
              <a:r>
                <a:rPr lang="en-US" altLang="zh-CN" b="1" baseline="-25000"/>
                <a:t>3</a:t>
              </a:r>
            </a:p>
          </p:txBody>
        </p:sp>
        <p:sp>
          <p:nvSpPr>
            <p:cNvPr id="7192" name="Rectangle 36"/>
            <p:cNvSpPr>
              <a:spLocks noChangeArrowheads="1"/>
            </p:cNvSpPr>
            <p:nvPr/>
          </p:nvSpPr>
          <p:spPr bwMode="auto">
            <a:xfrm>
              <a:off x="2880" y="2400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b="1"/>
                <a:t>Q</a:t>
              </a:r>
              <a:r>
                <a:rPr lang="en-US" altLang="zh-CN" b="1" baseline="-25000"/>
                <a:t>4</a:t>
              </a:r>
            </a:p>
          </p:txBody>
        </p:sp>
      </p:grpSp>
      <p:sp>
        <p:nvSpPr>
          <p:cNvPr id="12325" name="Text Box 37"/>
          <p:cNvSpPr txBox="1">
            <a:spLocks noChangeArrowheads="1"/>
          </p:cNvSpPr>
          <p:nvPr/>
        </p:nvSpPr>
        <p:spPr bwMode="auto">
          <a:xfrm>
            <a:off x="304800" y="45720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宋体" pitchFamily="2" charset="-122"/>
                <a:cs typeface="Times New Roman" pitchFamily="18" charset="0"/>
              </a:rPr>
              <a:t>    (3)目标函数的几何表示；</a:t>
            </a:r>
            <a:r>
              <a:rPr kumimoji="1" lang="zh-CN" altLang="en-US" sz="2400" b="1">
                <a:latin typeface="宋体" pitchFamily="2" charset="-122"/>
              </a:rPr>
              <a:t> </a:t>
            </a:r>
          </a:p>
        </p:txBody>
      </p:sp>
      <p:grpSp>
        <p:nvGrpSpPr>
          <p:cNvPr id="12326" name="Group 38"/>
          <p:cNvGrpSpPr>
            <a:grpSpLocks/>
          </p:cNvGrpSpPr>
          <p:nvPr/>
        </p:nvGrpSpPr>
        <p:grpSpPr bwMode="auto">
          <a:xfrm>
            <a:off x="4191000" y="4800600"/>
            <a:ext cx="2057400" cy="1447800"/>
            <a:chOff x="2448" y="2976"/>
            <a:chExt cx="1296" cy="912"/>
          </a:xfrm>
        </p:grpSpPr>
        <p:sp>
          <p:nvSpPr>
            <p:cNvPr id="7187" name="Line 39"/>
            <p:cNvSpPr>
              <a:spLocks noChangeShapeType="1"/>
            </p:cNvSpPr>
            <p:nvPr/>
          </p:nvSpPr>
          <p:spPr bwMode="auto">
            <a:xfrm>
              <a:off x="2448" y="2976"/>
              <a:ext cx="1200" cy="912"/>
            </a:xfrm>
            <a:prstGeom prst="line">
              <a:avLst/>
            </a:prstGeom>
            <a:noFill/>
            <a:ln w="22225">
              <a:solidFill>
                <a:srgbClr val="66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7188" name="Rectangle 40"/>
            <p:cNvSpPr>
              <a:spLocks noChangeArrowheads="1"/>
            </p:cNvSpPr>
            <p:nvPr/>
          </p:nvSpPr>
          <p:spPr bwMode="auto">
            <a:xfrm>
              <a:off x="3648" y="3792"/>
              <a:ext cx="9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800" b="1">
                  <a:solidFill>
                    <a:srgbClr val="660066"/>
                  </a:solidFill>
                </a:rPr>
                <a:t>*</a:t>
              </a:r>
            </a:p>
          </p:txBody>
        </p:sp>
      </p:grpSp>
      <p:sp>
        <p:nvSpPr>
          <p:cNvPr id="12336" name="Freeform 48" descr="浅色横线"/>
          <p:cNvSpPr>
            <a:spLocks/>
          </p:cNvSpPr>
          <p:nvPr/>
        </p:nvSpPr>
        <p:spPr bwMode="auto">
          <a:xfrm>
            <a:off x="5105400" y="4114800"/>
            <a:ext cx="1828800" cy="1371600"/>
          </a:xfrm>
          <a:custGeom>
            <a:avLst/>
            <a:gdLst>
              <a:gd name="T0" fmla="*/ 0 w 1152"/>
              <a:gd name="T1" fmla="*/ 2147483647 h 864"/>
              <a:gd name="T2" fmla="*/ 0 w 1152"/>
              <a:gd name="T3" fmla="*/ 0 h 864"/>
              <a:gd name="T4" fmla="*/ 2147483647 w 1152"/>
              <a:gd name="T5" fmla="*/ 0 h 864"/>
              <a:gd name="T6" fmla="*/ 2147483647 w 1152"/>
              <a:gd name="T7" fmla="*/ 2147483647 h 864"/>
              <a:gd name="T8" fmla="*/ 2147483647 w 1152"/>
              <a:gd name="T9" fmla="*/ 2147483647 h 864"/>
              <a:gd name="T10" fmla="*/ 0 w 1152"/>
              <a:gd name="T11" fmla="*/ 2147483647 h 86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52" h="864">
                <a:moveTo>
                  <a:pt x="0" y="864"/>
                </a:moveTo>
                <a:lnTo>
                  <a:pt x="0" y="0"/>
                </a:lnTo>
                <a:lnTo>
                  <a:pt x="552" y="0"/>
                </a:lnTo>
                <a:lnTo>
                  <a:pt x="1152" y="324"/>
                </a:lnTo>
                <a:lnTo>
                  <a:pt x="1152" y="864"/>
                </a:lnTo>
                <a:lnTo>
                  <a:pt x="0" y="864"/>
                </a:lnTo>
                <a:close/>
              </a:path>
            </a:pathLst>
          </a:custGeom>
          <a:pattFill prst="ltHorz">
            <a:fgClr>
              <a:schemeClr val="tx1"/>
            </a:fgClr>
            <a:bgClr>
              <a:schemeClr val="bg1"/>
            </a:bgClr>
          </a:pattFill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b="1"/>
          </a:p>
        </p:txBody>
      </p:sp>
      <p:sp>
        <p:nvSpPr>
          <p:cNvPr id="7183" name="Text Box 49"/>
          <p:cNvSpPr txBox="1">
            <a:spLocks noChangeArrowheads="1"/>
          </p:cNvSpPr>
          <p:nvPr/>
        </p:nvSpPr>
        <p:spPr bwMode="auto">
          <a:xfrm>
            <a:off x="4876800" y="5334000"/>
            <a:ext cx="228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en-US" altLang="zh-CN" sz="2400" b="1">
                <a:latin typeface="宋体" pitchFamily="2" charset="-122"/>
              </a:rPr>
              <a:t>o</a:t>
            </a:r>
          </a:p>
        </p:txBody>
      </p:sp>
      <p:sp>
        <p:nvSpPr>
          <p:cNvPr id="7184" name="Text Box 50"/>
          <p:cNvSpPr txBox="1">
            <a:spLocks noChangeArrowheads="1"/>
          </p:cNvSpPr>
          <p:nvPr/>
        </p:nvSpPr>
        <p:spPr bwMode="auto">
          <a:xfrm>
            <a:off x="6781800" y="5486400"/>
            <a:ext cx="152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4</a:t>
            </a:r>
          </a:p>
        </p:txBody>
      </p:sp>
      <p:sp>
        <p:nvSpPr>
          <p:cNvPr id="7185" name="Text Box 51"/>
          <p:cNvSpPr txBox="1">
            <a:spLocks noChangeArrowheads="1"/>
          </p:cNvSpPr>
          <p:nvPr/>
        </p:nvSpPr>
        <p:spPr bwMode="auto">
          <a:xfrm>
            <a:off x="4876800" y="4068763"/>
            <a:ext cx="1524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285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utoUpdateAnimBg="0"/>
      <p:bldP spid="12301" grpId="0" autoUpdateAnimBg="0"/>
      <p:bldP spid="12325" grpId="0" autoUpdateAnimBg="0"/>
      <p:bldP spid="123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762000"/>
            <a:ext cx="8534400" cy="198120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  首先取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z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0，</a:t>
            </a: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然后，使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z</a:t>
            </a: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渐增大，直至找到最优解所对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应的点。</a:t>
            </a:r>
            <a:endParaRPr lang="zh-CN" altLang="en-US" sz="2400" b="1" dirty="0"/>
          </a:p>
        </p:txBody>
      </p:sp>
      <p:grpSp>
        <p:nvGrpSpPr>
          <p:cNvPr id="15386" name="Group 26"/>
          <p:cNvGrpSpPr>
            <a:grpSpLocks/>
          </p:cNvGrpSpPr>
          <p:nvPr/>
        </p:nvGrpSpPr>
        <p:grpSpPr bwMode="auto">
          <a:xfrm>
            <a:off x="6019800" y="1143000"/>
            <a:ext cx="2057400" cy="1447800"/>
            <a:chOff x="2448" y="2976"/>
            <a:chExt cx="1296" cy="912"/>
          </a:xfrm>
        </p:grpSpPr>
        <p:sp>
          <p:nvSpPr>
            <p:cNvPr id="8223" name="Line 27"/>
            <p:cNvSpPr>
              <a:spLocks noChangeShapeType="1"/>
            </p:cNvSpPr>
            <p:nvPr/>
          </p:nvSpPr>
          <p:spPr bwMode="auto">
            <a:xfrm>
              <a:off x="2448" y="2976"/>
              <a:ext cx="1200" cy="912"/>
            </a:xfrm>
            <a:prstGeom prst="line">
              <a:avLst/>
            </a:prstGeom>
            <a:noFill/>
            <a:ln w="22225">
              <a:solidFill>
                <a:srgbClr val="660066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  <p:sp>
          <p:nvSpPr>
            <p:cNvPr id="8224" name="Rectangle 28"/>
            <p:cNvSpPr>
              <a:spLocks noChangeArrowheads="1"/>
            </p:cNvSpPr>
            <p:nvPr/>
          </p:nvSpPr>
          <p:spPr bwMode="auto">
            <a:xfrm>
              <a:off x="3648" y="3792"/>
              <a:ext cx="96" cy="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222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2800" b="1">
                  <a:solidFill>
                    <a:srgbClr val="660066"/>
                  </a:solidFill>
                </a:rPr>
                <a:t>*</a:t>
              </a:r>
            </a:p>
          </p:txBody>
        </p:sp>
      </p:grpSp>
      <p:grpSp>
        <p:nvGrpSpPr>
          <p:cNvPr id="8198" name="Group 31"/>
          <p:cNvGrpSpPr>
            <a:grpSpLocks/>
          </p:cNvGrpSpPr>
          <p:nvPr/>
        </p:nvGrpSpPr>
        <p:grpSpPr bwMode="auto">
          <a:xfrm>
            <a:off x="4191000" y="762000"/>
            <a:ext cx="4343400" cy="2743200"/>
            <a:chOff x="2640" y="480"/>
            <a:chExt cx="2736" cy="1728"/>
          </a:xfrm>
        </p:grpSpPr>
        <p:grpSp>
          <p:nvGrpSpPr>
            <p:cNvPr id="8201" name="Group 5"/>
            <p:cNvGrpSpPr>
              <a:grpSpLocks/>
            </p:cNvGrpSpPr>
            <p:nvPr/>
          </p:nvGrpSpPr>
          <p:grpSpPr bwMode="auto">
            <a:xfrm>
              <a:off x="3024" y="528"/>
              <a:ext cx="2352" cy="1344"/>
              <a:chOff x="2832" y="2208"/>
              <a:chExt cx="2352" cy="1344"/>
            </a:xfrm>
          </p:grpSpPr>
          <p:sp>
            <p:nvSpPr>
              <p:cNvPr id="8219" name="Line 6"/>
              <p:cNvSpPr>
                <a:spLocks noChangeShapeType="1"/>
              </p:cNvSpPr>
              <p:nvPr/>
            </p:nvSpPr>
            <p:spPr bwMode="auto">
              <a:xfrm>
                <a:off x="3072" y="3456"/>
                <a:ext cx="1872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20" name="Line 7"/>
              <p:cNvSpPr>
                <a:spLocks noChangeShapeType="1"/>
              </p:cNvSpPr>
              <p:nvPr/>
            </p:nvSpPr>
            <p:spPr bwMode="auto">
              <a:xfrm flipV="1">
                <a:off x="3072" y="2256"/>
                <a:ext cx="0" cy="120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21" name="Rectangle 8"/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sz="1400" b="1"/>
                  <a:t>x</a:t>
                </a:r>
                <a:r>
                  <a:rPr lang="en-US" altLang="zh-CN" sz="1400" b="1" baseline="-25000"/>
                  <a:t>2</a:t>
                </a:r>
              </a:p>
            </p:txBody>
          </p:sp>
          <p:sp>
            <p:nvSpPr>
              <p:cNvPr id="8222" name="Rectangle 9"/>
              <p:cNvSpPr>
                <a:spLocks noChangeArrowheads="1"/>
              </p:cNvSpPr>
              <p:nvPr/>
            </p:nvSpPr>
            <p:spPr bwMode="auto">
              <a:xfrm>
                <a:off x="4896" y="3360"/>
                <a:ext cx="28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sz="1400" b="1"/>
                  <a:t>x</a:t>
                </a:r>
                <a:r>
                  <a:rPr lang="en-US" altLang="zh-CN" sz="1400" b="1" baseline="-25000"/>
                  <a:t>1</a:t>
                </a:r>
              </a:p>
            </p:txBody>
          </p:sp>
        </p:grpSp>
        <p:grpSp>
          <p:nvGrpSpPr>
            <p:cNvPr id="8202" name="Group 10"/>
            <p:cNvGrpSpPr>
              <a:grpSpLocks/>
            </p:cNvGrpSpPr>
            <p:nvPr/>
          </p:nvGrpSpPr>
          <p:grpSpPr bwMode="auto">
            <a:xfrm>
              <a:off x="3360" y="672"/>
              <a:ext cx="1776" cy="816"/>
              <a:chOff x="3168" y="2352"/>
              <a:chExt cx="1776" cy="816"/>
            </a:xfrm>
          </p:grpSpPr>
          <p:sp>
            <p:nvSpPr>
              <p:cNvPr id="8217" name="Line 11"/>
              <p:cNvSpPr>
                <a:spLocks noChangeShapeType="1"/>
              </p:cNvSpPr>
              <p:nvPr/>
            </p:nvSpPr>
            <p:spPr bwMode="auto">
              <a:xfrm>
                <a:off x="3168" y="2352"/>
                <a:ext cx="1632" cy="81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18" name="Rectangle 12"/>
              <p:cNvSpPr>
                <a:spLocks noChangeArrowheads="1"/>
              </p:cNvSpPr>
              <p:nvPr/>
            </p:nvSpPr>
            <p:spPr bwMode="auto">
              <a:xfrm>
                <a:off x="4560" y="2880"/>
                <a:ext cx="38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 b="1"/>
                  <a:t>①</a:t>
                </a:r>
              </a:p>
            </p:txBody>
          </p:sp>
        </p:grpSp>
        <p:grpSp>
          <p:nvGrpSpPr>
            <p:cNvPr id="8203" name="Group 13"/>
            <p:cNvGrpSpPr>
              <a:grpSpLocks/>
            </p:cNvGrpSpPr>
            <p:nvPr/>
          </p:nvGrpSpPr>
          <p:grpSpPr bwMode="auto">
            <a:xfrm>
              <a:off x="4416" y="480"/>
              <a:ext cx="528" cy="1488"/>
              <a:chOff x="4656" y="480"/>
              <a:chExt cx="528" cy="1488"/>
            </a:xfrm>
          </p:grpSpPr>
          <p:sp>
            <p:nvSpPr>
              <p:cNvPr id="8213" name="Line 14"/>
              <p:cNvSpPr>
                <a:spLocks noChangeShapeType="1"/>
              </p:cNvSpPr>
              <p:nvPr/>
            </p:nvSpPr>
            <p:spPr bwMode="auto">
              <a:xfrm>
                <a:off x="4656" y="576"/>
                <a:ext cx="1" cy="139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14" name="Rectangle 15"/>
              <p:cNvSpPr>
                <a:spLocks noChangeArrowheads="1"/>
              </p:cNvSpPr>
              <p:nvPr/>
            </p:nvSpPr>
            <p:spPr bwMode="auto">
              <a:xfrm>
                <a:off x="4656" y="48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 b="1"/>
                  <a:t>②</a:t>
                </a:r>
              </a:p>
            </p:txBody>
          </p:sp>
          <p:sp>
            <p:nvSpPr>
              <p:cNvPr id="8215" name="Rectangle 16"/>
              <p:cNvSpPr>
                <a:spLocks noChangeArrowheads="1"/>
              </p:cNvSpPr>
              <p:nvPr/>
            </p:nvSpPr>
            <p:spPr bwMode="auto">
              <a:xfrm>
                <a:off x="4656" y="1824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Q</a:t>
                </a:r>
                <a:r>
                  <a:rPr lang="en-US" altLang="zh-CN" b="1" baseline="-25000"/>
                  <a:t>1</a:t>
                </a:r>
              </a:p>
            </p:txBody>
          </p:sp>
          <p:sp>
            <p:nvSpPr>
              <p:cNvPr id="8216" name="Rectangle 17"/>
              <p:cNvSpPr>
                <a:spLocks noChangeArrowheads="1"/>
              </p:cNvSpPr>
              <p:nvPr/>
            </p:nvSpPr>
            <p:spPr bwMode="auto">
              <a:xfrm>
                <a:off x="4656" y="1056"/>
                <a:ext cx="528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>
                    <a:solidFill>
                      <a:srgbClr val="FF0000"/>
                    </a:solidFill>
                  </a:rPr>
                  <a:t>Q</a:t>
                </a:r>
                <a:r>
                  <a:rPr lang="en-US" altLang="zh-CN" b="1" baseline="-25000">
                    <a:solidFill>
                      <a:srgbClr val="FF0000"/>
                    </a:solidFill>
                  </a:rPr>
                  <a:t>2</a:t>
                </a:r>
                <a:r>
                  <a:rPr lang="en-US" altLang="zh-CN" b="1">
                    <a:solidFill>
                      <a:srgbClr val="FF0000"/>
                    </a:solidFill>
                  </a:rPr>
                  <a:t>(4,2)</a:t>
                </a:r>
              </a:p>
            </p:txBody>
          </p:sp>
        </p:grpSp>
        <p:grpSp>
          <p:nvGrpSpPr>
            <p:cNvPr id="8204" name="Group 18"/>
            <p:cNvGrpSpPr>
              <a:grpSpLocks/>
            </p:cNvGrpSpPr>
            <p:nvPr/>
          </p:nvGrpSpPr>
          <p:grpSpPr bwMode="auto">
            <a:xfrm>
              <a:off x="3072" y="720"/>
              <a:ext cx="1920" cy="193"/>
              <a:chOff x="2880" y="2400"/>
              <a:chExt cx="1920" cy="193"/>
            </a:xfrm>
          </p:grpSpPr>
          <p:sp>
            <p:nvSpPr>
              <p:cNvPr id="8209" name="Line 19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177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10" name="Rectangle 20"/>
              <p:cNvSpPr>
                <a:spLocks noChangeArrowheads="1"/>
              </p:cNvSpPr>
              <p:nvPr/>
            </p:nvSpPr>
            <p:spPr bwMode="auto">
              <a:xfrm>
                <a:off x="4608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 b="1"/>
                  <a:t>③</a:t>
                </a:r>
              </a:p>
            </p:txBody>
          </p:sp>
          <p:sp>
            <p:nvSpPr>
              <p:cNvPr id="8211" name="Rectangle 21"/>
              <p:cNvSpPr>
                <a:spLocks noChangeArrowheads="1"/>
              </p:cNvSpPr>
              <p:nvPr/>
            </p:nvSpPr>
            <p:spPr bwMode="auto">
              <a:xfrm>
                <a:off x="360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Q</a:t>
                </a:r>
                <a:r>
                  <a:rPr lang="en-US" altLang="zh-CN" b="1" baseline="-25000"/>
                  <a:t>3</a:t>
                </a:r>
              </a:p>
            </p:txBody>
          </p:sp>
          <p:sp>
            <p:nvSpPr>
              <p:cNvPr id="8212" name="Rectangle 22"/>
              <p:cNvSpPr>
                <a:spLocks noChangeArrowheads="1"/>
              </p:cNvSpPr>
              <p:nvPr/>
            </p:nvSpPr>
            <p:spPr bwMode="auto">
              <a:xfrm>
                <a:off x="288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 b="1"/>
                  <a:t>Q</a:t>
                </a:r>
                <a:r>
                  <a:rPr lang="en-US" altLang="zh-CN" b="1" baseline="-25000"/>
                  <a:t>4</a:t>
                </a:r>
              </a:p>
            </p:txBody>
          </p:sp>
        </p:grpSp>
        <p:grpSp>
          <p:nvGrpSpPr>
            <p:cNvPr id="8205" name="Group 23"/>
            <p:cNvGrpSpPr>
              <a:grpSpLocks/>
            </p:cNvGrpSpPr>
            <p:nvPr/>
          </p:nvGrpSpPr>
          <p:grpSpPr bwMode="auto">
            <a:xfrm>
              <a:off x="2640" y="1296"/>
              <a:ext cx="1296" cy="912"/>
              <a:chOff x="2448" y="2976"/>
              <a:chExt cx="1296" cy="912"/>
            </a:xfrm>
          </p:grpSpPr>
          <p:sp>
            <p:nvSpPr>
              <p:cNvPr id="8207" name="Line 24"/>
              <p:cNvSpPr>
                <a:spLocks noChangeShapeType="1"/>
              </p:cNvSpPr>
              <p:nvPr/>
            </p:nvSpPr>
            <p:spPr bwMode="auto">
              <a:xfrm>
                <a:off x="2448" y="2976"/>
                <a:ext cx="1200" cy="912"/>
              </a:xfrm>
              <a:prstGeom prst="line">
                <a:avLst/>
              </a:prstGeom>
              <a:noFill/>
              <a:ln w="22225">
                <a:solidFill>
                  <a:srgbClr val="660066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b="1"/>
              </a:p>
            </p:txBody>
          </p:sp>
          <p:sp>
            <p:nvSpPr>
              <p:cNvPr id="8208" name="Rectangle 25"/>
              <p:cNvSpPr>
                <a:spLocks noChangeArrowheads="1"/>
              </p:cNvSpPr>
              <p:nvPr/>
            </p:nvSpPr>
            <p:spPr bwMode="auto">
              <a:xfrm>
                <a:off x="3648" y="3792"/>
                <a:ext cx="96" cy="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0000"/>
                    </a:solidFill>
                  </a14:hiddenFill>
                </a:ext>
                <a:ext uri="{91240B29-F687-4F45-9708-019B960494DF}">
                  <a14:hiddenLine xmlns:a14="http://schemas.microsoft.com/office/drawing/2010/main" w="222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800" b="1">
                    <a:solidFill>
                      <a:srgbClr val="660066"/>
                    </a:solidFill>
                  </a:rPr>
                  <a:t>*</a:t>
                </a:r>
              </a:p>
            </p:txBody>
          </p:sp>
        </p:grpSp>
        <p:sp>
          <p:nvSpPr>
            <p:cNvPr id="8206" name="Freeform 30" descr="浅色横线"/>
            <p:cNvSpPr>
              <a:spLocks/>
            </p:cNvSpPr>
            <p:nvPr/>
          </p:nvSpPr>
          <p:spPr bwMode="auto">
            <a:xfrm>
              <a:off x="3264" y="912"/>
              <a:ext cx="1152" cy="864"/>
            </a:xfrm>
            <a:custGeom>
              <a:avLst/>
              <a:gdLst>
                <a:gd name="T0" fmla="*/ 0 w 1152"/>
                <a:gd name="T1" fmla="*/ 864 h 864"/>
                <a:gd name="T2" fmla="*/ 0 w 1152"/>
                <a:gd name="T3" fmla="*/ 0 h 864"/>
                <a:gd name="T4" fmla="*/ 576 w 1152"/>
                <a:gd name="T5" fmla="*/ 0 h 864"/>
                <a:gd name="T6" fmla="*/ 1152 w 1152"/>
                <a:gd name="T7" fmla="*/ 288 h 864"/>
                <a:gd name="T8" fmla="*/ 1152 w 1152"/>
                <a:gd name="T9" fmla="*/ 864 h 864"/>
                <a:gd name="T10" fmla="*/ 0 w 1152"/>
                <a:gd name="T11" fmla="*/ 864 h 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52" h="864">
                  <a:moveTo>
                    <a:pt x="0" y="864"/>
                  </a:moveTo>
                  <a:lnTo>
                    <a:pt x="0" y="0"/>
                  </a:lnTo>
                  <a:lnTo>
                    <a:pt x="576" y="0"/>
                  </a:lnTo>
                  <a:lnTo>
                    <a:pt x="1152" y="288"/>
                  </a:lnTo>
                  <a:lnTo>
                    <a:pt x="1152" y="864"/>
                  </a:lnTo>
                  <a:lnTo>
                    <a:pt x="0" y="864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b="1"/>
            </a:p>
          </p:txBody>
        </p:sp>
      </p:grpSp>
      <p:sp>
        <p:nvSpPr>
          <p:cNvPr id="8199" name="Text Box 32"/>
          <p:cNvSpPr txBox="1">
            <a:spLocks noChangeArrowheads="1"/>
          </p:cNvSpPr>
          <p:nvPr/>
        </p:nvSpPr>
        <p:spPr bwMode="auto">
          <a:xfrm>
            <a:off x="6858000" y="2819400"/>
            <a:ext cx="152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4</a:t>
            </a:r>
          </a:p>
        </p:txBody>
      </p:sp>
      <p:sp>
        <p:nvSpPr>
          <p:cNvPr id="8200" name="Text Box 33"/>
          <p:cNvSpPr txBox="1">
            <a:spLocks noChangeArrowheads="1"/>
          </p:cNvSpPr>
          <p:nvPr/>
        </p:nvSpPr>
        <p:spPr bwMode="auto">
          <a:xfrm>
            <a:off x="4953000" y="1447800"/>
            <a:ext cx="1524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1800" b="1">
                <a:latin typeface="宋体" pitchFamily="2" charset="-122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29">
                <a:extLst>
                  <a:ext uri="{FF2B5EF4-FFF2-40B4-BE49-F238E27FC236}">
                    <a16:creationId xmlns:a16="http://schemas.microsoft.com/office/drawing/2014/main" id="{5654F9CE-61B5-B2A2-F3E0-99DB29BDA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36" y="3431170"/>
                <a:ext cx="8534400" cy="19995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可见，在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点处</a:t>
                </a:r>
                <a14:m>
                  <m:oMath xmlns:m="http://schemas.openxmlformats.org/officeDocument/2006/math"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𝒛</m:t>
                    </m:r>
                  </m:oMath>
                </a14:m>
                <a:r>
                  <a:rPr lang="zh-CN" altLang="en-US" sz="2400" b="1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取到最大值。</a:t>
                </a:r>
                <a:endParaRPr lang="en-CN" sz="1050" b="1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 kern="10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𝑸</m:t>
                        </m:r>
                      </m:e>
                      <m:sub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400" b="1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点坐标为</a:t>
                </a:r>
                <a14:m>
                  <m:oMath xmlns:m="http://schemas.openxmlformats.org/officeDocument/2006/math"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zh-CN" altLang="en-US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zh-CN" sz="2400" b="1" kern="100" dirty="0">
                  <a:latin typeface="DengXia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b="1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所以，最优解为</a:t>
                </a:r>
                <a:r>
                  <a:rPr lang="en-CN" sz="2400" b="1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𝟒</m:t>
                    </m:r>
                    <m:r>
                      <a:rPr lang="zh-CN" altLang="en-US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sSub>
                      <m:sSubPr>
                        <m:ctrlP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CN" sz="2400" b="1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 </m:t>
                    </m:r>
                    <m:r>
                      <a:rPr lang="en-CN" sz="2400" b="1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2400" b="1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CN" sz="1050" b="1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 Box 29">
                <a:extLst>
                  <a:ext uri="{FF2B5EF4-FFF2-40B4-BE49-F238E27FC236}">
                    <a16:creationId xmlns:a16="http://schemas.microsoft.com/office/drawing/2014/main" id="{5654F9CE-61B5-B2A2-F3E0-99DB29BDA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736" y="3431170"/>
                <a:ext cx="8534400" cy="1999586"/>
              </a:xfrm>
              <a:prstGeom prst="rect">
                <a:avLst/>
              </a:prstGeom>
              <a:blipFill>
                <a:blip r:embed="rId2"/>
                <a:stretch>
                  <a:fillRect b="-487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59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76396" y="1200784"/>
            <a:ext cx="8534400" cy="8382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600" dirty="0">
                <a:solidFill>
                  <a:schemeClr val="tx2"/>
                </a:solidFill>
                <a:latin typeface="宋体" pitchFamily="2" charset="-122"/>
              </a:rPr>
              <a:t>(1)</a:t>
            </a:r>
            <a:r>
              <a:rPr lang="zh-CN" altLang="en-US" sz="2600" dirty="0">
                <a:solidFill>
                  <a:srgbClr val="000000"/>
                </a:solidFill>
                <a:latin typeface="宋体" pitchFamily="2" charset="-122"/>
              </a:rPr>
              <a:t>唯一最优解   （如上例）</a:t>
            </a:r>
          </a:p>
        </p:txBody>
      </p:sp>
      <p:grpSp>
        <p:nvGrpSpPr>
          <p:cNvPr id="16414" name="Group 30"/>
          <p:cNvGrpSpPr>
            <a:grpSpLocks/>
          </p:cNvGrpSpPr>
          <p:nvPr/>
        </p:nvGrpSpPr>
        <p:grpSpPr bwMode="auto">
          <a:xfrm>
            <a:off x="4800600" y="2209800"/>
            <a:ext cx="3733800" cy="2133600"/>
            <a:chOff x="2832" y="2208"/>
            <a:chExt cx="2352" cy="1344"/>
          </a:xfrm>
        </p:grpSpPr>
        <p:sp>
          <p:nvSpPr>
            <p:cNvPr id="9241" name="Line 31"/>
            <p:cNvSpPr>
              <a:spLocks noChangeShapeType="1"/>
            </p:cNvSpPr>
            <p:nvPr/>
          </p:nvSpPr>
          <p:spPr bwMode="auto">
            <a:xfrm>
              <a:off x="3072" y="3456"/>
              <a:ext cx="18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2" name="Line 32"/>
            <p:cNvSpPr>
              <a:spLocks noChangeShapeType="1"/>
            </p:cNvSpPr>
            <p:nvPr/>
          </p:nvSpPr>
          <p:spPr bwMode="auto">
            <a:xfrm flipV="1">
              <a:off x="3072" y="2256"/>
              <a:ext cx="0" cy="12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43" name="Rectangle 33"/>
            <p:cNvSpPr>
              <a:spLocks noChangeArrowheads="1"/>
            </p:cNvSpPr>
            <p:nvPr/>
          </p:nvSpPr>
          <p:spPr bwMode="auto">
            <a:xfrm>
              <a:off x="2832" y="2208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/>
                <a:t>x</a:t>
              </a:r>
              <a:r>
                <a:rPr lang="en-US" altLang="zh-CN" sz="1400" baseline="-25000"/>
                <a:t>2</a:t>
              </a:r>
            </a:p>
          </p:txBody>
        </p:sp>
        <p:sp>
          <p:nvSpPr>
            <p:cNvPr id="9244" name="Rectangle 34"/>
            <p:cNvSpPr>
              <a:spLocks noChangeArrowheads="1"/>
            </p:cNvSpPr>
            <p:nvPr/>
          </p:nvSpPr>
          <p:spPr bwMode="auto">
            <a:xfrm>
              <a:off x="4896" y="3360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400"/>
                <a:t>x</a:t>
              </a:r>
              <a:r>
                <a:rPr lang="en-US" altLang="zh-CN" sz="1400" baseline="-25000"/>
                <a:t>1</a:t>
              </a:r>
            </a:p>
          </p:txBody>
        </p:sp>
      </p:grpSp>
      <p:grpSp>
        <p:nvGrpSpPr>
          <p:cNvPr id="9222" name="Group 56"/>
          <p:cNvGrpSpPr>
            <a:grpSpLocks/>
          </p:cNvGrpSpPr>
          <p:nvPr/>
        </p:nvGrpSpPr>
        <p:grpSpPr bwMode="auto">
          <a:xfrm>
            <a:off x="4876800" y="2133600"/>
            <a:ext cx="3048000" cy="2362200"/>
            <a:chOff x="3072" y="1344"/>
            <a:chExt cx="1920" cy="1488"/>
          </a:xfrm>
        </p:grpSpPr>
        <p:grpSp>
          <p:nvGrpSpPr>
            <p:cNvPr id="9223" name="Group 38"/>
            <p:cNvGrpSpPr>
              <a:grpSpLocks/>
            </p:cNvGrpSpPr>
            <p:nvPr/>
          </p:nvGrpSpPr>
          <p:grpSpPr bwMode="auto">
            <a:xfrm>
              <a:off x="4416" y="1344"/>
              <a:ext cx="192" cy="1488"/>
              <a:chOff x="4224" y="2160"/>
              <a:chExt cx="192" cy="1488"/>
            </a:xfrm>
          </p:grpSpPr>
          <p:sp>
            <p:nvSpPr>
              <p:cNvPr id="9237" name="Line 39"/>
              <p:cNvSpPr>
                <a:spLocks noChangeShapeType="1"/>
              </p:cNvSpPr>
              <p:nvPr/>
            </p:nvSpPr>
            <p:spPr bwMode="auto">
              <a:xfrm>
                <a:off x="4224" y="2256"/>
                <a:ext cx="1" cy="139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38" name="Rectangle 40"/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/>
                  <a:t>②</a:t>
                </a:r>
              </a:p>
            </p:txBody>
          </p:sp>
          <p:sp>
            <p:nvSpPr>
              <p:cNvPr id="9239" name="Rectangle 41"/>
              <p:cNvSpPr>
                <a:spLocks noChangeArrowheads="1"/>
              </p:cNvSpPr>
              <p:nvPr/>
            </p:nvSpPr>
            <p:spPr bwMode="auto">
              <a:xfrm>
                <a:off x="4224" y="3504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9240" name="Rectangle 42"/>
              <p:cNvSpPr>
                <a:spLocks noChangeArrowheads="1"/>
              </p:cNvSpPr>
              <p:nvPr/>
            </p:nvSpPr>
            <p:spPr bwMode="auto">
              <a:xfrm>
                <a:off x="4224" y="2736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        Q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(4,2)</a:t>
                </a:r>
              </a:p>
            </p:txBody>
          </p:sp>
        </p:grpSp>
        <p:grpSp>
          <p:nvGrpSpPr>
            <p:cNvPr id="9224" name="Group 43"/>
            <p:cNvGrpSpPr>
              <a:grpSpLocks/>
            </p:cNvGrpSpPr>
            <p:nvPr/>
          </p:nvGrpSpPr>
          <p:grpSpPr bwMode="auto">
            <a:xfrm>
              <a:off x="3072" y="1582"/>
              <a:ext cx="1920" cy="194"/>
              <a:chOff x="2880" y="2400"/>
              <a:chExt cx="1920" cy="193"/>
            </a:xfrm>
          </p:grpSpPr>
          <p:sp>
            <p:nvSpPr>
              <p:cNvPr id="9233" name="Line 44"/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177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234" name="Rectangle 45"/>
              <p:cNvSpPr>
                <a:spLocks noChangeArrowheads="1"/>
              </p:cNvSpPr>
              <p:nvPr/>
            </p:nvSpPr>
            <p:spPr bwMode="auto">
              <a:xfrm>
                <a:off x="4608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/>
                  <a:t>③</a:t>
                </a:r>
              </a:p>
            </p:txBody>
          </p:sp>
          <p:sp>
            <p:nvSpPr>
              <p:cNvPr id="9235" name="Rectangle 46"/>
              <p:cNvSpPr>
                <a:spLocks noChangeArrowheads="1"/>
              </p:cNvSpPr>
              <p:nvPr/>
            </p:nvSpPr>
            <p:spPr bwMode="auto">
              <a:xfrm>
                <a:off x="360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3</a:t>
                </a:r>
                <a:r>
                  <a:rPr lang="en-US" altLang="zh-CN"/>
                  <a:t>(2,3)</a:t>
                </a:r>
              </a:p>
            </p:txBody>
          </p:sp>
          <p:sp>
            <p:nvSpPr>
              <p:cNvPr id="9236" name="Rectangle 47"/>
              <p:cNvSpPr>
                <a:spLocks noChangeArrowheads="1"/>
              </p:cNvSpPr>
              <p:nvPr/>
            </p:nvSpPr>
            <p:spPr bwMode="auto">
              <a:xfrm>
                <a:off x="288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4</a:t>
                </a:r>
              </a:p>
            </p:txBody>
          </p:sp>
        </p:grpSp>
        <p:sp>
          <p:nvSpPr>
            <p:cNvPr id="9225" name="Freeform 48" descr="浅色横线"/>
            <p:cNvSpPr>
              <a:spLocks/>
            </p:cNvSpPr>
            <p:nvPr/>
          </p:nvSpPr>
          <p:spPr bwMode="auto">
            <a:xfrm>
              <a:off x="3264" y="1776"/>
              <a:ext cx="1152" cy="864"/>
            </a:xfrm>
            <a:custGeom>
              <a:avLst/>
              <a:gdLst>
                <a:gd name="T0" fmla="*/ 0 w 1152"/>
                <a:gd name="T1" fmla="*/ 864 h 864"/>
                <a:gd name="T2" fmla="*/ 0 w 1152"/>
                <a:gd name="T3" fmla="*/ 0 h 864"/>
                <a:gd name="T4" fmla="*/ 552 w 1152"/>
                <a:gd name="T5" fmla="*/ 0 h 864"/>
                <a:gd name="T6" fmla="*/ 1152 w 1152"/>
                <a:gd name="T7" fmla="*/ 324 h 864"/>
                <a:gd name="T8" fmla="*/ 1152 w 1152"/>
                <a:gd name="T9" fmla="*/ 864 h 864"/>
                <a:gd name="T10" fmla="*/ 0 w 1152"/>
                <a:gd name="T11" fmla="*/ 864 h 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52" h="864">
                  <a:moveTo>
                    <a:pt x="0" y="864"/>
                  </a:moveTo>
                  <a:lnTo>
                    <a:pt x="0" y="0"/>
                  </a:lnTo>
                  <a:lnTo>
                    <a:pt x="552" y="0"/>
                  </a:lnTo>
                  <a:lnTo>
                    <a:pt x="1152" y="324"/>
                  </a:lnTo>
                  <a:lnTo>
                    <a:pt x="1152" y="864"/>
                  </a:lnTo>
                  <a:lnTo>
                    <a:pt x="0" y="864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26" name="Text Box 49"/>
            <p:cNvSpPr txBox="1">
              <a:spLocks noChangeArrowheads="1"/>
            </p:cNvSpPr>
            <p:nvPr/>
          </p:nvSpPr>
          <p:spPr bwMode="auto">
            <a:xfrm>
              <a:off x="3120" y="254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宋体" pitchFamily="2" charset="-122"/>
                </a:rPr>
                <a:t>o</a:t>
              </a:r>
            </a:p>
          </p:txBody>
        </p:sp>
        <p:sp>
          <p:nvSpPr>
            <p:cNvPr id="9227" name="Text Box 50"/>
            <p:cNvSpPr txBox="1">
              <a:spLocks noChangeArrowheads="1"/>
            </p:cNvSpPr>
            <p:nvPr/>
          </p:nvSpPr>
          <p:spPr bwMode="auto">
            <a:xfrm>
              <a:off x="4320" y="2640"/>
              <a:ext cx="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1800">
                  <a:latin typeface="宋体" pitchFamily="2" charset="-122"/>
                </a:rPr>
                <a:t>4</a:t>
              </a:r>
            </a:p>
          </p:txBody>
        </p:sp>
        <p:sp>
          <p:nvSpPr>
            <p:cNvPr id="9228" name="Text Box 51"/>
            <p:cNvSpPr txBox="1">
              <a:spLocks noChangeArrowheads="1"/>
            </p:cNvSpPr>
            <p:nvPr/>
          </p:nvSpPr>
          <p:spPr bwMode="auto">
            <a:xfrm>
              <a:off x="3120" y="1747"/>
              <a:ext cx="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1800">
                  <a:latin typeface="宋体" pitchFamily="2" charset="-122"/>
                </a:rPr>
                <a:t>3</a:t>
              </a:r>
            </a:p>
          </p:txBody>
        </p:sp>
        <p:sp>
          <p:nvSpPr>
            <p:cNvPr id="9229" name="Line 52"/>
            <p:cNvSpPr>
              <a:spLocks noChangeShapeType="1"/>
            </p:cNvSpPr>
            <p:nvPr/>
          </p:nvSpPr>
          <p:spPr bwMode="auto">
            <a:xfrm>
              <a:off x="3360" y="1536"/>
              <a:ext cx="1248" cy="67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0" name="Line 53"/>
            <p:cNvSpPr>
              <a:spLocks noChangeShapeType="1"/>
            </p:cNvSpPr>
            <p:nvPr/>
          </p:nvSpPr>
          <p:spPr bwMode="auto">
            <a:xfrm>
              <a:off x="3792" y="1776"/>
              <a:ext cx="624" cy="336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231" name="Rectangle 54"/>
            <p:cNvSpPr>
              <a:spLocks noChangeArrowheads="1"/>
            </p:cNvSpPr>
            <p:nvPr/>
          </p:nvSpPr>
          <p:spPr bwMode="auto">
            <a:xfrm>
              <a:off x="4752" y="2256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000" b="1"/>
                <a:t>*</a:t>
              </a:r>
            </a:p>
          </p:txBody>
        </p:sp>
        <p:sp>
          <p:nvSpPr>
            <p:cNvPr id="9232" name="Rectangle 55"/>
            <p:cNvSpPr>
              <a:spLocks noChangeArrowheads="1"/>
            </p:cNvSpPr>
            <p:nvPr/>
          </p:nvSpPr>
          <p:spPr bwMode="auto">
            <a:xfrm>
              <a:off x="4608" y="2112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000"/>
                <a:t>①</a:t>
              </a:r>
            </a:p>
          </p:txBody>
        </p:sp>
      </p:grpSp>
      <p:sp>
        <p:nvSpPr>
          <p:cNvPr id="2" name="矩形 1"/>
          <p:cNvSpPr/>
          <p:nvPr/>
        </p:nvSpPr>
        <p:spPr>
          <a:xfrm>
            <a:off x="304800" y="459736"/>
            <a:ext cx="3432350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CN" sz="2800" b="1" dirty="0">
                <a:solidFill>
                  <a:schemeClr val="tx2"/>
                </a:solidFill>
                <a:latin typeface="宋体" pitchFamily="2" charset="-122"/>
              </a:rPr>
              <a:t>2.</a:t>
            </a:r>
            <a:r>
              <a:rPr lang="zh-CN" altLang="en-US" sz="2800" b="1" dirty="0">
                <a:solidFill>
                  <a:schemeClr val="tx2"/>
                </a:solidFill>
                <a:latin typeface="宋体" pitchFamily="2" charset="-122"/>
              </a:rPr>
              <a:t>线性规划解的情形</a:t>
            </a:r>
            <a:endParaRPr lang="zh-CN" altLang="en-US" sz="2800" dirty="0">
              <a:solidFill>
                <a:srgbClr val="000000"/>
              </a:solidFill>
              <a:latin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2EBC345-E38F-630D-5CA0-6AE81E5BE51A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304800" y="3632432"/>
                <a:ext cx="6396036" cy="32958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CN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无穷多最优解</a:t>
                </a:r>
                <a:endParaRPr lang="en-CN" sz="2400" kern="100" dirty="0">
                  <a:latin typeface="DengXia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en-US" altLang="zh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     </a:t>
                </a:r>
                <a:r>
                  <a:rPr lang="zh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对上例，若目标函数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= 2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+ 4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，此时表示目标函数的直线与表示条件</a:t>
                </a:r>
                <a:r>
                  <a:rPr lang="en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的直线平行，最优点在线段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上。即存在无穷多最优解。</a:t>
                </a:r>
                <a:endParaRPr lang="en-CN" sz="2400" kern="100" dirty="0">
                  <a:latin typeface="DengXia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90000"/>
                  </a:lnSpc>
                  <a:buFont typeface="Arial" panose="020B0604020202020204" pitchFamily="34" charset="0"/>
                  <a:buNone/>
                </a:pPr>
                <a:endParaRPr lang="zh-CN" altLang="en-US" sz="2600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</mc:Choice>
        <mc:Fallback xmlns="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52EBC345-E38F-630D-5CA0-6AE81E5BE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632432"/>
                <a:ext cx="6396036" cy="3295837"/>
              </a:xfrm>
              <a:prstGeom prst="rect">
                <a:avLst/>
              </a:prstGeom>
              <a:blipFill>
                <a:blip r:embed="rId2"/>
                <a:stretch>
                  <a:fillRect r="-1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27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4" name="Group 39"/>
          <p:cNvGrpSpPr>
            <a:grpSpLocks/>
          </p:cNvGrpSpPr>
          <p:nvPr/>
        </p:nvGrpSpPr>
        <p:grpSpPr bwMode="auto">
          <a:xfrm>
            <a:off x="5486400" y="1066800"/>
            <a:ext cx="2730500" cy="2698750"/>
            <a:chOff x="3456" y="672"/>
            <a:chExt cx="1720" cy="1700"/>
          </a:xfrm>
        </p:grpSpPr>
        <p:sp>
          <p:nvSpPr>
            <p:cNvPr id="10245" name="Line 5"/>
            <p:cNvSpPr>
              <a:spLocks noChangeShapeType="1"/>
            </p:cNvSpPr>
            <p:nvPr/>
          </p:nvSpPr>
          <p:spPr bwMode="auto">
            <a:xfrm>
              <a:off x="3744" y="2160"/>
              <a:ext cx="1296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46" name="Line 6"/>
            <p:cNvSpPr>
              <a:spLocks noChangeShapeType="1"/>
            </p:cNvSpPr>
            <p:nvPr/>
          </p:nvSpPr>
          <p:spPr bwMode="auto">
            <a:xfrm flipV="1">
              <a:off x="3744" y="864"/>
              <a:ext cx="0" cy="12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47" name="Line 7"/>
            <p:cNvSpPr>
              <a:spLocks noChangeShapeType="1"/>
            </p:cNvSpPr>
            <p:nvPr/>
          </p:nvSpPr>
          <p:spPr bwMode="auto">
            <a:xfrm flipV="1">
              <a:off x="4512" y="912"/>
              <a:ext cx="0" cy="124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48" name="Line 8"/>
            <p:cNvSpPr>
              <a:spLocks noChangeShapeType="1"/>
            </p:cNvSpPr>
            <p:nvPr/>
          </p:nvSpPr>
          <p:spPr bwMode="auto">
            <a:xfrm flipV="1">
              <a:off x="3744" y="912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49" name="Line 9"/>
            <p:cNvSpPr>
              <a:spLocks noChangeShapeType="1"/>
            </p:cNvSpPr>
            <p:nvPr/>
          </p:nvSpPr>
          <p:spPr bwMode="auto">
            <a:xfrm flipV="1">
              <a:off x="3744" y="1776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0" name="Line 10"/>
            <p:cNvSpPr>
              <a:spLocks noChangeShapeType="1"/>
            </p:cNvSpPr>
            <p:nvPr/>
          </p:nvSpPr>
          <p:spPr bwMode="auto">
            <a:xfrm flipV="1">
              <a:off x="3744" y="1680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1" name="Line 11"/>
            <p:cNvSpPr>
              <a:spLocks noChangeShapeType="1"/>
            </p:cNvSpPr>
            <p:nvPr/>
          </p:nvSpPr>
          <p:spPr bwMode="auto">
            <a:xfrm flipV="1">
              <a:off x="3744" y="1392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2" name="Line 12"/>
            <p:cNvSpPr>
              <a:spLocks noChangeShapeType="1"/>
            </p:cNvSpPr>
            <p:nvPr/>
          </p:nvSpPr>
          <p:spPr bwMode="auto">
            <a:xfrm flipV="1">
              <a:off x="3744" y="1584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3" name="Line 13"/>
            <p:cNvSpPr>
              <a:spLocks noChangeShapeType="1"/>
            </p:cNvSpPr>
            <p:nvPr/>
          </p:nvSpPr>
          <p:spPr bwMode="auto">
            <a:xfrm flipV="1">
              <a:off x="3744" y="1488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4" name="Line 14"/>
            <p:cNvSpPr>
              <a:spLocks noChangeShapeType="1"/>
            </p:cNvSpPr>
            <p:nvPr/>
          </p:nvSpPr>
          <p:spPr bwMode="auto">
            <a:xfrm flipV="1">
              <a:off x="3744" y="1296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5" name="Line 15"/>
            <p:cNvSpPr>
              <a:spLocks noChangeShapeType="1"/>
            </p:cNvSpPr>
            <p:nvPr/>
          </p:nvSpPr>
          <p:spPr bwMode="auto">
            <a:xfrm flipV="1">
              <a:off x="3744" y="1200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6" name="Line 16"/>
            <p:cNvSpPr>
              <a:spLocks noChangeShapeType="1"/>
            </p:cNvSpPr>
            <p:nvPr/>
          </p:nvSpPr>
          <p:spPr bwMode="auto">
            <a:xfrm flipV="1">
              <a:off x="3744" y="1104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7" name="Line 17"/>
            <p:cNvSpPr>
              <a:spLocks noChangeShapeType="1"/>
            </p:cNvSpPr>
            <p:nvPr/>
          </p:nvSpPr>
          <p:spPr bwMode="auto">
            <a:xfrm flipV="1">
              <a:off x="3744" y="1008"/>
              <a:ext cx="768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8" name="Line 19"/>
            <p:cNvSpPr>
              <a:spLocks noChangeShapeType="1"/>
            </p:cNvSpPr>
            <p:nvPr/>
          </p:nvSpPr>
          <p:spPr bwMode="auto">
            <a:xfrm flipV="1">
              <a:off x="3744" y="912"/>
              <a:ext cx="576" cy="2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59" name="Line 20"/>
            <p:cNvSpPr>
              <a:spLocks noChangeShapeType="1"/>
            </p:cNvSpPr>
            <p:nvPr/>
          </p:nvSpPr>
          <p:spPr bwMode="auto">
            <a:xfrm flipV="1">
              <a:off x="3744" y="912"/>
              <a:ext cx="288" cy="1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0" name="Line 21"/>
            <p:cNvSpPr>
              <a:spLocks noChangeShapeType="1"/>
            </p:cNvSpPr>
            <p:nvPr/>
          </p:nvSpPr>
          <p:spPr bwMode="auto">
            <a:xfrm flipV="1">
              <a:off x="3984" y="1872"/>
              <a:ext cx="528" cy="28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1" name="Line 22"/>
            <p:cNvSpPr>
              <a:spLocks noChangeShapeType="1"/>
            </p:cNvSpPr>
            <p:nvPr/>
          </p:nvSpPr>
          <p:spPr bwMode="auto">
            <a:xfrm flipV="1">
              <a:off x="4224" y="2016"/>
              <a:ext cx="288" cy="14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2" name="Line 25"/>
            <p:cNvSpPr>
              <a:spLocks noChangeShapeType="1"/>
            </p:cNvSpPr>
            <p:nvPr/>
          </p:nvSpPr>
          <p:spPr bwMode="auto">
            <a:xfrm>
              <a:off x="4512" y="2160"/>
              <a:ext cx="0" cy="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3" name="Line 26"/>
            <p:cNvSpPr>
              <a:spLocks noChangeShapeType="1"/>
            </p:cNvSpPr>
            <p:nvPr/>
          </p:nvSpPr>
          <p:spPr bwMode="auto">
            <a:xfrm>
              <a:off x="4128" y="2160"/>
              <a:ext cx="0" cy="5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4" name="Line 27"/>
            <p:cNvSpPr>
              <a:spLocks noChangeShapeType="1"/>
            </p:cNvSpPr>
            <p:nvPr/>
          </p:nvSpPr>
          <p:spPr bwMode="auto">
            <a:xfrm>
              <a:off x="3694" y="1776"/>
              <a:ext cx="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5" name="Line 28"/>
            <p:cNvSpPr>
              <a:spLocks noChangeShapeType="1"/>
            </p:cNvSpPr>
            <p:nvPr/>
          </p:nvSpPr>
          <p:spPr bwMode="auto">
            <a:xfrm>
              <a:off x="3696" y="1392"/>
              <a:ext cx="50" cy="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6" name="Line 30"/>
            <p:cNvSpPr>
              <a:spLocks noChangeShapeType="1"/>
            </p:cNvSpPr>
            <p:nvPr/>
          </p:nvSpPr>
          <p:spPr bwMode="auto">
            <a:xfrm>
              <a:off x="3456" y="960"/>
              <a:ext cx="1488" cy="100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267" name="Text Box 32"/>
            <p:cNvSpPr txBox="1">
              <a:spLocks noChangeArrowheads="1"/>
            </p:cNvSpPr>
            <p:nvPr/>
          </p:nvSpPr>
          <p:spPr bwMode="auto">
            <a:xfrm>
              <a:off x="3648" y="2112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o</a:t>
              </a:r>
            </a:p>
          </p:txBody>
        </p:sp>
        <p:sp>
          <p:nvSpPr>
            <p:cNvPr id="10268" name="Text Box 33"/>
            <p:cNvSpPr txBox="1">
              <a:spLocks noChangeArrowheads="1"/>
            </p:cNvSpPr>
            <p:nvPr/>
          </p:nvSpPr>
          <p:spPr bwMode="auto">
            <a:xfrm>
              <a:off x="4032" y="2208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2</a:t>
              </a:r>
            </a:p>
          </p:txBody>
        </p:sp>
        <p:sp>
          <p:nvSpPr>
            <p:cNvPr id="10269" name="Text Box 34"/>
            <p:cNvSpPr txBox="1">
              <a:spLocks noChangeArrowheads="1"/>
            </p:cNvSpPr>
            <p:nvPr/>
          </p:nvSpPr>
          <p:spPr bwMode="auto">
            <a:xfrm>
              <a:off x="3504" y="1680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2</a:t>
              </a:r>
            </a:p>
          </p:txBody>
        </p:sp>
        <p:sp>
          <p:nvSpPr>
            <p:cNvPr id="10270" name="Text Box 35"/>
            <p:cNvSpPr txBox="1">
              <a:spLocks noChangeArrowheads="1"/>
            </p:cNvSpPr>
            <p:nvPr/>
          </p:nvSpPr>
          <p:spPr bwMode="auto">
            <a:xfrm>
              <a:off x="4416" y="2208"/>
              <a:ext cx="144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2000"/>
                <a:t>4</a:t>
              </a:r>
            </a:p>
          </p:txBody>
        </p:sp>
        <p:graphicFrame>
          <p:nvGraphicFramePr>
            <p:cNvPr id="10271" name="Object 37"/>
            <p:cNvGraphicFramePr>
              <a:graphicFrameLocks noChangeAspect="1"/>
            </p:cNvGraphicFramePr>
            <p:nvPr/>
          </p:nvGraphicFramePr>
          <p:xfrm>
            <a:off x="4992" y="2112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2268" imgH="215713" progId="Equation.3">
                    <p:embed/>
                  </p:oleObj>
                </mc:Choice>
                <mc:Fallback>
                  <p:oleObj name="Equation" r:id="rId2" imgW="152268" imgH="21571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2112"/>
                          <a:ext cx="184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2" name="Object 38"/>
            <p:cNvGraphicFramePr>
              <a:graphicFrameLocks noChangeAspect="1"/>
            </p:cNvGraphicFramePr>
            <p:nvPr/>
          </p:nvGraphicFramePr>
          <p:xfrm>
            <a:off x="3537" y="672"/>
            <a:ext cx="215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569" imgH="215619" progId="Equation.3">
                    <p:embed/>
                  </p:oleObj>
                </mc:Choice>
                <mc:Fallback>
                  <p:oleObj name="Equation" r:id="rId4" imgW="17756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7" y="672"/>
                          <a:ext cx="215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D176C2CC-66FB-ADF6-0BD1-56E2D0D01F6D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298450" y="892175"/>
                <a:ext cx="7772400" cy="5334000"/>
              </a:xfrm>
              <a:noFill/>
            </p:spPr>
            <p:txBody>
              <a:bodyPr/>
              <a:lstStyle/>
              <a:p>
                <a:pPr marL="0"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宋体" pitchFamily="2" charset="-122"/>
                  </a:rPr>
                  <a:t>  </a:t>
                </a:r>
                <a:r>
                  <a:rPr 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(3)</a:t>
                </a: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无界解（也称无最优解）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𝑚𝑎𝑥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= 2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+ 3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i="1" kern="100" dirty="0"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  <m:r>
                        <a:rPr lang="en-US" sz="2400" b="0" i="1" kern="10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≤</m:t>
                              </m:r>
                              <m:r>
                                <a:rPr lang="en-US" sz="2400" b="0" i="1" kern="10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400" i="1" kern="100" smtClean="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kern="100" smtClean="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kern="100" smtClean="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400" b="0" i="1" kern="10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，</m:t>
                              </m:r>
                              <m:sSub>
                                <m:sSubPr>
                                  <m:ctrlP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b="0" i="1" kern="100" smtClean="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≥ 0</m:t>
                              </m:r>
                            </m:e>
                          </m:eqArr>
                        </m:e>
                      </m:d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  </m:t>
                      </m:r>
                    </m:oMath>
                  </m:oMathPara>
                </a14:m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∞</m:t>
                    </m:r>
                    <m:r>
                      <a:rPr lang="zh-CN" alt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，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→+ ∞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即存在无界解。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0" algn="just" fontAlgn="b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    在实际问题中，可能是缺少约束条件。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 eaLnBrk="1" hangingPunct="1">
                  <a:buSzTx/>
                  <a:buFontTx/>
                  <a:buNone/>
                </a:pPr>
                <a:endParaRPr lang="zh-CN" altLang="en-US" sz="2400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algn="just" eaLnBrk="1" hangingPunct="1">
                  <a:buSzTx/>
                  <a:buFontTx/>
                  <a:buNone/>
                </a:pPr>
                <a:endParaRPr lang="zh-CN" altLang="en-US" sz="2400" dirty="0">
                  <a:solidFill>
                    <a:srgbClr val="000000"/>
                  </a:solidFill>
                  <a:latin typeface="宋体" pitchFamily="2" charset="-122"/>
                </a:endParaRPr>
              </a:p>
            </p:txBody>
          </p:sp>
        </mc:Choice>
        <mc:Fallback xmlns=""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D176C2CC-66FB-ADF6-0BD1-56E2D0D01F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450" y="892175"/>
                <a:ext cx="7772400" cy="5334000"/>
              </a:xfr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04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762000"/>
            <a:ext cx="8534400" cy="4724400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latin typeface="宋体" pitchFamily="2" charset="-122"/>
              </a:rPr>
              <a:t>(4)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无可行解</a:t>
            </a:r>
          </a:p>
          <a:p>
            <a:pPr algn="just"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max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z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2x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3x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</a:p>
          <a:p>
            <a:pPr algn="just"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       2x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4x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≥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8</a:t>
            </a:r>
          </a:p>
          <a:p>
            <a:pPr algn="just"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800" dirty="0" err="1">
                <a:solidFill>
                  <a:srgbClr val="000000"/>
                </a:solidFill>
                <a:latin typeface="宋体" pitchFamily="2" charset="-122"/>
              </a:rPr>
              <a:t>s.t.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  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+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≤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1</a:t>
            </a:r>
          </a:p>
          <a:p>
            <a:pPr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        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，x</a:t>
            </a:r>
            <a:r>
              <a:rPr lang="en-US" altLang="zh-CN" sz="2800" baseline="-25000" dirty="0">
                <a:solidFill>
                  <a:srgbClr val="000000"/>
                </a:solidFill>
                <a:latin typeface="宋体" pitchFamily="2" charset="-122"/>
              </a:rPr>
              <a:t>2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≥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0</a:t>
            </a:r>
          </a:p>
          <a:p>
            <a:pPr algn="just" eaLnBrk="1" hangingPunct="1"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无公共部分，无可行域。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  即无可行解。</a:t>
            </a:r>
          </a:p>
          <a:p>
            <a:pPr eaLnBrk="1" hangingPunct="1"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宋体" pitchFamily="2" charset="-122"/>
              </a:rPr>
              <a:t>  在实际问题中，可能是关系错。</a:t>
            </a:r>
            <a:endParaRPr lang="en-US" altLang="zh-CN" sz="2800" dirty="0">
              <a:solidFill>
                <a:srgbClr val="000000"/>
              </a:solidFill>
              <a:latin typeface="宋体" pitchFamily="2" charset="-122"/>
            </a:endParaRPr>
          </a:p>
        </p:txBody>
      </p:sp>
      <p:sp>
        <p:nvSpPr>
          <p:cNvPr id="11268" name="AutoShape 4"/>
          <p:cNvSpPr>
            <a:spLocks/>
          </p:cNvSpPr>
          <p:nvPr/>
        </p:nvSpPr>
        <p:spPr bwMode="auto">
          <a:xfrm>
            <a:off x="1619672" y="2095500"/>
            <a:ext cx="152400" cy="990600"/>
          </a:xfrm>
          <a:prstGeom prst="leftBrace">
            <a:avLst>
              <a:gd name="adj1" fmla="val 54167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269" name="Group 22"/>
          <p:cNvGrpSpPr>
            <a:grpSpLocks/>
          </p:cNvGrpSpPr>
          <p:nvPr/>
        </p:nvGrpSpPr>
        <p:grpSpPr bwMode="auto">
          <a:xfrm>
            <a:off x="4419600" y="1352550"/>
            <a:ext cx="3733800" cy="2305050"/>
            <a:chOff x="2784" y="852"/>
            <a:chExt cx="2352" cy="1452"/>
          </a:xfrm>
        </p:grpSpPr>
        <p:sp>
          <p:nvSpPr>
            <p:cNvPr id="11270" name="Line 7"/>
            <p:cNvSpPr>
              <a:spLocks noChangeShapeType="1"/>
            </p:cNvSpPr>
            <p:nvPr/>
          </p:nvSpPr>
          <p:spPr bwMode="auto">
            <a:xfrm flipV="1">
              <a:off x="2976" y="912"/>
              <a:ext cx="0" cy="12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1" name="Line 8"/>
            <p:cNvSpPr>
              <a:spLocks noChangeShapeType="1"/>
            </p:cNvSpPr>
            <p:nvPr/>
          </p:nvSpPr>
          <p:spPr bwMode="auto">
            <a:xfrm>
              <a:off x="2976" y="2112"/>
              <a:ext cx="21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2" name="Line 9"/>
            <p:cNvSpPr>
              <a:spLocks noChangeShapeType="1"/>
            </p:cNvSpPr>
            <p:nvPr/>
          </p:nvSpPr>
          <p:spPr bwMode="auto">
            <a:xfrm>
              <a:off x="2832" y="1488"/>
              <a:ext cx="816" cy="81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3" name="Line 10"/>
            <p:cNvSpPr>
              <a:spLocks noChangeShapeType="1"/>
            </p:cNvSpPr>
            <p:nvPr/>
          </p:nvSpPr>
          <p:spPr bwMode="auto">
            <a:xfrm flipH="1" flipV="1">
              <a:off x="2784" y="1152"/>
              <a:ext cx="2304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74" name="Rectangle 11"/>
            <p:cNvSpPr>
              <a:spLocks noChangeArrowheads="1"/>
            </p:cNvSpPr>
            <p:nvPr/>
          </p:nvSpPr>
          <p:spPr bwMode="auto">
            <a:xfrm>
              <a:off x="3312" y="2160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1800"/>
                <a:t>1</a:t>
              </a:r>
            </a:p>
          </p:txBody>
        </p:sp>
        <p:sp>
          <p:nvSpPr>
            <p:cNvPr id="11275" name="Rectangle 12"/>
            <p:cNvSpPr>
              <a:spLocks noChangeArrowheads="1"/>
            </p:cNvSpPr>
            <p:nvPr/>
          </p:nvSpPr>
          <p:spPr bwMode="auto">
            <a:xfrm>
              <a:off x="2880" y="1680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1800"/>
                <a:t>1</a:t>
              </a:r>
            </a:p>
          </p:txBody>
        </p:sp>
        <p:sp>
          <p:nvSpPr>
            <p:cNvPr id="11276" name="Rectangle 13"/>
            <p:cNvSpPr>
              <a:spLocks noChangeArrowheads="1"/>
            </p:cNvSpPr>
            <p:nvPr/>
          </p:nvSpPr>
          <p:spPr bwMode="auto">
            <a:xfrm>
              <a:off x="2880" y="1248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1800"/>
                <a:t>2</a:t>
              </a:r>
            </a:p>
          </p:txBody>
        </p:sp>
        <p:sp>
          <p:nvSpPr>
            <p:cNvPr id="11277" name="Rectangle 14"/>
            <p:cNvSpPr>
              <a:spLocks noChangeArrowheads="1"/>
            </p:cNvSpPr>
            <p:nvPr/>
          </p:nvSpPr>
          <p:spPr bwMode="auto">
            <a:xfrm>
              <a:off x="4608" y="2160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zh-CN" altLang="en-US" sz="1800"/>
                <a:t>4</a:t>
              </a:r>
            </a:p>
          </p:txBody>
        </p:sp>
        <p:sp>
          <p:nvSpPr>
            <p:cNvPr id="11278" name="Rectangle 15"/>
            <p:cNvSpPr>
              <a:spLocks noChangeArrowheads="1"/>
            </p:cNvSpPr>
            <p:nvPr/>
          </p:nvSpPr>
          <p:spPr bwMode="auto">
            <a:xfrm>
              <a:off x="5088" y="2112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800"/>
                <a:t>x</a:t>
              </a:r>
              <a:r>
                <a:rPr lang="en-US" altLang="zh-CN" sz="1800" baseline="-25000"/>
                <a:t>1</a:t>
              </a:r>
            </a:p>
          </p:txBody>
        </p:sp>
        <p:sp>
          <p:nvSpPr>
            <p:cNvPr id="11279" name="Rectangle 16"/>
            <p:cNvSpPr>
              <a:spLocks noChangeArrowheads="1"/>
            </p:cNvSpPr>
            <p:nvPr/>
          </p:nvSpPr>
          <p:spPr bwMode="auto">
            <a:xfrm>
              <a:off x="2880" y="864"/>
              <a:ext cx="4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7CCD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en-US" altLang="zh-CN" sz="1800"/>
                <a:t>x</a:t>
              </a:r>
              <a:r>
                <a:rPr lang="en-US" altLang="zh-CN" sz="1800" baseline="-25000"/>
                <a:t>2</a:t>
              </a:r>
            </a:p>
          </p:txBody>
        </p:sp>
        <p:sp>
          <p:nvSpPr>
            <p:cNvPr id="11280" name="Freeform 18" descr="浅色横线"/>
            <p:cNvSpPr>
              <a:spLocks/>
            </p:cNvSpPr>
            <p:nvPr/>
          </p:nvSpPr>
          <p:spPr bwMode="auto">
            <a:xfrm>
              <a:off x="2976" y="1632"/>
              <a:ext cx="480" cy="480"/>
            </a:xfrm>
            <a:custGeom>
              <a:avLst/>
              <a:gdLst>
                <a:gd name="T0" fmla="*/ 0 w 480"/>
                <a:gd name="T1" fmla="*/ 480 h 480"/>
                <a:gd name="T2" fmla="*/ 0 w 480"/>
                <a:gd name="T3" fmla="*/ 0 h 480"/>
                <a:gd name="T4" fmla="*/ 480 w 480"/>
                <a:gd name="T5" fmla="*/ 480 h 480"/>
                <a:gd name="T6" fmla="*/ 0 w 480"/>
                <a:gd name="T7" fmla="*/ 480 h 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0" h="480">
                  <a:moveTo>
                    <a:pt x="0" y="480"/>
                  </a:moveTo>
                  <a:lnTo>
                    <a:pt x="0" y="0"/>
                  </a:lnTo>
                  <a:lnTo>
                    <a:pt x="480" y="480"/>
                  </a:lnTo>
                  <a:lnTo>
                    <a:pt x="0" y="480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281" name="Freeform 20" descr="浅色横线"/>
            <p:cNvSpPr>
              <a:spLocks/>
            </p:cNvSpPr>
            <p:nvPr/>
          </p:nvSpPr>
          <p:spPr bwMode="auto">
            <a:xfrm>
              <a:off x="2976" y="852"/>
              <a:ext cx="2016" cy="1260"/>
            </a:xfrm>
            <a:custGeom>
              <a:avLst/>
              <a:gdLst>
                <a:gd name="T0" fmla="*/ 24 w 2016"/>
                <a:gd name="T1" fmla="*/ 396 h 1260"/>
                <a:gd name="T2" fmla="*/ 0 w 2016"/>
                <a:gd name="T3" fmla="*/ 144 h 1260"/>
                <a:gd name="T4" fmla="*/ 396 w 2016"/>
                <a:gd name="T5" fmla="*/ 0 h 1260"/>
                <a:gd name="T6" fmla="*/ 1140 w 2016"/>
                <a:gd name="T7" fmla="*/ 96 h 1260"/>
                <a:gd name="T8" fmla="*/ 1704 w 2016"/>
                <a:gd name="T9" fmla="*/ 396 h 1260"/>
                <a:gd name="T10" fmla="*/ 1992 w 2016"/>
                <a:gd name="T11" fmla="*/ 840 h 1260"/>
                <a:gd name="T12" fmla="*/ 2016 w 2016"/>
                <a:gd name="T13" fmla="*/ 1260 h 1260"/>
                <a:gd name="T14" fmla="*/ 1728 w 2016"/>
                <a:gd name="T15" fmla="*/ 1260 h 1260"/>
                <a:gd name="T16" fmla="*/ 24 w 2016"/>
                <a:gd name="T17" fmla="*/ 396 h 12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16" h="1260">
                  <a:moveTo>
                    <a:pt x="24" y="396"/>
                  </a:moveTo>
                  <a:lnTo>
                    <a:pt x="0" y="144"/>
                  </a:lnTo>
                  <a:lnTo>
                    <a:pt x="396" y="0"/>
                  </a:lnTo>
                  <a:lnTo>
                    <a:pt x="1140" y="96"/>
                  </a:lnTo>
                  <a:lnTo>
                    <a:pt x="1704" y="396"/>
                  </a:lnTo>
                  <a:lnTo>
                    <a:pt x="1992" y="840"/>
                  </a:lnTo>
                  <a:lnTo>
                    <a:pt x="2016" y="1260"/>
                  </a:lnTo>
                  <a:lnTo>
                    <a:pt x="1728" y="1260"/>
                  </a:lnTo>
                  <a:lnTo>
                    <a:pt x="24" y="396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88526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2EF0993-BBD4-77F5-3DD0-57A26F9C5BBE}"/>
                  </a:ext>
                </a:extLst>
              </p:cNvPr>
              <p:cNvSpPr txBox="1"/>
              <p:nvPr/>
            </p:nvSpPr>
            <p:spPr>
              <a:xfrm>
                <a:off x="5364088" y="2132856"/>
                <a:ext cx="6097554" cy="1837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Cambria Math"/>
                  </a:rPr>
                  <a:t>或矩阵形式</a:t>
                </a:r>
                <a:endParaRPr lang="en-US" altLang="zh-CN" sz="2400" dirty="0">
                  <a:latin typeface="Cambria Math"/>
                </a:endParaRPr>
              </a:p>
              <a:p>
                <a:endParaRPr lang="en-US" altLang="zh-CN" sz="2400" dirty="0">
                  <a:latin typeface="Cambria Math"/>
                </a:endParaRPr>
              </a:p>
              <a:p>
                <a:r>
                  <a:rPr lang="en-US" altLang="zh-CN" sz="24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smtClean="0">
                        <a:latin typeface="Cambria Math"/>
                      </a:rPr>
                      <m:t>min</m:t>
                    </m:r>
                    <m:r>
                      <a:rPr lang="en-US" altLang="zh-CN" sz="2400" smtClean="0">
                        <a:latin typeface="Cambria Math"/>
                      </a:rPr>
                      <m:t>     </m:t>
                    </m:r>
                    <m:r>
                      <m:rPr>
                        <m:sty m:val="p"/>
                      </m:rPr>
                      <a:rPr lang="en-US" altLang="zh-CN" sz="2400" smtClean="0">
                        <a:latin typeface="Cambria Math"/>
                      </a:rPr>
                      <m:t>z</m:t>
                    </m:r>
                    <m:r>
                      <a:rPr lang="en-US" altLang="zh-CN" sz="240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altLang="zh-CN" sz="24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/>
                      </a:rPr>
                      <m:t>𝑥</m:t>
                    </m:r>
                  </m:oMath>
                </a14:m>
                <a:endParaRPr lang="en-US" altLang="zh-CN" sz="2400" dirty="0"/>
              </a:p>
              <a:p>
                <a:pPr algn="just"/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/>
                      </a:rPr>
                      <m:t>                 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s</m:t>
                          </m:r>
                          <m:r>
                            <a:rPr lang="en-US" altLang="zh-CN" sz="2400">
                              <a:latin typeface="Cambria Math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/>
                            </a:rPr>
                            <m:t>t</m:t>
                          </m:r>
                          <m:r>
                            <a:rPr lang="en-US" altLang="zh-CN" sz="2400">
                              <a:latin typeface="Cambria Math"/>
                            </a:rPr>
                            <m:t>. 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    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𝐴𝑥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𝑏</m:t>
                          </m:r>
                        </m:e>
                      </m:mr>
                      <m:mr>
                        <m:e>
                          <m:r>
                            <a:rPr lang="en-US" altLang="zh-CN" sz="2400" i="1">
                              <a:latin typeface="Cambria Math"/>
                            </a:rPr>
                            <m:t>         </m:t>
                          </m:r>
                          <m:r>
                            <a:rPr lang="en-US" altLang="zh-CN" sz="2400" i="1">
                              <a:latin typeface="Cambria Math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/>
                              <a:ea typeface="Cambria Math"/>
                            </a:rPr>
                            <m:t>≥0</m:t>
                          </m:r>
                        </m:e>
                      </m:mr>
                    </m:m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22EF0993-BBD4-77F5-3DD0-57A26F9C5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2132856"/>
                <a:ext cx="6097554" cy="1837683"/>
              </a:xfrm>
              <a:prstGeom prst="rect">
                <a:avLst/>
              </a:prstGeom>
              <a:blipFill>
                <a:blip r:embed="rId2"/>
                <a:stretch>
                  <a:fillRect l="-1600" t="-36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EAC24FA-A1C2-61C2-9C0E-73684B44D129}"/>
              </a:ext>
            </a:extLst>
          </p:cNvPr>
          <p:cNvSpPr txBox="1"/>
          <p:nvPr/>
        </p:nvSpPr>
        <p:spPr>
          <a:xfrm>
            <a:off x="179512" y="314666"/>
            <a:ext cx="8784976" cy="113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9875" indent="304800" algn="just">
              <a:lnSpc>
                <a:spcPct val="150000"/>
              </a:lnSpc>
              <a:tabLst>
                <a:tab pos="269875" algn="l"/>
                <a:tab pos="266700" algn="l"/>
              </a:tabLst>
            </a:pPr>
            <a:r>
              <a:rPr lang="en-US" altLang="zh-CN" sz="2400" dirty="0">
                <a:effectLst/>
                <a:latin typeface="Times New Roman" panose="02020503050405090304" pitchFamily="18" charset="0"/>
                <a:ea typeface="宋体" pitchFamily="2" charset="-122"/>
              </a:rPr>
              <a:t>   </a:t>
            </a:r>
            <a:r>
              <a:rPr lang="zh-CN" altLang="zh-CN" sz="2400" dirty="0">
                <a:effectLst/>
                <a:latin typeface="Times New Roman" panose="02020503050405090304" pitchFamily="18" charset="0"/>
                <a:ea typeface="宋体" pitchFamily="2" charset="-122"/>
              </a:rPr>
              <a:t>从实际问题得到的线性规划模型是多种多样的，为了方便于讨论，我们规定下列形式的线性规划为</a:t>
            </a:r>
            <a:r>
              <a:rPr lang="zh-CN" altLang="zh-CN" sz="2400" b="1" dirty="0">
                <a:solidFill>
                  <a:schemeClr val="accent1"/>
                </a:solidFill>
                <a:effectLst/>
                <a:latin typeface="Times New Roman" panose="02020503050405090304" pitchFamily="18" charset="0"/>
                <a:ea typeface="宋体" pitchFamily="2" charset="-122"/>
              </a:rPr>
              <a:t>标准型</a:t>
            </a:r>
            <a:r>
              <a:rPr lang="zh-CN" altLang="zh-CN" sz="2400" dirty="0">
                <a:effectLst/>
                <a:latin typeface="Times New Roman" panose="02020503050405090304" pitchFamily="18" charset="0"/>
                <a:ea typeface="宋体" pitchFamily="2" charset="-122"/>
              </a:rPr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5F9D0A1-B56C-E391-CAD2-E93596397AD1}"/>
                  </a:ext>
                </a:extLst>
              </p:cNvPr>
              <p:cNvSpPr txBox="1"/>
              <p:nvPr/>
            </p:nvSpPr>
            <p:spPr>
              <a:xfrm>
                <a:off x="-324544" y="1916832"/>
                <a:ext cx="6600304" cy="35763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kern="10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i="0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  <m:oMath xmlns:m="http://schemas.openxmlformats.org/officeDocument/2006/math"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  (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=1,2,⋯,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</m:oMath>
                    <m:oMath xmlns:m="http://schemas.openxmlformats.org/officeDocument/2006/math"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≥0(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=1,2,⋯,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US" sz="2400" i="1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endParaRPr lang="en-US" sz="2400" i="1" kern="100" dirty="0"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en-US" altLang="zh-CN" sz="2400" i="1" kern="100" dirty="0"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en-CN" dirty="0"/>
              </a:p>
            </p:txBody>
          </p:sp>
        </mc:Choice>
        <mc:Fallback xmlns="">
          <p:sp>
            <p:nvSpPr>
              <p:cNvPr id="6" name="TextBox 2">
                <a:extLst>
                  <a:ext uri="{FF2B5EF4-FFF2-40B4-BE49-F238E27FC236}">
                    <a16:creationId xmlns:a16="http://schemas.microsoft.com/office/drawing/2014/main" id="{15F9D0A1-B56C-E391-CAD2-E93596397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4544" y="1916832"/>
                <a:ext cx="6600304" cy="35763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108388D-CD43-B029-7597-FF5440855313}"/>
                  </a:ext>
                </a:extLst>
              </p:cNvPr>
              <p:cNvSpPr txBox="1"/>
              <p:nvPr/>
            </p:nvSpPr>
            <p:spPr>
              <a:xfrm>
                <a:off x="35294" y="5151191"/>
                <a:ext cx="6494106" cy="583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kern="100" dirty="0">
                    <a:ea typeface="SimSun" panose="02010600030101010101" pitchFamily="2" charset="-122"/>
                    <a:cs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≥0(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=1,2,⋯,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endParaRPr lang="en-CN" altLang="zh-CN" sz="2400" i="1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108388D-CD43-B029-7597-FF5440855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4" y="5151191"/>
                <a:ext cx="6494106" cy="583814"/>
              </a:xfrm>
              <a:prstGeom prst="rect">
                <a:avLst/>
              </a:prstGeom>
              <a:blipFill>
                <a:blip r:embed="rId4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B43692-6875-0940-0A3F-799B46862144}"/>
                  </a:ext>
                </a:extLst>
              </p:cNvPr>
              <p:cNvSpPr txBox="1"/>
              <p:nvPr/>
            </p:nvSpPr>
            <p:spPr>
              <a:xfrm>
                <a:off x="5508104" y="5143281"/>
                <a:ext cx="65640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100" dirty="0">
                    <a:ea typeface="SimSun" panose="02010600030101010101" pitchFamily="2" charset="-122"/>
                    <a:cs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3B43692-6875-0940-0A3F-799B46862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5143281"/>
                <a:ext cx="6564084" cy="461665"/>
              </a:xfrm>
              <a:prstGeom prst="rect">
                <a:avLst/>
              </a:prstGeom>
              <a:blipFill>
                <a:blip r:embed="rId5"/>
                <a:stretch>
                  <a:fillRect l="-1487" t="-16000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38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60784" y="1762386"/>
            <a:ext cx="8534400" cy="1752600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(1)</a:t>
            </a:r>
            <a:r>
              <a:rPr lang="en-US" altLang="zh-CN" sz="2400" b="1" dirty="0" err="1">
                <a:latin typeface="宋体" pitchFamily="2" charset="-122"/>
              </a:rPr>
              <a:t>max→min</a:t>
            </a:r>
            <a:r>
              <a:rPr lang="en-US" altLang="zh-CN" sz="2400" b="1" dirty="0">
                <a:latin typeface="宋体" pitchFamily="2" charset="-122"/>
              </a:rPr>
              <a:t>      max z</a:t>
            </a:r>
            <a:r>
              <a:rPr lang="en-US" altLang="zh-CN" sz="2400" b="1" dirty="0">
                <a:latin typeface="Times New Roman" pitchFamily="18" charset="0"/>
              </a:rPr>
              <a:t> =            = </a:t>
            </a:r>
            <a:r>
              <a:rPr lang="en-US" altLang="zh-CN" sz="2400" b="1" dirty="0">
                <a:latin typeface="宋体" pitchFamily="2" charset="-122"/>
              </a:rPr>
              <a:t>-min(-z)</a:t>
            </a:r>
            <a:endParaRPr lang="en-US" altLang="zh-CN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                 则</a:t>
            </a:r>
            <a:r>
              <a:rPr lang="en-US" altLang="zh-CN" sz="2400" b="1" dirty="0">
                <a:latin typeface="宋体" pitchFamily="2" charset="-122"/>
              </a:rPr>
              <a:t>min z</a:t>
            </a:r>
            <a:r>
              <a:rPr lang="en-US" altLang="zh-CN" sz="2400" b="1" dirty="0">
                <a:latin typeface="Times New Roman" pitchFamily="18" charset="0"/>
              </a:rPr>
              <a:t>’ = </a:t>
            </a:r>
            <a:r>
              <a:rPr lang="en-US" altLang="zh-CN" sz="2400" b="1" dirty="0">
                <a:latin typeface="宋体" pitchFamily="2" charset="-122"/>
              </a:rPr>
              <a:t>-</a:t>
            </a:r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323528" y="2924943"/>
            <a:ext cx="85344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SzPct val="90000"/>
            </a:pPr>
            <a:r>
              <a:rPr kumimoji="1" lang="en-US" altLang="zh-CN" sz="2400" dirty="0">
                <a:latin typeface="宋体" pitchFamily="2" charset="-122"/>
              </a:rPr>
              <a:t>  </a:t>
            </a:r>
            <a:r>
              <a:rPr kumimoji="1" lang="en-US" altLang="zh-CN" sz="2400" b="1" dirty="0">
                <a:latin typeface="宋体" pitchFamily="2" charset="-122"/>
              </a:rPr>
              <a:t>(2)</a:t>
            </a:r>
            <a:r>
              <a:rPr kumimoji="1" lang="zh-CN" altLang="en-US" sz="2400" b="1" dirty="0">
                <a:latin typeface="宋体" pitchFamily="2" charset="-122"/>
              </a:rPr>
              <a:t>不等式(≤，≥)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buSzPct val="90000"/>
            </a:pPr>
            <a:r>
              <a:rPr kumimoji="1" lang="zh-CN" altLang="en-US" sz="2400" b="1" dirty="0">
                <a:latin typeface="宋体" pitchFamily="2" charset="-122"/>
              </a:rPr>
              <a:t>    对于</a:t>
            </a:r>
            <a:r>
              <a:rPr kumimoji="1" lang="zh-CN" altLang="en-US" sz="2400" b="1" dirty="0">
                <a:cs typeface="Times New Roman" pitchFamily="18" charset="0"/>
              </a:rPr>
              <a:t>“</a:t>
            </a:r>
            <a:r>
              <a:rPr kumimoji="1" lang="zh-CN" altLang="en-US" sz="2400" b="1" dirty="0">
                <a:latin typeface="宋体" pitchFamily="2" charset="-122"/>
              </a:rPr>
              <a:t>≤</a:t>
            </a:r>
            <a:r>
              <a:rPr kumimoji="1" lang="zh-CN" altLang="en-US" sz="2400" b="1" dirty="0"/>
              <a:t>”</a:t>
            </a:r>
            <a:r>
              <a:rPr kumimoji="1" lang="zh-CN" altLang="en-US" sz="2400" b="1" dirty="0">
                <a:latin typeface="宋体" pitchFamily="2" charset="-122"/>
              </a:rPr>
              <a:t>情况：在</a:t>
            </a:r>
            <a:r>
              <a:rPr kumimoji="1" lang="zh-CN" altLang="en-US" sz="2400" b="1" dirty="0"/>
              <a:t>“</a:t>
            </a:r>
            <a:r>
              <a:rPr kumimoji="1" lang="zh-CN" altLang="en-US" sz="2400" b="1" dirty="0">
                <a:latin typeface="宋体" pitchFamily="2" charset="-122"/>
              </a:rPr>
              <a:t>≤</a:t>
            </a:r>
            <a:r>
              <a:rPr kumimoji="1" lang="zh-CN" altLang="en-US" sz="2400" b="1" dirty="0"/>
              <a:t>”</a:t>
            </a:r>
            <a:r>
              <a:rPr kumimoji="1" lang="zh-CN" altLang="en-US" sz="2400" b="1" dirty="0">
                <a:latin typeface="宋体" pitchFamily="2" charset="-122"/>
              </a:rPr>
              <a:t>左边加上一个松弛变量（非负）</a:t>
            </a:r>
            <a:r>
              <a:rPr kumimoji="1" lang="en-US" altLang="zh-CN" sz="2400" b="1" dirty="0">
                <a:latin typeface="宋体" pitchFamily="2" charset="-122"/>
              </a:rPr>
              <a:t>，</a:t>
            </a:r>
            <a:r>
              <a:rPr kumimoji="1" lang="zh-CN" altLang="en-US" sz="2400" b="1" dirty="0">
                <a:latin typeface="宋体" pitchFamily="2" charset="-122"/>
              </a:rPr>
              <a:t>变为等式；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buSzPct val="90000"/>
            </a:pPr>
            <a:r>
              <a:rPr kumimoji="1" lang="zh-CN" altLang="en-US" sz="2400" b="1" dirty="0">
                <a:latin typeface="宋体" pitchFamily="2" charset="-122"/>
              </a:rPr>
              <a:t>    对于</a:t>
            </a:r>
            <a:r>
              <a:rPr kumimoji="1" lang="zh-CN" altLang="en-US" sz="2400" b="1" dirty="0"/>
              <a:t>“</a:t>
            </a:r>
            <a:r>
              <a:rPr kumimoji="1" lang="zh-CN" altLang="en-US" sz="2400" b="1" dirty="0">
                <a:latin typeface="宋体" pitchFamily="2" charset="-122"/>
              </a:rPr>
              <a:t>≥</a:t>
            </a:r>
            <a:r>
              <a:rPr kumimoji="1" lang="zh-CN" altLang="en-US" sz="2400" b="1" dirty="0"/>
              <a:t>”</a:t>
            </a:r>
            <a:r>
              <a:rPr kumimoji="1" lang="zh-CN" altLang="en-US" sz="2400" b="1" dirty="0">
                <a:latin typeface="宋体" pitchFamily="2" charset="-122"/>
              </a:rPr>
              <a:t>情况：在</a:t>
            </a:r>
            <a:r>
              <a:rPr kumimoji="1" lang="zh-CN" altLang="en-US" sz="2400" b="1" dirty="0"/>
              <a:t>“</a:t>
            </a:r>
            <a:r>
              <a:rPr kumimoji="1" lang="zh-CN" altLang="en-US" sz="2400" b="1" dirty="0">
                <a:latin typeface="宋体" pitchFamily="2" charset="-122"/>
              </a:rPr>
              <a:t>≥</a:t>
            </a:r>
            <a:r>
              <a:rPr kumimoji="1" lang="zh-CN" altLang="en-US" sz="2400" b="1" dirty="0"/>
              <a:t>”</a:t>
            </a:r>
            <a:r>
              <a:rPr kumimoji="1" lang="zh-CN" altLang="en-US" sz="2400" b="1" dirty="0">
                <a:latin typeface="宋体" pitchFamily="2" charset="-122"/>
              </a:rPr>
              <a:t>左边减去一个剩余变量（非负），变为等式。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buSzPct val="90000"/>
            </a:pPr>
            <a:r>
              <a:rPr kumimoji="1" lang="zh-CN" altLang="en-US" sz="2400" b="1" dirty="0">
                <a:latin typeface="宋体" pitchFamily="2" charset="-122"/>
              </a:rPr>
              <a:t>    注意：松弛变量、剩余变量在目标函数中的价值系数为0。</a:t>
            </a: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323528" y="5363343"/>
            <a:ext cx="8534400" cy="884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buSzPct val="90000"/>
            </a:pPr>
            <a:r>
              <a:rPr kumimoji="1" lang="zh-CN" altLang="en-US" sz="2400" dirty="0">
                <a:latin typeface="宋体" pitchFamily="2" charset="-122"/>
              </a:rPr>
              <a:t>  </a:t>
            </a:r>
            <a:r>
              <a:rPr kumimoji="1" lang="zh-CN" altLang="en-US" sz="2400" b="1" dirty="0">
                <a:latin typeface="宋体" pitchFamily="2" charset="-122"/>
              </a:rPr>
              <a:t>(3)无约束变量</a:t>
            </a:r>
            <a:endParaRPr kumimoji="1"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l" eaLnBrk="1" hangingPunct="1">
              <a:buSzPct val="90000"/>
            </a:pPr>
            <a:r>
              <a:rPr kumimoji="1" lang="zh-CN" altLang="en-US" sz="2400" b="1" dirty="0">
                <a:latin typeface="宋体" pitchFamily="2" charset="-122"/>
              </a:rPr>
              <a:t>     令</a:t>
            </a:r>
            <a:r>
              <a:rPr kumimoji="1" lang="en-US" altLang="zh-CN" sz="2400" b="1" dirty="0" err="1">
                <a:latin typeface="宋体" pitchFamily="2" charset="-122"/>
              </a:rPr>
              <a:t>x</a:t>
            </a:r>
            <a:r>
              <a:rPr kumimoji="1" lang="en-US" altLang="zh-CN" sz="2400" b="1" baseline="-25000" dirty="0" err="1">
                <a:latin typeface="宋体" pitchFamily="2" charset="-122"/>
              </a:rPr>
              <a:t>k</a:t>
            </a:r>
            <a:r>
              <a:rPr kumimoji="1" lang="en-US" altLang="zh-CN" sz="2400" b="1" dirty="0"/>
              <a:t> = </a:t>
            </a:r>
            <a:r>
              <a:rPr kumimoji="1" lang="en-US" altLang="zh-CN" sz="2400" b="1" dirty="0" err="1">
                <a:latin typeface="宋体" pitchFamily="2" charset="-122"/>
              </a:rPr>
              <a:t>x</a:t>
            </a:r>
            <a:r>
              <a:rPr kumimoji="1" lang="en-US" altLang="zh-CN" sz="2400" b="1" baseline="-25000" dirty="0" err="1">
                <a:latin typeface="宋体" pitchFamily="2" charset="-122"/>
              </a:rPr>
              <a:t>k</a:t>
            </a:r>
            <a:r>
              <a:rPr kumimoji="1" lang="en-US" altLang="zh-CN" sz="2400" b="1" baseline="30000" dirty="0"/>
              <a:t>’ </a:t>
            </a:r>
            <a:r>
              <a:rPr kumimoji="1" lang="en-US" altLang="zh-CN" sz="2400" b="1" dirty="0">
                <a:latin typeface="宋体" pitchFamily="2" charset="-122"/>
              </a:rPr>
              <a:t>-</a:t>
            </a:r>
            <a:r>
              <a:rPr kumimoji="1" lang="en-US" altLang="zh-CN" sz="2400" b="1" baseline="30000" dirty="0"/>
              <a:t> </a:t>
            </a:r>
            <a:r>
              <a:rPr kumimoji="1" lang="en-US" altLang="zh-CN" sz="2400" b="1" dirty="0" err="1">
                <a:latin typeface="宋体" pitchFamily="2" charset="-122"/>
              </a:rPr>
              <a:t>x</a:t>
            </a:r>
            <a:r>
              <a:rPr kumimoji="1" lang="en-US" altLang="zh-CN" sz="2400" b="1" baseline="-25000" dirty="0" err="1">
                <a:latin typeface="宋体" pitchFamily="2" charset="-122"/>
              </a:rPr>
              <a:t>k</a:t>
            </a:r>
            <a:r>
              <a:rPr kumimoji="1" lang="en-US" altLang="zh-CN" sz="2400" b="1" baseline="30000" dirty="0"/>
              <a:t>”</a:t>
            </a:r>
            <a:r>
              <a:rPr kumimoji="1" lang="en-US" altLang="zh-CN" sz="2400" b="1" dirty="0">
                <a:latin typeface="宋体" pitchFamily="2" charset="-122"/>
              </a:rPr>
              <a:t>，</a:t>
            </a:r>
            <a:r>
              <a:rPr kumimoji="1" lang="en-US" altLang="zh-CN" sz="2400" b="1" dirty="0" err="1">
                <a:latin typeface="宋体" pitchFamily="2" charset="-122"/>
              </a:rPr>
              <a:t>x</a:t>
            </a:r>
            <a:r>
              <a:rPr kumimoji="1" lang="en-US" altLang="zh-CN" sz="2400" b="1" baseline="-25000" dirty="0" err="1">
                <a:latin typeface="宋体" pitchFamily="2" charset="-122"/>
              </a:rPr>
              <a:t>k</a:t>
            </a:r>
            <a:r>
              <a:rPr kumimoji="1" lang="en-US" altLang="zh-CN" sz="2400" b="1" baseline="30000" dirty="0"/>
              <a:t>’</a:t>
            </a:r>
            <a:r>
              <a:rPr kumimoji="1" lang="en-US" altLang="zh-CN" sz="2400" b="1" dirty="0">
                <a:latin typeface="宋体" pitchFamily="2" charset="-122"/>
              </a:rPr>
              <a:t>,</a:t>
            </a:r>
            <a:r>
              <a:rPr kumimoji="1" lang="en-US" altLang="zh-CN" sz="2400" b="1" dirty="0" err="1">
                <a:latin typeface="宋体" pitchFamily="2" charset="-122"/>
              </a:rPr>
              <a:t>x</a:t>
            </a:r>
            <a:r>
              <a:rPr kumimoji="1" lang="en-US" altLang="zh-CN" sz="2400" b="1" baseline="-25000" dirty="0" err="1">
                <a:latin typeface="宋体" pitchFamily="2" charset="-122"/>
              </a:rPr>
              <a:t>k</a:t>
            </a:r>
            <a:r>
              <a:rPr kumimoji="1" lang="en-US" altLang="zh-CN" sz="2400" b="1" baseline="30000" dirty="0"/>
              <a:t>” </a:t>
            </a:r>
            <a:r>
              <a:rPr kumimoji="1" lang="en-US" altLang="zh-CN" sz="2400" b="1" dirty="0">
                <a:latin typeface="宋体" pitchFamily="2" charset="-122"/>
              </a:rPr>
              <a:t>≥</a:t>
            </a:r>
            <a:r>
              <a:rPr kumimoji="1" lang="en-US" altLang="zh-CN" sz="2400" b="1" baseline="30000" dirty="0"/>
              <a:t> </a:t>
            </a:r>
            <a:r>
              <a:rPr kumimoji="1" lang="en-US" altLang="zh-CN" sz="2400" b="1" dirty="0">
                <a:latin typeface="宋体" pitchFamily="2" charset="-122"/>
              </a:rPr>
              <a:t>0，</a:t>
            </a:r>
            <a:r>
              <a:rPr kumimoji="1" lang="zh-CN" altLang="en-US" sz="2400" b="1" dirty="0">
                <a:latin typeface="宋体" pitchFamily="2" charset="-122"/>
              </a:rPr>
              <a:t>代入即可。</a:t>
            </a:r>
            <a:r>
              <a:rPr kumimoji="1" lang="zh-CN" altLang="en-US" sz="2800" b="1" dirty="0">
                <a:latin typeface="宋体" pitchFamily="2" charset="-122"/>
              </a:rPr>
              <a:t> 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849847"/>
              </p:ext>
            </p:extLst>
          </p:nvPr>
        </p:nvGraphicFramePr>
        <p:xfrm>
          <a:off x="4938390" y="2059990"/>
          <a:ext cx="695567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60" imgH="203040" progId="Equation.DSMT4">
                  <p:embed/>
                </p:oleObj>
              </mc:Choice>
              <mc:Fallback>
                <p:oleObj name="Equation" r:id="rId2" imgW="279360" imgH="2030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8390" y="2059990"/>
                        <a:ext cx="695567" cy="504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0261045"/>
              </p:ext>
            </p:extLst>
          </p:nvPr>
        </p:nvGraphicFramePr>
        <p:xfrm>
          <a:off x="4243065" y="1680896"/>
          <a:ext cx="6953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279" imgH="203112" progId="Equation.DSMT4">
                  <p:embed/>
                </p:oleObj>
              </mc:Choice>
              <mc:Fallback>
                <p:oleObj name="Equation" r:id="rId2" imgW="279279" imgH="203112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3065" y="1680896"/>
                        <a:ext cx="6953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3995936" y="0"/>
                <a:ext cx="5148064" cy="1636089"/>
              </a:xfrm>
              <a:prstGeom prst="rect">
                <a:avLst/>
              </a:prstGeom>
              <a:ln>
                <a:solidFill>
                  <a:schemeClr val="accent2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sz="3200" b="1" dirty="0"/>
                  <a:t>标准型</a:t>
                </a:r>
                <a:r>
                  <a:rPr lang="en-US" altLang="zh-CN" sz="2800" dirty="0"/>
                  <a:t>          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/>
                      </a:rPr>
                      <m:t>min</m:t>
                    </m:r>
                    <m:r>
                      <a:rPr lang="en-US" altLang="zh-CN" sz="2800" b="0" i="0" smtClean="0">
                        <a:latin typeface="Cambria Math"/>
                      </a:rPr>
                      <m:t>     </m:t>
                    </m:r>
                    <m:r>
                      <m:rPr>
                        <m:sty m:val="p"/>
                      </m:rPr>
                      <a:rPr lang="en-US" altLang="zh-CN" sz="2800" b="0" i="0" smtClean="0">
                        <a:latin typeface="Cambria Math"/>
                      </a:rPr>
                      <m:t>z</m:t>
                    </m:r>
                    <m:r>
                      <a:rPr lang="en-US" altLang="zh-CN" sz="2800" b="0" i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altLang="zh-CN" sz="2800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altLang="zh-CN" sz="2800" b="0" i="1" smtClean="0">
                        <a:latin typeface="Cambria Math"/>
                      </a:rPr>
                      <m:t>𝑥</m:t>
                    </m:r>
                  </m:oMath>
                </a14:m>
                <a:endParaRPr lang="en-US" altLang="zh-CN" sz="2800" b="0" dirty="0"/>
              </a:p>
              <a:p>
                <a:pPr algn="just"/>
                <a:r>
                  <a:rPr lang="en-US" altLang="zh-CN" sz="28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/>
                      </a:rPr>
                      <m:t>                                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/>
                            </a:rPr>
                            <m:t>s</m:t>
                          </m:r>
                          <m:r>
                            <a:rPr lang="en-US" altLang="zh-CN" sz="2800">
                              <a:latin typeface="Cambria Math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/>
                            </a:rPr>
                            <m:t>t</m:t>
                          </m:r>
                          <m:r>
                            <a:rPr lang="en-US" altLang="zh-CN" sz="2800">
                              <a:latin typeface="Cambria Math"/>
                            </a:rPr>
                            <m:t>. 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    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𝐴𝑥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/>
                            </a:rPr>
                            <m:t>𝑏</m:t>
                          </m:r>
                        </m:e>
                      </m:mr>
                      <m:mr>
                        <m:e>
                          <m:r>
                            <a:rPr lang="en-US" altLang="zh-CN" sz="2800" b="0" i="1" smtClean="0">
                              <a:latin typeface="Cambria Math"/>
                            </a:rPr>
                            <m:t>         </m:t>
                          </m:r>
                          <m:r>
                            <a:rPr lang="en-US" altLang="zh-CN" sz="2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/>
                              <a:ea typeface="Cambria Math"/>
                            </a:rPr>
                            <m:t>≥0</m:t>
                          </m:r>
                        </m:e>
                      </m:mr>
                    </m:m>
                  </m:oMath>
                </a14:m>
                <a:endParaRPr lang="en-US" altLang="zh-CN" sz="2800" b="0" dirty="0"/>
              </a:p>
              <a:p>
                <a:r>
                  <a:rPr lang="en-US" altLang="zh-CN" sz="2000" dirty="0"/>
                  <a:t>         </a:t>
                </a:r>
                <a:endParaRPr lang="zh-CN" altLang="zh-CN" sz="20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936" y="0"/>
                <a:ext cx="5148064" cy="1636089"/>
              </a:xfrm>
              <a:prstGeom prst="rect">
                <a:avLst/>
              </a:prstGeom>
              <a:blipFill rotWithShape="0">
                <a:blip r:embed="rId6"/>
                <a:stretch>
                  <a:fillRect l="-2955" t="-5926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/>
          <p:cNvSpPr/>
          <p:nvPr/>
        </p:nvSpPr>
        <p:spPr>
          <a:xfrm>
            <a:off x="82473" y="508865"/>
            <a:ext cx="27109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altLang="zh-CN" sz="2800" b="1" dirty="0">
                <a:solidFill>
                  <a:srgbClr val="0070C0"/>
                </a:solidFill>
                <a:latin typeface="宋体" pitchFamily="2" charset="-122"/>
              </a:rPr>
              <a:t>3.</a:t>
            </a:r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标准型的化法</a:t>
            </a:r>
          </a:p>
        </p:txBody>
      </p:sp>
    </p:spTree>
    <p:extLst>
      <p:ext uri="{BB962C8B-B14F-4D97-AF65-F5344CB8AC3E}">
        <p14:creationId xmlns:p14="http://schemas.microsoft.com/office/powerpoint/2010/main" val="132733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2" grpId="0" autoUpdateAnimBg="0"/>
      <p:bldP spid="22533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17765"/>
            <a:ext cx="8534400" cy="2286000"/>
          </a:xfrm>
        </p:spPr>
        <p:txBody>
          <a:bodyPr>
            <a:norm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例：将下述问题化为标准型</a:t>
            </a:r>
            <a:endParaRPr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  </a:t>
            </a:r>
            <a:r>
              <a:rPr lang="en-US" altLang="zh-CN" sz="2400" b="1" dirty="0">
                <a:latin typeface="宋体" pitchFamily="2" charset="-122"/>
              </a:rPr>
              <a:t>max      z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-x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+2x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-3x</a:t>
            </a:r>
            <a:r>
              <a:rPr lang="en-US" altLang="zh-CN" sz="2400" b="1" baseline="-25000" dirty="0">
                <a:latin typeface="宋体" pitchFamily="2" charset="-122"/>
              </a:rPr>
              <a:t>3</a:t>
            </a:r>
            <a:endParaRPr lang="en-US" altLang="zh-CN" sz="2400" b="1" baseline="-25000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         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+ 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+ x</a:t>
            </a:r>
            <a:r>
              <a:rPr lang="en-US" altLang="zh-CN" sz="2400" b="1" baseline="-25000" dirty="0">
                <a:latin typeface="宋体" pitchFamily="2" charset="-122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≤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7    </a:t>
            </a:r>
            <a:r>
              <a:rPr lang="en-US" altLang="zh-CN" sz="2000" b="1" dirty="0">
                <a:latin typeface="宋体" pitchFamily="2" charset="-122"/>
              </a:rPr>
              <a:t>①</a:t>
            </a:r>
            <a:endParaRPr lang="en-US" altLang="zh-CN" sz="20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	</a:t>
            </a:r>
            <a:r>
              <a:rPr lang="en-US" altLang="zh-CN" sz="2400" b="1" dirty="0" err="1">
                <a:latin typeface="宋体" pitchFamily="2" charset="-122"/>
              </a:rPr>
              <a:t>s.t.</a:t>
            </a:r>
            <a:r>
              <a:rPr lang="en-US" altLang="zh-CN" sz="2400" b="1" dirty="0">
                <a:latin typeface="宋体" pitchFamily="2" charset="-122"/>
              </a:rPr>
              <a:t>	 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- 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+ x</a:t>
            </a:r>
            <a:r>
              <a:rPr lang="en-US" altLang="zh-CN" sz="2400" b="1" baseline="-25000" dirty="0">
                <a:latin typeface="宋体" pitchFamily="2" charset="-122"/>
              </a:rPr>
              <a:t>3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≥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2    </a:t>
            </a:r>
            <a:r>
              <a:rPr lang="en-US" altLang="zh-CN" sz="2000" b="1" dirty="0">
                <a:latin typeface="宋体" pitchFamily="2" charset="-122"/>
              </a:rPr>
              <a:t>②</a:t>
            </a:r>
            <a:endParaRPr lang="en-US" altLang="zh-CN" sz="2000" b="1" dirty="0">
              <a:solidFill>
                <a:srgbClr val="000000"/>
              </a:solidFill>
              <a:latin typeface="宋体" pitchFamily="2" charset="-122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		       -3x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+ 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+2x</a:t>
            </a:r>
            <a:r>
              <a:rPr lang="en-US" altLang="zh-CN" sz="2400" b="1" baseline="-25000" dirty="0">
                <a:latin typeface="宋体" pitchFamily="2" charset="-122"/>
              </a:rPr>
              <a:t>3</a:t>
            </a:r>
            <a:r>
              <a:rPr lang="en-US" altLang="zh-CN" sz="2400" b="1" baseline="-25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= </a:t>
            </a:r>
            <a:r>
              <a:rPr lang="en-US" altLang="zh-CN" sz="2400" b="1" dirty="0">
                <a:latin typeface="宋体" pitchFamily="2" charset="-122"/>
              </a:rPr>
              <a:t>5   </a:t>
            </a:r>
            <a:r>
              <a:rPr lang="en-US" altLang="zh-CN" sz="2000" b="1" dirty="0">
                <a:latin typeface="宋体" pitchFamily="2" charset="-122"/>
              </a:rPr>
              <a:t>③</a:t>
            </a:r>
            <a:endParaRPr lang="en-US" altLang="zh-CN" sz="2000" b="1" dirty="0">
              <a:solidFill>
                <a:srgbClr val="00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	 	       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,x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baseline="-25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≥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0，x</a:t>
            </a:r>
            <a:r>
              <a:rPr lang="en-US" altLang="zh-CN" sz="2400" b="1" baseline="-25000" dirty="0">
                <a:latin typeface="宋体" pitchFamily="2" charset="-122"/>
              </a:rPr>
              <a:t>3</a:t>
            </a:r>
            <a:r>
              <a:rPr lang="zh-CN" altLang="en-US" sz="2400" b="1" dirty="0">
                <a:latin typeface="宋体" pitchFamily="2" charset="-122"/>
              </a:rPr>
              <a:t>无约束 </a:t>
            </a:r>
          </a:p>
        </p:txBody>
      </p:sp>
      <p:sp>
        <p:nvSpPr>
          <p:cNvPr id="16388" name="AutoShape 4"/>
          <p:cNvSpPr>
            <a:spLocks/>
          </p:cNvSpPr>
          <p:nvPr/>
        </p:nvSpPr>
        <p:spPr bwMode="auto">
          <a:xfrm>
            <a:off x="2123728" y="1628800"/>
            <a:ext cx="76200" cy="1143000"/>
          </a:xfrm>
          <a:prstGeom prst="lef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1" name="Text Box 5"/>
              <p:cNvSpPr txBox="1">
                <a:spLocks noChangeArrowheads="1"/>
              </p:cNvSpPr>
              <p:nvPr/>
            </p:nvSpPr>
            <p:spPr bwMode="auto">
              <a:xfrm>
                <a:off x="304800" y="3200400"/>
                <a:ext cx="8534400" cy="120032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just"/>
                <a:r>
                  <a:rPr kumimoji="1" lang="zh-CN" altLang="en-US" sz="2400" b="1" dirty="0">
                    <a:latin typeface="宋体" pitchFamily="2" charset="-122"/>
                  </a:rPr>
                  <a:t>解：令</a:t>
                </a:r>
                <a:r>
                  <a:rPr kumimoji="1" lang="en-US" altLang="zh-CN" sz="2400" b="1" dirty="0">
                    <a:latin typeface="宋体" pitchFamily="2" charset="-122"/>
                  </a:rPr>
                  <a:t>x</a:t>
                </a:r>
                <a:r>
                  <a:rPr kumimoji="1" lang="en-US" altLang="zh-CN" sz="2400" b="1" baseline="-25000" dirty="0">
                    <a:latin typeface="宋体" pitchFamily="2" charset="-122"/>
                  </a:rPr>
                  <a:t>3</a:t>
                </a:r>
                <a:r>
                  <a:rPr kumimoji="1" lang="en-US" altLang="zh-CN" sz="2400" b="1" baseline="-25000" dirty="0"/>
                  <a:t> </a:t>
                </a:r>
                <a:r>
                  <a:rPr kumimoji="1" lang="en-US" altLang="zh-CN" sz="2400" b="1" dirty="0"/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′′</m:t>
                        </m:r>
                      </m:sup>
                    </m:sSubSup>
                    <m:r>
                      <a:rPr lang="en-US" altLang="zh-CN" sz="2400" b="0" i="0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  <m:r>
                      <a:rPr lang="en-US" altLang="zh-CN" sz="2400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′′</m:t>
                    </m:r>
                  </m:oMath>
                </a14:m>
                <a:r>
                  <a:rPr kumimoji="1" lang="en-US" altLang="zh-CN" sz="2400" b="1" dirty="0">
                    <a:latin typeface="宋体" pitchFamily="2" charset="-122"/>
                  </a:rPr>
                  <a:t>≥</a:t>
                </a:r>
                <a:r>
                  <a:rPr kumimoji="1" lang="en-US" altLang="zh-CN" sz="2400" b="1" dirty="0"/>
                  <a:t> </a:t>
                </a:r>
                <a:r>
                  <a:rPr kumimoji="1" lang="en-US" altLang="zh-CN" sz="2400" b="1" dirty="0">
                    <a:latin typeface="宋体" pitchFamily="2" charset="-122"/>
                  </a:rPr>
                  <a:t>0；</a:t>
                </a:r>
                <a:endParaRPr kumimoji="1" lang="en-US" altLang="zh-CN" sz="2400" b="1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algn="just" eaLnBrk="1" hangingPunct="1"/>
                <a:r>
                  <a:rPr kumimoji="1" lang="en-US" altLang="zh-CN" sz="2400" b="1" dirty="0">
                    <a:latin typeface="宋体" pitchFamily="2" charset="-122"/>
                  </a:rPr>
                  <a:t>    ①</a:t>
                </a:r>
                <a:r>
                  <a:rPr kumimoji="1" lang="zh-CN" altLang="en-US" sz="2400" b="1" dirty="0">
                    <a:latin typeface="宋体" pitchFamily="2" charset="-122"/>
                  </a:rPr>
                  <a:t>式加上一个松弛变量</a:t>
                </a:r>
                <a:r>
                  <a:rPr kumimoji="1" lang="en-US" altLang="zh-CN" sz="2400" b="1" dirty="0">
                    <a:latin typeface="宋体" pitchFamily="2" charset="-122"/>
                  </a:rPr>
                  <a:t>x</a:t>
                </a:r>
                <a:r>
                  <a:rPr kumimoji="1" lang="en-US" altLang="zh-CN" sz="2400" b="1" baseline="-25000" dirty="0">
                    <a:latin typeface="宋体" pitchFamily="2" charset="-122"/>
                  </a:rPr>
                  <a:t>4</a:t>
                </a:r>
                <a:r>
                  <a:rPr kumimoji="1" lang="en-US" altLang="zh-CN" sz="2400" b="1" dirty="0">
                    <a:latin typeface="宋体" pitchFamily="2" charset="-122"/>
                  </a:rPr>
                  <a:t>；②</a:t>
                </a:r>
                <a:r>
                  <a:rPr kumimoji="1" lang="zh-CN" altLang="en-US" sz="2400" b="1" dirty="0">
                    <a:latin typeface="宋体" pitchFamily="2" charset="-122"/>
                  </a:rPr>
                  <a:t>式减去一个剩余变量</a:t>
                </a:r>
                <a:r>
                  <a:rPr kumimoji="1" lang="en-US" altLang="zh-CN" sz="2400" b="1" dirty="0">
                    <a:latin typeface="宋体" pitchFamily="2" charset="-122"/>
                  </a:rPr>
                  <a:t>x</a:t>
                </a:r>
                <a:r>
                  <a:rPr kumimoji="1" lang="en-US" altLang="zh-CN" sz="2400" b="1" baseline="-25000" dirty="0">
                    <a:latin typeface="宋体" pitchFamily="2" charset="-122"/>
                  </a:rPr>
                  <a:t>5</a:t>
                </a:r>
                <a:r>
                  <a:rPr kumimoji="1" lang="en-US" altLang="zh-CN" sz="2400" b="1" dirty="0">
                    <a:latin typeface="宋体" pitchFamily="2" charset="-122"/>
                  </a:rPr>
                  <a:t>；</a:t>
                </a:r>
                <a:endParaRPr kumimoji="1" lang="en-US" altLang="zh-CN" sz="2400" b="1" baseline="-25000" dirty="0">
                  <a:solidFill>
                    <a:srgbClr val="000000"/>
                  </a:solidFill>
                  <a:latin typeface="宋体" pitchFamily="2" charset="-122"/>
                </a:endParaRPr>
              </a:p>
              <a:p>
                <a:pPr algn="just"/>
                <a:r>
                  <a:rPr kumimoji="1" lang="zh-CN" altLang="en-US" sz="2400" b="1" dirty="0">
                    <a:latin typeface="宋体" pitchFamily="2" charset="-122"/>
                  </a:rPr>
                  <a:t>    令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′</m:t>
                    </m:r>
                  </m:oMath>
                </a14:m>
                <a:r>
                  <a:rPr kumimoji="1" lang="en-US" altLang="zh-CN" sz="2400" b="1" dirty="0"/>
                  <a:t>= </a:t>
                </a:r>
                <a:r>
                  <a:rPr kumimoji="1" lang="en-US" altLang="zh-CN" sz="2400" b="1" dirty="0">
                    <a:latin typeface="宋体" pitchFamily="2" charset="-122"/>
                  </a:rPr>
                  <a:t>-z</a:t>
                </a:r>
              </a:p>
            </p:txBody>
          </p:sp>
        </mc:Choice>
        <mc:Fallback xmlns="">
          <p:sp>
            <p:nvSpPr>
              <p:cNvPr id="2458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" y="3200400"/>
                <a:ext cx="8534400" cy="1200329"/>
              </a:xfrm>
              <a:prstGeom prst="rect">
                <a:avLst/>
              </a:prstGeom>
              <a:blipFill>
                <a:blip r:embed="rId2"/>
                <a:stretch>
                  <a:fillRect l="-1071" t="-5584" b="-111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0621C246-C84A-3F85-D6C6-117DCF1653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362" y="4509120"/>
                <a:ext cx="9649072" cy="257275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anose="02020503050405090304" pitchFamily="18" charset="0"/>
                    <a:ea typeface="宋体" pitchFamily="2" charset="-122"/>
                  </a:defRPr>
                </a:lvl9pPr>
              </a:lstStyle>
              <a:p>
                <a:pPr indent="6096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kern="10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min</m:t>
                      </m:r>
                      <m:r>
                        <a:rPr lang="en-US" sz="2400" kern="100" smtClean="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3(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′−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′′)+0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5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s</m:t>
                      </m:r>
                      <m:r>
                        <a:rPr lang="en-US" sz="2400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sz="2400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t</m:t>
                      </m:r>
                      <m:r>
                        <a:rPr lang="en-US" sz="2400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+(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′−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′′</m:t>
                              </m:r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)+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=7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+(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′−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′′</m:t>
                              </m:r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=2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n-US" sz="2400" b="0" i="0" kern="100" smtClean="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′−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′′</m:t>
                              </m:r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)=5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′′</m:t>
                              </m:r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400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sz="2400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endParaRPr kumimoji="1" lang="zh-CN" altLang="en-US" sz="2400" b="1" dirty="0">
                  <a:latin typeface="宋体" pitchFamily="2" charset="-122"/>
                </a:endParaRPr>
              </a:p>
            </p:txBody>
          </p:sp>
        </mc:Choice>
        <mc:Fallback xmlns="">
          <p:sp>
            <p:nvSpPr>
              <p:cNvPr id="2" name="Text Box 5">
                <a:extLst>
                  <a:ext uri="{FF2B5EF4-FFF2-40B4-BE49-F238E27FC236}">
                    <a16:creationId xmlns:a16="http://schemas.microsoft.com/office/drawing/2014/main" id="{0621C246-C84A-3F85-D6C6-117DCF165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6362" y="4509120"/>
                <a:ext cx="9649072" cy="25727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740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utoUpdateAnimBg="0"/>
      <p:bldP spid="2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9EB0A39-59BC-490F-94A8-F16B15B8D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45758"/>
            <a:ext cx="41472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将线性规划问题化为标准型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AE5FFD7-714D-4EB8-AB18-507DA0D4F7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020813"/>
              </p:ext>
            </p:extLst>
          </p:nvPr>
        </p:nvGraphicFramePr>
        <p:xfrm>
          <a:off x="1331640" y="836817"/>
          <a:ext cx="2736304" cy="1787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04900" imgH="736600" progId="Equation.DSMT4">
                  <p:embed/>
                </p:oleObj>
              </mc:Choice>
              <mc:Fallback>
                <p:oleObj name="Equation" r:id="rId2" imgW="1104900" imgH="736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836817"/>
                        <a:ext cx="2736304" cy="1787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135B3D8F-2ADB-4376-9E23-08126F55A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31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679AD43-FD32-6834-829F-50ED538939E9}"/>
                  </a:ext>
                </a:extLst>
              </p:cNvPr>
              <p:cNvSpPr txBox="1"/>
              <p:nvPr/>
            </p:nvSpPr>
            <p:spPr>
              <a:xfrm>
                <a:off x="77280" y="3645024"/>
                <a:ext cx="7777498" cy="22655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503050405090304" pitchFamily="18" charset="0"/>
                  </a:rPr>
                  <a:t> </a:t>
                </a: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50305040509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DejaVu Math TeX Gyre" panose="02000503000000000000" charset="0"/>
                        </a:rPr>
                        <m:t>min</m:t>
                      </m:r>
                      <m:r>
                        <a:rPr lang="en-US" altLang="zh-CN" sz="2400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⁡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 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DejaVu Math TeX Gyre" panose="02000503000000000000" charset="0"/>
                        </a:rPr>
                        <m:t>𝑤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=−(</m:t>
                      </m:r>
                      <m:sSubSup>
                        <m:sSub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′′</m:t>
                          </m:r>
                        </m:sup>
                      </m:sSub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)−3</m:t>
                      </m:r>
                      <m:d>
                        <m:d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′</m:t>
                              </m:r>
                            </m:sup>
                          </m:sSub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宋体" charset="0"/>
                              <a:cs typeface="DejaVu Math TeX Gyre" panose="02000503000000000000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CN" sz="2400" b="0" i="1" kern="100" smtClean="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′′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5030504050903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DejaVu Math TeX Gyre" panose="02000503000000000000" charset="0"/>
                        </a:rPr>
                        <m:t>𝑠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.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DejaVu Math TeX Gyre" panose="02000503000000000000" charset="0"/>
                        </a:rPr>
                        <m:t>𝑡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2</m:t>
                                </m:r>
                                <m:d>
                                  <m:d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+3</m:t>
                                </m:r>
                                <m:d>
                                  <m:d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=6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1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−</m:t>
                                    </m:r>
                                    <m:sSubSup>
                                      <m:sSubSupPr>
                                        <m:ctrlPr>
                                          <a:rPr lang="zh-CN" altLang="zh-CN" sz="2400" i="1" kern="10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DejaVu Math TeX Gyre" panose="02000503000000000000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等线" panose="02010600030101010101" pitchFamily="2" charset="-122"/>
                                            <a:cs typeface="DejaVu Math TeX Gyre" panose="02000503000000000000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en-US" altLang="zh-CN" sz="2400" i="1" kern="100">
                                            <a:latin typeface="Cambria Math" panose="02040503050406030204" pitchFamily="18" charset="0"/>
                                            <a:ea typeface="宋体" charset="0"/>
                                            <a:cs typeface="DejaVu Math TeX Gyre" panose="02000503000000000000" charset="0"/>
                                          </a:rPr>
                                          <m:t>′′</m:t>
                                        </m:r>
                                      </m:sup>
                                    </m:sSubSup>
                                  </m:e>
                                </m:d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=1</m:t>
                                </m:r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kern="100" smtClean="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′′</m:t>
                                    </m:r>
                                  </m:sup>
                                </m:sSub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Sup>
                                  <m:sSubSup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′′</m:t>
                                    </m:r>
                                  </m:sup>
                                </m:sSubSup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zh-CN" altLang="zh-CN" sz="2400" i="1" kern="1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DejaVu Math TeX Gyre" panose="02000503000000000000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等线" panose="02010600030101010101" pitchFamily="2" charset="-122"/>
                                        <a:cs typeface="DejaVu Math TeX Gyre" panose="02000503000000000000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kern="100">
                                        <a:latin typeface="Cambria Math" panose="02040503050406030204" pitchFamily="18" charset="0"/>
                                        <a:ea typeface="宋体" charset="0"/>
                                        <a:cs typeface="DejaVu Math TeX Gyre" panose="02000503000000000000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i="1" kern="100">
                                    <a:latin typeface="Cambria Math" panose="02040503050406030204" pitchFamily="18" charset="0"/>
                                    <a:ea typeface="宋体" charset="0"/>
                                    <a:cs typeface="DejaVu Math TeX Gyre" panose="02000503000000000000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503050405090304" pitchFamily="18" charset="0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679AD43-FD32-6834-829F-50ED53893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0" y="3645024"/>
                <a:ext cx="7777498" cy="2265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66AFC7-B3CF-3F2B-0C30-7D99D9B17C2A}"/>
                  </a:ext>
                </a:extLst>
              </p:cNvPr>
              <p:cNvSpPr txBox="1"/>
              <p:nvPr/>
            </p:nvSpPr>
            <p:spPr>
              <a:xfrm>
                <a:off x="5025619" y="179549"/>
                <a:ext cx="4147185" cy="2235200"/>
              </a:xfrm>
              <a:prstGeom prst="rect">
                <a:avLst/>
              </a:prstGeom>
              <a:blipFill rotWithShape="1">
                <a:blip r:embed="rId5"/>
                <a:tile tx="0" ty="0" sx="100000" sy="100000" flip="none" algn="tl"/>
              </a:blipFill>
              <a:ln>
                <a:solidFill>
                  <a:schemeClr val="tx2"/>
                </a:solidFill>
              </a:ln>
            </p:spPr>
            <p:txBody>
              <a:bodyPr wrap="square">
                <a:noAutofit/>
              </a:bodyPr>
              <a:lstStyle/>
              <a:p>
                <a:pPr algn="just"/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503050405090304" pitchFamily="18" charset="0"/>
                  </a:rPr>
                  <a:t>任给一实数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DejaVu Math TeX Gyre" panose="02000503000000000000" charset="0"/>
                      </a:rPr>
                      <m:t>𝑎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503050405090304" pitchFamily="18" charset="0"/>
                  </a:rPr>
                  <a:t>，有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DejaVu Math TeX Gyre" panose="02000503000000000000" charset="0"/>
                        </a:rPr>
                        <m:t>𝑎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=</m:t>
                      </m:r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𝑎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+</m:t>
                      </m:r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𝑎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  =</m:t>
                      </m:r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𝑎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−</m:t>
                      </m:r>
                      <m:func>
                        <m:func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−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DejaVu Math TeX Gyre" panose="02000503000000000000" charset="0"/>
                                </a:rPr>
                                <m:t>𝑎</m:t>
                              </m:r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宋体" charset="0"/>
                                  <a:cs typeface="DejaVu Math TeX Gyre" panose="02000503000000000000" charset="0"/>
                                </a:rPr>
                                <m:t>,0</m:t>
                              </m:r>
                            </m:e>
                          </m:d>
                        </m:e>
                      </m:func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宋体" charset="0"/>
                          <a:cs typeface="DejaVu Math TeX Gyre" panose="02000503000000000000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sz="2400" b="0" i="1" kern="100" smtClean="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DejaVu Math TeX Gyre" panose="02000503000000000000" charset="0"/>
                            </a:rPr>
                            <m:t>′′</m:t>
                          </m:r>
                        </m:sup>
                      </m:sSup>
                    </m:oMath>
                  </m:oMathPara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503050405090304" pitchFamily="18" charset="0"/>
                </a:endParaRPr>
              </a:p>
              <a:p>
                <a:pPr algn="just"/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503050405090304" pitchFamily="18" charset="0"/>
                  </a:rPr>
                  <a:t>且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DejaVu Math TeX Gyre" panose="02000503000000000000" charset="0"/>
                          </a:rPr>
                          <m:t>𝑎</m:t>
                        </m:r>
                      </m:e>
                    </m:d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DejaVu Math TeX Gyre" panose="02000503000000000000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DejaVu Math TeX Gyre" panose="02000503000000000000" charset="0"/>
                          </a:rPr>
                          <m:t>′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宋体" charset="0"/>
                        <a:cs typeface="DejaVu Math TeX Gyre" panose="02000503000000000000" charset="0"/>
                      </a:rPr>
                      <m:t>+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DejaVu Math TeX Gyre" panose="02000503000000000000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DejaVu Math TeX Gyre" panose="02000503000000000000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DejaVu Math TeX Gyre" panose="02000503000000000000" charset="0"/>
                          </a:rPr>
                          <m:t>′′</m:t>
                        </m:r>
                      </m:sup>
                    </m:sSup>
                  </m:oMath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50305040509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566AFC7-B3CF-3F2B-0C30-7D99D9B17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619" y="179549"/>
                <a:ext cx="4147185" cy="2235200"/>
              </a:xfrm>
              <a:prstGeom prst="rect">
                <a:avLst/>
              </a:prstGeom>
              <a:blipFill>
                <a:blip r:embed="rId6"/>
                <a:stretch>
                  <a:fillRect l="-2050" t="-1626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89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E7DE3B65-2919-D908-43D4-E44755F34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972" y="2893821"/>
                <a:ext cx="8556612" cy="3682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marL="34290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可行解：满足条件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(2)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(3)</m:t>
                    </m:r>
                  </m:oMath>
                </a14:m>
                <a:r>
                  <a:rPr lang="zh-CN" alt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r>
                      <a:rPr lang="en-CN" sz="2400" i="1" kern="100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最优解：满足条件</a:t>
                </a:r>
                <a14:m>
                  <m:oMath xmlns:m="http://schemas.openxmlformats.org/officeDocument/2006/math">
                    <m:r>
                      <a:rPr lang="en-US" altLang="zh-CN" sz="2400" i="1" kern="100" dirty="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lang="zh-CN" alt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的可行解；</a:t>
                </a:r>
                <a:endParaRPr lang="en-CN" sz="105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基：取</a:t>
                </a:r>
                <a14:m>
                  <m:oMath xmlns:m="http://schemas.openxmlformats.org/officeDocument/2006/math">
                    <m:r>
                      <a:rPr lang="en-US" sz="2400" i="1" kern="100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sz="2400" i="1" kern="100" dirty="0" smtClean="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中的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× 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子矩阵，</a:t>
                </a:r>
                <a14:m>
                  <m:oMath xmlns:m="http://schemas.openxmlformats.org/officeDocument/2006/math"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𝑎𝑛𝑘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(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 = 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，则称</a:t>
                </a:r>
                <a:r>
                  <a:rPr 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为线性规划问题的一个基矩阵，简称为一个基。若取</a:t>
                </a:r>
                <a14:m>
                  <m:oMath xmlns:m="http://schemas.openxmlformats.org/officeDocument/2006/math"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= (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,···,</m:t>
                    </m:r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2400" b="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b="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为矩阵</a:t>
                </a:r>
                <a14:m>
                  <m:oMath xmlns:m="http://schemas.openxmlformats.org/officeDocument/2006/math"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的第</a:t>
                </a:r>
                <a14:m>
                  <m:oMath xmlns:m="http://schemas.openxmlformats.org/officeDocument/2006/math">
                    <m:r>
                      <a:rPr lang="en-US" altLang="zh-CN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列，则称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,···,</m:t>
                    </m:r>
                    <m:sSub>
                      <m:sSub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2400" kern="100" dirty="0">
                    <a:latin typeface="DengXian" panose="02010600030101010101" pitchFamily="2" charset="-122"/>
                    <a:ea typeface="SimSun" panose="02010600030101010101" pitchFamily="2" charset="-122"/>
                    <a:cs typeface="Times New Roman" panose="02020603050405020304" pitchFamily="18" charset="0"/>
                  </a:rPr>
                  <a:t>为基变量，其它为非基变量。</a:t>
                </a:r>
                <a:endParaRPr kumimoji="1" lang="zh-CN" altLang="en-US" sz="2400" b="1" dirty="0">
                  <a:latin typeface="宋体" pitchFamily="2" charset="-122"/>
                </a:endParaRPr>
              </a:p>
            </p:txBody>
          </p:sp>
        </mc:Choice>
        <mc:Fallback xmlns=""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E7DE3B65-2919-D908-43D4-E44755F34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972" y="2893821"/>
                <a:ext cx="8556612" cy="3682162"/>
              </a:xfrm>
              <a:prstGeom prst="rect">
                <a:avLst/>
              </a:prstGeom>
              <a:blipFill>
                <a:blip r:embed="rId3"/>
                <a:stretch>
                  <a:fillRect l="-855" r="-1068" b="-281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1A6E6BD-F06B-794B-4B4A-0AC6691DFAEE}"/>
              </a:ext>
            </a:extLst>
          </p:cNvPr>
          <p:cNvSpPr txBox="1"/>
          <p:nvPr/>
        </p:nvSpPr>
        <p:spPr>
          <a:xfrm>
            <a:off x="231972" y="323846"/>
            <a:ext cx="68721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0070C0"/>
                </a:solidFill>
                <a:latin typeface="宋体" pitchFamily="2" charset="-122"/>
              </a:rPr>
              <a:t>4.</a:t>
            </a:r>
            <a:r>
              <a:rPr lang="zh-CN" altLang="en-US" sz="3200" b="1" dirty="0">
                <a:solidFill>
                  <a:srgbClr val="0070C0"/>
                </a:solidFill>
                <a:latin typeface="宋体" pitchFamily="2" charset="-122"/>
              </a:rPr>
              <a:t>线性规划解的概念</a:t>
            </a:r>
            <a:endParaRPr lang="zh-CN" altLang="en-US" sz="3200" b="1" dirty="0">
              <a:latin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0C195F-A397-19F5-04A7-FACEFE66CEB9}"/>
                  </a:ext>
                </a:extLst>
              </p:cNvPr>
              <p:cNvSpPr txBox="1"/>
              <p:nvPr/>
            </p:nvSpPr>
            <p:spPr>
              <a:xfrm>
                <a:off x="-684315" y="1130222"/>
                <a:ext cx="10009112" cy="1285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kern="100" smtClean="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 i="0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en-CN" altLang="zh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CN" altLang="zh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CN" altLang="zh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CN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𝑠</m:t>
                      </m:r>
                      <m:r>
                        <a:rPr lang="en-CN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CN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𝑡</m:t>
                      </m:r>
                      <m:r>
                        <a:rPr lang="en-CN" sz="2400" i="1" kern="100"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𝐴𝑥</m:t>
                              </m:r>
                              <m: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br>
                  <a:rPr lang="en-CN" sz="2400" i="1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endParaRPr lang="en-CN" sz="2400" kern="100" dirty="0"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0C195F-A397-19F5-04A7-FACEFE66C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84315" y="1130222"/>
                <a:ext cx="10009112" cy="1285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F588431-D895-9FA3-6D86-4D0E3C3EF387}"/>
              </a:ext>
            </a:extLst>
          </p:cNvPr>
          <p:cNvSpPr txBox="1"/>
          <p:nvPr/>
        </p:nvSpPr>
        <p:spPr>
          <a:xfrm>
            <a:off x="5076056" y="1154175"/>
            <a:ext cx="1080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(1)</a:t>
            </a:r>
          </a:p>
          <a:p>
            <a:r>
              <a:rPr lang="en-US" altLang="zh-CN" sz="2400" dirty="0"/>
              <a:t>(2)</a:t>
            </a:r>
          </a:p>
          <a:p>
            <a:r>
              <a:rPr lang="en-US" altLang="zh-CN" sz="2400" dirty="0"/>
              <a:t>(3)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A84EE8D-685B-CAF3-A028-0219CD3E40EE}"/>
                  </a:ext>
                </a:extLst>
              </p:cNvPr>
              <p:cNvSpPr txBox="1"/>
              <p:nvPr/>
            </p:nvSpPr>
            <p:spPr>
              <a:xfrm>
                <a:off x="619265" y="2439720"/>
                <a:ext cx="609755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100" dirty="0">
                    <a:latin typeface="SimSun" panose="02010600030101010101" pitchFamily="2" charset="-122"/>
                    <a:ea typeface="DengXian" panose="02010600030101010101" pitchFamily="2" charset="-122"/>
                    <a:cs typeface="Times New Roman" panose="02020603050405020304" pitchFamily="18" charset="0"/>
                  </a:rPr>
                  <a:t>这里</a:t>
                </a:r>
                <a14:m>
                  <m:oMath xmlns:m="http://schemas.openxmlformats.org/officeDocument/2006/math"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CN" altLang="zh-CN" sz="240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CN" altLang="zh-CN" sz="240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altLang="zh-CN" sz="2400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/>
                  <a:t>，</a:t>
                </a:r>
                <a:r>
                  <a:rPr lang="en-CN" altLang="zh-CN" sz="2400" kern="100" dirty="0">
                    <a:ea typeface="SimSu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/>
                  <a:t>，且假设</a:t>
                </a:r>
                <a14:m>
                  <m:oMath xmlns:m="http://schemas.openxmlformats.org/officeDocument/2006/math">
                    <m:r>
                      <a:rPr lang="en-CN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2400" dirty="0"/>
                  <a:t>为行满秩。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A84EE8D-685B-CAF3-A028-0219CD3E4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265" y="2439720"/>
                <a:ext cx="6097554" cy="461665"/>
              </a:xfrm>
              <a:prstGeom prst="rect">
                <a:avLst/>
              </a:prstGeom>
              <a:blipFill>
                <a:blip r:embed="rId5"/>
                <a:stretch>
                  <a:fillRect l="-1600" t="-15789" r="-6500" b="-31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0E9A490-8AE8-9E04-EA28-64C256032341}"/>
              </a:ext>
            </a:extLst>
          </p:cNvPr>
          <p:cNvSpPr txBox="1"/>
          <p:nvPr/>
        </p:nvSpPr>
        <p:spPr>
          <a:xfrm>
            <a:off x="107504" y="260648"/>
            <a:ext cx="7096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400" b="1" kern="100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endParaRPr lang="zh-CN" altLang="zh-CN" sz="2400" b="1" kern="1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2400" b="1" i="1" kern="1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400" b="1" kern="1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6A715F9-1827-5A4D-0934-A25FC6C024C9}"/>
                  </a:ext>
                </a:extLst>
              </p:cNvPr>
              <p:cNvSpPr txBox="1"/>
              <p:nvPr/>
            </p:nvSpPr>
            <p:spPr>
              <a:xfrm>
                <a:off x="0" y="805157"/>
                <a:ext cx="4572000" cy="2388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609600" algn="just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kern="1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kern="1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min</m:t>
                      </m:r>
                      <m:r>
                        <a:rPr lang="en-US" sz="2400" b="0" i="0" kern="1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kern="1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w</m:t>
                      </m:r>
                      <m:r>
                        <a:rPr lang="en-US" sz="2400" kern="100" smtClean="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2400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CN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 kern="100">
                          <a:effectLst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N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 kern="100">
                              <a:effectLst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N" sz="2400" kern="100" dirty="0">
                  <a:effectLst/>
                  <a:latin typeface="DengXian" panose="02010600030101010101" pitchFamily="2" charset="-122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      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  <m:r>
                      <a:rPr lang="en-US" sz="2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400" kern="100">
                        <a:effectLst/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d>
                      <m:dPr>
                        <m:begChr m:val="{"/>
                        <m:endChr m:val=""/>
                        <m:ctrlPr>
                          <a:rPr lang="en-CN" sz="2400" i="1">
                            <a:effectLst/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N" sz="2400" i="1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=15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+2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=24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=5</m:t>
                            </m:r>
                          </m:e>
                          <m:e>
                            <m:sSub>
                              <m:sSubPr>
                                <m:ctrlPr>
                                  <a:rPr lang="en-CN" sz="2400" i="1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 kern="100">
                                    <a:effectLst/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≥0,</m:t>
                            </m:r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  <m:t>=1,2,3,4,5</m:t>
                            </m:r>
                          </m:e>
                        </m:eqArr>
                      </m:e>
                    </m:d>
                  </m:oMath>
                </a14:m>
                <a:r>
                  <a:rPr lang="en-CN" sz="2400" dirty="0">
                    <a:effectLst/>
                  </a:rPr>
                  <a:t> </a:t>
                </a:r>
                <a:endPara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6A715F9-1827-5A4D-0934-A25FC6C02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05157"/>
                <a:ext cx="4572000" cy="2388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5CDE770A-5445-47A2-C6AC-C4C12809CDA2}"/>
                  </a:ext>
                </a:extLst>
              </p:cNvPr>
              <p:cNvSpPr txBox="1"/>
              <p:nvPr/>
            </p:nvSpPr>
            <p:spPr>
              <a:xfrm>
                <a:off x="323528" y="3755078"/>
                <a:ext cx="5472608" cy="2469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基矩阵：</a:t>
                </a:r>
                <a14:m>
                  <m:oMath xmlns:m="http://schemas.openxmlformats.org/officeDocument/2006/math"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br>
                  <a:rPr lang="en-US" sz="2400" i="1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基向量：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=3,4,5</m:t>
                        </m:r>
                      </m:e>
                    </m:d>
                  </m:oMath>
                </a14:m>
                <a:b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基变量：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=3,4,5</m:t>
                        </m:r>
                      </m:e>
                    </m:d>
                  </m:oMath>
                </a14:m>
                <a:endParaRPr lang="en-US" altLang="zh-CN" sz="2400" kern="100" dirty="0"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非基变量：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=1,2</m:t>
                        </m:r>
                      </m:e>
                    </m:d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6" name="TextBox 4">
                <a:extLst>
                  <a:ext uri="{FF2B5EF4-FFF2-40B4-BE49-F238E27FC236}">
                    <a16:creationId xmlns:a16="http://schemas.microsoft.com/office/drawing/2014/main" id="{5CDE770A-5445-47A2-C6AC-C4C12809C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55078"/>
                <a:ext cx="5472608" cy="2469266"/>
              </a:xfrm>
              <a:prstGeom prst="rect">
                <a:avLst/>
              </a:prstGeom>
              <a:blipFill>
                <a:blip r:embed="rId3"/>
                <a:stretch>
                  <a:fillRect l="-1670" b="-2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1F0FCF62-2E2C-CEE9-7B66-D3809D276AB4}"/>
                  </a:ext>
                </a:extLst>
              </p:cNvPr>
              <p:cNvSpPr txBox="1"/>
              <p:nvPr/>
            </p:nvSpPr>
            <p:spPr>
              <a:xfrm>
                <a:off x="4644008" y="3737755"/>
                <a:ext cx="5472608" cy="2469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基矩阵：</a:t>
                </a:r>
                <a14:m>
                  <m:oMath xmlns:m="http://schemas.openxmlformats.org/officeDocument/2006/math">
                    <m:r>
                      <a:rPr lang="en-US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CN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kern="100" smtClean="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br>
                  <a:rPr lang="en-US" sz="2400" i="1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基向量：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=1,2,3</m:t>
                        </m:r>
                      </m:e>
                    </m:d>
                  </m:oMath>
                </a14:m>
                <a:b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</a:b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基变量：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=1,2,3</m:t>
                        </m:r>
                      </m:e>
                    </m:d>
                  </m:oMath>
                </a14:m>
                <a:endParaRPr lang="en-US" altLang="zh-CN" sz="2400" kern="100" dirty="0">
                  <a:latin typeface="Cambria Math" panose="02040503050406030204" pitchFamily="18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kern="100" dirty="0">
                    <a:latin typeface="Cambria Math" panose="02040503050406030204" pitchFamily="18" charset="0"/>
                    <a:ea typeface="SimSun" panose="02010600030101010101" pitchFamily="2" charset="-122"/>
                    <a:cs typeface="Times New Roman" panose="02020603050405020304" pitchFamily="18" charset="0"/>
                  </a:rPr>
                  <a:t>非基变量：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  <m:t>=4,5</m:t>
                        </m:r>
                      </m:e>
                    </m:d>
                  </m:oMath>
                </a14:m>
                <a:endParaRPr lang="en-CN" sz="2400" dirty="0"/>
              </a:p>
            </p:txBody>
          </p:sp>
        </mc:Choice>
        <mc:Fallback xmlns="">
          <p:sp>
            <p:nvSpPr>
              <p:cNvPr id="7" name="TextBox 4">
                <a:extLst>
                  <a:ext uri="{FF2B5EF4-FFF2-40B4-BE49-F238E27FC236}">
                    <a16:creationId xmlns:a16="http://schemas.microsoft.com/office/drawing/2014/main" id="{1F0FCF62-2E2C-CEE9-7B66-D3809D276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008" y="3737755"/>
                <a:ext cx="5472608" cy="2469266"/>
              </a:xfrm>
              <a:prstGeom prst="rect">
                <a:avLst/>
              </a:prstGeom>
              <a:blipFill>
                <a:blip r:embed="rId4"/>
                <a:stretch>
                  <a:fillRect l="-1782" b="-27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FA04BD-F250-1E59-ABDB-F7E5AAB82039}"/>
                  </a:ext>
                </a:extLst>
              </p:cNvPr>
              <p:cNvSpPr txBox="1"/>
              <p:nvPr/>
            </p:nvSpPr>
            <p:spPr>
              <a:xfrm>
                <a:off x="4283968" y="1460977"/>
                <a:ext cx="6377472" cy="10764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kern="100" dirty="0">
                    <a:ea typeface="SimSun" panose="02010600030101010101" pitchFamily="2" charset="-122"/>
                    <a:cs typeface="Times New Roman" panose="02020603050405020304" pitchFamily="18" charset="0"/>
                  </a:rPr>
                  <a:t>系数矩阵：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SimSu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CN" altLang="zh-CN" sz="2400" i="1" kern="100">
                            <a:latin typeface="Cambria Math" panose="02040503050406030204" pitchFamily="18" charset="0"/>
                            <a:ea typeface="SimSu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N" altLang="zh-CN" sz="2400" i="1" kern="10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N" altLang="zh-CN" sz="2400" i="1" kern="100">
                                <a:latin typeface="Cambria Math" panose="02040503050406030204" pitchFamily="18" charset="0"/>
                                <a:ea typeface="SimSu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1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     0</m:t>
                              </m:r>
                            </m:e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CFA04BD-F250-1E59-ABDB-F7E5AAB82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1460977"/>
                <a:ext cx="6377472" cy="1076449"/>
              </a:xfrm>
              <a:prstGeom prst="rect">
                <a:avLst/>
              </a:prstGeom>
              <a:blipFill>
                <a:blip r:embed="rId5"/>
                <a:stretch>
                  <a:fillRect l="-15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516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260648"/>
            <a:ext cx="8534400" cy="4609764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4、基本解：取</a:t>
            </a:r>
            <a:r>
              <a:rPr lang="en-US" altLang="zh-CN" sz="2400" b="1" dirty="0">
                <a:latin typeface="宋体" pitchFamily="2" charset="-122"/>
              </a:rPr>
              <a:t>B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(A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dirty="0">
                <a:latin typeface="宋体" pitchFamily="2" charset="-122"/>
              </a:rPr>
              <a:t>,A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latin typeface="宋体" pitchFamily="2" charset="-122"/>
              </a:rPr>
              <a:t>,A</a:t>
            </a:r>
            <a:r>
              <a:rPr lang="en-US" altLang="zh-CN" sz="2400" b="1" baseline="-25000" dirty="0">
                <a:latin typeface="宋体" pitchFamily="2" charset="-122"/>
              </a:rPr>
              <a:t>m</a:t>
            </a:r>
            <a:r>
              <a:rPr lang="en-US" altLang="zh-CN" sz="2400" b="1" dirty="0">
                <a:latin typeface="宋体" pitchFamily="2" charset="-122"/>
              </a:rPr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4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   </a:t>
            </a:r>
            <a:r>
              <a:rPr lang="en-US" altLang="zh-CN" sz="2400" b="1" dirty="0">
                <a:latin typeface="宋体" pitchFamily="2" charset="-122"/>
              </a:rPr>
              <a:t>a</a:t>
            </a:r>
            <a:r>
              <a:rPr lang="en-US" altLang="zh-CN" sz="2400" b="1" baseline="-25000" dirty="0">
                <a:latin typeface="宋体" pitchFamily="2" charset="-122"/>
              </a:rPr>
              <a:t>11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1m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1m+1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1n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m+1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b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┆    ┆  ┆ +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┆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┆   ┆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┆</a:t>
            </a:r>
            <a:r>
              <a:rPr lang="en-US" altLang="zh-CN" sz="2800" b="1" dirty="0">
                <a:solidFill>
                  <a:srgbClr val="000000"/>
                </a:solidFill>
                <a:latin typeface="宋体" pitchFamily="2" charset="-122"/>
              </a:rPr>
              <a:t>  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 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m1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a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mm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m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a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mm+1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a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mn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n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b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m</a:t>
            </a:r>
            <a:endParaRPr lang="en-US" altLang="zh-CN" sz="2400" b="1" baseline="-25000" dirty="0">
              <a:solidFill>
                <a:srgbClr val="00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  <a:cs typeface="Times New Roman" pitchFamily="18" charset="0"/>
              </a:rPr>
              <a:t>      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  <a:cs typeface="Times New Roman" pitchFamily="18" charset="0"/>
              </a:rPr>
              <a:t>↑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  <a:cs typeface="Times New Roman" pitchFamily="18" charset="0"/>
              </a:rPr>
              <a:t>↑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   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  <a:cs typeface="Times New Roman" pitchFamily="18" charset="0"/>
              </a:rPr>
              <a:t>↑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   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  <a:cs typeface="Times New Roman" pitchFamily="18" charset="0"/>
              </a:rPr>
              <a:t>↑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       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基   基变量  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非基 非基变量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    令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m+1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··· = </a:t>
            </a:r>
            <a:r>
              <a:rPr lang="en-US" altLang="zh-CN" sz="2400" b="1" dirty="0" err="1">
                <a:solidFill>
                  <a:srgbClr val="000000"/>
                </a:solidFill>
                <a:latin typeface="宋体" pitchFamily="2" charset="-122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n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0 (</a:t>
            </a: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非基变量为0)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    则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BX</a:t>
            </a:r>
            <a:r>
              <a:rPr lang="en-US" altLang="zh-CN" sz="2400" b="1" baseline="-25000" dirty="0">
                <a:solidFill>
                  <a:srgbClr val="000000"/>
                </a:solidFill>
                <a:latin typeface="宋体" pitchFamily="2" charset="-122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  <a:cs typeface="Times New Roman" pitchFamily="18" charset="0"/>
              </a:rPr>
              <a:t>∴</a:t>
            </a:r>
            <a:r>
              <a:rPr lang="zh-CN" altLang="en-US" sz="2400" dirty="0">
                <a:latin typeface="宋体" pitchFamily="2" charset="-122"/>
              </a:rPr>
              <a:t>   </a:t>
            </a:r>
          </a:p>
        </p:txBody>
      </p:sp>
      <p:sp>
        <p:nvSpPr>
          <p:cNvPr id="18436" name="AutoShape 15"/>
          <p:cNvSpPr>
            <a:spLocks/>
          </p:cNvSpPr>
          <p:nvPr/>
        </p:nvSpPr>
        <p:spPr bwMode="auto">
          <a:xfrm>
            <a:off x="1066800" y="1155576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AutoShape 16"/>
          <p:cNvSpPr>
            <a:spLocks/>
          </p:cNvSpPr>
          <p:nvPr/>
        </p:nvSpPr>
        <p:spPr bwMode="auto">
          <a:xfrm>
            <a:off x="2667000" y="1155576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AutoShape 17"/>
          <p:cNvSpPr>
            <a:spLocks/>
          </p:cNvSpPr>
          <p:nvPr/>
        </p:nvSpPr>
        <p:spPr bwMode="auto">
          <a:xfrm>
            <a:off x="3429000" y="1164095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AutoShape 18"/>
          <p:cNvSpPr>
            <a:spLocks/>
          </p:cNvSpPr>
          <p:nvPr/>
        </p:nvSpPr>
        <p:spPr bwMode="auto">
          <a:xfrm>
            <a:off x="5257800" y="1164095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AutoShape 19"/>
          <p:cNvSpPr>
            <a:spLocks/>
          </p:cNvSpPr>
          <p:nvPr/>
        </p:nvSpPr>
        <p:spPr bwMode="auto">
          <a:xfrm>
            <a:off x="6156176" y="1228023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AutoShape 20"/>
          <p:cNvSpPr>
            <a:spLocks/>
          </p:cNvSpPr>
          <p:nvPr/>
        </p:nvSpPr>
        <p:spPr bwMode="auto">
          <a:xfrm flipH="1">
            <a:off x="2525486" y="1155576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AutoShape 21"/>
          <p:cNvSpPr>
            <a:spLocks/>
          </p:cNvSpPr>
          <p:nvPr/>
        </p:nvSpPr>
        <p:spPr bwMode="auto">
          <a:xfrm flipH="1">
            <a:off x="3048000" y="1155576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3" name="AutoShape 22"/>
          <p:cNvSpPr>
            <a:spLocks/>
          </p:cNvSpPr>
          <p:nvPr/>
        </p:nvSpPr>
        <p:spPr bwMode="auto">
          <a:xfrm flipH="1">
            <a:off x="5116286" y="1202499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4" name="AutoShape 23"/>
          <p:cNvSpPr>
            <a:spLocks/>
          </p:cNvSpPr>
          <p:nvPr/>
        </p:nvSpPr>
        <p:spPr bwMode="auto">
          <a:xfrm flipH="1">
            <a:off x="5796136" y="1185494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5" name="AutoShape 24"/>
          <p:cNvSpPr>
            <a:spLocks/>
          </p:cNvSpPr>
          <p:nvPr/>
        </p:nvSpPr>
        <p:spPr bwMode="auto">
          <a:xfrm flipH="1">
            <a:off x="6660232" y="1202499"/>
            <a:ext cx="76200" cy="838200"/>
          </a:xfrm>
          <a:prstGeom prst="leftBracket">
            <a:avLst>
              <a:gd name="adj" fmla="val 91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1997163"/>
              </p:ext>
            </p:extLst>
          </p:nvPr>
        </p:nvGraphicFramePr>
        <p:xfrm>
          <a:off x="1143000" y="5445224"/>
          <a:ext cx="5445224" cy="886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260600" imgH="368300" progId="Equation.3">
                  <p:embed/>
                </p:oleObj>
              </mc:Choice>
              <mc:Fallback>
                <p:oleObj name="公式" r:id="rId2" imgW="22606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445224"/>
                        <a:ext cx="5445224" cy="886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1887780"/>
              </p:ext>
            </p:extLst>
          </p:nvPr>
        </p:nvGraphicFramePr>
        <p:xfrm>
          <a:off x="1084007" y="4077072"/>
          <a:ext cx="6575006" cy="1603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06700" imgH="685800" progId="Equation.3">
                  <p:embed/>
                </p:oleObj>
              </mc:Choice>
              <mc:Fallback>
                <p:oleObj name="公式" r:id="rId4" imgW="28067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007" y="4077072"/>
                        <a:ext cx="6575006" cy="1603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6843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B23F522-D838-7D82-62BA-536F886DC49B}"/>
                  </a:ext>
                </a:extLst>
              </p:cNvPr>
              <p:cNvSpPr txBox="1"/>
              <p:nvPr/>
            </p:nvSpPr>
            <p:spPr>
              <a:xfrm>
                <a:off x="323528" y="374944"/>
                <a:ext cx="4573166" cy="2190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N" sz="24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m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𝑖𝑛</m:t>
                          </m:r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𝑤</m:t>
                          </m:r>
                          <m: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</m:t>
                          </m:r>
                          <m: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2</m:t>
                          </m:r>
                          <m:sSub>
                            <m:sSub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−</m:t>
                          </m:r>
                          <m:r>
                            <a:rPr lang="en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  <m:t>3</m:t>
                          </m:r>
                          <m:sSub>
                            <m:sSub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𝑠</m:t>
                      </m:r>
                      <m:r>
                        <a:rPr lang="en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r>
                        <a:rPr lang="en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𝑡</m:t>
                      </m:r>
                      <m:r>
                        <a:rPr lang="en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en-CN" sz="2400" i="1" kern="100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=8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4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CN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3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CN" altLang="zh-CN" sz="2400" i="1" kern="100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CN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SimSun" panose="02010600030101010101" pitchFamily="2" charset="-122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CN" sz="2400" i="1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B23F522-D838-7D82-62BA-536F886DC4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374944"/>
                <a:ext cx="4573166" cy="21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C31A44C-3759-B37B-921B-6332375D4DD2}"/>
              </a:ext>
            </a:extLst>
          </p:cNvPr>
          <p:cNvSpPr txBox="1"/>
          <p:nvPr/>
        </p:nvSpPr>
        <p:spPr>
          <a:xfrm>
            <a:off x="521550" y="3429000"/>
            <a:ext cx="2646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系数矩阵为</a:t>
            </a:r>
            <a:r>
              <a:rPr lang="en-US" altLang="zh-CN" sz="2400" dirty="0"/>
              <a:t>: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D8B3723-E694-589A-100B-C600D9C81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063764"/>
                  </p:ext>
                </p:extLst>
              </p:nvPr>
            </p:nvGraphicFramePr>
            <p:xfrm>
              <a:off x="4211960" y="908720"/>
              <a:ext cx="4770530" cy="47777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85265">
                      <a:extLst>
                        <a:ext uri="{9D8B030D-6E8A-4147-A177-3AD203B41FA5}">
                          <a16:colId xmlns:a16="http://schemas.microsoft.com/office/drawing/2014/main" val="1509609972"/>
                        </a:ext>
                      </a:extLst>
                    </a:gridCol>
                    <a:gridCol w="2385265">
                      <a:extLst>
                        <a:ext uri="{9D8B030D-6E8A-4147-A177-3AD203B41FA5}">
                          <a16:colId xmlns:a16="http://schemas.microsoft.com/office/drawing/2014/main" val="2984581827"/>
                        </a:ext>
                      </a:extLst>
                    </a:gridCol>
                  </a:tblGrid>
                  <a:tr h="407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基向量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基本解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324244381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(4,3,−2,0,0)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949270088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(2,3,0,2,0)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206813118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(4,2,0,0,1)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06133493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27787549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(4,0,4,0,3)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3477364871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(8,0,0,−4,3)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89307494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(0,3,2,4,0)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772516873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4155414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(0,4,−2,0,−1)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089461106"/>
                      </a:ext>
                    </a:extLst>
                  </a:tr>
                  <a:tr h="4070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(0,0,8,4,3)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7920475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>
                <a:extLst>
                  <a:ext uri="{FF2B5EF4-FFF2-40B4-BE49-F238E27FC236}">
                    <a16:creationId xmlns:a16="http://schemas.microsoft.com/office/drawing/2014/main" id="{BD8B3723-E694-589A-100B-C600D9C81E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93063764"/>
                  </p:ext>
                </p:extLst>
              </p:nvPr>
            </p:nvGraphicFramePr>
            <p:xfrm>
              <a:off x="4211960" y="908720"/>
              <a:ext cx="4770530" cy="47777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85265">
                      <a:extLst>
                        <a:ext uri="{9D8B030D-6E8A-4147-A177-3AD203B41FA5}">
                          <a16:colId xmlns:a16="http://schemas.microsoft.com/office/drawing/2014/main" val="1509609972"/>
                        </a:ext>
                      </a:extLst>
                    </a:gridCol>
                    <a:gridCol w="2385265">
                      <a:extLst>
                        <a:ext uri="{9D8B030D-6E8A-4147-A177-3AD203B41FA5}">
                          <a16:colId xmlns:a16="http://schemas.microsoft.com/office/drawing/2014/main" val="2984581827"/>
                        </a:ext>
                      </a:extLst>
                    </a:gridCol>
                  </a:tblGrid>
                  <a:tr h="4343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基向量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基本解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324244381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118056" r="-101020" b="-9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118056" r="-1020" b="-9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270088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221127" r="-101020" b="-8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221127" r="-1020" b="-8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13118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321127" r="-101020" b="-7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321127" r="-1020" b="-7253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133493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421127" r="-101020" b="-6253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127787549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513889" r="-101020" b="-5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513889" r="-1020" b="-5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7364871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622535" r="-101020" b="-4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622535" r="-1020" b="-4239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307494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722535" r="-101020" b="-3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722535" r="-1020" b="-3239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516873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822535" r="-101020" b="-2239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354155414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909722" r="-101020" b="-12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909722" r="-1020" b="-120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461106"/>
                      </a:ext>
                    </a:extLst>
                  </a:tr>
                  <a:tr h="43434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255" t="-1023944" r="-101020" b="-22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34290" marB="34290">
                        <a:blipFill>
                          <a:blip r:embed="rId3"/>
                          <a:stretch>
                            <a:fillRect l="-100255" t="-1023944" r="-1020" b="-22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04750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46905-DB1B-D907-0217-0A738F7F516A}"/>
                  </a:ext>
                </a:extLst>
              </p:cNvPr>
              <p:cNvSpPr txBox="1"/>
              <p:nvPr/>
            </p:nvSpPr>
            <p:spPr>
              <a:xfrm>
                <a:off x="-288540" y="3866157"/>
                <a:ext cx="4572000" cy="19907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7200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N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𝐴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SimSun" panose="0201060003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SimSun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</m:m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N" altLang="zh-CN" sz="2400" i="1" kern="100"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    1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    0</m:t>
                                </m:r>
                              </m:e>
                              <m:e>
                                <m:r>
                                  <a:rPr lang="en-CN" altLang="zh-CN" sz="2400" i="1">
                                    <a:latin typeface="Cambria Math" panose="02040503050406030204" pitchFamily="18" charset="0"/>
                                    <a:ea typeface="SimSun" panose="02010600030101010101" pitchFamily="2" charset="-122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endParaRPr lang="en-CN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C46905-DB1B-D907-0217-0A738F7F5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8540" y="3866157"/>
                <a:ext cx="4572000" cy="19907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416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E6744C-53AE-4D55-2871-F402B3FB00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332656"/>
            <a:ext cx="8534400" cy="762000"/>
          </a:xfrm>
        </p:spPr>
        <p:txBody>
          <a:bodyPr>
            <a:noAutofit/>
          </a:bodyPr>
          <a:lstStyle/>
          <a:p>
            <a:pPr marL="0" lv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5. </a:t>
            </a:r>
            <a:r>
              <a:rPr lang="zh-CN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基本可行解</a:t>
            </a:r>
            <a:r>
              <a:rPr lang="zh-CN" altLang="en-US" sz="2400" dirty="0">
                <a:latin typeface="Times New Roman" panose="02020603050405020304" pitchFamily="18" charset="0"/>
                <a:ea typeface="SimSun" panose="02010600030101010101" pitchFamily="2" charset="-122"/>
              </a:rPr>
              <a:t>：</a:t>
            </a:r>
            <a:r>
              <a:rPr lang="zh-CN" sz="2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满足非负约束的基本解</a:t>
            </a:r>
            <a:endParaRPr lang="zh-CN" altLang="en-US" sz="2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C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18A1A66-0D6E-7E0F-0E43-F1D38A23919A}"/>
              </a:ext>
            </a:extLst>
          </p:cNvPr>
          <p:cNvGrpSpPr/>
          <p:nvPr/>
        </p:nvGrpSpPr>
        <p:grpSpPr>
          <a:xfrm>
            <a:off x="5411090" y="548680"/>
            <a:ext cx="3589851" cy="2133600"/>
            <a:chOff x="6773349" y="914400"/>
            <a:chExt cx="3589851" cy="2133600"/>
          </a:xfrm>
        </p:grpSpPr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DF909FA0-CE93-221B-9314-007F2B2590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96200" y="914400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E3517615-80E8-08B1-58DF-21F92FA97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000" y="2743200"/>
              <a:ext cx="838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EEB41710-84B5-4DFC-1E5B-F1F059F76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000" y="10668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9852F4F-EAF7-27C8-9DFA-CC2B84C555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58200" y="1371600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D599513-6114-EF52-8570-4B562DE39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1430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Freeform 9" descr="浅色横线">
              <a:extLst>
                <a:ext uri="{FF2B5EF4-FFF2-40B4-BE49-F238E27FC236}">
                  <a16:creationId xmlns:a16="http://schemas.microsoft.com/office/drawing/2014/main" id="{9EEAEA8C-C8EA-62AD-050E-84252BBEB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6200" y="1371600"/>
              <a:ext cx="1828800" cy="1371600"/>
            </a:xfrm>
            <a:custGeom>
              <a:avLst/>
              <a:gdLst>
                <a:gd name="T0" fmla="*/ 0 w 1152"/>
                <a:gd name="T1" fmla="*/ 2147483647 h 864"/>
                <a:gd name="T2" fmla="*/ 0 w 1152"/>
                <a:gd name="T3" fmla="*/ 0 h 864"/>
                <a:gd name="T4" fmla="*/ 2147483647 w 1152"/>
                <a:gd name="T5" fmla="*/ 0 h 864"/>
                <a:gd name="T6" fmla="*/ 2147483647 w 1152"/>
                <a:gd name="T7" fmla="*/ 2147483647 h 864"/>
                <a:gd name="T8" fmla="*/ 2147483647 w 1152"/>
                <a:gd name="T9" fmla="*/ 2147483647 h 864"/>
                <a:gd name="T10" fmla="*/ 0 w 1152"/>
                <a:gd name="T11" fmla="*/ 2147483647 h 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52" h="864">
                  <a:moveTo>
                    <a:pt x="0" y="864"/>
                  </a:moveTo>
                  <a:lnTo>
                    <a:pt x="0" y="0"/>
                  </a:lnTo>
                  <a:lnTo>
                    <a:pt x="528" y="0"/>
                  </a:lnTo>
                  <a:lnTo>
                    <a:pt x="1152" y="288"/>
                  </a:lnTo>
                  <a:lnTo>
                    <a:pt x="1152" y="864"/>
                  </a:lnTo>
                  <a:lnTo>
                    <a:pt x="0" y="864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rgbClr val="FFFFFF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200A3DBD-8674-80DE-197F-85443BD25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000" y="1828800"/>
              <a:ext cx="4572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E722CEFA-2F64-4EA8-1A48-E0D259AEF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1371600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51487305-6603-9E08-023B-D166CF238C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5000" y="2743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3F334FCF-CBEB-03DA-E9E3-A3A7B66A1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27432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>
                  <a:latin typeface="宋体" pitchFamily="2" charset="-122"/>
                </a:rPr>
                <a:t>O(0,0)</a:t>
              </a: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25C20DA7-14C2-2928-CAD9-B32D5D273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27432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>
                  <a:latin typeface="宋体" pitchFamily="2" charset="-122"/>
                </a:rPr>
                <a:t>Q</a:t>
              </a:r>
              <a:r>
                <a:rPr kumimoji="1" lang="en-US" altLang="zh-CN" b="1" baseline="-25000">
                  <a:latin typeface="宋体" pitchFamily="2" charset="-122"/>
                </a:rPr>
                <a:t>1</a:t>
              </a:r>
              <a:r>
                <a:rPr kumimoji="1" lang="en-US" altLang="zh-CN" b="1">
                  <a:latin typeface="宋体" pitchFamily="2" charset="-122"/>
                </a:rPr>
                <a:t>(4,0)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86B6E58D-3330-A59D-A50F-9B04691262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16002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>
                  <a:latin typeface="宋体" pitchFamily="2" charset="-122"/>
                </a:rPr>
                <a:t>Q</a:t>
              </a:r>
              <a:r>
                <a:rPr kumimoji="1" lang="en-US" altLang="zh-CN" b="1" baseline="-25000">
                  <a:latin typeface="宋体" pitchFamily="2" charset="-122"/>
                </a:rPr>
                <a:t>2</a:t>
              </a:r>
              <a:r>
                <a:rPr kumimoji="1" lang="en-US" altLang="zh-CN" b="1">
                  <a:latin typeface="宋体" pitchFamily="2" charset="-122"/>
                </a:rPr>
                <a:t>(4,2)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A51814AC-87B3-0DA9-CF7A-975558AA6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73349" y="10668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 dirty="0">
                  <a:latin typeface="宋体" pitchFamily="2" charset="-122"/>
                </a:rPr>
                <a:t>Q</a:t>
              </a:r>
              <a:r>
                <a:rPr kumimoji="1" lang="en-US" altLang="zh-CN" b="1" baseline="-25000" dirty="0">
                  <a:latin typeface="宋体" pitchFamily="2" charset="-122"/>
                </a:rPr>
                <a:t>4</a:t>
              </a:r>
              <a:r>
                <a:rPr kumimoji="1" lang="en-US" altLang="zh-CN" b="1" dirty="0">
                  <a:latin typeface="宋体" pitchFamily="2" charset="-122"/>
                </a:rPr>
                <a:t>(0,3)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8D182CDC-EC48-639A-0E80-38EEE3EE4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58200" y="10668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>
                  <a:latin typeface="宋体" pitchFamily="2" charset="-122"/>
                </a:rPr>
                <a:t>Q</a:t>
              </a:r>
              <a:r>
                <a:rPr kumimoji="1" lang="en-US" altLang="zh-CN" b="1" baseline="-25000">
                  <a:latin typeface="宋体" pitchFamily="2" charset="-122"/>
                </a:rPr>
                <a:t>3</a:t>
              </a:r>
              <a:r>
                <a:rPr kumimoji="1" lang="en-US" altLang="zh-CN" b="1">
                  <a:latin typeface="宋体" pitchFamily="2" charset="-122"/>
                </a:rPr>
                <a:t>(2,3)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4D6D6714-CD1E-2E7D-4CC7-63946B1AC9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1200" y="1066800"/>
              <a:ext cx="6858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en-US" altLang="zh-CN" b="1">
                  <a:solidFill>
                    <a:schemeClr val="tx2"/>
                  </a:solidFill>
                  <a:latin typeface="宋体" pitchFamily="2" charset="-122"/>
                </a:rPr>
                <a:t>Q</a:t>
              </a:r>
              <a:r>
                <a:rPr kumimoji="1" lang="en-US" altLang="zh-CN" b="1" baseline="-25000">
                  <a:solidFill>
                    <a:schemeClr val="tx2"/>
                  </a:solidFill>
                  <a:latin typeface="宋体" pitchFamily="2" charset="-122"/>
                </a:rPr>
                <a:t>5</a:t>
              </a:r>
              <a:r>
                <a:rPr kumimoji="1" lang="en-US" altLang="zh-CN" b="1">
                  <a:solidFill>
                    <a:schemeClr val="tx2"/>
                  </a:solidFill>
                  <a:latin typeface="宋体" pitchFamily="2" charset="-122"/>
                </a:rPr>
                <a:t>(4,3)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28C723C4-6CD8-CDD3-1136-99F875F53AE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5411090" y="3296883"/>
                <a:ext cx="3589849" cy="360310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如图所示，各边交点</a:t>
                </a:r>
                <a14:m>
                  <m:oMath xmlns:m="http://schemas.openxmlformats.org/officeDocument/2006/math">
                    <m:r>
                      <a:rPr lang="en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𝑂</m:t>
                    </m:r>
                    <m:r>
                      <a:rPr lang="en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𝑄</m:t>
                        </m:r>
                      </m:e>
                      <m:sub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𝑄</m:t>
                        </m:r>
                      </m:e>
                      <m:sub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𝑄</m:t>
                        </m:r>
                      </m:e>
                      <m:sub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CN" sz="2400" i="1">
                        <a:latin typeface="Cambria Math" panose="02040503050406030204" pitchFamily="18" charset="0"/>
                        <a:ea typeface="SimSun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𝑄</m:t>
                        </m:r>
                      </m:e>
                      <m:sub>
                        <m: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均为基本可行解；</a:t>
                </a:r>
                <a:endParaRPr lang="en-US" altLang="zh-CN" sz="2400" dirty="0">
                  <a:latin typeface="Times New Roman" panose="02020603050405020304" pitchFamily="18" charset="0"/>
                  <a:ea typeface="SimSun" panose="02010600030101010101" pitchFamily="2" charset="-122"/>
                </a:endParaRPr>
              </a:p>
              <a:p>
                <a:pPr indent="0"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  <a:buFont typeface="Arial" panose="020B0604020202020204" pitchFamily="34" charset="0"/>
                  <a:buNone/>
                </a:pPr>
                <a:r>
                  <a:rPr 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而其延长线的交点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N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𝑄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SimSun" panose="0201060003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zh-CN" sz="2400" dirty="0">
                    <a:latin typeface="Times New Roman" panose="02020603050405020304" pitchFamily="18" charset="0"/>
                    <a:ea typeface="SimSun" panose="02010600030101010101" pitchFamily="2" charset="-122"/>
                  </a:rPr>
                  <a:t>为基本解，但不是基本可行解。</a:t>
                </a:r>
                <a:endParaRPr lang="en-CN" sz="24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28C723C4-6CD8-CDD3-1136-99F875F53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090" y="3296883"/>
                <a:ext cx="3589849" cy="3603105"/>
              </a:xfrm>
              <a:prstGeom prst="rect">
                <a:avLst/>
              </a:prstGeom>
              <a:blipFill>
                <a:blip r:embed="rId2"/>
                <a:stretch>
                  <a:fillRect r="-20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" name="表格 21">
                <a:extLst>
                  <a:ext uri="{FF2B5EF4-FFF2-40B4-BE49-F238E27FC236}">
                    <a16:creationId xmlns:a16="http://schemas.microsoft.com/office/drawing/2014/main" id="{893D725A-FE61-20DE-4239-8B286467C3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2439567"/>
                  </p:ext>
                </p:extLst>
              </p:nvPr>
            </p:nvGraphicFramePr>
            <p:xfrm>
              <a:off x="75083" y="1109429"/>
              <a:ext cx="5360144" cy="502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80072">
                      <a:extLst>
                        <a:ext uri="{9D8B030D-6E8A-4147-A177-3AD203B41FA5}">
                          <a16:colId xmlns:a16="http://schemas.microsoft.com/office/drawing/2014/main" val="1509609972"/>
                        </a:ext>
                      </a:extLst>
                    </a:gridCol>
                    <a:gridCol w="2680072">
                      <a:extLst>
                        <a:ext uri="{9D8B030D-6E8A-4147-A177-3AD203B41FA5}">
                          <a16:colId xmlns:a16="http://schemas.microsoft.com/office/drawing/2014/main" val="29845818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基向量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基本解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24438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(4,3,−2,0,0)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92700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(2,3,0,2,0)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0681311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(4,2,0,0,1)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061334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7787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(4,0,4,0,3)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773648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(8,0,0,−4,3)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30749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(0,3,2,4,0)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7251687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554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(0,4,−2,0,−1)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89461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zh-CN" sz="240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(0,0,8,4,3)</m:t>
                                    </m:r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9204750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" name="表格 21">
                <a:extLst>
                  <a:ext uri="{FF2B5EF4-FFF2-40B4-BE49-F238E27FC236}">
                    <a16:creationId xmlns:a16="http://schemas.microsoft.com/office/drawing/2014/main" id="{893D725A-FE61-20DE-4239-8B286467C3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2439567"/>
                  </p:ext>
                </p:extLst>
              </p:nvPr>
            </p:nvGraphicFramePr>
            <p:xfrm>
              <a:off x="75083" y="1109429"/>
              <a:ext cx="5360144" cy="5029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80072">
                      <a:extLst>
                        <a:ext uri="{9D8B030D-6E8A-4147-A177-3AD203B41FA5}">
                          <a16:colId xmlns:a16="http://schemas.microsoft.com/office/drawing/2014/main" val="1509609972"/>
                        </a:ext>
                      </a:extLst>
                    </a:gridCol>
                    <a:gridCol w="2680072">
                      <a:extLst>
                        <a:ext uri="{9D8B030D-6E8A-4147-A177-3AD203B41FA5}">
                          <a16:colId xmlns:a16="http://schemas.microsoft.com/office/drawing/2014/main" val="2984581827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基向量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2400" dirty="0"/>
                            <a:t>基本解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2424438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114667" r="-100909" b="-9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114667" r="-909" b="-9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927008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214667" r="-100909" b="-8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214667" r="-909" b="-8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681311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314667" r="-100909" b="-7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314667" r="-909" b="-7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613349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414667" r="-100909" b="-6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778754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507895" r="-100909" b="-5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507895" r="-909" b="-511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736487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616000" r="-100909" b="-4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616000" r="-909" b="-4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3074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716000" r="-100909" b="-3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716000" r="-909" b="-3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251687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816000" r="-100909" b="-2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-</a:t>
                          </a:r>
                          <a:endParaRPr lang="zh-CN" alt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41554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916000" r="-100909" b="-1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916000" r="-909" b="-1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8946110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227" t="-1016000" r="-100909" b="-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100227" t="-1016000" r="-909" b="-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9204750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5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>
            <a:extLst>
              <a:ext uri="{FF2B5EF4-FFF2-40B4-BE49-F238E27FC236}">
                <a16:creationId xmlns:a16="http://schemas.microsoft.com/office/drawing/2014/main" id="{7DE7E88C-ACF9-4229-A2C1-21C4E38370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48" y="706016"/>
            <a:ext cx="8534400" cy="830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/>
            <a:r>
              <a:rPr kumimoji="1" lang="zh-CN" altLang="en-US" sz="2400" dirty="0">
                <a:latin typeface="宋体" pitchFamily="2" charset="-122"/>
              </a:rPr>
              <a:t>6、可行基</a:t>
            </a:r>
          </a:p>
          <a:p>
            <a:pPr algn="l" eaLnBrk="1" hangingPunct="1"/>
            <a:r>
              <a:rPr kumimoji="1" lang="zh-CN" altLang="en-US" sz="2400" dirty="0">
                <a:latin typeface="宋体" pitchFamily="2" charset="-122"/>
              </a:rPr>
              <a:t>  基本可行解对应的</a:t>
            </a:r>
            <a:r>
              <a:rPr kumimoji="1" lang="en-US" altLang="zh-CN" sz="2400" dirty="0">
                <a:latin typeface="宋体" pitchFamily="2" charset="-122"/>
              </a:rPr>
              <a:t>B</a:t>
            </a:r>
            <a:r>
              <a:rPr kumimoji="1" lang="zh-CN" altLang="en-US" sz="2400" dirty="0">
                <a:latin typeface="宋体" pitchFamily="2" charset="-122"/>
              </a:rPr>
              <a:t>为可行基。</a:t>
            </a:r>
          </a:p>
        </p:txBody>
      </p:sp>
      <p:grpSp>
        <p:nvGrpSpPr>
          <p:cNvPr id="5" name="Group 60">
            <a:extLst>
              <a:ext uri="{FF2B5EF4-FFF2-40B4-BE49-F238E27FC236}">
                <a16:creationId xmlns:a16="http://schemas.microsoft.com/office/drawing/2014/main" id="{2D3742E8-CC2F-4249-BF21-372037CF365B}"/>
              </a:ext>
            </a:extLst>
          </p:cNvPr>
          <p:cNvGrpSpPr>
            <a:grpSpLocks/>
          </p:cNvGrpSpPr>
          <p:nvPr/>
        </p:nvGrpSpPr>
        <p:grpSpPr bwMode="auto">
          <a:xfrm>
            <a:off x="1267990" y="1772816"/>
            <a:ext cx="6003058" cy="1752600"/>
            <a:chOff x="586" y="2640"/>
            <a:chExt cx="3926" cy="1104"/>
          </a:xfrm>
        </p:grpSpPr>
        <p:sp>
          <p:nvSpPr>
            <p:cNvPr id="6" name="Rectangle 22">
              <a:extLst>
                <a:ext uri="{FF2B5EF4-FFF2-40B4-BE49-F238E27FC236}">
                  <a16:creationId xmlns:a16="http://schemas.microsoft.com/office/drawing/2014/main" id="{8472B752-D03D-4AF5-8AE9-11501DF51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40"/>
              <a:ext cx="1824" cy="110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23" descr="深色上对角线">
              <a:extLst>
                <a:ext uri="{FF2B5EF4-FFF2-40B4-BE49-F238E27FC236}">
                  <a16:creationId xmlns:a16="http://schemas.microsoft.com/office/drawing/2014/main" id="{9FA9E36D-4843-483A-8C75-947857141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832"/>
              <a:ext cx="768" cy="768"/>
            </a:xfrm>
            <a:prstGeom prst="ellipse">
              <a:avLst/>
            </a:prstGeom>
            <a:pattFill prst="dkUpDiag">
              <a:fgClr>
                <a:schemeClr val="accent1"/>
              </a:fgClr>
              <a:bgClr>
                <a:schemeClr val="tx2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24" descr="5%">
              <a:extLst>
                <a:ext uri="{FF2B5EF4-FFF2-40B4-BE49-F238E27FC236}">
                  <a16:creationId xmlns:a16="http://schemas.microsoft.com/office/drawing/2014/main" id="{727F3A1B-BC37-4662-92B0-A7E223EF8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832"/>
              <a:ext cx="768" cy="76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pct5">
                    <a:fgClr>
                      <a:schemeClr val="accent1"/>
                    </a:fgClr>
                    <a:bgClr>
                      <a:schemeClr val="hlink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zh-CN" altLang="en-US"/>
            </a:p>
          </p:txBody>
        </p:sp>
        <p:sp>
          <p:nvSpPr>
            <p:cNvPr id="9" name="Line 29">
              <a:extLst>
                <a:ext uri="{FF2B5EF4-FFF2-40B4-BE49-F238E27FC236}">
                  <a16:creationId xmlns:a16="http://schemas.microsoft.com/office/drawing/2014/main" id="{B4684A2E-FB31-4EF2-BB28-35DECCF14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26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0" name="Line 30">
              <a:extLst>
                <a:ext uri="{FF2B5EF4-FFF2-40B4-BE49-F238E27FC236}">
                  <a16:creationId xmlns:a16="http://schemas.microsoft.com/office/drawing/2014/main" id="{69829351-87CB-417F-8D8A-CD73E7E3C9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3264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5C63D3DD-9DB7-4A5C-93ED-C838FFFCF7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7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id="{8A1A0ECB-71B0-43CB-92A5-4EB043A74D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7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35">
              <a:extLst>
                <a:ext uri="{FF2B5EF4-FFF2-40B4-BE49-F238E27FC236}">
                  <a16:creationId xmlns:a16="http://schemas.microsoft.com/office/drawing/2014/main" id="{C27AACD4-3CC5-47ED-89EE-0B534F534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36"/>
              <a:ext cx="57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Rectangle 36">
              <a:extLst>
                <a:ext uri="{FF2B5EF4-FFF2-40B4-BE49-F238E27FC236}">
                  <a16:creationId xmlns:a16="http://schemas.microsoft.com/office/drawing/2014/main" id="{A33C156C-FF55-468E-80F4-103AB44DEB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168"/>
              <a:ext cx="52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1800" b="1">
                  <a:latin typeface="宋体" pitchFamily="2" charset="-122"/>
                </a:rPr>
                <a:t>可行解</a:t>
              </a:r>
            </a:p>
          </p:txBody>
        </p:sp>
        <p:sp>
          <p:nvSpPr>
            <p:cNvPr id="15" name="Rectangle 37">
              <a:extLst>
                <a:ext uri="{FF2B5EF4-FFF2-40B4-BE49-F238E27FC236}">
                  <a16:creationId xmlns:a16="http://schemas.microsoft.com/office/drawing/2014/main" id="{FA238AB0-D65F-43FA-B384-67E459A06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" y="2640"/>
              <a:ext cx="62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1800" b="1" dirty="0">
                  <a:latin typeface="宋体" pitchFamily="2" charset="-122"/>
                </a:rPr>
                <a:t>基本可行解</a:t>
              </a:r>
            </a:p>
          </p:txBody>
        </p:sp>
        <p:sp>
          <p:nvSpPr>
            <p:cNvPr id="16" name="Rectangle 38">
              <a:extLst>
                <a:ext uri="{FF2B5EF4-FFF2-40B4-BE49-F238E27FC236}">
                  <a16:creationId xmlns:a16="http://schemas.microsoft.com/office/drawing/2014/main" id="{27147491-1755-4356-9CBA-B52276E53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640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1800" b="1">
                  <a:latin typeface="宋体" pitchFamily="2" charset="-122"/>
                </a:rPr>
                <a:t>非可行解</a:t>
              </a:r>
            </a:p>
          </p:txBody>
        </p:sp>
        <p:sp>
          <p:nvSpPr>
            <p:cNvPr id="17" name="Rectangle 39">
              <a:extLst>
                <a:ext uri="{FF2B5EF4-FFF2-40B4-BE49-F238E27FC236}">
                  <a16:creationId xmlns:a16="http://schemas.microsoft.com/office/drawing/2014/main" id="{74CCAF31-D5EE-45DD-A5F2-B6E0E7BCE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3168"/>
              <a:ext cx="43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1800" b="1" dirty="0">
                  <a:latin typeface="宋体" pitchFamily="2" charset="-122"/>
                </a:rPr>
                <a:t>基本解</a:t>
              </a:r>
            </a:p>
          </p:txBody>
        </p:sp>
        <p:sp>
          <p:nvSpPr>
            <p:cNvPr id="18" name="Line 55">
              <a:extLst>
                <a:ext uri="{FF2B5EF4-FFF2-40B4-BE49-F238E27FC236}">
                  <a16:creationId xmlns:a16="http://schemas.microsoft.com/office/drawing/2014/main" id="{C4CA810C-1ED3-4DA1-81A0-276C3A3C00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928"/>
              <a:ext cx="528" cy="52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9" name="Line 56">
              <a:extLst>
                <a:ext uri="{FF2B5EF4-FFF2-40B4-BE49-F238E27FC236}">
                  <a16:creationId xmlns:a16="http://schemas.microsoft.com/office/drawing/2014/main" id="{537CFCD5-E85D-4BD6-A8E3-598921472D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880"/>
              <a:ext cx="480" cy="480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" name="Line 57">
              <a:extLst>
                <a:ext uri="{FF2B5EF4-FFF2-40B4-BE49-F238E27FC236}">
                  <a16:creationId xmlns:a16="http://schemas.microsoft.com/office/drawing/2014/main" id="{5A2B45B0-4648-4BC3-9CE2-7A31F43CE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832"/>
              <a:ext cx="384" cy="38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1" name="Line 58">
              <a:extLst>
                <a:ext uri="{FF2B5EF4-FFF2-40B4-BE49-F238E27FC236}">
                  <a16:creationId xmlns:a16="http://schemas.microsoft.com/office/drawing/2014/main" id="{97D06F6D-6D1B-4A6B-A27C-C919B37D84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024"/>
              <a:ext cx="528" cy="52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" name="Line 59">
              <a:extLst>
                <a:ext uri="{FF2B5EF4-FFF2-40B4-BE49-F238E27FC236}">
                  <a16:creationId xmlns:a16="http://schemas.microsoft.com/office/drawing/2014/main" id="{1675CE5A-8E17-4148-ABC1-691F599996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8" y="3168"/>
              <a:ext cx="432" cy="43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2924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304800"/>
            <a:ext cx="8534400" cy="22860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0070C0"/>
                </a:solidFill>
                <a:latin typeface="宋体" pitchFamily="2" charset="-122"/>
              </a:rPr>
              <a:t>5.</a:t>
            </a:r>
            <a:r>
              <a:rPr lang="zh-CN" altLang="en-US" sz="3600" b="1" dirty="0">
                <a:solidFill>
                  <a:srgbClr val="0070C0"/>
                </a:solidFill>
                <a:latin typeface="宋体" pitchFamily="2" charset="-122"/>
              </a:rPr>
              <a:t>线性规划问题的几何意义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基本概念</a:t>
            </a:r>
            <a:endParaRPr lang="zh-CN" altLang="en-US" sz="2400" b="1" dirty="0">
              <a:solidFill>
                <a:srgbClr val="000000"/>
              </a:solidFill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1、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凸集</a:t>
            </a:r>
            <a:r>
              <a:rPr lang="zh-CN" altLang="en-US" sz="2400" b="1" dirty="0">
                <a:latin typeface="宋体" pitchFamily="2" charset="-122"/>
              </a:rPr>
              <a:t>：设</a:t>
            </a:r>
            <a:r>
              <a:rPr lang="en-US" altLang="zh-CN" sz="2400" b="1" dirty="0">
                <a:latin typeface="宋体" pitchFamily="2" charset="-122"/>
              </a:rPr>
              <a:t>K</a:t>
            </a:r>
            <a:r>
              <a:rPr lang="zh-CN" altLang="en-US" sz="2400" b="1" dirty="0">
                <a:latin typeface="宋体" pitchFamily="2" charset="-122"/>
              </a:rPr>
              <a:t>为</a:t>
            </a:r>
            <a:r>
              <a:rPr lang="en-US" altLang="zh-CN" sz="2400" b="1" dirty="0">
                <a:latin typeface="宋体" pitchFamily="2" charset="-122"/>
              </a:rPr>
              <a:t>R</a:t>
            </a:r>
            <a:r>
              <a:rPr lang="en-US" altLang="zh-CN" sz="2400" b="1" baseline="30000" dirty="0">
                <a:latin typeface="宋体" pitchFamily="2" charset="-122"/>
              </a:rPr>
              <a:t>n</a:t>
            </a:r>
            <a:r>
              <a:rPr lang="en-US" altLang="zh-CN" sz="2400" b="1" dirty="0">
                <a:latin typeface="宋体" pitchFamily="2" charset="-122"/>
              </a:rPr>
              <a:t>(n</a:t>
            </a:r>
            <a:r>
              <a:rPr lang="zh-CN" altLang="en-US" sz="2400" b="1" dirty="0">
                <a:latin typeface="宋体" pitchFamily="2" charset="-122"/>
              </a:rPr>
              <a:t>维欧式空间)中一点集，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K，X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K。</a:t>
            </a:r>
          </a:p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latin typeface="宋体" pitchFamily="2" charset="-122"/>
              </a:rPr>
              <a:t>若</a:t>
            </a:r>
            <a:r>
              <a:rPr lang="en-US" altLang="zh-CN" sz="2400" b="1" dirty="0">
                <a:latin typeface="宋体" pitchFamily="2" charset="-122"/>
              </a:rPr>
              <a:t>αX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+(1-α)X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K，</a:t>
            </a:r>
            <a:r>
              <a:rPr lang="zh-CN" altLang="en-US" sz="2400" b="1" dirty="0">
                <a:latin typeface="宋体" pitchFamily="2" charset="-122"/>
              </a:rPr>
              <a:t>则称</a:t>
            </a:r>
            <a:r>
              <a:rPr lang="en-US" altLang="zh-CN" sz="2400" b="1" dirty="0">
                <a:latin typeface="宋体" pitchFamily="2" charset="-122"/>
              </a:rPr>
              <a:t>K</a:t>
            </a:r>
            <a:r>
              <a:rPr lang="zh-CN" altLang="en-US" sz="2400" b="1" dirty="0">
                <a:latin typeface="宋体" pitchFamily="2" charset="-122"/>
              </a:rPr>
              <a:t>为凸集。（</a:t>
            </a:r>
            <a:r>
              <a:rPr lang="en-US" altLang="zh-CN" sz="2400" b="1" dirty="0">
                <a:latin typeface="宋体" pitchFamily="2" charset="-122"/>
              </a:rPr>
              <a:t>α∈[0</a:t>
            </a:r>
            <a:r>
              <a:rPr lang="zh-CN" altLang="en-US" sz="2400" b="1" dirty="0">
                <a:latin typeface="宋体" pitchFamily="2" charset="-122"/>
              </a:rPr>
              <a:t>，</a:t>
            </a:r>
            <a:r>
              <a:rPr lang="en-US" altLang="zh-CN" sz="2400" b="1" dirty="0">
                <a:latin typeface="宋体" pitchFamily="2" charset="-122"/>
              </a:rPr>
              <a:t>1] ）</a:t>
            </a:r>
            <a:r>
              <a:rPr lang="en-US" altLang="zh-CN" sz="2400" b="1" dirty="0"/>
              <a:t> </a:t>
            </a:r>
            <a:endParaRPr lang="zh-CN" altLang="en-US" sz="2400" b="1" dirty="0"/>
          </a:p>
        </p:txBody>
      </p:sp>
      <p:grpSp>
        <p:nvGrpSpPr>
          <p:cNvPr id="20484" name="Group 34"/>
          <p:cNvGrpSpPr>
            <a:grpSpLocks/>
          </p:cNvGrpSpPr>
          <p:nvPr/>
        </p:nvGrpSpPr>
        <p:grpSpPr bwMode="auto">
          <a:xfrm>
            <a:off x="1780693" y="4022339"/>
            <a:ext cx="6019800" cy="1371600"/>
            <a:chOff x="1056" y="2880"/>
            <a:chExt cx="3792" cy="864"/>
          </a:xfrm>
        </p:grpSpPr>
        <p:sp>
          <p:nvSpPr>
            <p:cNvPr id="20495" name="Freeform 7" descr="浅色横线"/>
            <p:cNvSpPr>
              <a:spLocks/>
            </p:cNvSpPr>
            <p:nvPr/>
          </p:nvSpPr>
          <p:spPr bwMode="auto">
            <a:xfrm>
              <a:off x="1056" y="2880"/>
              <a:ext cx="960" cy="768"/>
            </a:xfrm>
            <a:custGeom>
              <a:avLst/>
              <a:gdLst>
                <a:gd name="T0" fmla="*/ 0 w 960"/>
                <a:gd name="T1" fmla="*/ 144 h 768"/>
                <a:gd name="T2" fmla="*/ 0 w 960"/>
                <a:gd name="T3" fmla="*/ 768 h 768"/>
                <a:gd name="T4" fmla="*/ 960 w 960"/>
                <a:gd name="T5" fmla="*/ 768 h 768"/>
                <a:gd name="T6" fmla="*/ 960 w 960"/>
                <a:gd name="T7" fmla="*/ 384 h 768"/>
                <a:gd name="T8" fmla="*/ 672 w 960"/>
                <a:gd name="T9" fmla="*/ 144 h 768"/>
                <a:gd name="T10" fmla="*/ 292 w 960"/>
                <a:gd name="T11" fmla="*/ 431 h 768"/>
                <a:gd name="T12" fmla="*/ 0 w 960"/>
                <a:gd name="T13" fmla="*/ 0 h 768"/>
                <a:gd name="T14" fmla="*/ 0 w 960"/>
                <a:gd name="T15" fmla="*/ 144 h 7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0" h="768">
                  <a:moveTo>
                    <a:pt x="0" y="144"/>
                  </a:moveTo>
                  <a:lnTo>
                    <a:pt x="0" y="768"/>
                  </a:lnTo>
                  <a:lnTo>
                    <a:pt x="960" y="768"/>
                  </a:lnTo>
                  <a:lnTo>
                    <a:pt x="960" y="384"/>
                  </a:lnTo>
                  <a:lnTo>
                    <a:pt x="672" y="144"/>
                  </a:lnTo>
                  <a:lnTo>
                    <a:pt x="292" y="431"/>
                  </a:lnTo>
                  <a:lnTo>
                    <a:pt x="0" y="0"/>
                  </a:lnTo>
                  <a:lnTo>
                    <a:pt x="0" y="144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6" name="Oval 8" descr="浅色横线"/>
            <p:cNvSpPr>
              <a:spLocks noChangeArrowheads="1"/>
            </p:cNvSpPr>
            <p:nvPr/>
          </p:nvSpPr>
          <p:spPr bwMode="auto">
            <a:xfrm>
              <a:off x="2832" y="2880"/>
              <a:ext cx="864" cy="864"/>
            </a:xfrm>
            <a:prstGeom prst="ellipse">
              <a:avLst/>
            </a:prstGeom>
            <a:pattFill prst="ltHorz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7" name="Oval 9"/>
            <p:cNvSpPr>
              <a:spLocks noChangeArrowheads="1"/>
            </p:cNvSpPr>
            <p:nvPr/>
          </p:nvSpPr>
          <p:spPr bwMode="auto">
            <a:xfrm>
              <a:off x="3072" y="3120"/>
              <a:ext cx="384" cy="38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98" name="Rectangle 16"/>
            <p:cNvSpPr>
              <a:spLocks noChangeArrowheads="1"/>
            </p:cNvSpPr>
            <p:nvPr/>
          </p:nvSpPr>
          <p:spPr bwMode="auto">
            <a:xfrm>
              <a:off x="4272" y="3216"/>
              <a:ext cx="57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2000">
                  <a:latin typeface="宋体" pitchFamily="2" charset="-122"/>
                </a:rPr>
                <a:t>非凸集</a:t>
              </a:r>
            </a:p>
          </p:txBody>
        </p:sp>
        <p:sp>
          <p:nvSpPr>
            <p:cNvPr id="20499" name="Freeform 20"/>
            <p:cNvSpPr>
              <a:spLocks/>
            </p:cNvSpPr>
            <p:nvPr/>
          </p:nvSpPr>
          <p:spPr bwMode="auto">
            <a:xfrm>
              <a:off x="1119" y="3181"/>
              <a:ext cx="772" cy="163"/>
            </a:xfrm>
            <a:custGeom>
              <a:avLst/>
              <a:gdLst>
                <a:gd name="T0" fmla="*/ 0 w 772"/>
                <a:gd name="T1" fmla="*/ 0 h 163"/>
                <a:gd name="T2" fmla="*/ 772 w 772"/>
                <a:gd name="T3" fmla="*/ 163 h 1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2" h="163">
                  <a:moveTo>
                    <a:pt x="0" y="0"/>
                  </a:moveTo>
                  <a:lnTo>
                    <a:pt x="772" y="16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miter lim="800000"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0" name="Line 21"/>
            <p:cNvSpPr>
              <a:spLocks noChangeShapeType="1"/>
            </p:cNvSpPr>
            <p:nvPr/>
          </p:nvSpPr>
          <p:spPr bwMode="auto">
            <a:xfrm>
              <a:off x="3024" y="3120"/>
              <a:ext cx="528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501" name="Text Box 25"/>
            <p:cNvSpPr txBox="1">
              <a:spLocks noChangeArrowheads="1"/>
            </p:cNvSpPr>
            <p:nvPr/>
          </p:nvSpPr>
          <p:spPr bwMode="auto">
            <a:xfrm>
              <a:off x="3024" y="2928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(1)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502" name="Text Box 26"/>
            <p:cNvSpPr txBox="1">
              <a:spLocks noChangeArrowheads="1"/>
            </p:cNvSpPr>
            <p:nvPr/>
          </p:nvSpPr>
          <p:spPr bwMode="auto">
            <a:xfrm>
              <a:off x="1104" y="3264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(1)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503" name="Text Box 29"/>
            <p:cNvSpPr txBox="1">
              <a:spLocks noChangeArrowheads="1"/>
            </p:cNvSpPr>
            <p:nvPr/>
          </p:nvSpPr>
          <p:spPr bwMode="auto">
            <a:xfrm>
              <a:off x="3456" y="3302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(2)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504" name="Text Box 30"/>
            <p:cNvSpPr txBox="1">
              <a:spLocks noChangeArrowheads="1"/>
            </p:cNvSpPr>
            <p:nvPr/>
          </p:nvSpPr>
          <p:spPr bwMode="auto">
            <a:xfrm>
              <a:off x="1728" y="3360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(2)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</p:grpSp>
      <p:grpSp>
        <p:nvGrpSpPr>
          <p:cNvPr id="20485" name="Group 33"/>
          <p:cNvGrpSpPr>
            <a:grpSpLocks/>
          </p:cNvGrpSpPr>
          <p:nvPr/>
        </p:nvGrpSpPr>
        <p:grpSpPr bwMode="auto">
          <a:xfrm>
            <a:off x="1666393" y="2269739"/>
            <a:ext cx="6019800" cy="1295400"/>
            <a:chOff x="1056" y="1632"/>
            <a:chExt cx="3792" cy="816"/>
          </a:xfrm>
        </p:grpSpPr>
        <p:sp>
          <p:nvSpPr>
            <p:cNvPr id="20486" name="Freeform 5" descr="浅色横线"/>
            <p:cNvSpPr>
              <a:spLocks/>
            </p:cNvSpPr>
            <p:nvPr/>
          </p:nvSpPr>
          <p:spPr bwMode="auto">
            <a:xfrm>
              <a:off x="1056" y="1728"/>
              <a:ext cx="912" cy="672"/>
            </a:xfrm>
            <a:custGeom>
              <a:avLst/>
              <a:gdLst>
                <a:gd name="T0" fmla="*/ 0 w 912"/>
                <a:gd name="T1" fmla="*/ 915 h 576"/>
                <a:gd name="T2" fmla="*/ 0 w 912"/>
                <a:gd name="T3" fmla="*/ 0 h 576"/>
                <a:gd name="T4" fmla="*/ 432 w 912"/>
                <a:gd name="T5" fmla="*/ 0 h 576"/>
                <a:gd name="T6" fmla="*/ 912 w 912"/>
                <a:gd name="T7" fmla="*/ 382 h 576"/>
                <a:gd name="T8" fmla="*/ 912 w 912"/>
                <a:gd name="T9" fmla="*/ 915 h 576"/>
                <a:gd name="T10" fmla="*/ 0 w 912"/>
                <a:gd name="T11" fmla="*/ 915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12" h="576">
                  <a:moveTo>
                    <a:pt x="0" y="576"/>
                  </a:moveTo>
                  <a:lnTo>
                    <a:pt x="0" y="0"/>
                  </a:lnTo>
                  <a:lnTo>
                    <a:pt x="432" y="0"/>
                  </a:lnTo>
                  <a:lnTo>
                    <a:pt x="912" y="240"/>
                  </a:lnTo>
                  <a:lnTo>
                    <a:pt x="912" y="576"/>
                  </a:lnTo>
                  <a:lnTo>
                    <a:pt x="0" y="576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87" name="Oval 6" descr="浅色横线"/>
            <p:cNvSpPr>
              <a:spLocks noChangeArrowheads="1"/>
            </p:cNvSpPr>
            <p:nvPr/>
          </p:nvSpPr>
          <p:spPr bwMode="auto">
            <a:xfrm>
              <a:off x="2832" y="1632"/>
              <a:ext cx="864" cy="816"/>
            </a:xfrm>
            <a:prstGeom prst="ellipse">
              <a:avLst/>
            </a:prstGeom>
            <a:pattFill prst="ltHorz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488" name="Rectangle 15"/>
            <p:cNvSpPr>
              <a:spLocks noChangeArrowheads="1"/>
            </p:cNvSpPr>
            <p:nvPr/>
          </p:nvSpPr>
          <p:spPr bwMode="auto">
            <a:xfrm>
              <a:off x="4272" y="2064"/>
              <a:ext cx="57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/>
              <a:r>
                <a:rPr kumimoji="1" lang="zh-CN" altLang="en-US" sz="2000">
                  <a:latin typeface="宋体" pitchFamily="2" charset="-122"/>
                </a:rPr>
                <a:t>凸集</a:t>
              </a:r>
            </a:p>
          </p:txBody>
        </p:sp>
        <p:sp>
          <p:nvSpPr>
            <p:cNvPr id="20489" name="Line 18"/>
            <p:cNvSpPr>
              <a:spLocks noChangeShapeType="1"/>
            </p:cNvSpPr>
            <p:nvPr/>
          </p:nvSpPr>
          <p:spPr bwMode="auto">
            <a:xfrm>
              <a:off x="1248" y="1968"/>
              <a:ext cx="432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0" name="Line 19"/>
            <p:cNvSpPr>
              <a:spLocks noChangeShapeType="1"/>
            </p:cNvSpPr>
            <p:nvPr/>
          </p:nvSpPr>
          <p:spPr bwMode="auto">
            <a:xfrm>
              <a:off x="3072" y="1920"/>
              <a:ext cx="38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0491" name="Text Box 27"/>
            <p:cNvSpPr txBox="1">
              <a:spLocks noChangeArrowheads="1"/>
            </p:cNvSpPr>
            <p:nvPr/>
          </p:nvSpPr>
          <p:spPr bwMode="auto">
            <a:xfrm>
              <a:off x="3024" y="1728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(1)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492" name="Text Box 31"/>
            <p:cNvSpPr txBox="1">
              <a:spLocks noChangeArrowheads="1"/>
            </p:cNvSpPr>
            <p:nvPr/>
          </p:nvSpPr>
          <p:spPr bwMode="auto">
            <a:xfrm>
              <a:off x="3456" y="2016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(2)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493" name="Text Box 32"/>
            <p:cNvSpPr txBox="1">
              <a:spLocks noChangeArrowheads="1"/>
            </p:cNvSpPr>
            <p:nvPr/>
          </p:nvSpPr>
          <p:spPr bwMode="auto">
            <a:xfrm>
              <a:off x="1680" y="2064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(2)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  <p:sp>
          <p:nvSpPr>
            <p:cNvPr id="20494" name="Text Box 28"/>
            <p:cNvSpPr txBox="1">
              <a:spLocks noChangeArrowheads="1"/>
            </p:cNvSpPr>
            <p:nvPr/>
          </p:nvSpPr>
          <p:spPr bwMode="auto">
            <a:xfrm>
              <a:off x="1200" y="1776"/>
              <a:ext cx="240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en-US" altLang="zh-CN" b="1">
                  <a:latin typeface="宋体" pitchFamily="2" charset="-122"/>
                </a:rPr>
                <a:t>X</a:t>
              </a:r>
              <a:r>
                <a:rPr kumimoji="1" lang="en-US" altLang="zh-CN" b="1" baseline="30000">
                  <a:latin typeface="宋体" pitchFamily="2" charset="-122"/>
                </a:rPr>
                <a:t>(1)</a:t>
              </a:r>
              <a:endParaRPr kumimoji="1" lang="zh-CN" altLang="en-US" b="1" baseline="30000">
                <a:latin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4837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E0C31C37-B284-486A-87E3-729B17364E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76672"/>
            <a:ext cx="85344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buSzPct val="90000"/>
            </a:pPr>
            <a:r>
              <a:rPr kumimoji="1"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定理1</a:t>
            </a:r>
            <a:r>
              <a:rPr kumimoji="1" lang="zh-CN" altLang="en-US" sz="2400" b="1" dirty="0">
                <a:latin typeface="宋体" pitchFamily="2" charset="-122"/>
              </a:rPr>
              <a:t> 若线性规划存在可行域，则:</a:t>
            </a:r>
          </a:p>
          <a:p>
            <a:pPr>
              <a:buSzPct val="90000"/>
            </a:pPr>
            <a:r>
              <a:rPr kumimoji="1" lang="zh-CN" altLang="en-US" sz="2400" b="1" dirty="0">
                <a:latin typeface="宋体" pitchFamily="2" charset="-122"/>
              </a:rPr>
              <a:t>     可行域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>
                <a:latin typeface="宋体" pitchFamily="2" charset="-122"/>
              </a:rPr>
              <a:t>D</a:t>
            </a:r>
            <a:r>
              <a:rPr kumimoji="1" lang="en-US" altLang="zh-CN" sz="2400" b="1" dirty="0"/>
              <a:t> = </a:t>
            </a:r>
            <a:r>
              <a:rPr kumimoji="1" lang="en-US" altLang="zh-CN" sz="2400" b="1" dirty="0">
                <a:latin typeface="宋体" pitchFamily="2" charset="-122"/>
              </a:rPr>
              <a:t>{X</a:t>
            </a:r>
            <a:r>
              <a:rPr lang="en-US" altLang="zh-CN" sz="1800" b="1" dirty="0">
                <a:latin typeface="宋体" pitchFamily="2" charset="-122"/>
              </a:rPr>
              <a:t> ∈</a:t>
            </a:r>
            <a:r>
              <a:rPr lang="en-US" altLang="zh-CN" sz="2400" b="1" dirty="0">
                <a:latin typeface="宋体" pitchFamily="2" charset="-122"/>
              </a:rPr>
              <a:t>R</a:t>
            </a:r>
            <a:r>
              <a:rPr lang="en-US" altLang="zh-CN" sz="2400" b="1" baseline="30000" dirty="0">
                <a:latin typeface="宋体" pitchFamily="2" charset="-122"/>
              </a:rPr>
              <a:t>n </a:t>
            </a:r>
            <a:r>
              <a:rPr kumimoji="1" lang="en-US" altLang="zh-CN" sz="2400" b="1" dirty="0">
                <a:latin typeface="宋体" pitchFamily="2" charset="-122"/>
              </a:rPr>
              <a:t>|AX</a:t>
            </a:r>
            <a:r>
              <a:rPr kumimoji="1" lang="en-US" altLang="zh-CN" sz="2400" b="1" dirty="0"/>
              <a:t> = </a:t>
            </a:r>
            <a:r>
              <a:rPr kumimoji="1" lang="en-US" altLang="zh-CN" sz="2400" b="1" dirty="0" err="1">
                <a:latin typeface="宋体" pitchFamily="2" charset="-122"/>
              </a:rPr>
              <a:t>b,X</a:t>
            </a:r>
            <a:r>
              <a:rPr kumimoji="1" lang="en-US" altLang="zh-CN" sz="2400" b="1" dirty="0"/>
              <a:t> </a:t>
            </a:r>
            <a:r>
              <a:rPr kumimoji="1" lang="zh-CN" altLang="en-US" sz="2400" b="1" dirty="0"/>
              <a:t>≥</a:t>
            </a:r>
            <a:r>
              <a:rPr kumimoji="1" lang="en-US" altLang="zh-CN" sz="2400" b="1" dirty="0"/>
              <a:t> </a:t>
            </a:r>
            <a:r>
              <a:rPr kumimoji="1" lang="en-US" altLang="zh-CN" sz="2400" b="1" dirty="0">
                <a:latin typeface="宋体" pitchFamily="2" charset="-122"/>
              </a:rPr>
              <a:t>0}</a:t>
            </a:r>
            <a:r>
              <a:rPr kumimoji="1" lang="zh-CN" altLang="en-US" sz="2400" b="1" dirty="0">
                <a:latin typeface="宋体" pitchFamily="2" charset="-122"/>
              </a:rPr>
              <a:t>为凸集。</a:t>
            </a:r>
          </a:p>
          <a:p>
            <a:pPr algn="l" eaLnBrk="1" hangingPunct="1">
              <a:spcBef>
                <a:spcPct val="50000"/>
              </a:spcBef>
            </a:pPr>
            <a:endParaRPr kumimoji="1" lang="zh-CN" altLang="en-US" sz="2400" b="1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B451AA3-9CEA-4C43-B78A-C3BA4CCB68F0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752600"/>
            <a:ext cx="8534400" cy="335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dirty="0"/>
              <a:t>  </a:t>
            </a:r>
            <a:r>
              <a:rPr lang="zh-CN" altLang="en-US" sz="2400" b="1" dirty="0"/>
              <a:t>证明：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  设  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=(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宋体" pitchFamily="2" charset="-122"/>
              </a:rPr>
              <a:t>1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n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)</a:t>
            </a:r>
            <a:r>
              <a:rPr lang="en-US" altLang="zh-CN" sz="2400" b="1" baseline="30000" dirty="0">
                <a:latin typeface="宋体" pitchFamily="2" charset="-122"/>
              </a:rPr>
              <a:t>T</a:t>
            </a:r>
            <a:r>
              <a:rPr lang="en-US" altLang="zh-CN" sz="2400" b="1" baseline="30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D；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    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=(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</a:rPr>
              <a:t>1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i="1" dirty="0">
                <a:latin typeface="Times New Roman" pitchFamily="18" charset="0"/>
              </a:rPr>
              <a:t>x</a:t>
            </a:r>
            <a:r>
              <a:rPr lang="en-US" altLang="zh-CN" sz="2400" b="1" baseline="-25000" dirty="0">
                <a:latin typeface="宋体" pitchFamily="2" charset="-122"/>
              </a:rPr>
              <a:t>2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,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,</a:t>
            </a:r>
            <a:r>
              <a:rPr lang="en-US" altLang="zh-CN" sz="2400" b="1" i="1" dirty="0" err="1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 sz="2400" b="1" baseline="-25000" dirty="0" err="1">
                <a:solidFill>
                  <a:srgbClr val="000000"/>
                </a:solidFill>
                <a:latin typeface="宋体" pitchFamily="2" charset="-122"/>
              </a:rPr>
              <a:t>n</a:t>
            </a:r>
            <a:r>
              <a:rPr lang="en-US" altLang="zh-CN" sz="2400" b="1" baseline="30000" dirty="0">
                <a:solidFill>
                  <a:srgbClr val="000000"/>
                </a:solidFill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)</a:t>
            </a:r>
            <a:r>
              <a:rPr lang="en-US" altLang="zh-CN" sz="2400" b="1" baseline="30000" dirty="0">
                <a:latin typeface="宋体" pitchFamily="2" charset="-122"/>
              </a:rPr>
              <a:t>T</a:t>
            </a:r>
            <a:r>
              <a:rPr lang="en-US" altLang="zh-CN" sz="2400" b="1" baseline="30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D；  (X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≠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有  </a:t>
            </a:r>
            <a:r>
              <a:rPr lang="en-US" altLang="zh-CN" sz="2400" b="1" dirty="0">
                <a:latin typeface="宋体" pitchFamily="2" charset="-122"/>
              </a:rPr>
              <a:t>AX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b，  AX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itchFamily="18" charset="0"/>
              </a:rPr>
              <a:t>=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b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令  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αX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baseline="30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+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(1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-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α)X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宋体" pitchFamily="2" charset="-122"/>
              </a:rPr>
              <a:t>   </a:t>
            </a:r>
            <a:r>
              <a:rPr lang="zh-CN" altLang="en-US" sz="2400" b="1" dirty="0">
                <a:latin typeface="宋体" pitchFamily="2" charset="-122"/>
              </a:rPr>
              <a:t>(0</a:t>
            </a:r>
            <a:r>
              <a:rPr lang="zh-CN" altLang="en-US" sz="2400" b="1" dirty="0">
                <a:latin typeface="Times New Roman" pitchFamily="18" charset="0"/>
              </a:rPr>
              <a:t>&lt;</a:t>
            </a:r>
            <a:r>
              <a:rPr lang="en-US" altLang="zh-CN" sz="2400" b="1" dirty="0">
                <a:latin typeface="宋体" pitchFamily="2" charset="-122"/>
              </a:rPr>
              <a:t>α</a:t>
            </a:r>
            <a:r>
              <a:rPr lang="en-US" altLang="zh-CN" sz="2400" b="1" dirty="0">
                <a:latin typeface="Times New Roman" pitchFamily="18" charset="0"/>
              </a:rPr>
              <a:t>&lt;</a:t>
            </a:r>
            <a:r>
              <a:rPr lang="en-US" altLang="zh-CN" sz="2400" b="1" dirty="0">
                <a:latin typeface="宋体" pitchFamily="2" charset="-122"/>
              </a:rPr>
              <a:t>1)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则  </a:t>
            </a:r>
            <a:r>
              <a:rPr lang="en-US" altLang="zh-CN" sz="2400" b="1" dirty="0">
                <a:latin typeface="宋体" pitchFamily="2" charset="-122"/>
              </a:rPr>
              <a:t>AX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αAX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baseline="30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+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(1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-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α)AX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αb</a:t>
            </a:r>
            <a:r>
              <a:rPr lang="en-US" altLang="zh-CN" sz="2400" b="1" baseline="30000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+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(1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-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α)b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en-US" altLang="zh-CN" sz="2400" b="1" dirty="0">
                <a:latin typeface="宋体" pitchFamily="2" charset="-122"/>
                <a:cs typeface="Times New Roman" pitchFamily="18" charset="0"/>
              </a:rPr>
              <a:t>∵</a:t>
            </a: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α</a:t>
            </a:r>
            <a:r>
              <a:rPr lang="en-US" altLang="zh-CN" sz="2400" b="1" dirty="0">
                <a:latin typeface="Times New Roman" pitchFamily="18" charset="0"/>
              </a:rPr>
              <a:t>&gt; </a:t>
            </a:r>
            <a:r>
              <a:rPr lang="en-US" altLang="zh-CN" sz="2400" b="1" dirty="0">
                <a:latin typeface="宋体" pitchFamily="2" charset="-122"/>
              </a:rPr>
              <a:t>0     1</a:t>
            </a:r>
            <a:r>
              <a:rPr lang="en-US" altLang="zh-CN" sz="2400" b="1" dirty="0">
                <a:latin typeface="Times New Roman" pitchFamily="18" charset="0"/>
              </a:rPr>
              <a:t> – </a:t>
            </a:r>
            <a:r>
              <a:rPr lang="en-US" altLang="zh-CN" sz="2400" b="1" dirty="0">
                <a:latin typeface="宋体" pitchFamily="2" charset="-122"/>
              </a:rPr>
              <a:t>α</a:t>
            </a:r>
            <a:r>
              <a:rPr lang="en-US" altLang="zh-CN" sz="2400" b="1" dirty="0">
                <a:latin typeface="Times New Roman" pitchFamily="18" charset="0"/>
              </a:rPr>
              <a:t>&gt; </a:t>
            </a:r>
            <a:r>
              <a:rPr lang="en-US" altLang="zh-CN" sz="2400" b="1" dirty="0">
                <a:latin typeface="宋体" pitchFamily="2" charset="-122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  </a:t>
            </a:r>
            <a:r>
              <a:rPr lang="en-US" altLang="zh-CN" sz="2400" b="1" dirty="0">
                <a:latin typeface="宋体" pitchFamily="2" charset="-122"/>
                <a:cs typeface="Times New Roman" pitchFamily="18" charset="0"/>
              </a:rPr>
              <a:t>∴</a:t>
            </a:r>
            <a:r>
              <a:rPr lang="en-US" altLang="zh-CN" sz="2400" b="1" dirty="0">
                <a:latin typeface="宋体" pitchFamily="2" charset="-122"/>
              </a:rPr>
              <a:t> </a:t>
            </a:r>
            <a:r>
              <a:rPr lang="zh-CN" altLang="en-US" sz="2400" b="1" dirty="0">
                <a:latin typeface="宋体" pitchFamily="2" charset="-122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≥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宋体" pitchFamily="2" charset="-122"/>
              </a:rPr>
              <a:t>0， </a:t>
            </a:r>
            <a:r>
              <a:rPr lang="zh-CN" altLang="en-US" sz="2400" b="1" dirty="0">
                <a:latin typeface="宋体" pitchFamily="2" charset="-122"/>
              </a:rPr>
              <a:t>即</a:t>
            </a:r>
            <a:r>
              <a:rPr lang="en-US" altLang="zh-CN" sz="2400" b="1" dirty="0">
                <a:latin typeface="宋体" pitchFamily="2" charset="-122"/>
              </a:rPr>
              <a:t>D</a:t>
            </a:r>
            <a:r>
              <a:rPr lang="zh-CN" altLang="en-US" sz="2400" b="1" dirty="0">
                <a:latin typeface="宋体" pitchFamily="2" charset="-122"/>
              </a:rPr>
              <a:t>为凸集</a:t>
            </a:r>
            <a:r>
              <a:rPr lang="en-US" altLang="zh-CN" sz="2400" b="1" dirty="0">
                <a:latin typeface="宋体" pitchFamily="2" charset="-122"/>
              </a:rPr>
              <a:t>.</a:t>
            </a:r>
            <a:endParaRPr lang="zh-CN" altLang="en-US" sz="2400" b="1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354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404664"/>
            <a:ext cx="8534400" cy="27432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dirty="0">
                <a:latin typeface="宋体" pitchFamily="2" charset="-122"/>
              </a:rPr>
              <a:t>  </a:t>
            </a:r>
            <a:r>
              <a:rPr lang="zh-CN" altLang="en-US" sz="2400" b="1" dirty="0">
                <a:latin typeface="宋体" pitchFamily="2" charset="-122"/>
              </a:rPr>
              <a:t>2、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顶点</a:t>
            </a:r>
            <a:r>
              <a:rPr lang="zh-CN" altLang="en-US" sz="2400" b="1" dirty="0">
                <a:latin typeface="宋体" pitchFamily="2" charset="-122"/>
              </a:rPr>
              <a:t>：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K，X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K，X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en-US" altLang="zh-CN" sz="20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K (</a:t>
            </a:r>
            <a:r>
              <a:rPr lang="zh-CN" altLang="en-US" sz="2400" b="1" dirty="0">
                <a:latin typeface="宋体" pitchFamily="2" charset="-122"/>
              </a:rPr>
              <a:t>任意两点)。若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zh-CN" altLang="en-US" sz="2400" b="1" dirty="0">
                <a:latin typeface="宋体" pitchFamily="2" charset="-122"/>
              </a:rPr>
              <a:t>不能用</a:t>
            </a:r>
            <a:r>
              <a:rPr lang="en-US" altLang="zh-CN" sz="2400" b="1" dirty="0">
                <a:latin typeface="宋体" pitchFamily="2" charset="-122"/>
              </a:rPr>
              <a:t>αX</a:t>
            </a:r>
            <a:r>
              <a:rPr lang="en-US" altLang="zh-CN" sz="2400" b="1" baseline="30000" dirty="0">
                <a:latin typeface="宋体" pitchFamily="2" charset="-122"/>
              </a:rPr>
              <a:t>(1)</a:t>
            </a:r>
            <a:r>
              <a:rPr lang="en-US" altLang="zh-CN" sz="2400" b="1" dirty="0">
                <a:latin typeface="宋体" pitchFamily="2" charset="-122"/>
              </a:rPr>
              <a:t>+(1-α)X</a:t>
            </a:r>
            <a:r>
              <a:rPr lang="en-US" altLang="zh-CN" sz="2400" b="1" baseline="30000" dirty="0">
                <a:latin typeface="宋体" pitchFamily="2" charset="-122"/>
              </a:rPr>
              <a:t>(2)</a:t>
            </a:r>
            <a:r>
              <a:rPr lang="zh-CN" altLang="en-US" sz="2400" b="1" dirty="0">
                <a:latin typeface="宋体" pitchFamily="2" charset="-122"/>
              </a:rPr>
              <a:t>表示，则称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zh-CN" altLang="en-US" sz="2400" b="1" dirty="0">
                <a:latin typeface="宋体" pitchFamily="2" charset="-122"/>
              </a:rPr>
              <a:t>为</a:t>
            </a:r>
            <a:r>
              <a:rPr lang="en-US" altLang="zh-CN" sz="2400" b="1" dirty="0">
                <a:latin typeface="宋体" pitchFamily="2" charset="-122"/>
              </a:rPr>
              <a:t>K</a:t>
            </a:r>
            <a:r>
              <a:rPr lang="zh-CN" altLang="en-US" sz="2400" b="1" dirty="0">
                <a:latin typeface="宋体" pitchFamily="2" charset="-122"/>
              </a:rPr>
              <a:t>的一个顶点。(0</a:t>
            </a:r>
            <a:r>
              <a:rPr lang="zh-CN" altLang="en-US" sz="2400" b="1" dirty="0">
                <a:latin typeface="Times New Roman" pitchFamily="18" charset="0"/>
              </a:rPr>
              <a:t>&lt;</a:t>
            </a:r>
            <a:r>
              <a:rPr lang="en-US" altLang="zh-CN" sz="2400" b="1" dirty="0">
                <a:latin typeface="宋体" pitchFamily="2" charset="-122"/>
              </a:rPr>
              <a:t>α</a:t>
            </a:r>
            <a:r>
              <a:rPr lang="en-US" altLang="zh-CN" sz="2400" b="1" dirty="0">
                <a:latin typeface="Times New Roman" pitchFamily="18" charset="0"/>
              </a:rPr>
              <a:t>&lt;</a:t>
            </a:r>
            <a:r>
              <a:rPr lang="en-US" altLang="zh-CN" sz="2400" b="1" dirty="0">
                <a:latin typeface="宋体" pitchFamily="2" charset="-122"/>
              </a:rPr>
              <a:t>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>
                <a:latin typeface="宋体" pitchFamily="2" charset="-122"/>
              </a:rPr>
              <a:t>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 dirty="0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  3、</a:t>
            </a:r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凸组合</a:t>
            </a:r>
            <a:r>
              <a:rPr lang="zh-CN" altLang="en-US" sz="2400" b="1" dirty="0">
                <a:latin typeface="宋体" pitchFamily="2" charset="-122"/>
              </a:rPr>
              <a:t>：设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baseline="30000" dirty="0">
                <a:latin typeface="宋体" pitchFamily="2" charset="-122"/>
              </a:rPr>
              <a:t>(</a:t>
            </a:r>
            <a:r>
              <a:rPr lang="en-US" altLang="zh-CN" sz="2400" b="1" baseline="30000" dirty="0" err="1">
                <a:latin typeface="宋体" pitchFamily="2" charset="-122"/>
              </a:rPr>
              <a:t>i</a:t>
            </a:r>
            <a:r>
              <a:rPr lang="en-US" altLang="zh-CN" sz="2400" b="1" baseline="30000" dirty="0">
                <a:latin typeface="宋体" pitchFamily="2" charset="-122"/>
              </a:rPr>
              <a:t>)</a:t>
            </a:r>
            <a:r>
              <a:rPr lang="en-US" altLang="zh-CN" sz="1800" b="1" dirty="0">
                <a:latin typeface="宋体" pitchFamily="2" charset="-122"/>
              </a:rPr>
              <a:t>∈</a:t>
            </a:r>
            <a:r>
              <a:rPr lang="en-US" altLang="zh-CN" sz="2400" b="1" dirty="0">
                <a:latin typeface="宋体" pitchFamily="2" charset="-122"/>
              </a:rPr>
              <a:t>R</a:t>
            </a:r>
            <a:r>
              <a:rPr lang="en-US" altLang="zh-CN" sz="2400" b="1" baseline="30000" dirty="0">
                <a:latin typeface="宋体" pitchFamily="2" charset="-122"/>
              </a:rPr>
              <a:t>n</a:t>
            </a:r>
            <a:r>
              <a:rPr lang="en-US" altLang="zh-CN" sz="2400" b="1" dirty="0">
                <a:latin typeface="宋体" pitchFamily="2" charset="-122"/>
              </a:rPr>
              <a:t>，</a:t>
            </a:r>
            <a:r>
              <a:rPr lang="zh-CN" altLang="en-US" sz="2400" b="1" dirty="0">
                <a:latin typeface="宋体" pitchFamily="2" charset="-122"/>
              </a:rPr>
              <a:t>若存在0</a:t>
            </a:r>
            <a:r>
              <a:rPr lang="zh-CN" altLang="en-US" sz="2400" b="1" dirty="0">
                <a:latin typeface="Times New Roman" pitchFamily="18" charset="0"/>
              </a:rPr>
              <a:t>&lt;</a:t>
            </a:r>
            <a:r>
              <a:rPr lang="en-US" altLang="zh-CN" sz="2400" b="1" dirty="0" err="1">
                <a:latin typeface="宋体" pitchFamily="2" charset="-122"/>
              </a:rPr>
              <a:t>μ</a:t>
            </a:r>
            <a:r>
              <a:rPr lang="en-US" altLang="zh-CN" sz="2400" b="1" baseline="-25000" dirty="0" err="1">
                <a:latin typeface="宋体" pitchFamily="2" charset="-122"/>
              </a:rPr>
              <a:t>i</a:t>
            </a:r>
            <a:r>
              <a:rPr lang="en-US" altLang="zh-CN" sz="2400" b="1" dirty="0">
                <a:latin typeface="Times New Roman" pitchFamily="18" charset="0"/>
              </a:rPr>
              <a:t>&lt;</a:t>
            </a:r>
            <a:r>
              <a:rPr lang="en-US" altLang="zh-CN" sz="2400" b="1" dirty="0">
                <a:latin typeface="宋体" pitchFamily="2" charset="-122"/>
              </a:rPr>
              <a:t>1，i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latin typeface="宋体" pitchFamily="2" charset="-122"/>
              </a:rPr>
              <a:t>1,2,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latin typeface="宋体" pitchFamily="2" charset="-122"/>
              </a:rPr>
              <a:t>,k，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800" b="1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宋体" pitchFamily="2" charset="-122"/>
              </a:rPr>
              <a:t>使          ,则称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zh-CN" altLang="en-US" sz="2400" b="1" dirty="0">
                <a:latin typeface="宋体" pitchFamily="2" charset="-122"/>
              </a:rPr>
              <a:t>为</a:t>
            </a:r>
            <a:r>
              <a:rPr lang="en-US" altLang="zh-CN" sz="2400" b="1" dirty="0">
                <a:latin typeface="宋体" pitchFamily="2" charset="-122"/>
              </a:rPr>
              <a:t>X</a:t>
            </a:r>
            <a:r>
              <a:rPr lang="en-US" altLang="zh-CN" sz="2400" b="1" baseline="30000" dirty="0">
                <a:latin typeface="宋体" pitchFamily="2" charset="-122"/>
              </a:rPr>
              <a:t>(</a:t>
            </a:r>
            <a:r>
              <a:rPr lang="en-US" altLang="zh-CN" sz="2400" b="1" baseline="30000" dirty="0" err="1">
                <a:latin typeface="宋体" pitchFamily="2" charset="-122"/>
              </a:rPr>
              <a:t>i</a:t>
            </a:r>
            <a:r>
              <a:rPr lang="en-US" altLang="zh-CN" sz="2400" b="1" baseline="30000" dirty="0">
                <a:latin typeface="宋体" pitchFamily="2" charset="-122"/>
              </a:rPr>
              <a:t>)</a:t>
            </a:r>
            <a:r>
              <a:rPr lang="en-US" altLang="zh-CN" sz="2400" b="1" dirty="0">
                <a:latin typeface="宋体" pitchFamily="2" charset="-122"/>
              </a:rPr>
              <a:t>(</a:t>
            </a:r>
            <a:r>
              <a:rPr lang="en-US" altLang="zh-CN" sz="2400" b="1" dirty="0" err="1">
                <a:latin typeface="宋体" pitchFamily="2" charset="-122"/>
              </a:rPr>
              <a:t>i</a:t>
            </a:r>
            <a:r>
              <a:rPr lang="en-US" altLang="zh-CN" sz="2400" b="1" dirty="0">
                <a:latin typeface="宋体" pitchFamily="2" charset="-122"/>
              </a:rPr>
              <a:t>=1,2,</a:t>
            </a: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</a:rPr>
              <a:t>···</a:t>
            </a:r>
            <a:r>
              <a:rPr lang="en-US" altLang="zh-CN" sz="2400" b="1" dirty="0">
                <a:latin typeface="宋体" pitchFamily="2" charset="-122"/>
              </a:rPr>
              <a:t>,k)</a:t>
            </a:r>
            <a:r>
              <a:rPr lang="zh-CN" altLang="en-US" sz="2400" b="1" dirty="0">
                <a:latin typeface="宋体" pitchFamily="2" charset="-122"/>
              </a:rPr>
              <a:t>的凸组合。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 b="1" dirty="0">
              <a:latin typeface="宋体" pitchFamily="2" charset="-122"/>
            </a:endParaRPr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4171626"/>
              </p:ext>
            </p:extLst>
          </p:nvPr>
        </p:nvGraphicFramePr>
        <p:xfrm>
          <a:off x="8071306" y="1775520"/>
          <a:ext cx="932059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558" imgH="431613" progId="Equation.3">
                  <p:embed/>
                </p:oleObj>
              </mc:Choice>
              <mc:Fallback>
                <p:oleObj name="Equation" r:id="rId2" imgW="558558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1306" y="1775520"/>
                        <a:ext cx="932059" cy="720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1633488"/>
              </p:ext>
            </p:extLst>
          </p:nvPr>
        </p:nvGraphicFramePr>
        <p:xfrm>
          <a:off x="636712" y="2309664"/>
          <a:ext cx="14478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50531" imgH="431613" progId="Equation.3">
                  <p:embed/>
                </p:oleObj>
              </mc:Choice>
              <mc:Fallback>
                <p:oleObj name="Equation" r:id="rId4" imgW="850531" imgH="4316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712" y="2309664"/>
                        <a:ext cx="14478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FF52D9E0-3B09-472C-A10E-F5D4C8D30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5696" y="3611414"/>
            <a:ext cx="4924425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768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07504" y="476672"/>
            <a:ext cx="9144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引理</a:t>
            </a:r>
            <a:r>
              <a:rPr kumimoji="1" lang="zh-CN" altLang="en-US" sz="2800" b="1" dirty="0">
                <a:latin typeface="宋体" pitchFamily="2" charset="-122"/>
              </a:rPr>
              <a:t>  </a:t>
            </a:r>
            <a:r>
              <a:rPr kumimoji="1" lang="en-US" altLang="zh-CN" sz="2800" b="1" dirty="0">
                <a:latin typeface="宋体" pitchFamily="2" charset="-122"/>
              </a:rPr>
              <a:t>(LP)</a:t>
            </a:r>
            <a:r>
              <a:rPr kumimoji="1" lang="zh-CN" altLang="en-US" sz="2800" b="1" dirty="0">
                <a:latin typeface="宋体" pitchFamily="2" charset="-122"/>
              </a:rPr>
              <a:t>的可行解</a:t>
            </a:r>
            <a:r>
              <a:rPr kumimoji="1" lang="en-US" altLang="zh-CN" sz="2800" b="1" dirty="0">
                <a:latin typeface="宋体" pitchFamily="2" charset="-122"/>
              </a:rPr>
              <a:t>x</a:t>
            </a:r>
            <a:r>
              <a:rPr kumimoji="1" lang="zh-CN" altLang="en-US" sz="2800" b="1" dirty="0">
                <a:latin typeface="宋体" pitchFamily="2" charset="-122"/>
              </a:rPr>
              <a:t>为基本可行解</a:t>
            </a:r>
            <a:r>
              <a:rPr kumimoji="1" lang="en-US" altLang="zh-CN" sz="2800" b="1" dirty="0">
                <a:latin typeface="宋体" pitchFamily="2" charset="-122"/>
                <a:sym typeface="Wingdings" panose="05000000000000000000" pitchFamily="2" charset="2"/>
              </a:rPr>
              <a:t>x</a:t>
            </a:r>
            <a:r>
              <a:rPr kumimoji="1" lang="zh-CN" altLang="en-US" sz="2800" b="1" dirty="0">
                <a:latin typeface="宋体" pitchFamily="2" charset="-122"/>
                <a:sym typeface="Wingdings" panose="05000000000000000000" pitchFamily="2" charset="2"/>
              </a:rPr>
              <a:t>的正分量对应的系数列向量线性无关</a:t>
            </a:r>
            <a:r>
              <a:rPr kumimoji="1" lang="zh-CN" altLang="en-US" sz="2800" b="1" dirty="0">
                <a:latin typeface="宋体" pitchFamily="2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53FA3C-1C16-4615-91E0-8B3C1A27824F}"/>
                  </a:ext>
                </a:extLst>
              </p:cNvPr>
              <p:cNvSpPr txBox="1"/>
              <p:nvPr/>
            </p:nvSpPr>
            <p:spPr>
              <a:xfrm>
                <a:off x="369166" y="3147428"/>
                <a:ext cx="7952998" cy="28291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zh-CN" sz="2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必要性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不妨假设可行解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是相应于基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=[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的一个基本可行解，即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为基变量，且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非负。设基本可行解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中有</a:t>
                </a:r>
                <a:r>
                  <a:rPr lang="en-US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个正分量，则必有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，且正分量所对应的系数列向量必在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中取得。因为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]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线性无关，所以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的正分量对应的系数列向量线性无关。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5753FA3C-1C16-4615-91E0-8B3C1A278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166" y="3147428"/>
                <a:ext cx="7952998" cy="2829108"/>
              </a:xfrm>
              <a:prstGeom prst="rect">
                <a:avLst/>
              </a:prstGeom>
              <a:blipFill>
                <a:blip r:embed="rId2"/>
                <a:stretch>
                  <a:fillRect l="-1227" r="-1150" b="-40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E36B238-9E1A-BD4A-A4C1-7A7A512A6E42}"/>
                  </a:ext>
                </a:extLst>
              </p:cNvPr>
              <p:cNvSpPr txBox="1"/>
              <p:nvPr/>
            </p:nvSpPr>
            <p:spPr>
              <a:xfrm>
                <a:off x="395536" y="1772816"/>
                <a:ext cx="7952998" cy="1027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zh-CN" sz="2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证明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zh-CN" sz="2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 kern="10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是线性规划问题</a:t>
                </a:r>
                <a:r>
                  <a:rPr lang="en-US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(LP)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的一个可行解，则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的第</a:t>
                </a:r>
                <a:r>
                  <a:rPr lang="en-US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j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对应的系数列向量为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EE36B238-9E1A-BD4A-A4C1-7A7A512A6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772816"/>
                <a:ext cx="7952998" cy="1027910"/>
              </a:xfrm>
              <a:prstGeom prst="rect">
                <a:avLst/>
              </a:prstGeom>
              <a:blipFill>
                <a:blip r:embed="rId3"/>
                <a:stretch>
                  <a:fillRect l="-1226" r="-1073" b="-11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25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D52428-CCAB-9EF9-FF73-95F718D7E292}"/>
                  </a:ext>
                </a:extLst>
              </p:cNvPr>
              <p:cNvSpPr txBox="1"/>
              <p:nvPr/>
            </p:nvSpPr>
            <p:spPr>
              <a:xfrm>
                <a:off x="324955" y="2435917"/>
                <a:ext cx="9721080" cy="5196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因为矩阵</a:t>
                </a: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的秩为</a:t>
                </a: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线性无关，所以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3D52428-CCAB-9EF9-FF73-95F718D7E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55" y="2435917"/>
                <a:ext cx="9721080" cy="519629"/>
              </a:xfrm>
              <a:prstGeom prst="rect">
                <a:avLst/>
              </a:prstGeom>
              <a:blipFill>
                <a:blip r:embed="rId2"/>
                <a:stretch>
                  <a:fillRect l="-940" b="-27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F80839EA-1702-D751-3F80-B175E89AA9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938" y="196826"/>
                <a:ext cx="8624123" cy="11137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just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+mn-ea"/>
                    <a:ea typeface="+mn-ea"/>
                  </a:rPr>
                  <a:t>  </a:t>
                </a:r>
                <a:r>
                  <a:rPr kumimoji="1" lang="zh-CN" altLang="en-US" sz="2400" b="1" dirty="0">
                    <a:solidFill>
                      <a:schemeClr val="accent1"/>
                    </a:solidFill>
                    <a:latin typeface="+mn-ea"/>
                    <a:ea typeface="+mn-ea"/>
                  </a:rPr>
                  <a:t>引理  </a:t>
                </a:r>
                <a:r>
                  <a:rPr kumimoji="1" lang="en-US" altLang="zh-CN" sz="2400" b="1" dirty="0">
                    <a:solidFill>
                      <a:schemeClr val="accent1"/>
                    </a:solidFill>
                    <a:latin typeface="+mn-ea"/>
                    <a:ea typeface="+mn-ea"/>
                  </a:rPr>
                  <a:t>(LP)</a:t>
                </a:r>
                <a:r>
                  <a:rPr kumimoji="1" lang="zh-CN" altLang="en-US" sz="2400" b="1" dirty="0">
                    <a:solidFill>
                      <a:schemeClr val="accent1"/>
                    </a:solidFill>
                    <a:latin typeface="+mn-ea"/>
                    <a:ea typeface="+mn-ea"/>
                  </a:rPr>
                  <a:t>的可行解</a:t>
                </a:r>
                <a14:m>
                  <m:oMath xmlns:m="http://schemas.openxmlformats.org/officeDocument/2006/math">
                    <m:r>
                      <a:rPr kumimoji="1" lang="en-US" altLang="zh-CN" sz="2400" b="1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+mn-ea"/>
                      </a:rPr>
                      <m:t>𝒙</m:t>
                    </m:r>
                  </m:oMath>
                </a14:m>
                <a:r>
                  <a:rPr kumimoji="1" lang="zh-CN" altLang="en-US" sz="2400" b="1" dirty="0">
                    <a:solidFill>
                      <a:schemeClr val="accent1"/>
                    </a:solidFill>
                    <a:latin typeface="+mn-ea"/>
                    <a:ea typeface="+mn-ea"/>
                  </a:rPr>
                  <a:t>为基本可行解</a:t>
                </a:r>
                <a:r>
                  <a:rPr kumimoji="1" lang="en-US" altLang="zh-CN" sz="2400" b="1" dirty="0">
                    <a:solidFill>
                      <a:schemeClr val="accent1"/>
                    </a:solidFill>
                    <a:latin typeface="+mn-ea"/>
                    <a:ea typeface="+mn-ea"/>
                    <a:sym typeface="Wingdings" panose="05000000000000000000" pitchFamily="2" charset="2"/>
                  </a:rPr>
                  <a:t>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kumimoji="1" lang="zh-CN" altLang="en-US" sz="2400" b="1" dirty="0">
                    <a:solidFill>
                      <a:schemeClr val="accent1"/>
                    </a:solidFill>
                    <a:latin typeface="+mn-ea"/>
                    <a:ea typeface="+mn-ea"/>
                    <a:sym typeface="Wingdings" panose="05000000000000000000" pitchFamily="2" charset="2"/>
                  </a:rPr>
                  <a:t>的正分量对应的系数列向量线性无关</a:t>
                </a:r>
                <a:r>
                  <a:rPr kumimoji="1" lang="zh-CN" altLang="en-US" sz="2400" b="1" dirty="0">
                    <a:solidFill>
                      <a:schemeClr val="accent1"/>
                    </a:solidFill>
                    <a:latin typeface="+mn-ea"/>
                    <a:ea typeface="+mn-ea"/>
                  </a:rPr>
                  <a:t>。</a:t>
                </a:r>
                <a:endParaRPr kumimoji="1" lang="zh-CN" altLang="en-US" sz="2400" b="1" dirty="0">
                  <a:latin typeface="+mn-ea"/>
                  <a:ea typeface="+mn-ea"/>
                </a:endParaRPr>
              </a:p>
            </p:txBody>
          </p:sp>
        </mc:Choice>
        <mc:Fallback xmlns="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F80839EA-1702-D751-3F80-B175E89AA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938" y="196826"/>
                <a:ext cx="8624123" cy="1113766"/>
              </a:xfrm>
              <a:prstGeom prst="rect">
                <a:avLst/>
              </a:prstGeom>
              <a:blipFill>
                <a:blip r:embed="rId3"/>
                <a:stretch>
                  <a:fillRect l="-1132" r="-1132" b="-1147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D21A0F-ACC5-7B3A-9B99-91B8C11455AC}"/>
                  </a:ext>
                </a:extLst>
              </p:cNvPr>
              <p:cNvSpPr txBox="1"/>
              <p:nvPr/>
            </p:nvSpPr>
            <p:spPr>
              <a:xfrm>
                <a:off x="321205" y="1374182"/>
                <a:ext cx="8501588" cy="981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5000"/>
                  </a:lnSpc>
                </a:pPr>
                <a:r>
                  <a:rPr lang="zh-CN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充分性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设可行解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的正分量对应的系数列向量线性无关，不妨设可行解</a:t>
                </a:r>
                <a14:m>
                  <m:oMath xmlns:m="http://schemas.openxmlformats.org/officeDocument/2006/math">
                    <m:r>
                      <a:rPr lang="en-US" altLang="zh-CN" sz="2400" i="1" kern="100" smtClean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的正分量为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的前</a:t>
                </a: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个分量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DD21A0F-ACC5-7B3A-9B99-91B8C1145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205" y="1374182"/>
                <a:ext cx="8501588" cy="981294"/>
              </a:xfrm>
              <a:prstGeom prst="rect">
                <a:avLst/>
              </a:prstGeom>
              <a:blipFill>
                <a:blip r:embed="rId4"/>
                <a:stretch>
                  <a:fillRect l="-1148" r="-1148" b="-136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F6CA8D8-62F9-1E71-60B7-1D2766610885}"/>
              </a:ext>
            </a:extLst>
          </p:cNvPr>
          <p:cNvGrpSpPr/>
          <p:nvPr/>
        </p:nvGrpSpPr>
        <p:grpSpPr>
          <a:xfrm>
            <a:off x="-1479950" y="2927960"/>
            <a:ext cx="10623950" cy="3870996"/>
            <a:chOff x="-1452509" y="553916"/>
            <a:chExt cx="12460944" cy="38709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FC9772D2-2D99-C234-9ECE-8437B025E3FE}"/>
                    </a:ext>
                  </a:extLst>
                </p:cNvPr>
                <p:cNvSpPr txBox="1"/>
                <p:nvPr/>
              </p:nvSpPr>
              <p:spPr>
                <a:xfrm>
                  <a:off x="-816768" y="1843083"/>
                  <a:ext cx="3577274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oMath>
                    </m:oMathPara>
                  </a14:m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3E3362EB-FE5C-EBA8-481C-358B0F290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816768" y="1843083"/>
                  <a:ext cx="3577274" cy="646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1F111A6-530E-5839-E0F7-0E70335380D6}"/>
                    </a:ext>
                  </a:extLst>
                </p:cNvPr>
                <p:cNvSpPr txBox="1"/>
                <p:nvPr/>
              </p:nvSpPr>
              <p:spPr>
                <a:xfrm>
                  <a:off x="-1452509" y="1051761"/>
                  <a:ext cx="6899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oMath>
                    </m:oMathPara>
                  </a14:m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81F111A6-530E-5839-E0F7-0E7033538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452509" y="1051761"/>
                  <a:ext cx="6899986" cy="64633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2508F354-4BBD-51BD-53BC-3F1A99E47711}"/>
                    </a:ext>
                  </a:extLst>
                </p:cNvPr>
                <p:cNvSpPr txBox="1"/>
                <p:nvPr/>
              </p:nvSpPr>
              <p:spPr>
                <a:xfrm>
                  <a:off x="-1327075" y="2713586"/>
                  <a:ext cx="6899986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&lt;</m:t>
                        </m:r>
                        <m:r>
                          <a:rPr lang="en-US" altLang="zh-CN" sz="240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oMath>
                    </m:oMathPara>
                  </a14:m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385D804-CC40-BB52-9CE8-C89FBAC0BC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27075" y="2713586"/>
                  <a:ext cx="689998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96CBE2C-0CCA-4F6B-013C-FD7DA3EE16D6}"/>
                    </a:ext>
                  </a:extLst>
                </p:cNvPr>
                <p:cNvSpPr txBox="1"/>
                <p:nvPr/>
              </p:nvSpPr>
              <p:spPr>
                <a:xfrm>
                  <a:off x="3312336" y="959133"/>
                  <a:ext cx="6899986" cy="11137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a14:m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是对应于基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a14:m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的</a:t>
                  </a:r>
                  <a:endParaRPr lang="en-US" altLang="zh-CN" sz="2400" kern="100" dirty="0">
                    <a:latin typeface="+mn-ea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</a:pP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一个基本解</a:t>
                  </a:r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1" name="文本框 10">
                  <a:extLst>
                    <a:ext uri="{FF2B5EF4-FFF2-40B4-BE49-F238E27FC236}">
                      <a16:creationId xmlns:a16="http://schemas.microsoft.com/office/drawing/2014/main" id="{796CBE2C-0CCA-4F6B-013C-FD7DA3EE16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12336" y="959133"/>
                  <a:ext cx="6899986" cy="1113766"/>
                </a:xfrm>
                <a:prstGeom prst="rect">
                  <a:avLst/>
                </a:prstGeom>
                <a:blipFill>
                  <a:blip r:embed="rId8"/>
                  <a:stretch>
                    <a:fillRect l="-1658" b="-1208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DB7877B-D58E-F2F1-CBE8-F26BF0DF1271}"/>
                </a:ext>
              </a:extLst>
            </p:cNvPr>
            <p:cNvSpPr txBox="1"/>
            <p:nvPr/>
          </p:nvSpPr>
          <p:spPr>
            <a:xfrm>
              <a:off x="8897470" y="1113588"/>
              <a:ext cx="1377423" cy="559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zh-CN" sz="2400" kern="100" dirty="0">
                  <a:latin typeface="+mn-ea"/>
                  <a:cs typeface="Times New Roman" panose="02020603050405020304" pitchFamily="18" charset="0"/>
                </a:rPr>
                <a:t>可行性</a:t>
              </a:r>
              <a:endParaRPr lang="zh-CN" altLang="en-US" sz="2400" dirty="0">
                <a:latin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C40D5C2-90FC-8560-D802-E2CF89BF51C8}"/>
                    </a:ext>
                  </a:extLst>
                </p:cNvPr>
                <p:cNvSpPr txBox="1"/>
                <p:nvPr/>
              </p:nvSpPr>
              <p:spPr>
                <a:xfrm>
                  <a:off x="10244657" y="553916"/>
                  <a:ext cx="763778" cy="38709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2400" i="1" kern="1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a14:m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是基本</a:t>
                  </a:r>
                  <a:endParaRPr lang="en-US" altLang="zh-CN" sz="2400" kern="100" dirty="0">
                    <a:latin typeface="+mn-ea"/>
                    <a:cs typeface="Times New Roman" panose="02020603050405020304" pitchFamily="18" charset="0"/>
                  </a:endParaRPr>
                </a:p>
                <a:p>
                  <a:pPr algn="just">
                    <a:lnSpc>
                      <a:spcPct val="150000"/>
                    </a:lnSpc>
                  </a:pP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可行解</a:t>
                  </a:r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0C40D5C2-90FC-8560-D802-E2CF89BF51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4657" y="553916"/>
                  <a:ext cx="763778" cy="3870996"/>
                </a:xfrm>
                <a:prstGeom prst="rect">
                  <a:avLst/>
                </a:prstGeom>
                <a:blipFill>
                  <a:blip r:embed="rId9"/>
                  <a:stretch>
                    <a:fillRect l="-14019" b="-252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8C59156-3A99-BFBD-5855-683E06ED09B0}"/>
                    </a:ext>
                  </a:extLst>
                </p:cNvPr>
                <p:cNvSpPr txBox="1"/>
                <p:nvPr/>
              </p:nvSpPr>
              <p:spPr>
                <a:xfrm>
                  <a:off x="3165309" y="2611958"/>
                  <a:ext cx="6471825" cy="168129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just">
                    <a:lnSpc>
                      <a:spcPct val="150000"/>
                    </a:lnSpc>
                  </a:pP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可以从</a:t>
                  </a:r>
                  <a:r>
                    <a:rPr lang="en-US" altLang="zh-CN" sz="2400" kern="100" dirty="0">
                      <a:latin typeface="+mn-ea"/>
                      <a:cs typeface="Times New Roman" panose="02020603050405020304" pitchFamily="18" charset="0"/>
                    </a:rPr>
                    <a:t>A</a:t>
                  </a: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中剩余的</a:t>
                  </a:r>
                  <a:r>
                    <a:rPr lang="en-US" altLang="zh-CN" sz="2400" kern="100" dirty="0">
                      <a:latin typeface="+mn-ea"/>
                      <a:cs typeface="Times New Roman" panose="02020603050405020304" pitchFamily="18" charset="0"/>
                    </a:rPr>
                    <a:t>n-k</a:t>
                  </a: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个列向量中选出</a:t>
                  </a:r>
                  <a:r>
                    <a:rPr lang="en-US" altLang="zh-CN" sz="2400" kern="100" dirty="0">
                      <a:latin typeface="+mn-ea"/>
                      <a:cs typeface="Times New Roman" panose="02020603050405020304" pitchFamily="18" charset="0"/>
                    </a:rPr>
                    <a:t>m-k</a:t>
                  </a: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个与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线性无关，构成一个基</a:t>
                  </a:r>
                  <a:r>
                    <a:rPr lang="en-US" altLang="zh-CN" sz="2400" kern="100" dirty="0">
                      <a:latin typeface="+mn-ea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sz="2400" kern="100" dirty="0">
                      <a:latin typeface="+mn-ea"/>
                      <a:cs typeface="Times New Roman" panose="02020603050405020304" pitchFamily="18" charset="0"/>
                    </a:rPr>
                    <a:t>其所确定的基本解恰是</a:t>
                  </a:r>
                  <a14:m>
                    <m:oMath xmlns:m="http://schemas.openxmlformats.org/officeDocument/2006/math">
                      <m:r>
                        <a:rPr lang="en-US" altLang="zh-CN" sz="2400" i="1" kern="10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a14:m>
                  <a:endParaRPr lang="zh-CN" altLang="en-US" sz="2400" dirty="0">
                    <a:latin typeface="+mn-ea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8C59156-3A99-BFBD-5855-683E06ED0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5309" y="2611958"/>
                  <a:ext cx="6471825" cy="1681294"/>
                </a:xfrm>
                <a:prstGeom prst="rect">
                  <a:avLst/>
                </a:prstGeom>
                <a:blipFill>
                  <a:blip r:embed="rId10"/>
                  <a:stretch>
                    <a:fillRect l="-1657" r="-4641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括号 14">
              <a:extLst>
                <a:ext uri="{FF2B5EF4-FFF2-40B4-BE49-F238E27FC236}">
                  <a16:creationId xmlns:a16="http://schemas.microsoft.com/office/drawing/2014/main" id="{98928A3C-8414-AE30-FFFD-EF34EA7AD93D}"/>
                </a:ext>
              </a:extLst>
            </p:cNvPr>
            <p:cNvSpPr/>
            <p:nvPr/>
          </p:nvSpPr>
          <p:spPr>
            <a:xfrm>
              <a:off x="1389377" y="1374927"/>
              <a:ext cx="144016" cy="1719127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68939EF5-31AE-8248-5A59-91EEBF838EAE}"/>
                </a:ext>
              </a:extLst>
            </p:cNvPr>
            <p:cNvCxnSpPr/>
            <p:nvPr/>
          </p:nvCxnSpPr>
          <p:spPr>
            <a:xfrm>
              <a:off x="2647591" y="1374927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D746132-7031-36FE-C0E7-50CE8629F697}"/>
                </a:ext>
              </a:extLst>
            </p:cNvPr>
            <p:cNvCxnSpPr/>
            <p:nvPr/>
          </p:nvCxnSpPr>
          <p:spPr>
            <a:xfrm>
              <a:off x="2647591" y="3072499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FC353016-6C6A-C0FC-26D2-49811AB430AB}"/>
                </a:ext>
              </a:extLst>
            </p:cNvPr>
            <p:cNvCxnSpPr>
              <a:cxnSpLocks/>
            </p:cNvCxnSpPr>
            <p:nvPr/>
          </p:nvCxnSpPr>
          <p:spPr>
            <a:xfrm>
              <a:off x="8163928" y="1400261"/>
              <a:ext cx="1813131" cy="817638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CC8A12F-AF3A-C569-7150-F325778DE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1758" y="3074533"/>
              <a:ext cx="386503" cy="58462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34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61F6B6C4-6CC3-4CCA-83BB-FF1129ED2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672"/>
            <a:ext cx="91440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定理2</a:t>
            </a:r>
            <a:r>
              <a:rPr kumimoji="1" lang="zh-CN" altLang="en-US" sz="2800" b="1" dirty="0">
                <a:latin typeface="宋体" pitchFamily="2" charset="-122"/>
              </a:rPr>
              <a:t>  线性规划的基本可行解对应于可行域的顶点。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B1076E-3683-882A-E465-182009410AB5}"/>
                  </a:ext>
                </a:extLst>
              </p:cNvPr>
              <p:cNvSpPr txBox="1"/>
              <p:nvPr/>
            </p:nvSpPr>
            <p:spPr>
              <a:xfrm>
                <a:off x="323528" y="1142061"/>
                <a:ext cx="8496944" cy="4891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4000"/>
                  </a:lnSpc>
                </a:pPr>
                <a:r>
                  <a:rPr lang="zh-CN" altLang="zh-CN" sz="2400" b="1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证明：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即求证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(LP)</a:t>
                </a:r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的基本可行解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⇔</m:t>
                    </m:r>
                    <m:r>
                      <a:rPr lang="en-US" altLang="zh-CN" sz="2400" i="1" kern="10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是可行域上的一个顶点。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4B1076E-3683-882A-E465-182009410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142061"/>
                <a:ext cx="8496944" cy="489173"/>
              </a:xfrm>
              <a:prstGeom prst="rect">
                <a:avLst/>
              </a:prstGeom>
              <a:blipFill>
                <a:blip r:embed="rId3"/>
                <a:stretch>
                  <a:fillRect l="-1076" t="-3704" r="-4806" b="-27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DD9D2483-E5AC-0FFB-4AC0-D23D2904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29" y="1631234"/>
            <a:ext cx="9144000" cy="483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69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835890-5E3F-445A-954C-AEA5F09248CC}"/>
                  </a:ext>
                </a:extLst>
              </p:cNvPr>
              <p:cNvSpPr txBox="1"/>
              <p:nvPr/>
            </p:nvSpPr>
            <p:spPr>
              <a:xfrm>
                <a:off x="395536" y="852429"/>
                <a:ext cx="8352928" cy="45991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记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  <m:sSub>
                            <m:sSubPr>
                              <m:ctrlPr>
                                <a:rPr lang="zh-CN" altLang="zh-CN" sz="24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2400" i="1" kern="100"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,⋯,</m:t>
                          </m:r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,0,⋯,0]</m:t>
                      </m:r>
                    </m:oMath>
                  </m:oMathPara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=[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zh-CN" altLang="zh-CN" sz="24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2400" i="1" kern="100"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 kern="100"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,0,⋯,0]</m:t>
                      </m:r>
                    </m:oMath>
                  </m:oMathPara>
                </a14:m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则有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𝐴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，令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充分小则能保证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≥0,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≥0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为可行解且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。注意到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)/2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可以表示为两个可行点的凸组合，这与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是顶点相矛盾。所以，假设不成立。</a:t>
                </a:r>
              </a:p>
              <a:p>
                <a:pPr algn="just">
                  <a:lnSpc>
                    <a:spcPct val="150000"/>
                  </a:lnSpc>
                </a:pPr>
                <a:endParaRPr lang="zh-CN" altLang="zh-CN" sz="240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6835890-5E3F-445A-954C-AEA5F0924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852429"/>
                <a:ext cx="8352928" cy="4599144"/>
              </a:xfrm>
              <a:prstGeom prst="rect">
                <a:avLst/>
              </a:prstGeom>
              <a:blipFill>
                <a:blip r:embed="rId2"/>
                <a:stretch>
                  <a:fillRect l="-1168" r="-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929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BF1584-8B44-4D8D-BDCA-946087828B0E}"/>
                  </a:ext>
                </a:extLst>
              </p:cNvPr>
              <p:cNvSpPr txBox="1"/>
              <p:nvPr/>
            </p:nvSpPr>
            <p:spPr>
              <a:xfrm>
                <a:off x="611560" y="764704"/>
                <a:ext cx="7794865" cy="2866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(2)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</a:t>
                </a:r>
                <a:r>
                  <a:rPr lang="en-US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(LP)</a:t>
                </a:r>
                <a:r>
                  <a:rPr lang="zh-CN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的基本可行解</a:t>
                </a:r>
                <a14:m>
                  <m:oMath xmlns:m="http://schemas.openxmlformats.org/officeDocument/2006/math">
                    <m:r>
                      <a:rPr lang="en-US" altLang="zh-CN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2400" b="1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𝒙</m:t>
                    </m:r>
                  </m:oMath>
                </a14:m>
                <a:r>
                  <a:rPr lang="zh-CN" altLang="zh-CN" sz="2400" b="1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是可行域上的一个顶点。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反证，假设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是基本可行解但不是顶点。则必存在两个不同的可行点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使得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𝛼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</m:d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 0&lt;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𝛼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&lt;1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。不失一般性，假设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的前</a:t>
                </a:r>
                <a14:m>
                  <m:oMath xmlns:m="http://schemas.openxmlformats.org/officeDocument/2006/math"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 dirty="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个分量为基变量</a:t>
                </a:r>
                <a:r>
                  <a:rPr lang="zh-CN" altLang="en-US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且为正分量。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EBF1584-8B44-4D8D-BDCA-946087828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764704"/>
                <a:ext cx="7794865" cy="2866362"/>
              </a:xfrm>
              <a:prstGeom prst="rect">
                <a:avLst/>
              </a:prstGeom>
              <a:blipFill>
                <a:blip r:embed="rId2"/>
                <a:stretch>
                  <a:fillRect l="-1173" r="-2267" b="-3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247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C4B0E327-10E2-B3A5-2313-B8D63075D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528637"/>
            <a:ext cx="8715375" cy="58007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80859E-9740-F7EA-25A0-EE3560D0C445}"/>
                  </a:ext>
                </a:extLst>
              </p:cNvPr>
              <p:cNvSpPr txBox="1"/>
              <p:nvPr/>
            </p:nvSpPr>
            <p:spPr>
              <a:xfrm>
                <a:off x="7020272" y="3937924"/>
                <a:ext cx="1296144" cy="66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800" i="1" kern="1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180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zh-CN" sz="1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d>
                            <m:dPr>
                              <m:ctrlPr>
                                <a:rPr lang="zh-CN" altLang="zh-CN" sz="1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等线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FF0000"/>
                    </a:solidFill>
                  </a:rPr>
                  <a:t>可行性 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380859E-9740-F7EA-25A0-EE3560D0C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3937924"/>
                <a:ext cx="1296144" cy="664926"/>
              </a:xfrm>
              <a:prstGeom prst="rect">
                <a:avLst/>
              </a:prstGeom>
              <a:blipFill>
                <a:blip r:embed="rId3"/>
                <a:stretch>
                  <a:fillRect l="-4245" b="-1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1131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B7E2C1-EA3F-475C-8876-EEA5004641FC}"/>
                  </a:ext>
                </a:extLst>
              </p:cNvPr>
              <p:cNvSpPr txBox="1"/>
              <p:nvPr/>
            </p:nvSpPr>
            <p:spPr>
              <a:xfrm>
                <a:off x="764577" y="1268761"/>
                <a:ext cx="7614846" cy="1558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20000"/>
                  </a:lnSpc>
                </a:pP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(1)</m:t>
                        </m:r>
                      </m:sup>
                    </m:s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≠</m:t>
                    </m:r>
                    <m:sSup>
                      <m:s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(2)</m:t>
                        </m:r>
                      </m:sup>
                    </m:sSup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，所以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zh-CN" altLang="zh-CN" sz="24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 kern="100"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𝑗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=1,⋯,</m:t>
                    </m:r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不全为零，因此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,⋯,</m:t>
                    </m:r>
                    <m:sSub>
                      <m:sSubPr>
                        <m:ctrlPr>
                          <a:rPr lang="zh-CN" altLang="zh-CN" sz="24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i="1" kern="100"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线性</a:t>
                </a:r>
                <a:r>
                  <a:rPr lang="zh-CN" altLang="en-US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相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关，即</a:t>
                </a:r>
                <a14:m>
                  <m:oMath xmlns:m="http://schemas.openxmlformats.org/officeDocument/2006/math">
                    <m:r>
                      <a:rPr lang="en-US" altLang="zh-CN" sz="2400" i="1" kern="100"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不是</a:t>
                </a:r>
                <a:r>
                  <a:rPr lang="en-US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(LP)</a:t>
                </a:r>
                <a:r>
                  <a:rPr lang="zh-CN" altLang="zh-CN" sz="2400" kern="100" dirty="0"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的基本可行解。这与已知条件相矛盾。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B7E2C1-EA3F-475C-8876-EEA500464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77" y="1268761"/>
                <a:ext cx="7614846" cy="1558696"/>
              </a:xfrm>
              <a:prstGeom prst="rect">
                <a:avLst/>
              </a:prstGeom>
              <a:blipFill>
                <a:blip r:embed="rId2"/>
                <a:stretch>
                  <a:fillRect l="-1200" r="-1200" b="-82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0352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FBFE59C9-86A5-4CF7-938A-25DB8B5A8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2" y="260648"/>
            <a:ext cx="8867776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定理3</a:t>
            </a:r>
            <a:r>
              <a:rPr kumimoji="1" lang="zh-CN" altLang="en-US" sz="2800" b="1" dirty="0">
                <a:latin typeface="宋体" pitchFamily="2" charset="-122"/>
              </a:rPr>
              <a:t>  若线性规划有最优解，则一定存在基本可行解为最优解。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13F869-8818-B9F4-BF9C-9923C6FDD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818" y="1556792"/>
            <a:ext cx="9144000" cy="483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098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0D99ED3C-3A9A-4ADF-AED5-1DA796F34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786" y="709369"/>
            <a:ext cx="8434428" cy="1824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这一结论说明，虽然可行域中不是顶点的点也可能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最优解，但我们可以不去管它，只从顶点中寻找线性规划的最优解就行了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56">
            <a:extLst>
              <a:ext uri="{FF2B5EF4-FFF2-40B4-BE49-F238E27FC236}">
                <a16:creationId xmlns:a16="http://schemas.microsoft.com/office/drawing/2014/main" id="{0D814A06-16E0-3A3C-3348-BF15139FCE3E}"/>
              </a:ext>
            </a:extLst>
          </p:cNvPr>
          <p:cNvGrpSpPr>
            <a:grpSpLocks/>
          </p:cNvGrpSpPr>
          <p:nvPr/>
        </p:nvGrpSpPr>
        <p:grpSpPr bwMode="auto">
          <a:xfrm>
            <a:off x="5220072" y="2247900"/>
            <a:ext cx="3048000" cy="2362200"/>
            <a:chOff x="3072" y="1344"/>
            <a:chExt cx="1920" cy="1488"/>
          </a:xfrm>
        </p:grpSpPr>
        <p:grpSp>
          <p:nvGrpSpPr>
            <p:cNvPr id="3" name="Group 38">
              <a:extLst>
                <a:ext uri="{FF2B5EF4-FFF2-40B4-BE49-F238E27FC236}">
                  <a16:creationId xmlns:a16="http://schemas.microsoft.com/office/drawing/2014/main" id="{4EBF2287-BDD4-57F3-E534-8396A6B89E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6" y="1344"/>
              <a:ext cx="192" cy="1488"/>
              <a:chOff x="4224" y="2160"/>
              <a:chExt cx="192" cy="1488"/>
            </a:xfrm>
          </p:grpSpPr>
          <p:sp>
            <p:nvSpPr>
              <p:cNvPr id="18" name="Line 39">
                <a:extLst>
                  <a:ext uri="{FF2B5EF4-FFF2-40B4-BE49-F238E27FC236}">
                    <a16:creationId xmlns:a16="http://schemas.microsoft.com/office/drawing/2014/main" id="{549C65FA-C59C-902C-9066-A222B8F18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2256"/>
                <a:ext cx="1" cy="1392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9" name="Rectangle 40">
                <a:extLst>
                  <a:ext uri="{FF2B5EF4-FFF2-40B4-BE49-F238E27FC236}">
                    <a16:creationId xmlns:a16="http://schemas.microsoft.com/office/drawing/2014/main" id="{692A1B37-ED5F-B388-050B-15338E9E2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16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/>
                  <a:t>②</a:t>
                </a:r>
              </a:p>
            </p:txBody>
          </p:sp>
          <p:sp>
            <p:nvSpPr>
              <p:cNvPr id="20" name="Rectangle 41">
                <a:extLst>
                  <a:ext uri="{FF2B5EF4-FFF2-40B4-BE49-F238E27FC236}">
                    <a16:creationId xmlns:a16="http://schemas.microsoft.com/office/drawing/2014/main" id="{C37150E6-856F-1337-BCC0-443B31B70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3504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1</a:t>
                </a:r>
              </a:p>
            </p:txBody>
          </p:sp>
          <p:sp>
            <p:nvSpPr>
              <p:cNvPr id="21" name="Rectangle 42">
                <a:extLst>
                  <a:ext uri="{FF2B5EF4-FFF2-40B4-BE49-F238E27FC236}">
                    <a16:creationId xmlns:a16="http://schemas.microsoft.com/office/drawing/2014/main" id="{F8CACD7A-A028-FF47-1CFB-65CB94B65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736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        Q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(4,2)</a:t>
                </a:r>
              </a:p>
            </p:txBody>
          </p:sp>
        </p:grpSp>
        <p:grpSp>
          <p:nvGrpSpPr>
            <p:cNvPr id="4" name="Group 43">
              <a:extLst>
                <a:ext uri="{FF2B5EF4-FFF2-40B4-BE49-F238E27FC236}">
                  <a16:creationId xmlns:a16="http://schemas.microsoft.com/office/drawing/2014/main" id="{0DC317B3-4532-B5B2-5578-32A406689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1582"/>
              <a:ext cx="1920" cy="194"/>
              <a:chOff x="2880" y="2400"/>
              <a:chExt cx="1920" cy="193"/>
            </a:xfrm>
          </p:grpSpPr>
          <p:sp>
            <p:nvSpPr>
              <p:cNvPr id="14" name="Line 44">
                <a:extLst>
                  <a:ext uri="{FF2B5EF4-FFF2-40B4-BE49-F238E27FC236}">
                    <a16:creationId xmlns:a16="http://schemas.microsoft.com/office/drawing/2014/main" id="{D26C5018-8E6D-4CFD-4A9A-CBA7BA505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2592"/>
                <a:ext cx="177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5" name="Rectangle 45">
                <a:extLst>
                  <a:ext uri="{FF2B5EF4-FFF2-40B4-BE49-F238E27FC236}">
                    <a16:creationId xmlns:a16="http://schemas.microsoft.com/office/drawing/2014/main" id="{440F99BB-F846-C438-0188-4BE7F9B57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8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zh-CN" altLang="en-US" sz="2000"/>
                  <a:t>③</a:t>
                </a:r>
              </a:p>
            </p:txBody>
          </p:sp>
          <p:sp>
            <p:nvSpPr>
              <p:cNvPr id="16" name="Rectangle 46">
                <a:extLst>
                  <a:ext uri="{FF2B5EF4-FFF2-40B4-BE49-F238E27FC236}">
                    <a16:creationId xmlns:a16="http://schemas.microsoft.com/office/drawing/2014/main" id="{A070958F-0D83-5A9E-25A0-6E5F272D2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3</a:t>
                </a:r>
                <a:r>
                  <a:rPr lang="en-US" altLang="zh-CN"/>
                  <a:t>(2,3)</a:t>
                </a:r>
              </a:p>
            </p:txBody>
          </p:sp>
          <p:sp>
            <p:nvSpPr>
              <p:cNvPr id="17" name="Rectangle 47">
                <a:extLst>
                  <a:ext uri="{FF2B5EF4-FFF2-40B4-BE49-F238E27FC236}">
                    <a16:creationId xmlns:a16="http://schemas.microsoft.com/office/drawing/2014/main" id="{155616F6-329D-9CEF-F743-F5C3C7A17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2400"/>
                <a:ext cx="192" cy="1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A7CCD9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797B7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US" altLang="zh-CN"/>
                  <a:t>Q</a:t>
                </a:r>
                <a:r>
                  <a:rPr lang="en-US" altLang="zh-CN" baseline="-25000"/>
                  <a:t>4</a:t>
                </a:r>
              </a:p>
            </p:txBody>
          </p:sp>
        </p:grpSp>
        <p:sp>
          <p:nvSpPr>
            <p:cNvPr id="5" name="Freeform 48" descr="浅色横线">
              <a:extLst>
                <a:ext uri="{FF2B5EF4-FFF2-40B4-BE49-F238E27FC236}">
                  <a16:creationId xmlns:a16="http://schemas.microsoft.com/office/drawing/2014/main" id="{AE224653-5E06-A4E6-5CB5-08E5D057B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776"/>
              <a:ext cx="1152" cy="864"/>
            </a:xfrm>
            <a:custGeom>
              <a:avLst/>
              <a:gdLst>
                <a:gd name="T0" fmla="*/ 0 w 1152"/>
                <a:gd name="T1" fmla="*/ 864 h 864"/>
                <a:gd name="T2" fmla="*/ 0 w 1152"/>
                <a:gd name="T3" fmla="*/ 0 h 864"/>
                <a:gd name="T4" fmla="*/ 552 w 1152"/>
                <a:gd name="T5" fmla="*/ 0 h 864"/>
                <a:gd name="T6" fmla="*/ 1152 w 1152"/>
                <a:gd name="T7" fmla="*/ 324 h 864"/>
                <a:gd name="T8" fmla="*/ 1152 w 1152"/>
                <a:gd name="T9" fmla="*/ 864 h 864"/>
                <a:gd name="T10" fmla="*/ 0 w 1152"/>
                <a:gd name="T11" fmla="*/ 864 h 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52" h="864">
                  <a:moveTo>
                    <a:pt x="0" y="864"/>
                  </a:moveTo>
                  <a:lnTo>
                    <a:pt x="0" y="0"/>
                  </a:lnTo>
                  <a:lnTo>
                    <a:pt x="552" y="0"/>
                  </a:lnTo>
                  <a:lnTo>
                    <a:pt x="1152" y="324"/>
                  </a:lnTo>
                  <a:lnTo>
                    <a:pt x="1152" y="864"/>
                  </a:lnTo>
                  <a:lnTo>
                    <a:pt x="0" y="864"/>
                  </a:lnTo>
                  <a:close/>
                </a:path>
              </a:pathLst>
            </a:custGeom>
            <a:pattFill prst="ltHorz">
              <a:fgClr>
                <a:schemeClr val="tx1"/>
              </a:fgClr>
              <a:bgClr>
                <a:schemeClr val="bg1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7" name="Text Box 49">
              <a:extLst>
                <a:ext uri="{FF2B5EF4-FFF2-40B4-BE49-F238E27FC236}">
                  <a16:creationId xmlns:a16="http://schemas.microsoft.com/office/drawing/2014/main" id="{2BECF45C-4140-DB1E-F04C-2E57426A9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544"/>
              <a:ext cx="144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en-US" altLang="zh-CN" sz="2400">
                  <a:latin typeface="宋体" pitchFamily="2" charset="-122"/>
                </a:rPr>
                <a:t>o</a:t>
              </a:r>
            </a:p>
          </p:txBody>
        </p:sp>
        <p:sp>
          <p:nvSpPr>
            <p:cNvPr id="8" name="Text Box 50">
              <a:extLst>
                <a:ext uri="{FF2B5EF4-FFF2-40B4-BE49-F238E27FC236}">
                  <a16:creationId xmlns:a16="http://schemas.microsoft.com/office/drawing/2014/main" id="{C6492F63-2E52-85DE-A19C-1EB7A234A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640"/>
              <a:ext cx="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1800">
                  <a:latin typeface="宋体" pitchFamily="2" charset="-122"/>
                </a:rPr>
                <a:t>4</a:t>
              </a:r>
            </a:p>
          </p:txBody>
        </p:sp>
        <p:sp>
          <p:nvSpPr>
            <p:cNvPr id="9" name="Text Box 51">
              <a:extLst>
                <a:ext uri="{FF2B5EF4-FFF2-40B4-BE49-F238E27FC236}">
                  <a16:creationId xmlns:a16="http://schemas.microsoft.com/office/drawing/2014/main" id="{61A56A2A-2B83-C1BD-A446-F9322564E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1747"/>
              <a:ext cx="96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l" eaLnBrk="1" hangingPunct="1">
                <a:spcBef>
                  <a:spcPct val="50000"/>
                </a:spcBef>
              </a:pPr>
              <a:r>
                <a:rPr kumimoji="1" lang="zh-CN" altLang="en-US" sz="1800">
                  <a:latin typeface="宋体" pitchFamily="2" charset="-122"/>
                </a:rPr>
                <a:t>3</a:t>
              </a:r>
            </a:p>
          </p:txBody>
        </p:sp>
        <p:sp>
          <p:nvSpPr>
            <p:cNvPr id="10" name="Line 52">
              <a:extLst>
                <a:ext uri="{FF2B5EF4-FFF2-40B4-BE49-F238E27FC236}">
                  <a16:creationId xmlns:a16="http://schemas.microsoft.com/office/drawing/2014/main" id="{878EE103-BDB6-4FEF-6F2E-57BC8ED43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536"/>
              <a:ext cx="1248" cy="67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1" name="Line 53">
              <a:extLst>
                <a:ext uri="{FF2B5EF4-FFF2-40B4-BE49-F238E27FC236}">
                  <a16:creationId xmlns:a16="http://schemas.microsoft.com/office/drawing/2014/main" id="{4897975F-22F6-993C-25B0-05FFDF845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1776"/>
              <a:ext cx="624" cy="336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" name="Rectangle 54">
              <a:extLst>
                <a:ext uri="{FF2B5EF4-FFF2-40B4-BE49-F238E27FC236}">
                  <a16:creationId xmlns:a16="http://schemas.microsoft.com/office/drawing/2014/main" id="{BB9D3BAC-B4B7-1B44-7BF2-607572067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256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000" b="1"/>
                <a:t>*</a:t>
              </a:r>
            </a:p>
          </p:txBody>
        </p:sp>
        <p:sp>
          <p:nvSpPr>
            <p:cNvPr id="13" name="Rectangle 55">
              <a:extLst>
                <a:ext uri="{FF2B5EF4-FFF2-40B4-BE49-F238E27FC236}">
                  <a16:creationId xmlns:a16="http://schemas.microsoft.com/office/drawing/2014/main" id="{2AFD72CC-F88F-A4DB-B3CC-48101E403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112"/>
              <a:ext cx="18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797B7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zh-CN" altLang="en-US" sz="2000"/>
                <a:t>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2871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E9248-0CCB-50FA-8758-59B3E1CD4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58700-BD15-FA5A-33E8-95C9AC8C0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理解概念：可行解、基本解、基本可行解、最优解</a:t>
            </a:r>
            <a:endParaRPr lang="en-US" altLang="zh-CN" dirty="0"/>
          </a:p>
          <a:p>
            <a:r>
              <a:rPr lang="zh-CN" altLang="en-US" dirty="0"/>
              <a:t>掌握计算：图解法、化标准型</a:t>
            </a:r>
          </a:p>
        </p:txBody>
      </p:sp>
    </p:spTree>
    <p:extLst>
      <p:ext uri="{BB962C8B-B14F-4D97-AF65-F5344CB8AC3E}">
        <p14:creationId xmlns:p14="http://schemas.microsoft.com/office/powerpoint/2010/main" val="76824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2124</TotalTime>
  <Words>2551</Words>
  <Application>Microsoft Office PowerPoint</Application>
  <PresentationFormat>全屏显示(4:3)</PresentationFormat>
  <Paragraphs>308</Paragraphs>
  <Slides>35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等线</vt:lpstr>
      <vt:lpstr>等线</vt:lpstr>
      <vt:lpstr>楷体_GB2312</vt:lpstr>
      <vt:lpstr>宋体</vt:lpstr>
      <vt:lpstr>宋体</vt:lpstr>
      <vt:lpstr>Arial</vt:lpstr>
      <vt:lpstr>Calibri</vt:lpstr>
      <vt:lpstr>Cambria Math</vt:lpstr>
      <vt:lpstr>Times New Roman</vt:lpstr>
      <vt:lpstr>Office 主题​​</vt:lpstr>
      <vt:lpstr>文档</vt:lpstr>
      <vt:lpstr>Equation</vt:lpstr>
      <vt:lpstr>公式</vt:lpstr>
      <vt:lpstr>第一章 线性规划的数学模型             和基本性质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zl</dc:creator>
  <cp:lastModifiedBy>W Z</cp:lastModifiedBy>
  <cp:revision>145</cp:revision>
  <dcterms:created xsi:type="dcterms:W3CDTF">2014-04-18T02:02:20Z</dcterms:created>
  <dcterms:modified xsi:type="dcterms:W3CDTF">2025-09-26T07:44:37Z</dcterms:modified>
</cp:coreProperties>
</file>